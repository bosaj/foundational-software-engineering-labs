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59" r:id="rId99"/>
    <p:sldId id="360" r:id="rId100"/>
    <p:sldId id="361" r:id="rId101"/>
    <p:sldId id="362" r:id="rId102"/>
    <p:sldId id="363" r:id="rId103"/>
    <p:sldId id="364" r:id="rId104"/>
    <p:sldId id="365" r:id="rId105"/>
    <p:sldId id="366" r:id="rId106"/>
    <p:sldId id="367" r:id="rId107"/>
    <p:sldId id="368" r:id="rId108"/>
    <p:sldId id="369" r:id="rId109"/>
    <p:sldId id="370" r:id="rId110"/>
    <p:sldId id="371" r:id="rId111"/>
    <p:sldId id="372" r:id="rId112"/>
    <p:sldId id="373" r:id="rId113"/>
    <p:sldId id="374" r:id="rId114"/>
    <p:sldId id="375" r:id="rId115"/>
    <p:sldId id="376" r:id="rId116"/>
    <p:sldId id="378" r:id="rId117"/>
    <p:sldId id="379" r:id="rId118"/>
    <p:sldId id="380" r:id="rId119"/>
    <p:sldId id="381" r:id="rId120"/>
    <p:sldId id="382" r:id="rId121"/>
    <p:sldId id="383" r:id="rId122"/>
    <p:sldId id="384" r:id="rId123"/>
    <p:sldId id="385" r:id="rId124"/>
    <p:sldId id="386" r:id="rId125"/>
    <p:sldId id="387" r:id="rId126"/>
    <p:sldId id="388" r:id="rId127"/>
    <p:sldId id="389" r:id="rId128"/>
  </p:sldIdLst>
  <p:sldSz cx="10693400" cy="7556500"/>
  <p:notesSz cx="10693400" cy="7556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16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60001" y="1411223"/>
            <a:ext cx="9425940" cy="251460"/>
          </a:xfrm>
          <a:custGeom>
            <a:avLst/>
            <a:gdLst/>
            <a:ahLst/>
            <a:cxnLst/>
            <a:rect l="l" t="t" r="r" b="b"/>
            <a:pathLst>
              <a:path w="9425940" h="251460">
                <a:moveTo>
                  <a:pt x="9425939" y="251459"/>
                </a:moveTo>
                <a:lnTo>
                  <a:pt x="9425939" y="0"/>
                </a:lnTo>
                <a:lnTo>
                  <a:pt x="0" y="0"/>
                </a:lnTo>
                <a:lnTo>
                  <a:pt x="0" y="251459"/>
                </a:lnTo>
                <a:lnTo>
                  <a:pt x="9425939" y="25145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6665" y="1829815"/>
            <a:ext cx="8480068" cy="1234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0079D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6F2FA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253" y="1411223"/>
            <a:ext cx="588645" cy="251460"/>
          </a:xfrm>
          <a:custGeom>
            <a:avLst/>
            <a:gdLst/>
            <a:ahLst/>
            <a:cxnLst/>
            <a:rect l="l" t="t" r="r" b="b"/>
            <a:pathLst>
              <a:path w="588644" h="251460">
                <a:moveTo>
                  <a:pt x="588263" y="251459"/>
                </a:moveTo>
                <a:lnTo>
                  <a:pt x="588263" y="0"/>
                </a:lnTo>
                <a:lnTo>
                  <a:pt x="0" y="0"/>
                </a:lnTo>
                <a:lnTo>
                  <a:pt x="0" y="251459"/>
                </a:lnTo>
                <a:lnTo>
                  <a:pt x="588263" y="251459"/>
                </a:lnTo>
                <a:close/>
              </a:path>
            </a:pathLst>
          </a:custGeom>
          <a:solidFill>
            <a:srgbClr val="DD7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60001" y="1411223"/>
            <a:ext cx="9425940" cy="251460"/>
          </a:xfrm>
          <a:custGeom>
            <a:avLst/>
            <a:gdLst/>
            <a:ahLst/>
            <a:cxnLst/>
            <a:rect l="l" t="t" r="r" b="b"/>
            <a:pathLst>
              <a:path w="9425940" h="251460">
                <a:moveTo>
                  <a:pt x="9425939" y="251459"/>
                </a:moveTo>
                <a:lnTo>
                  <a:pt x="9425939" y="0"/>
                </a:lnTo>
                <a:lnTo>
                  <a:pt x="0" y="0"/>
                </a:lnTo>
                <a:lnTo>
                  <a:pt x="0" y="251459"/>
                </a:lnTo>
                <a:lnTo>
                  <a:pt x="9425939" y="25145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253" y="1411223"/>
            <a:ext cx="588645" cy="251460"/>
          </a:xfrm>
          <a:custGeom>
            <a:avLst/>
            <a:gdLst/>
            <a:ahLst/>
            <a:cxnLst/>
            <a:rect l="l" t="t" r="r" b="b"/>
            <a:pathLst>
              <a:path w="588644" h="251460">
                <a:moveTo>
                  <a:pt x="588263" y="251459"/>
                </a:moveTo>
                <a:lnTo>
                  <a:pt x="588263" y="0"/>
                </a:lnTo>
                <a:lnTo>
                  <a:pt x="0" y="0"/>
                </a:lnTo>
                <a:lnTo>
                  <a:pt x="0" y="251459"/>
                </a:lnTo>
                <a:lnTo>
                  <a:pt x="588263" y="251459"/>
                </a:lnTo>
                <a:close/>
              </a:path>
            </a:pathLst>
          </a:custGeom>
          <a:solidFill>
            <a:srgbClr val="DD7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60001" y="1411223"/>
            <a:ext cx="9425940" cy="251460"/>
          </a:xfrm>
          <a:custGeom>
            <a:avLst/>
            <a:gdLst/>
            <a:ahLst/>
            <a:cxnLst/>
            <a:rect l="l" t="t" r="r" b="b"/>
            <a:pathLst>
              <a:path w="9425940" h="251460">
                <a:moveTo>
                  <a:pt x="9425939" y="251459"/>
                </a:moveTo>
                <a:lnTo>
                  <a:pt x="9425939" y="0"/>
                </a:lnTo>
                <a:lnTo>
                  <a:pt x="0" y="0"/>
                </a:lnTo>
                <a:lnTo>
                  <a:pt x="0" y="251459"/>
                </a:lnTo>
                <a:lnTo>
                  <a:pt x="9425939" y="25145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253" y="1411223"/>
            <a:ext cx="588645" cy="251460"/>
          </a:xfrm>
          <a:custGeom>
            <a:avLst/>
            <a:gdLst/>
            <a:ahLst/>
            <a:cxnLst/>
            <a:rect l="l" t="t" r="r" b="b"/>
            <a:pathLst>
              <a:path w="588644" h="251460">
                <a:moveTo>
                  <a:pt x="588263" y="251459"/>
                </a:moveTo>
                <a:lnTo>
                  <a:pt x="588263" y="0"/>
                </a:lnTo>
                <a:lnTo>
                  <a:pt x="0" y="0"/>
                </a:lnTo>
                <a:lnTo>
                  <a:pt x="0" y="251459"/>
                </a:lnTo>
                <a:lnTo>
                  <a:pt x="588263" y="251459"/>
                </a:lnTo>
                <a:close/>
              </a:path>
            </a:pathLst>
          </a:custGeom>
          <a:solidFill>
            <a:srgbClr val="DD7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60001" y="1411223"/>
            <a:ext cx="9425940" cy="251460"/>
          </a:xfrm>
          <a:custGeom>
            <a:avLst/>
            <a:gdLst/>
            <a:ahLst/>
            <a:cxnLst/>
            <a:rect l="l" t="t" r="r" b="b"/>
            <a:pathLst>
              <a:path w="9425940" h="251460">
                <a:moveTo>
                  <a:pt x="9425939" y="251459"/>
                </a:moveTo>
                <a:lnTo>
                  <a:pt x="9425939" y="0"/>
                </a:lnTo>
                <a:lnTo>
                  <a:pt x="0" y="0"/>
                </a:lnTo>
                <a:lnTo>
                  <a:pt x="0" y="251459"/>
                </a:lnTo>
                <a:lnTo>
                  <a:pt x="9425939" y="251459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2248" y="520699"/>
            <a:ext cx="8868903" cy="631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548BB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6008" y="1564639"/>
            <a:ext cx="9834245" cy="15265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6F2FA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cplusplus/" TargetMode="External"/><Relationship Id="rId2" Type="http://schemas.openxmlformats.org/officeDocument/2006/relationships/hyperlink" Target="http://www.cplusplu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0424" y="6246365"/>
            <a:ext cx="470281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fr-FR" sz="3950" b="1" spc="-530" dirty="0" smtClean="0">
                <a:solidFill>
                  <a:srgbClr val="FF0000"/>
                </a:solidFill>
                <a:latin typeface="Arial"/>
                <a:cs typeface="Arial"/>
              </a:rPr>
              <a:t>Prof. Youssef   Mellah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6488" y="1395475"/>
            <a:ext cx="1149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39110" marR="5080" indent="-2712720">
              <a:lnSpc>
                <a:spcPct val="100299"/>
              </a:lnSpc>
              <a:spcBef>
                <a:spcPts val="105"/>
              </a:spcBef>
              <a:tabLst>
                <a:tab pos="7050405" algn="l"/>
              </a:tabLst>
            </a:pPr>
            <a:r>
              <a:rPr spc="-530" dirty="0"/>
              <a:t>P</a:t>
            </a:r>
            <a:r>
              <a:rPr spc="-295" dirty="0"/>
              <a:t>r</a:t>
            </a:r>
            <a:r>
              <a:rPr spc="-305" dirty="0"/>
              <a:t>o</a:t>
            </a:r>
            <a:r>
              <a:rPr spc="-320" dirty="0"/>
              <a:t>g</a:t>
            </a:r>
            <a:r>
              <a:rPr spc="-254" dirty="0"/>
              <a:t>r</a:t>
            </a:r>
            <a:r>
              <a:rPr spc="-105" dirty="0"/>
              <a:t>a</a:t>
            </a:r>
            <a:r>
              <a:rPr spc="-385" dirty="0"/>
              <a:t>m</a:t>
            </a:r>
            <a:r>
              <a:rPr spc="-375" dirty="0"/>
              <a:t>m</a:t>
            </a:r>
            <a:r>
              <a:rPr spc="-30" dirty="0"/>
              <a:t>a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40" dirty="0"/>
              <a:t>O</a:t>
            </a:r>
            <a:r>
              <a:rPr spc="-305" dirty="0"/>
              <a:t>r</a:t>
            </a:r>
            <a:r>
              <a:rPr spc="-70" dirty="0"/>
              <a:t>i</a:t>
            </a:r>
            <a:r>
              <a:rPr spc="-290" dirty="0"/>
              <a:t>e</a:t>
            </a:r>
            <a:r>
              <a:rPr spc="-305" dirty="0"/>
              <a:t>n</a:t>
            </a:r>
            <a:r>
              <a:rPr spc="-285" dirty="0"/>
              <a:t>t</a:t>
            </a:r>
            <a:r>
              <a:rPr spc="-305" dirty="0"/>
              <a:t>é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40" dirty="0"/>
              <a:t>O</a:t>
            </a:r>
            <a:r>
              <a:rPr spc="-305" dirty="0"/>
              <a:t>b</a:t>
            </a:r>
            <a:r>
              <a:rPr spc="-70" dirty="0"/>
              <a:t>j</a:t>
            </a:r>
            <a:r>
              <a:rPr spc="-305" dirty="0"/>
              <a:t>e</a:t>
            </a:r>
            <a:r>
              <a:rPr spc="-285" dirty="0"/>
              <a:t>t</a:t>
            </a:r>
            <a:r>
              <a:rPr b="0" dirty="0">
                <a:latin typeface="Times New Roman"/>
                <a:cs typeface="Times New Roman"/>
              </a:rPr>
              <a:t>	</a:t>
            </a:r>
            <a:r>
              <a:rPr spc="-75" dirty="0"/>
              <a:t>(</a:t>
            </a:r>
            <a:r>
              <a:rPr spc="-540" dirty="0"/>
              <a:t>C</a:t>
            </a:r>
            <a:r>
              <a:rPr spc="340" dirty="0"/>
              <a:t>++</a:t>
            </a:r>
            <a:r>
              <a:rPr spc="-75" dirty="0"/>
              <a:t>)</a:t>
            </a:r>
            <a:r>
              <a:rPr spc="-265" dirty="0"/>
              <a:t>: </a:t>
            </a:r>
            <a:r>
              <a:rPr b="0" spc="-215" dirty="0">
                <a:latin typeface="Times New Roman"/>
                <a:cs typeface="Times New Roman"/>
              </a:rPr>
              <a:t> </a:t>
            </a:r>
            <a:r>
              <a:rPr spc="-725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4771" y="3926406"/>
            <a:ext cx="1879261" cy="2066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488" y="1395475"/>
            <a:ext cx="1149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7552" y="1774472"/>
            <a:ext cx="4110990" cy="565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70"/>
              </a:lnSpc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Notion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Définition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Instruction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return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Appel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Prototype</a:t>
            </a:r>
            <a:r>
              <a:rPr sz="1700" b="1" spc="-4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La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main()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Évaluation</a:t>
            </a:r>
            <a:r>
              <a:rPr sz="1700" b="1" spc="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</a:t>
            </a:r>
            <a:r>
              <a:rPr sz="1700" b="1" spc="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l’appel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d’une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Les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fonctions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et</a:t>
            </a:r>
            <a:r>
              <a:rPr sz="1700" b="1" spc="-2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leurs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déclarations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Passage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des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arguments</a:t>
            </a:r>
            <a:r>
              <a:rPr sz="1700" b="1" spc="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par</a:t>
            </a:r>
            <a:r>
              <a:rPr sz="1700" b="1" spc="-2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valeur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Passage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des</a:t>
            </a:r>
            <a:r>
              <a:rPr sz="1700" b="1" spc="-2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arguments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par</a:t>
            </a:r>
            <a:r>
              <a:rPr sz="1700" b="1" spc="-2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référence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Passage par</a:t>
            </a:r>
            <a:r>
              <a:rPr sz="1700" b="1" spc="-4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référence constante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spc="-20" dirty="0">
                <a:solidFill>
                  <a:srgbClr val="D6E730"/>
                </a:solidFill>
                <a:latin typeface="Times New Roman"/>
                <a:cs typeface="Times New Roman"/>
              </a:rPr>
              <a:t>Variables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globales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et locales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Récursivité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inline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Surcharge</a:t>
            </a:r>
            <a:r>
              <a:rPr sz="1700" b="1" spc="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(ou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surdéfinition)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 de fonctions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La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 fonction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exit()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  <a:tabLst>
                <a:tab pos="313690" algn="l"/>
              </a:tabLst>
            </a:pPr>
            <a:r>
              <a:rPr sz="1700" dirty="0">
                <a:solidFill>
                  <a:srgbClr val="D6E730"/>
                </a:solidFill>
                <a:latin typeface="Wingdings"/>
                <a:cs typeface="Wingdings"/>
              </a:rPr>
              <a:t></a:t>
            </a:r>
            <a:r>
              <a:rPr sz="1700" dirty="0">
                <a:solidFill>
                  <a:srgbClr val="D6E730"/>
                </a:solidFill>
                <a:latin typeface="Times New Roman"/>
                <a:cs typeface="Times New Roman"/>
              </a:rPr>
              <a:t>	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Q &amp;</a:t>
            </a:r>
            <a:r>
              <a:rPr sz="1700" b="1" spc="-9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74625" y="1716023"/>
            <a:ext cx="5791200" cy="5842000"/>
          </a:xfrm>
          <a:custGeom>
            <a:avLst/>
            <a:gdLst/>
            <a:ahLst/>
            <a:cxnLst/>
            <a:rect l="l" t="t" r="r" b="b"/>
            <a:pathLst>
              <a:path w="5791200" h="5842000">
                <a:moveTo>
                  <a:pt x="5791199" y="5841491"/>
                </a:moveTo>
                <a:lnTo>
                  <a:pt x="5791199" y="0"/>
                </a:lnTo>
                <a:lnTo>
                  <a:pt x="0" y="0"/>
                </a:lnTo>
                <a:lnTo>
                  <a:pt x="0" y="5841491"/>
                </a:lnTo>
                <a:lnTo>
                  <a:pt x="5791199" y="5841491"/>
                </a:lnTo>
                <a:close/>
              </a:path>
            </a:pathLst>
          </a:custGeom>
          <a:solidFill>
            <a:srgbClr val="548A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64852" y="1661261"/>
            <a:ext cx="4136390" cy="57772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26390" indent="-314325">
              <a:lnSpc>
                <a:spcPct val="100000"/>
              </a:lnSpc>
              <a:spcBef>
                <a:spcPts val="720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Notion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Définition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Instruction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return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Appel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Prototype</a:t>
            </a:r>
            <a:r>
              <a:rPr sz="1700" b="1" spc="-4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0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La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main()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Évaluation</a:t>
            </a:r>
            <a:r>
              <a:rPr sz="1700" b="1" spc="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</a:t>
            </a:r>
            <a:r>
              <a:rPr sz="1700" b="1" spc="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l’appel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d’une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Les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fonctions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et</a:t>
            </a:r>
            <a:r>
              <a:rPr sz="1700" b="1" spc="-2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leurs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déclarations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Passage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des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arguments</a:t>
            </a:r>
            <a:r>
              <a:rPr sz="1700" b="1" spc="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par</a:t>
            </a:r>
            <a:r>
              <a:rPr sz="1700" b="1" spc="-2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valeur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Passage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des</a:t>
            </a:r>
            <a:r>
              <a:rPr sz="1700" b="1" spc="-2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arguments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par</a:t>
            </a:r>
            <a:r>
              <a:rPr sz="1700" b="1" spc="-2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référence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0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Passage par</a:t>
            </a:r>
            <a:r>
              <a:rPr sz="1700" b="1" spc="-4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référence constante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spc="-20" dirty="0">
                <a:solidFill>
                  <a:srgbClr val="D6E730"/>
                </a:solidFill>
                <a:latin typeface="Times New Roman"/>
                <a:cs typeface="Times New Roman"/>
              </a:rPr>
              <a:t>Variables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globales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et locales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Récursivité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Fonctions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inline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Surcharge</a:t>
            </a:r>
            <a:r>
              <a:rPr sz="1700" b="1" spc="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(ou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 surdéfinition)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de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fonctions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0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La</a:t>
            </a:r>
            <a:r>
              <a:rPr sz="1700" b="1" spc="-5" dirty="0">
                <a:solidFill>
                  <a:srgbClr val="D6E730"/>
                </a:solidFill>
                <a:latin typeface="Times New Roman"/>
                <a:cs typeface="Times New Roman"/>
              </a:rPr>
              <a:t> fonction</a:t>
            </a:r>
            <a:r>
              <a:rPr sz="1700" b="1" spc="-1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D6E730"/>
                </a:solidFill>
                <a:latin typeface="Times New Roman"/>
                <a:cs typeface="Times New Roman"/>
              </a:rPr>
              <a:t>exit()</a:t>
            </a:r>
            <a:endParaRPr sz="1700" dirty="0">
              <a:latin typeface="Times New Roman"/>
              <a:cs typeface="Times New Roman"/>
            </a:endParaRPr>
          </a:p>
          <a:p>
            <a:pPr marL="326390" indent="-314325">
              <a:lnSpc>
                <a:spcPct val="100000"/>
              </a:lnSpc>
              <a:spcBef>
                <a:spcPts val="625"/>
              </a:spcBef>
              <a:buFont typeface="Wingdings"/>
              <a:buChar char=""/>
              <a:tabLst>
                <a:tab pos="326390" algn="l"/>
                <a:tab pos="327025" algn="l"/>
              </a:tabLst>
            </a:pP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Q &amp;</a:t>
            </a:r>
            <a:r>
              <a:rPr sz="1700" b="1" spc="-95" dirty="0">
                <a:solidFill>
                  <a:srgbClr val="D6E730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D6E730"/>
                </a:solidFill>
                <a:latin typeface="Times New Roman"/>
                <a:cs typeface="Times New Roman"/>
              </a:rPr>
              <a:t>A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589534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30" dirty="0">
                <a:solidFill>
                  <a:srgbClr val="0079D6"/>
                </a:solidFill>
              </a:rPr>
              <a:t>P</a:t>
            </a:r>
            <a:r>
              <a:rPr spc="-295" dirty="0">
                <a:solidFill>
                  <a:srgbClr val="0079D6"/>
                </a:solidFill>
              </a:rPr>
              <a:t>r</a:t>
            </a:r>
            <a:r>
              <a:rPr spc="-305" dirty="0">
                <a:solidFill>
                  <a:srgbClr val="0079D6"/>
                </a:solidFill>
              </a:rPr>
              <a:t>o</a:t>
            </a:r>
            <a:r>
              <a:rPr spc="-320" dirty="0">
                <a:solidFill>
                  <a:srgbClr val="0079D6"/>
                </a:solidFill>
              </a:rPr>
              <a:t>g</a:t>
            </a:r>
            <a:r>
              <a:rPr spc="-254" dirty="0">
                <a:solidFill>
                  <a:srgbClr val="0079D6"/>
                </a:solidFill>
              </a:rPr>
              <a:t>r</a:t>
            </a:r>
            <a:r>
              <a:rPr spc="-105" dirty="0">
                <a:solidFill>
                  <a:srgbClr val="0079D6"/>
                </a:solidFill>
              </a:rPr>
              <a:t>a</a:t>
            </a:r>
            <a:r>
              <a:rPr spc="-385" dirty="0">
                <a:solidFill>
                  <a:srgbClr val="0079D6"/>
                </a:solidFill>
              </a:rPr>
              <a:t>m</a:t>
            </a:r>
            <a:r>
              <a:rPr spc="-375" dirty="0">
                <a:solidFill>
                  <a:srgbClr val="0079D6"/>
                </a:solidFill>
              </a:rPr>
              <a:t>m</a:t>
            </a:r>
            <a:r>
              <a:rPr spc="-30" dirty="0">
                <a:solidFill>
                  <a:srgbClr val="0079D6"/>
                </a:solidFill>
              </a:rPr>
              <a:t>a</a:t>
            </a:r>
            <a:r>
              <a:rPr spc="-285" dirty="0">
                <a:solidFill>
                  <a:srgbClr val="0079D6"/>
                </a:solidFill>
              </a:rPr>
              <a:t>t</a:t>
            </a:r>
            <a:r>
              <a:rPr spc="-70" dirty="0">
                <a:solidFill>
                  <a:srgbClr val="0079D6"/>
                </a:solidFill>
              </a:rPr>
              <a:t>i</a:t>
            </a:r>
            <a:r>
              <a:rPr spc="-305" dirty="0">
                <a:solidFill>
                  <a:srgbClr val="0079D6"/>
                </a:solidFill>
              </a:rPr>
              <a:t>on</a:t>
            </a:r>
            <a:r>
              <a:rPr b="0" spc="6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pc="-305" dirty="0">
                <a:solidFill>
                  <a:srgbClr val="0079D6"/>
                </a:solidFill>
              </a:rPr>
              <a:t>p</a:t>
            </a:r>
            <a:r>
              <a:rPr spc="-295" dirty="0">
                <a:solidFill>
                  <a:srgbClr val="0079D6"/>
                </a:solidFill>
              </a:rPr>
              <a:t>r</a:t>
            </a:r>
            <a:r>
              <a:rPr spc="-315" dirty="0">
                <a:solidFill>
                  <a:srgbClr val="0079D6"/>
                </a:solidFill>
              </a:rPr>
              <a:t>o</a:t>
            </a:r>
            <a:r>
              <a:rPr spc="-605" dirty="0">
                <a:solidFill>
                  <a:srgbClr val="0079D6"/>
                </a:solidFill>
              </a:rPr>
              <a:t>c</a:t>
            </a:r>
            <a:r>
              <a:rPr spc="-290" dirty="0">
                <a:solidFill>
                  <a:srgbClr val="0079D6"/>
                </a:solidFill>
              </a:rPr>
              <a:t>é</a:t>
            </a:r>
            <a:r>
              <a:rPr spc="-315" dirty="0">
                <a:solidFill>
                  <a:srgbClr val="0079D6"/>
                </a:solidFill>
              </a:rPr>
              <a:t>d</a:t>
            </a:r>
            <a:r>
              <a:rPr spc="-305" dirty="0">
                <a:solidFill>
                  <a:srgbClr val="0079D6"/>
                </a:solidFill>
              </a:rPr>
              <a:t>u</a:t>
            </a:r>
            <a:r>
              <a:rPr spc="-270" dirty="0">
                <a:solidFill>
                  <a:srgbClr val="0079D6"/>
                </a:solidFill>
              </a:rPr>
              <a:t>r</a:t>
            </a:r>
            <a:r>
              <a:rPr spc="-105" dirty="0">
                <a:solidFill>
                  <a:srgbClr val="0079D6"/>
                </a:solidFill>
              </a:rPr>
              <a:t>a</a:t>
            </a:r>
            <a:r>
              <a:rPr spc="-70" dirty="0">
                <a:solidFill>
                  <a:srgbClr val="0079D6"/>
                </a:solidFill>
              </a:rPr>
              <a:t>l</a:t>
            </a:r>
            <a:r>
              <a:rPr spc="-295" dirty="0">
                <a:solidFill>
                  <a:srgbClr val="0079D6"/>
                </a:solidFill>
              </a:rPr>
              <a:t>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488" y="1395475"/>
            <a:ext cx="1149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390842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N</a:t>
            </a:r>
            <a:r>
              <a:rPr spc="-305" dirty="0"/>
              <a:t>o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9576" y="1755139"/>
            <a:ext cx="9514205" cy="29152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3050">
              <a:latin typeface="Times New Roman"/>
              <a:cs typeface="Times New Roman"/>
            </a:endParaRPr>
          </a:p>
          <a:p>
            <a:pPr marL="394970" indent="-382905">
              <a:lnSpc>
                <a:spcPct val="100000"/>
              </a:lnSpc>
              <a:spcBef>
                <a:spcPts val="70"/>
              </a:spcBef>
              <a:buClr>
                <a:srgbClr val="0079D6"/>
              </a:buClr>
              <a:buFont typeface="Wingdings"/>
              <a:buChar char=""/>
              <a:tabLst>
                <a:tab pos="395605" algn="l"/>
              </a:tabLst>
            </a:pPr>
            <a:r>
              <a:rPr sz="2600" b="1" spc="10" dirty="0">
                <a:latin typeface="Times New Roman"/>
                <a:cs typeface="Times New Roman"/>
              </a:rPr>
              <a:t>Définition:</a:t>
            </a:r>
            <a:endParaRPr sz="2600">
              <a:latin typeface="Times New Roman"/>
              <a:cs typeface="Times New Roman"/>
            </a:endParaRPr>
          </a:p>
          <a:p>
            <a:pPr marL="514984" marR="100330">
              <a:lnSpc>
                <a:spcPct val="101499"/>
              </a:lnSpc>
              <a:spcBef>
                <a:spcPts val="10"/>
              </a:spcBef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fonction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15" dirty="0">
                <a:latin typeface="Times New Roman"/>
                <a:cs typeface="Times New Roman"/>
              </a:rPr>
              <a:t> sous-programme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indépendant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10" dirty="0">
                <a:latin typeface="Times New Roman"/>
                <a:cs typeface="Times New Roman"/>
              </a:rPr>
              <a:t> retourne </a:t>
            </a:r>
            <a:r>
              <a:rPr sz="2600" spc="20" dirty="0">
                <a:latin typeface="Times New Roman"/>
                <a:cs typeface="Times New Roman"/>
              </a:rPr>
              <a:t>ou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non</a:t>
            </a:r>
            <a:r>
              <a:rPr sz="2600" spc="15" dirty="0">
                <a:latin typeface="Times New Roman"/>
                <a:cs typeface="Times New Roman"/>
              </a:rPr>
              <a:t> une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valeur.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50"/>
              </a:spcBef>
              <a:buClr>
                <a:srgbClr val="0079D6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b="1" spc="15" dirty="0">
                <a:latin typeface="Times New Roman"/>
                <a:cs typeface="Times New Roman"/>
              </a:rPr>
              <a:t>Fonction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=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portion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réutilisable </a:t>
            </a:r>
            <a:r>
              <a:rPr sz="2600" spc="20" dirty="0">
                <a:latin typeface="Times New Roman"/>
                <a:cs typeface="Times New Roman"/>
              </a:rPr>
              <a:t>ou </a:t>
            </a:r>
            <a:r>
              <a:rPr sz="2600" spc="10" dirty="0">
                <a:latin typeface="Times New Roman"/>
                <a:cs typeface="Times New Roman"/>
              </a:rPr>
              <a:t>importante</a:t>
            </a:r>
            <a:r>
              <a:rPr sz="2600" spc="15" dirty="0">
                <a:latin typeface="Times New Roman"/>
                <a:cs typeface="Times New Roman"/>
              </a:rPr>
              <a:t> en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soi.</a:t>
            </a:r>
            <a:endParaRPr sz="2600">
              <a:latin typeface="Times New Roman"/>
              <a:cs typeface="Times New Roman"/>
            </a:endParaRPr>
          </a:p>
          <a:p>
            <a:pPr marL="391160" marR="61594" indent="-391160">
              <a:lnSpc>
                <a:spcPct val="101499"/>
              </a:lnSpc>
              <a:spcBef>
                <a:spcPts val="15"/>
              </a:spcBef>
              <a:buClr>
                <a:srgbClr val="0079D6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fonction</a:t>
            </a:r>
            <a:r>
              <a:rPr sz="2600" b="1" spc="5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reçoit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informations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entrée,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exécute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actions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renvoie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10" dirty="0">
                <a:latin typeface="Times New Roman"/>
                <a:cs typeface="Times New Roman"/>
              </a:rPr>
              <a:t> résultat.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447922" y="5340096"/>
            <a:ext cx="2723515" cy="1240790"/>
            <a:chOff x="6447922" y="5340096"/>
            <a:chExt cx="2723515" cy="1240790"/>
          </a:xfrm>
        </p:grpSpPr>
        <p:sp>
          <p:nvSpPr>
            <p:cNvPr id="7" name="object 7"/>
            <p:cNvSpPr/>
            <p:nvPr/>
          </p:nvSpPr>
          <p:spPr>
            <a:xfrm>
              <a:off x="6458589" y="5366003"/>
              <a:ext cx="2697480" cy="1190625"/>
            </a:xfrm>
            <a:custGeom>
              <a:avLst/>
              <a:gdLst/>
              <a:ahLst/>
              <a:cxnLst/>
              <a:rect l="l" t="t" r="r" b="b"/>
              <a:pathLst>
                <a:path w="2697479" h="1190625">
                  <a:moveTo>
                    <a:pt x="2697479" y="594359"/>
                  </a:moveTo>
                  <a:lnTo>
                    <a:pt x="2103119" y="0"/>
                  </a:lnTo>
                  <a:lnTo>
                    <a:pt x="2103119" y="297179"/>
                  </a:lnTo>
                  <a:lnTo>
                    <a:pt x="0" y="297179"/>
                  </a:lnTo>
                  <a:lnTo>
                    <a:pt x="0" y="893063"/>
                  </a:lnTo>
                  <a:lnTo>
                    <a:pt x="2103119" y="893063"/>
                  </a:lnTo>
                  <a:lnTo>
                    <a:pt x="2103119" y="1190243"/>
                  </a:lnTo>
                  <a:lnTo>
                    <a:pt x="2697479" y="594359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47922" y="5340096"/>
              <a:ext cx="2723515" cy="1240790"/>
            </a:xfrm>
            <a:custGeom>
              <a:avLst/>
              <a:gdLst/>
              <a:ahLst/>
              <a:cxnLst/>
              <a:rect l="l" t="t" r="r" b="b"/>
              <a:pathLst>
                <a:path w="2723515" h="1240790">
                  <a:moveTo>
                    <a:pt x="2113788" y="312420"/>
                  </a:moveTo>
                  <a:lnTo>
                    <a:pt x="0" y="312420"/>
                  </a:lnTo>
                  <a:lnTo>
                    <a:pt x="0" y="928116"/>
                  </a:lnTo>
                  <a:lnTo>
                    <a:pt x="10668" y="928116"/>
                  </a:lnTo>
                  <a:lnTo>
                    <a:pt x="10668" y="333756"/>
                  </a:lnTo>
                  <a:lnTo>
                    <a:pt x="21336" y="323088"/>
                  </a:lnTo>
                  <a:lnTo>
                    <a:pt x="21336" y="333756"/>
                  </a:lnTo>
                  <a:lnTo>
                    <a:pt x="2103120" y="333756"/>
                  </a:lnTo>
                  <a:lnTo>
                    <a:pt x="2103120" y="323088"/>
                  </a:lnTo>
                  <a:lnTo>
                    <a:pt x="2113788" y="312420"/>
                  </a:lnTo>
                  <a:close/>
                </a:path>
                <a:path w="2723515" h="1240790">
                  <a:moveTo>
                    <a:pt x="21336" y="333756"/>
                  </a:moveTo>
                  <a:lnTo>
                    <a:pt x="21336" y="323088"/>
                  </a:lnTo>
                  <a:lnTo>
                    <a:pt x="10668" y="333756"/>
                  </a:lnTo>
                  <a:lnTo>
                    <a:pt x="21336" y="333756"/>
                  </a:lnTo>
                  <a:close/>
                </a:path>
                <a:path w="2723515" h="1240790">
                  <a:moveTo>
                    <a:pt x="21336" y="908304"/>
                  </a:moveTo>
                  <a:lnTo>
                    <a:pt x="21336" y="333756"/>
                  </a:lnTo>
                  <a:lnTo>
                    <a:pt x="10668" y="333756"/>
                  </a:lnTo>
                  <a:lnTo>
                    <a:pt x="10668" y="908304"/>
                  </a:lnTo>
                  <a:lnTo>
                    <a:pt x="21336" y="908304"/>
                  </a:lnTo>
                  <a:close/>
                </a:path>
                <a:path w="2723515" h="1240790">
                  <a:moveTo>
                    <a:pt x="2122932" y="1191725"/>
                  </a:moveTo>
                  <a:lnTo>
                    <a:pt x="2122932" y="908304"/>
                  </a:lnTo>
                  <a:lnTo>
                    <a:pt x="10668" y="908304"/>
                  </a:lnTo>
                  <a:lnTo>
                    <a:pt x="21336" y="918972"/>
                  </a:lnTo>
                  <a:lnTo>
                    <a:pt x="21336" y="928116"/>
                  </a:lnTo>
                  <a:lnTo>
                    <a:pt x="2103120" y="928116"/>
                  </a:lnTo>
                  <a:lnTo>
                    <a:pt x="2103120" y="918972"/>
                  </a:lnTo>
                  <a:lnTo>
                    <a:pt x="2113788" y="928116"/>
                  </a:lnTo>
                  <a:lnTo>
                    <a:pt x="2113788" y="1200892"/>
                  </a:lnTo>
                  <a:lnTo>
                    <a:pt x="2122932" y="1191725"/>
                  </a:lnTo>
                  <a:close/>
                </a:path>
                <a:path w="2723515" h="1240790">
                  <a:moveTo>
                    <a:pt x="21336" y="928116"/>
                  </a:moveTo>
                  <a:lnTo>
                    <a:pt x="21336" y="918972"/>
                  </a:lnTo>
                  <a:lnTo>
                    <a:pt x="10668" y="908304"/>
                  </a:lnTo>
                  <a:lnTo>
                    <a:pt x="10668" y="928116"/>
                  </a:lnTo>
                  <a:lnTo>
                    <a:pt x="21336" y="928116"/>
                  </a:lnTo>
                  <a:close/>
                </a:path>
                <a:path w="2723515" h="1240790">
                  <a:moveTo>
                    <a:pt x="2723388" y="620268"/>
                  </a:moveTo>
                  <a:lnTo>
                    <a:pt x="2103120" y="0"/>
                  </a:lnTo>
                  <a:lnTo>
                    <a:pt x="2103120" y="312420"/>
                  </a:lnTo>
                  <a:lnTo>
                    <a:pt x="2106168" y="312420"/>
                  </a:lnTo>
                  <a:lnTo>
                    <a:pt x="2106168" y="33528"/>
                  </a:lnTo>
                  <a:lnTo>
                    <a:pt x="2122932" y="25908"/>
                  </a:lnTo>
                  <a:lnTo>
                    <a:pt x="2122932" y="50292"/>
                  </a:lnTo>
                  <a:lnTo>
                    <a:pt x="2692917" y="620277"/>
                  </a:lnTo>
                  <a:lnTo>
                    <a:pt x="2700528" y="612648"/>
                  </a:lnTo>
                  <a:lnTo>
                    <a:pt x="2700528" y="643128"/>
                  </a:lnTo>
                  <a:lnTo>
                    <a:pt x="2723388" y="620268"/>
                  </a:lnTo>
                  <a:close/>
                </a:path>
                <a:path w="2723515" h="1240790">
                  <a:moveTo>
                    <a:pt x="2113788" y="333756"/>
                  </a:moveTo>
                  <a:lnTo>
                    <a:pt x="2113788" y="312420"/>
                  </a:lnTo>
                  <a:lnTo>
                    <a:pt x="2103120" y="323088"/>
                  </a:lnTo>
                  <a:lnTo>
                    <a:pt x="2103120" y="333756"/>
                  </a:lnTo>
                  <a:lnTo>
                    <a:pt x="2113788" y="333756"/>
                  </a:lnTo>
                  <a:close/>
                </a:path>
                <a:path w="2723515" h="1240790">
                  <a:moveTo>
                    <a:pt x="2113788" y="928116"/>
                  </a:moveTo>
                  <a:lnTo>
                    <a:pt x="2103120" y="918972"/>
                  </a:lnTo>
                  <a:lnTo>
                    <a:pt x="2103120" y="928116"/>
                  </a:lnTo>
                  <a:lnTo>
                    <a:pt x="2113788" y="928116"/>
                  </a:lnTo>
                  <a:close/>
                </a:path>
                <a:path w="2723515" h="1240790">
                  <a:moveTo>
                    <a:pt x="2113788" y="1200892"/>
                  </a:moveTo>
                  <a:lnTo>
                    <a:pt x="2113788" y="928116"/>
                  </a:lnTo>
                  <a:lnTo>
                    <a:pt x="2103120" y="928116"/>
                  </a:lnTo>
                  <a:lnTo>
                    <a:pt x="2103120" y="1240536"/>
                  </a:lnTo>
                  <a:lnTo>
                    <a:pt x="2106168" y="1237488"/>
                  </a:lnTo>
                  <a:lnTo>
                    <a:pt x="2106168" y="1208532"/>
                  </a:lnTo>
                  <a:lnTo>
                    <a:pt x="2113788" y="1200892"/>
                  </a:lnTo>
                  <a:close/>
                </a:path>
                <a:path w="2723515" h="1240790">
                  <a:moveTo>
                    <a:pt x="2122932" y="50292"/>
                  </a:moveTo>
                  <a:lnTo>
                    <a:pt x="2122932" y="25908"/>
                  </a:lnTo>
                  <a:lnTo>
                    <a:pt x="2106168" y="33528"/>
                  </a:lnTo>
                  <a:lnTo>
                    <a:pt x="2122932" y="50292"/>
                  </a:lnTo>
                  <a:close/>
                </a:path>
                <a:path w="2723515" h="1240790">
                  <a:moveTo>
                    <a:pt x="2122932" y="333756"/>
                  </a:moveTo>
                  <a:lnTo>
                    <a:pt x="2122932" y="50292"/>
                  </a:lnTo>
                  <a:lnTo>
                    <a:pt x="2106168" y="33528"/>
                  </a:lnTo>
                  <a:lnTo>
                    <a:pt x="2106168" y="312420"/>
                  </a:lnTo>
                  <a:lnTo>
                    <a:pt x="2113788" y="312420"/>
                  </a:lnTo>
                  <a:lnTo>
                    <a:pt x="2113788" y="333756"/>
                  </a:lnTo>
                  <a:lnTo>
                    <a:pt x="2122932" y="333756"/>
                  </a:lnTo>
                  <a:close/>
                </a:path>
                <a:path w="2723515" h="1240790">
                  <a:moveTo>
                    <a:pt x="2700528" y="643128"/>
                  </a:moveTo>
                  <a:lnTo>
                    <a:pt x="2700528" y="627888"/>
                  </a:lnTo>
                  <a:lnTo>
                    <a:pt x="2692917" y="620277"/>
                  </a:lnTo>
                  <a:lnTo>
                    <a:pt x="2106168" y="1208532"/>
                  </a:lnTo>
                  <a:lnTo>
                    <a:pt x="2122932" y="1216152"/>
                  </a:lnTo>
                  <a:lnTo>
                    <a:pt x="2122932" y="1220724"/>
                  </a:lnTo>
                  <a:lnTo>
                    <a:pt x="2700528" y="643128"/>
                  </a:lnTo>
                  <a:close/>
                </a:path>
                <a:path w="2723515" h="1240790">
                  <a:moveTo>
                    <a:pt x="2122932" y="1220724"/>
                  </a:moveTo>
                  <a:lnTo>
                    <a:pt x="2122932" y="1216152"/>
                  </a:lnTo>
                  <a:lnTo>
                    <a:pt x="2106168" y="1208532"/>
                  </a:lnTo>
                  <a:lnTo>
                    <a:pt x="2106168" y="1237488"/>
                  </a:lnTo>
                  <a:lnTo>
                    <a:pt x="2122932" y="1220724"/>
                  </a:lnTo>
                  <a:close/>
                </a:path>
                <a:path w="2723515" h="1240790">
                  <a:moveTo>
                    <a:pt x="2700528" y="627888"/>
                  </a:moveTo>
                  <a:lnTo>
                    <a:pt x="2700528" y="612648"/>
                  </a:lnTo>
                  <a:lnTo>
                    <a:pt x="2692917" y="620277"/>
                  </a:lnTo>
                  <a:lnTo>
                    <a:pt x="2700528" y="627888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215514" y="5735825"/>
            <a:ext cx="88138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Sortie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90709" y="5489448"/>
            <a:ext cx="2723515" cy="1091565"/>
            <a:chOff x="1290709" y="5489448"/>
            <a:chExt cx="2723515" cy="1091565"/>
          </a:xfrm>
        </p:grpSpPr>
        <p:sp>
          <p:nvSpPr>
            <p:cNvPr id="11" name="object 11"/>
            <p:cNvSpPr/>
            <p:nvPr/>
          </p:nvSpPr>
          <p:spPr>
            <a:xfrm>
              <a:off x="1301377" y="5515355"/>
              <a:ext cx="2697480" cy="1041400"/>
            </a:xfrm>
            <a:custGeom>
              <a:avLst/>
              <a:gdLst/>
              <a:ahLst/>
              <a:cxnLst/>
              <a:rect l="l" t="t" r="r" b="b"/>
              <a:pathLst>
                <a:path w="2697479" h="1041400">
                  <a:moveTo>
                    <a:pt x="2697476" y="519683"/>
                  </a:moveTo>
                  <a:lnTo>
                    <a:pt x="2177792" y="0"/>
                  </a:lnTo>
                  <a:lnTo>
                    <a:pt x="2177792" y="260603"/>
                  </a:lnTo>
                  <a:lnTo>
                    <a:pt x="0" y="260603"/>
                  </a:lnTo>
                  <a:lnTo>
                    <a:pt x="0" y="780287"/>
                  </a:lnTo>
                  <a:lnTo>
                    <a:pt x="2177792" y="780287"/>
                  </a:lnTo>
                  <a:lnTo>
                    <a:pt x="2177792" y="1040891"/>
                  </a:lnTo>
                  <a:lnTo>
                    <a:pt x="2697476" y="519683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90709" y="5489448"/>
              <a:ext cx="2723515" cy="1091565"/>
            </a:xfrm>
            <a:custGeom>
              <a:avLst/>
              <a:gdLst/>
              <a:ahLst/>
              <a:cxnLst/>
              <a:rect l="l" t="t" r="r" b="b"/>
              <a:pathLst>
                <a:path w="2723515" h="1091565">
                  <a:moveTo>
                    <a:pt x="2188461" y="275844"/>
                  </a:moveTo>
                  <a:lnTo>
                    <a:pt x="0" y="275844"/>
                  </a:lnTo>
                  <a:lnTo>
                    <a:pt x="0" y="816864"/>
                  </a:lnTo>
                  <a:lnTo>
                    <a:pt x="10668" y="816864"/>
                  </a:lnTo>
                  <a:lnTo>
                    <a:pt x="10668" y="297180"/>
                  </a:lnTo>
                  <a:lnTo>
                    <a:pt x="21336" y="286512"/>
                  </a:lnTo>
                  <a:lnTo>
                    <a:pt x="21336" y="297180"/>
                  </a:lnTo>
                  <a:lnTo>
                    <a:pt x="2177793" y="297180"/>
                  </a:lnTo>
                  <a:lnTo>
                    <a:pt x="2177793" y="286512"/>
                  </a:lnTo>
                  <a:lnTo>
                    <a:pt x="2188461" y="275844"/>
                  </a:lnTo>
                  <a:close/>
                </a:path>
                <a:path w="2723515" h="1091565">
                  <a:moveTo>
                    <a:pt x="21336" y="297180"/>
                  </a:moveTo>
                  <a:lnTo>
                    <a:pt x="21336" y="286512"/>
                  </a:lnTo>
                  <a:lnTo>
                    <a:pt x="10668" y="297180"/>
                  </a:lnTo>
                  <a:lnTo>
                    <a:pt x="21336" y="297180"/>
                  </a:lnTo>
                  <a:close/>
                </a:path>
                <a:path w="2723515" h="1091565">
                  <a:moveTo>
                    <a:pt x="21336" y="795528"/>
                  </a:moveTo>
                  <a:lnTo>
                    <a:pt x="21336" y="297180"/>
                  </a:lnTo>
                  <a:lnTo>
                    <a:pt x="10668" y="297180"/>
                  </a:lnTo>
                  <a:lnTo>
                    <a:pt x="10668" y="795528"/>
                  </a:lnTo>
                  <a:lnTo>
                    <a:pt x="21336" y="795528"/>
                  </a:lnTo>
                  <a:close/>
                </a:path>
                <a:path w="2723515" h="1091565">
                  <a:moveTo>
                    <a:pt x="2197605" y="1042366"/>
                  </a:moveTo>
                  <a:lnTo>
                    <a:pt x="2197605" y="795528"/>
                  </a:lnTo>
                  <a:lnTo>
                    <a:pt x="10668" y="795528"/>
                  </a:lnTo>
                  <a:lnTo>
                    <a:pt x="21336" y="806196"/>
                  </a:lnTo>
                  <a:lnTo>
                    <a:pt x="21336" y="816864"/>
                  </a:lnTo>
                  <a:lnTo>
                    <a:pt x="2177793" y="816864"/>
                  </a:lnTo>
                  <a:lnTo>
                    <a:pt x="2177793" y="806196"/>
                  </a:lnTo>
                  <a:lnTo>
                    <a:pt x="2188461" y="816864"/>
                  </a:lnTo>
                  <a:lnTo>
                    <a:pt x="2188461" y="1051537"/>
                  </a:lnTo>
                  <a:lnTo>
                    <a:pt x="2197605" y="1042366"/>
                  </a:lnTo>
                  <a:close/>
                </a:path>
                <a:path w="2723515" h="1091565">
                  <a:moveTo>
                    <a:pt x="21336" y="816864"/>
                  </a:moveTo>
                  <a:lnTo>
                    <a:pt x="21336" y="806196"/>
                  </a:lnTo>
                  <a:lnTo>
                    <a:pt x="10668" y="795528"/>
                  </a:lnTo>
                  <a:lnTo>
                    <a:pt x="10668" y="816864"/>
                  </a:lnTo>
                  <a:lnTo>
                    <a:pt x="21336" y="816864"/>
                  </a:lnTo>
                  <a:close/>
                </a:path>
                <a:path w="2723515" h="1091565">
                  <a:moveTo>
                    <a:pt x="2723385" y="545592"/>
                  </a:moveTo>
                  <a:lnTo>
                    <a:pt x="2177793" y="0"/>
                  </a:lnTo>
                  <a:lnTo>
                    <a:pt x="2177793" y="275844"/>
                  </a:lnTo>
                  <a:lnTo>
                    <a:pt x="2180841" y="275844"/>
                  </a:lnTo>
                  <a:lnTo>
                    <a:pt x="2180841" y="33528"/>
                  </a:lnTo>
                  <a:lnTo>
                    <a:pt x="2197605" y="25908"/>
                  </a:lnTo>
                  <a:lnTo>
                    <a:pt x="2197605" y="50292"/>
                  </a:lnTo>
                  <a:lnTo>
                    <a:pt x="2692916" y="545603"/>
                  </a:lnTo>
                  <a:lnTo>
                    <a:pt x="2700525" y="537972"/>
                  </a:lnTo>
                  <a:lnTo>
                    <a:pt x="2700525" y="568452"/>
                  </a:lnTo>
                  <a:lnTo>
                    <a:pt x="2723385" y="545592"/>
                  </a:lnTo>
                  <a:close/>
                </a:path>
                <a:path w="2723515" h="1091565">
                  <a:moveTo>
                    <a:pt x="2188461" y="297180"/>
                  </a:moveTo>
                  <a:lnTo>
                    <a:pt x="2188461" y="275844"/>
                  </a:lnTo>
                  <a:lnTo>
                    <a:pt x="2177793" y="286512"/>
                  </a:lnTo>
                  <a:lnTo>
                    <a:pt x="2177793" y="297180"/>
                  </a:lnTo>
                  <a:lnTo>
                    <a:pt x="2188461" y="297180"/>
                  </a:lnTo>
                  <a:close/>
                </a:path>
                <a:path w="2723515" h="1091565">
                  <a:moveTo>
                    <a:pt x="2188461" y="816864"/>
                  </a:moveTo>
                  <a:lnTo>
                    <a:pt x="2177793" y="806196"/>
                  </a:lnTo>
                  <a:lnTo>
                    <a:pt x="2177793" y="816864"/>
                  </a:lnTo>
                  <a:lnTo>
                    <a:pt x="2188461" y="816864"/>
                  </a:lnTo>
                  <a:close/>
                </a:path>
                <a:path w="2723515" h="1091565">
                  <a:moveTo>
                    <a:pt x="2188461" y="1051537"/>
                  </a:moveTo>
                  <a:lnTo>
                    <a:pt x="2188461" y="816864"/>
                  </a:lnTo>
                  <a:lnTo>
                    <a:pt x="2177793" y="816864"/>
                  </a:lnTo>
                  <a:lnTo>
                    <a:pt x="2177793" y="1091184"/>
                  </a:lnTo>
                  <a:lnTo>
                    <a:pt x="2180841" y="1088136"/>
                  </a:lnTo>
                  <a:lnTo>
                    <a:pt x="2180841" y="1059180"/>
                  </a:lnTo>
                  <a:lnTo>
                    <a:pt x="2188461" y="1051537"/>
                  </a:lnTo>
                  <a:close/>
                </a:path>
                <a:path w="2723515" h="1091565">
                  <a:moveTo>
                    <a:pt x="2197605" y="50292"/>
                  </a:moveTo>
                  <a:lnTo>
                    <a:pt x="2197605" y="25908"/>
                  </a:lnTo>
                  <a:lnTo>
                    <a:pt x="2180841" y="33528"/>
                  </a:lnTo>
                  <a:lnTo>
                    <a:pt x="2197605" y="50292"/>
                  </a:lnTo>
                  <a:close/>
                </a:path>
                <a:path w="2723515" h="1091565">
                  <a:moveTo>
                    <a:pt x="2197605" y="297180"/>
                  </a:moveTo>
                  <a:lnTo>
                    <a:pt x="2197605" y="50292"/>
                  </a:lnTo>
                  <a:lnTo>
                    <a:pt x="2180841" y="33528"/>
                  </a:lnTo>
                  <a:lnTo>
                    <a:pt x="2180841" y="275844"/>
                  </a:lnTo>
                  <a:lnTo>
                    <a:pt x="2188461" y="275844"/>
                  </a:lnTo>
                  <a:lnTo>
                    <a:pt x="2188461" y="297180"/>
                  </a:lnTo>
                  <a:lnTo>
                    <a:pt x="2197605" y="297180"/>
                  </a:lnTo>
                  <a:close/>
                </a:path>
                <a:path w="2723515" h="1091565">
                  <a:moveTo>
                    <a:pt x="2700525" y="568452"/>
                  </a:moveTo>
                  <a:lnTo>
                    <a:pt x="2700525" y="553212"/>
                  </a:lnTo>
                  <a:lnTo>
                    <a:pt x="2692916" y="545603"/>
                  </a:lnTo>
                  <a:lnTo>
                    <a:pt x="2180841" y="1059180"/>
                  </a:lnTo>
                  <a:lnTo>
                    <a:pt x="2197605" y="1066800"/>
                  </a:lnTo>
                  <a:lnTo>
                    <a:pt x="2197605" y="1071372"/>
                  </a:lnTo>
                  <a:lnTo>
                    <a:pt x="2700525" y="568452"/>
                  </a:lnTo>
                  <a:close/>
                </a:path>
                <a:path w="2723515" h="1091565">
                  <a:moveTo>
                    <a:pt x="2197605" y="1071372"/>
                  </a:moveTo>
                  <a:lnTo>
                    <a:pt x="2197605" y="1066800"/>
                  </a:lnTo>
                  <a:lnTo>
                    <a:pt x="2180841" y="1059180"/>
                  </a:lnTo>
                  <a:lnTo>
                    <a:pt x="2180841" y="1088136"/>
                  </a:lnTo>
                  <a:lnTo>
                    <a:pt x="2197605" y="1071372"/>
                  </a:lnTo>
                  <a:close/>
                </a:path>
                <a:path w="2723515" h="1091565">
                  <a:moveTo>
                    <a:pt x="2700525" y="553212"/>
                  </a:moveTo>
                  <a:lnTo>
                    <a:pt x="2700525" y="537972"/>
                  </a:lnTo>
                  <a:lnTo>
                    <a:pt x="2692916" y="545603"/>
                  </a:lnTo>
                  <a:lnTo>
                    <a:pt x="2700525" y="553212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21724" y="5810501"/>
            <a:ext cx="9944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6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nt</a:t>
            </a:r>
            <a:r>
              <a:rPr sz="26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rée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18310" y="5355336"/>
            <a:ext cx="2085339" cy="1370330"/>
            <a:chOff x="4218310" y="5355336"/>
            <a:chExt cx="2085339" cy="1370330"/>
          </a:xfrm>
        </p:grpSpPr>
        <p:sp>
          <p:nvSpPr>
            <p:cNvPr id="15" name="object 15"/>
            <p:cNvSpPr/>
            <p:nvPr/>
          </p:nvSpPr>
          <p:spPr>
            <a:xfrm>
              <a:off x="5954146" y="5366004"/>
              <a:ext cx="338455" cy="1348740"/>
            </a:xfrm>
            <a:custGeom>
              <a:avLst/>
              <a:gdLst/>
              <a:ahLst/>
              <a:cxnLst/>
              <a:rect l="l" t="t" r="r" b="b"/>
              <a:pathLst>
                <a:path w="338454" h="1348740">
                  <a:moveTo>
                    <a:pt x="338327" y="1011935"/>
                  </a:moveTo>
                  <a:lnTo>
                    <a:pt x="338327" y="0"/>
                  </a:lnTo>
                  <a:lnTo>
                    <a:pt x="0" y="336803"/>
                  </a:lnTo>
                  <a:lnTo>
                    <a:pt x="0" y="1348739"/>
                  </a:lnTo>
                  <a:lnTo>
                    <a:pt x="338327" y="1011935"/>
                  </a:lnTo>
                  <a:close/>
                </a:path>
              </a:pathLst>
            </a:custGeom>
            <a:solidFill>
              <a:srgbClr val="7691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8978" y="5366004"/>
              <a:ext cx="2063750" cy="337185"/>
            </a:xfrm>
            <a:custGeom>
              <a:avLst/>
              <a:gdLst/>
              <a:ahLst/>
              <a:cxnLst/>
              <a:rect l="l" t="t" r="r" b="b"/>
              <a:pathLst>
                <a:path w="2063750" h="337185">
                  <a:moveTo>
                    <a:pt x="2063495" y="0"/>
                  </a:moveTo>
                  <a:lnTo>
                    <a:pt x="336803" y="0"/>
                  </a:lnTo>
                  <a:lnTo>
                    <a:pt x="0" y="336803"/>
                  </a:lnTo>
                  <a:lnTo>
                    <a:pt x="1725167" y="336803"/>
                  </a:lnTo>
                  <a:lnTo>
                    <a:pt x="2063495" y="0"/>
                  </a:lnTo>
                  <a:close/>
                </a:path>
              </a:pathLst>
            </a:custGeom>
            <a:solidFill>
              <a:srgbClr val="A8C4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18310" y="5355336"/>
              <a:ext cx="2085339" cy="1370330"/>
            </a:xfrm>
            <a:custGeom>
              <a:avLst/>
              <a:gdLst/>
              <a:ahLst/>
              <a:cxnLst/>
              <a:rect l="l" t="t" r="r" b="b"/>
              <a:pathLst>
                <a:path w="2085339" h="1370329">
                  <a:moveTo>
                    <a:pt x="2084832" y="1027176"/>
                  </a:moveTo>
                  <a:lnTo>
                    <a:pt x="2084832" y="0"/>
                  </a:lnTo>
                  <a:lnTo>
                    <a:pt x="342900" y="0"/>
                  </a:lnTo>
                  <a:lnTo>
                    <a:pt x="0" y="342900"/>
                  </a:lnTo>
                  <a:lnTo>
                    <a:pt x="0" y="1370076"/>
                  </a:lnTo>
                  <a:lnTo>
                    <a:pt x="10668" y="1370076"/>
                  </a:lnTo>
                  <a:lnTo>
                    <a:pt x="10668" y="336804"/>
                  </a:lnTo>
                  <a:lnTo>
                    <a:pt x="36576" y="336804"/>
                  </a:lnTo>
                  <a:lnTo>
                    <a:pt x="347472" y="25908"/>
                  </a:lnTo>
                  <a:lnTo>
                    <a:pt x="347472" y="21336"/>
                  </a:lnTo>
                  <a:lnTo>
                    <a:pt x="355092" y="18288"/>
                  </a:lnTo>
                  <a:lnTo>
                    <a:pt x="355092" y="21336"/>
                  </a:lnTo>
                  <a:lnTo>
                    <a:pt x="2048256" y="21336"/>
                  </a:lnTo>
                  <a:lnTo>
                    <a:pt x="2066544" y="3048"/>
                  </a:lnTo>
                  <a:lnTo>
                    <a:pt x="2081784" y="18288"/>
                  </a:lnTo>
                  <a:lnTo>
                    <a:pt x="2081784" y="1030210"/>
                  </a:lnTo>
                  <a:lnTo>
                    <a:pt x="2084832" y="1027176"/>
                  </a:lnTo>
                  <a:close/>
                </a:path>
                <a:path w="2085339" h="1370329">
                  <a:moveTo>
                    <a:pt x="36576" y="336804"/>
                  </a:moveTo>
                  <a:lnTo>
                    <a:pt x="10668" y="336804"/>
                  </a:lnTo>
                  <a:lnTo>
                    <a:pt x="10668" y="358140"/>
                  </a:lnTo>
                  <a:lnTo>
                    <a:pt x="18288" y="358140"/>
                  </a:lnTo>
                  <a:lnTo>
                    <a:pt x="18288" y="355092"/>
                  </a:lnTo>
                  <a:lnTo>
                    <a:pt x="21336" y="347472"/>
                  </a:lnTo>
                  <a:lnTo>
                    <a:pt x="21336" y="352044"/>
                  </a:lnTo>
                  <a:lnTo>
                    <a:pt x="36576" y="336804"/>
                  </a:lnTo>
                  <a:close/>
                </a:path>
                <a:path w="2085339" h="1370329">
                  <a:moveTo>
                    <a:pt x="21336" y="1348740"/>
                  </a:moveTo>
                  <a:lnTo>
                    <a:pt x="21336" y="358140"/>
                  </a:lnTo>
                  <a:lnTo>
                    <a:pt x="10668" y="358140"/>
                  </a:lnTo>
                  <a:lnTo>
                    <a:pt x="10668" y="1348740"/>
                  </a:lnTo>
                  <a:lnTo>
                    <a:pt x="21336" y="1348740"/>
                  </a:lnTo>
                  <a:close/>
                </a:path>
                <a:path w="2085339" h="1370329">
                  <a:moveTo>
                    <a:pt x="1732788" y="1348740"/>
                  </a:moveTo>
                  <a:lnTo>
                    <a:pt x="10668" y="1348740"/>
                  </a:lnTo>
                  <a:lnTo>
                    <a:pt x="21336" y="1359408"/>
                  </a:lnTo>
                  <a:lnTo>
                    <a:pt x="21336" y="1370076"/>
                  </a:lnTo>
                  <a:lnTo>
                    <a:pt x="1725168" y="1370076"/>
                  </a:lnTo>
                  <a:lnTo>
                    <a:pt x="1725168" y="1359408"/>
                  </a:lnTo>
                  <a:lnTo>
                    <a:pt x="1729740" y="1359408"/>
                  </a:lnTo>
                  <a:lnTo>
                    <a:pt x="1729740" y="1351788"/>
                  </a:lnTo>
                  <a:lnTo>
                    <a:pt x="1732788" y="1348740"/>
                  </a:lnTo>
                  <a:close/>
                </a:path>
                <a:path w="2085339" h="1370329">
                  <a:moveTo>
                    <a:pt x="21336" y="1370076"/>
                  </a:moveTo>
                  <a:lnTo>
                    <a:pt x="21336" y="1359408"/>
                  </a:lnTo>
                  <a:lnTo>
                    <a:pt x="10668" y="1348740"/>
                  </a:lnTo>
                  <a:lnTo>
                    <a:pt x="10668" y="1370076"/>
                  </a:lnTo>
                  <a:lnTo>
                    <a:pt x="21336" y="1370076"/>
                  </a:lnTo>
                  <a:close/>
                </a:path>
                <a:path w="2085339" h="1370329">
                  <a:moveTo>
                    <a:pt x="21336" y="352044"/>
                  </a:moveTo>
                  <a:lnTo>
                    <a:pt x="21336" y="347472"/>
                  </a:lnTo>
                  <a:lnTo>
                    <a:pt x="18288" y="355092"/>
                  </a:lnTo>
                  <a:lnTo>
                    <a:pt x="21336" y="352044"/>
                  </a:lnTo>
                  <a:close/>
                </a:path>
                <a:path w="2085339" h="1370329">
                  <a:moveTo>
                    <a:pt x="1732788" y="336804"/>
                  </a:moveTo>
                  <a:lnTo>
                    <a:pt x="36576" y="336804"/>
                  </a:lnTo>
                  <a:lnTo>
                    <a:pt x="18288" y="355092"/>
                  </a:lnTo>
                  <a:lnTo>
                    <a:pt x="18288" y="358140"/>
                  </a:lnTo>
                  <a:lnTo>
                    <a:pt x="1725168" y="358140"/>
                  </a:lnTo>
                  <a:lnTo>
                    <a:pt x="1725168" y="347472"/>
                  </a:lnTo>
                  <a:lnTo>
                    <a:pt x="1729740" y="347472"/>
                  </a:lnTo>
                  <a:lnTo>
                    <a:pt x="1729740" y="339852"/>
                  </a:lnTo>
                  <a:lnTo>
                    <a:pt x="1732788" y="336804"/>
                  </a:lnTo>
                  <a:close/>
                </a:path>
                <a:path w="2085339" h="1370329">
                  <a:moveTo>
                    <a:pt x="355092" y="18288"/>
                  </a:moveTo>
                  <a:lnTo>
                    <a:pt x="347472" y="21336"/>
                  </a:lnTo>
                  <a:lnTo>
                    <a:pt x="352044" y="21336"/>
                  </a:lnTo>
                  <a:lnTo>
                    <a:pt x="355092" y="18288"/>
                  </a:lnTo>
                  <a:close/>
                </a:path>
                <a:path w="2085339" h="1370329">
                  <a:moveTo>
                    <a:pt x="352044" y="21336"/>
                  </a:moveTo>
                  <a:lnTo>
                    <a:pt x="347472" y="21336"/>
                  </a:lnTo>
                  <a:lnTo>
                    <a:pt x="347472" y="25908"/>
                  </a:lnTo>
                  <a:lnTo>
                    <a:pt x="352044" y="21336"/>
                  </a:lnTo>
                  <a:close/>
                </a:path>
                <a:path w="2085339" h="1370329">
                  <a:moveTo>
                    <a:pt x="355092" y="21336"/>
                  </a:moveTo>
                  <a:lnTo>
                    <a:pt x="355092" y="18288"/>
                  </a:lnTo>
                  <a:lnTo>
                    <a:pt x="352044" y="21336"/>
                  </a:lnTo>
                  <a:lnTo>
                    <a:pt x="355092" y="21336"/>
                  </a:lnTo>
                  <a:close/>
                </a:path>
                <a:path w="2085339" h="1370329">
                  <a:moveTo>
                    <a:pt x="1746504" y="352071"/>
                  </a:moveTo>
                  <a:lnTo>
                    <a:pt x="1746504" y="347472"/>
                  </a:lnTo>
                  <a:lnTo>
                    <a:pt x="1725168" y="347472"/>
                  </a:lnTo>
                  <a:lnTo>
                    <a:pt x="1725168" y="358140"/>
                  </a:lnTo>
                  <a:lnTo>
                    <a:pt x="1740408" y="358140"/>
                  </a:lnTo>
                  <a:lnTo>
                    <a:pt x="1746504" y="352071"/>
                  </a:lnTo>
                  <a:close/>
                </a:path>
                <a:path w="2085339" h="1370329">
                  <a:moveTo>
                    <a:pt x="1746504" y="1335024"/>
                  </a:moveTo>
                  <a:lnTo>
                    <a:pt x="1746504" y="352071"/>
                  </a:lnTo>
                  <a:lnTo>
                    <a:pt x="1740408" y="358140"/>
                  </a:lnTo>
                  <a:lnTo>
                    <a:pt x="1725168" y="358140"/>
                  </a:lnTo>
                  <a:lnTo>
                    <a:pt x="1725168" y="1348740"/>
                  </a:lnTo>
                  <a:lnTo>
                    <a:pt x="1732788" y="1348740"/>
                  </a:lnTo>
                  <a:lnTo>
                    <a:pt x="1746504" y="1335024"/>
                  </a:lnTo>
                  <a:close/>
                </a:path>
                <a:path w="2085339" h="1370329">
                  <a:moveTo>
                    <a:pt x="1746504" y="1364007"/>
                  </a:moveTo>
                  <a:lnTo>
                    <a:pt x="1746504" y="1359408"/>
                  </a:lnTo>
                  <a:lnTo>
                    <a:pt x="1725168" y="1359408"/>
                  </a:lnTo>
                  <a:lnTo>
                    <a:pt x="1725168" y="1370076"/>
                  </a:lnTo>
                  <a:lnTo>
                    <a:pt x="1740408" y="1370076"/>
                  </a:lnTo>
                  <a:lnTo>
                    <a:pt x="1746504" y="1364007"/>
                  </a:lnTo>
                  <a:close/>
                </a:path>
                <a:path w="2085339" h="1370329">
                  <a:moveTo>
                    <a:pt x="1735836" y="336804"/>
                  </a:moveTo>
                  <a:lnTo>
                    <a:pt x="1732788" y="336804"/>
                  </a:lnTo>
                  <a:lnTo>
                    <a:pt x="1729740" y="339852"/>
                  </a:lnTo>
                  <a:lnTo>
                    <a:pt x="1735836" y="336804"/>
                  </a:lnTo>
                  <a:close/>
                </a:path>
                <a:path w="2085339" h="1370329">
                  <a:moveTo>
                    <a:pt x="1735836" y="347472"/>
                  </a:moveTo>
                  <a:lnTo>
                    <a:pt x="1735836" y="336804"/>
                  </a:lnTo>
                  <a:lnTo>
                    <a:pt x="1729740" y="339852"/>
                  </a:lnTo>
                  <a:lnTo>
                    <a:pt x="1729740" y="347472"/>
                  </a:lnTo>
                  <a:lnTo>
                    <a:pt x="1735836" y="347472"/>
                  </a:lnTo>
                  <a:close/>
                </a:path>
                <a:path w="2085339" h="1370329">
                  <a:moveTo>
                    <a:pt x="1735836" y="1348740"/>
                  </a:moveTo>
                  <a:lnTo>
                    <a:pt x="1732788" y="1348740"/>
                  </a:lnTo>
                  <a:lnTo>
                    <a:pt x="1729740" y="1351788"/>
                  </a:lnTo>
                  <a:lnTo>
                    <a:pt x="1735836" y="1348740"/>
                  </a:lnTo>
                  <a:close/>
                </a:path>
                <a:path w="2085339" h="1370329">
                  <a:moveTo>
                    <a:pt x="1735836" y="1359408"/>
                  </a:moveTo>
                  <a:lnTo>
                    <a:pt x="1735836" y="1348740"/>
                  </a:lnTo>
                  <a:lnTo>
                    <a:pt x="1729740" y="1351788"/>
                  </a:lnTo>
                  <a:lnTo>
                    <a:pt x="1729740" y="1359408"/>
                  </a:lnTo>
                  <a:lnTo>
                    <a:pt x="1735836" y="1359408"/>
                  </a:lnTo>
                  <a:close/>
                </a:path>
                <a:path w="2085339" h="1370329">
                  <a:moveTo>
                    <a:pt x="2074164" y="25873"/>
                  </a:moveTo>
                  <a:lnTo>
                    <a:pt x="2074164" y="21336"/>
                  </a:lnTo>
                  <a:lnTo>
                    <a:pt x="2048256" y="21336"/>
                  </a:lnTo>
                  <a:lnTo>
                    <a:pt x="1732788" y="336804"/>
                  </a:lnTo>
                  <a:lnTo>
                    <a:pt x="1735836" y="336804"/>
                  </a:lnTo>
                  <a:lnTo>
                    <a:pt x="1735836" y="347472"/>
                  </a:lnTo>
                  <a:lnTo>
                    <a:pt x="1746504" y="347472"/>
                  </a:lnTo>
                  <a:lnTo>
                    <a:pt x="1746504" y="352071"/>
                  </a:lnTo>
                  <a:lnTo>
                    <a:pt x="2074164" y="25873"/>
                  </a:lnTo>
                  <a:close/>
                </a:path>
                <a:path w="2085339" h="1370329">
                  <a:moveTo>
                    <a:pt x="2066544" y="1014984"/>
                  </a:moveTo>
                  <a:lnTo>
                    <a:pt x="1732788" y="1348740"/>
                  </a:lnTo>
                  <a:lnTo>
                    <a:pt x="1735836" y="1348740"/>
                  </a:lnTo>
                  <a:lnTo>
                    <a:pt x="1735836" y="1359408"/>
                  </a:lnTo>
                  <a:lnTo>
                    <a:pt x="1746504" y="1359408"/>
                  </a:lnTo>
                  <a:lnTo>
                    <a:pt x="1746504" y="1364007"/>
                  </a:lnTo>
                  <a:lnTo>
                    <a:pt x="2063496" y="1048417"/>
                  </a:lnTo>
                  <a:lnTo>
                    <a:pt x="2063496" y="1022604"/>
                  </a:lnTo>
                  <a:lnTo>
                    <a:pt x="2066544" y="1014984"/>
                  </a:lnTo>
                  <a:close/>
                </a:path>
                <a:path w="2085339" h="1370329">
                  <a:moveTo>
                    <a:pt x="2081784" y="18288"/>
                  </a:moveTo>
                  <a:lnTo>
                    <a:pt x="2066544" y="3048"/>
                  </a:lnTo>
                  <a:lnTo>
                    <a:pt x="2048256" y="21336"/>
                  </a:lnTo>
                  <a:lnTo>
                    <a:pt x="2063496" y="21336"/>
                  </a:lnTo>
                  <a:lnTo>
                    <a:pt x="2063496" y="10668"/>
                  </a:lnTo>
                  <a:lnTo>
                    <a:pt x="2074164" y="21336"/>
                  </a:lnTo>
                  <a:lnTo>
                    <a:pt x="2074164" y="25873"/>
                  </a:lnTo>
                  <a:lnTo>
                    <a:pt x="2081784" y="18288"/>
                  </a:lnTo>
                  <a:close/>
                </a:path>
                <a:path w="2085339" h="1370329">
                  <a:moveTo>
                    <a:pt x="2074164" y="21336"/>
                  </a:moveTo>
                  <a:lnTo>
                    <a:pt x="2063496" y="10668"/>
                  </a:lnTo>
                  <a:lnTo>
                    <a:pt x="2063496" y="21336"/>
                  </a:lnTo>
                  <a:lnTo>
                    <a:pt x="2074164" y="21336"/>
                  </a:lnTo>
                  <a:close/>
                </a:path>
                <a:path w="2085339" h="1370329">
                  <a:moveTo>
                    <a:pt x="2081784" y="1030210"/>
                  </a:moveTo>
                  <a:lnTo>
                    <a:pt x="2081784" y="18288"/>
                  </a:lnTo>
                  <a:lnTo>
                    <a:pt x="2063496" y="36494"/>
                  </a:lnTo>
                  <a:lnTo>
                    <a:pt x="2063496" y="1018032"/>
                  </a:lnTo>
                  <a:lnTo>
                    <a:pt x="2066544" y="1014984"/>
                  </a:lnTo>
                  <a:lnTo>
                    <a:pt x="2066544" y="1045383"/>
                  </a:lnTo>
                  <a:lnTo>
                    <a:pt x="2081784" y="1030210"/>
                  </a:lnTo>
                  <a:close/>
                </a:path>
                <a:path w="2085339" h="1370329">
                  <a:moveTo>
                    <a:pt x="2066544" y="1045383"/>
                  </a:moveTo>
                  <a:lnTo>
                    <a:pt x="2066544" y="1014984"/>
                  </a:lnTo>
                  <a:lnTo>
                    <a:pt x="2063496" y="1022604"/>
                  </a:lnTo>
                  <a:lnTo>
                    <a:pt x="2063496" y="1048417"/>
                  </a:lnTo>
                  <a:lnTo>
                    <a:pt x="2066544" y="1045383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28977" y="5702807"/>
            <a:ext cx="1725295" cy="1012190"/>
          </a:xfrm>
          <a:prstGeom prst="rect">
            <a:avLst/>
          </a:prstGeom>
          <a:solidFill>
            <a:srgbClr val="93B5D2"/>
          </a:solidFill>
        </p:spPr>
        <p:txBody>
          <a:bodyPr vert="horz" wrap="square" lIns="0" tIns="297180" rIns="0" bIns="0" rtlCol="0">
            <a:spAutoFit/>
          </a:bodyPr>
          <a:lstStyle/>
          <a:p>
            <a:pPr marL="229870">
              <a:lnSpc>
                <a:spcPct val="100000"/>
              </a:lnSpc>
              <a:spcBef>
                <a:spcPts val="2340"/>
              </a:spcBef>
            </a:pPr>
            <a:r>
              <a:rPr sz="26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Fonction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488" y="1395475"/>
            <a:ext cx="1149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390842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N</a:t>
            </a:r>
            <a:r>
              <a:rPr spc="-305" dirty="0"/>
              <a:t>o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7512" y="1758187"/>
            <a:ext cx="10001885" cy="40538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4970" indent="-382905">
              <a:lnSpc>
                <a:spcPct val="100000"/>
              </a:lnSpc>
              <a:spcBef>
                <a:spcPts val="140"/>
              </a:spcBef>
              <a:buClr>
                <a:srgbClr val="0079D6"/>
              </a:buClr>
              <a:buFont typeface="Wingdings"/>
              <a:buChar char=""/>
              <a:tabLst>
                <a:tab pos="395605" algn="l"/>
              </a:tabLst>
            </a:pPr>
            <a:r>
              <a:rPr sz="2600" spc="10" dirty="0">
                <a:latin typeface="Times New Roman"/>
                <a:cs typeface="Times New Roman"/>
              </a:rPr>
              <a:t>Plus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précisément,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fonction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15" dirty="0">
                <a:latin typeface="Times New Roman"/>
                <a:cs typeface="Times New Roman"/>
              </a:rPr>
              <a:t> objet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logiciel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caractérisé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90525" marR="5080" lvl="1">
              <a:lnSpc>
                <a:spcPts val="318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"/>
              <a:tabLst>
                <a:tab pos="628650" algn="l"/>
              </a:tabLst>
            </a:pPr>
            <a:r>
              <a:rPr sz="2600" spc="20" dirty="0">
                <a:solidFill>
                  <a:srgbClr val="006FC0"/>
                </a:solidFill>
                <a:latin typeface="Times New Roman"/>
                <a:cs typeface="Times New Roman"/>
              </a:rPr>
              <a:t>un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corps</a:t>
            </a:r>
            <a:r>
              <a:rPr sz="260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: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portion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programme à </a:t>
            </a:r>
            <a:r>
              <a:rPr sz="2600" spc="10" dirty="0">
                <a:latin typeface="Times New Roman"/>
                <a:cs typeface="Times New Roman"/>
              </a:rPr>
              <a:t>réutiliser </a:t>
            </a:r>
            <a:r>
              <a:rPr sz="2600" spc="20" dirty="0">
                <a:latin typeface="Times New Roman"/>
                <a:cs typeface="Times New Roman"/>
              </a:rPr>
              <a:t>ou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mettre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 évidence,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</a:t>
            </a:r>
            <a:r>
              <a:rPr sz="2600" spc="10" dirty="0">
                <a:latin typeface="Times New Roman"/>
                <a:cs typeface="Times New Roman"/>
              </a:rPr>
              <a:t> justifié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création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;</a:t>
            </a:r>
            <a:r>
              <a:rPr sz="2600" spc="5" dirty="0">
                <a:latin typeface="Times New Roman"/>
                <a:cs typeface="Times New Roman"/>
              </a:rPr>
              <a:t> il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délimité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endParaRPr sz="2600">
              <a:latin typeface="Times New Roman"/>
              <a:cs typeface="Times New Roman"/>
            </a:endParaRPr>
          </a:p>
          <a:p>
            <a:pPr marL="390525">
              <a:lnSpc>
                <a:spcPts val="3050"/>
              </a:lnSpc>
            </a:pPr>
            <a:r>
              <a:rPr sz="2600" b="1" spc="15" dirty="0">
                <a:latin typeface="Times New Roman"/>
                <a:cs typeface="Times New Roman"/>
              </a:rPr>
              <a:t>accolades</a:t>
            </a:r>
            <a:r>
              <a:rPr sz="2600" spc="1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628015" lvl="1" indent="-238125">
              <a:lnSpc>
                <a:spcPct val="100000"/>
              </a:lnSpc>
              <a:spcBef>
                <a:spcPts val="50"/>
              </a:spcBef>
              <a:buClr>
                <a:srgbClr val="001F5F"/>
              </a:buClr>
              <a:buFont typeface="Wingdings"/>
              <a:buChar char=""/>
              <a:tabLst>
                <a:tab pos="628650" algn="l"/>
              </a:tabLst>
            </a:pPr>
            <a:r>
              <a:rPr sz="2600" spc="20" dirty="0">
                <a:solidFill>
                  <a:srgbClr val="006FC0"/>
                </a:solidFill>
                <a:latin typeface="Times New Roman"/>
                <a:cs typeface="Times New Roman"/>
              </a:rPr>
              <a:t>un</a:t>
            </a:r>
            <a:r>
              <a:rPr sz="26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006FC0"/>
                </a:solidFill>
                <a:latin typeface="Times New Roman"/>
                <a:cs typeface="Times New Roman"/>
              </a:rPr>
              <a:t>nom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6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lequel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on </a:t>
            </a:r>
            <a:r>
              <a:rPr sz="2600" spc="15" dirty="0">
                <a:latin typeface="Times New Roman"/>
                <a:cs typeface="Times New Roman"/>
              </a:rPr>
              <a:t>désignera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cette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 ;</a:t>
            </a:r>
            <a:endParaRPr sz="2600">
              <a:latin typeface="Times New Roman"/>
              <a:cs typeface="Times New Roman"/>
            </a:endParaRPr>
          </a:p>
          <a:p>
            <a:pPr marL="390525" marR="224790" lvl="1">
              <a:lnSpc>
                <a:spcPct val="101699"/>
              </a:lnSpc>
              <a:spcBef>
                <a:spcPts val="5"/>
              </a:spcBef>
              <a:buClr>
                <a:srgbClr val="001F5F"/>
              </a:buClr>
              <a:buFont typeface="Wingdings"/>
              <a:buChar char=""/>
              <a:tabLst>
                <a:tab pos="628650" algn="l"/>
              </a:tabLst>
            </a:pP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des paramètres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: </a:t>
            </a:r>
            <a:r>
              <a:rPr sz="2600" spc="10" dirty="0">
                <a:latin typeface="Times New Roman"/>
                <a:cs typeface="Times New Roman"/>
              </a:rPr>
              <a:t>(les </a:t>
            </a:r>
            <a:r>
              <a:rPr sz="2600" spc="20" dirty="0">
                <a:latin typeface="Times New Roman"/>
                <a:cs typeface="Times New Roman"/>
              </a:rPr>
              <a:t>« </a:t>
            </a:r>
            <a:r>
              <a:rPr sz="2600" spc="10" dirty="0">
                <a:latin typeface="Times New Roman"/>
                <a:cs typeface="Times New Roman"/>
              </a:rPr>
              <a:t>entrées </a:t>
            </a:r>
            <a:r>
              <a:rPr sz="2600" spc="15" dirty="0">
                <a:latin typeface="Times New Roman"/>
                <a:cs typeface="Times New Roman"/>
              </a:rPr>
              <a:t>», </a:t>
            </a:r>
            <a:r>
              <a:rPr sz="2600" spc="20" dirty="0">
                <a:latin typeface="Times New Roman"/>
                <a:cs typeface="Times New Roman"/>
              </a:rPr>
              <a:t>on </a:t>
            </a:r>
            <a:r>
              <a:rPr sz="2600" spc="10" dirty="0">
                <a:latin typeface="Times New Roman"/>
                <a:cs typeface="Times New Roman"/>
              </a:rPr>
              <a:t>les </a:t>
            </a:r>
            <a:r>
              <a:rPr sz="2600" spc="15" dirty="0">
                <a:latin typeface="Times New Roman"/>
                <a:cs typeface="Times New Roman"/>
              </a:rPr>
              <a:t>appelle aussi </a:t>
            </a:r>
            <a:r>
              <a:rPr sz="2600" spc="20" dirty="0">
                <a:latin typeface="Times New Roman"/>
                <a:cs typeface="Times New Roman"/>
              </a:rPr>
              <a:t>« </a:t>
            </a:r>
            <a:r>
              <a:rPr sz="2600" spc="10" dirty="0">
                <a:latin typeface="Times New Roman"/>
                <a:cs typeface="Times New Roman"/>
              </a:rPr>
              <a:t>arguments </a:t>
            </a:r>
            <a:r>
              <a:rPr sz="2600" spc="15" dirty="0">
                <a:latin typeface="Times New Roman"/>
                <a:cs typeface="Times New Roman"/>
              </a:rPr>
              <a:t>»)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ensemble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variables extérieures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dont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15" dirty="0">
                <a:latin typeface="Times New Roman"/>
                <a:cs typeface="Times New Roman"/>
              </a:rPr>
              <a:t>corps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dépend 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pour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fonctionner </a:t>
            </a:r>
            <a:r>
              <a:rPr sz="2600" spc="10" dirty="0"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390525" marR="734060" lvl="1">
              <a:lnSpc>
                <a:spcPct val="101499"/>
              </a:lnSpc>
              <a:spcBef>
                <a:spcPts val="5"/>
              </a:spcBef>
              <a:buClr>
                <a:srgbClr val="001F5F"/>
              </a:buClr>
              <a:buFont typeface="Wingdings"/>
              <a:buChar char=""/>
              <a:tabLst>
                <a:tab pos="628650" algn="l"/>
              </a:tabLst>
            </a:pPr>
            <a:r>
              <a:rPr sz="2600" spc="20" dirty="0">
                <a:solidFill>
                  <a:srgbClr val="006FC0"/>
                </a:solidFill>
                <a:latin typeface="Times New Roman"/>
                <a:cs typeface="Times New Roman"/>
              </a:rPr>
              <a:t>un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type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et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une valeur de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retour : </a:t>
            </a:r>
            <a:r>
              <a:rPr sz="2600" spc="10" dirty="0">
                <a:latin typeface="Times New Roman"/>
                <a:cs typeface="Times New Roman"/>
              </a:rPr>
              <a:t>(la </a:t>
            </a:r>
            <a:r>
              <a:rPr sz="2600" spc="20" dirty="0">
                <a:latin typeface="Times New Roman"/>
                <a:cs typeface="Times New Roman"/>
              </a:rPr>
              <a:t>« </a:t>
            </a:r>
            <a:r>
              <a:rPr sz="2600" spc="10" dirty="0">
                <a:latin typeface="Times New Roman"/>
                <a:cs typeface="Times New Roman"/>
              </a:rPr>
              <a:t>sortie </a:t>
            </a:r>
            <a:r>
              <a:rPr sz="2600" spc="15" dirty="0">
                <a:latin typeface="Times New Roman"/>
                <a:cs typeface="Times New Roman"/>
              </a:rPr>
              <a:t>») ce que </a:t>
            </a:r>
            <a:r>
              <a:rPr sz="2600" spc="10" dirty="0">
                <a:latin typeface="Times New Roman"/>
                <a:cs typeface="Times New Roman"/>
              </a:rPr>
              <a:t>la fonction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renvoie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</a:t>
            </a:r>
            <a:r>
              <a:rPr sz="2600" spc="10" dirty="0">
                <a:latin typeface="Times New Roman"/>
                <a:cs typeface="Times New Roman"/>
              </a:rPr>
              <a:t> reste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du </a:t>
            </a:r>
            <a:r>
              <a:rPr sz="2600" spc="15" dirty="0">
                <a:latin typeface="Times New Roman"/>
                <a:cs typeface="Times New Roman"/>
              </a:rPr>
              <a:t>programme.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488" y="1395475"/>
            <a:ext cx="1149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390842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N</a:t>
            </a:r>
            <a:r>
              <a:rPr spc="-305" dirty="0"/>
              <a:t>o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04" y="1758187"/>
            <a:ext cx="5904230" cy="16363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4970" indent="-382905">
              <a:lnSpc>
                <a:spcPct val="100000"/>
              </a:lnSpc>
              <a:spcBef>
                <a:spcPts val="140"/>
              </a:spcBef>
              <a:buClr>
                <a:srgbClr val="0079D6"/>
              </a:buClr>
              <a:buFont typeface="Wingdings"/>
              <a:buChar char=""/>
              <a:tabLst>
                <a:tab pos="395605" algn="l"/>
              </a:tabLst>
            </a:pPr>
            <a:r>
              <a:rPr sz="2600" spc="15" dirty="0">
                <a:latin typeface="Times New Roman"/>
                <a:cs typeface="Times New Roman"/>
              </a:rPr>
              <a:t>Les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«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3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facettes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»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d’une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endParaRPr sz="2600">
              <a:latin typeface="Times New Roman"/>
              <a:cs typeface="Times New Roman"/>
            </a:endParaRPr>
          </a:p>
          <a:p>
            <a:pPr marL="628015" lvl="1" indent="-238125">
              <a:lnSpc>
                <a:spcPct val="100000"/>
              </a:lnSpc>
              <a:spcBef>
                <a:spcPts val="45"/>
              </a:spcBef>
              <a:buClr>
                <a:srgbClr val="001F5F"/>
              </a:buClr>
              <a:buFont typeface="Wingdings"/>
              <a:buChar char=""/>
              <a:tabLst>
                <a:tab pos="628650" algn="l"/>
              </a:tabLst>
            </a:pPr>
            <a:r>
              <a:rPr sz="2600" spc="20" dirty="0">
                <a:latin typeface="Times New Roman"/>
                <a:cs typeface="Times New Roman"/>
              </a:rPr>
              <a:t>Résumé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/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Contrat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«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prototype</a:t>
            </a:r>
            <a:r>
              <a:rPr sz="26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»</a:t>
            </a:r>
            <a:r>
              <a:rPr sz="2600" spc="15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628015" lvl="1" indent="-238125">
              <a:lnSpc>
                <a:spcPct val="100000"/>
              </a:lnSpc>
              <a:spcBef>
                <a:spcPts val="60"/>
              </a:spcBef>
              <a:buClr>
                <a:srgbClr val="001F5F"/>
              </a:buClr>
              <a:buFont typeface="Wingdings"/>
              <a:buChar char=""/>
              <a:tabLst>
                <a:tab pos="628650" algn="l"/>
              </a:tabLst>
            </a:pPr>
            <a:r>
              <a:rPr sz="2600" spc="15" dirty="0">
                <a:latin typeface="Times New Roman"/>
                <a:cs typeface="Times New Roman"/>
              </a:rPr>
              <a:t>Création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/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Construction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«</a:t>
            </a:r>
            <a:r>
              <a:rPr sz="26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définition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»</a:t>
            </a:r>
            <a:r>
              <a:rPr sz="2600" spc="15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628015" lvl="1" indent="-238125">
              <a:lnSpc>
                <a:spcPct val="100000"/>
              </a:lnSpc>
              <a:spcBef>
                <a:spcPts val="50"/>
              </a:spcBef>
              <a:buClr>
                <a:srgbClr val="001F5F"/>
              </a:buClr>
              <a:buFont typeface="Wingdings"/>
              <a:buChar char=""/>
              <a:tabLst>
                <a:tab pos="628650" algn="l"/>
              </a:tabLst>
            </a:pPr>
            <a:r>
              <a:rPr sz="2600" spc="10" dirty="0">
                <a:latin typeface="Times New Roman"/>
                <a:cs typeface="Times New Roman"/>
              </a:rPr>
              <a:t>Utilisation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«</a:t>
            </a:r>
            <a:r>
              <a:rPr sz="26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appel</a:t>
            </a:r>
            <a:r>
              <a:rPr sz="26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»</a:t>
            </a:r>
            <a:r>
              <a:rPr sz="2600" spc="15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012" y="1396999"/>
            <a:ext cx="1149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436" y="426211"/>
            <a:ext cx="390842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N</a:t>
            </a:r>
            <a:r>
              <a:rPr spc="-305" dirty="0"/>
              <a:t>o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255" y="1812035"/>
            <a:ext cx="10035540" cy="4826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488" y="1395475"/>
            <a:ext cx="1149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454215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40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760" y="1755139"/>
            <a:ext cx="9749155" cy="12045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Syntaxe</a:t>
            </a:r>
            <a:r>
              <a:rPr sz="3050" b="1" spc="-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d’une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2823845" algn="l"/>
              </a:tabLst>
            </a:pPr>
            <a:r>
              <a:rPr sz="2300" spc="5" dirty="0">
                <a:solidFill>
                  <a:srgbClr val="FF0065"/>
                </a:solidFill>
                <a:latin typeface="Times New Roman"/>
                <a:cs typeface="Times New Roman"/>
              </a:rPr>
              <a:t>type_valeur_de_retour	</a:t>
            </a:r>
            <a:r>
              <a:rPr sz="2300" spc="5" dirty="0">
                <a:solidFill>
                  <a:srgbClr val="006FC0"/>
                </a:solidFill>
                <a:latin typeface="Times New Roman"/>
                <a:cs typeface="Times New Roman"/>
              </a:rPr>
              <a:t>nom_de_la_fonction</a:t>
            </a:r>
            <a:r>
              <a:rPr sz="23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spc="5" dirty="0">
                <a:latin typeface="Times New Roman"/>
                <a:cs typeface="Times New Roman"/>
              </a:rPr>
              <a:t>liste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des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paramètres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avec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leurs types</a:t>
            </a:r>
            <a:r>
              <a:rPr sz="23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760" y="2933190"/>
            <a:ext cx="2359660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spc="5" dirty="0">
                <a:latin typeface="Times New Roman"/>
                <a:cs typeface="Times New Roman"/>
              </a:rPr>
              <a:t>Bloc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d‘instructions;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88624" y="2933190"/>
            <a:ext cx="5036185" cy="732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14"/>
              </a:spcBef>
            </a:pP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3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00B04F"/>
                </a:solidFill>
                <a:latin typeface="Times New Roman"/>
                <a:cs typeface="Times New Roman"/>
              </a:rPr>
              <a:t>déclarations</a:t>
            </a:r>
            <a:r>
              <a:rPr sz="23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00B04F"/>
                </a:solidFill>
                <a:latin typeface="Times New Roman"/>
                <a:cs typeface="Times New Roman"/>
              </a:rPr>
              <a:t>locales</a:t>
            </a:r>
            <a:r>
              <a:rPr sz="23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si </a:t>
            </a:r>
            <a:r>
              <a:rPr sz="2300" spc="5" dirty="0">
                <a:solidFill>
                  <a:srgbClr val="00B04F"/>
                </a:solidFill>
                <a:latin typeface="Times New Roman"/>
                <a:cs typeface="Times New Roman"/>
              </a:rPr>
              <a:t>nécessaire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3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00B04F"/>
                </a:solidFill>
                <a:latin typeface="Times New Roman"/>
                <a:cs typeface="Times New Roman"/>
              </a:rPr>
              <a:t>calcul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00B04F"/>
                </a:solidFill>
                <a:latin typeface="Times New Roman"/>
                <a:cs typeface="Times New Roman"/>
              </a:rPr>
              <a:t>et</a:t>
            </a:r>
            <a:r>
              <a:rPr sz="23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00B04F"/>
                </a:solidFill>
                <a:latin typeface="Times New Roman"/>
                <a:cs typeface="Times New Roman"/>
              </a:rPr>
              <a:t>retour</a:t>
            </a:r>
            <a:r>
              <a:rPr sz="23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00B04F"/>
                </a:solidFill>
                <a:latin typeface="Times New Roman"/>
                <a:cs typeface="Times New Roman"/>
              </a:rPr>
              <a:t>(avec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300" dirty="0">
                <a:solidFill>
                  <a:srgbClr val="00B04F"/>
                </a:solidFill>
                <a:latin typeface="Times New Roman"/>
                <a:cs typeface="Times New Roman"/>
              </a:rPr>
              <a:t>)</a:t>
            </a:r>
            <a:r>
              <a:rPr sz="23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00B04F"/>
                </a:solidFill>
                <a:latin typeface="Times New Roman"/>
                <a:cs typeface="Times New Roman"/>
              </a:rPr>
              <a:t>du</a:t>
            </a:r>
            <a:r>
              <a:rPr sz="23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00B04F"/>
                </a:solidFill>
                <a:latin typeface="Times New Roman"/>
                <a:cs typeface="Times New Roman"/>
              </a:rPr>
              <a:t>résultat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6760" y="3638802"/>
            <a:ext cx="141605" cy="3784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760" y="5904989"/>
            <a:ext cx="9660255" cy="732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46760" marR="5080" indent="-734695">
              <a:lnSpc>
                <a:spcPct val="100899"/>
              </a:lnSpc>
              <a:spcBef>
                <a:spcPts val="90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N. B: </a:t>
            </a:r>
            <a:r>
              <a:rPr sz="2300" spc="5" dirty="0">
                <a:latin typeface="Times New Roman"/>
                <a:cs typeface="Times New Roman"/>
              </a:rPr>
              <a:t>choisir </a:t>
            </a:r>
            <a:r>
              <a:rPr sz="2300" spc="10" dirty="0">
                <a:latin typeface="Times New Roman"/>
                <a:cs typeface="Times New Roman"/>
              </a:rPr>
              <a:t>un nom de </a:t>
            </a:r>
            <a:r>
              <a:rPr sz="2300" spc="5" dirty="0">
                <a:latin typeface="Times New Roman"/>
                <a:cs typeface="Times New Roman"/>
              </a:rPr>
              <a:t>la fonction </a:t>
            </a:r>
            <a:r>
              <a:rPr sz="2300" spc="10" dirty="0">
                <a:latin typeface="Times New Roman"/>
                <a:cs typeface="Times New Roman"/>
              </a:rPr>
              <a:t>qui </a:t>
            </a:r>
            <a:r>
              <a:rPr sz="2300" spc="5" dirty="0">
                <a:latin typeface="Times New Roman"/>
                <a:cs typeface="Times New Roman"/>
              </a:rPr>
              <a:t>décrit bien ce </a:t>
            </a:r>
            <a:r>
              <a:rPr sz="2300" dirty="0">
                <a:latin typeface="Times New Roman"/>
                <a:cs typeface="Times New Roman"/>
              </a:rPr>
              <a:t>qu'elle fait, </a:t>
            </a:r>
            <a:r>
              <a:rPr sz="2300" spc="-5" dirty="0">
                <a:latin typeface="Times New Roman"/>
                <a:cs typeface="Times New Roman"/>
              </a:rPr>
              <a:t>comme </a:t>
            </a:r>
            <a:r>
              <a:rPr sz="2300" spc="10" dirty="0">
                <a:latin typeface="Times New Roman"/>
                <a:cs typeface="Times New Roman"/>
              </a:rPr>
              <a:t>pour </a:t>
            </a:r>
            <a:r>
              <a:rPr sz="2300" spc="5" dirty="0">
                <a:latin typeface="Times New Roman"/>
                <a:cs typeface="Times New Roman"/>
              </a:rPr>
              <a:t>les </a:t>
            </a:r>
            <a:r>
              <a:rPr sz="2300" spc="-56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variables.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488" y="1395475"/>
            <a:ext cx="1149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454215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40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760" y="1755139"/>
            <a:ext cx="190690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912" y="3480306"/>
            <a:ext cx="273050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25" dirty="0">
                <a:latin typeface="Times New Roman"/>
                <a:cs typeface="Times New Roman"/>
              </a:rPr>
              <a:t>Type</a:t>
            </a:r>
            <a:r>
              <a:rPr sz="1950" spc="15" dirty="0">
                <a:latin typeface="Times New Roman"/>
                <a:cs typeface="Times New Roman"/>
              </a:rPr>
              <a:t> de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la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valeur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de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retour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5472" y="3437634"/>
            <a:ext cx="3118485" cy="2494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14"/>
              </a:spcBef>
            </a:pP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3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6FC0"/>
                </a:solidFill>
                <a:latin typeface="Times New Roman"/>
                <a:cs typeface="Times New Roman"/>
              </a:rPr>
              <a:t>max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a</a:t>
            </a: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3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3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b</a:t>
            </a:r>
            <a:r>
              <a:rPr sz="23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25"/>
              </a:spcBef>
            </a:pP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3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plusGrand</a:t>
            </a: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233045" marR="127635">
              <a:lnSpc>
                <a:spcPct val="100400"/>
              </a:lnSpc>
            </a:pP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if</a:t>
            </a:r>
            <a:r>
              <a:rPr sz="23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(a&lt;b)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plusGrand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=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b</a:t>
            </a: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300" b="1" spc="-5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else</a:t>
            </a:r>
            <a:r>
              <a:rPr sz="23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plusGrand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=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a</a:t>
            </a: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  <a:spcBef>
                <a:spcPts val="25"/>
              </a:spcBef>
            </a:pPr>
            <a:r>
              <a:rPr sz="23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3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plusGrand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10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6760" y="6258557"/>
            <a:ext cx="961453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3220" marR="32384" indent="-35052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390525" algn="l"/>
                <a:tab pos="391160" algn="l"/>
                <a:tab pos="7639684" algn="l"/>
              </a:tabLst>
            </a:pPr>
            <a:r>
              <a:rPr dirty="0"/>
              <a:t>	</a:t>
            </a:r>
            <a:r>
              <a:rPr sz="2200" spc="-5" dirty="0">
                <a:latin typeface="Times New Roman"/>
                <a:cs typeface="Times New Roman"/>
              </a:rPr>
              <a:t>La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première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ligne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dans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définition,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max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),	</a:t>
            </a:r>
            <a:r>
              <a:rPr sz="2200" dirty="0">
                <a:latin typeface="Times New Roman"/>
                <a:cs typeface="Times New Roman"/>
              </a:rPr>
              <a:t>s‘appelle</a:t>
            </a:r>
            <a:r>
              <a:rPr sz="2200" spc="-8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l‘</a:t>
            </a:r>
            <a:r>
              <a:rPr sz="2200" b="1" i="1" spc="-5" dirty="0">
                <a:latin typeface="Times New Roman"/>
                <a:cs typeface="Times New Roman"/>
              </a:rPr>
              <a:t>entête </a:t>
            </a:r>
            <a:r>
              <a:rPr sz="2200" b="1" i="1" spc="-535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de</a:t>
            </a:r>
            <a:r>
              <a:rPr sz="2200" b="1" i="1" spc="-15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la</a:t>
            </a:r>
            <a:r>
              <a:rPr sz="2200" b="1" i="1" spc="-10" dirty="0">
                <a:latin typeface="Times New Roman"/>
                <a:cs typeface="Times New Roman"/>
              </a:rPr>
              <a:t> </a:t>
            </a:r>
            <a:r>
              <a:rPr sz="2200" b="1" i="1" dirty="0">
                <a:latin typeface="Times New Roman"/>
                <a:cs typeface="Times New Roman"/>
              </a:rPr>
              <a:t>fonction</a:t>
            </a:r>
            <a:r>
              <a:rPr sz="220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buFont typeface="Wingdings"/>
              <a:buChar char=""/>
              <a:tabLst>
                <a:tab pos="390525" algn="l"/>
                <a:tab pos="391160" algn="l"/>
                <a:tab pos="7360284" algn="l"/>
              </a:tabLst>
            </a:pPr>
            <a:r>
              <a:rPr sz="2200" spc="-5" dirty="0">
                <a:latin typeface="Times New Roman"/>
                <a:cs typeface="Times New Roman"/>
              </a:rPr>
              <a:t>Il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n'y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 pas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5" dirty="0">
                <a:latin typeface="Times New Roman"/>
                <a:cs typeface="Times New Roman"/>
              </a:rPr>
              <a:t> point-virgule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!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Ni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après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 déclaration,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ni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après	l'accolade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fermante.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7457" y="3451860"/>
            <a:ext cx="3423285" cy="417830"/>
            <a:chOff x="417457" y="3451860"/>
            <a:chExt cx="3423285" cy="417830"/>
          </a:xfrm>
        </p:grpSpPr>
        <p:sp>
          <p:nvSpPr>
            <p:cNvPr id="10" name="object 10"/>
            <p:cNvSpPr/>
            <p:nvPr/>
          </p:nvSpPr>
          <p:spPr>
            <a:xfrm>
              <a:off x="417457" y="3451860"/>
              <a:ext cx="2877820" cy="417830"/>
            </a:xfrm>
            <a:custGeom>
              <a:avLst/>
              <a:gdLst/>
              <a:ahLst/>
              <a:cxnLst/>
              <a:rect l="l" t="t" r="r" b="b"/>
              <a:pathLst>
                <a:path w="2877820" h="417829">
                  <a:moveTo>
                    <a:pt x="2877309" y="413004"/>
                  </a:moveTo>
                  <a:lnTo>
                    <a:pt x="2877309" y="4572"/>
                  </a:lnTo>
                  <a:lnTo>
                    <a:pt x="2872737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413004"/>
                  </a:lnTo>
                  <a:lnTo>
                    <a:pt x="4572" y="417576"/>
                  </a:lnTo>
                  <a:lnTo>
                    <a:pt x="10668" y="417576"/>
                  </a:lnTo>
                  <a:lnTo>
                    <a:pt x="10668" y="19812"/>
                  </a:lnTo>
                  <a:lnTo>
                    <a:pt x="21336" y="9144"/>
                  </a:lnTo>
                  <a:lnTo>
                    <a:pt x="21336" y="19812"/>
                  </a:lnTo>
                  <a:lnTo>
                    <a:pt x="2857497" y="19812"/>
                  </a:lnTo>
                  <a:lnTo>
                    <a:pt x="2857497" y="9144"/>
                  </a:lnTo>
                  <a:lnTo>
                    <a:pt x="2866641" y="19812"/>
                  </a:lnTo>
                  <a:lnTo>
                    <a:pt x="2866641" y="417576"/>
                  </a:lnTo>
                  <a:lnTo>
                    <a:pt x="2872737" y="417576"/>
                  </a:lnTo>
                  <a:lnTo>
                    <a:pt x="2877309" y="413004"/>
                  </a:lnTo>
                  <a:close/>
                </a:path>
                <a:path w="2877820" h="417829">
                  <a:moveTo>
                    <a:pt x="21336" y="19812"/>
                  </a:moveTo>
                  <a:lnTo>
                    <a:pt x="21336" y="9144"/>
                  </a:lnTo>
                  <a:lnTo>
                    <a:pt x="10668" y="19812"/>
                  </a:lnTo>
                  <a:lnTo>
                    <a:pt x="21336" y="19812"/>
                  </a:lnTo>
                  <a:close/>
                </a:path>
                <a:path w="2877820" h="417829">
                  <a:moveTo>
                    <a:pt x="21336" y="396240"/>
                  </a:moveTo>
                  <a:lnTo>
                    <a:pt x="21336" y="19812"/>
                  </a:lnTo>
                  <a:lnTo>
                    <a:pt x="10668" y="19812"/>
                  </a:lnTo>
                  <a:lnTo>
                    <a:pt x="10668" y="396240"/>
                  </a:lnTo>
                  <a:lnTo>
                    <a:pt x="21336" y="396240"/>
                  </a:lnTo>
                  <a:close/>
                </a:path>
                <a:path w="2877820" h="417829">
                  <a:moveTo>
                    <a:pt x="2866641" y="396240"/>
                  </a:moveTo>
                  <a:lnTo>
                    <a:pt x="10668" y="396240"/>
                  </a:lnTo>
                  <a:lnTo>
                    <a:pt x="21336" y="406908"/>
                  </a:lnTo>
                  <a:lnTo>
                    <a:pt x="21336" y="417576"/>
                  </a:lnTo>
                  <a:lnTo>
                    <a:pt x="2857497" y="417576"/>
                  </a:lnTo>
                  <a:lnTo>
                    <a:pt x="2857497" y="406908"/>
                  </a:lnTo>
                  <a:lnTo>
                    <a:pt x="2866641" y="396240"/>
                  </a:lnTo>
                  <a:close/>
                </a:path>
                <a:path w="2877820" h="417829">
                  <a:moveTo>
                    <a:pt x="21336" y="417576"/>
                  </a:moveTo>
                  <a:lnTo>
                    <a:pt x="21336" y="406908"/>
                  </a:lnTo>
                  <a:lnTo>
                    <a:pt x="10668" y="396240"/>
                  </a:lnTo>
                  <a:lnTo>
                    <a:pt x="10668" y="417576"/>
                  </a:lnTo>
                  <a:lnTo>
                    <a:pt x="21336" y="417576"/>
                  </a:lnTo>
                  <a:close/>
                </a:path>
                <a:path w="2877820" h="417829">
                  <a:moveTo>
                    <a:pt x="2866641" y="19812"/>
                  </a:moveTo>
                  <a:lnTo>
                    <a:pt x="2857497" y="9144"/>
                  </a:lnTo>
                  <a:lnTo>
                    <a:pt x="2857497" y="19812"/>
                  </a:lnTo>
                  <a:lnTo>
                    <a:pt x="2866641" y="19812"/>
                  </a:lnTo>
                  <a:close/>
                </a:path>
                <a:path w="2877820" h="417829">
                  <a:moveTo>
                    <a:pt x="2866641" y="396240"/>
                  </a:moveTo>
                  <a:lnTo>
                    <a:pt x="2866641" y="19812"/>
                  </a:lnTo>
                  <a:lnTo>
                    <a:pt x="2857497" y="19812"/>
                  </a:lnTo>
                  <a:lnTo>
                    <a:pt x="2857497" y="396240"/>
                  </a:lnTo>
                  <a:lnTo>
                    <a:pt x="2866641" y="396240"/>
                  </a:lnTo>
                  <a:close/>
                </a:path>
                <a:path w="2877820" h="417829">
                  <a:moveTo>
                    <a:pt x="2866641" y="417576"/>
                  </a:moveTo>
                  <a:lnTo>
                    <a:pt x="2866641" y="396240"/>
                  </a:lnTo>
                  <a:lnTo>
                    <a:pt x="2857497" y="406908"/>
                  </a:lnTo>
                  <a:lnTo>
                    <a:pt x="2857497" y="417576"/>
                  </a:lnTo>
                  <a:lnTo>
                    <a:pt x="2866641" y="417576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84098" y="3595116"/>
              <a:ext cx="556260" cy="129539"/>
            </a:xfrm>
            <a:custGeom>
              <a:avLst/>
              <a:gdLst/>
              <a:ahLst/>
              <a:cxnLst/>
              <a:rect l="l" t="t" r="r" b="b"/>
              <a:pathLst>
                <a:path w="556260" h="129539">
                  <a:moveTo>
                    <a:pt x="501562" y="64770"/>
                  </a:moveTo>
                  <a:lnTo>
                    <a:pt x="476678" y="50292"/>
                  </a:lnTo>
                  <a:lnTo>
                    <a:pt x="0" y="50292"/>
                  </a:lnTo>
                  <a:lnTo>
                    <a:pt x="0" y="79248"/>
                  </a:lnTo>
                  <a:lnTo>
                    <a:pt x="476678" y="79248"/>
                  </a:lnTo>
                  <a:lnTo>
                    <a:pt x="501562" y="64770"/>
                  </a:lnTo>
                  <a:close/>
                </a:path>
                <a:path w="556260" h="129539">
                  <a:moveTo>
                    <a:pt x="556260" y="65532"/>
                  </a:moveTo>
                  <a:lnTo>
                    <a:pt x="451104" y="3048"/>
                  </a:lnTo>
                  <a:lnTo>
                    <a:pt x="445008" y="0"/>
                  </a:lnTo>
                  <a:lnTo>
                    <a:pt x="435864" y="1524"/>
                  </a:lnTo>
                  <a:lnTo>
                    <a:pt x="432816" y="9144"/>
                  </a:lnTo>
                  <a:lnTo>
                    <a:pt x="428244" y="15240"/>
                  </a:lnTo>
                  <a:lnTo>
                    <a:pt x="431292" y="24384"/>
                  </a:lnTo>
                  <a:lnTo>
                    <a:pt x="437388" y="27432"/>
                  </a:lnTo>
                  <a:lnTo>
                    <a:pt x="476678" y="50292"/>
                  </a:lnTo>
                  <a:lnTo>
                    <a:pt x="528828" y="50292"/>
                  </a:lnTo>
                  <a:lnTo>
                    <a:pt x="528828" y="81434"/>
                  </a:lnTo>
                  <a:lnTo>
                    <a:pt x="556260" y="65532"/>
                  </a:lnTo>
                  <a:close/>
                </a:path>
                <a:path w="556260" h="129539">
                  <a:moveTo>
                    <a:pt x="528828" y="81434"/>
                  </a:moveTo>
                  <a:lnTo>
                    <a:pt x="528828" y="79248"/>
                  </a:lnTo>
                  <a:lnTo>
                    <a:pt x="476678" y="79248"/>
                  </a:lnTo>
                  <a:lnTo>
                    <a:pt x="437388" y="102108"/>
                  </a:lnTo>
                  <a:lnTo>
                    <a:pt x="431292" y="105156"/>
                  </a:lnTo>
                  <a:lnTo>
                    <a:pt x="428244" y="114300"/>
                  </a:lnTo>
                  <a:lnTo>
                    <a:pt x="432816" y="120396"/>
                  </a:lnTo>
                  <a:lnTo>
                    <a:pt x="435864" y="128016"/>
                  </a:lnTo>
                  <a:lnTo>
                    <a:pt x="445008" y="129540"/>
                  </a:lnTo>
                  <a:lnTo>
                    <a:pt x="451104" y="126492"/>
                  </a:lnTo>
                  <a:lnTo>
                    <a:pt x="528828" y="81434"/>
                  </a:lnTo>
                  <a:close/>
                </a:path>
                <a:path w="556260" h="129539">
                  <a:moveTo>
                    <a:pt x="528828" y="79248"/>
                  </a:moveTo>
                  <a:lnTo>
                    <a:pt x="528828" y="50292"/>
                  </a:lnTo>
                  <a:lnTo>
                    <a:pt x="476678" y="50292"/>
                  </a:lnTo>
                  <a:lnTo>
                    <a:pt x="501562" y="64770"/>
                  </a:lnTo>
                  <a:lnTo>
                    <a:pt x="521208" y="53340"/>
                  </a:lnTo>
                  <a:lnTo>
                    <a:pt x="521208" y="79248"/>
                  </a:lnTo>
                  <a:lnTo>
                    <a:pt x="528828" y="79248"/>
                  </a:lnTo>
                  <a:close/>
                </a:path>
                <a:path w="556260" h="129539">
                  <a:moveTo>
                    <a:pt x="521208" y="79248"/>
                  </a:moveTo>
                  <a:lnTo>
                    <a:pt x="521208" y="76200"/>
                  </a:lnTo>
                  <a:lnTo>
                    <a:pt x="501562" y="64770"/>
                  </a:lnTo>
                  <a:lnTo>
                    <a:pt x="476678" y="79248"/>
                  </a:lnTo>
                  <a:lnTo>
                    <a:pt x="521208" y="79248"/>
                  </a:lnTo>
                  <a:close/>
                </a:path>
                <a:path w="556260" h="129539">
                  <a:moveTo>
                    <a:pt x="521208" y="76200"/>
                  </a:moveTo>
                  <a:lnTo>
                    <a:pt x="521208" y="53340"/>
                  </a:lnTo>
                  <a:lnTo>
                    <a:pt x="501562" y="64770"/>
                  </a:lnTo>
                  <a:lnTo>
                    <a:pt x="521208" y="76200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3325246" y="2397252"/>
            <a:ext cx="1477010" cy="678180"/>
          </a:xfrm>
          <a:custGeom>
            <a:avLst/>
            <a:gdLst/>
            <a:ahLst/>
            <a:cxnLst/>
            <a:rect l="l" t="t" r="r" b="b"/>
            <a:pathLst>
              <a:path w="1477010" h="678180">
                <a:moveTo>
                  <a:pt x="1476756" y="673608"/>
                </a:moveTo>
                <a:lnTo>
                  <a:pt x="1476756" y="4572"/>
                </a:lnTo>
                <a:lnTo>
                  <a:pt x="1472184" y="0"/>
                </a:lnTo>
                <a:lnTo>
                  <a:pt x="4572" y="0"/>
                </a:lnTo>
                <a:lnTo>
                  <a:pt x="0" y="4572"/>
                </a:lnTo>
                <a:lnTo>
                  <a:pt x="0" y="673608"/>
                </a:lnTo>
                <a:lnTo>
                  <a:pt x="4572" y="678180"/>
                </a:lnTo>
                <a:lnTo>
                  <a:pt x="10668" y="678180"/>
                </a:lnTo>
                <a:lnTo>
                  <a:pt x="10668" y="21336"/>
                </a:lnTo>
                <a:lnTo>
                  <a:pt x="21336" y="10668"/>
                </a:lnTo>
                <a:lnTo>
                  <a:pt x="21336" y="21336"/>
                </a:lnTo>
                <a:lnTo>
                  <a:pt x="1456944" y="21336"/>
                </a:lnTo>
                <a:lnTo>
                  <a:pt x="1456944" y="10668"/>
                </a:lnTo>
                <a:lnTo>
                  <a:pt x="1467612" y="21336"/>
                </a:lnTo>
                <a:lnTo>
                  <a:pt x="1467612" y="678180"/>
                </a:lnTo>
                <a:lnTo>
                  <a:pt x="1472184" y="678180"/>
                </a:lnTo>
                <a:lnTo>
                  <a:pt x="1476756" y="673608"/>
                </a:lnTo>
                <a:close/>
              </a:path>
              <a:path w="1477010" h="678180">
                <a:moveTo>
                  <a:pt x="21336" y="21336"/>
                </a:moveTo>
                <a:lnTo>
                  <a:pt x="21336" y="10668"/>
                </a:lnTo>
                <a:lnTo>
                  <a:pt x="10668" y="21336"/>
                </a:lnTo>
                <a:lnTo>
                  <a:pt x="21336" y="21336"/>
                </a:lnTo>
                <a:close/>
              </a:path>
              <a:path w="1477010" h="678180">
                <a:moveTo>
                  <a:pt x="21336" y="656844"/>
                </a:moveTo>
                <a:lnTo>
                  <a:pt x="21336" y="21336"/>
                </a:lnTo>
                <a:lnTo>
                  <a:pt x="10668" y="21336"/>
                </a:lnTo>
                <a:lnTo>
                  <a:pt x="10668" y="656844"/>
                </a:lnTo>
                <a:lnTo>
                  <a:pt x="21336" y="656844"/>
                </a:lnTo>
                <a:close/>
              </a:path>
              <a:path w="1477010" h="678180">
                <a:moveTo>
                  <a:pt x="1467612" y="656844"/>
                </a:moveTo>
                <a:lnTo>
                  <a:pt x="10668" y="656844"/>
                </a:lnTo>
                <a:lnTo>
                  <a:pt x="21336" y="667512"/>
                </a:lnTo>
                <a:lnTo>
                  <a:pt x="21336" y="678180"/>
                </a:lnTo>
                <a:lnTo>
                  <a:pt x="1456944" y="678180"/>
                </a:lnTo>
                <a:lnTo>
                  <a:pt x="1456944" y="667512"/>
                </a:lnTo>
                <a:lnTo>
                  <a:pt x="1467612" y="656844"/>
                </a:lnTo>
                <a:close/>
              </a:path>
              <a:path w="1477010" h="678180">
                <a:moveTo>
                  <a:pt x="21336" y="678180"/>
                </a:moveTo>
                <a:lnTo>
                  <a:pt x="21336" y="667512"/>
                </a:lnTo>
                <a:lnTo>
                  <a:pt x="10668" y="656844"/>
                </a:lnTo>
                <a:lnTo>
                  <a:pt x="10668" y="678180"/>
                </a:lnTo>
                <a:lnTo>
                  <a:pt x="21336" y="678180"/>
                </a:lnTo>
                <a:close/>
              </a:path>
              <a:path w="1477010" h="678180">
                <a:moveTo>
                  <a:pt x="1467612" y="21336"/>
                </a:moveTo>
                <a:lnTo>
                  <a:pt x="1456944" y="10668"/>
                </a:lnTo>
                <a:lnTo>
                  <a:pt x="1456944" y="21336"/>
                </a:lnTo>
                <a:lnTo>
                  <a:pt x="1467612" y="21336"/>
                </a:lnTo>
                <a:close/>
              </a:path>
              <a:path w="1477010" h="678180">
                <a:moveTo>
                  <a:pt x="1467612" y="656844"/>
                </a:moveTo>
                <a:lnTo>
                  <a:pt x="1467612" y="21336"/>
                </a:lnTo>
                <a:lnTo>
                  <a:pt x="1456944" y="21336"/>
                </a:lnTo>
                <a:lnTo>
                  <a:pt x="1456944" y="656844"/>
                </a:lnTo>
                <a:lnTo>
                  <a:pt x="1467612" y="656844"/>
                </a:lnTo>
                <a:close/>
              </a:path>
              <a:path w="1477010" h="678180">
                <a:moveTo>
                  <a:pt x="1467612" y="678180"/>
                </a:moveTo>
                <a:lnTo>
                  <a:pt x="1467612" y="656844"/>
                </a:lnTo>
                <a:lnTo>
                  <a:pt x="1456944" y="667512"/>
                </a:lnTo>
                <a:lnTo>
                  <a:pt x="1456944" y="678180"/>
                </a:lnTo>
                <a:lnTo>
                  <a:pt x="1467612" y="678180"/>
                </a:lnTo>
                <a:close/>
              </a:path>
            </a:pathLst>
          </a:custGeom>
          <a:solidFill>
            <a:srgbClr val="6B8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51236" y="2379979"/>
            <a:ext cx="1111250" cy="6292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0" dirty="0">
                <a:latin typeface="Times New Roman"/>
                <a:cs typeface="Times New Roman"/>
              </a:rPr>
              <a:t>Nom</a:t>
            </a:r>
            <a:r>
              <a:rPr sz="1950" spc="-35" dirty="0"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de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spc="10" dirty="0">
                <a:latin typeface="Times New Roman"/>
                <a:cs typeface="Times New Roman"/>
              </a:rPr>
              <a:t>la</a:t>
            </a:r>
            <a:r>
              <a:rPr sz="1950" spc="-5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03654" y="3058668"/>
            <a:ext cx="251460" cy="481965"/>
          </a:xfrm>
          <a:custGeom>
            <a:avLst/>
            <a:gdLst/>
            <a:ahLst/>
            <a:cxnLst/>
            <a:rect l="l" t="t" r="r" b="b"/>
            <a:pathLst>
              <a:path w="251460" h="481964">
                <a:moveTo>
                  <a:pt x="218895" y="405136"/>
                </a:moveTo>
                <a:lnTo>
                  <a:pt x="25908" y="0"/>
                </a:lnTo>
                <a:lnTo>
                  <a:pt x="0" y="12192"/>
                </a:lnTo>
                <a:lnTo>
                  <a:pt x="194379" y="417377"/>
                </a:lnTo>
                <a:lnTo>
                  <a:pt x="216751" y="432151"/>
                </a:lnTo>
                <a:lnTo>
                  <a:pt x="218895" y="405136"/>
                </a:lnTo>
                <a:close/>
              </a:path>
              <a:path w="251460" h="481964">
                <a:moveTo>
                  <a:pt x="240792" y="481584"/>
                </a:moveTo>
                <a:lnTo>
                  <a:pt x="240792" y="451104"/>
                </a:lnTo>
                <a:lnTo>
                  <a:pt x="216408" y="463296"/>
                </a:lnTo>
                <a:lnTo>
                  <a:pt x="194379" y="417377"/>
                </a:lnTo>
                <a:lnTo>
                  <a:pt x="155448" y="391668"/>
                </a:lnTo>
                <a:lnTo>
                  <a:pt x="149352" y="387096"/>
                </a:lnTo>
                <a:lnTo>
                  <a:pt x="140208" y="388620"/>
                </a:lnTo>
                <a:lnTo>
                  <a:pt x="137160" y="394716"/>
                </a:lnTo>
                <a:lnTo>
                  <a:pt x="132588" y="400812"/>
                </a:lnTo>
                <a:lnTo>
                  <a:pt x="134112" y="409956"/>
                </a:lnTo>
                <a:lnTo>
                  <a:pt x="140208" y="414528"/>
                </a:lnTo>
                <a:lnTo>
                  <a:pt x="240792" y="481584"/>
                </a:lnTo>
                <a:close/>
              </a:path>
              <a:path w="251460" h="481964">
                <a:moveTo>
                  <a:pt x="216751" y="432151"/>
                </a:moveTo>
                <a:lnTo>
                  <a:pt x="194379" y="417377"/>
                </a:lnTo>
                <a:lnTo>
                  <a:pt x="214884" y="460119"/>
                </a:lnTo>
                <a:lnTo>
                  <a:pt x="214884" y="455676"/>
                </a:lnTo>
                <a:lnTo>
                  <a:pt x="216751" y="432151"/>
                </a:lnTo>
                <a:close/>
              </a:path>
              <a:path w="251460" h="481964">
                <a:moveTo>
                  <a:pt x="236220" y="445008"/>
                </a:moveTo>
                <a:lnTo>
                  <a:pt x="216751" y="432151"/>
                </a:lnTo>
                <a:lnTo>
                  <a:pt x="214884" y="455676"/>
                </a:lnTo>
                <a:lnTo>
                  <a:pt x="236220" y="445008"/>
                </a:lnTo>
                <a:close/>
              </a:path>
              <a:path w="251460" h="481964">
                <a:moveTo>
                  <a:pt x="236220" y="453390"/>
                </a:moveTo>
                <a:lnTo>
                  <a:pt x="236220" y="445008"/>
                </a:lnTo>
                <a:lnTo>
                  <a:pt x="214884" y="455676"/>
                </a:lnTo>
                <a:lnTo>
                  <a:pt x="214884" y="460119"/>
                </a:lnTo>
                <a:lnTo>
                  <a:pt x="216408" y="463296"/>
                </a:lnTo>
                <a:lnTo>
                  <a:pt x="236220" y="453390"/>
                </a:lnTo>
                <a:close/>
              </a:path>
              <a:path w="251460" h="481964">
                <a:moveTo>
                  <a:pt x="240792" y="451104"/>
                </a:moveTo>
                <a:lnTo>
                  <a:pt x="218895" y="405136"/>
                </a:lnTo>
                <a:lnTo>
                  <a:pt x="216751" y="432151"/>
                </a:lnTo>
                <a:lnTo>
                  <a:pt x="236220" y="445008"/>
                </a:lnTo>
                <a:lnTo>
                  <a:pt x="236220" y="453390"/>
                </a:lnTo>
                <a:lnTo>
                  <a:pt x="240792" y="451104"/>
                </a:lnTo>
                <a:close/>
              </a:path>
              <a:path w="251460" h="481964">
                <a:moveTo>
                  <a:pt x="251460" y="353568"/>
                </a:moveTo>
                <a:lnTo>
                  <a:pt x="245364" y="347472"/>
                </a:lnTo>
                <a:lnTo>
                  <a:pt x="237744" y="345948"/>
                </a:lnTo>
                <a:lnTo>
                  <a:pt x="230124" y="345948"/>
                </a:lnTo>
                <a:lnTo>
                  <a:pt x="222504" y="352044"/>
                </a:lnTo>
                <a:lnTo>
                  <a:pt x="222504" y="359664"/>
                </a:lnTo>
                <a:lnTo>
                  <a:pt x="218895" y="405136"/>
                </a:lnTo>
                <a:lnTo>
                  <a:pt x="240792" y="451104"/>
                </a:lnTo>
                <a:lnTo>
                  <a:pt x="240792" y="481584"/>
                </a:lnTo>
                <a:lnTo>
                  <a:pt x="249936" y="361188"/>
                </a:lnTo>
                <a:lnTo>
                  <a:pt x="251460" y="353568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03754" y="2979420"/>
            <a:ext cx="1678305" cy="481965"/>
          </a:xfrm>
          <a:custGeom>
            <a:avLst/>
            <a:gdLst/>
            <a:ahLst/>
            <a:cxnLst/>
            <a:rect l="l" t="t" r="r" b="b"/>
            <a:pathLst>
              <a:path w="1678304" h="481964">
                <a:moveTo>
                  <a:pt x="801624" y="237744"/>
                </a:moveTo>
                <a:lnTo>
                  <a:pt x="798576" y="239268"/>
                </a:lnTo>
                <a:lnTo>
                  <a:pt x="41148" y="239268"/>
                </a:lnTo>
                <a:lnTo>
                  <a:pt x="39624" y="240792"/>
                </a:lnTo>
                <a:lnTo>
                  <a:pt x="38100" y="240792"/>
                </a:lnTo>
                <a:lnTo>
                  <a:pt x="33528" y="245364"/>
                </a:lnTo>
                <a:lnTo>
                  <a:pt x="28956" y="251460"/>
                </a:lnTo>
                <a:lnTo>
                  <a:pt x="28956" y="252984"/>
                </a:lnTo>
                <a:lnTo>
                  <a:pt x="24384" y="260604"/>
                </a:lnTo>
                <a:lnTo>
                  <a:pt x="12192" y="312420"/>
                </a:lnTo>
                <a:lnTo>
                  <a:pt x="7620" y="348996"/>
                </a:lnTo>
                <a:lnTo>
                  <a:pt x="4572" y="368808"/>
                </a:lnTo>
                <a:lnTo>
                  <a:pt x="3048" y="388620"/>
                </a:lnTo>
                <a:lnTo>
                  <a:pt x="1524" y="411480"/>
                </a:lnTo>
                <a:lnTo>
                  <a:pt x="1524" y="434340"/>
                </a:lnTo>
                <a:lnTo>
                  <a:pt x="0" y="457200"/>
                </a:lnTo>
                <a:lnTo>
                  <a:pt x="0" y="481584"/>
                </a:lnTo>
                <a:lnTo>
                  <a:pt x="10668" y="481584"/>
                </a:lnTo>
                <a:lnTo>
                  <a:pt x="12192" y="457200"/>
                </a:lnTo>
                <a:lnTo>
                  <a:pt x="12192" y="434340"/>
                </a:lnTo>
                <a:lnTo>
                  <a:pt x="18288" y="348996"/>
                </a:lnTo>
                <a:lnTo>
                  <a:pt x="25908" y="300228"/>
                </a:lnTo>
                <a:lnTo>
                  <a:pt x="38100" y="257556"/>
                </a:lnTo>
                <a:lnTo>
                  <a:pt x="41148" y="253492"/>
                </a:lnTo>
                <a:lnTo>
                  <a:pt x="41148" y="252984"/>
                </a:lnTo>
                <a:lnTo>
                  <a:pt x="42672" y="251460"/>
                </a:lnTo>
                <a:lnTo>
                  <a:pt x="42672" y="252222"/>
                </a:lnTo>
                <a:lnTo>
                  <a:pt x="44196" y="251460"/>
                </a:lnTo>
                <a:lnTo>
                  <a:pt x="44196" y="249936"/>
                </a:lnTo>
                <a:lnTo>
                  <a:pt x="800100" y="249936"/>
                </a:lnTo>
                <a:lnTo>
                  <a:pt x="800100" y="239268"/>
                </a:lnTo>
                <a:lnTo>
                  <a:pt x="801624" y="237744"/>
                </a:lnTo>
                <a:close/>
              </a:path>
              <a:path w="1678304" h="481964">
                <a:moveTo>
                  <a:pt x="42672" y="251460"/>
                </a:moveTo>
                <a:lnTo>
                  <a:pt x="41148" y="252984"/>
                </a:lnTo>
                <a:lnTo>
                  <a:pt x="41757" y="252679"/>
                </a:lnTo>
                <a:lnTo>
                  <a:pt x="42672" y="251460"/>
                </a:lnTo>
                <a:close/>
              </a:path>
              <a:path w="1678304" h="481964">
                <a:moveTo>
                  <a:pt x="41757" y="252679"/>
                </a:moveTo>
                <a:lnTo>
                  <a:pt x="41148" y="252984"/>
                </a:lnTo>
                <a:lnTo>
                  <a:pt x="41148" y="253492"/>
                </a:lnTo>
                <a:lnTo>
                  <a:pt x="41757" y="252679"/>
                </a:lnTo>
                <a:close/>
              </a:path>
              <a:path w="1678304" h="481964">
                <a:moveTo>
                  <a:pt x="42672" y="252222"/>
                </a:moveTo>
                <a:lnTo>
                  <a:pt x="42672" y="251460"/>
                </a:lnTo>
                <a:lnTo>
                  <a:pt x="41757" y="252679"/>
                </a:lnTo>
                <a:lnTo>
                  <a:pt x="42672" y="252222"/>
                </a:lnTo>
                <a:close/>
              </a:path>
              <a:path w="1678304" h="481964">
                <a:moveTo>
                  <a:pt x="806196" y="248412"/>
                </a:moveTo>
                <a:lnTo>
                  <a:pt x="806196" y="230124"/>
                </a:lnTo>
                <a:lnTo>
                  <a:pt x="803148" y="236220"/>
                </a:lnTo>
                <a:lnTo>
                  <a:pt x="800100" y="239268"/>
                </a:lnTo>
                <a:lnTo>
                  <a:pt x="800100" y="249936"/>
                </a:lnTo>
                <a:lnTo>
                  <a:pt x="803148" y="249936"/>
                </a:lnTo>
                <a:lnTo>
                  <a:pt x="803148" y="248412"/>
                </a:lnTo>
                <a:lnTo>
                  <a:pt x="806196" y="248412"/>
                </a:lnTo>
                <a:close/>
              </a:path>
              <a:path w="1678304" h="481964">
                <a:moveTo>
                  <a:pt x="838962" y="130302"/>
                </a:moveTo>
                <a:lnTo>
                  <a:pt x="833628" y="54864"/>
                </a:lnTo>
                <a:lnTo>
                  <a:pt x="833628" y="30480"/>
                </a:lnTo>
                <a:lnTo>
                  <a:pt x="832104" y="53340"/>
                </a:lnTo>
                <a:lnTo>
                  <a:pt x="832104" y="76200"/>
                </a:lnTo>
                <a:lnTo>
                  <a:pt x="830580" y="99060"/>
                </a:lnTo>
                <a:lnTo>
                  <a:pt x="827532" y="138684"/>
                </a:lnTo>
                <a:lnTo>
                  <a:pt x="824484" y="156972"/>
                </a:lnTo>
                <a:lnTo>
                  <a:pt x="821436" y="173736"/>
                </a:lnTo>
                <a:lnTo>
                  <a:pt x="819912" y="188976"/>
                </a:lnTo>
                <a:lnTo>
                  <a:pt x="816864" y="202692"/>
                </a:lnTo>
                <a:lnTo>
                  <a:pt x="812292" y="213360"/>
                </a:lnTo>
                <a:lnTo>
                  <a:pt x="806196" y="231648"/>
                </a:lnTo>
                <a:lnTo>
                  <a:pt x="806196" y="246888"/>
                </a:lnTo>
                <a:lnTo>
                  <a:pt x="809244" y="245364"/>
                </a:lnTo>
                <a:lnTo>
                  <a:pt x="810768" y="243840"/>
                </a:lnTo>
                <a:lnTo>
                  <a:pt x="810768" y="242316"/>
                </a:lnTo>
                <a:lnTo>
                  <a:pt x="812292" y="242316"/>
                </a:lnTo>
                <a:lnTo>
                  <a:pt x="815340" y="236220"/>
                </a:lnTo>
                <a:lnTo>
                  <a:pt x="816864" y="236220"/>
                </a:lnTo>
                <a:lnTo>
                  <a:pt x="827532" y="204216"/>
                </a:lnTo>
                <a:lnTo>
                  <a:pt x="830580" y="190500"/>
                </a:lnTo>
                <a:lnTo>
                  <a:pt x="832104" y="175260"/>
                </a:lnTo>
                <a:lnTo>
                  <a:pt x="835152" y="158496"/>
                </a:lnTo>
                <a:lnTo>
                  <a:pt x="838200" y="140208"/>
                </a:lnTo>
                <a:lnTo>
                  <a:pt x="838962" y="130302"/>
                </a:lnTo>
                <a:close/>
              </a:path>
              <a:path w="1678304" h="481964">
                <a:moveTo>
                  <a:pt x="844296" y="6096"/>
                </a:moveTo>
                <a:lnTo>
                  <a:pt x="844296" y="3048"/>
                </a:lnTo>
                <a:lnTo>
                  <a:pt x="842772" y="0"/>
                </a:lnTo>
                <a:lnTo>
                  <a:pt x="836676" y="0"/>
                </a:lnTo>
                <a:lnTo>
                  <a:pt x="833628" y="3048"/>
                </a:lnTo>
                <a:lnTo>
                  <a:pt x="833628" y="6096"/>
                </a:lnTo>
                <a:lnTo>
                  <a:pt x="844296" y="6096"/>
                </a:lnTo>
                <a:close/>
              </a:path>
              <a:path w="1678304" h="481964">
                <a:moveTo>
                  <a:pt x="844296" y="54864"/>
                </a:moveTo>
                <a:lnTo>
                  <a:pt x="844296" y="6096"/>
                </a:lnTo>
                <a:lnTo>
                  <a:pt x="833628" y="6096"/>
                </a:lnTo>
                <a:lnTo>
                  <a:pt x="833628" y="54864"/>
                </a:lnTo>
                <a:lnTo>
                  <a:pt x="838962" y="130302"/>
                </a:lnTo>
                <a:lnTo>
                  <a:pt x="844296" y="54864"/>
                </a:lnTo>
                <a:close/>
              </a:path>
              <a:path w="1678304" h="481964">
                <a:moveTo>
                  <a:pt x="871728" y="246888"/>
                </a:moveTo>
                <a:lnTo>
                  <a:pt x="871728" y="231648"/>
                </a:lnTo>
                <a:lnTo>
                  <a:pt x="868680" y="224028"/>
                </a:lnTo>
                <a:lnTo>
                  <a:pt x="865632" y="213360"/>
                </a:lnTo>
                <a:lnTo>
                  <a:pt x="861060" y="202692"/>
                </a:lnTo>
                <a:lnTo>
                  <a:pt x="859536" y="188976"/>
                </a:lnTo>
                <a:lnTo>
                  <a:pt x="856488" y="173736"/>
                </a:lnTo>
                <a:lnTo>
                  <a:pt x="853440" y="156972"/>
                </a:lnTo>
                <a:lnTo>
                  <a:pt x="851916" y="138684"/>
                </a:lnTo>
                <a:lnTo>
                  <a:pt x="848868" y="118872"/>
                </a:lnTo>
                <a:lnTo>
                  <a:pt x="847344" y="99060"/>
                </a:lnTo>
                <a:lnTo>
                  <a:pt x="845820" y="76200"/>
                </a:lnTo>
                <a:lnTo>
                  <a:pt x="845820" y="53340"/>
                </a:lnTo>
                <a:lnTo>
                  <a:pt x="844296" y="30480"/>
                </a:lnTo>
                <a:lnTo>
                  <a:pt x="844296" y="54864"/>
                </a:lnTo>
                <a:lnTo>
                  <a:pt x="838962" y="130302"/>
                </a:lnTo>
                <a:lnTo>
                  <a:pt x="839724" y="140208"/>
                </a:lnTo>
                <a:lnTo>
                  <a:pt x="842772" y="158496"/>
                </a:lnTo>
                <a:lnTo>
                  <a:pt x="845820" y="175260"/>
                </a:lnTo>
                <a:lnTo>
                  <a:pt x="847344" y="190500"/>
                </a:lnTo>
                <a:lnTo>
                  <a:pt x="850392" y="204216"/>
                </a:lnTo>
                <a:lnTo>
                  <a:pt x="854964" y="216408"/>
                </a:lnTo>
                <a:lnTo>
                  <a:pt x="858012" y="227076"/>
                </a:lnTo>
                <a:lnTo>
                  <a:pt x="861060" y="236220"/>
                </a:lnTo>
                <a:lnTo>
                  <a:pt x="862584" y="236220"/>
                </a:lnTo>
                <a:lnTo>
                  <a:pt x="865632" y="242316"/>
                </a:lnTo>
                <a:lnTo>
                  <a:pt x="867156" y="242316"/>
                </a:lnTo>
                <a:lnTo>
                  <a:pt x="867156" y="243840"/>
                </a:lnTo>
                <a:lnTo>
                  <a:pt x="868680" y="245364"/>
                </a:lnTo>
                <a:lnTo>
                  <a:pt x="871728" y="246888"/>
                </a:lnTo>
                <a:close/>
              </a:path>
              <a:path w="1678304" h="481964">
                <a:moveTo>
                  <a:pt x="877824" y="249936"/>
                </a:moveTo>
                <a:lnTo>
                  <a:pt x="877824" y="239268"/>
                </a:lnTo>
                <a:lnTo>
                  <a:pt x="874776" y="236220"/>
                </a:lnTo>
                <a:lnTo>
                  <a:pt x="871728" y="230124"/>
                </a:lnTo>
                <a:lnTo>
                  <a:pt x="871728" y="248412"/>
                </a:lnTo>
                <a:lnTo>
                  <a:pt x="874776" y="248412"/>
                </a:lnTo>
                <a:lnTo>
                  <a:pt x="874776" y="249936"/>
                </a:lnTo>
                <a:lnTo>
                  <a:pt x="877824" y="249936"/>
                </a:lnTo>
                <a:close/>
              </a:path>
              <a:path w="1678304" h="481964">
                <a:moveTo>
                  <a:pt x="1677924" y="481584"/>
                </a:moveTo>
                <a:lnTo>
                  <a:pt x="1677924" y="457200"/>
                </a:lnTo>
                <a:lnTo>
                  <a:pt x="1676400" y="434340"/>
                </a:lnTo>
                <a:lnTo>
                  <a:pt x="1676400" y="411480"/>
                </a:lnTo>
                <a:lnTo>
                  <a:pt x="1674876" y="388620"/>
                </a:lnTo>
                <a:lnTo>
                  <a:pt x="1673352" y="368808"/>
                </a:lnTo>
                <a:lnTo>
                  <a:pt x="1670304" y="348996"/>
                </a:lnTo>
                <a:lnTo>
                  <a:pt x="1668780" y="329184"/>
                </a:lnTo>
                <a:lnTo>
                  <a:pt x="1659636" y="283464"/>
                </a:lnTo>
                <a:lnTo>
                  <a:pt x="1648968" y="252984"/>
                </a:lnTo>
                <a:lnTo>
                  <a:pt x="1648968" y="251460"/>
                </a:lnTo>
                <a:lnTo>
                  <a:pt x="1644396" y="245364"/>
                </a:lnTo>
                <a:lnTo>
                  <a:pt x="1639824" y="240792"/>
                </a:lnTo>
                <a:lnTo>
                  <a:pt x="1638300" y="240792"/>
                </a:lnTo>
                <a:lnTo>
                  <a:pt x="1636776" y="239268"/>
                </a:lnTo>
                <a:lnTo>
                  <a:pt x="879348" y="239268"/>
                </a:lnTo>
                <a:lnTo>
                  <a:pt x="876300" y="237744"/>
                </a:lnTo>
                <a:lnTo>
                  <a:pt x="877824" y="239268"/>
                </a:lnTo>
                <a:lnTo>
                  <a:pt x="877824" y="249936"/>
                </a:lnTo>
                <a:lnTo>
                  <a:pt x="1633728" y="249936"/>
                </a:lnTo>
                <a:lnTo>
                  <a:pt x="1636776" y="252984"/>
                </a:lnTo>
                <a:lnTo>
                  <a:pt x="1636776" y="253492"/>
                </a:lnTo>
                <a:lnTo>
                  <a:pt x="1639824" y="257556"/>
                </a:lnTo>
                <a:lnTo>
                  <a:pt x="1642872" y="265176"/>
                </a:lnTo>
                <a:lnTo>
                  <a:pt x="1655064" y="315468"/>
                </a:lnTo>
                <a:lnTo>
                  <a:pt x="1661160" y="368808"/>
                </a:lnTo>
                <a:lnTo>
                  <a:pt x="1665732" y="434340"/>
                </a:lnTo>
                <a:lnTo>
                  <a:pt x="1665732" y="458724"/>
                </a:lnTo>
                <a:lnTo>
                  <a:pt x="1667256" y="481584"/>
                </a:lnTo>
                <a:lnTo>
                  <a:pt x="1677924" y="481584"/>
                </a:lnTo>
                <a:close/>
              </a:path>
              <a:path w="1678304" h="481964">
                <a:moveTo>
                  <a:pt x="1636776" y="253492"/>
                </a:moveTo>
                <a:lnTo>
                  <a:pt x="1636776" y="252984"/>
                </a:lnTo>
                <a:lnTo>
                  <a:pt x="1635252" y="251460"/>
                </a:lnTo>
                <a:lnTo>
                  <a:pt x="1636776" y="253492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991999" y="2223007"/>
            <a:ext cx="2089150" cy="624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sz="1950" spc="10" dirty="0">
                <a:latin typeface="Times New Roman"/>
                <a:cs typeface="Times New Roman"/>
              </a:rPr>
              <a:t>Liste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des</a:t>
            </a:r>
            <a:r>
              <a:rPr sz="1950" spc="-25" dirty="0"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paramètres </a:t>
            </a:r>
            <a:r>
              <a:rPr sz="1950" spc="-47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avec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leurs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types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61438" y="2183892"/>
            <a:ext cx="2312035" cy="812800"/>
          </a:xfrm>
          <a:custGeom>
            <a:avLst/>
            <a:gdLst/>
            <a:ahLst/>
            <a:cxnLst/>
            <a:rect l="l" t="t" r="r" b="b"/>
            <a:pathLst>
              <a:path w="2312034" h="812800">
                <a:moveTo>
                  <a:pt x="2311908" y="807720"/>
                </a:moveTo>
                <a:lnTo>
                  <a:pt x="2311908" y="4572"/>
                </a:lnTo>
                <a:lnTo>
                  <a:pt x="2307336" y="0"/>
                </a:lnTo>
                <a:lnTo>
                  <a:pt x="4572" y="0"/>
                </a:lnTo>
                <a:lnTo>
                  <a:pt x="0" y="4572"/>
                </a:lnTo>
                <a:lnTo>
                  <a:pt x="0" y="807720"/>
                </a:lnTo>
                <a:lnTo>
                  <a:pt x="4572" y="812292"/>
                </a:lnTo>
                <a:lnTo>
                  <a:pt x="10668" y="812292"/>
                </a:lnTo>
                <a:lnTo>
                  <a:pt x="10668" y="21336"/>
                </a:lnTo>
                <a:lnTo>
                  <a:pt x="21336" y="10668"/>
                </a:lnTo>
                <a:lnTo>
                  <a:pt x="21336" y="21336"/>
                </a:lnTo>
                <a:lnTo>
                  <a:pt x="2290572" y="21336"/>
                </a:lnTo>
                <a:lnTo>
                  <a:pt x="2290572" y="10668"/>
                </a:lnTo>
                <a:lnTo>
                  <a:pt x="2301240" y="21336"/>
                </a:lnTo>
                <a:lnTo>
                  <a:pt x="2301240" y="812292"/>
                </a:lnTo>
                <a:lnTo>
                  <a:pt x="2307336" y="812292"/>
                </a:lnTo>
                <a:lnTo>
                  <a:pt x="2311908" y="807720"/>
                </a:lnTo>
                <a:close/>
              </a:path>
              <a:path w="2312034" h="812800">
                <a:moveTo>
                  <a:pt x="21336" y="21336"/>
                </a:moveTo>
                <a:lnTo>
                  <a:pt x="21336" y="10668"/>
                </a:lnTo>
                <a:lnTo>
                  <a:pt x="10668" y="21336"/>
                </a:lnTo>
                <a:lnTo>
                  <a:pt x="21336" y="21336"/>
                </a:lnTo>
                <a:close/>
              </a:path>
              <a:path w="2312034" h="812800">
                <a:moveTo>
                  <a:pt x="21336" y="790956"/>
                </a:moveTo>
                <a:lnTo>
                  <a:pt x="21336" y="21336"/>
                </a:lnTo>
                <a:lnTo>
                  <a:pt x="10668" y="21336"/>
                </a:lnTo>
                <a:lnTo>
                  <a:pt x="10668" y="790956"/>
                </a:lnTo>
                <a:lnTo>
                  <a:pt x="21336" y="790956"/>
                </a:lnTo>
                <a:close/>
              </a:path>
              <a:path w="2312034" h="812800">
                <a:moveTo>
                  <a:pt x="2301240" y="790956"/>
                </a:moveTo>
                <a:lnTo>
                  <a:pt x="10668" y="790956"/>
                </a:lnTo>
                <a:lnTo>
                  <a:pt x="21336" y="801624"/>
                </a:lnTo>
                <a:lnTo>
                  <a:pt x="21336" y="812292"/>
                </a:lnTo>
                <a:lnTo>
                  <a:pt x="2290572" y="812292"/>
                </a:lnTo>
                <a:lnTo>
                  <a:pt x="2290572" y="801624"/>
                </a:lnTo>
                <a:lnTo>
                  <a:pt x="2301240" y="790956"/>
                </a:lnTo>
                <a:close/>
              </a:path>
              <a:path w="2312034" h="812800">
                <a:moveTo>
                  <a:pt x="21336" y="812292"/>
                </a:moveTo>
                <a:lnTo>
                  <a:pt x="21336" y="801624"/>
                </a:lnTo>
                <a:lnTo>
                  <a:pt x="10668" y="790956"/>
                </a:lnTo>
                <a:lnTo>
                  <a:pt x="10668" y="812292"/>
                </a:lnTo>
                <a:lnTo>
                  <a:pt x="21336" y="812292"/>
                </a:lnTo>
                <a:close/>
              </a:path>
              <a:path w="2312034" h="812800">
                <a:moveTo>
                  <a:pt x="2301240" y="21336"/>
                </a:moveTo>
                <a:lnTo>
                  <a:pt x="2290572" y="10668"/>
                </a:lnTo>
                <a:lnTo>
                  <a:pt x="2290572" y="21336"/>
                </a:lnTo>
                <a:lnTo>
                  <a:pt x="2301240" y="21336"/>
                </a:lnTo>
                <a:close/>
              </a:path>
              <a:path w="2312034" h="812800">
                <a:moveTo>
                  <a:pt x="2301240" y="790956"/>
                </a:moveTo>
                <a:lnTo>
                  <a:pt x="2301240" y="21336"/>
                </a:lnTo>
                <a:lnTo>
                  <a:pt x="2290572" y="21336"/>
                </a:lnTo>
                <a:lnTo>
                  <a:pt x="2290572" y="790956"/>
                </a:lnTo>
                <a:lnTo>
                  <a:pt x="2301240" y="790956"/>
                </a:lnTo>
                <a:close/>
              </a:path>
              <a:path w="2312034" h="812800">
                <a:moveTo>
                  <a:pt x="2301240" y="812292"/>
                </a:moveTo>
                <a:lnTo>
                  <a:pt x="2301240" y="790956"/>
                </a:lnTo>
                <a:lnTo>
                  <a:pt x="2290572" y="801624"/>
                </a:lnTo>
                <a:lnTo>
                  <a:pt x="2290572" y="812292"/>
                </a:lnTo>
                <a:lnTo>
                  <a:pt x="2301240" y="812292"/>
                </a:lnTo>
                <a:close/>
              </a:path>
            </a:pathLst>
          </a:custGeom>
          <a:solidFill>
            <a:srgbClr val="6B8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200278" y="4011167"/>
            <a:ext cx="527685" cy="1836420"/>
          </a:xfrm>
          <a:custGeom>
            <a:avLst/>
            <a:gdLst/>
            <a:ahLst/>
            <a:cxnLst/>
            <a:rect l="l" t="t" r="r" b="b"/>
            <a:pathLst>
              <a:path w="527685" h="1836420">
                <a:moveTo>
                  <a:pt x="135255" y="906018"/>
                </a:moveTo>
                <a:lnTo>
                  <a:pt x="129540" y="905256"/>
                </a:lnTo>
                <a:lnTo>
                  <a:pt x="82296" y="902118"/>
                </a:lnTo>
                <a:lnTo>
                  <a:pt x="57912" y="900684"/>
                </a:lnTo>
                <a:lnTo>
                  <a:pt x="1524" y="900684"/>
                </a:lnTo>
                <a:lnTo>
                  <a:pt x="0" y="902208"/>
                </a:lnTo>
                <a:lnTo>
                  <a:pt x="0" y="908304"/>
                </a:lnTo>
                <a:lnTo>
                  <a:pt x="1524" y="911352"/>
                </a:lnTo>
                <a:lnTo>
                  <a:pt x="32004" y="911352"/>
                </a:lnTo>
                <a:lnTo>
                  <a:pt x="57912" y="909828"/>
                </a:lnTo>
                <a:lnTo>
                  <a:pt x="83820" y="909828"/>
                </a:lnTo>
                <a:lnTo>
                  <a:pt x="129540" y="906780"/>
                </a:lnTo>
                <a:lnTo>
                  <a:pt x="135255" y="906018"/>
                </a:lnTo>
                <a:close/>
              </a:path>
              <a:path w="527685" h="1836420">
                <a:moveTo>
                  <a:pt x="527304" y="10668"/>
                </a:moveTo>
                <a:lnTo>
                  <a:pt x="527304" y="0"/>
                </a:lnTo>
                <a:lnTo>
                  <a:pt x="501396" y="0"/>
                </a:lnTo>
                <a:lnTo>
                  <a:pt x="473964" y="1524"/>
                </a:lnTo>
                <a:lnTo>
                  <a:pt x="449580" y="3048"/>
                </a:lnTo>
                <a:lnTo>
                  <a:pt x="425196" y="3048"/>
                </a:lnTo>
                <a:lnTo>
                  <a:pt x="402336" y="6096"/>
                </a:lnTo>
                <a:lnTo>
                  <a:pt x="381000" y="7620"/>
                </a:lnTo>
                <a:lnTo>
                  <a:pt x="341376" y="13716"/>
                </a:lnTo>
                <a:lnTo>
                  <a:pt x="324612" y="16764"/>
                </a:lnTo>
                <a:lnTo>
                  <a:pt x="309372" y="19812"/>
                </a:lnTo>
                <a:lnTo>
                  <a:pt x="295656" y="22860"/>
                </a:lnTo>
                <a:lnTo>
                  <a:pt x="284988" y="27432"/>
                </a:lnTo>
                <a:lnTo>
                  <a:pt x="280416" y="28956"/>
                </a:lnTo>
                <a:lnTo>
                  <a:pt x="275844" y="32004"/>
                </a:lnTo>
                <a:lnTo>
                  <a:pt x="271272" y="33528"/>
                </a:lnTo>
                <a:lnTo>
                  <a:pt x="268224" y="36576"/>
                </a:lnTo>
                <a:lnTo>
                  <a:pt x="265176" y="38100"/>
                </a:lnTo>
                <a:lnTo>
                  <a:pt x="265176" y="39624"/>
                </a:lnTo>
                <a:lnTo>
                  <a:pt x="262128" y="42672"/>
                </a:lnTo>
                <a:lnTo>
                  <a:pt x="262128" y="45720"/>
                </a:lnTo>
                <a:lnTo>
                  <a:pt x="260604" y="45720"/>
                </a:lnTo>
                <a:lnTo>
                  <a:pt x="260604" y="862584"/>
                </a:lnTo>
                <a:lnTo>
                  <a:pt x="259080" y="865632"/>
                </a:lnTo>
                <a:lnTo>
                  <a:pt x="256032" y="868680"/>
                </a:lnTo>
                <a:lnTo>
                  <a:pt x="252984" y="870204"/>
                </a:lnTo>
                <a:lnTo>
                  <a:pt x="248412" y="871728"/>
                </a:lnTo>
                <a:lnTo>
                  <a:pt x="243840" y="874776"/>
                </a:lnTo>
                <a:lnTo>
                  <a:pt x="205740" y="883920"/>
                </a:lnTo>
                <a:lnTo>
                  <a:pt x="150876" y="893064"/>
                </a:lnTo>
                <a:lnTo>
                  <a:pt x="129540" y="894588"/>
                </a:lnTo>
                <a:lnTo>
                  <a:pt x="106680" y="897636"/>
                </a:lnTo>
                <a:lnTo>
                  <a:pt x="82296" y="897636"/>
                </a:lnTo>
                <a:lnTo>
                  <a:pt x="57912" y="899160"/>
                </a:lnTo>
                <a:lnTo>
                  <a:pt x="32004" y="900684"/>
                </a:lnTo>
                <a:lnTo>
                  <a:pt x="57912" y="900684"/>
                </a:lnTo>
                <a:lnTo>
                  <a:pt x="83820" y="902208"/>
                </a:lnTo>
                <a:lnTo>
                  <a:pt x="129540" y="905256"/>
                </a:lnTo>
                <a:lnTo>
                  <a:pt x="135255" y="906018"/>
                </a:lnTo>
                <a:lnTo>
                  <a:pt x="152400" y="903732"/>
                </a:lnTo>
                <a:lnTo>
                  <a:pt x="172212" y="900684"/>
                </a:lnTo>
                <a:lnTo>
                  <a:pt x="190500" y="899160"/>
                </a:lnTo>
                <a:lnTo>
                  <a:pt x="207264" y="896112"/>
                </a:lnTo>
                <a:lnTo>
                  <a:pt x="222504" y="891540"/>
                </a:lnTo>
                <a:lnTo>
                  <a:pt x="236220" y="888492"/>
                </a:lnTo>
                <a:lnTo>
                  <a:pt x="246888" y="883920"/>
                </a:lnTo>
                <a:lnTo>
                  <a:pt x="252984" y="882396"/>
                </a:lnTo>
                <a:lnTo>
                  <a:pt x="257556" y="880872"/>
                </a:lnTo>
                <a:lnTo>
                  <a:pt x="260604" y="877824"/>
                </a:lnTo>
                <a:lnTo>
                  <a:pt x="263652" y="876300"/>
                </a:lnTo>
                <a:lnTo>
                  <a:pt x="269748" y="870204"/>
                </a:lnTo>
                <a:lnTo>
                  <a:pt x="269748" y="868680"/>
                </a:lnTo>
                <a:lnTo>
                  <a:pt x="271272" y="867156"/>
                </a:lnTo>
                <a:lnTo>
                  <a:pt x="271272" y="48768"/>
                </a:lnTo>
                <a:lnTo>
                  <a:pt x="277368" y="42672"/>
                </a:lnTo>
                <a:lnTo>
                  <a:pt x="280416" y="41148"/>
                </a:lnTo>
                <a:lnTo>
                  <a:pt x="289560" y="38100"/>
                </a:lnTo>
                <a:lnTo>
                  <a:pt x="300228" y="33528"/>
                </a:lnTo>
                <a:lnTo>
                  <a:pt x="344424" y="24384"/>
                </a:lnTo>
                <a:lnTo>
                  <a:pt x="382524" y="18288"/>
                </a:lnTo>
                <a:lnTo>
                  <a:pt x="449580" y="13716"/>
                </a:lnTo>
                <a:lnTo>
                  <a:pt x="501396" y="12192"/>
                </a:lnTo>
                <a:lnTo>
                  <a:pt x="527304" y="10668"/>
                </a:lnTo>
                <a:close/>
              </a:path>
              <a:path w="527685" h="1836420">
                <a:moveTo>
                  <a:pt x="527304" y="1836420"/>
                </a:moveTo>
                <a:lnTo>
                  <a:pt x="527304" y="1825752"/>
                </a:lnTo>
                <a:lnTo>
                  <a:pt x="501396" y="1825752"/>
                </a:lnTo>
                <a:lnTo>
                  <a:pt x="449580" y="1822704"/>
                </a:lnTo>
                <a:lnTo>
                  <a:pt x="402336" y="1819547"/>
                </a:lnTo>
                <a:lnTo>
                  <a:pt x="362712" y="1815084"/>
                </a:lnTo>
                <a:lnTo>
                  <a:pt x="312420" y="1805940"/>
                </a:lnTo>
                <a:lnTo>
                  <a:pt x="284988" y="1796796"/>
                </a:lnTo>
                <a:lnTo>
                  <a:pt x="280416" y="1795272"/>
                </a:lnTo>
                <a:lnTo>
                  <a:pt x="274320" y="1792224"/>
                </a:lnTo>
                <a:lnTo>
                  <a:pt x="272796" y="1789176"/>
                </a:lnTo>
                <a:lnTo>
                  <a:pt x="271272" y="1787652"/>
                </a:lnTo>
                <a:lnTo>
                  <a:pt x="271272" y="944880"/>
                </a:lnTo>
                <a:lnTo>
                  <a:pt x="269748" y="943356"/>
                </a:lnTo>
                <a:lnTo>
                  <a:pt x="269748" y="941832"/>
                </a:lnTo>
                <a:lnTo>
                  <a:pt x="268224" y="938784"/>
                </a:lnTo>
                <a:lnTo>
                  <a:pt x="266700" y="938784"/>
                </a:lnTo>
                <a:lnTo>
                  <a:pt x="262128" y="934212"/>
                </a:lnTo>
                <a:lnTo>
                  <a:pt x="257556" y="931164"/>
                </a:lnTo>
                <a:lnTo>
                  <a:pt x="248412" y="928116"/>
                </a:lnTo>
                <a:lnTo>
                  <a:pt x="236220" y="923544"/>
                </a:lnTo>
                <a:lnTo>
                  <a:pt x="190500" y="912876"/>
                </a:lnTo>
                <a:lnTo>
                  <a:pt x="152400" y="908304"/>
                </a:lnTo>
                <a:lnTo>
                  <a:pt x="135255" y="906018"/>
                </a:lnTo>
                <a:lnTo>
                  <a:pt x="129540" y="906780"/>
                </a:lnTo>
                <a:lnTo>
                  <a:pt x="83820" y="909828"/>
                </a:lnTo>
                <a:lnTo>
                  <a:pt x="57912" y="909828"/>
                </a:lnTo>
                <a:lnTo>
                  <a:pt x="32004" y="911352"/>
                </a:lnTo>
                <a:lnTo>
                  <a:pt x="57912" y="912876"/>
                </a:lnTo>
                <a:lnTo>
                  <a:pt x="83820" y="912971"/>
                </a:lnTo>
                <a:lnTo>
                  <a:pt x="106680" y="914400"/>
                </a:lnTo>
                <a:lnTo>
                  <a:pt x="129540" y="915924"/>
                </a:lnTo>
                <a:lnTo>
                  <a:pt x="150876" y="918972"/>
                </a:lnTo>
                <a:lnTo>
                  <a:pt x="170688" y="920496"/>
                </a:lnTo>
                <a:lnTo>
                  <a:pt x="188976" y="923544"/>
                </a:lnTo>
                <a:lnTo>
                  <a:pt x="205740" y="926592"/>
                </a:lnTo>
                <a:lnTo>
                  <a:pt x="220980" y="929640"/>
                </a:lnTo>
                <a:lnTo>
                  <a:pt x="233172" y="934212"/>
                </a:lnTo>
                <a:lnTo>
                  <a:pt x="243840" y="937260"/>
                </a:lnTo>
                <a:lnTo>
                  <a:pt x="248412" y="938784"/>
                </a:lnTo>
                <a:lnTo>
                  <a:pt x="251460" y="941832"/>
                </a:lnTo>
                <a:lnTo>
                  <a:pt x="257556" y="944880"/>
                </a:lnTo>
                <a:lnTo>
                  <a:pt x="260604" y="947928"/>
                </a:lnTo>
                <a:lnTo>
                  <a:pt x="260604" y="1790700"/>
                </a:lnTo>
                <a:lnTo>
                  <a:pt x="262128" y="1790700"/>
                </a:lnTo>
                <a:lnTo>
                  <a:pt x="262128" y="1793748"/>
                </a:lnTo>
                <a:lnTo>
                  <a:pt x="263652" y="1795272"/>
                </a:lnTo>
                <a:lnTo>
                  <a:pt x="265176" y="1798320"/>
                </a:lnTo>
                <a:lnTo>
                  <a:pt x="268224" y="1799844"/>
                </a:lnTo>
                <a:lnTo>
                  <a:pt x="271272" y="1802892"/>
                </a:lnTo>
                <a:lnTo>
                  <a:pt x="275844" y="1804416"/>
                </a:lnTo>
                <a:lnTo>
                  <a:pt x="280416" y="1807464"/>
                </a:lnTo>
                <a:lnTo>
                  <a:pt x="284988" y="1808988"/>
                </a:lnTo>
                <a:lnTo>
                  <a:pt x="297180" y="1813560"/>
                </a:lnTo>
                <a:lnTo>
                  <a:pt x="341376" y="1822704"/>
                </a:lnTo>
                <a:lnTo>
                  <a:pt x="381000" y="1828800"/>
                </a:lnTo>
                <a:lnTo>
                  <a:pt x="402336" y="1830324"/>
                </a:lnTo>
                <a:lnTo>
                  <a:pt x="425196" y="1833372"/>
                </a:lnTo>
                <a:lnTo>
                  <a:pt x="449580" y="1834896"/>
                </a:lnTo>
                <a:lnTo>
                  <a:pt x="475488" y="1834896"/>
                </a:lnTo>
                <a:lnTo>
                  <a:pt x="501396" y="1836420"/>
                </a:lnTo>
                <a:lnTo>
                  <a:pt x="527304" y="1836420"/>
                </a:lnTo>
                <a:close/>
              </a:path>
              <a:path w="527685" h="1836420">
                <a:moveTo>
                  <a:pt x="272796" y="48768"/>
                </a:moveTo>
                <a:lnTo>
                  <a:pt x="271272" y="48768"/>
                </a:lnTo>
                <a:lnTo>
                  <a:pt x="271272" y="50292"/>
                </a:lnTo>
                <a:lnTo>
                  <a:pt x="272796" y="48768"/>
                </a:lnTo>
                <a:close/>
              </a:path>
              <a:path w="527685" h="1836420">
                <a:moveTo>
                  <a:pt x="272796" y="1789176"/>
                </a:moveTo>
                <a:lnTo>
                  <a:pt x="271272" y="1786128"/>
                </a:lnTo>
                <a:lnTo>
                  <a:pt x="271272" y="1787652"/>
                </a:lnTo>
                <a:lnTo>
                  <a:pt x="272796" y="1789176"/>
                </a:lnTo>
                <a:close/>
              </a:path>
              <a:path w="527685" h="1836420">
                <a:moveTo>
                  <a:pt x="274320" y="45720"/>
                </a:moveTo>
                <a:lnTo>
                  <a:pt x="272796" y="47244"/>
                </a:lnTo>
                <a:lnTo>
                  <a:pt x="272796" y="48768"/>
                </a:lnTo>
                <a:lnTo>
                  <a:pt x="274320" y="45720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50932" y="4681218"/>
            <a:ext cx="2075814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5" dirty="0">
                <a:latin typeface="Times New Roman"/>
                <a:cs typeface="Times New Roman"/>
              </a:rPr>
              <a:t>Corps</a:t>
            </a:r>
            <a:r>
              <a:rPr sz="1950" spc="-20" dirty="0"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de</a:t>
            </a:r>
            <a:r>
              <a:rPr sz="1950" spc="-2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la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3613" y="4485132"/>
            <a:ext cx="2312035" cy="812800"/>
          </a:xfrm>
          <a:custGeom>
            <a:avLst/>
            <a:gdLst/>
            <a:ahLst/>
            <a:cxnLst/>
            <a:rect l="l" t="t" r="r" b="b"/>
            <a:pathLst>
              <a:path w="2312035" h="812800">
                <a:moveTo>
                  <a:pt x="2311905" y="807720"/>
                </a:moveTo>
                <a:lnTo>
                  <a:pt x="2311905" y="4572"/>
                </a:lnTo>
                <a:lnTo>
                  <a:pt x="2307333" y="0"/>
                </a:lnTo>
                <a:lnTo>
                  <a:pt x="4572" y="0"/>
                </a:lnTo>
                <a:lnTo>
                  <a:pt x="0" y="4572"/>
                </a:lnTo>
                <a:lnTo>
                  <a:pt x="0" y="807720"/>
                </a:lnTo>
                <a:lnTo>
                  <a:pt x="4572" y="812292"/>
                </a:lnTo>
                <a:lnTo>
                  <a:pt x="10668" y="812292"/>
                </a:lnTo>
                <a:lnTo>
                  <a:pt x="10668" y="19812"/>
                </a:lnTo>
                <a:lnTo>
                  <a:pt x="21336" y="9144"/>
                </a:lnTo>
                <a:lnTo>
                  <a:pt x="21336" y="19812"/>
                </a:lnTo>
                <a:lnTo>
                  <a:pt x="2290569" y="19812"/>
                </a:lnTo>
                <a:lnTo>
                  <a:pt x="2290569" y="9144"/>
                </a:lnTo>
                <a:lnTo>
                  <a:pt x="2301237" y="19812"/>
                </a:lnTo>
                <a:lnTo>
                  <a:pt x="2301237" y="812292"/>
                </a:lnTo>
                <a:lnTo>
                  <a:pt x="2307333" y="812292"/>
                </a:lnTo>
                <a:lnTo>
                  <a:pt x="2311905" y="807720"/>
                </a:lnTo>
                <a:close/>
              </a:path>
              <a:path w="2312035" h="812800">
                <a:moveTo>
                  <a:pt x="21336" y="19812"/>
                </a:moveTo>
                <a:lnTo>
                  <a:pt x="21336" y="9144"/>
                </a:lnTo>
                <a:lnTo>
                  <a:pt x="10668" y="19812"/>
                </a:lnTo>
                <a:lnTo>
                  <a:pt x="21336" y="19812"/>
                </a:lnTo>
                <a:close/>
              </a:path>
              <a:path w="2312035" h="812800">
                <a:moveTo>
                  <a:pt x="21336" y="790956"/>
                </a:moveTo>
                <a:lnTo>
                  <a:pt x="21336" y="19812"/>
                </a:lnTo>
                <a:lnTo>
                  <a:pt x="10668" y="19812"/>
                </a:lnTo>
                <a:lnTo>
                  <a:pt x="10668" y="790956"/>
                </a:lnTo>
                <a:lnTo>
                  <a:pt x="21336" y="790956"/>
                </a:lnTo>
                <a:close/>
              </a:path>
              <a:path w="2312035" h="812800">
                <a:moveTo>
                  <a:pt x="2301237" y="790956"/>
                </a:moveTo>
                <a:lnTo>
                  <a:pt x="10668" y="790956"/>
                </a:lnTo>
                <a:lnTo>
                  <a:pt x="21336" y="801624"/>
                </a:lnTo>
                <a:lnTo>
                  <a:pt x="21336" y="812292"/>
                </a:lnTo>
                <a:lnTo>
                  <a:pt x="2290569" y="812292"/>
                </a:lnTo>
                <a:lnTo>
                  <a:pt x="2290569" y="801624"/>
                </a:lnTo>
                <a:lnTo>
                  <a:pt x="2301237" y="790956"/>
                </a:lnTo>
                <a:close/>
              </a:path>
              <a:path w="2312035" h="812800">
                <a:moveTo>
                  <a:pt x="21336" y="812292"/>
                </a:moveTo>
                <a:lnTo>
                  <a:pt x="21336" y="801624"/>
                </a:lnTo>
                <a:lnTo>
                  <a:pt x="10668" y="790956"/>
                </a:lnTo>
                <a:lnTo>
                  <a:pt x="10668" y="812292"/>
                </a:lnTo>
                <a:lnTo>
                  <a:pt x="21336" y="812292"/>
                </a:lnTo>
                <a:close/>
              </a:path>
              <a:path w="2312035" h="812800">
                <a:moveTo>
                  <a:pt x="2301237" y="19812"/>
                </a:moveTo>
                <a:lnTo>
                  <a:pt x="2290569" y="9144"/>
                </a:lnTo>
                <a:lnTo>
                  <a:pt x="2290569" y="19812"/>
                </a:lnTo>
                <a:lnTo>
                  <a:pt x="2301237" y="19812"/>
                </a:lnTo>
                <a:close/>
              </a:path>
              <a:path w="2312035" h="812800">
                <a:moveTo>
                  <a:pt x="2301237" y="790956"/>
                </a:moveTo>
                <a:lnTo>
                  <a:pt x="2301237" y="19812"/>
                </a:lnTo>
                <a:lnTo>
                  <a:pt x="2290569" y="19812"/>
                </a:lnTo>
                <a:lnTo>
                  <a:pt x="2290569" y="790956"/>
                </a:lnTo>
                <a:lnTo>
                  <a:pt x="2301237" y="790956"/>
                </a:lnTo>
                <a:close/>
              </a:path>
              <a:path w="2312035" h="812800">
                <a:moveTo>
                  <a:pt x="2301237" y="812292"/>
                </a:moveTo>
                <a:lnTo>
                  <a:pt x="2301237" y="790956"/>
                </a:lnTo>
                <a:lnTo>
                  <a:pt x="2290569" y="801624"/>
                </a:lnTo>
                <a:lnTo>
                  <a:pt x="2290569" y="812292"/>
                </a:lnTo>
                <a:lnTo>
                  <a:pt x="2301237" y="812292"/>
                </a:lnTo>
                <a:close/>
              </a:path>
            </a:pathLst>
          </a:custGeom>
          <a:solidFill>
            <a:srgbClr val="6B8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61438" y="5196840"/>
            <a:ext cx="1370330" cy="466725"/>
          </a:xfrm>
          <a:custGeom>
            <a:avLst/>
            <a:gdLst/>
            <a:ahLst/>
            <a:cxnLst/>
            <a:rect l="l" t="t" r="r" b="b"/>
            <a:pathLst>
              <a:path w="1370329" h="466725">
                <a:moveTo>
                  <a:pt x="1370076" y="461772"/>
                </a:moveTo>
                <a:lnTo>
                  <a:pt x="1370076" y="4572"/>
                </a:lnTo>
                <a:lnTo>
                  <a:pt x="1365504" y="0"/>
                </a:lnTo>
                <a:lnTo>
                  <a:pt x="4572" y="0"/>
                </a:lnTo>
                <a:lnTo>
                  <a:pt x="0" y="4572"/>
                </a:lnTo>
                <a:lnTo>
                  <a:pt x="0" y="461772"/>
                </a:lnTo>
                <a:lnTo>
                  <a:pt x="4572" y="466344"/>
                </a:lnTo>
                <a:lnTo>
                  <a:pt x="10668" y="466344"/>
                </a:lnTo>
                <a:lnTo>
                  <a:pt x="10668" y="21336"/>
                </a:lnTo>
                <a:lnTo>
                  <a:pt x="21336" y="10668"/>
                </a:lnTo>
                <a:lnTo>
                  <a:pt x="21336" y="21336"/>
                </a:lnTo>
                <a:lnTo>
                  <a:pt x="1348740" y="21336"/>
                </a:lnTo>
                <a:lnTo>
                  <a:pt x="1348740" y="10668"/>
                </a:lnTo>
                <a:lnTo>
                  <a:pt x="1359408" y="21336"/>
                </a:lnTo>
                <a:lnTo>
                  <a:pt x="1359408" y="466344"/>
                </a:lnTo>
                <a:lnTo>
                  <a:pt x="1365504" y="466344"/>
                </a:lnTo>
                <a:lnTo>
                  <a:pt x="1370076" y="461772"/>
                </a:lnTo>
                <a:close/>
              </a:path>
              <a:path w="1370329" h="466725">
                <a:moveTo>
                  <a:pt x="21336" y="21336"/>
                </a:moveTo>
                <a:lnTo>
                  <a:pt x="21336" y="10668"/>
                </a:lnTo>
                <a:lnTo>
                  <a:pt x="10668" y="21336"/>
                </a:lnTo>
                <a:lnTo>
                  <a:pt x="21336" y="21336"/>
                </a:lnTo>
                <a:close/>
              </a:path>
              <a:path w="1370329" h="466725">
                <a:moveTo>
                  <a:pt x="21336" y="445008"/>
                </a:moveTo>
                <a:lnTo>
                  <a:pt x="21336" y="21336"/>
                </a:lnTo>
                <a:lnTo>
                  <a:pt x="10668" y="21336"/>
                </a:lnTo>
                <a:lnTo>
                  <a:pt x="10668" y="445008"/>
                </a:lnTo>
                <a:lnTo>
                  <a:pt x="21336" y="445008"/>
                </a:lnTo>
                <a:close/>
              </a:path>
              <a:path w="1370329" h="466725">
                <a:moveTo>
                  <a:pt x="1359408" y="445008"/>
                </a:moveTo>
                <a:lnTo>
                  <a:pt x="10668" y="445008"/>
                </a:lnTo>
                <a:lnTo>
                  <a:pt x="21336" y="455676"/>
                </a:lnTo>
                <a:lnTo>
                  <a:pt x="21336" y="466344"/>
                </a:lnTo>
                <a:lnTo>
                  <a:pt x="1348740" y="466344"/>
                </a:lnTo>
                <a:lnTo>
                  <a:pt x="1348740" y="455676"/>
                </a:lnTo>
                <a:lnTo>
                  <a:pt x="1359408" y="445008"/>
                </a:lnTo>
                <a:close/>
              </a:path>
              <a:path w="1370329" h="466725">
                <a:moveTo>
                  <a:pt x="21336" y="466344"/>
                </a:moveTo>
                <a:lnTo>
                  <a:pt x="21336" y="455676"/>
                </a:lnTo>
                <a:lnTo>
                  <a:pt x="10668" y="445008"/>
                </a:lnTo>
                <a:lnTo>
                  <a:pt x="10668" y="466344"/>
                </a:lnTo>
                <a:lnTo>
                  <a:pt x="21336" y="466344"/>
                </a:lnTo>
                <a:close/>
              </a:path>
              <a:path w="1370329" h="466725">
                <a:moveTo>
                  <a:pt x="1359408" y="21336"/>
                </a:moveTo>
                <a:lnTo>
                  <a:pt x="1348740" y="10668"/>
                </a:lnTo>
                <a:lnTo>
                  <a:pt x="1348740" y="21336"/>
                </a:lnTo>
                <a:lnTo>
                  <a:pt x="1359408" y="21336"/>
                </a:lnTo>
                <a:close/>
              </a:path>
              <a:path w="1370329" h="466725">
                <a:moveTo>
                  <a:pt x="1359408" y="445008"/>
                </a:moveTo>
                <a:lnTo>
                  <a:pt x="1359408" y="21336"/>
                </a:lnTo>
                <a:lnTo>
                  <a:pt x="1348740" y="21336"/>
                </a:lnTo>
                <a:lnTo>
                  <a:pt x="1348740" y="445008"/>
                </a:lnTo>
                <a:lnTo>
                  <a:pt x="1359408" y="445008"/>
                </a:lnTo>
                <a:close/>
              </a:path>
              <a:path w="1370329" h="466725">
                <a:moveTo>
                  <a:pt x="1359408" y="466344"/>
                </a:moveTo>
                <a:lnTo>
                  <a:pt x="1359408" y="445008"/>
                </a:lnTo>
                <a:lnTo>
                  <a:pt x="1348740" y="455676"/>
                </a:lnTo>
                <a:lnTo>
                  <a:pt x="1348740" y="466344"/>
                </a:lnTo>
                <a:lnTo>
                  <a:pt x="1359408" y="46634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099690" y="5231381"/>
            <a:ext cx="179705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20" dirty="0">
                <a:solidFill>
                  <a:srgbClr val="6F2FA0"/>
                </a:solidFill>
                <a:latin typeface="Times New Roman"/>
                <a:cs typeface="Times New Roman"/>
              </a:rPr>
              <a:t>Valeur</a:t>
            </a:r>
            <a:r>
              <a:rPr sz="1950" b="1" spc="-5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195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de</a:t>
            </a:r>
            <a:r>
              <a:rPr sz="1950" b="1" spc="-3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1950" b="1" spc="5" dirty="0">
                <a:solidFill>
                  <a:srgbClr val="6F2FA0"/>
                </a:solidFill>
                <a:latin typeface="Times New Roman"/>
                <a:cs typeface="Times New Roman"/>
              </a:rPr>
              <a:t>retour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20846" y="5394960"/>
            <a:ext cx="792480" cy="131445"/>
          </a:xfrm>
          <a:custGeom>
            <a:avLst/>
            <a:gdLst/>
            <a:ahLst/>
            <a:cxnLst/>
            <a:rect l="l" t="t" r="r" b="b"/>
            <a:pathLst>
              <a:path w="792479" h="131445">
                <a:moveTo>
                  <a:pt x="737616" y="65532"/>
                </a:moveTo>
                <a:lnTo>
                  <a:pt x="713613" y="51816"/>
                </a:lnTo>
                <a:lnTo>
                  <a:pt x="0" y="51816"/>
                </a:lnTo>
                <a:lnTo>
                  <a:pt x="0" y="79248"/>
                </a:lnTo>
                <a:lnTo>
                  <a:pt x="713613" y="79248"/>
                </a:lnTo>
                <a:lnTo>
                  <a:pt x="737616" y="65532"/>
                </a:lnTo>
                <a:close/>
              </a:path>
              <a:path w="792479" h="131445">
                <a:moveTo>
                  <a:pt x="792480" y="65532"/>
                </a:moveTo>
                <a:lnTo>
                  <a:pt x="688848" y="4572"/>
                </a:lnTo>
                <a:lnTo>
                  <a:pt x="681228" y="0"/>
                </a:lnTo>
                <a:lnTo>
                  <a:pt x="673608" y="3048"/>
                </a:lnTo>
                <a:lnTo>
                  <a:pt x="669036" y="9144"/>
                </a:lnTo>
                <a:lnTo>
                  <a:pt x="665988" y="16764"/>
                </a:lnTo>
                <a:lnTo>
                  <a:pt x="667512" y="24384"/>
                </a:lnTo>
                <a:lnTo>
                  <a:pt x="673608" y="28956"/>
                </a:lnTo>
                <a:lnTo>
                  <a:pt x="713613" y="51816"/>
                </a:lnTo>
                <a:lnTo>
                  <a:pt x="765048" y="51816"/>
                </a:lnTo>
                <a:lnTo>
                  <a:pt x="765048" y="81668"/>
                </a:lnTo>
                <a:lnTo>
                  <a:pt x="792480" y="65532"/>
                </a:lnTo>
                <a:close/>
              </a:path>
              <a:path w="792479" h="131445">
                <a:moveTo>
                  <a:pt x="765048" y="81668"/>
                </a:moveTo>
                <a:lnTo>
                  <a:pt x="765048" y="79248"/>
                </a:lnTo>
                <a:lnTo>
                  <a:pt x="713613" y="79248"/>
                </a:lnTo>
                <a:lnTo>
                  <a:pt x="673608" y="102108"/>
                </a:lnTo>
                <a:lnTo>
                  <a:pt x="667512" y="106680"/>
                </a:lnTo>
                <a:lnTo>
                  <a:pt x="665988" y="114300"/>
                </a:lnTo>
                <a:lnTo>
                  <a:pt x="669036" y="121920"/>
                </a:lnTo>
                <a:lnTo>
                  <a:pt x="673608" y="128016"/>
                </a:lnTo>
                <a:lnTo>
                  <a:pt x="681228" y="131064"/>
                </a:lnTo>
                <a:lnTo>
                  <a:pt x="688848" y="126492"/>
                </a:lnTo>
                <a:lnTo>
                  <a:pt x="765048" y="81668"/>
                </a:lnTo>
                <a:close/>
              </a:path>
              <a:path w="792479" h="131445">
                <a:moveTo>
                  <a:pt x="765048" y="79248"/>
                </a:moveTo>
                <a:lnTo>
                  <a:pt x="765048" y="51816"/>
                </a:lnTo>
                <a:lnTo>
                  <a:pt x="713613" y="51816"/>
                </a:lnTo>
                <a:lnTo>
                  <a:pt x="737616" y="65532"/>
                </a:lnTo>
                <a:lnTo>
                  <a:pt x="758952" y="53340"/>
                </a:lnTo>
                <a:lnTo>
                  <a:pt x="758952" y="79248"/>
                </a:lnTo>
                <a:lnTo>
                  <a:pt x="765048" y="79248"/>
                </a:lnTo>
                <a:close/>
              </a:path>
              <a:path w="792479" h="131445">
                <a:moveTo>
                  <a:pt x="758952" y="79248"/>
                </a:moveTo>
                <a:lnTo>
                  <a:pt x="758952" y="77724"/>
                </a:lnTo>
                <a:lnTo>
                  <a:pt x="737616" y="65532"/>
                </a:lnTo>
                <a:lnTo>
                  <a:pt x="713613" y="79248"/>
                </a:lnTo>
                <a:lnTo>
                  <a:pt x="758952" y="79248"/>
                </a:lnTo>
                <a:close/>
              </a:path>
              <a:path w="792479" h="131445">
                <a:moveTo>
                  <a:pt x="758952" y="77724"/>
                </a:moveTo>
                <a:lnTo>
                  <a:pt x="758952" y="53340"/>
                </a:lnTo>
                <a:lnTo>
                  <a:pt x="737616" y="65532"/>
                </a:lnTo>
                <a:lnTo>
                  <a:pt x="758952" y="77724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46488" y="1395475"/>
            <a:ext cx="1149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454215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40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3752" y="1782571"/>
            <a:ext cx="8578215" cy="37223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101899"/>
              </a:lnSpc>
              <a:spcBef>
                <a:spcPts val="10"/>
              </a:spcBef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10" dirty="0">
                <a:latin typeface="Times New Roman"/>
                <a:cs typeface="Times New Roman"/>
              </a:rPr>
              <a:t> reçoit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 </a:t>
            </a:r>
            <a:r>
              <a:rPr sz="2600" spc="-5" dirty="0">
                <a:latin typeface="Times New Roman"/>
                <a:cs typeface="Times New Roman"/>
              </a:rPr>
              <a:t>entier,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calcule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son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carré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renvoie.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3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006FC0"/>
                </a:solidFill>
                <a:latin typeface="Times New Roman"/>
                <a:cs typeface="Times New Roman"/>
              </a:rPr>
              <a:t>carre</a:t>
            </a:r>
            <a:r>
              <a:rPr sz="23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3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x</a:t>
            </a:r>
            <a:r>
              <a:rPr sz="23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0"/>
              </a:spcBef>
            </a:pP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3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y</a:t>
            </a: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25"/>
              </a:spcBef>
            </a:pPr>
            <a:r>
              <a:rPr sz="2300" spc="5" dirty="0">
                <a:latin typeface="Times New Roman"/>
                <a:cs typeface="Times New Roman"/>
              </a:rPr>
              <a:t>y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=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spc="10" dirty="0">
                <a:latin typeface="Times New Roman"/>
                <a:cs typeface="Times New Roman"/>
              </a:rPr>
              <a:t>x*x;</a:t>
            </a:r>
            <a:endParaRPr sz="23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0"/>
              </a:spcBef>
            </a:pPr>
            <a:r>
              <a:rPr sz="23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3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5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454215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40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3752" y="1782571"/>
            <a:ext cx="8540750" cy="5184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3: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plusieurs</a:t>
            </a:r>
            <a:r>
              <a:rPr sz="30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paramètres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0" dirty="0">
                <a:latin typeface="Times New Roman"/>
                <a:cs typeface="Times New Roman"/>
              </a:rPr>
              <a:t> 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10" dirty="0">
                <a:latin typeface="Times New Roman"/>
                <a:cs typeface="Times New Roman"/>
              </a:rPr>
              <a:t> calcule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somme</a:t>
            </a:r>
            <a:r>
              <a:rPr sz="2600" spc="15" dirty="0">
                <a:latin typeface="Times New Roman"/>
                <a:cs typeface="Times New Roman"/>
              </a:rPr>
              <a:t> de </a:t>
            </a:r>
            <a:r>
              <a:rPr sz="2600" spc="20" dirty="0">
                <a:latin typeface="Times New Roman"/>
                <a:cs typeface="Times New Roman"/>
              </a:rPr>
              <a:t>2</a:t>
            </a:r>
            <a:r>
              <a:rPr sz="2600" spc="10" dirty="0">
                <a:latin typeface="Times New Roman"/>
                <a:cs typeface="Times New Roman"/>
              </a:rPr>
              <a:t> entiers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renvoie.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addition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x,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y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  <a:spcBef>
                <a:spcPts val="95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x+y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05410">
              <a:lnSpc>
                <a:spcPct val="100000"/>
              </a:lnSpc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5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0" dirty="0">
                <a:latin typeface="Times New Roman"/>
                <a:cs typeface="Times New Roman"/>
              </a:rPr>
              <a:t> 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10" dirty="0">
                <a:latin typeface="Times New Roman"/>
                <a:cs typeface="Times New Roman"/>
              </a:rPr>
              <a:t> calcule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produit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 </a:t>
            </a:r>
            <a:r>
              <a:rPr sz="2600" spc="20" dirty="0">
                <a:latin typeface="Times New Roman"/>
                <a:cs typeface="Times New Roman"/>
              </a:rPr>
              <a:t>4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réels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15" dirty="0">
                <a:latin typeface="Times New Roman"/>
                <a:cs typeface="Times New Roman"/>
              </a:rPr>
              <a:t>renvoie.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006FC0"/>
                </a:solidFill>
                <a:latin typeface="Times New Roman"/>
                <a:cs typeface="Times New Roman"/>
              </a:rPr>
              <a:t>multiplication</a:t>
            </a:r>
            <a:r>
              <a:rPr sz="23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a, </a:t>
            </a: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b,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c, </a:t>
            </a: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3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latin typeface="Times New Roman"/>
                <a:cs typeface="Times New Roman"/>
              </a:rPr>
              <a:t>d</a:t>
            </a:r>
            <a:r>
              <a:rPr sz="2300" dirty="0"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3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40"/>
              </a:spcBef>
            </a:pPr>
            <a:r>
              <a:rPr sz="23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3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a*b*c*d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30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  <a:spcBef>
                <a:spcPts val="35"/>
              </a:spcBef>
            </a:pPr>
            <a:r>
              <a:rPr sz="23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454215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40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3752" y="1782571"/>
            <a:ext cx="9130030" cy="4930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089150" algn="l"/>
              </a:tabLst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4:	cas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fonctions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qui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renvoient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booléen</a:t>
            </a:r>
            <a:endParaRPr sz="3050">
              <a:latin typeface="Times New Roman"/>
              <a:cs typeface="Times New Roman"/>
            </a:endParaRPr>
          </a:p>
          <a:p>
            <a:pPr marL="390525" marR="140970" indent="-378460">
              <a:lnSpc>
                <a:spcPct val="101899"/>
              </a:lnSpc>
              <a:spcBef>
                <a:spcPts val="10"/>
              </a:spcBef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peuvent </a:t>
            </a:r>
            <a:r>
              <a:rPr sz="2600" spc="10" dirty="0">
                <a:latin typeface="Times New Roman"/>
                <a:cs typeface="Times New Roman"/>
              </a:rPr>
              <a:t>retourner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booléennes</a:t>
            </a:r>
            <a:r>
              <a:rPr sz="2600" spc="10" dirty="0">
                <a:latin typeface="Times New Roman"/>
                <a:cs typeface="Times New Roman"/>
              </a:rPr>
              <a:t> (true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ou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false).</a:t>
            </a:r>
            <a:endParaRPr sz="26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  <a:spcBef>
                <a:spcPts val="45"/>
              </a:spcBef>
            </a:pP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bool</a:t>
            </a:r>
            <a:r>
              <a:rPr sz="2300" b="1" spc="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300" b="1" spc="-15" dirty="0">
                <a:solidFill>
                  <a:srgbClr val="006FC0"/>
                </a:solidFill>
                <a:latin typeface="Times New Roman"/>
                <a:cs typeface="Times New Roman"/>
              </a:rPr>
              <a:t>estValide</a:t>
            </a:r>
            <a:r>
              <a:rPr sz="2600" spc="-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300" b="1" spc="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264160">
              <a:lnSpc>
                <a:spcPct val="100000"/>
              </a:lnSpc>
              <a:spcBef>
                <a:spcPts val="50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514984">
              <a:lnSpc>
                <a:spcPct val="100000"/>
              </a:lnSpc>
              <a:spcBef>
                <a:spcPts val="60"/>
              </a:spcBef>
            </a:pP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bool</a:t>
            </a:r>
            <a:r>
              <a:rPr sz="2300" b="1" spc="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statut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852169" marR="3616325" indent="-337185">
              <a:lnSpc>
                <a:spcPts val="3180"/>
              </a:lnSpc>
              <a:spcBef>
                <a:spcPts val="105"/>
              </a:spcBef>
            </a:pP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if</a:t>
            </a:r>
            <a:r>
              <a:rPr sz="2300" b="1" spc="8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&gt;=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600" spc="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600" spc="25" dirty="0">
                <a:solidFill>
                  <a:srgbClr val="FF0000"/>
                </a:solidFill>
                <a:latin typeface="Times New Roman"/>
                <a:cs typeface="Times New Roman"/>
              </a:rPr>
              <a:t>&amp;&amp;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&lt;=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100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r>
              <a:rPr sz="2600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statut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true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514984">
              <a:lnSpc>
                <a:spcPct val="100000"/>
              </a:lnSpc>
              <a:spcBef>
                <a:spcPts val="229"/>
              </a:spcBef>
            </a:pP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else</a:t>
            </a:r>
            <a:endParaRPr sz="2300">
              <a:latin typeface="Times New Roman"/>
              <a:cs typeface="Times New Roman"/>
            </a:endParaRPr>
          </a:p>
          <a:p>
            <a:pPr marL="852169">
              <a:lnSpc>
                <a:spcPct val="100000"/>
              </a:lnSpc>
              <a:spcBef>
                <a:spcPts val="110"/>
              </a:spcBef>
            </a:pPr>
            <a:r>
              <a:rPr sz="2600" spc="10" dirty="0">
                <a:latin typeface="Times New Roman"/>
                <a:cs typeface="Times New Roman"/>
              </a:rPr>
              <a:t>statut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false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514984">
              <a:lnSpc>
                <a:spcPct val="100000"/>
              </a:lnSpc>
              <a:spcBef>
                <a:spcPts val="60"/>
              </a:spcBef>
            </a:pPr>
            <a:r>
              <a:rPr sz="23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3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statut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264160">
              <a:lnSpc>
                <a:spcPct val="100000"/>
              </a:lnSpc>
              <a:spcBef>
                <a:spcPts val="4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454215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40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3752" y="1782571"/>
            <a:ext cx="9130030" cy="29152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089150" algn="l"/>
              </a:tabLst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4:	cas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fonctions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qui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renvoient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booléen</a:t>
            </a:r>
            <a:endParaRPr sz="3050">
              <a:latin typeface="Times New Roman"/>
              <a:cs typeface="Times New Roman"/>
            </a:endParaRPr>
          </a:p>
          <a:p>
            <a:pPr marL="467995" indent="-455930">
              <a:lnSpc>
                <a:spcPct val="100000"/>
              </a:lnSpc>
              <a:spcBef>
                <a:spcPts val="70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sz="2600" spc="-55" dirty="0">
                <a:latin typeface="Times New Roman"/>
                <a:cs typeface="Times New Roman"/>
              </a:rPr>
              <a:t>Voici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15" dirty="0">
                <a:latin typeface="Times New Roman"/>
                <a:cs typeface="Times New Roman"/>
              </a:rPr>
              <a:t> code</a:t>
            </a:r>
            <a:r>
              <a:rPr sz="2600" spc="10" dirty="0">
                <a:latin typeface="Times New Roman"/>
                <a:cs typeface="Times New Roman"/>
              </a:rPr>
              <a:t> utilisant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cette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fonction:</a:t>
            </a:r>
            <a:endParaRPr sz="26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  <a:spcBef>
                <a:spcPts val="60"/>
              </a:spcBef>
            </a:pP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300" b="1" spc="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valeur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  <a:spcBef>
                <a:spcPts val="45"/>
              </a:spcBef>
            </a:pPr>
            <a:r>
              <a:rPr sz="2300" b="1" dirty="0">
                <a:solidFill>
                  <a:srgbClr val="001F5F"/>
                </a:solidFill>
                <a:latin typeface="Times New Roman"/>
                <a:cs typeface="Times New Roman"/>
              </a:rPr>
              <a:t>if</a:t>
            </a:r>
            <a:r>
              <a:rPr sz="2300" b="1" spc="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3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estValide</a:t>
            </a:r>
            <a:r>
              <a:rPr sz="2600" spc="-5" dirty="0">
                <a:latin typeface="Times New Roman"/>
                <a:cs typeface="Times New Roman"/>
              </a:rPr>
              <a:t>(valeur)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684530">
              <a:lnSpc>
                <a:spcPct val="100000"/>
              </a:lnSpc>
              <a:spcBef>
                <a:spcPts val="5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cout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domaine."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endl;</a:t>
            </a:r>
            <a:endParaRPr sz="26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  <a:spcBef>
                <a:spcPts val="360"/>
              </a:spcBef>
            </a:pPr>
            <a:r>
              <a:rPr sz="23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else</a:t>
            </a:r>
            <a:endParaRPr sz="2300">
              <a:latin typeface="Times New Roman"/>
              <a:cs typeface="Times New Roman"/>
            </a:endParaRPr>
          </a:p>
          <a:p>
            <a:pPr marL="684530">
              <a:lnSpc>
                <a:spcPct val="100000"/>
              </a:lnSpc>
              <a:spcBef>
                <a:spcPts val="105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cout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"La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hors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domaine."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endl;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420" y="1427103"/>
            <a:ext cx="186690" cy="18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5"/>
              </a:lnSpc>
            </a:pPr>
            <a:r>
              <a:rPr sz="1300" b="1" spc="5" dirty="0">
                <a:latin typeface="Arial"/>
                <a:cs typeface="Arial"/>
              </a:rPr>
              <a:t>1</a:t>
            </a:r>
            <a:r>
              <a:rPr sz="1300" b="1" spc="1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4776" y="453643"/>
            <a:ext cx="454215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40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21088" y="1429274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581403"/>
            <a:ext cx="307657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Instruction</a:t>
            </a:r>
            <a:r>
              <a:rPr sz="3050" b="1" spc="-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return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887" y="2275493"/>
            <a:ext cx="9383268" cy="5269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368109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0" dirty="0"/>
              <a:t>I</a:t>
            </a:r>
            <a:r>
              <a:rPr spc="-305" dirty="0"/>
              <a:t>n</a:t>
            </a:r>
            <a:r>
              <a:rPr spc="-509" dirty="0"/>
              <a:t>s</a:t>
            </a:r>
            <a:r>
              <a:rPr spc="-285" dirty="0"/>
              <a:t>t</a:t>
            </a:r>
            <a:r>
              <a:rPr spc="-295" dirty="0"/>
              <a:t>r</a:t>
            </a:r>
            <a:r>
              <a:rPr spc="-305" dirty="0"/>
              <a:t>u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660" dirty="0"/>
              <a:t>R</a:t>
            </a:r>
            <a:r>
              <a:rPr spc="-290" dirty="0"/>
              <a:t>e</a:t>
            </a:r>
            <a:r>
              <a:rPr spc="-285" dirty="0"/>
              <a:t>t</a:t>
            </a:r>
            <a:r>
              <a:rPr spc="-305" dirty="0"/>
              <a:t>u</a:t>
            </a:r>
            <a:r>
              <a:rPr spc="-254" dirty="0"/>
              <a:t>r</a:t>
            </a:r>
            <a:r>
              <a:rPr spc="-305" dirty="0"/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9576" y="1758187"/>
            <a:ext cx="9473565" cy="4053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384810" indent="-378460">
              <a:lnSpc>
                <a:spcPct val="101499"/>
              </a:lnSpc>
              <a:spcBef>
                <a:spcPts val="9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-5" dirty="0">
                <a:latin typeface="Times New Roman"/>
                <a:cs typeface="Times New Roman"/>
              </a:rPr>
              <a:t>L’instruction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i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peut </a:t>
            </a:r>
            <a:r>
              <a:rPr sz="2600" spc="10" dirty="0">
                <a:latin typeface="Times New Roman"/>
                <a:cs typeface="Times New Roman"/>
              </a:rPr>
              <a:t>apparaître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10" dirty="0">
                <a:latin typeface="Times New Roman"/>
                <a:cs typeface="Times New Roman"/>
              </a:rPr>
              <a:t> plusieurs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reprises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390525" marR="882015" indent="-378460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fonction </a:t>
            </a:r>
            <a:r>
              <a:rPr sz="2600" spc="15" dirty="0">
                <a:latin typeface="Times New Roman"/>
                <a:cs typeface="Times New Roman"/>
              </a:rPr>
              <a:t>peut ne renvoyer aucune valeur </a:t>
            </a:r>
            <a:r>
              <a:rPr sz="2600" spc="10" dirty="0">
                <a:latin typeface="Times New Roman"/>
                <a:cs typeface="Times New Roman"/>
              </a:rPr>
              <a:t>: elle </a:t>
            </a:r>
            <a:r>
              <a:rPr sz="2600" spc="15" dirty="0">
                <a:latin typeface="Times New Roman"/>
                <a:cs typeface="Times New Roman"/>
              </a:rPr>
              <a:t>peut </a:t>
            </a:r>
            <a:r>
              <a:rPr sz="2600" spc="10" dirty="0">
                <a:latin typeface="Times New Roman"/>
                <a:cs typeface="Times New Roman"/>
              </a:rPr>
              <a:t>alors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disposer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plusieurs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instructions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i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sans</a:t>
            </a:r>
            <a:r>
              <a:rPr sz="2600" b="1" i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expression</a:t>
            </a:r>
            <a:r>
              <a:rPr sz="2600" spc="15" dirty="0">
                <a:latin typeface="Times New Roman"/>
                <a:cs typeface="Times New Roman"/>
              </a:rPr>
              <a:t>,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600" spc="15" dirty="0">
                <a:latin typeface="Times New Roman"/>
                <a:cs typeface="Times New Roman"/>
              </a:rPr>
              <a:t>interrompant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simplement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l’exécution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la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390525" marR="5080" indent="-378460">
              <a:lnSpc>
                <a:spcPct val="101499"/>
              </a:lnSpc>
              <a:spcBef>
                <a:spcPts val="1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La </a:t>
            </a:r>
            <a:r>
              <a:rPr sz="2600" spc="10" dirty="0">
                <a:latin typeface="Times New Roman"/>
                <a:cs typeface="Times New Roman"/>
              </a:rPr>
              <a:t>fonction </a:t>
            </a:r>
            <a:r>
              <a:rPr sz="2600" spc="15" dirty="0">
                <a:latin typeface="Times New Roman"/>
                <a:cs typeface="Times New Roman"/>
              </a:rPr>
              <a:t>qui ne renvoie aucune valeur peut ne comporter aucune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instruction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return.</a:t>
            </a:r>
            <a:endParaRPr sz="2600">
              <a:latin typeface="Times New Roman"/>
              <a:cs typeface="Times New Roman"/>
            </a:endParaRPr>
          </a:p>
          <a:p>
            <a:pPr marL="390525" marR="135255" indent="-378460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0" dirty="0">
                <a:latin typeface="Times New Roman"/>
                <a:cs typeface="Times New Roman"/>
              </a:rPr>
              <a:t>Si le </a:t>
            </a:r>
            <a:r>
              <a:rPr sz="2600" spc="15" dirty="0">
                <a:latin typeface="Times New Roman"/>
                <a:cs typeface="Times New Roman"/>
              </a:rPr>
              <a:t>type de l’expression de </a:t>
            </a:r>
            <a:r>
              <a:rPr sz="2600" spc="10" dirty="0">
                <a:latin typeface="Times New Roman"/>
                <a:cs typeface="Times New Roman"/>
              </a:rPr>
              <a:t>l’instruction </a:t>
            </a: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return </a:t>
            </a:r>
            <a:r>
              <a:rPr sz="2600" spc="15" dirty="0">
                <a:latin typeface="Times New Roman"/>
                <a:cs typeface="Times New Roman"/>
              </a:rPr>
              <a:t>est </a:t>
            </a:r>
            <a:r>
              <a:rPr sz="2600" spc="5" dirty="0">
                <a:latin typeface="Times New Roman"/>
                <a:cs typeface="Times New Roman"/>
              </a:rPr>
              <a:t>différent </a:t>
            </a:r>
            <a:r>
              <a:rPr sz="2600" spc="20" dirty="0">
                <a:latin typeface="Times New Roman"/>
                <a:cs typeface="Times New Roman"/>
              </a:rPr>
              <a:t>du 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type de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valeur de </a:t>
            </a:r>
            <a:r>
              <a:rPr sz="2600" spc="-5" dirty="0">
                <a:latin typeface="Times New Roman"/>
                <a:cs typeface="Times New Roman"/>
              </a:rPr>
              <a:t>retour,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15" dirty="0">
                <a:latin typeface="Times New Roman"/>
                <a:cs typeface="Times New Roman"/>
              </a:rPr>
              <a:t>compilateur </a:t>
            </a:r>
            <a:r>
              <a:rPr sz="2600" spc="10" dirty="0">
                <a:latin typeface="Times New Roman"/>
                <a:cs typeface="Times New Roman"/>
              </a:rPr>
              <a:t>mettra </a:t>
            </a:r>
            <a:r>
              <a:rPr sz="2600" spc="15" dirty="0">
                <a:latin typeface="Times New Roman"/>
                <a:cs typeface="Times New Roman"/>
              </a:rPr>
              <a:t>automatiquement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place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 </a:t>
            </a:r>
            <a:r>
              <a:rPr sz="2600" spc="10" dirty="0">
                <a:latin typeface="Times New Roman"/>
                <a:cs typeface="Times New Roman"/>
              </a:rPr>
              <a:t>instructions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conversion.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374967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A</a:t>
            </a:r>
            <a:r>
              <a:rPr spc="-305" dirty="0"/>
              <a:t>pp</a:t>
            </a:r>
            <a:r>
              <a:rPr spc="-290" dirty="0"/>
              <a:t>e</a:t>
            </a:r>
            <a:r>
              <a:rPr spc="-70" dirty="0"/>
              <a:t>l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69576" y="1758187"/>
            <a:ext cx="9236710" cy="40538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-20" dirty="0">
                <a:latin typeface="Times New Roman"/>
                <a:cs typeface="Times New Roman"/>
              </a:rPr>
              <a:t>Toute</a:t>
            </a:r>
            <a:r>
              <a:rPr sz="2600" spc="10" dirty="0">
                <a:latin typeface="Times New Roman"/>
                <a:cs typeface="Times New Roman"/>
              </a:rPr>
              <a:t> fonction doit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être </a:t>
            </a:r>
            <a:r>
              <a:rPr sz="2600" spc="15" dirty="0">
                <a:latin typeface="Times New Roman"/>
                <a:cs typeface="Times New Roman"/>
              </a:rPr>
              <a:t>déclarée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avant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son </a:t>
            </a:r>
            <a:r>
              <a:rPr sz="2600" spc="10" dirty="0">
                <a:latin typeface="Times New Roman"/>
                <a:cs typeface="Times New Roman"/>
              </a:rPr>
              <a:t>utilisation.</a:t>
            </a:r>
            <a:endParaRPr sz="2600">
              <a:latin typeface="Times New Roman"/>
              <a:cs typeface="Times New Roman"/>
            </a:endParaRPr>
          </a:p>
          <a:p>
            <a:pPr marL="390525" marR="5080" indent="-378460">
              <a:lnSpc>
                <a:spcPts val="318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-10" dirty="0">
                <a:latin typeface="Times New Roman"/>
                <a:cs typeface="Times New Roman"/>
              </a:rPr>
              <a:t>L’utilisation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autre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partie </a:t>
            </a:r>
            <a:r>
              <a:rPr sz="2600" spc="20" dirty="0">
                <a:latin typeface="Times New Roman"/>
                <a:cs typeface="Times New Roman"/>
              </a:rPr>
              <a:t>du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nomme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appel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fonction.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ts val="3050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syntaxe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pour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appeler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une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fonction: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006FC0"/>
              </a:buClr>
              <a:buFont typeface="Wingdings"/>
              <a:buChar char=""/>
            </a:pPr>
            <a:endParaRPr sz="2800">
              <a:latin typeface="Times New Roman"/>
              <a:cs typeface="Times New Roman"/>
            </a:endParaRPr>
          </a:p>
          <a:p>
            <a:pPr marL="515620">
              <a:lnSpc>
                <a:spcPct val="100000"/>
              </a:lnSpc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résultat</a:t>
            </a:r>
            <a:r>
              <a:rPr sz="2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nomDeLaFonction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6F2FA0"/>
                </a:solidFill>
                <a:latin typeface="Times New Roman"/>
                <a:cs typeface="Times New Roman"/>
              </a:rPr>
              <a:t>arguments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Times New Roman"/>
              <a:cs typeface="Times New Roman"/>
            </a:endParaRPr>
          </a:p>
          <a:p>
            <a:pPr marL="390525" marR="826135" indent="-378460">
              <a:lnSpc>
                <a:spcPct val="101499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L‘</a:t>
            </a:r>
            <a:r>
              <a:rPr sz="2600" b="1" spc="15" dirty="0">
                <a:latin typeface="Times New Roman"/>
                <a:cs typeface="Times New Roman"/>
              </a:rPr>
              <a:t>appel </a:t>
            </a:r>
            <a:r>
              <a:rPr sz="2600" spc="15" dirty="0">
                <a:latin typeface="Times New Roman"/>
                <a:cs typeface="Times New Roman"/>
              </a:rPr>
              <a:t>(avec </a:t>
            </a:r>
            <a:r>
              <a:rPr sz="2600" spc="20" dirty="0">
                <a:latin typeface="Times New Roman"/>
                <a:cs typeface="Times New Roman"/>
              </a:rPr>
              <a:t>ou </a:t>
            </a:r>
            <a:r>
              <a:rPr sz="2600" spc="15" dirty="0">
                <a:latin typeface="Times New Roman"/>
                <a:cs typeface="Times New Roman"/>
              </a:rPr>
              <a:t>sans paramètres) de </a:t>
            </a:r>
            <a:r>
              <a:rPr sz="2600" spc="10" dirty="0">
                <a:latin typeface="Times New Roman"/>
                <a:cs typeface="Times New Roman"/>
              </a:rPr>
              <a:t>la fonction </a:t>
            </a:r>
            <a:r>
              <a:rPr sz="2600" spc="15" dirty="0">
                <a:latin typeface="Times New Roman"/>
                <a:cs typeface="Times New Roman"/>
              </a:rPr>
              <a:t>déclenche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l‘exécution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son </a:t>
            </a:r>
            <a:r>
              <a:rPr sz="2600" b="1" spc="15" dirty="0">
                <a:latin typeface="Times New Roman"/>
                <a:cs typeface="Times New Roman"/>
              </a:rPr>
              <a:t>bloc</a:t>
            </a:r>
            <a:r>
              <a:rPr sz="2600" b="1" spc="10" dirty="0">
                <a:latin typeface="Times New Roman"/>
                <a:cs typeface="Times New Roman"/>
              </a:rPr>
              <a:t> d‘instructions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fonction</a:t>
            </a:r>
            <a:r>
              <a:rPr sz="2600" b="1" spc="4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termine </a:t>
            </a: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retournant</a:t>
            </a:r>
            <a:r>
              <a:rPr sz="2600" b="1" spc="4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ou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non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une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valeur</a:t>
            </a:r>
            <a:r>
              <a:rPr sz="2600" spc="1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8373109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375" dirty="0"/>
              <a:t>m</a:t>
            </a:r>
            <a:r>
              <a:rPr spc="-305" dirty="0"/>
              <a:t>u</a:t>
            </a:r>
            <a:r>
              <a:rPr spc="-290" dirty="0"/>
              <a:t>e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290" dirty="0"/>
              <a:t>e</a:t>
            </a:r>
            <a:r>
              <a:rPr spc="-285" dirty="0"/>
              <a:t>t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290" dirty="0"/>
              <a:t>e</a:t>
            </a:r>
            <a:r>
              <a:rPr spc="45" dirty="0"/>
              <a:t>f</a:t>
            </a:r>
            <a:r>
              <a:rPr spc="-35" dirty="0"/>
              <a:t>f</a:t>
            </a:r>
            <a:r>
              <a:rPr spc="-290" dirty="0"/>
              <a:t>e</a:t>
            </a:r>
            <a:r>
              <a:rPr spc="-60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75" dirty="0"/>
              <a:t>f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58187"/>
            <a:ext cx="9343390" cy="40538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11150" marR="50800" indent="-299085">
              <a:lnSpc>
                <a:spcPct val="101699"/>
              </a:lnSpc>
              <a:spcBef>
                <a:spcPts val="85"/>
              </a:spcBef>
              <a:buClr>
                <a:srgbClr val="0079D6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spc="20" dirty="0">
                <a:latin typeface="Times New Roman"/>
                <a:cs typeface="Times New Roman"/>
              </a:rPr>
              <a:t>noms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figurant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l’en-tête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 </a:t>
            </a:r>
            <a:r>
              <a:rPr sz="2600" spc="20" dirty="0">
                <a:latin typeface="Times New Roman"/>
                <a:cs typeface="Times New Roman"/>
              </a:rPr>
              <a:t> nomment </a:t>
            </a:r>
            <a:r>
              <a:rPr sz="2600" spc="15" dirty="0">
                <a:latin typeface="Times New Roman"/>
                <a:cs typeface="Times New Roman"/>
              </a:rPr>
              <a:t>des </a:t>
            </a:r>
            <a:r>
              <a:rPr sz="2600" spc="20" dirty="0">
                <a:latin typeface="Times New Roman"/>
                <a:cs typeface="Times New Roman"/>
              </a:rPr>
              <a:t>« </a:t>
            </a:r>
            <a:r>
              <a:rPr sz="2600" b="1" spc="15" dirty="0">
                <a:latin typeface="Times New Roman"/>
                <a:cs typeface="Times New Roman"/>
              </a:rPr>
              <a:t>arguments muets </a:t>
            </a:r>
            <a:r>
              <a:rPr sz="2600" spc="15" dirty="0">
                <a:latin typeface="Times New Roman"/>
                <a:cs typeface="Times New Roman"/>
              </a:rPr>
              <a:t>». Leur </a:t>
            </a:r>
            <a:r>
              <a:rPr sz="2600" spc="10" dirty="0">
                <a:latin typeface="Times New Roman"/>
                <a:cs typeface="Times New Roman"/>
              </a:rPr>
              <a:t>rôle </a:t>
            </a:r>
            <a:r>
              <a:rPr sz="2600" spc="15" dirty="0">
                <a:latin typeface="Times New Roman"/>
                <a:cs typeface="Times New Roman"/>
              </a:rPr>
              <a:t>est de </a:t>
            </a:r>
            <a:r>
              <a:rPr sz="2600" spc="10" dirty="0">
                <a:latin typeface="Times New Roman"/>
                <a:cs typeface="Times New Roman"/>
              </a:rPr>
              <a:t>permettre, </a:t>
            </a:r>
            <a:r>
              <a:rPr sz="2600" spc="15" dirty="0">
                <a:latin typeface="Times New Roman"/>
                <a:cs typeface="Times New Roman"/>
              </a:rPr>
              <a:t>au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sein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du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corps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fonction,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décrire </a:t>
            </a:r>
            <a:r>
              <a:rPr sz="2600" spc="15" dirty="0">
                <a:latin typeface="Times New Roman"/>
                <a:cs typeface="Times New Roman"/>
              </a:rPr>
              <a:t>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qu’elle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doit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faire.</a:t>
            </a:r>
            <a:endParaRPr sz="2600">
              <a:latin typeface="Times New Roman"/>
              <a:cs typeface="Times New Roman"/>
            </a:endParaRPr>
          </a:p>
          <a:p>
            <a:pPr marL="311150" marR="5080" indent="-299085">
              <a:lnSpc>
                <a:spcPct val="101499"/>
              </a:lnSpc>
              <a:buClr>
                <a:srgbClr val="0079D6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600" spc="15" dirty="0">
                <a:latin typeface="Times New Roman"/>
                <a:cs typeface="Times New Roman"/>
              </a:rPr>
              <a:t>Les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fournis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lors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l’appel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portent</a:t>
            </a:r>
            <a:r>
              <a:rPr sz="2600" spc="15" dirty="0">
                <a:latin typeface="Times New Roman"/>
                <a:cs typeface="Times New Roman"/>
              </a:rPr>
              <a:t> quant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eux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nom </a:t>
            </a:r>
            <a:r>
              <a:rPr sz="2600" spc="15" dirty="0">
                <a:latin typeface="Times New Roman"/>
                <a:cs typeface="Times New Roman"/>
              </a:rPr>
              <a:t>des </a:t>
            </a:r>
            <a:r>
              <a:rPr sz="2600" spc="20" dirty="0">
                <a:latin typeface="Times New Roman"/>
                <a:cs typeface="Times New Roman"/>
              </a:rPr>
              <a:t>«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arguments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effectifs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».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79D6"/>
              </a:buClr>
              <a:buFont typeface="Wingdings"/>
              <a:buChar char=""/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79D6"/>
              </a:buClr>
              <a:buFont typeface="Wingdings"/>
              <a:buChar char=""/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Remarque: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45"/>
              </a:spcBef>
              <a:buClr>
                <a:srgbClr val="0079D6"/>
              </a:buClr>
              <a:buFont typeface="Wingdings"/>
              <a:buChar char=""/>
              <a:tabLst>
                <a:tab pos="390525" algn="l"/>
                <a:tab pos="391160" algn="l"/>
              </a:tabLst>
            </a:pPr>
            <a:r>
              <a:rPr sz="2600" b="1" spc="15" dirty="0">
                <a:latin typeface="Times New Roman"/>
                <a:cs typeface="Times New Roman"/>
              </a:rPr>
              <a:t>Arguments</a:t>
            </a:r>
            <a:r>
              <a:rPr sz="2600" b="1" spc="5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muets=</a:t>
            </a:r>
            <a:r>
              <a:rPr sz="2600" b="1" spc="2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arguments</a:t>
            </a:r>
            <a:r>
              <a:rPr sz="2600" b="1" spc="4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formels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=</a:t>
            </a:r>
            <a:r>
              <a:rPr sz="2600" b="1" spc="1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paramètres</a:t>
            </a:r>
            <a:r>
              <a:rPr sz="2600" b="1" spc="2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formels.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50"/>
              </a:spcBef>
              <a:buClr>
                <a:srgbClr val="0079D6"/>
              </a:buClr>
              <a:buFont typeface="Wingdings"/>
              <a:buChar char=""/>
              <a:tabLst>
                <a:tab pos="390525" algn="l"/>
                <a:tab pos="391160" algn="l"/>
              </a:tabLst>
            </a:pPr>
            <a:r>
              <a:rPr sz="2600" b="1" spc="15" dirty="0">
                <a:latin typeface="Times New Roman"/>
                <a:cs typeface="Times New Roman"/>
              </a:rPr>
              <a:t>Arguments</a:t>
            </a:r>
            <a:r>
              <a:rPr sz="2600" b="1" spc="5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effectifs</a:t>
            </a:r>
            <a:r>
              <a:rPr sz="2600" b="1" spc="20" dirty="0">
                <a:latin typeface="Times New Roman"/>
                <a:cs typeface="Times New Roman"/>
              </a:rPr>
              <a:t> =</a:t>
            </a:r>
            <a:r>
              <a:rPr sz="2600" b="1" spc="10" dirty="0">
                <a:latin typeface="Times New Roman"/>
                <a:cs typeface="Times New Roman"/>
              </a:rPr>
              <a:t> paramètres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effectifs</a:t>
            </a:r>
            <a:r>
              <a:rPr sz="2600" b="1" spc="20" dirty="0">
                <a:latin typeface="Times New Roman"/>
                <a:cs typeface="Times New Roman"/>
              </a:rPr>
              <a:t> =</a:t>
            </a:r>
            <a:r>
              <a:rPr sz="2600" b="1" spc="10" dirty="0">
                <a:latin typeface="Times New Roman"/>
                <a:cs typeface="Times New Roman"/>
              </a:rPr>
              <a:t> paramètres</a:t>
            </a:r>
            <a:r>
              <a:rPr sz="2600" b="1" spc="3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réels.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8373109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375" dirty="0"/>
              <a:t>m</a:t>
            </a:r>
            <a:r>
              <a:rPr spc="-305" dirty="0"/>
              <a:t>u</a:t>
            </a:r>
            <a:r>
              <a:rPr spc="-290" dirty="0"/>
              <a:t>e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290" dirty="0"/>
              <a:t>e</a:t>
            </a:r>
            <a:r>
              <a:rPr spc="-285" dirty="0"/>
              <a:t>t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290" dirty="0"/>
              <a:t>e</a:t>
            </a:r>
            <a:r>
              <a:rPr spc="45" dirty="0"/>
              <a:t>f</a:t>
            </a:r>
            <a:r>
              <a:rPr spc="-35" dirty="0"/>
              <a:t>f</a:t>
            </a:r>
            <a:r>
              <a:rPr spc="-290" dirty="0"/>
              <a:t>e</a:t>
            </a:r>
            <a:r>
              <a:rPr spc="-60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75" dirty="0"/>
              <a:t>f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58187"/>
            <a:ext cx="9246870" cy="3651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1150" indent="-299085">
              <a:lnSpc>
                <a:spcPct val="100000"/>
              </a:lnSpc>
              <a:spcBef>
                <a:spcPts val="140"/>
              </a:spcBef>
              <a:buClr>
                <a:srgbClr val="0079D6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b="1" spc="15" dirty="0">
                <a:latin typeface="Times New Roman"/>
                <a:cs typeface="Times New Roman"/>
              </a:rPr>
              <a:t>arguments</a:t>
            </a:r>
            <a:r>
              <a:rPr sz="2600" b="1" spc="4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formels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ceux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déclarés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avec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2923540">
              <a:lnSpc>
                <a:spcPct val="100000"/>
              </a:lnSpc>
              <a:spcBef>
                <a:spcPts val="45"/>
              </a:spcBef>
            </a:pP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j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x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Times New Roman"/>
              <a:cs typeface="Times New Roman"/>
            </a:endParaRPr>
          </a:p>
          <a:p>
            <a:pPr marL="311150" marR="5080" indent="-299085">
              <a:lnSpc>
                <a:spcPct val="101499"/>
              </a:lnSpc>
              <a:buClr>
                <a:srgbClr val="0079D6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b="1" spc="10" dirty="0">
                <a:latin typeface="Times New Roman"/>
                <a:cs typeface="Times New Roman"/>
              </a:rPr>
              <a:t>paramètres</a:t>
            </a:r>
            <a:r>
              <a:rPr sz="2600" b="1" spc="2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effectifs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(ou</a:t>
            </a:r>
            <a:r>
              <a:rPr sz="2600" b="1" spc="2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réels)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ceux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envoyés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moment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l’appel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50">
              <a:latin typeface="Times New Roman"/>
              <a:cs typeface="Times New Roman"/>
            </a:endParaRPr>
          </a:p>
          <a:p>
            <a:pPr marL="4124325" marR="3856990" indent="1270">
              <a:lnSpc>
                <a:spcPct val="101699"/>
              </a:lnSpc>
              <a:spcBef>
                <a:spcPts val="5"/>
              </a:spcBef>
            </a:pP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spc="15" dirty="0">
                <a:latin typeface="Times New Roman"/>
                <a:cs typeface="Times New Roman"/>
              </a:rPr>
              <a:t>k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600" spc="5" dirty="0">
                <a:latin typeface="Times New Roman"/>
                <a:cs typeface="Times New Roman"/>
              </a:rPr>
              <a:t>l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spc="-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y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600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latin typeface="Times New Roman"/>
                <a:cs typeface="Times New Roman"/>
              </a:rPr>
              <a:t>k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y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44951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30" dirty="0"/>
              <a:t>P</a:t>
            </a:r>
            <a:r>
              <a:rPr spc="-295" dirty="0"/>
              <a:t>r</a:t>
            </a:r>
            <a:r>
              <a:rPr spc="-305" dirty="0"/>
              <a:t>o</a:t>
            </a:r>
            <a:r>
              <a:rPr spc="-285" dirty="0"/>
              <a:t>t</a:t>
            </a:r>
            <a:r>
              <a:rPr spc="-305" dirty="0"/>
              <a:t>o</a:t>
            </a:r>
            <a:r>
              <a:rPr spc="-285" dirty="0"/>
              <a:t>t</a:t>
            </a:r>
            <a:r>
              <a:rPr spc="-90" dirty="0"/>
              <a:t>y</a:t>
            </a:r>
            <a:r>
              <a:rPr spc="-305" dirty="0"/>
              <a:t>p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5256" y="1765807"/>
            <a:ext cx="9565005" cy="388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3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15" dirty="0">
                <a:latin typeface="Times New Roman"/>
                <a:cs typeface="Times New Roman"/>
              </a:rPr>
              <a:t>La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déclaration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d’une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fonction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porte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le </a:t>
            </a:r>
            <a:r>
              <a:rPr sz="2500" spc="20" dirty="0">
                <a:latin typeface="Times New Roman"/>
                <a:cs typeface="Times New Roman"/>
              </a:rPr>
              <a:t>nom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 </a:t>
            </a:r>
            <a:r>
              <a:rPr sz="2500" spc="15" dirty="0">
                <a:solidFill>
                  <a:srgbClr val="FF0065"/>
                </a:solidFill>
                <a:latin typeface="Times New Roman"/>
                <a:cs typeface="Times New Roman"/>
              </a:rPr>
              <a:t>prototype</a:t>
            </a:r>
            <a:r>
              <a:rPr sz="2500" spc="15" dirty="0">
                <a:latin typeface="Times New Roman"/>
                <a:cs typeface="Times New Roman"/>
              </a:rPr>
              <a:t>.</a:t>
            </a:r>
            <a:endParaRPr sz="25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3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-20" dirty="0">
                <a:latin typeface="Times New Roman"/>
                <a:cs typeface="Times New Roman"/>
              </a:rPr>
              <a:t>Toute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fonction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doit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être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annoncée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avant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d’être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utilisée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: </a:t>
            </a:r>
            <a:r>
              <a:rPr sz="2500" spc="15" dirty="0">
                <a:solidFill>
                  <a:srgbClr val="FF0065"/>
                </a:solidFill>
                <a:latin typeface="Times New Roman"/>
                <a:cs typeface="Times New Roman"/>
              </a:rPr>
              <a:t>prototype</a:t>
            </a:r>
            <a:endParaRPr sz="25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15" dirty="0">
                <a:latin typeface="Times New Roman"/>
                <a:cs typeface="Times New Roman"/>
              </a:rPr>
              <a:t>Une</a:t>
            </a:r>
            <a:r>
              <a:rPr sz="2500" spc="10" dirty="0">
                <a:latin typeface="Times New Roman"/>
                <a:cs typeface="Times New Roman"/>
              </a:rPr>
              <a:t> fonction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ne peut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être définie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qu’une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seule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fois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dans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un </a:t>
            </a:r>
            <a:r>
              <a:rPr sz="2500" spc="10" dirty="0">
                <a:latin typeface="Times New Roman"/>
                <a:cs typeface="Times New Roman"/>
              </a:rPr>
              <a:t>programme</a:t>
            </a:r>
            <a:endParaRPr sz="25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3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10" dirty="0">
                <a:latin typeface="Times New Roman"/>
                <a:cs typeface="Times New Roman"/>
              </a:rPr>
              <a:t>Elle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peut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être utilisée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autant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fois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que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nécessaire</a:t>
            </a:r>
            <a:endParaRPr sz="2500">
              <a:latin typeface="Times New Roman"/>
              <a:cs typeface="Times New Roman"/>
            </a:endParaRPr>
          </a:p>
          <a:p>
            <a:pPr marL="390525" marR="617220" indent="-378460">
              <a:lnSpc>
                <a:spcPts val="3050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-10" dirty="0">
                <a:latin typeface="Times New Roman"/>
                <a:cs typeface="Times New Roman"/>
              </a:rPr>
              <a:t>L’objectif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du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prototype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est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d’informer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le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compilateur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20" dirty="0">
                <a:latin typeface="Times New Roman"/>
                <a:cs typeface="Times New Roman"/>
              </a:rPr>
              <a:t>du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type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</a:t>
            </a:r>
            <a:r>
              <a:rPr sz="2500" spc="10" dirty="0">
                <a:latin typeface="Times New Roman"/>
                <a:cs typeface="Times New Roman"/>
              </a:rPr>
              <a:t> la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valeur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retour,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du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nombre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paramètres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et</a:t>
            </a:r>
            <a:r>
              <a:rPr sz="2500" spc="15" dirty="0">
                <a:latin typeface="Times New Roman"/>
                <a:cs typeface="Times New Roman"/>
              </a:rPr>
              <a:t> du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type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20" dirty="0">
                <a:latin typeface="Times New Roman"/>
                <a:cs typeface="Times New Roman"/>
              </a:rPr>
              <a:t>de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chacun</a:t>
            </a:r>
            <a:endParaRPr sz="2500">
              <a:latin typeface="Times New Roman"/>
              <a:cs typeface="Times New Roman"/>
            </a:endParaRPr>
          </a:p>
          <a:p>
            <a:pPr marL="390525" indent="-378460">
              <a:lnSpc>
                <a:spcPts val="2925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10" dirty="0">
                <a:solidFill>
                  <a:srgbClr val="FF0065"/>
                </a:solidFill>
                <a:latin typeface="Times New Roman"/>
                <a:cs typeface="Times New Roman"/>
              </a:rPr>
              <a:t>Prototype</a:t>
            </a:r>
            <a:r>
              <a:rPr sz="2500" spc="-2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= </a:t>
            </a:r>
            <a:r>
              <a:rPr sz="2500" spc="10" dirty="0">
                <a:latin typeface="Times New Roman"/>
                <a:cs typeface="Times New Roman"/>
              </a:rPr>
              <a:t>déclaration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la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fonction,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sans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en</a:t>
            </a:r>
            <a:r>
              <a:rPr sz="2500" spc="10" dirty="0">
                <a:latin typeface="Times New Roman"/>
                <a:cs typeface="Times New Roman"/>
              </a:rPr>
              <a:t> définir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le</a:t>
            </a:r>
            <a:r>
              <a:rPr sz="2500" spc="15" dirty="0">
                <a:latin typeface="Times New Roman"/>
                <a:cs typeface="Times New Roman"/>
              </a:rPr>
              <a:t> corps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  <a:p>
            <a:pPr marL="617220" lvl="1" indent="-227329"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Wingdings"/>
              <a:buChar char=""/>
              <a:tabLst>
                <a:tab pos="617855" algn="l"/>
              </a:tabLst>
            </a:pPr>
            <a:r>
              <a:rPr sz="2500" spc="20" dirty="0">
                <a:solidFill>
                  <a:srgbClr val="0079D6"/>
                </a:solidFill>
                <a:latin typeface="Times New Roman"/>
                <a:cs typeface="Times New Roman"/>
              </a:rPr>
              <a:t>nom</a:t>
            </a:r>
            <a:endParaRPr sz="2500">
              <a:latin typeface="Times New Roman"/>
              <a:cs typeface="Times New Roman"/>
            </a:endParaRPr>
          </a:p>
          <a:p>
            <a:pPr marL="617220" lvl="1" indent="-227329">
              <a:lnSpc>
                <a:spcPct val="100000"/>
              </a:lnSpc>
              <a:spcBef>
                <a:spcPts val="35"/>
              </a:spcBef>
              <a:buClr>
                <a:srgbClr val="006FC0"/>
              </a:buClr>
              <a:buFont typeface="Wingdings"/>
              <a:buChar char=""/>
              <a:tabLst>
                <a:tab pos="617855" algn="l"/>
              </a:tabLst>
            </a:pPr>
            <a:r>
              <a:rPr sz="2500" spc="10" dirty="0">
                <a:solidFill>
                  <a:srgbClr val="0079D6"/>
                </a:solidFill>
                <a:latin typeface="Times New Roman"/>
                <a:cs typeface="Times New Roman"/>
              </a:rPr>
              <a:t>paramètres</a:t>
            </a:r>
            <a:endParaRPr sz="2500">
              <a:latin typeface="Times New Roman"/>
              <a:cs typeface="Times New Roman"/>
            </a:endParaRPr>
          </a:p>
          <a:p>
            <a:pPr marL="617220" lvl="1" indent="-227329">
              <a:lnSpc>
                <a:spcPct val="100000"/>
              </a:lnSpc>
              <a:spcBef>
                <a:spcPts val="35"/>
              </a:spcBef>
              <a:buClr>
                <a:srgbClr val="006FC0"/>
              </a:buClr>
              <a:buFont typeface="Wingdings"/>
              <a:buChar char=""/>
              <a:tabLst>
                <a:tab pos="617855" algn="l"/>
              </a:tabLst>
            </a:pPr>
            <a:r>
              <a:rPr sz="2500" spc="15" dirty="0">
                <a:solidFill>
                  <a:srgbClr val="0079D6"/>
                </a:solidFill>
                <a:latin typeface="Times New Roman"/>
                <a:cs typeface="Times New Roman"/>
              </a:rPr>
              <a:t>type</a:t>
            </a:r>
            <a:r>
              <a:rPr sz="2500" spc="-2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2500" spc="15" dirty="0">
                <a:solidFill>
                  <a:srgbClr val="0079D6"/>
                </a:solidFill>
                <a:latin typeface="Times New Roman"/>
                <a:cs typeface="Times New Roman"/>
              </a:rPr>
              <a:t>de</a:t>
            </a:r>
            <a:r>
              <a:rPr sz="250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2500" spc="10" dirty="0">
                <a:solidFill>
                  <a:srgbClr val="0079D6"/>
                </a:solidFill>
                <a:latin typeface="Times New Roman"/>
                <a:cs typeface="Times New Roman"/>
              </a:rPr>
              <a:t>la</a:t>
            </a:r>
            <a:r>
              <a:rPr sz="2500" spc="-1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2500" spc="15" dirty="0">
                <a:solidFill>
                  <a:srgbClr val="0079D6"/>
                </a:solidFill>
                <a:latin typeface="Times New Roman"/>
                <a:cs typeface="Times New Roman"/>
              </a:rPr>
              <a:t>valeur</a:t>
            </a:r>
            <a:r>
              <a:rPr sz="2500" spc="-15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2500" spc="15" dirty="0">
                <a:solidFill>
                  <a:srgbClr val="0079D6"/>
                </a:solidFill>
                <a:latin typeface="Times New Roman"/>
                <a:cs typeface="Times New Roman"/>
              </a:rPr>
              <a:t>de</a:t>
            </a:r>
            <a:r>
              <a:rPr sz="2500" spc="-1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2500" spc="10" dirty="0">
                <a:solidFill>
                  <a:srgbClr val="0079D6"/>
                </a:solidFill>
                <a:latin typeface="Times New Roman"/>
                <a:cs typeface="Times New Roman"/>
              </a:rPr>
              <a:t>retour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44951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30" dirty="0"/>
              <a:t>P</a:t>
            </a:r>
            <a:r>
              <a:rPr spc="-295" dirty="0"/>
              <a:t>r</a:t>
            </a:r>
            <a:r>
              <a:rPr spc="-305" dirty="0"/>
              <a:t>o</a:t>
            </a:r>
            <a:r>
              <a:rPr spc="-285" dirty="0"/>
              <a:t>t</a:t>
            </a:r>
            <a:r>
              <a:rPr spc="-305" dirty="0"/>
              <a:t>o</a:t>
            </a:r>
            <a:r>
              <a:rPr spc="-285" dirty="0"/>
              <a:t>t</a:t>
            </a:r>
            <a:r>
              <a:rPr spc="-90" dirty="0"/>
              <a:t>y</a:t>
            </a:r>
            <a:r>
              <a:rPr spc="-305" dirty="0"/>
              <a:t>p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760" y="1739899"/>
            <a:ext cx="9168765" cy="37884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Syntaxe</a:t>
            </a:r>
            <a:r>
              <a:rPr sz="305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déclaration</a:t>
            </a:r>
            <a:r>
              <a:rPr sz="305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305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fonction: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2680970" algn="l"/>
              </a:tabLst>
            </a:pP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type_valeur_de_retour	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nom_de_la_fonction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type1</a:t>
            </a:r>
            <a:r>
              <a:rPr sz="2200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param1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 ...,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1F5F"/>
                </a:solidFill>
                <a:latin typeface="Times New Roman"/>
                <a:cs typeface="Times New Roman"/>
              </a:rPr>
              <a:t>typeN</a:t>
            </a:r>
            <a:r>
              <a:rPr sz="2200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paramN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Exemples</a:t>
            </a:r>
            <a:r>
              <a:rPr sz="305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3050">
              <a:latin typeface="Times New Roman"/>
              <a:cs typeface="Times New Roman"/>
            </a:endParaRPr>
          </a:p>
          <a:p>
            <a:pPr marL="12700" marR="4107815">
              <a:lnSpc>
                <a:spcPts val="3180"/>
              </a:lnSpc>
              <a:spcBef>
                <a:spcPts val="110"/>
              </a:spcBef>
            </a:pP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moyenne</a:t>
            </a:r>
            <a:r>
              <a:rPr sz="2600" spc="15" dirty="0"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600" spc="15" dirty="0">
                <a:latin typeface="Times New Roman"/>
                <a:cs typeface="Times New Roman"/>
              </a:rPr>
              <a:t>x, </a:t>
            </a: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600" spc="10" dirty="0">
                <a:latin typeface="Times New Roman"/>
                <a:cs typeface="Times New Roman"/>
              </a:rPr>
              <a:t>y);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nbHasard</a:t>
            </a:r>
            <a:r>
              <a:rPr sz="2600" spc="15" dirty="0">
                <a:latin typeface="Times New Roman"/>
                <a:cs typeface="Times New Roman"/>
              </a:rPr>
              <a:t>();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3050"/>
              </a:lnSpc>
            </a:pP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score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points,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temps_jeu);</a:t>
            </a:r>
            <a:endParaRPr sz="2600">
              <a:latin typeface="Times New Roman"/>
              <a:cs typeface="Times New Roman"/>
            </a:endParaRPr>
          </a:p>
          <a:p>
            <a:pPr marL="12700" marR="5713730">
              <a:lnSpc>
                <a:spcPct val="101499"/>
              </a:lnSpc>
              <a:spcBef>
                <a:spcPts val="10"/>
              </a:spcBef>
            </a:pP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float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min</a:t>
            </a:r>
            <a:r>
              <a:rPr sz="2600" spc="10" dirty="0"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float </a:t>
            </a:r>
            <a:r>
              <a:rPr sz="2600" spc="15" dirty="0">
                <a:latin typeface="Times New Roman"/>
                <a:cs typeface="Times New Roman"/>
              </a:rPr>
              <a:t>x, 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float </a:t>
            </a:r>
            <a:r>
              <a:rPr sz="2600" spc="10" dirty="0">
                <a:latin typeface="Times New Roman"/>
                <a:cs typeface="Times New Roman"/>
              </a:rPr>
              <a:t>y);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600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f</a:t>
            </a:r>
            <a:r>
              <a:rPr sz="2600" spc="10" dirty="0"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600" spc="10" dirty="0">
                <a:latin typeface="Times New Roman"/>
                <a:cs typeface="Times New Roman"/>
              </a:rPr>
              <a:t>,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int,</a:t>
            </a:r>
            <a:r>
              <a:rPr sz="26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spc="10" dirty="0"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424687"/>
            <a:ext cx="330771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70" dirty="0"/>
              <a:t>i</a:t>
            </a:r>
            <a:r>
              <a:rPr spc="-375" dirty="0"/>
              <a:t>m</a:t>
            </a:r>
            <a:r>
              <a:rPr spc="-305" dirty="0"/>
              <a:t>p</a:t>
            </a:r>
            <a:r>
              <a:rPr spc="-70" dirty="0"/>
              <a:t>l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55139"/>
            <a:ext cx="290639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complet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135" y="2330195"/>
            <a:ext cx="7179869" cy="4067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9972" y="1691131"/>
            <a:ext cx="8985250" cy="276415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90525" marR="360680" indent="-378460">
              <a:lnSpc>
                <a:spcPts val="2530"/>
              </a:lnSpc>
              <a:spcBef>
                <a:spcPts val="715"/>
              </a:spcBef>
              <a:buClr>
                <a:srgbClr val="0079D6"/>
              </a:buClr>
              <a:buSzPct val="59615"/>
              <a:buFont typeface="Wingdings"/>
              <a:buChar char=""/>
              <a:tabLst>
                <a:tab pos="390525" algn="l"/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fonction </a:t>
            </a:r>
            <a:r>
              <a:rPr sz="2600" spc="15" dirty="0">
                <a:latin typeface="Times New Roman"/>
                <a:cs typeface="Times New Roman"/>
              </a:rPr>
              <a:t>peut ne pas renvoyer de </a:t>
            </a:r>
            <a:r>
              <a:rPr sz="2600" spc="10" dirty="0">
                <a:latin typeface="Times New Roman"/>
                <a:cs typeface="Times New Roman"/>
              </a:rPr>
              <a:t>résultat </a:t>
            </a:r>
            <a:r>
              <a:rPr sz="2600" spc="20" dirty="0">
                <a:latin typeface="Times New Roman"/>
                <a:cs typeface="Times New Roman"/>
              </a:rPr>
              <a:t>ou </a:t>
            </a:r>
            <a:r>
              <a:rPr sz="2600" spc="15" dirty="0">
                <a:latin typeface="Times New Roman"/>
                <a:cs typeface="Times New Roman"/>
              </a:rPr>
              <a:t>ne pas avoir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d’arguments:</a:t>
            </a:r>
            <a:endParaRPr sz="2600">
              <a:latin typeface="Times New Roman"/>
              <a:cs typeface="Times New Roman"/>
            </a:endParaRPr>
          </a:p>
          <a:p>
            <a:pPr marL="510540" marR="19685" lvl="1" indent="-299085">
              <a:lnSpc>
                <a:spcPct val="101499"/>
              </a:lnSpc>
              <a:spcBef>
                <a:spcPts val="30"/>
              </a:spcBef>
              <a:buClr>
                <a:srgbClr val="006FC0"/>
              </a:buClr>
              <a:buFont typeface="Wingdings"/>
              <a:buChar char=""/>
              <a:tabLst>
                <a:tab pos="510540" algn="l"/>
                <a:tab pos="511175" algn="l"/>
              </a:tabLst>
            </a:pPr>
            <a:r>
              <a:rPr sz="2600" spc="10" dirty="0">
                <a:latin typeface="Times New Roman"/>
                <a:cs typeface="Times New Roman"/>
              </a:rPr>
              <a:t>s’il </a:t>
            </a:r>
            <a:r>
              <a:rPr sz="2600" spc="15" dirty="0">
                <a:latin typeface="Times New Roman"/>
                <a:cs typeface="Times New Roman"/>
              </a:rPr>
              <a:t>n’y a pas de </a:t>
            </a:r>
            <a:r>
              <a:rPr sz="2600" spc="10" dirty="0">
                <a:latin typeface="Times New Roman"/>
                <a:cs typeface="Times New Roman"/>
              </a:rPr>
              <a:t>résultat </a:t>
            </a:r>
            <a:r>
              <a:rPr sz="2600" spc="15" dirty="0">
                <a:latin typeface="Times New Roman"/>
                <a:cs typeface="Times New Roman"/>
              </a:rPr>
              <a:t>renvoyé </a:t>
            </a:r>
            <a:r>
              <a:rPr sz="2600" spc="10" dirty="0">
                <a:latin typeface="Times New Roman"/>
                <a:cs typeface="Times New Roman"/>
              </a:rPr>
              <a:t>: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l’en-tête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la fonction,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remplace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type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de</a:t>
            </a:r>
            <a:r>
              <a:rPr sz="2600" b="1" spc="10" dirty="0">
                <a:latin typeface="Times New Roman"/>
                <a:cs typeface="Times New Roman"/>
              </a:rPr>
              <a:t> la </a:t>
            </a:r>
            <a:r>
              <a:rPr sz="2600" b="1" spc="15" dirty="0">
                <a:latin typeface="Times New Roman"/>
                <a:cs typeface="Times New Roman"/>
              </a:rPr>
              <a:t>valeur</a:t>
            </a:r>
            <a:r>
              <a:rPr sz="2600" b="1" spc="-3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de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retour</a:t>
            </a:r>
            <a:r>
              <a:rPr sz="2600" b="1" spc="-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mot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clé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void</a:t>
            </a:r>
            <a:endParaRPr sz="2600">
              <a:latin typeface="Times New Roman"/>
              <a:cs typeface="Times New Roman"/>
            </a:endParaRPr>
          </a:p>
          <a:p>
            <a:pPr marL="510540" marR="5080" lvl="1" indent="-299085">
              <a:lnSpc>
                <a:spcPct val="101499"/>
              </a:lnSpc>
              <a:spcBef>
                <a:spcPts val="10"/>
              </a:spcBef>
              <a:buClr>
                <a:srgbClr val="006FC0"/>
              </a:buClr>
              <a:buFont typeface="Wingdings"/>
              <a:buChar char=""/>
              <a:tabLst>
                <a:tab pos="510540" algn="l"/>
                <a:tab pos="511175" algn="l"/>
              </a:tabLst>
            </a:pPr>
            <a:r>
              <a:rPr sz="2600" spc="10" dirty="0">
                <a:latin typeface="Times New Roman"/>
                <a:cs typeface="Times New Roman"/>
              </a:rPr>
              <a:t>s’il </a:t>
            </a:r>
            <a:r>
              <a:rPr sz="2600" spc="15" dirty="0">
                <a:latin typeface="Times New Roman"/>
                <a:cs typeface="Times New Roman"/>
              </a:rPr>
              <a:t>n’y a pas </a:t>
            </a:r>
            <a:r>
              <a:rPr sz="2600" spc="10" dirty="0">
                <a:latin typeface="Times New Roman"/>
                <a:cs typeface="Times New Roman"/>
              </a:rPr>
              <a:t>d’arguments :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les </a:t>
            </a:r>
            <a:r>
              <a:rPr sz="2600" spc="15" dirty="0">
                <a:latin typeface="Times New Roman"/>
                <a:cs typeface="Times New Roman"/>
              </a:rPr>
              <a:t>parenthèses de </a:t>
            </a:r>
            <a:r>
              <a:rPr sz="2600" spc="10" dirty="0">
                <a:latin typeface="Times New Roman"/>
                <a:cs typeface="Times New Roman"/>
              </a:rPr>
              <a:t>l’en-tête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fonction, </a:t>
            </a:r>
            <a:r>
              <a:rPr sz="2600" spc="20" dirty="0">
                <a:latin typeface="Times New Roman"/>
                <a:cs typeface="Times New Roman"/>
              </a:rPr>
              <a:t>on </a:t>
            </a:r>
            <a:r>
              <a:rPr sz="2600" spc="15" dirty="0">
                <a:latin typeface="Times New Roman"/>
                <a:cs typeface="Times New Roman"/>
              </a:rPr>
              <a:t>remplace </a:t>
            </a:r>
            <a:r>
              <a:rPr sz="2600" spc="10" dirty="0">
                <a:latin typeface="Times New Roman"/>
                <a:cs typeface="Times New Roman"/>
              </a:rPr>
              <a:t>la liste d’arguments et leurs </a:t>
            </a:r>
            <a:r>
              <a:rPr sz="2600" spc="15" dirty="0">
                <a:latin typeface="Times New Roman"/>
                <a:cs typeface="Times New Roman"/>
              </a:rPr>
              <a:t>types par 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rien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du</a:t>
            </a:r>
            <a:r>
              <a:rPr sz="2600" spc="10" dirty="0">
                <a:latin typeface="Times New Roman"/>
                <a:cs typeface="Times New Roman"/>
              </a:rPr>
              <a:t> tout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(parenthèses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vides).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3920" y="589280"/>
            <a:ext cx="9505950" cy="563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560" dirty="0"/>
              <a:t>F</a:t>
            </a:r>
            <a:r>
              <a:rPr sz="3500" spc="-275" dirty="0"/>
              <a:t>on</a:t>
            </a:r>
            <a:r>
              <a:rPr sz="3500" spc="-525" dirty="0"/>
              <a:t>c</a:t>
            </a:r>
            <a:r>
              <a:rPr sz="3500" spc="-254" dirty="0"/>
              <a:t>t</a:t>
            </a:r>
            <a:r>
              <a:rPr sz="3500" spc="-65" dirty="0"/>
              <a:t>i</a:t>
            </a:r>
            <a:r>
              <a:rPr sz="3500" spc="-275" dirty="0"/>
              <a:t>on</a:t>
            </a:r>
            <a:r>
              <a:rPr sz="3500" spc="-445" dirty="0"/>
              <a:t>s</a:t>
            </a:r>
            <a:r>
              <a:rPr sz="3500" b="0" spc="75" dirty="0">
                <a:latin typeface="Times New Roman"/>
                <a:cs typeface="Times New Roman"/>
              </a:rPr>
              <a:t> </a:t>
            </a:r>
            <a:r>
              <a:rPr sz="3500" spc="-455" dirty="0"/>
              <a:t>s</a:t>
            </a:r>
            <a:r>
              <a:rPr sz="3500" spc="-90" dirty="0"/>
              <a:t>a</a:t>
            </a:r>
            <a:r>
              <a:rPr sz="3500" spc="-275" dirty="0"/>
              <a:t>n</a:t>
            </a:r>
            <a:r>
              <a:rPr sz="3500" spc="-445" dirty="0"/>
              <a:t>s</a:t>
            </a:r>
            <a:r>
              <a:rPr sz="3500" b="0" spc="55" dirty="0">
                <a:latin typeface="Times New Roman"/>
                <a:cs typeface="Times New Roman"/>
              </a:rPr>
              <a:t> </a:t>
            </a:r>
            <a:r>
              <a:rPr sz="3500" spc="-114" dirty="0"/>
              <a:t>v</a:t>
            </a:r>
            <a:r>
              <a:rPr sz="3500" spc="-90" dirty="0"/>
              <a:t>a</a:t>
            </a:r>
            <a:r>
              <a:rPr sz="3500" spc="-65" dirty="0"/>
              <a:t>l</a:t>
            </a:r>
            <a:r>
              <a:rPr sz="3500" spc="-260" dirty="0"/>
              <a:t>e</a:t>
            </a:r>
            <a:r>
              <a:rPr sz="3500" spc="-275" dirty="0"/>
              <a:t>u</a:t>
            </a:r>
            <a:r>
              <a:rPr sz="3500" spc="-260" dirty="0"/>
              <a:t>r</a:t>
            </a:r>
            <a:r>
              <a:rPr sz="3500" b="0" spc="70" dirty="0">
                <a:latin typeface="Times New Roman"/>
                <a:cs typeface="Times New Roman"/>
              </a:rPr>
              <a:t> </a:t>
            </a:r>
            <a:r>
              <a:rPr sz="3500" spc="-275" dirty="0"/>
              <a:t>d</a:t>
            </a:r>
            <a:r>
              <a:rPr sz="3500" spc="-260" dirty="0"/>
              <a:t>e</a:t>
            </a:r>
            <a:r>
              <a:rPr sz="3500" b="0" spc="60" dirty="0">
                <a:latin typeface="Times New Roman"/>
                <a:cs typeface="Times New Roman"/>
              </a:rPr>
              <a:t> </a:t>
            </a:r>
            <a:r>
              <a:rPr sz="3500" spc="-190" dirty="0"/>
              <a:t>r</a:t>
            </a:r>
            <a:r>
              <a:rPr sz="3500" spc="-260" dirty="0"/>
              <a:t>e</a:t>
            </a:r>
            <a:r>
              <a:rPr sz="3500" spc="-254" dirty="0"/>
              <a:t>t</a:t>
            </a:r>
            <a:r>
              <a:rPr sz="3500" spc="-275" dirty="0"/>
              <a:t>ou</a:t>
            </a:r>
            <a:r>
              <a:rPr sz="3500" spc="-260" dirty="0"/>
              <a:t>r</a:t>
            </a:r>
            <a:r>
              <a:rPr sz="3500" b="0" spc="70" dirty="0">
                <a:latin typeface="Times New Roman"/>
                <a:cs typeface="Times New Roman"/>
              </a:rPr>
              <a:t> </a:t>
            </a:r>
            <a:r>
              <a:rPr sz="3500" spc="-275" dirty="0"/>
              <a:t>o</a:t>
            </a:r>
            <a:r>
              <a:rPr sz="3500" spc="-270" dirty="0"/>
              <a:t>u</a:t>
            </a:r>
            <a:r>
              <a:rPr sz="3500" b="0" spc="60" dirty="0">
                <a:latin typeface="Times New Roman"/>
                <a:cs typeface="Times New Roman"/>
              </a:rPr>
              <a:t> </a:t>
            </a:r>
            <a:r>
              <a:rPr sz="3500" spc="-455" dirty="0"/>
              <a:t>s</a:t>
            </a:r>
            <a:r>
              <a:rPr sz="3500" spc="-90" dirty="0"/>
              <a:t>a</a:t>
            </a:r>
            <a:r>
              <a:rPr sz="3500" spc="-275" dirty="0"/>
              <a:t>n</a:t>
            </a:r>
            <a:r>
              <a:rPr sz="3500" spc="-445" dirty="0"/>
              <a:t>s</a:t>
            </a:r>
            <a:r>
              <a:rPr sz="3500" b="0" spc="55" dirty="0">
                <a:latin typeface="Times New Roman"/>
                <a:cs typeface="Times New Roman"/>
              </a:rPr>
              <a:t> </a:t>
            </a:r>
            <a:r>
              <a:rPr sz="3500" spc="-90" dirty="0"/>
              <a:t>a</a:t>
            </a:r>
            <a:r>
              <a:rPr sz="3500" spc="-190" dirty="0"/>
              <a:t>r</a:t>
            </a:r>
            <a:r>
              <a:rPr sz="3500" spc="-285" dirty="0"/>
              <a:t>g</a:t>
            </a:r>
            <a:r>
              <a:rPr sz="3500" spc="-275" dirty="0"/>
              <a:t>u</a:t>
            </a:r>
            <a:r>
              <a:rPr sz="3500" spc="-320" dirty="0"/>
              <a:t>m</a:t>
            </a:r>
            <a:r>
              <a:rPr sz="3500" spc="-260" dirty="0"/>
              <a:t>e</a:t>
            </a:r>
            <a:r>
              <a:rPr sz="3500" spc="-275" dirty="0"/>
              <a:t>n</a:t>
            </a:r>
            <a:r>
              <a:rPr sz="3500" spc="-254" dirty="0"/>
              <a:t>t</a:t>
            </a:r>
            <a:r>
              <a:rPr sz="3500" spc="-445" dirty="0"/>
              <a:t>s</a:t>
            </a:r>
            <a:endParaRPr sz="3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657669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105" dirty="0"/>
              <a:t>a</a:t>
            </a:r>
            <a:r>
              <a:rPr spc="-305" dirty="0"/>
              <a:t>n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10" dirty="0"/>
              <a:t>r</a:t>
            </a:r>
            <a:r>
              <a:rPr spc="-290" dirty="0"/>
              <a:t>e</a:t>
            </a:r>
            <a:r>
              <a:rPr spc="-285" dirty="0"/>
              <a:t>t</a:t>
            </a:r>
            <a:r>
              <a:rPr spc="-305" dirty="0"/>
              <a:t>ou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77999"/>
            <a:ext cx="8659495" cy="13042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Syntaxe</a:t>
            </a:r>
            <a:r>
              <a:rPr sz="305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d’une</a:t>
            </a:r>
            <a:r>
              <a:rPr sz="305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qui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ne</a:t>
            </a:r>
            <a:r>
              <a:rPr sz="305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renvoie</a:t>
            </a:r>
            <a:r>
              <a:rPr sz="305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rien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  <a:tabLst>
                <a:tab pos="775970" algn="l"/>
              </a:tabLst>
            </a:pP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void	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nom_de_la_fonction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latin typeface="Times New Roman"/>
                <a:cs typeface="Times New Roman"/>
              </a:rPr>
              <a:t>liste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avec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leurs </a:t>
            </a:r>
            <a:r>
              <a:rPr sz="2600" spc="15" dirty="0">
                <a:latin typeface="Times New Roman"/>
                <a:cs typeface="Times New Roman"/>
              </a:rPr>
              <a:t>types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248" y="3056634"/>
            <a:ext cx="268033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5" dirty="0">
                <a:latin typeface="Times New Roman"/>
                <a:cs typeface="Times New Roman"/>
              </a:rPr>
              <a:t>Bloc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d‘instructions;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8787" y="3056634"/>
            <a:ext cx="4751705" cy="8305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40"/>
              </a:spcBef>
            </a:pP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//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déclarations</a:t>
            </a:r>
            <a:r>
              <a:rPr sz="26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locales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si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nécessaire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6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n’est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pas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 obligatoire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2248" y="3862830"/>
            <a:ext cx="7586980" cy="16363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Pour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appeler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cette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suffit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d’écrire:</a:t>
            </a:r>
            <a:endParaRPr sz="2600">
              <a:latin typeface="Times New Roman"/>
              <a:cs typeface="Times New Roman"/>
            </a:endParaRPr>
          </a:p>
          <a:p>
            <a:pPr marL="1927860">
              <a:lnSpc>
                <a:spcPct val="100000"/>
              </a:lnSpc>
              <a:spcBef>
                <a:spcPts val="50"/>
              </a:spcBef>
            </a:pP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nom_de_la_fonction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latin typeface="Times New Roman"/>
                <a:cs typeface="Times New Roman"/>
              </a:rPr>
              <a:t>liste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657669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105" dirty="0"/>
              <a:t>a</a:t>
            </a:r>
            <a:r>
              <a:rPr spc="-305" dirty="0"/>
              <a:t>n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10" dirty="0"/>
              <a:t>r</a:t>
            </a:r>
            <a:r>
              <a:rPr spc="-290" dirty="0"/>
              <a:t>e</a:t>
            </a:r>
            <a:r>
              <a:rPr spc="-285" dirty="0"/>
              <a:t>t</a:t>
            </a:r>
            <a:r>
              <a:rPr spc="-305" dirty="0"/>
              <a:t>ou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77999"/>
            <a:ext cx="6376035" cy="33191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3050">
              <a:latin typeface="Times New Roman"/>
              <a:cs typeface="Times New Roman"/>
            </a:endParaRPr>
          </a:p>
          <a:p>
            <a:pPr marL="311150" indent="-299085">
              <a:lnSpc>
                <a:spcPct val="100000"/>
              </a:lnSpc>
              <a:spcBef>
                <a:spcPts val="70"/>
              </a:spcBef>
              <a:buClr>
                <a:srgbClr val="006FC0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600" spc="-55" dirty="0">
                <a:latin typeface="Times New Roman"/>
                <a:cs typeface="Times New Roman"/>
              </a:rPr>
              <a:t>Voici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5" dirty="0">
                <a:latin typeface="Times New Roman"/>
                <a:cs typeface="Times New Roman"/>
              </a:rPr>
              <a:t> affiche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</a:t>
            </a:r>
            <a:r>
              <a:rPr sz="2600" spc="10" dirty="0">
                <a:latin typeface="Times New Roman"/>
                <a:cs typeface="Times New Roman"/>
              </a:rPr>
              <a:t> fois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bonjour: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afficherBonjour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spc="15" dirty="0">
                <a:latin typeface="Times New Roman"/>
                <a:cs typeface="Times New Roman"/>
              </a:rPr>
              <a:t>n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spcBef>
                <a:spcPts val="50"/>
              </a:spcBef>
            </a:pPr>
            <a:r>
              <a:rPr sz="2600" spc="10" dirty="0">
                <a:latin typeface="Times New Roman"/>
                <a:cs typeface="Times New Roman"/>
              </a:rPr>
              <a:t>for(int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i(0);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i&lt;n;++i)</a:t>
            </a:r>
            <a:endParaRPr sz="2600">
              <a:latin typeface="Times New Roman"/>
              <a:cs typeface="Times New Roman"/>
            </a:endParaRPr>
          </a:p>
          <a:p>
            <a:pPr marL="95885" marR="2288540">
              <a:lnSpc>
                <a:spcPct val="101499"/>
              </a:lnSpc>
              <a:spcBef>
                <a:spcPts val="15"/>
              </a:spcBef>
              <a:tabLst>
                <a:tab pos="1301750" algn="l"/>
              </a:tabLst>
            </a:pP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cout</a:t>
            </a:r>
            <a:r>
              <a:rPr sz="2600" b="1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"Bonjour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endl</a:t>
            </a:r>
            <a:r>
              <a:rPr sz="2600" b="1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600" b="1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pas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obligatoire</a:t>
            </a:r>
            <a:endParaRPr sz="22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657669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105" dirty="0"/>
              <a:t>a</a:t>
            </a:r>
            <a:r>
              <a:rPr spc="-305" dirty="0"/>
              <a:t>n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10" dirty="0"/>
              <a:t>r</a:t>
            </a:r>
            <a:r>
              <a:rPr spc="-290" dirty="0"/>
              <a:t>e</a:t>
            </a:r>
            <a:r>
              <a:rPr spc="-285" dirty="0"/>
              <a:t>t</a:t>
            </a:r>
            <a:r>
              <a:rPr spc="-305" dirty="0"/>
              <a:t>ou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77999"/>
            <a:ext cx="9375775" cy="48628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Exemple: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fonction</a:t>
            </a:r>
            <a:r>
              <a:rPr sz="30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affiche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n 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fois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bonjour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afficherBonjour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spc="15" dirty="0">
                <a:latin typeface="Times New Roman"/>
                <a:cs typeface="Times New Roman"/>
              </a:rPr>
              <a:t>n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spcBef>
                <a:spcPts val="45"/>
              </a:spcBef>
            </a:pPr>
            <a:r>
              <a:rPr sz="2600" spc="10" dirty="0">
                <a:latin typeface="Times New Roman"/>
                <a:cs typeface="Times New Roman"/>
              </a:rPr>
              <a:t>for(int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i(0);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i&lt;n;++i)</a:t>
            </a:r>
            <a:endParaRPr sz="26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spcBef>
                <a:spcPts val="50"/>
              </a:spcBef>
            </a:pP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cout</a:t>
            </a:r>
            <a:r>
              <a:rPr sz="2600" b="1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"Bonjour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endl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4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Dans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main()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main()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  <a:spcBef>
                <a:spcPts val="50"/>
              </a:spcBef>
              <a:tabLst>
                <a:tab pos="3156585" algn="l"/>
              </a:tabLst>
            </a:pP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afficherBonjour(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)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//Comme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ne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renvoie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rien</a:t>
            </a:r>
            <a:endParaRPr sz="2200">
              <a:latin typeface="Times New Roman"/>
              <a:cs typeface="Times New Roman"/>
            </a:endParaRPr>
          </a:p>
          <a:p>
            <a:pPr marL="2391410">
              <a:lnSpc>
                <a:spcPct val="100000"/>
              </a:lnSpc>
              <a:spcBef>
                <a:spcPts val="30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l'appelle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sans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mettre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valeur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retour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dans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variable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54610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105" dirty="0"/>
              <a:t>a</a:t>
            </a:r>
            <a:r>
              <a:rPr spc="-305" dirty="0"/>
              <a:t>n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2986531"/>
            <a:ext cx="135636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Syntaxe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248" y="3458970"/>
            <a:ext cx="7023100" cy="831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433955" algn="l"/>
                <a:tab pos="3842385" algn="l"/>
                <a:tab pos="6898005" algn="l"/>
              </a:tabLst>
            </a:pPr>
            <a:r>
              <a:rPr sz="2600" spc="-10" dirty="0">
                <a:solidFill>
                  <a:srgbClr val="FF0065"/>
                </a:solidFill>
                <a:latin typeface="Times New Roman"/>
                <a:cs typeface="Times New Roman"/>
              </a:rPr>
              <a:t>[</a:t>
            </a:r>
            <a:r>
              <a:rPr sz="2600" spc="5" dirty="0">
                <a:solidFill>
                  <a:srgbClr val="FF0065"/>
                </a:solidFill>
                <a:latin typeface="Times New Roman"/>
                <a:cs typeface="Times New Roman"/>
              </a:rPr>
              <a:t>t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ype_de_</a:t>
            </a:r>
            <a:r>
              <a:rPr sz="2600" spc="5" dirty="0">
                <a:solidFill>
                  <a:srgbClr val="FF0065"/>
                </a:solidFill>
                <a:latin typeface="Times New Roman"/>
                <a:cs typeface="Times New Roman"/>
              </a:rPr>
              <a:t>r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e</a:t>
            </a:r>
            <a:r>
              <a:rPr sz="2600" spc="5" dirty="0">
                <a:solidFill>
                  <a:srgbClr val="FF0065"/>
                </a:solidFill>
                <a:latin typeface="Times New Roman"/>
                <a:cs typeface="Times New Roman"/>
              </a:rPr>
              <a:t>t</a:t>
            </a:r>
            <a:r>
              <a:rPr sz="2600" spc="20" dirty="0">
                <a:solidFill>
                  <a:srgbClr val="FF0065"/>
                </a:solidFill>
                <a:latin typeface="Times New Roman"/>
                <a:cs typeface="Times New Roman"/>
              </a:rPr>
              <a:t>ou</a:t>
            </a:r>
            <a:r>
              <a:rPr sz="2600" spc="5" dirty="0">
                <a:solidFill>
                  <a:srgbClr val="FF0065"/>
                </a:solidFill>
                <a:latin typeface="Times New Roman"/>
                <a:cs typeface="Times New Roman"/>
              </a:rPr>
              <a:t>r</a:t>
            </a:r>
            <a:r>
              <a:rPr sz="2600" spc="10" dirty="0">
                <a:solidFill>
                  <a:srgbClr val="FF0065"/>
                </a:solidFill>
                <a:latin typeface="Times New Roman"/>
                <a:cs typeface="Times New Roman"/>
              </a:rPr>
              <a:t>]</a:t>
            </a:r>
            <a:r>
              <a:rPr sz="2600" dirty="0">
                <a:solidFill>
                  <a:srgbClr val="FF0065"/>
                </a:solidFill>
                <a:latin typeface="Times New Roman"/>
                <a:cs typeface="Times New Roman"/>
              </a:rPr>
              <a:t>	</a:t>
            </a:r>
            <a:r>
              <a:rPr sz="2600" spc="5" dirty="0">
                <a:solidFill>
                  <a:srgbClr val="FF0065"/>
                </a:solidFill>
                <a:latin typeface="Times New Roman"/>
                <a:cs typeface="Times New Roman"/>
              </a:rPr>
              <a:t>(</a:t>
            </a:r>
            <a:r>
              <a:rPr sz="2600" spc="20" dirty="0">
                <a:solidFill>
                  <a:srgbClr val="FF0065"/>
                </a:solidFill>
                <a:latin typeface="Times New Roman"/>
                <a:cs typeface="Times New Roman"/>
              </a:rPr>
              <a:t>ou vo</a:t>
            </a:r>
            <a:r>
              <a:rPr sz="2600" spc="5" dirty="0">
                <a:solidFill>
                  <a:srgbClr val="FF0065"/>
                </a:solidFill>
                <a:latin typeface="Times New Roman"/>
                <a:cs typeface="Times New Roman"/>
              </a:rPr>
              <a:t>i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d)</a:t>
            </a:r>
            <a:r>
              <a:rPr sz="2600" dirty="0">
                <a:solidFill>
                  <a:srgbClr val="FF0065"/>
                </a:solidFill>
                <a:latin typeface="Times New Roman"/>
                <a:cs typeface="Times New Roman"/>
              </a:rPr>
              <a:t>	</a:t>
            </a:r>
            <a:r>
              <a:rPr sz="2600" spc="20" dirty="0">
                <a:solidFill>
                  <a:srgbClr val="006FC0"/>
                </a:solidFill>
                <a:latin typeface="Times New Roman"/>
                <a:cs typeface="Times New Roman"/>
              </a:rPr>
              <a:t>no</a:t>
            </a:r>
            <a:r>
              <a:rPr sz="2600" spc="25" dirty="0">
                <a:solidFill>
                  <a:srgbClr val="006FC0"/>
                </a:solidFill>
                <a:latin typeface="Times New Roman"/>
                <a:cs typeface="Times New Roman"/>
              </a:rPr>
              <a:t>m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_de_</a:t>
            </a:r>
            <a:r>
              <a:rPr sz="2600" spc="5" dirty="0">
                <a:solidFill>
                  <a:srgbClr val="006FC0"/>
                </a:solidFill>
                <a:latin typeface="Times New Roman"/>
                <a:cs typeface="Times New Roman"/>
              </a:rPr>
              <a:t>l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a_</a:t>
            </a:r>
            <a:r>
              <a:rPr sz="2600" spc="5" dirty="0">
                <a:solidFill>
                  <a:srgbClr val="006FC0"/>
                </a:solidFill>
                <a:latin typeface="Times New Roman"/>
                <a:cs typeface="Times New Roman"/>
              </a:rPr>
              <a:t>f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onc</a:t>
            </a:r>
            <a:r>
              <a:rPr sz="2600" spc="5" dirty="0">
                <a:solidFill>
                  <a:srgbClr val="006FC0"/>
                </a:solidFill>
                <a:latin typeface="Times New Roman"/>
                <a:cs typeface="Times New Roman"/>
              </a:rPr>
              <a:t>ti</a:t>
            </a:r>
            <a:r>
              <a:rPr sz="2600" spc="20" dirty="0">
                <a:solidFill>
                  <a:srgbClr val="006FC0"/>
                </a:solidFill>
                <a:latin typeface="Times New Roman"/>
                <a:cs typeface="Times New Roman"/>
              </a:rPr>
              <a:t>on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4265166"/>
            <a:ext cx="268033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5" dirty="0">
                <a:latin typeface="Times New Roman"/>
                <a:cs typeface="Times New Roman"/>
              </a:rPr>
              <a:t>Bloc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d‘instructions;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2248" y="1781047"/>
            <a:ext cx="8945880" cy="10877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5080" indent="-378460">
              <a:lnSpc>
                <a:spcPct val="101499"/>
              </a:lnSpc>
              <a:spcBef>
                <a:spcPts val="9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aussi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créer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sans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arguments.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Il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suffit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ne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rien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écrire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entre les</a:t>
            </a:r>
            <a:r>
              <a:rPr sz="2600" spc="15" dirty="0">
                <a:latin typeface="Times New Roman"/>
                <a:cs typeface="Times New Roman"/>
              </a:rPr>
              <a:t> parenthèses.</a:t>
            </a:r>
            <a:endParaRPr sz="2600">
              <a:latin typeface="Times New Roman"/>
              <a:cs typeface="Times New Roman"/>
            </a:endParaRPr>
          </a:p>
          <a:p>
            <a:pPr marL="5923915">
              <a:lnSpc>
                <a:spcPts val="2030"/>
              </a:lnSpc>
            </a:pPr>
            <a:r>
              <a:rPr sz="1950" spc="10" dirty="0">
                <a:latin typeface="Times New Roman"/>
                <a:cs typeface="Times New Roman"/>
              </a:rPr>
              <a:t>Liste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des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paramètres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50524" y="4320030"/>
            <a:ext cx="4765675" cy="1047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déclarations</a:t>
            </a:r>
            <a:r>
              <a:rPr sz="22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locales</a:t>
            </a:r>
            <a:r>
              <a:rPr sz="22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si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nécessaire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n’est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pas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obligatoire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si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le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type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//retour</a:t>
            </a:r>
            <a:r>
              <a:rPr sz="2200" spc="-6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65"/>
                </a:solidFill>
                <a:latin typeface="Times New Roman"/>
                <a:cs typeface="Times New Roman"/>
              </a:rPr>
              <a:t>void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2248" y="5339586"/>
            <a:ext cx="6960234" cy="16363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Pour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appeler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cette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suffit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d’écrire:</a:t>
            </a:r>
            <a:endParaRPr sz="2600">
              <a:latin typeface="Times New Roman"/>
              <a:cs typeface="Times New Roman"/>
            </a:endParaRPr>
          </a:p>
          <a:p>
            <a:pPr marL="2554605">
              <a:lnSpc>
                <a:spcPct val="100000"/>
              </a:lnSpc>
              <a:spcBef>
                <a:spcPts val="50"/>
              </a:spcBef>
            </a:pPr>
            <a:r>
              <a:rPr sz="2600" spc="10" dirty="0">
                <a:solidFill>
                  <a:srgbClr val="FF0065"/>
                </a:solidFill>
                <a:latin typeface="Times New Roman"/>
                <a:cs typeface="Times New Roman"/>
              </a:rPr>
              <a:t>[résultat=]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nom_de_la_fonction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39186" y="2838703"/>
            <a:ext cx="4603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20" dirty="0">
                <a:latin typeface="Times New Roman"/>
                <a:cs typeface="Times New Roman"/>
              </a:rPr>
              <a:t>v</a:t>
            </a:r>
            <a:r>
              <a:rPr sz="1950" spc="5" dirty="0">
                <a:latin typeface="Times New Roman"/>
                <a:cs typeface="Times New Roman"/>
              </a:rPr>
              <a:t>i</a:t>
            </a:r>
            <a:r>
              <a:rPr sz="1950" spc="20" dirty="0">
                <a:latin typeface="Times New Roman"/>
                <a:cs typeface="Times New Roman"/>
              </a:rPr>
              <a:t>d</a:t>
            </a:r>
            <a:r>
              <a:rPr sz="1950" spc="10" dirty="0">
                <a:latin typeface="Times New Roman"/>
                <a:cs typeface="Times New Roman"/>
              </a:rPr>
              <a:t>e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96334" y="2420112"/>
            <a:ext cx="2312035" cy="1118870"/>
            <a:chOff x="6696334" y="2420112"/>
            <a:chExt cx="2312035" cy="1118870"/>
          </a:xfrm>
        </p:grpSpPr>
        <p:sp>
          <p:nvSpPr>
            <p:cNvPr id="13" name="object 13"/>
            <p:cNvSpPr/>
            <p:nvPr/>
          </p:nvSpPr>
          <p:spPr>
            <a:xfrm>
              <a:off x="6696334" y="2420112"/>
              <a:ext cx="2312035" cy="812800"/>
            </a:xfrm>
            <a:custGeom>
              <a:avLst/>
              <a:gdLst/>
              <a:ahLst/>
              <a:cxnLst/>
              <a:rect l="l" t="t" r="r" b="b"/>
              <a:pathLst>
                <a:path w="2312034" h="812800">
                  <a:moveTo>
                    <a:pt x="2311908" y="807720"/>
                  </a:moveTo>
                  <a:lnTo>
                    <a:pt x="2311908" y="4572"/>
                  </a:lnTo>
                  <a:lnTo>
                    <a:pt x="2307336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807720"/>
                  </a:lnTo>
                  <a:lnTo>
                    <a:pt x="4572" y="812292"/>
                  </a:lnTo>
                  <a:lnTo>
                    <a:pt x="9144" y="812292"/>
                  </a:lnTo>
                  <a:lnTo>
                    <a:pt x="9144" y="19812"/>
                  </a:lnTo>
                  <a:lnTo>
                    <a:pt x="19812" y="10668"/>
                  </a:lnTo>
                  <a:lnTo>
                    <a:pt x="19812" y="19812"/>
                  </a:lnTo>
                  <a:lnTo>
                    <a:pt x="2290572" y="19812"/>
                  </a:lnTo>
                  <a:lnTo>
                    <a:pt x="2290572" y="10668"/>
                  </a:lnTo>
                  <a:lnTo>
                    <a:pt x="2301240" y="19812"/>
                  </a:lnTo>
                  <a:lnTo>
                    <a:pt x="2301240" y="812292"/>
                  </a:lnTo>
                  <a:lnTo>
                    <a:pt x="2307336" y="812292"/>
                  </a:lnTo>
                  <a:lnTo>
                    <a:pt x="2311908" y="807720"/>
                  </a:lnTo>
                  <a:close/>
                </a:path>
                <a:path w="2312034" h="812800">
                  <a:moveTo>
                    <a:pt x="19812" y="19812"/>
                  </a:moveTo>
                  <a:lnTo>
                    <a:pt x="19812" y="10668"/>
                  </a:lnTo>
                  <a:lnTo>
                    <a:pt x="9144" y="19812"/>
                  </a:lnTo>
                  <a:lnTo>
                    <a:pt x="19812" y="19812"/>
                  </a:lnTo>
                  <a:close/>
                </a:path>
                <a:path w="2312034" h="812800">
                  <a:moveTo>
                    <a:pt x="19812" y="790956"/>
                  </a:moveTo>
                  <a:lnTo>
                    <a:pt x="19812" y="19812"/>
                  </a:lnTo>
                  <a:lnTo>
                    <a:pt x="9144" y="19812"/>
                  </a:lnTo>
                  <a:lnTo>
                    <a:pt x="9144" y="790956"/>
                  </a:lnTo>
                  <a:lnTo>
                    <a:pt x="19812" y="790956"/>
                  </a:lnTo>
                  <a:close/>
                </a:path>
                <a:path w="2312034" h="812800">
                  <a:moveTo>
                    <a:pt x="2301240" y="790956"/>
                  </a:moveTo>
                  <a:lnTo>
                    <a:pt x="9144" y="790956"/>
                  </a:lnTo>
                  <a:lnTo>
                    <a:pt x="19812" y="801624"/>
                  </a:lnTo>
                  <a:lnTo>
                    <a:pt x="19812" y="812292"/>
                  </a:lnTo>
                  <a:lnTo>
                    <a:pt x="2290572" y="812292"/>
                  </a:lnTo>
                  <a:lnTo>
                    <a:pt x="2290572" y="801624"/>
                  </a:lnTo>
                  <a:lnTo>
                    <a:pt x="2301240" y="790956"/>
                  </a:lnTo>
                  <a:close/>
                </a:path>
                <a:path w="2312034" h="812800">
                  <a:moveTo>
                    <a:pt x="19812" y="812292"/>
                  </a:moveTo>
                  <a:lnTo>
                    <a:pt x="19812" y="801624"/>
                  </a:lnTo>
                  <a:lnTo>
                    <a:pt x="9144" y="790956"/>
                  </a:lnTo>
                  <a:lnTo>
                    <a:pt x="9144" y="812292"/>
                  </a:lnTo>
                  <a:lnTo>
                    <a:pt x="19812" y="812292"/>
                  </a:lnTo>
                  <a:close/>
                </a:path>
                <a:path w="2312034" h="812800">
                  <a:moveTo>
                    <a:pt x="2301240" y="19812"/>
                  </a:moveTo>
                  <a:lnTo>
                    <a:pt x="2290572" y="10668"/>
                  </a:lnTo>
                  <a:lnTo>
                    <a:pt x="2290572" y="19812"/>
                  </a:lnTo>
                  <a:lnTo>
                    <a:pt x="2301240" y="19812"/>
                  </a:lnTo>
                  <a:close/>
                </a:path>
                <a:path w="2312034" h="812800">
                  <a:moveTo>
                    <a:pt x="2301240" y="790956"/>
                  </a:moveTo>
                  <a:lnTo>
                    <a:pt x="2301240" y="19812"/>
                  </a:lnTo>
                  <a:lnTo>
                    <a:pt x="2290572" y="19812"/>
                  </a:lnTo>
                  <a:lnTo>
                    <a:pt x="2290572" y="790956"/>
                  </a:lnTo>
                  <a:lnTo>
                    <a:pt x="2301240" y="790956"/>
                  </a:lnTo>
                  <a:close/>
                </a:path>
                <a:path w="2312034" h="812800">
                  <a:moveTo>
                    <a:pt x="2301240" y="812292"/>
                  </a:moveTo>
                  <a:lnTo>
                    <a:pt x="2301240" y="790956"/>
                  </a:lnTo>
                  <a:lnTo>
                    <a:pt x="2290572" y="801624"/>
                  </a:lnTo>
                  <a:lnTo>
                    <a:pt x="2290572" y="812292"/>
                  </a:lnTo>
                  <a:lnTo>
                    <a:pt x="2301240" y="812292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732654" y="3221736"/>
              <a:ext cx="109855" cy="317500"/>
            </a:xfrm>
            <a:custGeom>
              <a:avLst/>
              <a:gdLst/>
              <a:ahLst/>
              <a:cxnLst/>
              <a:rect l="l" t="t" r="r" b="b"/>
              <a:pathLst>
                <a:path w="109854" h="317500">
                  <a:moveTo>
                    <a:pt x="42983" y="285826"/>
                  </a:moveTo>
                  <a:lnTo>
                    <a:pt x="10668" y="216408"/>
                  </a:lnTo>
                  <a:lnTo>
                    <a:pt x="9144" y="213360"/>
                  </a:lnTo>
                  <a:lnTo>
                    <a:pt x="6096" y="211836"/>
                  </a:lnTo>
                  <a:lnTo>
                    <a:pt x="3048" y="213360"/>
                  </a:lnTo>
                  <a:lnTo>
                    <a:pt x="1524" y="214884"/>
                  </a:lnTo>
                  <a:lnTo>
                    <a:pt x="0" y="217932"/>
                  </a:lnTo>
                  <a:lnTo>
                    <a:pt x="1524" y="220980"/>
                  </a:lnTo>
                  <a:lnTo>
                    <a:pt x="41148" y="307059"/>
                  </a:lnTo>
                  <a:lnTo>
                    <a:pt x="41148" y="306324"/>
                  </a:lnTo>
                  <a:lnTo>
                    <a:pt x="42983" y="285826"/>
                  </a:lnTo>
                  <a:close/>
                </a:path>
                <a:path w="109854" h="317500">
                  <a:moveTo>
                    <a:pt x="47770" y="296110"/>
                  </a:moveTo>
                  <a:lnTo>
                    <a:pt x="42983" y="285826"/>
                  </a:lnTo>
                  <a:lnTo>
                    <a:pt x="41148" y="306324"/>
                  </a:lnTo>
                  <a:lnTo>
                    <a:pt x="42672" y="306324"/>
                  </a:lnTo>
                  <a:lnTo>
                    <a:pt x="42672" y="303276"/>
                  </a:lnTo>
                  <a:lnTo>
                    <a:pt x="47770" y="296110"/>
                  </a:lnTo>
                  <a:close/>
                </a:path>
                <a:path w="109854" h="317500">
                  <a:moveTo>
                    <a:pt x="109728" y="228600"/>
                  </a:moveTo>
                  <a:lnTo>
                    <a:pt x="109728" y="224028"/>
                  </a:lnTo>
                  <a:lnTo>
                    <a:pt x="103632" y="220980"/>
                  </a:lnTo>
                  <a:lnTo>
                    <a:pt x="100584" y="220980"/>
                  </a:lnTo>
                  <a:lnTo>
                    <a:pt x="99060" y="224028"/>
                  </a:lnTo>
                  <a:lnTo>
                    <a:pt x="55188" y="285685"/>
                  </a:lnTo>
                  <a:lnTo>
                    <a:pt x="53340" y="306324"/>
                  </a:lnTo>
                  <a:lnTo>
                    <a:pt x="41148" y="306324"/>
                  </a:lnTo>
                  <a:lnTo>
                    <a:pt x="41148" y="307059"/>
                  </a:lnTo>
                  <a:lnTo>
                    <a:pt x="45720" y="316992"/>
                  </a:lnTo>
                  <a:lnTo>
                    <a:pt x="108204" y="230124"/>
                  </a:lnTo>
                  <a:lnTo>
                    <a:pt x="109728" y="228600"/>
                  </a:lnTo>
                  <a:close/>
                </a:path>
                <a:path w="109854" h="317500">
                  <a:moveTo>
                    <a:pt x="51816" y="304800"/>
                  </a:moveTo>
                  <a:lnTo>
                    <a:pt x="47770" y="296110"/>
                  </a:lnTo>
                  <a:lnTo>
                    <a:pt x="42672" y="303276"/>
                  </a:lnTo>
                  <a:lnTo>
                    <a:pt x="51816" y="304800"/>
                  </a:lnTo>
                  <a:close/>
                </a:path>
                <a:path w="109854" h="317500">
                  <a:moveTo>
                    <a:pt x="51816" y="306324"/>
                  </a:moveTo>
                  <a:lnTo>
                    <a:pt x="51816" y="304800"/>
                  </a:lnTo>
                  <a:lnTo>
                    <a:pt x="42672" y="303276"/>
                  </a:lnTo>
                  <a:lnTo>
                    <a:pt x="42672" y="306324"/>
                  </a:lnTo>
                  <a:lnTo>
                    <a:pt x="51816" y="306324"/>
                  </a:lnTo>
                  <a:close/>
                </a:path>
                <a:path w="109854" h="317500">
                  <a:moveTo>
                    <a:pt x="80772" y="0"/>
                  </a:moveTo>
                  <a:lnTo>
                    <a:pt x="68580" y="0"/>
                  </a:lnTo>
                  <a:lnTo>
                    <a:pt x="42983" y="285826"/>
                  </a:lnTo>
                  <a:lnTo>
                    <a:pt x="47770" y="296110"/>
                  </a:lnTo>
                  <a:lnTo>
                    <a:pt x="55188" y="285685"/>
                  </a:lnTo>
                  <a:lnTo>
                    <a:pt x="80772" y="0"/>
                  </a:lnTo>
                  <a:close/>
                </a:path>
                <a:path w="109854" h="317500">
                  <a:moveTo>
                    <a:pt x="55188" y="285685"/>
                  </a:moveTo>
                  <a:lnTo>
                    <a:pt x="47770" y="296110"/>
                  </a:lnTo>
                  <a:lnTo>
                    <a:pt x="51816" y="304800"/>
                  </a:lnTo>
                  <a:lnTo>
                    <a:pt x="51816" y="306324"/>
                  </a:lnTo>
                  <a:lnTo>
                    <a:pt x="53340" y="306324"/>
                  </a:lnTo>
                  <a:lnTo>
                    <a:pt x="55188" y="285685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54610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105" dirty="0"/>
              <a:t>a</a:t>
            </a:r>
            <a:r>
              <a:rPr spc="-305" dirty="0"/>
              <a:t>n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0917" y="5805929"/>
            <a:ext cx="314896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20" dirty="0">
                <a:latin typeface="Times New Roman"/>
                <a:cs typeface="Times New Roman"/>
              </a:rPr>
              <a:t>name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=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afficherNom()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69623" y="5860793"/>
            <a:ext cx="455803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Comme</a:t>
            </a:r>
            <a:r>
              <a:rPr sz="220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renvoie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valeur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0912" y="6209789"/>
            <a:ext cx="9211945" cy="1165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51075">
              <a:lnSpc>
                <a:spcPct val="100000"/>
              </a:lnSpc>
              <a:spcBef>
                <a:spcPts val="10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On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l'appelle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en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mettant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valeur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retour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dans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une variable</a:t>
            </a:r>
            <a:endParaRPr sz="2200">
              <a:latin typeface="Times New Roman"/>
              <a:cs typeface="Times New Roman"/>
            </a:endParaRPr>
          </a:p>
          <a:p>
            <a:pPr marL="12700" marR="2235200">
              <a:lnSpc>
                <a:spcPts val="3180"/>
              </a:lnSpc>
              <a:spcBef>
                <a:spcPts val="70"/>
              </a:spcBef>
              <a:tabLst>
                <a:tab pos="4018915" algn="l"/>
              </a:tabLst>
            </a:pP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cout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"Votre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nom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saisi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	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name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endl</a:t>
            </a:r>
            <a:r>
              <a:rPr sz="2600" b="1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600" b="1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0912" y="1432569"/>
            <a:ext cx="5386070" cy="439737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305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  <a:p>
            <a:pPr marL="95885" marR="1774189">
              <a:lnSpc>
                <a:spcPct val="101499"/>
              </a:lnSpc>
              <a:spcBef>
                <a:spcPts val="1005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string </a:t>
            </a:r>
            <a:r>
              <a:rPr sz="2600" spc="10" dirty="0">
                <a:solidFill>
                  <a:srgbClr val="006FC0"/>
                </a:solidFill>
                <a:latin typeface="Times New Roman"/>
                <a:cs typeface="Times New Roman"/>
              </a:rPr>
              <a:t>afficherNom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 )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{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string</a:t>
            </a:r>
            <a:r>
              <a:rPr sz="260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nom("Marrakchi");</a:t>
            </a:r>
            <a:endParaRPr sz="2600">
              <a:latin typeface="Times New Roman"/>
              <a:cs typeface="Times New Roman"/>
            </a:endParaRPr>
          </a:p>
          <a:p>
            <a:pPr marL="95885" marR="5080">
              <a:lnSpc>
                <a:spcPct val="101499"/>
              </a:lnSpc>
              <a:spcBef>
                <a:spcPts val="10"/>
              </a:spcBef>
            </a:pP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cout</a:t>
            </a:r>
            <a:r>
              <a:rPr sz="2600" b="1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"Saisir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votre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nom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endl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600" b="1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cin</a:t>
            </a:r>
            <a:r>
              <a:rPr sz="2600" b="1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&gt;&gt;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nom;</a:t>
            </a:r>
            <a:endParaRPr sz="26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spcBef>
                <a:spcPts val="60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2700" marR="1644650">
              <a:lnSpc>
                <a:spcPts val="3180"/>
              </a:lnSpc>
              <a:spcBef>
                <a:spcPts val="10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la fonction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main()</a:t>
            </a:r>
            <a:r>
              <a:rPr sz="2600" spc="10" dirty="0">
                <a:latin typeface="Times New Roman"/>
                <a:cs typeface="Times New Roman"/>
              </a:rPr>
              <a:t>: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spc="15" dirty="0">
                <a:latin typeface="Times New Roman"/>
                <a:cs typeface="Times New Roman"/>
              </a:rPr>
              <a:t>main()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3050"/>
              </a:lnSpc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string</a:t>
            </a:r>
            <a:r>
              <a:rPr sz="26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name;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54610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105" dirty="0"/>
              <a:t>a</a:t>
            </a:r>
            <a:r>
              <a:rPr spc="-305" dirty="0"/>
              <a:t>n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77999"/>
            <a:ext cx="9015095" cy="33191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305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7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-55" dirty="0">
                <a:latin typeface="Times New Roman"/>
                <a:cs typeface="Times New Roman"/>
              </a:rPr>
              <a:t>Voici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ne possédant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ni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ni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retour: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afficherBonjour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spcBef>
                <a:spcPts val="50"/>
              </a:spcBef>
            </a:pP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cout</a:t>
            </a:r>
            <a:r>
              <a:rPr sz="2600" b="1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"Bonjour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endl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2700" marR="5273675">
              <a:lnSpc>
                <a:spcPts val="3180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la fonction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main()</a:t>
            </a:r>
            <a:r>
              <a:rPr sz="2600" spc="10" dirty="0">
                <a:latin typeface="Times New Roman"/>
                <a:cs typeface="Times New Roman"/>
              </a:rPr>
              <a:t>: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spc="15" dirty="0">
                <a:latin typeface="Times New Roman"/>
                <a:cs typeface="Times New Roman"/>
              </a:rPr>
              <a:t>main()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7528" y="5071362"/>
            <a:ext cx="266890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6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ffi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ch</a:t>
            </a:r>
            <a:r>
              <a:rPr sz="26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erBo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nj</a:t>
            </a:r>
            <a:r>
              <a:rPr sz="26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o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ur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7704" y="5126225"/>
            <a:ext cx="408368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//Comme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ne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renvoie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rien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2248" y="5475221"/>
            <a:ext cx="9375775" cy="1165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141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l'appelle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sans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mettre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valeur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retour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dans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variable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0912" y="1596643"/>
            <a:ext cx="229171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Comparaison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9616" y="2462274"/>
            <a:ext cx="304546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1150" indent="-299085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En-tête</a:t>
            </a:r>
            <a:r>
              <a:rPr sz="26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de</a:t>
            </a:r>
            <a:r>
              <a:rPr sz="26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fonction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29359" y="2462274"/>
            <a:ext cx="3345179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afficherBonjour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9616" y="3266946"/>
            <a:ext cx="341122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1150" indent="-299085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Prototype</a:t>
            </a:r>
            <a:r>
              <a:rPr sz="2600" b="1" spc="-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de</a:t>
            </a:r>
            <a:r>
              <a:rPr sz="2600" b="1" spc="-2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fonction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59839" y="3266946"/>
            <a:ext cx="345694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afficherBonjour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89616" y="4073142"/>
            <a:ext cx="285940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11150" indent="-299085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Appel</a:t>
            </a:r>
            <a:r>
              <a:rPr sz="260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de</a:t>
            </a:r>
            <a:r>
              <a:rPr sz="2600" b="1" spc="-2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fonction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96414" y="4073142"/>
            <a:ext cx="275590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afficherBonjour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9616" y="4879338"/>
            <a:ext cx="4716780" cy="20402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2260" marR="1087120" indent="-289560">
              <a:lnSpc>
                <a:spcPct val="101499"/>
              </a:lnSpc>
              <a:spcBef>
                <a:spcPts val="90"/>
              </a:spcBef>
              <a:buClr>
                <a:srgbClr val="006FC0"/>
              </a:buClr>
              <a:buFont typeface="Wingdings"/>
              <a:buChar char=""/>
              <a:tabLst>
                <a:tab pos="311150" algn="l"/>
                <a:tab pos="311785" algn="l"/>
              </a:tabLst>
            </a:pP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Définition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de fonction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: </a:t>
            </a:r>
            <a:r>
              <a:rPr sz="2600" b="1" spc="-63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afficherBonjour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30226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721360">
              <a:lnSpc>
                <a:spcPct val="100000"/>
              </a:lnSpc>
              <a:spcBef>
                <a:spcPts val="50"/>
              </a:spcBef>
            </a:pP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cout</a:t>
            </a:r>
            <a:r>
              <a:rPr sz="2600" b="1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"Bonjour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4F"/>
                </a:solidFill>
                <a:latin typeface="Times New Roman"/>
                <a:cs typeface="Times New Roman"/>
              </a:rPr>
              <a:t>endl</a:t>
            </a:r>
            <a:r>
              <a:rPr sz="2600" b="1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30226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3748404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290" dirty="0"/>
              <a:t>e</a:t>
            </a:r>
            <a:r>
              <a:rPr spc="-305" dirty="0"/>
              <a:t>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40" dirty="0"/>
              <a:t>C</a:t>
            </a:r>
            <a:r>
              <a:rPr spc="340" dirty="0"/>
              <a:t>++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4544446" y="2563368"/>
            <a:ext cx="1929764" cy="289560"/>
            <a:chOff x="4544446" y="2563368"/>
            <a:chExt cx="1929764" cy="289560"/>
          </a:xfrm>
        </p:grpSpPr>
        <p:sp>
          <p:nvSpPr>
            <p:cNvPr id="14" name="object 14"/>
            <p:cNvSpPr/>
            <p:nvPr/>
          </p:nvSpPr>
          <p:spPr>
            <a:xfrm>
              <a:off x="4553590" y="2589276"/>
              <a:ext cx="1905000" cy="238125"/>
            </a:xfrm>
            <a:custGeom>
              <a:avLst/>
              <a:gdLst/>
              <a:ahLst/>
              <a:cxnLst/>
              <a:rect l="l" t="t" r="r" b="b"/>
              <a:pathLst>
                <a:path w="1905000" h="238125">
                  <a:moveTo>
                    <a:pt x="1904999" y="118871"/>
                  </a:moveTo>
                  <a:lnTo>
                    <a:pt x="1786127" y="0"/>
                  </a:lnTo>
                  <a:lnTo>
                    <a:pt x="1786127" y="59435"/>
                  </a:lnTo>
                  <a:lnTo>
                    <a:pt x="0" y="59435"/>
                  </a:lnTo>
                  <a:lnTo>
                    <a:pt x="0" y="178307"/>
                  </a:lnTo>
                  <a:lnTo>
                    <a:pt x="1786127" y="178307"/>
                  </a:lnTo>
                  <a:lnTo>
                    <a:pt x="1786127" y="237743"/>
                  </a:lnTo>
                  <a:lnTo>
                    <a:pt x="1904999" y="118871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44446" y="2563368"/>
              <a:ext cx="1929764" cy="289560"/>
            </a:xfrm>
            <a:custGeom>
              <a:avLst/>
              <a:gdLst/>
              <a:ahLst/>
              <a:cxnLst/>
              <a:rect l="l" t="t" r="r" b="b"/>
              <a:pathLst>
                <a:path w="1929764" h="289560">
                  <a:moveTo>
                    <a:pt x="1795272" y="74676"/>
                  </a:moveTo>
                  <a:lnTo>
                    <a:pt x="0" y="74676"/>
                  </a:lnTo>
                  <a:lnTo>
                    <a:pt x="0" y="214884"/>
                  </a:lnTo>
                  <a:lnTo>
                    <a:pt x="9144" y="214884"/>
                  </a:lnTo>
                  <a:lnTo>
                    <a:pt x="9144" y="96012"/>
                  </a:lnTo>
                  <a:lnTo>
                    <a:pt x="19812" y="85344"/>
                  </a:lnTo>
                  <a:lnTo>
                    <a:pt x="19812" y="96012"/>
                  </a:lnTo>
                  <a:lnTo>
                    <a:pt x="1784604" y="96012"/>
                  </a:lnTo>
                  <a:lnTo>
                    <a:pt x="1784604" y="85344"/>
                  </a:lnTo>
                  <a:lnTo>
                    <a:pt x="1795272" y="74676"/>
                  </a:lnTo>
                  <a:close/>
                </a:path>
                <a:path w="1929764" h="289560">
                  <a:moveTo>
                    <a:pt x="19812" y="96012"/>
                  </a:moveTo>
                  <a:lnTo>
                    <a:pt x="19812" y="85344"/>
                  </a:lnTo>
                  <a:lnTo>
                    <a:pt x="9144" y="96012"/>
                  </a:lnTo>
                  <a:lnTo>
                    <a:pt x="19812" y="96012"/>
                  </a:lnTo>
                  <a:close/>
                </a:path>
                <a:path w="1929764" h="289560">
                  <a:moveTo>
                    <a:pt x="19812" y="193548"/>
                  </a:moveTo>
                  <a:lnTo>
                    <a:pt x="19812" y="96012"/>
                  </a:lnTo>
                  <a:lnTo>
                    <a:pt x="9144" y="96012"/>
                  </a:lnTo>
                  <a:lnTo>
                    <a:pt x="9144" y="193548"/>
                  </a:lnTo>
                  <a:lnTo>
                    <a:pt x="19812" y="193548"/>
                  </a:lnTo>
                  <a:close/>
                </a:path>
                <a:path w="1929764" h="289560">
                  <a:moveTo>
                    <a:pt x="1805940" y="237744"/>
                  </a:moveTo>
                  <a:lnTo>
                    <a:pt x="1805940" y="193548"/>
                  </a:lnTo>
                  <a:lnTo>
                    <a:pt x="9144" y="193548"/>
                  </a:lnTo>
                  <a:lnTo>
                    <a:pt x="19812" y="204216"/>
                  </a:lnTo>
                  <a:lnTo>
                    <a:pt x="19812" y="214884"/>
                  </a:lnTo>
                  <a:lnTo>
                    <a:pt x="1784604" y="214884"/>
                  </a:lnTo>
                  <a:lnTo>
                    <a:pt x="1784604" y="204216"/>
                  </a:lnTo>
                  <a:lnTo>
                    <a:pt x="1795272" y="214884"/>
                  </a:lnTo>
                  <a:lnTo>
                    <a:pt x="1795272" y="248412"/>
                  </a:lnTo>
                  <a:lnTo>
                    <a:pt x="1805940" y="237744"/>
                  </a:lnTo>
                  <a:close/>
                </a:path>
                <a:path w="1929764" h="289560">
                  <a:moveTo>
                    <a:pt x="19812" y="214884"/>
                  </a:moveTo>
                  <a:lnTo>
                    <a:pt x="19812" y="204216"/>
                  </a:lnTo>
                  <a:lnTo>
                    <a:pt x="9144" y="193548"/>
                  </a:lnTo>
                  <a:lnTo>
                    <a:pt x="9144" y="214884"/>
                  </a:lnTo>
                  <a:lnTo>
                    <a:pt x="19812" y="214884"/>
                  </a:lnTo>
                  <a:close/>
                </a:path>
                <a:path w="1929764" h="289560">
                  <a:moveTo>
                    <a:pt x="1929384" y="144780"/>
                  </a:moveTo>
                  <a:lnTo>
                    <a:pt x="1784604" y="0"/>
                  </a:lnTo>
                  <a:lnTo>
                    <a:pt x="1784604" y="74676"/>
                  </a:lnTo>
                  <a:lnTo>
                    <a:pt x="1787652" y="74676"/>
                  </a:lnTo>
                  <a:lnTo>
                    <a:pt x="1787652" y="33528"/>
                  </a:lnTo>
                  <a:lnTo>
                    <a:pt x="1805940" y="25908"/>
                  </a:lnTo>
                  <a:lnTo>
                    <a:pt x="1805940" y="51816"/>
                  </a:lnTo>
                  <a:lnTo>
                    <a:pt x="1898904" y="144780"/>
                  </a:lnTo>
                  <a:lnTo>
                    <a:pt x="1906524" y="137160"/>
                  </a:lnTo>
                  <a:lnTo>
                    <a:pt x="1906524" y="167640"/>
                  </a:lnTo>
                  <a:lnTo>
                    <a:pt x="1929384" y="144780"/>
                  </a:lnTo>
                  <a:close/>
                </a:path>
                <a:path w="1929764" h="289560">
                  <a:moveTo>
                    <a:pt x="1795272" y="96012"/>
                  </a:moveTo>
                  <a:lnTo>
                    <a:pt x="1795272" y="74676"/>
                  </a:lnTo>
                  <a:lnTo>
                    <a:pt x="1784604" y="85344"/>
                  </a:lnTo>
                  <a:lnTo>
                    <a:pt x="1784604" y="96012"/>
                  </a:lnTo>
                  <a:lnTo>
                    <a:pt x="1795272" y="96012"/>
                  </a:lnTo>
                  <a:close/>
                </a:path>
                <a:path w="1929764" h="289560">
                  <a:moveTo>
                    <a:pt x="1795272" y="214884"/>
                  </a:moveTo>
                  <a:lnTo>
                    <a:pt x="1784604" y="204216"/>
                  </a:lnTo>
                  <a:lnTo>
                    <a:pt x="1784604" y="214884"/>
                  </a:lnTo>
                  <a:lnTo>
                    <a:pt x="1795272" y="214884"/>
                  </a:lnTo>
                  <a:close/>
                </a:path>
                <a:path w="1929764" h="289560">
                  <a:moveTo>
                    <a:pt x="1795272" y="248412"/>
                  </a:moveTo>
                  <a:lnTo>
                    <a:pt x="1795272" y="214884"/>
                  </a:lnTo>
                  <a:lnTo>
                    <a:pt x="1784604" y="214884"/>
                  </a:lnTo>
                  <a:lnTo>
                    <a:pt x="1784604" y="289560"/>
                  </a:lnTo>
                  <a:lnTo>
                    <a:pt x="1787652" y="286512"/>
                  </a:lnTo>
                  <a:lnTo>
                    <a:pt x="1787652" y="256032"/>
                  </a:lnTo>
                  <a:lnTo>
                    <a:pt x="1795272" y="248412"/>
                  </a:lnTo>
                  <a:close/>
                </a:path>
                <a:path w="1929764" h="289560">
                  <a:moveTo>
                    <a:pt x="1805940" y="51816"/>
                  </a:moveTo>
                  <a:lnTo>
                    <a:pt x="1805940" y="25908"/>
                  </a:lnTo>
                  <a:lnTo>
                    <a:pt x="1787652" y="33528"/>
                  </a:lnTo>
                  <a:lnTo>
                    <a:pt x="1805940" y="51816"/>
                  </a:lnTo>
                  <a:close/>
                </a:path>
                <a:path w="1929764" h="289560">
                  <a:moveTo>
                    <a:pt x="1805940" y="96012"/>
                  </a:moveTo>
                  <a:lnTo>
                    <a:pt x="1805940" y="51816"/>
                  </a:lnTo>
                  <a:lnTo>
                    <a:pt x="1787652" y="33528"/>
                  </a:lnTo>
                  <a:lnTo>
                    <a:pt x="1787652" y="74676"/>
                  </a:lnTo>
                  <a:lnTo>
                    <a:pt x="1795272" y="74676"/>
                  </a:lnTo>
                  <a:lnTo>
                    <a:pt x="1795272" y="96012"/>
                  </a:lnTo>
                  <a:lnTo>
                    <a:pt x="1805940" y="96012"/>
                  </a:lnTo>
                  <a:close/>
                </a:path>
                <a:path w="1929764" h="289560">
                  <a:moveTo>
                    <a:pt x="1906524" y="167640"/>
                  </a:moveTo>
                  <a:lnTo>
                    <a:pt x="1906524" y="152400"/>
                  </a:lnTo>
                  <a:lnTo>
                    <a:pt x="1898904" y="144780"/>
                  </a:lnTo>
                  <a:lnTo>
                    <a:pt x="1787652" y="256032"/>
                  </a:lnTo>
                  <a:lnTo>
                    <a:pt x="1805940" y="263652"/>
                  </a:lnTo>
                  <a:lnTo>
                    <a:pt x="1805940" y="268224"/>
                  </a:lnTo>
                  <a:lnTo>
                    <a:pt x="1906524" y="167640"/>
                  </a:lnTo>
                  <a:close/>
                </a:path>
                <a:path w="1929764" h="289560">
                  <a:moveTo>
                    <a:pt x="1805940" y="268224"/>
                  </a:moveTo>
                  <a:lnTo>
                    <a:pt x="1805940" y="263652"/>
                  </a:lnTo>
                  <a:lnTo>
                    <a:pt x="1787652" y="256032"/>
                  </a:lnTo>
                  <a:lnTo>
                    <a:pt x="1787652" y="286512"/>
                  </a:lnTo>
                  <a:lnTo>
                    <a:pt x="1805940" y="268224"/>
                  </a:lnTo>
                  <a:close/>
                </a:path>
                <a:path w="1929764" h="289560">
                  <a:moveTo>
                    <a:pt x="1906524" y="152400"/>
                  </a:moveTo>
                  <a:lnTo>
                    <a:pt x="1906524" y="137160"/>
                  </a:lnTo>
                  <a:lnTo>
                    <a:pt x="1898904" y="144780"/>
                  </a:lnTo>
                  <a:lnTo>
                    <a:pt x="1906524" y="152400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712086" y="3436620"/>
            <a:ext cx="1929764" cy="288290"/>
            <a:chOff x="4712086" y="3436620"/>
            <a:chExt cx="1929764" cy="288290"/>
          </a:xfrm>
        </p:grpSpPr>
        <p:sp>
          <p:nvSpPr>
            <p:cNvPr id="17" name="object 17"/>
            <p:cNvSpPr/>
            <p:nvPr/>
          </p:nvSpPr>
          <p:spPr>
            <a:xfrm>
              <a:off x="4722754" y="3461003"/>
              <a:ext cx="1903730" cy="239395"/>
            </a:xfrm>
            <a:custGeom>
              <a:avLst/>
              <a:gdLst/>
              <a:ahLst/>
              <a:cxnLst/>
              <a:rect l="l" t="t" r="r" b="b"/>
              <a:pathLst>
                <a:path w="1903729" h="239395">
                  <a:moveTo>
                    <a:pt x="1903475" y="118871"/>
                  </a:moveTo>
                  <a:lnTo>
                    <a:pt x="1784603" y="0"/>
                  </a:lnTo>
                  <a:lnTo>
                    <a:pt x="1784603" y="59435"/>
                  </a:lnTo>
                  <a:lnTo>
                    <a:pt x="0" y="59435"/>
                  </a:lnTo>
                  <a:lnTo>
                    <a:pt x="0" y="179831"/>
                  </a:lnTo>
                  <a:lnTo>
                    <a:pt x="1784603" y="179831"/>
                  </a:lnTo>
                  <a:lnTo>
                    <a:pt x="1784603" y="239267"/>
                  </a:lnTo>
                  <a:lnTo>
                    <a:pt x="1903475" y="118871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12086" y="3436620"/>
              <a:ext cx="1929764" cy="288290"/>
            </a:xfrm>
            <a:custGeom>
              <a:avLst/>
              <a:gdLst/>
              <a:ahLst/>
              <a:cxnLst/>
              <a:rect l="l" t="t" r="r" b="b"/>
              <a:pathLst>
                <a:path w="1929765" h="288289">
                  <a:moveTo>
                    <a:pt x="1795272" y="74676"/>
                  </a:moveTo>
                  <a:lnTo>
                    <a:pt x="0" y="74676"/>
                  </a:lnTo>
                  <a:lnTo>
                    <a:pt x="0" y="213360"/>
                  </a:lnTo>
                  <a:lnTo>
                    <a:pt x="10668" y="213360"/>
                  </a:lnTo>
                  <a:lnTo>
                    <a:pt x="10668" y="94488"/>
                  </a:lnTo>
                  <a:lnTo>
                    <a:pt x="19812" y="83820"/>
                  </a:lnTo>
                  <a:lnTo>
                    <a:pt x="19812" y="94488"/>
                  </a:lnTo>
                  <a:lnTo>
                    <a:pt x="1784604" y="94488"/>
                  </a:lnTo>
                  <a:lnTo>
                    <a:pt x="1784604" y="83820"/>
                  </a:lnTo>
                  <a:lnTo>
                    <a:pt x="1795272" y="74676"/>
                  </a:lnTo>
                  <a:close/>
                </a:path>
                <a:path w="1929765" h="288289">
                  <a:moveTo>
                    <a:pt x="19812" y="94488"/>
                  </a:moveTo>
                  <a:lnTo>
                    <a:pt x="19812" y="83820"/>
                  </a:lnTo>
                  <a:lnTo>
                    <a:pt x="10668" y="94488"/>
                  </a:lnTo>
                  <a:lnTo>
                    <a:pt x="19812" y="94488"/>
                  </a:lnTo>
                  <a:close/>
                </a:path>
                <a:path w="1929765" h="288289">
                  <a:moveTo>
                    <a:pt x="19812" y="193548"/>
                  </a:moveTo>
                  <a:lnTo>
                    <a:pt x="19812" y="94488"/>
                  </a:lnTo>
                  <a:lnTo>
                    <a:pt x="10668" y="94488"/>
                  </a:lnTo>
                  <a:lnTo>
                    <a:pt x="10668" y="193548"/>
                  </a:lnTo>
                  <a:lnTo>
                    <a:pt x="19812" y="193548"/>
                  </a:lnTo>
                  <a:close/>
                </a:path>
                <a:path w="1929765" h="288289">
                  <a:moveTo>
                    <a:pt x="1805940" y="237744"/>
                  </a:moveTo>
                  <a:lnTo>
                    <a:pt x="1805940" y="193548"/>
                  </a:lnTo>
                  <a:lnTo>
                    <a:pt x="10668" y="193548"/>
                  </a:lnTo>
                  <a:lnTo>
                    <a:pt x="19812" y="204216"/>
                  </a:lnTo>
                  <a:lnTo>
                    <a:pt x="19812" y="213360"/>
                  </a:lnTo>
                  <a:lnTo>
                    <a:pt x="1784604" y="213360"/>
                  </a:lnTo>
                  <a:lnTo>
                    <a:pt x="1784604" y="204216"/>
                  </a:lnTo>
                  <a:lnTo>
                    <a:pt x="1795272" y="213360"/>
                  </a:lnTo>
                  <a:lnTo>
                    <a:pt x="1795272" y="248412"/>
                  </a:lnTo>
                  <a:lnTo>
                    <a:pt x="1805940" y="237744"/>
                  </a:lnTo>
                  <a:close/>
                </a:path>
                <a:path w="1929765" h="288289">
                  <a:moveTo>
                    <a:pt x="19812" y="213360"/>
                  </a:moveTo>
                  <a:lnTo>
                    <a:pt x="19812" y="204216"/>
                  </a:lnTo>
                  <a:lnTo>
                    <a:pt x="10668" y="193548"/>
                  </a:lnTo>
                  <a:lnTo>
                    <a:pt x="10668" y="213360"/>
                  </a:lnTo>
                  <a:lnTo>
                    <a:pt x="19812" y="213360"/>
                  </a:lnTo>
                  <a:close/>
                </a:path>
                <a:path w="1929765" h="288289">
                  <a:moveTo>
                    <a:pt x="1929384" y="143256"/>
                  </a:moveTo>
                  <a:lnTo>
                    <a:pt x="1784604" y="0"/>
                  </a:lnTo>
                  <a:lnTo>
                    <a:pt x="1784604" y="74676"/>
                  </a:lnTo>
                  <a:lnTo>
                    <a:pt x="1787652" y="74676"/>
                  </a:lnTo>
                  <a:lnTo>
                    <a:pt x="1787652" y="32004"/>
                  </a:lnTo>
                  <a:lnTo>
                    <a:pt x="1805940" y="24384"/>
                  </a:lnTo>
                  <a:lnTo>
                    <a:pt x="1805940" y="50292"/>
                  </a:lnTo>
                  <a:lnTo>
                    <a:pt x="1899666" y="144018"/>
                  </a:lnTo>
                  <a:lnTo>
                    <a:pt x="1906524" y="137160"/>
                  </a:lnTo>
                  <a:lnTo>
                    <a:pt x="1906524" y="166116"/>
                  </a:lnTo>
                  <a:lnTo>
                    <a:pt x="1929384" y="143256"/>
                  </a:lnTo>
                  <a:close/>
                </a:path>
                <a:path w="1929765" h="288289">
                  <a:moveTo>
                    <a:pt x="1795272" y="94488"/>
                  </a:moveTo>
                  <a:lnTo>
                    <a:pt x="1795272" y="74676"/>
                  </a:lnTo>
                  <a:lnTo>
                    <a:pt x="1784604" y="83820"/>
                  </a:lnTo>
                  <a:lnTo>
                    <a:pt x="1784604" y="94488"/>
                  </a:lnTo>
                  <a:lnTo>
                    <a:pt x="1795272" y="94488"/>
                  </a:lnTo>
                  <a:close/>
                </a:path>
                <a:path w="1929765" h="288289">
                  <a:moveTo>
                    <a:pt x="1795272" y="213360"/>
                  </a:moveTo>
                  <a:lnTo>
                    <a:pt x="1784604" y="204216"/>
                  </a:lnTo>
                  <a:lnTo>
                    <a:pt x="1784604" y="213360"/>
                  </a:lnTo>
                  <a:lnTo>
                    <a:pt x="1795272" y="213360"/>
                  </a:lnTo>
                  <a:close/>
                </a:path>
                <a:path w="1929765" h="288289">
                  <a:moveTo>
                    <a:pt x="1795272" y="248412"/>
                  </a:moveTo>
                  <a:lnTo>
                    <a:pt x="1795272" y="213360"/>
                  </a:lnTo>
                  <a:lnTo>
                    <a:pt x="1784604" y="213360"/>
                  </a:lnTo>
                  <a:lnTo>
                    <a:pt x="1784604" y="288036"/>
                  </a:lnTo>
                  <a:lnTo>
                    <a:pt x="1787652" y="284988"/>
                  </a:lnTo>
                  <a:lnTo>
                    <a:pt x="1787652" y="256032"/>
                  </a:lnTo>
                  <a:lnTo>
                    <a:pt x="1795272" y="248412"/>
                  </a:lnTo>
                  <a:close/>
                </a:path>
                <a:path w="1929765" h="288289">
                  <a:moveTo>
                    <a:pt x="1805940" y="50292"/>
                  </a:moveTo>
                  <a:lnTo>
                    <a:pt x="1805940" y="24384"/>
                  </a:lnTo>
                  <a:lnTo>
                    <a:pt x="1787652" y="32004"/>
                  </a:lnTo>
                  <a:lnTo>
                    <a:pt x="1805940" y="50292"/>
                  </a:lnTo>
                  <a:close/>
                </a:path>
                <a:path w="1929765" h="288289">
                  <a:moveTo>
                    <a:pt x="1805940" y="94488"/>
                  </a:moveTo>
                  <a:lnTo>
                    <a:pt x="1805940" y="50292"/>
                  </a:lnTo>
                  <a:lnTo>
                    <a:pt x="1787652" y="32004"/>
                  </a:lnTo>
                  <a:lnTo>
                    <a:pt x="1787652" y="74676"/>
                  </a:lnTo>
                  <a:lnTo>
                    <a:pt x="1795272" y="74676"/>
                  </a:lnTo>
                  <a:lnTo>
                    <a:pt x="1795272" y="94488"/>
                  </a:lnTo>
                  <a:lnTo>
                    <a:pt x="1805940" y="94488"/>
                  </a:lnTo>
                  <a:close/>
                </a:path>
                <a:path w="1929765" h="288289">
                  <a:moveTo>
                    <a:pt x="1906524" y="166116"/>
                  </a:moveTo>
                  <a:lnTo>
                    <a:pt x="1906524" y="150876"/>
                  </a:lnTo>
                  <a:lnTo>
                    <a:pt x="1899666" y="144018"/>
                  </a:lnTo>
                  <a:lnTo>
                    <a:pt x="1787652" y="256032"/>
                  </a:lnTo>
                  <a:lnTo>
                    <a:pt x="1805940" y="263652"/>
                  </a:lnTo>
                  <a:lnTo>
                    <a:pt x="1805940" y="266700"/>
                  </a:lnTo>
                  <a:lnTo>
                    <a:pt x="1906524" y="166116"/>
                  </a:lnTo>
                  <a:close/>
                </a:path>
                <a:path w="1929765" h="288289">
                  <a:moveTo>
                    <a:pt x="1805940" y="266700"/>
                  </a:moveTo>
                  <a:lnTo>
                    <a:pt x="1805940" y="263652"/>
                  </a:lnTo>
                  <a:lnTo>
                    <a:pt x="1787652" y="256032"/>
                  </a:lnTo>
                  <a:lnTo>
                    <a:pt x="1787652" y="284988"/>
                  </a:lnTo>
                  <a:lnTo>
                    <a:pt x="1805940" y="266700"/>
                  </a:lnTo>
                  <a:close/>
                </a:path>
                <a:path w="1929765" h="288289">
                  <a:moveTo>
                    <a:pt x="1906524" y="150876"/>
                  </a:moveTo>
                  <a:lnTo>
                    <a:pt x="1906524" y="137160"/>
                  </a:lnTo>
                  <a:lnTo>
                    <a:pt x="1899666" y="144018"/>
                  </a:lnTo>
                  <a:lnTo>
                    <a:pt x="1906524" y="150876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4305178" y="4229100"/>
            <a:ext cx="2247900" cy="289560"/>
            <a:chOff x="4305178" y="4229100"/>
            <a:chExt cx="2247900" cy="289560"/>
          </a:xfrm>
        </p:grpSpPr>
        <p:sp>
          <p:nvSpPr>
            <p:cNvPr id="20" name="object 20"/>
            <p:cNvSpPr/>
            <p:nvPr/>
          </p:nvSpPr>
          <p:spPr>
            <a:xfrm>
              <a:off x="4315846" y="4255007"/>
              <a:ext cx="2222500" cy="238125"/>
            </a:xfrm>
            <a:custGeom>
              <a:avLst/>
              <a:gdLst/>
              <a:ahLst/>
              <a:cxnLst/>
              <a:rect l="l" t="t" r="r" b="b"/>
              <a:pathLst>
                <a:path w="2222500" h="238125">
                  <a:moveTo>
                    <a:pt x="2221991" y="118871"/>
                  </a:moveTo>
                  <a:lnTo>
                    <a:pt x="2103119" y="0"/>
                  </a:lnTo>
                  <a:lnTo>
                    <a:pt x="2103119" y="59435"/>
                  </a:lnTo>
                  <a:lnTo>
                    <a:pt x="0" y="59435"/>
                  </a:lnTo>
                  <a:lnTo>
                    <a:pt x="0" y="178307"/>
                  </a:lnTo>
                  <a:lnTo>
                    <a:pt x="2103119" y="178307"/>
                  </a:lnTo>
                  <a:lnTo>
                    <a:pt x="2103119" y="237743"/>
                  </a:lnTo>
                  <a:lnTo>
                    <a:pt x="2221991" y="118871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05178" y="4229100"/>
              <a:ext cx="2247900" cy="289560"/>
            </a:xfrm>
            <a:custGeom>
              <a:avLst/>
              <a:gdLst/>
              <a:ahLst/>
              <a:cxnLst/>
              <a:rect l="l" t="t" r="r" b="b"/>
              <a:pathLst>
                <a:path w="2247900" h="289560">
                  <a:moveTo>
                    <a:pt x="2113788" y="74676"/>
                  </a:moveTo>
                  <a:lnTo>
                    <a:pt x="0" y="74676"/>
                  </a:lnTo>
                  <a:lnTo>
                    <a:pt x="0" y="214884"/>
                  </a:lnTo>
                  <a:lnTo>
                    <a:pt x="10668" y="214884"/>
                  </a:lnTo>
                  <a:lnTo>
                    <a:pt x="10668" y="96012"/>
                  </a:lnTo>
                  <a:lnTo>
                    <a:pt x="21336" y="85344"/>
                  </a:lnTo>
                  <a:lnTo>
                    <a:pt x="21336" y="96012"/>
                  </a:lnTo>
                  <a:lnTo>
                    <a:pt x="2103120" y="96012"/>
                  </a:lnTo>
                  <a:lnTo>
                    <a:pt x="2103120" y="85344"/>
                  </a:lnTo>
                  <a:lnTo>
                    <a:pt x="2113788" y="74676"/>
                  </a:lnTo>
                  <a:close/>
                </a:path>
                <a:path w="2247900" h="289560">
                  <a:moveTo>
                    <a:pt x="21336" y="96012"/>
                  </a:moveTo>
                  <a:lnTo>
                    <a:pt x="21336" y="85344"/>
                  </a:lnTo>
                  <a:lnTo>
                    <a:pt x="10668" y="96012"/>
                  </a:lnTo>
                  <a:lnTo>
                    <a:pt x="21336" y="96012"/>
                  </a:lnTo>
                  <a:close/>
                </a:path>
                <a:path w="2247900" h="289560">
                  <a:moveTo>
                    <a:pt x="21336" y="193548"/>
                  </a:moveTo>
                  <a:lnTo>
                    <a:pt x="21336" y="96012"/>
                  </a:lnTo>
                  <a:lnTo>
                    <a:pt x="10668" y="96012"/>
                  </a:lnTo>
                  <a:lnTo>
                    <a:pt x="10668" y="193548"/>
                  </a:lnTo>
                  <a:lnTo>
                    <a:pt x="21336" y="193548"/>
                  </a:lnTo>
                  <a:close/>
                </a:path>
                <a:path w="2247900" h="289560">
                  <a:moveTo>
                    <a:pt x="2124456" y="237744"/>
                  </a:moveTo>
                  <a:lnTo>
                    <a:pt x="2124456" y="193548"/>
                  </a:lnTo>
                  <a:lnTo>
                    <a:pt x="10668" y="193548"/>
                  </a:lnTo>
                  <a:lnTo>
                    <a:pt x="21336" y="204216"/>
                  </a:lnTo>
                  <a:lnTo>
                    <a:pt x="21336" y="214884"/>
                  </a:lnTo>
                  <a:lnTo>
                    <a:pt x="2103120" y="214884"/>
                  </a:lnTo>
                  <a:lnTo>
                    <a:pt x="2103120" y="204216"/>
                  </a:lnTo>
                  <a:lnTo>
                    <a:pt x="2113788" y="214884"/>
                  </a:lnTo>
                  <a:lnTo>
                    <a:pt x="2113788" y="248412"/>
                  </a:lnTo>
                  <a:lnTo>
                    <a:pt x="2124456" y="237744"/>
                  </a:lnTo>
                  <a:close/>
                </a:path>
                <a:path w="2247900" h="289560">
                  <a:moveTo>
                    <a:pt x="21336" y="214884"/>
                  </a:moveTo>
                  <a:lnTo>
                    <a:pt x="21336" y="204216"/>
                  </a:lnTo>
                  <a:lnTo>
                    <a:pt x="10668" y="193548"/>
                  </a:lnTo>
                  <a:lnTo>
                    <a:pt x="10668" y="214884"/>
                  </a:lnTo>
                  <a:lnTo>
                    <a:pt x="21336" y="214884"/>
                  </a:lnTo>
                  <a:close/>
                </a:path>
                <a:path w="2247900" h="289560">
                  <a:moveTo>
                    <a:pt x="2247900" y="144780"/>
                  </a:moveTo>
                  <a:lnTo>
                    <a:pt x="2103120" y="0"/>
                  </a:lnTo>
                  <a:lnTo>
                    <a:pt x="2103120" y="74676"/>
                  </a:lnTo>
                  <a:lnTo>
                    <a:pt x="2106168" y="74676"/>
                  </a:lnTo>
                  <a:lnTo>
                    <a:pt x="2106168" y="33528"/>
                  </a:lnTo>
                  <a:lnTo>
                    <a:pt x="2124456" y="25908"/>
                  </a:lnTo>
                  <a:lnTo>
                    <a:pt x="2124456" y="51816"/>
                  </a:lnTo>
                  <a:lnTo>
                    <a:pt x="2217420" y="144780"/>
                  </a:lnTo>
                  <a:lnTo>
                    <a:pt x="2225040" y="137160"/>
                  </a:lnTo>
                  <a:lnTo>
                    <a:pt x="2225040" y="167640"/>
                  </a:lnTo>
                  <a:lnTo>
                    <a:pt x="2247900" y="144780"/>
                  </a:lnTo>
                  <a:close/>
                </a:path>
                <a:path w="2247900" h="289560">
                  <a:moveTo>
                    <a:pt x="2113788" y="96012"/>
                  </a:moveTo>
                  <a:lnTo>
                    <a:pt x="2113788" y="74676"/>
                  </a:lnTo>
                  <a:lnTo>
                    <a:pt x="2103120" y="85344"/>
                  </a:lnTo>
                  <a:lnTo>
                    <a:pt x="2103120" y="96012"/>
                  </a:lnTo>
                  <a:lnTo>
                    <a:pt x="2113788" y="96012"/>
                  </a:lnTo>
                  <a:close/>
                </a:path>
                <a:path w="2247900" h="289560">
                  <a:moveTo>
                    <a:pt x="2113788" y="214884"/>
                  </a:moveTo>
                  <a:lnTo>
                    <a:pt x="2103120" y="204216"/>
                  </a:lnTo>
                  <a:lnTo>
                    <a:pt x="2103120" y="214884"/>
                  </a:lnTo>
                  <a:lnTo>
                    <a:pt x="2113788" y="214884"/>
                  </a:lnTo>
                  <a:close/>
                </a:path>
                <a:path w="2247900" h="289560">
                  <a:moveTo>
                    <a:pt x="2113788" y="248412"/>
                  </a:moveTo>
                  <a:lnTo>
                    <a:pt x="2113788" y="214884"/>
                  </a:lnTo>
                  <a:lnTo>
                    <a:pt x="2103120" y="214884"/>
                  </a:lnTo>
                  <a:lnTo>
                    <a:pt x="2103120" y="289560"/>
                  </a:lnTo>
                  <a:lnTo>
                    <a:pt x="2106168" y="286512"/>
                  </a:lnTo>
                  <a:lnTo>
                    <a:pt x="2106168" y="256032"/>
                  </a:lnTo>
                  <a:lnTo>
                    <a:pt x="2113788" y="248412"/>
                  </a:lnTo>
                  <a:close/>
                </a:path>
                <a:path w="2247900" h="289560">
                  <a:moveTo>
                    <a:pt x="2124456" y="51816"/>
                  </a:moveTo>
                  <a:lnTo>
                    <a:pt x="2124456" y="25908"/>
                  </a:lnTo>
                  <a:lnTo>
                    <a:pt x="2106168" y="33528"/>
                  </a:lnTo>
                  <a:lnTo>
                    <a:pt x="2124456" y="51816"/>
                  </a:lnTo>
                  <a:close/>
                </a:path>
                <a:path w="2247900" h="289560">
                  <a:moveTo>
                    <a:pt x="2124456" y="96012"/>
                  </a:moveTo>
                  <a:lnTo>
                    <a:pt x="2124456" y="51816"/>
                  </a:lnTo>
                  <a:lnTo>
                    <a:pt x="2106168" y="33528"/>
                  </a:lnTo>
                  <a:lnTo>
                    <a:pt x="2106168" y="74676"/>
                  </a:lnTo>
                  <a:lnTo>
                    <a:pt x="2113788" y="74676"/>
                  </a:lnTo>
                  <a:lnTo>
                    <a:pt x="2113788" y="96012"/>
                  </a:lnTo>
                  <a:lnTo>
                    <a:pt x="2124456" y="96012"/>
                  </a:lnTo>
                  <a:close/>
                </a:path>
                <a:path w="2247900" h="289560">
                  <a:moveTo>
                    <a:pt x="2225040" y="167640"/>
                  </a:moveTo>
                  <a:lnTo>
                    <a:pt x="2225040" y="152400"/>
                  </a:lnTo>
                  <a:lnTo>
                    <a:pt x="2217420" y="144780"/>
                  </a:lnTo>
                  <a:lnTo>
                    <a:pt x="2106168" y="256032"/>
                  </a:lnTo>
                  <a:lnTo>
                    <a:pt x="2124456" y="263652"/>
                  </a:lnTo>
                  <a:lnTo>
                    <a:pt x="2124456" y="268224"/>
                  </a:lnTo>
                  <a:lnTo>
                    <a:pt x="2225040" y="167640"/>
                  </a:lnTo>
                  <a:close/>
                </a:path>
                <a:path w="2247900" h="289560">
                  <a:moveTo>
                    <a:pt x="2124456" y="268224"/>
                  </a:moveTo>
                  <a:lnTo>
                    <a:pt x="2124456" y="263652"/>
                  </a:lnTo>
                  <a:lnTo>
                    <a:pt x="2106168" y="256032"/>
                  </a:lnTo>
                  <a:lnTo>
                    <a:pt x="2106168" y="286512"/>
                  </a:lnTo>
                  <a:lnTo>
                    <a:pt x="2124456" y="268224"/>
                  </a:lnTo>
                  <a:close/>
                </a:path>
                <a:path w="2247900" h="289560">
                  <a:moveTo>
                    <a:pt x="2225040" y="152400"/>
                  </a:moveTo>
                  <a:lnTo>
                    <a:pt x="2225040" y="137160"/>
                  </a:lnTo>
                  <a:lnTo>
                    <a:pt x="2217420" y="144780"/>
                  </a:lnTo>
                  <a:lnTo>
                    <a:pt x="2225040" y="152400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0912" y="1675891"/>
            <a:ext cx="6583045" cy="19754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Remarque:</a:t>
            </a:r>
            <a:r>
              <a:rPr sz="3050" b="1" spc="-1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Attention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à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05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syntaxe!</a:t>
            </a:r>
            <a:endParaRPr sz="3050">
              <a:latin typeface="Times New Roman"/>
              <a:cs typeface="Times New Roman"/>
            </a:endParaRPr>
          </a:p>
          <a:p>
            <a:pPr marL="609600" indent="-299085"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Wingdings"/>
              <a:buChar char=""/>
              <a:tabLst>
                <a:tab pos="609600" algn="l"/>
                <a:tab pos="610235" algn="l"/>
              </a:tabLst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déclaration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variable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non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initialisée</a:t>
            </a:r>
            <a:endParaRPr sz="2400">
              <a:latin typeface="Times New Roman"/>
              <a:cs typeface="Times New Roman"/>
            </a:endParaRPr>
          </a:p>
          <a:p>
            <a:pPr marL="609600" indent="-299085">
              <a:lnSpc>
                <a:spcPct val="100000"/>
              </a:lnSpc>
              <a:spcBef>
                <a:spcPts val="25"/>
              </a:spcBef>
              <a:buClr>
                <a:srgbClr val="006FC0"/>
              </a:buClr>
              <a:buFont typeface="Wingdings"/>
              <a:buChar char=""/>
              <a:tabLst>
                <a:tab pos="609600" algn="l"/>
                <a:tab pos="610235" algn="l"/>
              </a:tabLst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prototype</a:t>
            </a:r>
            <a:r>
              <a:rPr sz="2400" spc="10" dirty="0">
                <a:latin typeface="Times New Roman"/>
                <a:cs typeface="Times New Roman"/>
              </a:rPr>
              <a:t> de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fonction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sans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paramètre</a:t>
            </a:r>
            <a:endParaRPr sz="2400">
              <a:latin typeface="Times New Roman"/>
              <a:cs typeface="Times New Roman"/>
            </a:endParaRPr>
          </a:p>
          <a:p>
            <a:pPr marL="609600" indent="-299085">
              <a:lnSpc>
                <a:spcPct val="100000"/>
              </a:lnSpc>
              <a:spcBef>
                <a:spcPts val="35"/>
              </a:spcBef>
              <a:buClr>
                <a:srgbClr val="006FC0"/>
              </a:buClr>
              <a:buFont typeface="Wingdings"/>
              <a:buChar char=""/>
              <a:tabLst>
                <a:tab pos="609600" algn="l"/>
                <a:tab pos="610235" algn="l"/>
              </a:tabLst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déclaration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et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initialisation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variable</a:t>
            </a:r>
            <a:endParaRPr sz="2400">
              <a:latin typeface="Times New Roman"/>
              <a:cs typeface="Times New Roman"/>
            </a:endParaRPr>
          </a:p>
          <a:p>
            <a:pPr marL="609600" indent="-299085">
              <a:lnSpc>
                <a:spcPct val="100000"/>
              </a:lnSpc>
              <a:spcBef>
                <a:spcPts val="25"/>
              </a:spcBef>
              <a:buClr>
                <a:srgbClr val="006FC0"/>
              </a:buClr>
              <a:buFont typeface="Wingdings"/>
              <a:buChar char=""/>
              <a:tabLst>
                <a:tab pos="609600" algn="l"/>
                <a:tab pos="610235" algn="l"/>
              </a:tabLst>
            </a:pPr>
            <a:r>
              <a:rPr sz="2400" dirty="0">
                <a:latin typeface="Times New Roman"/>
                <a:cs typeface="Times New Roman"/>
              </a:rPr>
              <a:t>f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: </a:t>
            </a:r>
            <a:r>
              <a:rPr sz="2400" spc="10" dirty="0">
                <a:latin typeface="Times New Roman"/>
                <a:cs typeface="Times New Roman"/>
              </a:rPr>
              <a:t>appel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fonction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à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un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3748404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290" dirty="0"/>
              <a:t>e</a:t>
            </a:r>
            <a:r>
              <a:rPr spc="-305" dirty="0"/>
              <a:t>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40" dirty="0"/>
              <a:t>C</a:t>
            </a:r>
            <a:r>
              <a:rPr spc="340" dirty="0"/>
              <a:t>++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1664" y="1672843"/>
            <a:ext cx="8871585" cy="42278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Comment</a:t>
            </a:r>
            <a:r>
              <a:rPr sz="305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on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peut</a:t>
            </a:r>
            <a:r>
              <a:rPr sz="305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réutiliser</a:t>
            </a:r>
            <a:r>
              <a:rPr sz="305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la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même</a:t>
            </a:r>
            <a:r>
              <a:rPr sz="305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fonction?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Calcul des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carrés</a:t>
            </a:r>
            <a:r>
              <a:rPr sz="26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des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nombres</a:t>
            </a:r>
            <a:r>
              <a:rPr sz="2600" b="1" spc="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entre </a:t>
            </a:r>
            <a:r>
              <a:rPr sz="26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1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et</a:t>
            </a:r>
            <a:r>
              <a:rPr sz="26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10: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400" b="1" spc="5" dirty="0">
                <a:latin typeface="Times New Roman"/>
                <a:cs typeface="Times New Roman"/>
              </a:rPr>
              <a:t>carreNombre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x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endParaRPr sz="2400">
              <a:latin typeface="Times New Roman"/>
              <a:cs typeface="Times New Roman"/>
            </a:endParaRPr>
          </a:p>
          <a:p>
            <a:pPr marL="1019810">
              <a:lnSpc>
                <a:spcPct val="100000"/>
              </a:lnSpc>
              <a:spcBef>
                <a:spcPts val="35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x*x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main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400" b="1" spc="5" dirty="0">
                <a:latin typeface="Times New Roman"/>
                <a:cs typeface="Times New Roman"/>
              </a:rPr>
              <a:t>for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i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5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4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i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&lt;=</a:t>
            </a:r>
            <a:r>
              <a:rPr sz="2400" b="1" spc="5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400" b="1" spc="-1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i</a:t>
            </a:r>
            <a:r>
              <a:rPr sz="2400" b="1" spc="5" dirty="0">
                <a:solidFill>
                  <a:srgbClr val="FF32CC"/>
                </a:solidFill>
                <a:latin typeface="Times New Roman"/>
                <a:cs typeface="Times New Roman"/>
              </a:rPr>
              <a:t>++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cout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"Le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carre</a:t>
            </a:r>
            <a:r>
              <a:rPr sz="24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de 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latin typeface="Times New Roman"/>
                <a:cs typeface="Times New Roman"/>
              </a:rPr>
              <a:t>i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" est</a:t>
            </a:r>
            <a:r>
              <a:rPr sz="24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: </a:t>
            </a:r>
            <a:r>
              <a:rPr sz="24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carreNombre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b="1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3748404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290" dirty="0"/>
              <a:t>e</a:t>
            </a:r>
            <a:r>
              <a:rPr spc="-305" dirty="0"/>
              <a:t>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40" dirty="0"/>
              <a:t>C</a:t>
            </a:r>
            <a:r>
              <a:rPr spc="340" dirty="0"/>
              <a:t>++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0912" y="1593595"/>
            <a:ext cx="7812405" cy="49358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Comment</a:t>
            </a:r>
            <a:r>
              <a:rPr sz="305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on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peut</a:t>
            </a:r>
            <a:r>
              <a:rPr sz="305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réutiliser</a:t>
            </a:r>
            <a:r>
              <a:rPr sz="3050" b="1" spc="-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la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même fonction?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Calcul des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carrés</a:t>
            </a:r>
            <a:r>
              <a:rPr sz="26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des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nombres</a:t>
            </a:r>
            <a:r>
              <a:rPr sz="2600" b="1" spc="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5" dirty="0">
                <a:solidFill>
                  <a:srgbClr val="006FC0"/>
                </a:solidFill>
                <a:latin typeface="Times New Roman"/>
                <a:cs typeface="Times New Roman"/>
              </a:rPr>
              <a:t>entre </a:t>
            </a:r>
            <a:r>
              <a:rPr sz="26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1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et</a:t>
            </a:r>
            <a:r>
              <a:rPr sz="2600" b="1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10:</a:t>
            </a:r>
            <a:endParaRPr sz="2600">
              <a:latin typeface="Times New Roman"/>
              <a:cs typeface="Times New Roman"/>
            </a:endParaRPr>
          </a:p>
          <a:p>
            <a:pPr marL="12700" marR="5182235">
              <a:lnSpc>
                <a:spcPct val="101699"/>
              </a:lnSpc>
              <a:spcBef>
                <a:spcPts val="20"/>
              </a:spcBef>
            </a:pP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1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Arial MT"/>
                <a:cs typeface="Arial MT"/>
              </a:rPr>
              <a:t>1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2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Arial MT"/>
                <a:cs typeface="Arial MT"/>
              </a:rPr>
              <a:t>4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3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Arial MT"/>
                <a:cs typeface="Arial MT"/>
              </a:rPr>
              <a:t>9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4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185" dirty="0">
                <a:latin typeface="Arial MT"/>
                <a:cs typeface="Arial MT"/>
              </a:rPr>
              <a:t>6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5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185" dirty="0">
                <a:latin typeface="Arial MT"/>
                <a:cs typeface="Arial MT"/>
              </a:rPr>
              <a:t>5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6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3</a:t>
            </a:r>
            <a:r>
              <a:rPr sz="2600" spc="-185" dirty="0">
                <a:latin typeface="Arial MT"/>
                <a:cs typeface="Arial MT"/>
              </a:rPr>
              <a:t>6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7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4</a:t>
            </a:r>
            <a:r>
              <a:rPr sz="2600" spc="-185" dirty="0">
                <a:latin typeface="Arial MT"/>
                <a:cs typeface="Arial MT"/>
              </a:rPr>
              <a:t>9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8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6</a:t>
            </a:r>
            <a:r>
              <a:rPr sz="2600" spc="-185" dirty="0">
                <a:latin typeface="Arial MT"/>
                <a:cs typeface="Arial MT"/>
              </a:rPr>
              <a:t>4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9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8</a:t>
            </a:r>
            <a:r>
              <a:rPr sz="2600" spc="-245" dirty="0">
                <a:latin typeface="Arial MT"/>
                <a:cs typeface="Arial MT"/>
              </a:rPr>
              <a:t>1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10</a:t>
            </a:r>
            <a:r>
              <a:rPr sz="2600" spc="-245" dirty="0">
                <a:latin typeface="Arial MT"/>
                <a:cs typeface="Arial MT"/>
              </a:rPr>
              <a:t>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3748404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63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290" dirty="0"/>
              <a:t>e</a:t>
            </a:r>
            <a:r>
              <a:rPr spc="-305" dirty="0"/>
              <a:t>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40" dirty="0"/>
              <a:t>C</a:t>
            </a:r>
            <a:r>
              <a:rPr spc="340" dirty="0"/>
              <a:t>++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0912" y="1692655"/>
            <a:ext cx="9292590" cy="40538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0"/>
              </a:spcBef>
              <a:buClr>
                <a:srgbClr val="0000CC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main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aussi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fonction </a:t>
            </a:r>
            <a:r>
              <a:rPr sz="2600" spc="15" dirty="0">
                <a:latin typeface="Times New Roman"/>
                <a:cs typeface="Times New Roman"/>
              </a:rPr>
              <a:t>avec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nom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5" dirty="0">
                <a:latin typeface="Times New Roman"/>
                <a:cs typeface="Times New Roman"/>
              </a:rPr>
              <a:t>prototype imposés.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45"/>
              </a:spcBef>
              <a:buClr>
                <a:srgbClr val="0000CC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Par convention, </a:t>
            </a:r>
            <a:r>
              <a:rPr sz="2600" spc="10" dirty="0">
                <a:latin typeface="Times New Roman"/>
                <a:cs typeface="Times New Roman"/>
              </a:rPr>
              <a:t>tout </a:t>
            </a:r>
            <a:r>
              <a:rPr sz="2600" spc="15" dirty="0">
                <a:latin typeface="Times New Roman"/>
                <a:cs typeface="Times New Roman"/>
              </a:rPr>
              <a:t>programme </a:t>
            </a:r>
            <a:r>
              <a:rPr sz="2600" spc="20" dirty="0">
                <a:latin typeface="Times New Roman"/>
                <a:cs typeface="Times New Roman"/>
              </a:rPr>
              <a:t>C++</a:t>
            </a:r>
            <a:r>
              <a:rPr sz="2600" spc="10" dirty="0">
                <a:latin typeface="Times New Roman"/>
                <a:cs typeface="Times New Roman"/>
              </a:rPr>
              <a:t> doit </a:t>
            </a:r>
            <a:r>
              <a:rPr sz="2600" spc="15" dirty="0">
                <a:latin typeface="Times New Roman"/>
                <a:cs typeface="Times New Roman"/>
              </a:rPr>
              <a:t>avoir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endParaRPr sz="2600">
              <a:latin typeface="Times New Roman"/>
              <a:cs typeface="Times New Roman"/>
            </a:endParaRPr>
          </a:p>
          <a:p>
            <a:pPr marL="390525" marR="840740">
              <a:lnSpc>
                <a:spcPct val="101499"/>
              </a:lnSpc>
              <a:spcBef>
                <a:spcPts val="15"/>
              </a:spcBef>
            </a:pP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main</a:t>
            </a:r>
            <a:r>
              <a:rPr sz="2600" spc="15" dirty="0">
                <a:latin typeface="Times New Roman"/>
                <a:cs typeface="Times New Roman"/>
              </a:rPr>
              <a:t>, qui est appelée automatiquement quand </a:t>
            </a:r>
            <a:r>
              <a:rPr sz="2600" spc="20" dirty="0">
                <a:latin typeface="Times New Roman"/>
                <a:cs typeface="Times New Roman"/>
              </a:rPr>
              <a:t>on </a:t>
            </a:r>
            <a:r>
              <a:rPr sz="2600" spc="15" dirty="0">
                <a:latin typeface="Times New Roman"/>
                <a:cs typeface="Times New Roman"/>
              </a:rPr>
              <a:t>exécute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-64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programme.</a:t>
            </a:r>
            <a:endParaRPr sz="2600">
              <a:latin typeface="Times New Roman"/>
              <a:cs typeface="Times New Roman"/>
            </a:endParaRPr>
          </a:p>
          <a:p>
            <a:pPr marL="390525" marR="261620" indent="-378460">
              <a:lnSpc>
                <a:spcPts val="3180"/>
              </a:lnSpc>
              <a:spcBef>
                <a:spcPts val="105"/>
              </a:spcBef>
              <a:buClr>
                <a:srgbClr val="0000CC"/>
              </a:buClr>
              <a:buFont typeface="Wingdings"/>
              <a:buChar char=""/>
              <a:tabLst>
                <a:tab pos="474345" algn="l"/>
                <a:tab pos="474980" algn="l"/>
              </a:tabLst>
            </a:pPr>
            <a:r>
              <a:rPr dirty="0"/>
              <a:t>	</a:t>
            </a:r>
            <a:r>
              <a:rPr sz="2600" spc="10" dirty="0">
                <a:latin typeface="Times New Roman"/>
                <a:cs typeface="Times New Roman"/>
              </a:rPr>
              <a:t>Cette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doit retourner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 valeur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type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32CC"/>
                </a:solidFill>
                <a:latin typeface="Times New Roman"/>
                <a:cs typeface="Times New Roman"/>
              </a:rPr>
              <a:t>0 </a:t>
            </a:r>
            <a:r>
              <a:rPr sz="2600" spc="-63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indique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convention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s’est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bien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déroulé.</a:t>
            </a:r>
            <a:endParaRPr sz="2600">
              <a:latin typeface="Times New Roman"/>
              <a:cs typeface="Times New Roman"/>
            </a:endParaRPr>
          </a:p>
          <a:p>
            <a:pPr marL="474345" indent="-462280">
              <a:lnSpc>
                <a:spcPts val="3050"/>
              </a:lnSpc>
              <a:buClr>
                <a:srgbClr val="0000CC"/>
              </a:buClr>
              <a:buFont typeface="Wingdings"/>
              <a:buChar char=""/>
              <a:tabLst>
                <a:tab pos="474345" algn="l"/>
                <a:tab pos="47498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deux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seuls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prototypes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autorisés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pour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main</a:t>
            </a:r>
            <a:r>
              <a:rPr sz="2600" b="1" spc="3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10" dirty="0">
                <a:latin typeface="Times New Roman"/>
                <a:cs typeface="Times New Roman"/>
              </a:rPr>
              <a:t> :</a:t>
            </a:r>
            <a:endParaRPr sz="2600">
              <a:latin typeface="Times New Roman"/>
              <a:cs typeface="Times New Roman"/>
            </a:endParaRPr>
          </a:p>
          <a:p>
            <a:pPr marL="515620">
              <a:lnSpc>
                <a:spcPct val="100000"/>
              </a:lnSpc>
              <a:spcBef>
                <a:spcPts val="60"/>
              </a:spcBef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main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2600">
              <a:latin typeface="Times New Roman"/>
              <a:cs typeface="Times New Roman"/>
            </a:endParaRPr>
          </a:p>
          <a:p>
            <a:pPr marL="515620">
              <a:lnSpc>
                <a:spcPct val="100000"/>
              </a:lnSpc>
              <a:spcBef>
                <a:spcPts val="45"/>
              </a:spcBef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main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argc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char**</a:t>
            </a:r>
            <a:r>
              <a:rPr sz="26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argv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600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384556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5" dirty="0"/>
              <a:t>L</a:t>
            </a:r>
            <a:r>
              <a:rPr spc="-105" dirty="0"/>
              <a:t>a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75" dirty="0"/>
              <a:t>m</a:t>
            </a:r>
            <a:r>
              <a:rPr spc="-105" dirty="0"/>
              <a:t>a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5" dirty="0"/>
              <a:t>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76193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30" dirty="0"/>
              <a:t>É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305" dirty="0"/>
              <a:t>u</a:t>
            </a:r>
            <a:r>
              <a:rPr spc="-20" dirty="0"/>
              <a:t>a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70" dirty="0"/>
              <a:t>l’</a:t>
            </a:r>
            <a:r>
              <a:rPr spc="-105" dirty="0"/>
              <a:t>a</a:t>
            </a:r>
            <a:r>
              <a:rPr spc="-305" dirty="0"/>
              <a:t>ppe</a:t>
            </a:r>
            <a:r>
              <a:rPr spc="-70" dirty="0"/>
              <a:t>l</a:t>
            </a:r>
            <a:r>
              <a:rPr b="0" spc="3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70" dirty="0"/>
              <a:t>’</a:t>
            </a:r>
            <a:r>
              <a:rPr spc="-305" dirty="0"/>
              <a:t>un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616455"/>
            <a:ext cx="676084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Que</a:t>
            </a:r>
            <a:r>
              <a:rPr sz="305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se</a:t>
            </a:r>
            <a:r>
              <a:rPr sz="305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passe-t-il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lors</a:t>
            </a:r>
            <a:r>
              <a:rPr sz="305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l’appel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suivant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: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2248" y="2090419"/>
            <a:ext cx="5947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z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moyenne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1.5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+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0.8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3.4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* 1.25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FF0065"/>
                </a:solidFill>
                <a:latin typeface="Times New Roman"/>
                <a:cs typeface="Times New Roman"/>
              </a:rPr>
              <a:t>1.</a:t>
            </a:r>
            <a:r>
              <a:rPr sz="2200" b="1" spc="-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Évaluation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expressions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passées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 </a:t>
            </a:r>
            <a:r>
              <a:rPr sz="2200" spc="-5" dirty="0">
                <a:latin typeface="Times New Roman"/>
                <a:cs typeface="Times New Roman"/>
              </a:rPr>
              <a:t>arguments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2560" y="2760978"/>
            <a:ext cx="1145540" cy="699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1.5</a:t>
            </a:r>
            <a:r>
              <a:rPr sz="22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+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0.8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3.4</a:t>
            </a:r>
            <a:r>
              <a:rPr sz="22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*</a:t>
            </a:r>
            <a:r>
              <a:rPr sz="22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1.25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0900" y="2760978"/>
            <a:ext cx="516255" cy="699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2.3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4.25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2248" y="3433062"/>
            <a:ext cx="4072890" cy="1369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2735" marR="621665" indent="-280670">
              <a:lnSpc>
                <a:spcPct val="100000"/>
              </a:lnSpc>
              <a:spcBef>
                <a:spcPts val="105"/>
              </a:spcBef>
              <a:buClr>
                <a:srgbClr val="FF0065"/>
              </a:buClr>
              <a:buFont typeface="Times New Roman"/>
              <a:buAutoNum type="arabicPeriod" startAt="2"/>
              <a:tabLst>
                <a:tab pos="293370" algn="l"/>
              </a:tabLst>
            </a:pPr>
            <a:r>
              <a:rPr sz="2200" spc="-5" dirty="0">
                <a:latin typeface="Times New Roman"/>
                <a:cs typeface="Times New Roman"/>
              </a:rPr>
              <a:t>Affectation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paramètres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= 2.3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15"/>
              </a:spcBef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y</a:t>
            </a:r>
            <a:r>
              <a:rPr sz="22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4.25</a:t>
            </a:r>
            <a:endParaRPr sz="22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buClr>
                <a:srgbClr val="FF0065"/>
              </a:buClr>
              <a:buFont typeface="Times New Roman"/>
              <a:buAutoNum type="arabicPeriod" startAt="3"/>
              <a:tabLst>
                <a:tab pos="293370" algn="l"/>
              </a:tabLst>
            </a:pPr>
            <a:r>
              <a:rPr sz="2200" dirty="0">
                <a:latin typeface="Times New Roman"/>
                <a:cs typeface="Times New Roman"/>
              </a:rPr>
              <a:t>Exécution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corps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fonction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2248" y="4775706"/>
            <a:ext cx="7978140" cy="1369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735" marR="5080" indent="-280670">
              <a:lnSpc>
                <a:spcPct val="100499"/>
              </a:lnSpc>
              <a:spcBef>
                <a:spcPts val="95"/>
              </a:spcBef>
              <a:buClr>
                <a:srgbClr val="FF0065"/>
              </a:buClr>
              <a:buFont typeface="Times New Roman"/>
              <a:buAutoNum type="arabicPeriod" startAt="4"/>
              <a:tabLst>
                <a:tab pos="293370" algn="l"/>
                <a:tab pos="2600325" algn="l"/>
              </a:tabLst>
            </a:pPr>
            <a:r>
              <a:rPr sz="2200" dirty="0">
                <a:latin typeface="Times New Roman"/>
                <a:cs typeface="Times New Roman"/>
              </a:rPr>
              <a:t>Évaluation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valeur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retour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(expression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 </a:t>
            </a:r>
            <a:r>
              <a:rPr sz="2200" spc="-5" dirty="0">
                <a:latin typeface="Times New Roman"/>
                <a:cs typeface="Times New Roman"/>
              </a:rPr>
              <a:t>l’instruction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dirty="0">
                <a:latin typeface="Times New Roman"/>
                <a:cs typeface="Times New Roman"/>
              </a:rPr>
              <a:t>)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(x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+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y)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/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2.0	3.275</a:t>
            </a:r>
            <a:endParaRPr sz="2200">
              <a:latin typeface="Times New Roman"/>
              <a:cs typeface="Times New Roman"/>
            </a:endParaRPr>
          </a:p>
          <a:p>
            <a:pPr marL="292735" marR="534670" indent="-280670">
              <a:lnSpc>
                <a:spcPct val="100000"/>
              </a:lnSpc>
              <a:buClr>
                <a:srgbClr val="FF0065"/>
              </a:buClr>
              <a:buFont typeface="Times New Roman"/>
              <a:buAutoNum type="arabicPeriod" startAt="4"/>
              <a:tabLst>
                <a:tab pos="293370" algn="l"/>
              </a:tabLst>
            </a:pPr>
            <a:r>
              <a:rPr sz="2200" dirty="0">
                <a:latin typeface="Times New Roman"/>
                <a:cs typeface="Times New Roman"/>
              </a:rPr>
              <a:t>Replacement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l’expression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l’appel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valeur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retournée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z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3.275;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21966" y="2213862"/>
            <a:ext cx="3312795" cy="1033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165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moyenne</a:t>
            </a:r>
            <a:r>
              <a:rPr sz="1650" b="1" spc="-40" dirty="0"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65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165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x,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165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y</a:t>
            </a:r>
            <a:r>
              <a:rPr sz="16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165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</a:pPr>
            <a:r>
              <a:rPr sz="165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65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(x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+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y)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/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2.0</a:t>
            </a:r>
            <a:r>
              <a:rPr sz="1650" b="1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50" b="1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23409" y="2101596"/>
            <a:ext cx="3434079" cy="1290955"/>
          </a:xfrm>
          <a:custGeom>
            <a:avLst/>
            <a:gdLst/>
            <a:ahLst/>
            <a:cxnLst/>
            <a:rect l="l" t="t" r="r" b="b"/>
            <a:pathLst>
              <a:path w="3434079" h="1290954">
                <a:moveTo>
                  <a:pt x="3433572" y="1286256"/>
                </a:moveTo>
                <a:lnTo>
                  <a:pt x="3433572" y="6096"/>
                </a:lnTo>
                <a:lnTo>
                  <a:pt x="3429000" y="0"/>
                </a:lnTo>
                <a:lnTo>
                  <a:pt x="4572" y="0"/>
                </a:lnTo>
                <a:lnTo>
                  <a:pt x="0" y="6096"/>
                </a:lnTo>
                <a:lnTo>
                  <a:pt x="0" y="1286256"/>
                </a:lnTo>
                <a:lnTo>
                  <a:pt x="4572" y="1290828"/>
                </a:lnTo>
                <a:lnTo>
                  <a:pt x="10668" y="1290828"/>
                </a:lnTo>
                <a:lnTo>
                  <a:pt x="10668" y="21336"/>
                </a:lnTo>
                <a:lnTo>
                  <a:pt x="21336" y="10668"/>
                </a:lnTo>
                <a:lnTo>
                  <a:pt x="21336" y="21336"/>
                </a:lnTo>
                <a:lnTo>
                  <a:pt x="3412236" y="21336"/>
                </a:lnTo>
                <a:lnTo>
                  <a:pt x="3412236" y="10668"/>
                </a:lnTo>
                <a:lnTo>
                  <a:pt x="3422904" y="21336"/>
                </a:lnTo>
                <a:lnTo>
                  <a:pt x="3422904" y="1290828"/>
                </a:lnTo>
                <a:lnTo>
                  <a:pt x="3429000" y="1290828"/>
                </a:lnTo>
                <a:lnTo>
                  <a:pt x="3433572" y="1286256"/>
                </a:lnTo>
                <a:close/>
              </a:path>
              <a:path w="3434079" h="1290954">
                <a:moveTo>
                  <a:pt x="21336" y="21336"/>
                </a:moveTo>
                <a:lnTo>
                  <a:pt x="21336" y="10668"/>
                </a:lnTo>
                <a:lnTo>
                  <a:pt x="10668" y="21336"/>
                </a:lnTo>
                <a:lnTo>
                  <a:pt x="21336" y="21336"/>
                </a:lnTo>
                <a:close/>
              </a:path>
              <a:path w="3434079" h="1290954">
                <a:moveTo>
                  <a:pt x="21336" y="1269492"/>
                </a:moveTo>
                <a:lnTo>
                  <a:pt x="21336" y="21336"/>
                </a:lnTo>
                <a:lnTo>
                  <a:pt x="10668" y="21336"/>
                </a:lnTo>
                <a:lnTo>
                  <a:pt x="10668" y="1269492"/>
                </a:lnTo>
                <a:lnTo>
                  <a:pt x="21336" y="1269492"/>
                </a:lnTo>
                <a:close/>
              </a:path>
              <a:path w="3434079" h="1290954">
                <a:moveTo>
                  <a:pt x="3422904" y="1269492"/>
                </a:moveTo>
                <a:lnTo>
                  <a:pt x="10668" y="1269492"/>
                </a:lnTo>
                <a:lnTo>
                  <a:pt x="21336" y="1280160"/>
                </a:lnTo>
                <a:lnTo>
                  <a:pt x="21336" y="1290828"/>
                </a:lnTo>
                <a:lnTo>
                  <a:pt x="3412236" y="1290828"/>
                </a:lnTo>
                <a:lnTo>
                  <a:pt x="3412236" y="1280160"/>
                </a:lnTo>
                <a:lnTo>
                  <a:pt x="3422904" y="1269492"/>
                </a:lnTo>
                <a:close/>
              </a:path>
              <a:path w="3434079" h="1290954">
                <a:moveTo>
                  <a:pt x="21336" y="1290828"/>
                </a:moveTo>
                <a:lnTo>
                  <a:pt x="21336" y="1280160"/>
                </a:lnTo>
                <a:lnTo>
                  <a:pt x="10668" y="1269492"/>
                </a:lnTo>
                <a:lnTo>
                  <a:pt x="10668" y="1290828"/>
                </a:lnTo>
                <a:lnTo>
                  <a:pt x="21336" y="1290828"/>
                </a:lnTo>
                <a:close/>
              </a:path>
              <a:path w="3434079" h="1290954">
                <a:moveTo>
                  <a:pt x="3422904" y="21336"/>
                </a:moveTo>
                <a:lnTo>
                  <a:pt x="3412236" y="10668"/>
                </a:lnTo>
                <a:lnTo>
                  <a:pt x="3412236" y="21336"/>
                </a:lnTo>
                <a:lnTo>
                  <a:pt x="3422904" y="21336"/>
                </a:lnTo>
                <a:close/>
              </a:path>
              <a:path w="3434079" h="1290954">
                <a:moveTo>
                  <a:pt x="3422904" y="1269492"/>
                </a:moveTo>
                <a:lnTo>
                  <a:pt x="3422904" y="21336"/>
                </a:lnTo>
                <a:lnTo>
                  <a:pt x="3412236" y="21336"/>
                </a:lnTo>
                <a:lnTo>
                  <a:pt x="3412236" y="1269492"/>
                </a:lnTo>
                <a:lnTo>
                  <a:pt x="3422904" y="1269492"/>
                </a:lnTo>
                <a:close/>
              </a:path>
              <a:path w="3434079" h="1290954">
                <a:moveTo>
                  <a:pt x="3422904" y="1290828"/>
                </a:moveTo>
                <a:lnTo>
                  <a:pt x="3422904" y="1269492"/>
                </a:lnTo>
                <a:lnTo>
                  <a:pt x="3412236" y="1280160"/>
                </a:lnTo>
                <a:lnTo>
                  <a:pt x="3412236" y="1290828"/>
                </a:lnTo>
                <a:lnTo>
                  <a:pt x="3422904" y="1290828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2322454" y="2880360"/>
            <a:ext cx="660400" cy="218440"/>
            <a:chOff x="2322454" y="2880360"/>
            <a:chExt cx="660400" cy="218440"/>
          </a:xfrm>
        </p:grpSpPr>
        <p:sp>
          <p:nvSpPr>
            <p:cNvPr id="14" name="object 14"/>
            <p:cNvSpPr/>
            <p:nvPr/>
          </p:nvSpPr>
          <p:spPr>
            <a:xfrm>
              <a:off x="2333122" y="2906267"/>
              <a:ext cx="634365" cy="167640"/>
            </a:xfrm>
            <a:custGeom>
              <a:avLst/>
              <a:gdLst/>
              <a:ahLst/>
              <a:cxnLst/>
              <a:rect l="l" t="t" r="r" b="b"/>
              <a:pathLst>
                <a:path w="634364" h="167639">
                  <a:moveTo>
                    <a:pt x="633983" y="83819"/>
                  </a:moveTo>
                  <a:lnTo>
                    <a:pt x="550163" y="0"/>
                  </a:lnTo>
                  <a:lnTo>
                    <a:pt x="550163" y="41147"/>
                  </a:lnTo>
                  <a:lnTo>
                    <a:pt x="0" y="41147"/>
                  </a:lnTo>
                  <a:lnTo>
                    <a:pt x="0" y="124967"/>
                  </a:lnTo>
                  <a:lnTo>
                    <a:pt x="550163" y="124967"/>
                  </a:lnTo>
                  <a:lnTo>
                    <a:pt x="550163" y="167639"/>
                  </a:lnTo>
                  <a:lnTo>
                    <a:pt x="633983" y="83819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22454" y="2880360"/>
              <a:ext cx="660400" cy="218440"/>
            </a:xfrm>
            <a:custGeom>
              <a:avLst/>
              <a:gdLst/>
              <a:ahLst/>
              <a:cxnLst/>
              <a:rect l="l" t="t" r="r" b="b"/>
              <a:pathLst>
                <a:path w="660400" h="218439">
                  <a:moveTo>
                    <a:pt x="560832" y="56388"/>
                  </a:moveTo>
                  <a:lnTo>
                    <a:pt x="0" y="56388"/>
                  </a:lnTo>
                  <a:lnTo>
                    <a:pt x="0" y="161544"/>
                  </a:lnTo>
                  <a:lnTo>
                    <a:pt x="10668" y="161544"/>
                  </a:lnTo>
                  <a:lnTo>
                    <a:pt x="10668" y="77724"/>
                  </a:lnTo>
                  <a:lnTo>
                    <a:pt x="21336" y="67056"/>
                  </a:lnTo>
                  <a:lnTo>
                    <a:pt x="21336" y="77724"/>
                  </a:lnTo>
                  <a:lnTo>
                    <a:pt x="550164" y="77724"/>
                  </a:lnTo>
                  <a:lnTo>
                    <a:pt x="550164" y="67056"/>
                  </a:lnTo>
                  <a:lnTo>
                    <a:pt x="560832" y="56388"/>
                  </a:lnTo>
                  <a:close/>
                </a:path>
                <a:path w="660400" h="218439">
                  <a:moveTo>
                    <a:pt x="21336" y="77724"/>
                  </a:moveTo>
                  <a:lnTo>
                    <a:pt x="21336" y="67056"/>
                  </a:lnTo>
                  <a:lnTo>
                    <a:pt x="10668" y="77724"/>
                  </a:lnTo>
                  <a:lnTo>
                    <a:pt x="21336" y="77724"/>
                  </a:lnTo>
                  <a:close/>
                </a:path>
                <a:path w="660400" h="218439">
                  <a:moveTo>
                    <a:pt x="21336" y="140208"/>
                  </a:moveTo>
                  <a:lnTo>
                    <a:pt x="21336" y="77724"/>
                  </a:lnTo>
                  <a:lnTo>
                    <a:pt x="10668" y="77724"/>
                  </a:lnTo>
                  <a:lnTo>
                    <a:pt x="10668" y="140208"/>
                  </a:lnTo>
                  <a:lnTo>
                    <a:pt x="21336" y="140208"/>
                  </a:lnTo>
                  <a:close/>
                </a:path>
                <a:path w="660400" h="218439">
                  <a:moveTo>
                    <a:pt x="571500" y="168853"/>
                  </a:moveTo>
                  <a:lnTo>
                    <a:pt x="571500" y="140208"/>
                  </a:lnTo>
                  <a:lnTo>
                    <a:pt x="10668" y="140208"/>
                  </a:lnTo>
                  <a:lnTo>
                    <a:pt x="21336" y="150876"/>
                  </a:lnTo>
                  <a:lnTo>
                    <a:pt x="21336" y="161544"/>
                  </a:lnTo>
                  <a:lnTo>
                    <a:pt x="550164" y="161544"/>
                  </a:lnTo>
                  <a:lnTo>
                    <a:pt x="550164" y="150876"/>
                  </a:lnTo>
                  <a:lnTo>
                    <a:pt x="560832" y="161544"/>
                  </a:lnTo>
                  <a:lnTo>
                    <a:pt x="560832" y="179719"/>
                  </a:lnTo>
                  <a:lnTo>
                    <a:pt x="571500" y="168853"/>
                  </a:lnTo>
                  <a:close/>
                </a:path>
                <a:path w="660400" h="218439">
                  <a:moveTo>
                    <a:pt x="21336" y="161544"/>
                  </a:moveTo>
                  <a:lnTo>
                    <a:pt x="21336" y="150876"/>
                  </a:lnTo>
                  <a:lnTo>
                    <a:pt x="10668" y="140208"/>
                  </a:lnTo>
                  <a:lnTo>
                    <a:pt x="10668" y="161544"/>
                  </a:lnTo>
                  <a:lnTo>
                    <a:pt x="21336" y="161544"/>
                  </a:lnTo>
                  <a:close/>
                </a:path>
                <a:path w="660400" h="218439">
                  <a:moveTo>
                    <a:pt x="659892" y="109728"/>
                  </a:moveTo>
                  <a:lnTo>
                    <a:pt x="550164" y="0"/>
                  </a:lnTo>
                  <a:lnTo>
                    <a:pt x="550164" y="56388"/>
                  </a:lnTo>
                  <a:lnTo>
                    <a:pt x="554736" y="56388"/>
                  </a:lnTo>
                  <a:lnTo>
                    <a:pt x="554736" y="33528"/>
                  </a:lnTo>
                  <a:lnTo>
                    <a:pt x="571500" y="25908"/>
                  </a:lnTo>
                  <a:lnTo>
                    <a:pt x="571500" y="50602"/>
                  </a:lnTo>
                  <a:lnTo>
                    <a:pt x="629550" y="109728"/>
                  </a:lnTo>
                  <a:lnTo>
                    <a:pt x="637032" y="102108"/>
                  </a:lnTo>
                  <a:lnTo>
                    <a:pt x="637032" y="132270"/>
                  </a:lnTo>
                  <a:lnTo>
                    <a:pt x="659892" y="109728"/>
                  </a:lnTo>
                  <a:close/>
                </a:path>
                <a:path w="660400" h="218439">
                  <a:moveTo>
                    <a:pt x="560832" y="77724"/>
                  </a:moveTo>
                  <a:lnTo>
                    <a:pt x="560832" y="56388"/>
                  </a:lnTo>
                  <a:lnTo>
                    <a:pt x="550164" y="67056"/>
                  </a:lnTo>
                  <a:lnTo>
                    <a:pt x="550164" y="77724"/>
                  </a:lnTo>
                  <a:lnTo>
                    <a:pt x="560832" y="77724"/>
                  </a:lnTo>
                  <a:close/>
                </a:path>
                <a:path w="660400" h="218439">
                  <a:moveTo>
                    <a:pt x="560832" y="161544"/>
                  </a:moveTo>
                  <a:lnTo>
                    <a:pt x="550164" y="150876"/>
                  </a:lnTo>
                  <a:lnTo>
                    <a:pt x="550164" y="161544"/>
                  </a:lnTo>
                  <a:lnTo>
                    <a:pt x="560832" y="161544"/>
                  </a:lnTo>
                  <a:close/>
                </a:path>
                <a:path w="660400" h="218439">
                  <a:moveTo>
                    <a:pt x="560832" y="179719"/>
                  </a:moveTo>
                  <a:lnTo>
                    <a:pt x="560832" y="161544"/>
                  </a:lnTo>
                  <a:lnTo>
                    <a:pt x="550164" y="161544"/>
                  </a:lnTo>
                  <a:lnTo>
                    <a:pt x="550164" y="217932"/>
                  </a:lnTo>
                  <a:lnTo>
                    <a:pt x="554736" y="213423"/>
                  </a:lnTo>
                  <a:lnTo>
                    <a:pt x="554736" y="185928"/>
                  </a:lnTo>
                  <a:lnTo>
                    <a:pt x="560832" y="179719"/>
                  </a:lnTo>
                  <a:close/>
                </a:path>
                <a:path w="660400" h="218439">
                  <a:moveTo>
                    <a:pt x="571500" y="50602"/>
                  </a:moveTo>
                  <a:lnTo>
                    <a:pt x="571500" y="25908"/>
                  </a:lnTo>
                  <a:lnTo>
                    <a:pt x="554736" y="33528"/>
                  </a:lnTo>
                  <a:lnTo>
                    <a:pt x="571500" y="50602"/>
                  </a:lnTo>
                  <a:close/>
                </a:path>
                <a:path w="660400" h="218439">
                  <a:moveTo>
                    <a:pt x="571500" y="77724"/>
                  </a:moveTo>
                  <a:lnTo>
                    <a:pt x="571500" y="50602"/>
                  </a:lnTo>
                  <a:lnTo>
                    <a:pt x="554736" y="33528"/>
                  </a:lnTo>
                  <a:lnTo>
                    <a:pt x="554736" y="56388"/>
                  </a:lnTo>
                  <a:lnTo>
                    <a:pt x="560832" y="56388"/>
                  </a:lnTo>
                  <a:lnTo>
                    <a:pt x="560832" y="77724"/>
                  </a:lnTo>
                  <a:lnTo>
                    <a:pt x="571500" y="77724"/>
                  </a:lnTo>
                  <a:close/>
                </a:path>
                <a:path w="660400" h="218439">
                  <a:moveTo>
                    <a:pt x="637032" y="132270"/>
                  </a:moveTo>
                  <a:lnTo>
                    <a:pt x="637032" y="117348"/>
                  </a:lnTo>
                  <a:lnTo>
                    <a:pt x="629550" y="109728"/>
                  </a:lnTo>
                  <a:lnTo>
                    <a:pt x="554736" y="185928"/>
                  </a:lnTo>
                  <a:lnTo>
                    <a:pt x="571500" y="193548"/>
                  </a:lnTo>
                  <a:lnTo>
                    <a:pt x="571500" y="196892"/>
                  </a:lnTo>
                  <a:lnTo>
                    <a:pt x="637032" y="132270"/>
                  </a:lnTo>
                  <a:close/>
                </a:path>
                <a:path w="660400" h="218439">
                  <a:moveTo>
                    <a:pt x="571500" y="196892"/>
                  </a:moveTo>
                  <a:lnTo>
                    <a:pt x="571500" y="193548"/>
                  </a:lnTo>
                  <a:lnTo>
                    <a:pt x="554736" y="185928"/>
                  </a:lnTo>
                  <a:lnTo>
                    <a:pt x="554736" y="213423"/>
                  </a:lnTo>
                  <a:lnTo>
                    <a:pt x="571500" y="196892"/>
                  </a:lnTo>
                  <a:close/>
                </a:path>
                <a:path w="660400" h="218439">
                  <a:moveTo>
                    <a:pt x="637032" y="117348"/>
                  </a:moveTo>
                  <a:lnTo>
                    <a:pt x="637032" y="102108"/>
                  </a:lnTo>
                  <a:lnTo>
                    <a:pt x="629550" y="109728"/>
                  </a:lnTo>
                  <a:lnTo>
                    <a:pt x="637032" y="117348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322454" y="3198876"/>
            <a:ext cx="660400" cy="216535"/>
            <a:chOff x="2322454" y="3198876"/>
            <a:chExt cx="660400" cy="216535"/>
          </a:xfrm>
        </p:grpSpPr>
        <p:sp>
          <p:nvSpPr>
            <p:cNvPr id="17" name="object 17"/>
            <p:cNvSpPr/>
            <p:nvPr/>
          </p:nvSpPr>
          <p:spPr>
            <a:xfrm>
              <a:off x="2333122" y="3223259"/>
              <a:ext cx="634365" cy="167640"/>
            </a:xfrm>
            <a:custGeom>
              <a:avLst/>
              <a:gdLst/>
              <a:ahLst/>
              <a:cxnLst/>
              <a:rect l="l" t="t" r="r" b="b"/>
              <a:pathLst>
                <a:path w="634364" h="167639">
                  <a:moveTo>
                    <a:pt x="633983" y="83819"/>
                  </a:moveTo>
                  <a:lnTo>
                    <a:pt x="550163" y="0"/>
                  </a:lnTo>
                  <a:lnTo>
                    <a:pt x="550163" y="42671"/>
                  </a:lnTo>
                  <a:lnTo>
                    <a:pt x="0" y="42671"/>
                  </a:lnTo>
                  <a:lnTo>
                    <a:pt x="0" y="124967"/>
                  </a:lnTo>
                  <a:lnTo>
                    <a:pt x="550163" y="124967"/>
                  </a:lnTo>
                  <a:lnTo>
                    <a:pt x="550163" y="167639"/>
                  </a:lnTo>
                  <a:lnTo>
                    <a:pt x="633983" y="83819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22454" y="3198876"/>
              <a:ext cx="660400" cy="216535"/>
            </a:xfrm>
            <a:custGeom>
              <a:avLst/>
              <a:gdLst/>
              <a:ahLst/>
              <a:cxnLst/>
              <a:rect l="l" t="t" r="r" b="b"/>
              <a:pathLst>
                <a:path w="660400" h="216535">
                  <a:moveTo>
                    <a:pt x="560832" y="56388"/>
                  </a:moveTo>
                  <a:lnTo>
                    <a:pt x="0" y="56388"/>
                  </a:lnTo>
                  <a:lnTo>
                    <a:pt x="0" y="160020"/>
                  </a:lnTo>
                  <a:lnTo>
                    <a:pt x="10668" y="160020"/>
                  </a:lnTo>
                  <a:lnTo>
                    <a:pt x="10668" y="76200"/>
                  </a:lnTo>
                  <a:lnTo>
                    <a:pt x="21336" y="67056"/>
                  </a:lnTo>
                  <a:lnTo>
                    <a:pt x="21336" y="76200"/>
                  </a:lnTo>
                  <a:lnTo>
                    <a:pt x="550164" y="76200"/>
                  </a:lnTo>
                  <a:lnTo>
                    <a:pt x="550164" y="67056"/>
                  </a:lnTo>
                  <a:lnTo>
                    <a:pt x="560832" y="56388"/>
                  </a:lnTo>
                  <a:close/>
                </a:path>
                <a:path w="660400" h="216535">
                  <a:moveTo>
                    <a:pt x="21336" y="76200"/>
                  </a:moveTo>
                  <a:lnTo>
                    <a:pt x="21336" y="67056"/>
                  </a:lnTo>
                  <a:lnTo>
                    <a:pt x="10668" y="76200"/>
                  </a:lnTo>
                  <a:lnTo>
                    <a:pt x="21336" y="76200"/>
                  </a:lnTo>
                  <a:close/>
                </a:path>
                <a:path w="660400" h="216535">
                  <a:moveTo>
                    <a:pt x="21336" y="140208"/>
                  </a:moveTo>
                  <a:lnTo>
                    <a:pt x="21336" y="76200"/>
                  </a:lnTo>
                  <a:lnTo>
                    <a:pt x="10668" y="76200"/>
                  </a:lnTo>
                  <a:lnTo>
                    <a:pt x="10668" y="140208"/>
                  </a:lnTo>
                  <a:lnTo>
                    <a:pt x="21336" y="140208"/>
                  </a:lnTo>
                  <a:close/>
                </a:path>
                <a:path w="660400" h="216535">
                  <a:moveTo>
                    <a:pt x="571500" y="167329"/>
                  </a:moveTo>
                  <a:lnTo>
                    <a:pt x="571500" y="140208"/>
                  </a:lnTo>
                  <a:lnTo>
                    <a:pt x="10668" y="140208"/>
                  </a:lnTo>
                  <a:lnTo>
                    <a:pt x="21336" y="149352"/>
                  </a:lnTo>
                  <a:lnTo>
                    <a:pt x="21336" y="160020"/>
                  </a:lnTo>
                  <a:lnTo>
                    <a:pt x="550164" y="160020"/>
                  </a:lnTo>
                  <a:lnTo>
                    <a:pt x="550164" y="149352"/>
                  </a:lnTo>
                  <a:lnTo>
                    <a:pt x="560832" y="160020"/>
                  </a:lnTo>
                  <a:lnTo>
                    <a:pt x="560832" y="178195"/>
                  </a:lnTo>
                  <a:lnTo>
                    <a:pt x="571500" y="167329"/>
                  </a:lnTo>
                  <a:close/>
                </a:path>
                <a:path w="660400" h="216535">
                  <a:moveTo>
                    <a:pt x="21336" y="160020"/>
                  </a:moveTo>
                  <a:lnTo>
                    <a:pt x="21336" y="149352"/>
                  </a:lnTo>
                  <a:lnTo>
                    <a:pt x="10668" y="140208"/>
                  </a:lnTo>
                  <a:lnTo>
                    <a:pt x="10668" y="160020"/>
                  </a:lnTo>
                  <a:lnTo>
                    <a:pt x="21336" y="160020"/>
                  </a:lnTo>
                  <a:close/>
                </a:path>
                <a:path w="660400" h="216535">
                  <a:moveTo>
                    <a:pt x="659892" y="108204"/>
                  </a:moveTo>
                  <a:lnTo>
                    <a:pt x="550164" y="0"/>
                  </a:lnTo>
                  <a:lnTo>
                    <a:pt x="550164" y="56388"/>
                  </a:lnTo>
                  <a:lnTo>
                    <a:pt x="554736" y="56388"/>
                  </a:lnTo>
                  <a:lnTo>
                    <a:pt x="554736" y="32004"/>
                  </a:lnTo>
                  <a:lnTo>
                    <a:pt x="571500" y="24384"/>
                  </a:lnTo>
                  <a:lnTo>
                    <a:pt x="571500" y="49078"/>
                  </a:lnTo>
                  <a:lnTo>
                    <a:pt x="629550" y="108204"/>
                  </a:lnTo>
                  <a:lnTo>
                    <a:pt x="637032" y="100584"/>
                  </a:lnTo>
                  <a:lnTo>
                    <a:pt x="637032" y="130746"/>
                  </a:lnTo>
                  <a:lnTo>
                    <a:pt x="659892" y="108204"/>
                  </a:lnTo>
                  <a:close/>
                </a:path>
                <a:path w="660400" h="216535">
                  <a:moveTo>
                    <a:pt x="560832" y="76200"/>
                  </a:moveTo>
                  <a:lnTo>
                    <a:pt x="560832" y="56388"/>
                  </a:lnTo>
                  <a:lnTo>
                    <a:pt x="550164" y="67056"/>
                  </a:lnTo>
                  <a:lnTo>
                    <a:pt x="550164" y="76200"/>
                  </a:lnTo>
                  <a:lnTo>
                    <a:pt x="560832" y="76200"/>
                  </a:lnTo>
                  <a:close/>
                </a:path>
                <a:path w="660400" h="216535">
                  <a:moveTo>
                    <a:pt x="560832" y="160020"/>
                  </a:moveTo>
                  <a:lnTo>
                    <a:pt x="550164" y="149352"/>
                  </a:lnTo>
                  <a:lnTo>
                    <a:pt x="550164" y="160020"/>
                  </a:lnTo>
                  <a:lnTo>
                    <a:pt x="560832" y="160020"/>
                  </a:lnTo>
                  <a:close/>
                </a:path>
                <a:path w="660400" h="216535">
                  <a:moveTo>
                    <a:pt x="560832" y="178195"/>
                  </a:moveTo>
                  <a:lnTo>
                    <a:pt x="560832" y="160020"/>
                  </a:lnTo>
                  <a:lnTo>
                    <a:pt x="550164" y="160020"/>
                  </a:lnTo>
                  <a:lnTo>
                    <a:pt x="550164" y="216408"/>
                  </a:lnTo>
                  <a:lnTo>
                    <a:pt x="554736" y="211899"/>
                  </a:lnTo>
                  <a:lnTo>
                    <a:pt x="554736" y="184404"/>
                  </a:lnTo>
                  <a:lnTo>
                    <a:pt x="560832" y="178195"/>
                  </a:lnTo>
                  <a:close/>
                </a:path>
                <a:path w="660400" h="216535">
                  <a:moveTo>
                    <a:pt x="571500" y="49078"/>
                  </a:moveTo>
                  <a:lnTo>
                    <a:pt x="571500" y="24384"/>
                  </a:lnTo>
                  <a:lnTo>
                    <a:pt x="554736" y="32004"/>
                  </a:lnTo>
                  <a:lnTo>
                    <a:pt x="571500" y="49078"/>
                  </a:lnTo>
                  <a:close/>
                </a:path>
                <a:path w="660400" h="216535">
                  <a:moveTo>
                    <a:pt x="571500" y="76200"/>
                  </a:moveTo>
                  <a:lnTo>
                    <a:pt x="571500" y="49078"/>
                  </a:lnTo>
                  <a:lnTo>
                    <a:pt x="554736" y="32004"/>
                  </a:lnTo>
                  <a:lnTo>
                    <a:pt x="554736" y="56388"/>
                  </a:lnTo>
                  <a:lnTo>
                    <a:pt x="560832" y="56388"/>
                  </a:lnTo>
                  <a:lnTo>
                    <a:pt x="560832" y="76200"/>
                  </a:lnTo>
                  <a:lnTo>
                    <a:pt x="571500" y="76200"/>
                  </a:lnTo>
                  <a:close/>
                </a:path>
                <a:path w="660400" h="216535">
                  <a:moveTo>
                    <a:pt x="637032" y="130746"/>
                  </a:moveTo>
                  <a:lnTo>
                    <a:pt x="637032" y="115824"/>
                  </a:lnTo>
                  <a:lnTo>
                    <a:pt x="629550" y="108204"/>
                  </a:lnTo>
                  <a:lnTo>
                    <a:pt x="554736" y="184404"/>
                  </a:lnTo>
                  <a:lnTo>
                    <a:pt x="571500" y="192024"/>
                  </a:lnTo>
                  <a:lnTo>
                    <a:pt x="571500" y="195368"/>
                  </a:lnTo>
                  <a:lnTo>
                    <a:pt x="637032" y="130746"/>
                  </a:lnTo>
                  <a:close/>
                </a:path>
                <a:path w="660400" h="216535">
                  <a:moveTo>
                    <a:pt x="571500" y="195368"/>
                  </a:moveTo>
                  <a:lnTo>
                    <a:pt x="571500" y="192024"/>
                  </a:lnTo>
                  <a:lnTo>
                    <a:pt x="554736" y="184404"/>
                  </a:lnTo>
                  <a:lnTo>
                    <a:pt x="554736" y="211899"/>
                  </a:lnTo>
                  <a:lnTo>
                    <a:pt x="571500" y="195368"/>
                  </a:lnTo>
                  <a:close/>
                </a:path>
                <a:path w="660400" h="216535">
                  <a:moveTo>
                    <a:pt x="637032" y="115824"/>
                  </a:moveTo>
                  <a:lnTo>
                    <a:pt x="637032" y="100584"/>
                  </a:lnTo>
                  <a:lnTo>
                    <a:pt x="629550" y="108204"/>
                  </a:lnTo>
                  <a:lnTo>
                    <a:pt x="637032" y="115824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718694" y="5181600"/>
            <a:ext cx="660400" cy="218440"/>
            <a:chOff x="2718694" y="5181600"/>
            <a:chExt cx="660400" cy="218440"/>
          </a:xfrm>
        </p:grpSpPr>
        <p:sp>
          <p:nvSpPr>
            <p:cNvPr id="20" name="object 20"/>
            <p:cNvSpPr/>
            <p:nvPr/>
          </p:nvSpPr>
          <p:spPr>
            <a:xfrm>
              <a:off x="2729361" y="5207507"/>
              <a:ext cx="634365" cy="166370"/>
            </a:xfrm>
            <a:custGeom>
              <a:avLst/>
              <a:gdLst/>
              <a:ahLst/>
              <a:cxnLst/>
              <a:rect l="l" t="t" r="r" b="b"/>
              <a:pathLst>
                <a:path w="634364" h="166370">
                  <a:moveTo>
                    <a:pt x="633983" y="83819"/>
                  </a:moveTo>
                  <a:lnTo>
                    <a:pt x="551687" y="0"/>
                  </a:lnTo>
                  <a:lnTo>
                    <a:pt x="551687" y="41147"/>
                  </a:lnTo>
                  <a:lnTo>
                    <a:pt x="0" y="41147"/>
                  </a:lnTo>
                  <a:lnTo>
                    <a:pt x="0" y="124967"/>
                  </a:lnTo>
                  <a:lnTo>
                    <a:pt x="551687" y="124967"/>
                  </a:lnTo>
                  <a:lnTo>
                    <a:pt x="551687" y="166115"/>
                  </a:lnTo>
                  <a:lnTo>
                    <a:pt x="633983" y="83819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18694" y="5181600"/>
              <a:ext cx="660400" cy="218440"/>
            </a:xfrm>
            <a:custGeom>
              <a:avLst/>
              <a:gdLst/>
              <a:ahLst/>
              <a:cxnLst/>
              <a:rect l="l" t="t" r="r" b="b"/>
              <a:pathLst>
                <a:path w="660400" h="218439">
                  <a:moveTo>
                    <a:pt x="562356" y="56388"/>
                  </a:moveTo>
                  <a:lnTo>
                    <a:pt x="0" y="56388"/>
                  </a:lnTo>
                  <a:lnTo>
                    <a:pt x="0" y="161544"/>
                  </a:lnTo>
                  <a:lnTo>
                    <a:pt x="10668" y="161544"/>
                  </a:lnTo>
                  <a:lnTo>
                    <a:pt x="10668" y="77724"/>
                  </a:lnTo>
                  <a:lnTo>
                    <a:pt x="21336" y="67056"/>
                  </a:lnTo>
                  <a:lnTo>
                    <a:pt x="21336" y="77724"/>
                  </a:lnTo>
                  <a:lnTo>
                    <a:pt x="551688" y="77724"/>
                  </a:lnTo>
                  <a:lnTo>
                    <a:pt x="551688" y="67056"/>
                  </a:lnTo>
                  <a:lnTo>
                    <a:pt x="562356" y="56388"/>
                  </a:lnTo>
                  <a:close/>
                </a:path>
                <a:path w="660400" h="218439">
                  <a:moveTo>
                    <a:pt x="21336" y="77724"/>
                  </a:moveTo>
                  <a:lnTo>
                    <a:pt x="21336" y="67056"/>
                  </a:lnTo>
                  <a:lnTo>
                    <a:pt x="10668" y="77724"/>
                  </a:lnTo>
                  <a:lnTo>
                    <a:pt x="21336" y="77724"/>
                  </a:lnTo>
                  <a:close/>
                </a:path>
                <a:path w="660400" h="218439">
                  <a:moveTo>
                    <a:pt x="21336" y="140208"/>
                  </a:moveTo>
                  <a:lnTo>
                    <a:pt x="21336" y="77724"/>
                  </a:lnTo>
                  <a:lnTo>
                    <a:pt x="10668" y="77724"/>
                  </a:lnTo>
                  <a:lnTo>
                    <a:pt x="10668" y="140208"/>
                  </a:lnTo>
                  <a:lnTo>
                    <a:pt x="21336" y="140208"/>
                  </a:lnTo>
                  <a:close/>
                </a:path>
                <a:path w="660400" h="218439">
                  <a:moveTo>
                    <a:pt x="573024" y="166448"/>
                  </a:moveTo>
                  <a:lnTo>
                    <a:pt x="573024" y="140208"/>
                  </a:lnTo>
                  <a:lnTo>
                    <a:pt x="10668" y="140208"/>
                  </a:lnTo>
                  <a:lnTo>
                    <a:pt x="21336" y="150876"/>
                  </a:lnTo>
                  <a:lnTo>
                    <a:pt x="21336" y="161544"/>
                  </a:lnTo>
                  <a:lnTo>
                    <a:pt x="551688" y="161544"/>
                  </a:lnTo>
                  <a:lnTo>
                    <a:pt x="551688" y="150876"/>
                  </a:lnTo>
                  <a:lnTo>
                    <a:pt x="562356" y="161544"/>
                  </a:lnTo>
                  <a:lnTo>
                    <a:pt x="562356" y="176922"/>
                  </a:lnTo>
                  <a:lnTo>
                    <a:pt x="573024" y="166448"/>
                  </a:lnTo>
                  <a:close/>
                </a:path>
                <a:path w="660400" h="218439">
                  <a:moveTo>
                    <a:pt x="21336" y="161544"/>
                  </a:moveTo>
                  <a:lnTo>
                    <a:pt x="21336" y="150876"/>
                  </a:lnTo>
                  <a:lnTo>
                    <a:pt x="10668" y="140208"/>
                  </a:lnTo>
                  <a:lnTo>
                    <a:pt x="10668" y="161544"/>
                  </a:lnTo>
                  <a:lnTo>
                    <a:pt x="21336" y="161544"/>
                  </a:lnTo>
                  <a:close/>
                </a:path>
                <a:path w="660400" h="218439">
                  <a:moveTo>
                    <a:pt x="659892" y="109728"/>
                  </a:moveTo>
                  <a:lnTo>
                    <a:pt x="551688" y="0"/>
                  </a:lnTo>
                  <a:lnTo>
                    <a:pt x="551688" y="56388"/>
                  </a:lnTo>
                  <a:lnTo>
                    <a:pt x="554736" y="56388"/>
                  </a:lnTo>
                  <a:lnTo>
                    <a:pt x="554736" y="33528"/>
                  </a:lnTo>
                  <a:lnTo>
                    <a:pt x="573024" y="25908"/>
                  </a:lnTo>
                  <a:lnTo>
                    <a:pt x="573024" y="51483"/>
                  </a:lnTo>
                  <a:lnTo>
                    <a:pt x="631571" y="108966"/>
                  </a:lnTo>
                  <a:lnTo>
                    <a:pt x="638556" y="102108"/>
                  </a:lnTo>
                  <a:lnTo>
                    <a:pt x="638556" y="131064"/>
                  </a:lnTo>
                  <a:lnTo>
                    <a:pt x="659892" y="109728"/>
                  </a:lnTo>
                  <a:close/>
                </a:path>
                <a:path w="660400" h="218439">
                  <a:moveTo>
                    <a:pt x="562356" y="77724"/>
                  </a:moveTo>
                  <a:lnTo>
                    <a:pt x="562356" y="56388"/>
                  </a:lnTo>
                  <a:lnTo>
                    <a:pt x="551688" y="67056"/>
                  </a:lnTo>
                  <a:lnTo>
                    <a:pt x="551688" y="77724"/>
                  </a:lnTo>
                  <a:lnTo>
                    <a:pt x="562356" y="77724"/>
                  </a:lnTo>
                  <a:close/>
                </a:path>
                <a:path w="660400" h="218439">
                  <a:moveTo>
                    <a:pt x="562356" y="161544"/>
                  </a:moveTo>
                  <a:lnTo>
                    <a:pt x="551688" y="150876"/>
                  </a:lnTo>
                  <a:lnTo>
                    <a:pt x="551688" y="161544"/>
                  </a:lnTo>
                  <a:lnTo>
                    <a:pt x="562356" y="161544"/>
                  </a:lnTo>
                  <a:close/>
                </a:path>
                <a:path w="660400" h="218439">
                  <a:moveTo>
                    <a:pt x="562356" y="176922"/>
                  </a:moveTo>
                  <a:lnTo>
                    <a:pt x="562356" y="161544"/>
                  </a:lnTo>
                  <a:lnTo>
                    <a:pt x="551688" y="161544"/>
                  </a:lnTo>
                  <a:lnTo>
                    <a:pt x="551688" y="217932"/>
                  </a:lnTo>
                  <a:lnTo>
                    <a:pt x="554736" y="214884"/>
                  </a:lnTo>
                  <a:lnTo>
                    <a:pt x="554736" y="184404"/>
                  </a:lnTo>
                  <a:lnTo>
                    <a:pt x="562356" y="176922"/>
                  </a:lnTo>
                  <a:close/>
                </a:path>
                <a:path w="660400" h="218439">
                  <a:moveTo>
                    <a:pt x="573024" y="51483"/>
                  </a:moveTo>
                  <a:lnTo>
                    <a:pt x="573024" y="25908"/>
                  </a:lnTo>
                  <a:lnTo>
                    <a:pt x="554736" y="33528"/>
                  </a:lnTo>
                  <a:lnTo>
                    <a:pt x="573024" y="51483"/>
                  </a:lnTo>
                  <a:close/>
                </a:path>
                <a:path w="660400" h="218439">
                  <a:moveTo>
                    <a:pt x="573024" y="77724"/>
                  </a:moveTo>
                  <a:lnTo>
                    <a:pt x="573024" y="51483"/>
                  </a:lnTo>
                  <a:lnTo>
                    <a:pt x="554736" y="33528"/>
                  </a:lnTo>
                  <a:lnTo>
                    <a:pt x="554736" y="56388"/>
                  </a:lnTo>
                  <a:lnTo>
                    <a:pt x="562356" y="56388"/>
                  </a:lnTo>
                  <a:lnTo>
                    <a:pt x="562356" y="77724"/>
                  </a:lnTo>
                  <a:lnTo>
                    <a:pt x="573024" y="77724"/>
                  </a:lnTo>
                  <a:close/>
                </a:path>
                <a:path w="660400" h="218439">
                  <a:moveTo>
                    <a:pt x="638556" y="131064"/>
                  </a:moveTo>
                  <a:lnTo>
                    <a:pt x="638556" y="115824"/>
                  </a:lnTo>
                  <a:lnTo>
                    <a:pt x="631571" y="108966"/>
                  </a:lnTo>
                  <a:lnTo>
                    <a:pt x="554736" y="184404"/>
                  </a:lnTo>
                  <a:lnTo>
                    <a:pt x="573024" y="192024"/>
                  </a:lnTo>
                  <a:lnTo>
                    <a:pt x="573024" y="196596"/>
                  </a:lnTo>
                  <a:lnTo>
                    <a:pt x="638556" y="131064"/>
                  </a:lnTo>
                  <a:close/>
                </a:path>
                <a:path w="660400" h="218439">
                  <a:moveTo>
                    <a:pt x="573024" y="196596"/>
                  </a:moveTo>
                  <a:lnTo>
                    <a:pt x="573024" y="192024"/>
                  </a:lnTo>
                  <a:lnTo>
                    <a:pt x="554736" y="184404"/>
                  </a:lnTo>
                  <a:lnTo>
                    <a:pt x="554736" y="214884"/>
                  </a:lnTo>
                  <a:lnTo>
                    <a:pt x="573024" y="196596"/>
                  </a:lnTo>
                  <a:close/>
                </a:path>
                <a:path w="660400" h="218439">
                  <a:moveTo>
                    <a:pt x="638556" y="115824"/>
                  </a:moveTo>
                  <a:lnTo>
                    <a:pt x="638556" y="102108"/>
                  </a:lnTo>
                  <a:lnTo>
                    <a:pt x="631571" y="108966"/>
                  </a:lnTo>
                  <a:lnTo>
                    <a:pt x="638556" y="115824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495422" y="3983736"/>
            <a:ext cx="894715" cy="520065"/>
            <a:chOff x="5495422" y="3983736"/>
            <a:chExt cx="894715" cy="520065"/>
          </a:xfrm>
        </p:grpSpPr>
        <p:sp>
          <p:nvSpPr>
            <p:cNvPr id="23" name="object 23"/>
            <p:cNvSpPr/>
            <p:nvPr/>
          </p:nvSpPr>
          <p:spPr>
            <a:xfrm>
              <a:off x="5506090" y="3994404"/>
              <a:ext cx="873760" cy="498475"/>
            </a:xfrm>
            <a:custGeom>
              <a:avLst/>
              <a:gdLst/>
              <a:ahLst/>
              <a:cxnLst/>
              <a:rect l="l" t="t" r="r" b="b"/>
              <a:pathLst>
                <a:path w="873760" h="498475">
                  <a:moveTo>
                    <a:pt x="873251" y="416051"/>
                  </a:moveTo>
                  <a:lnTo>
                    <a:pt x="873251" y="83819"/>
                  </a:lnTo>
                  <a:lnTo>
                    <a:pt x="866584" y="51434"/>
                  </a:lnTo>
                  <a:lnTo>
                    <a:pt x="848486" y="24764"/>
                  </a:lnTo>
                  <a:lnTo>
                    <a:pt x="821816" y="6667"/>
                  </a:lnTo>
                  <a:lnTo>
                    <a:pt x="789431" y="0"/>
                  </a:lnTo>
                  <a:lnTo>
                    <a:pt x="83819" y="0"/>
                  </a:lnTo>
                  <a:lnTo>
                    <a:pt x="51434" y="6667"/>
                  </a:lnTo>
                  <a:lnTo>
                    <a:pt x="24764" y="24764"/>
                  </a:lnTo>
                  <a:lnTo>
                    <a:pt x="6667" y="51434"/>
                  </a:lnTo>
                  <a:lnTo>
                    <a:pt x="0" y="83819"/>
                  </a:lnTo>
                  <a:lnTo>
                    <a:pt x="0" y="416051"/>
                  </a:lnTo>
                  <a:lnTo>
                    <a:pt x="6667" y="448198"/>
                  </a:lnTo>
                  <a:lnTo>
                    <a:pt x="24764" y="474344"/>
                  </a:lnTo>
                  <a:lnTo>
                    <a:pt x="51434" y="491918"/>
                  </a:lnTo>
                  <a:lnTo>
                    <a:pt x="83819" y="498347"/>
                  </a:lnTo>
                  <a:lnTo>
                    <a:pt x="789431" y="498347"/>
                  </a:lnTo>
                  <a:lnTo>
                    <a:pt x="821816" y="491918"/>
                  </a:lnTo>
                  <a:lnTo>
                    <a:pt x="848486" y="474344"/>
                  </a:lnTo>
                  <a:lnTo>
                    <a:pt x="866584" y="448198"/>
                  </a:lnTo>
                  <a:lnTo>
                    <a:pt x="873251" y="416051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495422" y="3983736"/>
              <a:ext cx="894715" cy="520065"/>
            </a:xfrm>
            <a:custGeom>
              <a:avLst/>
              <a:gdLst/>
              <a:ahLst/>
              <a:cxnLst/>
              <a:rect l="l" t="t" r="r" b="b"/>
              <a:pathLst>
                <a:path w="894714" h="520064">
                  <a:moveTo>
                    <a:pt x="894588" y="426720"/>
                  </a:moveTo>
                  <a:lnTo>
                    <a:pt x="894588" y="92964"/>
                  </a:lnTo>
                  <a:lnTo>
                    <a:pt x="890016" y="65532"/>
                  </a:lnTo>
                  <a:lnTo>
                    <a:pt x="867156" y="27432"/>
                  </a:lnTo>
                  <a:lnTo>
                    <a:pt x="827532" y="4572"/>
                  </a:lnTo>
                  <a:lnTo>
                    <a:pt x="800100" y="0"/>
                  </a:lnTo>
                  <a:lnTo>
                    <a:pt x="92964" y="0"/>
                  </a:lnTo>
                  <a:lnTo>
                    <a:pt x="48768" y="12192"/>
                  </a:lnTo>
                  <a:lnTo>
                    <a:pt x="16764" y="42672"/>
                  </a:lnTo>
                  <a:lnTo>
                    <a:pt x="10668" y="50292"/>
                  </a:lnTo>
                  <a:lnTo>
                    <a:pt x="7620" y="57912"/>
                  </a:lnTo>
                  <a:lnTo>
                    <a:pt x="1524" y="76200"/>
                  </a:lnTo>
                  <a:lnTo>
                    <a:pt x="1524" y="85344"/>
                  </a:lnTo>
                  <a:lnTo>
                    <a:pt x="0" y="94488"/>
                  </a:lnTo>
                  <a:lnTo>
                    <a:pt x="0" y="426720"/>
                  </a:lnTo>
                  <a:lnTo>
                    <a:pt x="4572" y="454152"/>
                  </a:lnTo>
                  <a:lnTo>
                    <a:pt x="7620" y="463296"/>
                  </a:lnTo>
                  <a:lnTo>
                    <a:pt x="16764" y="478536"/>
                  </a:lnTo>
                  <a:lnTo>
                    <a:pt x="21336" y="484251"/>
                  </a:lnTo>
                  <a:lnTo>
                    <a:pt x="21336" y="86868"/>
                  </a:lnTo>
                  <a:lnTo>
                    <a:pt x="24384" y="71628"/>
                  </a:lnTo>
                  <a:lnTo>
                    <a:pt x="33528" y="53340"/>
                  </a:lnTo>
                  <a:lnTo>
                    <a:pt x="38100" y="47244"/>
                  </a:lnTo>
                  <a:lnTo>
                    <a:pt x="42672" y="42672"/>
                  </a:lnTo>
                  <a:lnTo>
                    <a:pt x="48768" y="38100"/>
                  </a:lnTo>
                  <a:lnTo>
                    <a:pt x="53340" y="33528"/>
                  </a:lnTo>
                  <a:lnTo>
                    <a:pt x="800100" y="21336"/>
                  </a:lnTo>
                  <a:lnTo>
                    <a:pt x="809244" y="22860"/>
                  </a:lnTo>
                  <a:lnTo>
                    <a:pt x="815340" y="22860"/>
                  </a:lnTo>
                  <a:lnTo>
                    <a:pt x="822960" y="24384"/>
                  </a:lnTo>
                  <a:lnTo>
                    <a:pt x="835152" y="30480"/>
                  </a:lnTo>
                  <a:lnTo>
                    <a:pt x="841248" y="35052"/>
                  </a:lnTo>
                  <a:lnTo>
                    <a:pt x="847344" y="38100"/>
                  </a:lnTo>
                  <a:lnTo>
                    <a:pt x="851916" y="42672"/>
                  </a:lnTo>
                  <a:lnTo>
                    <a:pt x="861060" y="54864"/>
                  </a:lnTo>
                  <a:lnTo>
                    <a:pt x="864108" y="59436"/>
                  </a:lnTo>
                  <a:lnTo>
                    <a:pt x="867156" y="67056"/>
                  </a:lnTo>
                  <a:lnTo>
                    <a:pt x="870204" y="73152"/>
                  </a:lnTo>
                  <a:lnTo>
                    <a:pt x="871728" y="80772"/>
                  </a:lnTo>
                  <a:lnTo>
                    <a:pt x="873252" y="86868"/>
                  </a:lnTo>
                  <a:lnTo>
                    <a:pt x="873252" y="486156"/>
                  </a:lnTo>
                  <a:lnTo>
                    <a:pt x="882396" y="470916"/>
                  </a:lnTo>
                  <a:lnTo>
                    <a:pt x="886968" y="461772"/>
                  </a:lnTo>
                  <a:lnTo>
                    <a:pt x="890016" y="454152"/>
                  </a:lnTo>
                  <a:lnTo>
                    <a:pt x="893064" y="445008"/>
                  </a:lnTo>
                  <a:lnTo>
                    <a:pt x="893064" y="435864"/>
                  </a:lnTo>
                  <a:lnTo>
                    <a:pt x="894588" y="426720"/>
                  </a:lnTo>
                  <a:close/>
                </a:path>
                <a:path w="894714" h="520064">
                  <a:moveTo>
                    <a:pt x="873252" y="486156"/>
                  </a:moveTo>
                  <a:lnTo>
                    <a:pt x="873252" y="434340"/>
                  </a:lnTo>
                  <a:lnTo>
                    <a:pt x="871728" y="441960"/>
                  </a:lnTo>
                  <a:lnTo>
                    <a:pt x="870204" y="448056"/>
                  </a:lnTo>
                  <a:lnTo>
                    <a:pt x="867156" y="455676"/>
                  </a:lnTo>
                  <a:lnTo>
                    <a:pt x="861060" y="467868"/>
                  </a:lnTo>
                  <a:lnTo>
                    <a:pt x="856488" y="472440"/>
                  </a:lnTo>
                  <a:lnTo>
                    <a:pt x="851916" y="478536"/>
                  </a:lnTo>
                  <a:lnTo>
                    <a:pt x="845820" y="483108"/>
                  </a:lnTo>
                  <a:lnTo>
                    <a:pt x="841248" y="486156"/>
                  </a:lnTo>
                  <a:lnTo>
                    <a:pt x="835152" y="490728"/>
                  </a:lnTo>
                  <a:lnTo>
                    <a:pt x="829056" y="493776"/>
                  </a:lnTo>
                  <a:lnTo>
                    <a:pt x="821436" y="495300"/>
                  </a:lnTo>
                  <a:lnTo>
                    <a:pt x="815340" y="496824"/>
                  </a:lnTo>
                  <a:lnTo>
                    <a:pt x="807720" y="498348"/>
                  </a:lnTo>
                  <a:lnTo>
                    <a:pt x="85344" y="498348"/>
                  </a:lnTo>
                  <a:lnTo>
                    <a:pt x="79248" y="496824"/>
                  </a:lnTo>
                  <a:lnTo>
                    <a:pt x="71628" y="495300"/>
                  </a:lnTo>
                  <a:lnTo>
                    <a:pt x="38100" y="472440"/>
                  </a:lnTo>
                  <a:lnTo>
                    <a:pt x="21336" y="432816"/>
                  </a:lnTo>
                  <a:lnTo>
                    <a:pt x="21336" y="484251"/>
                  </a:lnTo>
                  <a:lnTo>
                    <a:pt x="50292" y="509016"/>
                  </a:lnTo>
                  <a:lnTo>
                    <a:pt x="85344" y="519684"/>
                  </a:lnTo>
                  <a:lnTo>
                    <a:pt x="810768" y="519684"/>
                  </a:lnTo>
                  <a:lnTo>
                    <a:pt x="819912" y="518160"/>
                  </a:lnTo>
                  <a:lnTo>
                    <a:pt x="838200" y="512064"/>
                  </a:lnTo>
                  <a:lnTo>
                    <a:pt x="845820" y="509016"/>
                  </a:lnTo>
                  <a:lnTo>
                    <a:pt x="853440" y="502920"/>
                  </a:lnTo>
                  <a:lnTo>
                    <a:pt x="861060" y="498348"/>
                  </a:lnTo>
                  <a:lnTo>
                    <a:pt x="873252" y="486156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63143" y="4065522"/>
            <a:ext cx="35814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5" dirty="0">
                <a:latin typeface="Cambria"/>
                <a:cs typeface="Cambria"/>
              </a:rPr>
              <a:t>2</a:t>
            </a:r>
            <a:r>
              <a:rPr sz="1950" spc="25" dirty="0">
                <a:latin typeface="Cambria"/>
                <a:cs typeface="Cambria"/>
              </a:rPr>
              <a:t>.</a:t>
            </a:r>
            <a:r>
              <a:rPr sz="1950" spc="10" dirty="0">
                <a:latin typeface="Cambria"/>
                <a:cs typeface="Cambria"/>
              </a:rPr>
              <a:t>3</a:t>
            </a:r>
            <a:endParaRPr sz="1950">
              <a:latin typeface="Cambria"/>
              <a:cs typeface="Cambri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558918" y="3927348"/>
            <a:ext cx="893444" cy="520065"/>
            <a:chOff x="7558918" y="3927348"/>
            <a:chExt cx="893444" cy="520065"/>
          </a:xfrm>
        </p:grpSpPr>
        <p:sp>
          <p:nvSpPr>
            <p:cNvPr id="27" name="object 27"/>
            <p:cNvSpPr/>
            <p:nvPr/>
          </p:nvSpPr>
          <p:spPr>
            <a:xfrm>
              <a:off x="7569586" y="3938016"/>
              <a:ext cx="871855" cy="498475"/>
            </a:xfrm>
            <a:custGeom>
              <a:avLst/>
              <a:gdLst/>
              <a:ahLst/>
              <a:cxnLst/>
              <a:rect l="l" t="t" r="r" b="b"/>
              <a:pathLst>
                <a:path w="871854" h="498475">
                  <a:moveTo>
                    <a:pt x="871727" y="414527"/>
                  </a:moveTo>
                  <a:lnTo>
                    <a:pt x="871727" y="82295"/>
                  </a:lnTo>
                  <a:lnTo>
                    <a:pt x="865298" y="50149"/>
                  </a:lnTo>
                  <a:lnTo>
                    <a:pt x="847724" y="24002"/>
                  </a:lnTo>
                  <a:lnTo>
                    <a:pt x="821578" y="6429"/>
                  </a:lnTo>
                  <a:lnTo>
                    <a:pt x="789431" y="0"/>
                  </a:lnTo>
                  <a:lnTo>
                    <a:pt x="82295" y="0"/>
                  </a:lnTo>
                  <a:lnTo>
                    <a:pt x="50149" y="6429"/>
                  </a:lnTo>
                  <a:lnTo>
                    <a:pt x="24002" y="24002"/>
                  </a:lnTo>
                  <a:lnTo>
                    <a:pt x="6429" y="50149"/>
                  </a:lnTo>
                  <a:lnTo>
                    <a:pt x="0" y="82295"/>
                  </a:lnTo>
                  <a:lnTo>
                    <a:pt x="0" y="414527"/>
                  </a:lnTo>
                  <a:lnTo>
                    <a:pt x="6429" y="446912"/>
                  </a:lnTo>
                  <a:lnTo>
                    <a:pt x="24002" y="473582"/>
                  </a:lnTo>
                  <a:lnTo>
                    <a:pt x="50149" y="491680"/>
                  </a:lnTo>
                  <a:lnTo>
                    <a:pt x="82295" y="498347"/>
                  </a:lnTo>
                  <a:lnTo>
                    <a:pt x="789431" y="498347"/>
                  </a:lnTo>
                  <a:lnTo>
                    <a:pt x="821578" y="491680"/>
                  </a:lnTo>
                  <a:lnTo>
                    <a:pt x="847724" y="473582"/>
                  </a:lnTo>
                  <a:lnTo>
                    <a:pt x="865298" y="446912"/>
                  </a:lnTo>
                  <a:lnTo>
                    <a:pt x="871727" y="414527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58918" y="3927348"/>
              <a:ext cx="893444" cy="520065"/>
            </a:xfrm>
            <a:custGeom>
              <a:avLst/>
              <a:gdLst/>
              <a:ahLst/>
              <a:cxnLst/>
              <a:rect l="l" t="t" r="r" b="b"/>
              <a:pathLst>
                <a:path w="893445" h="520064">
                  <a:moveTo>
                    <a:pt x="893064" y="434340"/>
                  </a:moveTo>
                  <a:lnTo>
                    <a:pt x="893064" y="83820"/>
                  </a:lnTo>
                  <a:lnTo>
                    <a:pt x="890016" y="65532"/>
                  </a:lnTo>
                  <a:lnTo>
                    <a:pt x="885444" y="56388"/>
                  </a:lnTo>
                  <a:lnTo>
                    <a:pt x="882396" y="48768"/>
                  </a:lnTo>
                  <a:lnTo>
                    <a:pt x="851916" y="15240"/>
                  </a:lnTo>
                  <a:lnTo>
                    <a:pt x="809244" y="0"/>
                  </a:lnTo>
                  <a:lnTo>
                    <a:pt x="83820" y="0"/>
                  </a:lnTo>
                  <a:lnTo>
                    <a:pt x="74676" y="1524"/>
                  </a:lnTo>
                  <a:lnTo>
                    <a:pt x="56388" y="7620"/>
                  </a:lnTo>
                  <a:lnTo>
                    <a:pt x="48768" y="10668"/>
                  </a:lnTo>
                  <a:lnTo>
                    <a:pt x="41148" y="16764"/>
                  </a:lnTo>
                  <a:lnTo>
                    <a:pt x="33528" y="21336"/>
                  </a:lnTo>
                  <a:lnTo>
                    <a:pt x="21336" y="33528"/>
                  </a:lnTo>
                  <a:lnTo>
                    <a:pt x="15240" y="41148"/>
                  </a:lnTo>
                  <a:lnTo>
                    <a:pt x="10668" y="48768"/>
                  </a:lnTo>
                  <a:lnTo>
                    <a:pt x="7620" y="57912"/>
                  </a:lnTo>
                  <a:lnTo>
                    <a:pt x="4572" y="65532"/>
                  </a:lnTo>
                  <a:lnTo>
                    <a:pt x="1524" y="74676"/>
                  </a:lnTo>
                  <a:lnTo>
                    <a:pt x="0" y="83820"/>
                  </a:lnTo>
                  <a:lnTo>
                    <a:pt x="0" y="435864"/>
                  </a:lnTo>
                  <a:lnTo>
                    <a:pt x="1524" y="445008"/>
                  </a:lnTo>
                  <a:lnTo>
                    <a:pt x="4572" y="454152"/>
                  </a:lnTo>
                  <a:lnTo>
                    <a:pt x="7620" y="461772"/>
                  </a:lnTo>
                  <a:lnTo>
                    <a:pt x="10668" y="470916"/>
                  </a:lnTo>
                  <a:lnTo>
                    <a:pt x="16764" y="478536"/>
                  </a:lnTo>
                  <a:lnTo>
                    <a:pt x="21336" y="484632"/>
                  </a:lnTo>
                  <a:lnTo>
                    <a:pt x="21336" y="85344"/>
                  </a:lnTo>
                  <a:lnTo>
                    <a:pt x="38100" y="47244"/>
                  </a:lnTo>
                  <a:lnTo>
                    <a:pt x="42672" y="41148"/>
                  </a:lnTo>
                  <a:lnTo>
                    <a:pt x="47244" y="36576"/>
                  </a:lnTo>
                  <a:lnTo>
                    <a:pt x="53340" y="33528"/>
                  </a:lnTo>
                  <a:lnTo>
                    <a:pt x="59436" y="28956"/>
                  </a:lnTo>
                  <a:lnTo>
                    <a:pt x="65532" y="25908"/>
                  </a:lnTo>
                  <a:lnTo>
                    <a:pt x="71628" y="24384"/>
                  </a:lnTo>
                  <a:lnTo>
                    <a:pt x="86868" y="21336"/>
                  </a:lnTo>
                  <a:lnTo>
                    <a:pt x="807720" y="21336"/>
                  </a:lnTo>
                  <a:lnTo>
                    <a:pt x="847344" y="38100"/>
                  </a:lnTo>
                  <a:lnTo>
                    <a:pt x="870204" y="71628"/>
                  </a:lnTo>
                  <a:lnTo>
                    <a:pt x="871728" y="79248"/>
                  </a:lnTo>
                  <a:lnTo>
                    <a:pt x="871728" y="86868"/>
                  </a:lnTo>
                  <a:lnTo>
                    <a:pt x="873252" y="94488"/>
                  </a:lnTo>
                  <a:lnTo>
                    <a:pt x="873252" y="484632"/>
                  </a:lnTo>
                  <a:lnTo>
                    <a:pt x="886968" y="461772"/>
                  </a:lnTo>
                  <a:lnTo>
                    <a:pt x="890016" y="452628"/>
                  </a:lnTo>
                  <a:lnTo>
                    <a:pt x="893064" y="434340"/>
                  </a:lnTo>
                  <a:close/>
                </a:path>
                <a:path w="893445" h="520064">
                  <a:moveTo>
                    <a:pt x="873252" y="484632"/>
                  </a:moveTo>
                  <a:lnTo>
                    <a:pt x="873252" y="425196"/>
                  </a:lnTo>
                  <a:lnTo>
                    <a:pt x="871728" y="432816"/>
                  </a:lnTo>
                  <a:lnTo>
                    <a:pt x="871728" y="440436"/>
                  </a:lnTo>
                  <a:lnTo>
                    <a:pt x="868680" y="448056"/>
                  </a:lnTo>
                  <a:lnTo>
                    <a:pt x="867156" y="454152"/>
                  </a:lnTo>
                  <a:lnTo>
                    <a:pt x="864108" y="460248"/>
                  </a:lnTo>
                  <a:lnTo>
                    <a:pt x="859536" y="466344"/>
                  </a:lnTo>
                  <a:lnTo>
                    <a:pt x="856488" y="472440"/>
                  </a:lnTo>
                  <a:lnTo>
                    <a:pt x="850392" y="477012"/>
                  </a:lnTo>
                  <a:lnTo>
                    <a:pt x="845820" y="481584"/>
                  </a:lnTo>
                  <a:lnTo>
                    <a:pt x="839724" y="486156"/>
                  </a:lnTo>
                  <a:lnTo>
                    <a:pt x="821436" y="495300"/>
                  </a:lnTo>
                  <a:lnTo>
                    <a:pt x="813816" y="496824"/>
                  </a:lnTo>
                  <a:lnTo>
                    <a:pt x="807720" y="498348"/>
                  </a:lnTo>
                  <a:lnTo>
                    <a:pt x="85344" y="498348"/>
                  </a:lnTo>
                  <a:lnTo>
                    <a:pt x="77724" y="496824"/>
                  </a:lnTo>
                  <a:lnTo>
                    <a:pt x="71628" y="495300"/>
                  </a:lnTo>
                  <a:lnTo>
                    <a:pt x="64008" y="492252"/>
                  </a:lnTo>
                  <a:lnTo>
                    <a:pt x="57912" y="489204"/>
                  </a:lnTo>
                  <a:lnTo>
                    <a:pt x="51816" y="484632"/>
                  </a:lnTo>
                  <a:lnTo>
                    <a:pt x="47244" y="481584"/>
                  </a:lnTo>
                  <a:lnTo>
                    <a:pt x="41148" y="477012"/>
                  </a:lnTo>
                  <a:lnTo>
                    <a:pt x="36576" y="470916"/>
                  </a:lnTo>
                  <a:lnTo>
                    <a:pt x="33528" y="466344"/>
                  </a:lnTo>
                  <a:lnTo>
                    <a:pt x="28956" y="460248"/>
                  </a:lnTo>
                  <a:lnTo>
                    <a:pt x="25908" y="452628"/>
                  </a:lnTo>
                  <a:lnTo>
                    <a:pt x="24384" y="446532"/>
                  </a:lnTo>
                  <a:lnTo>
                    <a:pt x="22860" y="438912"/>
                  </a:lnTo>
                  <a:lnTo>
                    <a:pt x="21336" y="432816"/>
                  </a:lnTo>
                  <a:lnTo>
                    <a:pt x="21336" y="484632"/>
                  </a:lnTo>
                  <a:lnTo>
                    <a:pt x="27432" y="492252"/>
                  </a:lnTo>
                  <a:lnTo>
                    <a:pt x="65532" y="515112"/>
                  </a:lnTo>
                  <a:lnTo>
                    <a:pt x="92964" y="519684"/>
                  </a:lnTo>
                  <a:lnTo>
                    <a:pt x="800100" y="519684"/>
                  </a:lnTo>
                  <a:lnTo>
                    <a:pt x="845820" y="507492"/>
                  </a:lnTo>
                  <a:lnTo>
                    <a:pt x="859536" y="496824"/>
                  </a:lnTo>
                  <a:lnTo>
                    <a:pt x="867156" y="490728"/>
                  </a:lnTo>
                  <a:lnTo>
                    <a:pt x="873252" y="484632"/>
                  </a:lnTo>
                  <a:close/>
                </a:path>
              </a:pathLst>
            </a:custGeom>
            <a:solidFill>
              <a:srgbClr val="6B84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826638" y="4009134"/>
            <a:ext cx="35814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5" dirty="0">
                <a:latin typeface="Cambria"/>
                <a:cs typeface="Cambria"/>
              </a:rPr>
              <a:t>2</a:t>
            </a:r>
            <a:r>
              <a:rPr sz="1950" spc="25" dirty="0">
                <a:latin typeface="Cambria"/>
                <a:cs typeface="Cambria"/>
              </a:rPr>
              <a:t>.</a:t>
            </a:r>
            <a:r>
              <a:rPr sz="1950" spc="10" dirty="0">
                <a:latin typeface="Cambria"/>
                <a:cs typeface="Cambria"/>
              </a:rPr>
              <a:t>3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27222" y="3480306"/>
            <a:ext cx="15113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379342" y="4120896"/>
            <a:ext cx="1190625" cy="109855"/>
          </a:xfrm>
          <a:custGeom>
            <a:avLst/>
            <a:gdLst/>
            <a:ahLst/>
            <a:cxnLst/>
            <a:rect l="l" t="t" r="r" b="b"/>
            <a:pathLst>
              <a:path w="1190625" h="109854">
                <a:moveTo>
                  <a:pt x="1168669" y="54864"/>
                </a:moveTo>
                <a:lnTo>
                  <a:pt x="1158192" y="48768"/>
                </a:lnTo>
                <a:lnTo>
                  <a:pt x="0" y="48768"/>
                </a:lnTo>
                <a:lnTo>
                  <a:pt x="0" y="60960"/>
                </a:lnTo>
                <a:lnTo>
                  <a:pt x="1158192" y="60960"/>
                </a:lnTo>
                <a:lnTo>
                  <a:pt x="1168669" y="54864"/>
                </a:lnTo>
                <a:close/>
              </a:path>
              <a:path w="1190625" h="109854">
                <a:moveTo>
                  <a:pt x="1190244" y="54864"/>
                </a:moveTo>
                <a:lnTo>
                  <a:pt x="1097280" y="1524"/>
                </a:lnTo>
                <a:lnTo>
                  <a:pt x="1095756" y="0"/>
                </a:lnTo>
                <a:lnTo>
                  <a:pt x="1091184" y="0"/>
                </a:lnTo>
                <a:lnTo>
                  <a:pt x="1088136" y="6096"/>
                </a:lnTo>
                <a:lnTo>
                  <a:pt x="1089660" y="9144"/>
                </a:lnTo>
                <a:lnTo>
                  <a:pt x="1092708" y="10668"/>
                </a:lnTo>
                <a:lnTo>
                  <a:pt x="1158192" y="48768"/>
                </a:lnTo>
                <a:lnTo>
                  <a:pt x="1179576" y="48768"/>
                </a:lnTo>
                <a:lnTo>
                  <a:pt x="1179576" y="60984"/>
                </a:lnTo>
                <a:lnTo>
                  <a:pt x="1190244" y="54864"/>
                </a:lnTo>
                <a:close/>
              </a:path>
              <a:path w="1190625" h="109854">
                <a:moveTo>
                  <a:pt x="1179576" y="60984"/>
                </a:moveTo>
                <a:lnTo>
                  <a:pt x="1158192" y="60960"/>
                </a:lnTo>
                <a:lnTo>
                  <a:pt x="1092708" y="99060"/>
                </a:lnTo>
                <a:lnTo>
                  <a:pt x="1089660" y="100584"/>
                </a:lnTo>
                <a:lnTo>
                  <a:pt x="1088136" y="103632"/>
                </a:lnTo>
                <a:lnTo>
                  <a:pt x="1091184" y="109728"/>
                </a:lnTo>
                <a:lnTo>
                  <a:pt x="1095756" y="109728"/>
                </a:lnTo>
                <a:lnTo>
                  <a:pt x="1097280" y="108204"/>
                </a:lnTo>
                <a:lnTo>
                  <a:pt x="1179576" y="60984"/>
                </a:lnTo>
                <a:close/>
              </a:path>
              <a:path w="1190625" h="109854">
                <a:moveTo>
                  <a:pt x="1179576" y="60960"/>
                </a:moveTo>
                <a:lnTo>
                  <a:pt x="1179576" y="48768"/>
                </a:lnTo>
                <a:lnTo>
                  <a:pt x="1158192" y="48768"/>
                </a:lnTo>
                <a:lnTo>
                  <a:pt x="1168669" y="54864"/>
                </a:lnTo>
                <a:lnTo>
                  <a:pt x="1176528" y="50292"/>
                </a:lnTo>
                <a:lnTo>
                  <a:pt x="1176528" y="60960"/>
                </a:lnTo>
                <a:lnTo>
                  <a:pt x="1179576" y="60960"/>
                </a:lnTo>
                <a:close/>
              </a:path>
              <a:path w="1190625" h="109854">
                <a:moveTo>
                  <a:pt x="1176528" y="60960"/>
                </a:moveTo>
                <a:lnTo>
                  <a:pt x="1176528" y="59436"/>
                </a:lnTo>
                <a:lnTo>
                  <a:pt x="1168669" y="54864"/>
                </a:lnTo>
                <a:lnTo>
                  <a:pt x="1158192" y="60960"/>
                </a:lnTo>
                <a:lnTo>
                  <a:pt x="1176528" y="60960"/>
                </a:lnTo>
                <a:close/>
              </a:path>
              <a:path w="1190625" h="109854">
                <a:moveTo>
                  <a:pt x="1176528" y="59436"/>
                </a:moveTo>
                <a:lnTo>
                  <a:pt x="1176528" y="50292"/>
                </a:lnTo>
                <a:lnTo>
                  <a:pt x="1168669" y="54864"/>
                </a:lnTo>
                <a:lnTo>
                  <a:pt x="1176528" y="59436"/>
                </a:lnTo>
                <a:close/>
              </a:path>
            </a:pathLst>
          </a:custGeom>
          <a:solidFill>
            <a:srgbClr val="FF32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647063" y="3820158"/>
            <a:ext cx="57150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5" dirty="0">
                <a:solidFill>
                  <a:srgbClr val="FF32CC"/>
                </a:solidFill>
                <a:latin typeface="Times New Roman"/>
                <a:cs typeface="Times New Roman"/>
              </a:rPr>
              <a:t>c</a:t>
            </a:r>
            <a:r>
              <a:rPr sz="1950" spc="20" dirty="0">
                <a:solidFill>
                  <a:srgbClr val="FF32CC"/>
                </a:solidFill>
                <a:latin typeface="Times New Roman"/>
                <a:cs typeface="Times New Roman"/>
              </a:rPr>
              <a:t>op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ie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45083"/>
            <a:ext cx="76193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30" dirty="0"/>
              <a:t>É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305" dirty="0"/>
              <a:t>u</a:t>
            </a:r>
            <a:r>
              <a:rPr spc="-20" dirty="0"/>
              <a:t>a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70" dirty="0"/>
              <a:t>l’</a:t>
            </a:r>
            <a:r>
              <a:rPr spc="-105" dirty="0"/>
              <a:t>a</a:t>
            </a:r>
            <a:r>
              <a:rPr spc="-305" dirty="0"/>
              <a:t>ppe</a:t>
            </a:r>
            <a:r>
              <a:rPr spc="-70" dirty="0"/>
              <a:t>l</a:t>
            </a:r>
            <a:r>
              <a:rPr b="0" spc="3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70" dirty="0"/>
              <a:t>’</a:t>
            </a:r>
            <a:r>
              <a:rPr spc="-305" dirty="0"/>
              <a:t>un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33000" y="1544238"/>
            <a:ext cx="8774430" cy="5481955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435"/>
              </a:spcBef>
            </a:pPr>
            <a:r>
              <a:rPr sz="305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L’évaluation</a:t>
            </a:r>
            <a:r>
              <a:rPr sz="305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3050" b="1" spc="-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l’appel</a:t>
            </a:r>
            <a:endParaRPr sz="3050">
              <a:latin typeface="Times New Roman"/>
              <a:cs typeface="Times New Roman"/>
            </a:endParaRPr>
          </a:p>
          <a:p>
            <a:pPr marL="3949065">
              <a:lnSpc>
                <a:spcPct val="100000"/>
              </a:lnSpc>
              <a:spcBef>
                <a:spcPts val="944"/>
              </a:spcBef>
            </a:pPr>
            <a:r>
              <a:rPr sz="2200" b="1" dirty="0">
                <a:latin typeface="Times New Roman"/>
                <a:cs typeface="Times New Roman"/>
              </a:rPr>
              <a:t>f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arg1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...,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argN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200" dirty="0">
                <a:latin typeface="Times New Roman"/>
                <a:cs typeface="Times New Roman"/>
              </a:rPr>
              <a:t>d’une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fonction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définie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par</a:t>
            </a:r>
            <a:endParaRPr sz="2200">
              <a:latin typeface="Times New Roman"/>
              <a:cs typeface="Times New Roman"/>
            </a:endParaRPr>
          </a:p>
          <a:p>
            <a:pPr marL="3034665">
              <a:lnSpc>
                <a:spcPct val="100000"/>
              </a:lnSpc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typeDeRetour</a:t>
            </a:r>
            <a:r>
              <a:rPr sz="22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type1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x1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...,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typeN</a:t>
            </a:r>
            <a:r>
              <a:rPr sz="2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xN</a:t>
            </a:r>
            <a:r>
              <a:rPr sz="22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...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s’effectue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façon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suivante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spcBef>
                <a:spcPts val="15"/>
              </a:spcBef>
              <a:buClr>
                <a:srgbClr val="FF0065"/>
              </a:buClr>
              <a:buFont typeface="Times New Roman"/>
              <a:buAutoNum type="arabicPeriod"/>
              <a:tabLst>
                <a:tab pos="293370" algn="l"/>
              </a:tabLst>
            </a:pPr>
            <a:r>
              <a:rPr sz="2200" dirty="0">
                <a:latin typeface="Times New Roman"/>
                <a:cs typeface="Times New Roman"/>
              </a:rPr>
              <a:t>Les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expressions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arg1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...,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argN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passées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argument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évaluées</a:t>
            </a:r>
            <a:endParaRPr sz="2200">
              <a:latin typeface="Times New Roman"/>
              <a:cs typeface="Times New Roman"/>
            </a:endParaRPr>
          </a:p>
          <a:p>
            <a:pPr marL="292735" marR="193675" indent="-280670">
              <a:lnSpc>
                <a:spcPct val="100000"/>
              </a:lnSpc>
              <a:buClr>
                <a:srgbClr val="FF0065"/>
              </a:buClr>
              <a:buFont typeface="Times New Roman"/>
              <a:buAutoNum type="arabicPeriod"/>
              <a:tabLst>
                <a:tab pos="293370" algn="l"/>
              </a:tabLst>
            </a:pPr>
            <a:r>
              <a:rPr sz="2200" dirty="0">
                <a:latin typeface="Times New Roman"/>
                <a:cs typeface="Times New Roman"/>
              </a:rPr>
              <a:t>Les valeurs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correspondantes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affectées</a:t>
            </a:r>
            <a:r>
              <a:rPr sz="2200" b="1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aux</a:t>
            </a:r>
            <a:r>
              <a:rPr sz="2200" spc="-5" dirty="0">
                <a:latin typeface="Times New Roman"/>
                <a:cs typeface="Times New Roman"/>
              </a:rPr>
              <a:t> paramètres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x1,...,</a:t>
            </a:r>
            <a:r>
              <a:rPr sz="22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xN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 la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fonction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f</a:t>
            </a:r>
            <a:r>
              <a:rPr sz="2200" spc="-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R="1687830" algn="r">
              <a:lnSpc>
                <a:spcPct val="100000"/>
              </a:lnSpc>
              <a:spcBef>
                <a:spcPts val="10"/>
              </a:spcBef>
            </a:pPr>
            <a:r>
              <a:rPr sz="2200" dirty="0">
                <a:latin typeface="Times New Roman"/>
                <a:cs typeface="Times New Roman"/>
              </a:rPr>
              <a:t>Concrètement,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deux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premières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étapes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reviennent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faire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R="1736089" algn="r">
              <a:lnSpc>
                <a:spcPct val="100000"/>
              </a:lnSpc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x1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arg1,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x2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arg2,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...,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xN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=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argN</a:t>
            </a:r>
            <a:endParaRPr sz="22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buClr>
                <a:srgbClr val="FF0065"/>
              </a:buClr>
              <a:buFont typeface="Times New Roman"/>
              <a:buAutoNum type="arabicPeriod" startAt="3"/>
              <a:tabLst>
                <a:tab pos="293370" algn="l"/>
              </a:tabLst>
            </a:pP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programme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correspondant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 corps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fonction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f </a:t>
            </a:r>
            <a:r>
              <a:rPr sz="2200" dirty="0">
                <a:latin typeface="Times New Roman"/>
                <a:cs typeface="Times New Roman"/>
              </a:rPr>
              <a:t>est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exécuté</a:t>
            </a:r>
            <a:endParaRPr sz="22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spcBef>
                <a:spcPts val="10"/>
              </a:spcBef>
              <a:buClr>
                <a:srgbClr val="FF0065"/>
              </a:buClr>
              <a:buFont typeface="Times New Roman"/>
              <a:buAutoNum type="arabicPeriod" startAt="3"/>
              <a:tabLst>
                <a:tab pos="293370" algn="l"/>
              </a:tabLst>
            </a:pPr>
            <a:r>
              <a:rPr sz="2200" spc="-20" dirty="0">
                <a:latin typeface="Times New Roman"/>
                <a:cs typeface="Times New Roman"/>
              </a:rPr>
              <a:t>L’expression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suivant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 </a:t>
            </a:r>
            <a:r>
              <a:rPr sz="2200" spc="-5" dirty="0">
                <a:latin typeface="Times New Roman"/>
                <a:cs typeface="Times New Roman"/>
              </a:rPr>
              <a:t>première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instruction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i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rencontrée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évaluée...</a:t>
            </a:r>
            <a:endParaRPr sz="2200">
              <a:latin typeface="Times New Roman"/>
              <a:cs typeface="Times New Roman"/>
            </a:endParaRPr>
          </a:p>
          <a:p>
            <a:pPr marL="292735" indent="-280670">
              <a:lnSpc>
                <a:spcPct val="100000"/>
              </a:lnSpc>
              <a:buClr>
                <a:srgbClr val="FF0065"/>
              </a:buClr>
              <a:buFont typeface="Times New Roman"/>
              <a:buAutoNum type="arabicPeriod" startAt="3"/>
              <a:tabLst>
                <a:tab pos="293370" algn="l"/>
              </a:tabLst>
            </a:pPr>
            <a:r>
              <a:rPr sz="2200" dirty="0">
                <a:latin typeface="Times New Roman"/>
                <a:cs typeface="Times New Roman"/>
              </a:rPr>
              <a:t>...et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retournée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comme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résultat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l’appel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cette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valeur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remplace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l’expression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 l’appel,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i.e.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l’expression</a:t>
            </a:r>
            <a:endParaRPr sz="2200">
              <a:latin typeface="Times New Roman"/>
              <a:cs typeface="Times New Roman"/>
            </a:endParaRPr>
          </a:p>
          <a:p>
            <a:pPr marL="4192904">
              <a:lnSpc>
                <a:spcPct val="100000"/>
              </a:lnSpc>
              <a:spcBef>
                <a:spcPts val="15"/>
              </a:spcBef>
            </a:pPr>
            <a:r>
              <a:rPr sz="2200" b="1" dirty="0">
                <a:latin typeface="Times New Roman"/>
                <a:cs typeface="Times New Roman"/>
              </a:rPr>
              <a:t>f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arg1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...,</a:t>
            </a:r>
            <a:r>
              <a:rPr sz="2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argN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248" y="599947"/>
            <a:ext cx="76193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30" dirty="0"/>
              <a:t>É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305" dirty="0"/>
              <a:t>u</a:t>
            </a:r>
            <a:r>
              <a:rPr spc="-20" dirty="0"/>
              <a:t>a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70" dirty="0"/>
              <a:t>l’</a:t>
            </a:r>
            <a:r>
              <a:rPr spc="-105" dirty="0"/>
              <a:t>a</a:t>
            </a:r>
            <a:r>
              <a:rPr spc="-305" dirty="0"/>
              <a:t>ppe</a:t>
            </a:r>
            <a:r>
              <a:rPr spc="-70" dirty="0"/>
              <a:t>l</a:t>
            </a:r>
            <a:r>
              <a:rPr b="0" spc="3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70" dirty="0"/>
              <a:t>’</a:t>
            </a:r>
            <a:r>
              <a:rPr spc="-305" dirty="0"/>
              <a:t>un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3" name="object 3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000" y="1822195"/>
            <a:ext cx="8756650" cy="8305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90"/>
              </a:spcBef>
            </a:pPr>
            <a:r>
              <a:rPr sz="2600" spc="-10" dirty="0">
                <a:latin typeface="Times New Roman"/>
                <a:cs typeface="Times New Roman"/>
              </a:rPr>
              <a:t>L’évaluation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</a:t>
            </a:r>
            <a:r>
              <a:rPr sz="2600" b="1" spc="10" dirty="0">
                <a:latin typeface="Times New Roman"/>
                <a:cs typeface="Times New Roman"/>
              </a:rPr>
              <a:t>appel</a:t>
            </a:r>
            <a:r>
              <a:rPr sz="2600" b="1" spc="4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d’une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peut</a:t>
            </a:r>
            <a:r>
              <a:rPr sz="2600" spc="10" dirty="0">
                <a:latin typeface="Times New Roman"/>
                <a:cs typeface="Times New Roman"/>
              </a:rPr>
              <a:t> être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schématisé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façon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suivante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676" y="3073065"/>
            <a:ext cx="8083822" cy="39559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248" y="599947"/>
            <a:ext cx="76193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30" dirty="0"/>
              <a:t>É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305" dirty="0"/>
              <a:t>u</a:t>
            </a:r>
            <a:r>
              <a:rPr spc="-20" dirty="0"/>
              <a:t>a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70" dirty="0"/>
              <a:t>l’</a:t>
            </a:r>
            <a:r>
              <a:rPr spc="-105" dirty="0"/>
              <a:t>a</a:t>
            </a:r>
            <a:r>
              <a:rPr spc="-305" dirty="0"/>
              <a:t>ppe</a:t>
            </a:r>
            <a:r>
              <a:rPr spc="-70" dirty="0"/>
              <a:t>l</a:t>
            </a:r>
            <a:r>
              <a:rPr b="0" spc="3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70" dirty="0"/>
              <a:t>’</a:t>
            </a:r>
            <a:r>
              <a:rPr spc="-305" dirty="0"/>
              <a:t>un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</a:p>
        </p:txBody>
      </p:sp>
      <p:sp>
        <p:nvSpPr>
          <p:cNvPr id="3" name="object 3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000" y="1822195"/>
            <a:ext cx="9562465" cy="3651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-10" dirty="0">
                <a:latin typeface="Times New Roman"/>
                <a:cs typeface="Times New Roman"/>
              </a:rPr>
              <a:t>L’évaluation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</a:t>
            </a:r>
            <a:r>
              <a:rPr sz="2600" b="1" spc="10" dirty="0">
                <a:latin typeface="Times New Roman"/>
                <a:cs typeface="Times New Roman"/>
              </a:rPr>
              <a:t>appel</a:t>
            </a:r>
            <a:r>
              <a:rPr sz="2600" b="1" spc="4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d’une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s’effectue</a:t>
            </a:r>
            <a:r>
              <a:rPr sz="2600" spc="15" dirty="0">
                <a:latin typeface="Times New Roman"/>
                <a:cs typeface="Times New Roman"/>
              </a:rPr>
              <a:t> 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façon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suivante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spcBef>
                <a:spcPts val="45"/>
              </a:spcBef>
              <a:buClr>
                <a:srgbClr val="FF0065"/>
              </a:buClr>
              <a:buFont typeface="Times New Roman"/>
              <a:buAutoNum type="arabicPeriod"/>
              <a:tabLst>
                <a:tab pos="34798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expressions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passées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évaluées</a:t>
            </a:r>
            <a:endParaRPr sz="2600">
              <a:latin typeface="Times New Roman"/>
              <a:cs typeface="Times New Roman"/>
            </a:endParaRPr>
          </a:p>
          <a:p>
            <a:pPr marL="12700" marR="642620">
              <a:lnSpc>
                <a:spcPct val="101499"/>
              </a:lnSpc>
              <a:spcBef>
                <a:spcPts val="15"/>
              </a:spcBef>
              <a:buClr>
                <a:srgbClr val="FF0065"/>
              </a:buClr>
              <a:buFont typeface="Times New Roman"/>
              <a:buAutoNum type="arabicPeriod"/>
              <a:tabLst>
                <a:tab pos="34798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valeurs correspondantes sont </a:t>
            </a:r>
            <a:r>
              <a:rPr sz="2600" spc="5" dirty="0">
                <a:latin typeface="Times New Roman"/>
                <a:cs typeface="Times New Roman"/>
              </a:rPr>
              <a:t>affectées </a:t>
            </a:r>
            <a:r>
              <a:rPr sz="2600" spc="15" dirty="0">
                <a:latin typeface="Times New Roman"/>
                <a:cs typeface="Times New Roman"/>
              </a:rPr>
              <a:t>aux paramètres de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endParaRPr sz="260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spcBef>
                <a:spcPts val="50"/>
              </a:spcBef>
              <a:buClr>
                <a:srgbClr val="FF0065"/>
              </a:buClr>
              <a:buFont typeface="Times New Roman"/>
              <a:buAutoNum type="arabicPeriod"/>
              <a:tabLst>
                <a:tab pos="347980" algn="l"/>
              </a:tabLst>
            </a:pPr>
            <a:r>
              <a:rPr sz="2600" spc="15" dirty="0">
                <a:latin typeface="Times New Roman"/>
                <a:cs typeface="Times New Roman"/>
              </a:rPr>
              <a:t>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corps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exécuté</a:t>
            </a:r>
            <a:endParaRPr sz="2600">
              <a:latin typeface="Times New Roman"/>
              <a:cs typeface="Times New Roman"/>
            </a:endParaRPr>
          </a:p>
          <a:p>
            <a:pPr marL="12700" marR="543560">
              <a:lnSpc>
                <a:spcPct val="101499"/>
              </a:lnSpc>
              <a:spcBef>
                <a:spcPts val="10"/>
              </a:spcBef>
              <a:buClr>
                <a:srgbClr val="FF0065"/>
              </a:buClr>
              <a:buFont typeface="Times New Roman"/>
              <a:buAutoNum type="arabicPeriod"/>
              <a:tabLst>
                <a:tab pos="347980" algn="l"/>
              </a:tabLst>
            </a:pPr>
            <a:r>
              <a:rPr sz="2600" spc="-5" dirty="0">
                <a:latin typeface="Times New Roman"/>
                <a:cs typeface="Times New Roman"/>
              </a:rPr>
              <a:t>L’expression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suivant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première</a:t>
            </a:r>
            <a:r>
              <a:rPr sz="2600" spc="10" dirty="0">
                <a:latin typeface="Times New Roman"/>
                <a:cs typeface="Times New Roman"/>
              </a:rPr>
              <a:t> instruction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200" b="1" i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i="1" spc="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rencontrée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évaluée...</a:t>
            </a:r>
            <a:endParaRPr sz="2600">
              <a:latin typeface="Times New Roman"/>
              <a:cs typeface="Times New Roman"/>
            </a:endParaRPr>
          </a:p>
          <a:p>
            <a:pPr marL="347980" indent="-335280">
              <a:lnSpc>
                <a:spcPct val="100000"/>
              </a:lnSpc>
              <a:spcBef>
                <a:spcPts val="60"/>
              </a:spcBef>
              <a:buClr>
                <a:srgbClr val="FF0065"/>
              </a:buClr>
              <a:buFont typeface="Times New Roman"/>
              <a:buAutoNum type="arabicPeriod"/>
              <a:tabLst>
                <a:tab pos="347980" algn="l"/>
              </a:tabLst>
            </a:pPr>
            <a:r>
              <a:rPr sz="2600" spc="10" dirty="0">
                <a:latin typeface="Times New Roman"/>
                <a:cs typeface="Times New Roman"/>
              </a:rPr>
              <a:t>...et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retournée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comme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résultat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l’appel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1744980">
              <a:lnSpc>
                <a:spcPct val="100000"/>
              </a:lnSpc>
              <a:spcBef>
                <a:spcPts val="50"/>
              </a:spcBef>
            </a:pPr>
            <a:r>
              <a:rPr sz="2600" spc="10" dirty="0">
                <a:latin typeface="Times New Roman"/>
                <a:cs typeface="Times New Roman"/>
              </a:rPr>
              <a:t>cette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remplace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l’expression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l’appel.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691387"/>
            <a:ext cx="396557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A</a:t>
            </a:r>
            <a:r>
              <a:rPr spc="-305" dirty="0"/>
              <a:t>pp</a:t>
            </a:r>
            <a:r>
              <a:rPr spc="-290" dirty="0"/>
              <a:t>e</a:t>
            </a:r>
            <a:r>
              <a:rPr spc="-70" dirty="0"/>
              <a:t>l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4148" y="1742947"/>
            <a:ext cx="9392920" cy="56667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0" dirty="0">
                <a:latin typeface="Times New Roman"/>
                <a:cs typeface="Times New Roman"/>
              </a:rPr>
              <a:t> 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appeler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autre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390525" marR="875665" indent="-378460">
              <a:lnSpc>
                <a:spcPts val="318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0" dirty="0">
                <a:latin typeface="Times New Roman"/>
                <a:cs typeface="Times New Roman"/>
              </a:rPr>
              <a:t>faut </a:t>
            </a:r>
            <a:r>
              <a:rPr sz="2600" spc="15" dirty="0">
                <a:latin typeface="Times New Roman"/>
                <a:cs typeface="Times New Roman"/>
              </a:rPr>
              <a:t>simplement respecter </a:t>
            </a:r>
            <a:r>
              <a:rPr sz="2600" spc="10" dirty="0">
                <a:latin typeface="Times New Roman"/>
                <a:cs typeface="Times New Roman"/>
              </a:rPr>
              <a:t>la règle </a:t>
            </a:r>
            <a:r>
              <a:rPr sz="2600" spc="15" dirty="0">
                <a:latin typeface="Times New Roman"/>
                <a:cs typeface="Times New Roman"/>
              </a:rPr>
              <a:t>d’or </a:t>
            </a:r>
            <a:r>
              <a:rPr sz="2600" spc="10" dirty="0">
                <a:latin typeface="Times New Roman"/>
                <a:cs typeface="Times New Roman"/>
              </a:rPr>
              <a:t>: </a:t>
            </a:r>
            <a:r>
              <a:rPr sz="2600" spc="15" dirty="0">
                <a:latin typeface="Times New Roman"/>
                <a:cs typeface="Times New Roman"/>
              </a:rPr>
              <a:t>avoir prototypé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avant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l’appel.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3050"/>
              </a:lnSpc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32CC"/>
                </a:solidFill>
                <a:latin typeface="Times New Roman"/>
                <a:cs typeface="Times New Roman"/>
              </a:rPr>
              <a:t>score</a:t>
            </a:r>
            <a:r>
              <a:rPr sz="2400" b="1" spc="-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points,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tempsJeu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FF0065"/>
                </a:solidFill>
                <a:latin typeface="Times New Roman"/>
                <a:cs typeface="Times New Roman"/>
              </a:rPr>
              <a:t>afficherScore</a:t>
            </a:r>
            <a:r>
              <a:rPr sz="2400" b="1" spc="20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joueur,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points,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tempsJeu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FF0065"/>
                </a:solidFill>
                <a:latin typeface="Times New Roman"/>
                <a:cs typeface="Times New Roman"/>
              </a:rPr>
              <a:t>afficherScore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joueur,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points,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temps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cout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400" spc="10" dirty="0">
                <a:solidFill>
                  <a:srgbClr val="006FC0"/>
                </a:solidFill>
                <a:latin typeface="Times New Roman"/>
                <a:cs typeface="Times New Roman"/>
              </a:rPr>
              <a:t> Joueur</a:t>
            </a:r>
            <a:r>
              <a:rPr sz="24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4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joueur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FF32CC"/>
                </a:solidFill>
                <a:latin typeface="Times New Roman"/>
                <a:cs typeface="Times New Roman"/>
              </a:rPr>
              <a:t>score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5" dirty="0">
                <a:latin typeface="Times New Roman"/>
                <a:cs typeface="Times New Roman"/>
              </a:rPr>
              <a:t>points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temps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4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006FC0"/>
                </a:solidFill>
                <a:latin typeface="Times New Roman"/>
                <a:cs typeface="Times New Roman"/>
              </a:rPr>
              <a:t>points"</a:t>
            </a:r>
            <a:r>
              <a:rPr sz="24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32CC"/>
                </a:solidFill>
                <a:latin typeface="Times New Roman"/>
                <a:cs typeface="Times New Roman"/>
              </a:rPr>
              <a:t>score</a:t>
            </a:r>
            <a:r>
              <a:rPr sz="2400" b="1" spc="-1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points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tempsJeu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Mettre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le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corps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 la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B04F"/>
                </a:solidFill>
                <a:latin typeface="Times New Roman"/>
                <a:cs typeface="Times New Roman"/>
              </a:rPr>
              <a:t>score</a:t>
            </a:r>
            <a:r>
              <a:rPr sz="2200" b="1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ici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427735"/>
            <a:ext cx="7860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810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140" dirty="0"/>
              <a:t>f</a:t>
            </a:r>
            <a:r>
              <a:rPr sz="4400" spc="-355" dirty="0"/>
              <a:t>on</a:t>
            </a:r>
            <a:r>
              <a:rPr sz="4400" spc="-675" dirty="0"/>
              <a:t>c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340" dirty="0"/>
              <a:t>e</a:t>
            </a:r>
            <a:r>
              <a:rPr sz="4400" spc="-325" dirty="0"/>
              <a:t>t</a:t>
            </a:r>
            <a:r>
              <a:rPr sz="4400" b="0" spc="70" dirty="0">
                <a:latin typeface="Times New Roman"/>
                <a:cs typeface="Times New Roman"/>
              </a:rPr>
              <a:t> 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355" dirty="0"/>
              <a:t>u</a:t>
            </a:r>
            <a:r>
              <a:rPr sz="4400" spc="-335" dirty="0"/>
              <a:t>r</a:t>
            </a:r>
            <a:r>
              <a:rPr sz="4400" spc="-570" dirty="0"/>
              <a:t>s</a:t>
            </a:r>
            <a:r>
              <a:rPr sz="4400" b="0" spc="65" dirty="0">
                <a:latin typeface="Times New Roman"/>
                <a:cs typeface="Times New Roman"/>
              </a:rPr>
              <a:t> </a:t>
            </a:r>
            <a:r>
              <a:rPr sz="4400" spc="-355" dirty="0"/>
              <a:t>d</a:t>
            </a:r>
            <a:r>
              <a:rPr sz="4400" spc="-340" dirty="0"/>
              <a:t>é</a:t>
            </a:r>
            <a:r>
              <a:rPr sz="4400" spc="-675" dirty="0"/>
              <a:t>c</a:t>
            </a:r>
            <a:r>
              <a:rPr sz="4400" spc="-85" dirty="0"/>
              <a:t>l</a:t>
            </a:r>
            <a:r>
              <a:rPr sz="4400" spc="-125" dirty="0"/>
              <a:t>a</a:t>
            </a:r>
            <a:r>
              <a:rPr sz="4400" spc="-290" dirty="0"/>
              <a:t>r</a:t>
            </a:r>
            <a:r>
              <a:rPr sz="4400" spc="-40" dirty="0"/>
              <a:t>a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008" y="1578616"/>
            <a:ext cx="8183245" cy="56108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1.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Les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différentes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façons</a:t>
            </a:r>
            <a:r>
              <a:rPr sz="305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 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déclarer</a:t>
            </a:r>
            <a:r>
              <a:rPr sz="305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une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3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600"/>
              </a:spcBef>
              <a:tabLst>
                <a:tab pos="1000125" algn="l"/>
              </a:tabLst>
            </a:pP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float	</a:t>
            </a:r>
            <a:r>
              <a:rPr sz="2050" spc="15" dirty="0">
                <a:latin typeface="Times New Roman"/>
                <a:cs typeface="Times New Roman"/>
              </a:rPr>
              <a:t>nomDeLaFonction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5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050" b="1" i="1" spc="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x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050" spc="10" dirty="0">
                <a:latin typeface="Times New Roman"/>
                <a:cs typeface="Times New Roman"/>
              </a:rPr>
              <a:t>k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050" spc="5" dirty="0">
                <a:latin typeface="Times New Roman"/>
                <a:cs typeface="Times New Roman"/>
              </a:rPr>
              <a:t>l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 définition</a:t>
            </a:r>
            <a:r>
              <a:rPr sz="2050" spc="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 la fonction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80"/>
              </a:spcBef>
            </a:pP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75"/>
              </a:spcBef>
            </a:pPr>
            <a:r>
              <a:rPr sz="2050" spc="15" dirty="0">
                <a:latin typeface="Times New Roman"/>
                <a:cs typeface="Times New Roman"/>
              </a:rPr>
              <a:t>bloc</a:t>
            </a:r>
            <a:r>
              <a:rPr sz="2050" spc="-15" dirty="0"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d’instructions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65"/>
              </a:spcBef>
            </a:pP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75"/>
              </a:spcBef>
              <a:tabLst>
                <a:tab pos="777240" algn="l"/>
              </a:tabLst>
            </a:pPr>
            <a:r>
              <a:rPr sz="2050" spc="10" dirty="0">
                <a:latin typeface="Times New Roman"/>
                <a:cs typeface="Times New Roman"/>
              </a:rPr>
              <a:t>int	</a:t>
            </a:r>
            <a:r>
              <a:rPr sz="2050" b="1" i="1" spc="15" dirty="0">
                <a:latin typeface="Times New Roman"/>
                <a:cs typeface="Times New Roman"/>
              </a:rPr>
              <a:t>main</a:t>
            </a:r>
            <a:r>
              <a:rPr sz="2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75"/>
              </a:spcBef>
            </a:pPr>
            <a:r>
              <a:rPr sz="2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65"/>
              </a:spcBef>
            </a:pP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050" b="1" i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latin typeface="Times New Roman"/>
                <a:cs typeface="Times New Roman"/>
              </a:rPr>
              <a:t>nomDeLaFonction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5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050" b="1" i="1" spc="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x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050" b="1" i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k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050" b="1" i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l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prototype de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 la fonction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75"/>
              </a:spcBef>
            </a:pP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 ou</a:t>
            </a:r>
            <a:r>
              <a:rPr sz="20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050" b="1" i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nomDeLaFonction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5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50" spc="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050" spc="10" dirty="0">
                <a:latin typeface="Times New Roman"/>
                <a:cs typeface="Times New Roman"/>
              </a:rPr>
              <a:t>)</a:t>
            </a:r>
            <a:r>
              <a:rPr sz="2050" spc="30" dirty="0"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75"/>
              </a:spcBef>
            </a:pPr>
            <a:r>
              <a:rPr sz="2050" spc="10" dirty="0">
                <a:latin typeface="Times New Roman"/>
                <a:cs typeface="Times New Roman"/>
              </a:rPr>
              <a:t>.....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65"/>
              </a:spcBef>
            </a:pPr>
            <a:r>
              <a:rPr sz="2050" spc="15" dirty="0">
                <a:latin typeface="Times New Roman"/>
                <a:cs typeface="Times New Roman"/>
              </a:rPr>
              <a:t>y</a:t>
            </a:r>
            <a:r>
              <a:rPr sz="2050" spc="10" dirty="0">
                <a:latin typeface="Times New Roman"/>
                <a:cs typeface="Times New Roman"/>
              </a:rPr>
              <a:t> </a:t>
            </a:r>
            <a:r>
              <a:rPr sz="205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latin typeface="Times New Roman"/>
                <a:cs typeface="Times New Roman"/>
              </a:rPr>
              <a:t>nomDeLaFonction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50" spc="15" dirty="0">
                <a:latin typeface="Times New Roman"/>
                <a:cs typeface="Times New Roman"/>
              </a:rPr>
              <a:t>x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50" spc="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n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0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latin typeface="Times New Roman"/>
                <a:cs typeface="Times New Roman"/>
              </a:rPr>
              <a:t>p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 ; </a:t>
            </a: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 appel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 la</a:t>
            </a:r>
            <a:r>
              <a:rPr sz="20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75"/>
              </a:spcBef>
            </a:pPr>
            <a:r>
              <a:rPr sz="2050" spc="10" dirty="0">
                <a:latin typeface="Times New Roman"/>
                <a:cs typeface="Times New Roman"/>
              </a:rPr>
              <a:t>.....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75"/>
              </a:spcBef>
            </a:pPr>
            <a:r>
              <a:rPr sz="20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050" b="1" i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65"/>
              </a:spcBef>
            </a:pPr>
            <a:r>
              <a:rPr sz="2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427735"/>
            <a:ext cx="7860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810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140" dirty="0"/>
              <a:t>f</a:t>
            </a:r>
            <a:r>
              <a:rPr sz="4400" spc="-355" dirty="0"/>
              <a:t>on</a:t>
            </a:r>
            <a:r>
              <a:rPr sz="4400" spc="-675" dirty="0"/>
              <a:t>c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340" dirty="0"/>
              <a:t>e</a:t>
            </a:r>
            <a:r>
              <a:rPr sz="4400" spc="-325" dirty="0"/>
              <a:t>t</a:t>
            </a:r>
            <a:r>
              <a:rPr sz="4400" b="0" spc="70" dirty="0">
                <a:latin typeface="Times New Roman"/>
                <a:cs typeface="Times New Roman"/>
              </a:rPr>
              <a:t> 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355" dirty="0"/>
              <a:t>u</a:t>
            </a:r>
            <a:r>
              <a:rPr sz="4400" spc="-335" dirty="0"/>
              <a:t>r</a:t>
            </a:r>
            <a:r>
              <a:rPr sz="4400" spc="-570" dirty="0"/>
              <a:t>s</a:t>
            </a:r>
            <a:r>
              <a:rPr sz="4400" b="0" spc="65" dirty="0">
                <a:latin typeface="Times New Roman"/>
                <a:cs typeface="Times New Roman"/>
              </a:rPr>
              <a:t> </a:t>
            </a:r>
            <a:r>
              <a:rPr sz="4400" spc="-355" dirty="0"/>
              <a:t>d</a:t>
            </a:r>
            <a:r>
              <a:rPr sz="4400" spc="-340" dirty="0"/>
              <a:t>é</a:t>
            </a:r>
            <a:r>
              <a:rPr sz="4400" spc="-675" dirty="0"/>
              <a:t>c</a:t>
            </a:r>
            <a:r>
              <a:rPr sz="4400" spc="-85" dirty="0"/>
              <a:t>l</a:t>
            </a:r>
            <a:r>
              <a:rPr sz="4400" spc="-125" dirty="0"/>
              <a:t>a</a:t>
            </a:r>
            <a:r>
              <a:rPr sz="4400" spc="-290" dirty="0"/>
              <a:t>r</a:t>
            </a:r>
            <a:r>
              <a:rPr sz="4400" spc="-40" dirty="0"/>
              <a:t>a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008" y="1597718"/>
            <a:ext cx="9155430" cy="53809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2.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Les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différentes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façons</a:t>
            </a:r>
            <a:r>
              <a:rPr sz="305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 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déclarer</a:t>
            </a:r>
            <a:r>
              <a:rPr sz="305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une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3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50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main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15"/>
              </a:spcBef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nomDeLaFonction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 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 prototype de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nomDeLaFonction</a:t>
            </a:r>
            <a:endParaRPr sz="2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05"/>
              </a:spcBef>
            </a:pP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ou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2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nomDeLaFonction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515"/>
              </a:spcBef>
            </a:pPr>
            <a:r>
              <a:rPr sz="2200" dirty="0">
                <a:latin typeface="Times New Roman"/>
                <a:cs typeface="Times New Roman"/>
              </a:rPr>
              <a:t>.....</a:t>
            </a:r>
            <a:endParaRPr sz="22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505"/>
              </a:spcBef>
            </a:pPr>
            <a:r>
              <a:rPr sz="2200" dirty="0">
                <a:latin typeface="Times New Roman"/>
                <a:cs typeface="Times New Roman"/>
              </a:rPr>
              <a:t>y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nomDeLaFonction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200" dirty="0">
                <a:latin typeface="Times New Roman"/>
                <a:cs typeface="Times New Roman"/>
              </a:rPr>
              <a:t>p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 appel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la fonction</a:t>
            </a:r>
            <a:endParaRPr sz="205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515"/>
              </a:spcBef>
            </a:pPr>
            <a:r>
              <a:rPr sz="2200" dirty="0">
                <a:latin typeface="Times New Roman"/>
                <a:cs typeface="Times New Roman"/>
              </a:rPr>
              <a:t>.....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15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0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364490" marR="3627754">
              <a:lnSpc>
                <a:spcPct val="120100"/>
              </a:lnSpc>
              <a:spcBef>
                <a:spcPts val="75"/>
              </a:spcBef>
              <a:tabLst>
                <a:tab pos="1047115" algn="l"/>
              </a:tabLst>
            </a:pP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Définition</a:t>
            </a:r>
            <a:r>
              <a:rPr sz="2050" spc="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la fonction</a:t>
            </a:r>
            <a:r>
              <a:rPr sz="20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nomDeLaFonction </a:t>
            </a:r>
            <a:r>
              <a:rPr sz="20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float	</a:t>
            </a:r>
            <a:r>
              <a:rPr sz="2200" dirty="0">
                <a:latin typeface="Times New Roman"/>
                <a:cs typeface="Times New Roman"/>
              </a:rPr>
              <a:t>nomDeLaFonction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200" b="1" spc="-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){ </a:t>
            </a:r>
            <a:r>
              <a:rPr sz="2200" spc="-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bloc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d’instructions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50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427735"/>
            <a:ext cx="7860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810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140" dirty="0"/>
              <a:t>f</a:t>
            </a:r>
            <a:r>
              <a:rPr sz="4400" spc="-355" dirty="0"/>
              <a:t>on</a:t>
            </a:r>
            <a:r>
              <a:rPr sz="4400" spc="-675" dirty="0"/>
              <a:t>c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340" dirty="0"/>
              <a:t>e</a:t>
            </a:r>
            <a:r>
              <a:rPr sz="4400" spc="-325" dirty="0"/>
              <a:t>t</a:t>
            </a:r>
            <a:r>
              <a:rPr sz="4400" b="0" spc="70" dirty="0">
                <a:latin typeface="Times New Roman"/>
                <a:cs typeface="Times New Roman"/>
              </a:rPr>
              <a:t> 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355" dirty="0"/>
              <a:t>u</a:t>
            </a:r>
            <a:r>
              <a:rPr sz="4400" spc="-335" dirty="0"/>
              <a:t>r</a:t>
            </a:r>
            <a:r>
              <a:rPr sz="4400" spc="-570" dirty="0"/>
              <a:t>s</a:t>
            </a:r>
            <a:r>
              <a:rPr sz="4400" b="0" spc="65" dirty="0">
                <a:latin typeface="Times New Roman"/>
                <a:cs typeface="Times New Roman"/>
              </a:rPr>
              <a:t> </a:t>
            </a:r>
            <a:r>
              <a:rPr sz="4400" spc="-355" dirty="0"/>
              <a:t>d</a:t>
            </a:r>
            <a:r>
              <a:rPr sz="4400" spc="-340" dirty="0"/>
              <a:t>é</a:t>
            </a:r>
            <a:r>
              <a:rPr sz="4400" spc="-675" dirty="0"/>
              <a:t>c</a:t>
            </a:r>
            <a:r>
              <a:rPr sz="4400" spc="-85" dirty="0"/>
              <a:t>l</a:t>
            </a:r>
            <a:r>
              <a:rPr sz="4400" spc="-125" dirty="0"/>
              <a:t>a</a:t>
            </a:r>
            <a:r>
              <a:rPr sz="4400" spc="-290" dirty="0"/>
              <a:t>r</a:t>
            </a:r>
            <a:r>
              <a:rPr sz="4400" spc="-40" dirty="0"/>
              <a:t>a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5256" y="1530146"/>
            <a:ext cx="8605520" cy="161480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3.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Les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différentes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façons</a:t>
            </a:r>
            <a:r>
              <a:rPr sz="305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 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déclarer</a:t>
            </a:r>
            <a:r>
              <a:rPr sz="305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une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126200"/>
              </a:lnSpc>
              <a:spcBef>
                <a:spcPts val="20"/>
              </a:spcBef>
            </a:pP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5" dirty="0">
                <a:latin typeface="Times New Roman"/>
                <a:cs typeface="Times New Roman"/>
              </a:rPr>
              <a:t>est également possible </a:t>
            </a:r>
            <a:r>
              <a:rPr sz="2600" spc="10" dirty="0">
                <a:latin typeface="Times New Roman"/>
                <a:cs typeface="Times New Roman"/>
              </a:rPr>
              <a:t>d’utiliser </a:t>
            </a:r>
            <a:r>
              <a:rPr sz="2600" spc="15" dirty="0">
                <a:latin typeface="Times New Roman"/>
                <a:cs typeface="Times New Roman"/>
              </a:rPr>
              <a:t>des </a:t>
            </a:r>
            <a:r>
              <a:rPr sz="2600" spc="10" dirty="0">
                <a:latin typeface="Times New Roman"/>
                <a:cs typeface="Times New Roman"/>
              </a:rPr>
              <a:t>déclarations </a:t>
            </a:r>
            <a:r>
              <a:rPr sz="2600" spc="15" dirty="0">
                <a:latin typeface="Times New Roman"/>
                <a:cs typeface="Times New Roman"/>
              </a:rPr>
              <a:t>globales, en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faisant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apparaître </a:t>
            </a:r>
            <a:r>
              <a:rPr sz="2600" spc="15" dirty="0">
                <a:latin typeface="Times New Roman"/>
                <a:cs typeface="Times New Roman"/>
              </a:rPr>
              <a:t>avant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première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427735"/>
            <a:ext cx="7860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810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140" dirty="0"/>
              <a:t>f</a:t>
            </a:r>
            <a:r>
              <a:rPr sz="4400" spc="-355" dirty="0"/>
              <a:t>on</a:t>
            </a:r>
            <a:r>
              <a:rPr sz="4400" spc="-675" dirty="0"/>
              <a:t>c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340" dirty="0"/>
              <a:t>e</a:t>
            </a:r>
            <a:r>
              <a:rPr sz="4400" spc="-325" dirty="0"/>
              <a:t>t</a:t>
            </a:r>
            <a:r>
              <a:rPr sz="4400" b="0" spc="70" dirty="0">
                <a:latin typeface="Times New Roman"/>
                <a:cs typeface="Times New Roman"/>
              </a:rPr>
              <a:t> 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355" dirty="0"/>
              <a:t>u</a:t>
            </a:r>
            <a:r>
              <a:rPr sz="4400" spc="-335" dirty="0"/>
              <a:t>r</a:t>
            </a:r>
            <a:r>
              <a:rPr sz="4400" spc="-570" dirty="0"/>
              <a:t>s</a:t>
            </a:r>
            <a:r>
              <a:rPr sz="4400" b="0" spc="65" dirty="0">
                <a:latin typeface="Times New Roman"/>
                <a:cs typeface="Times New Roman"/>
              </a:rPr>
              <a:t> </a:t>
            </a:r>
            <a:r>
              <a:rPr sz="4400" spc="-355" dirty="0"/>
              <a:t>d</a:t>
            </a:r>
            <a:r>
              <a:rPr sz="4400" spc="-340" dirty="0"/>
              <a:t>é</a:t>
            </a:r>
            <a:r>
              <a:rPr sz="4400" spc="-675" dirty="0"/>
              <a:t>c</a:t>
            </a:r>
            <a:r>
              <a:rPr sz="4400" spc="-85" dirty="0"/>
              <a:t>l</a:t>
            </a:r>
            <a:r>
              <a:rPr sz="4400" spc="-125" dirty="0"/>
              <a:t>a</a:t>
            </a:r>
            <a:r>
              <a:rPr sz="4400" spc="-290" dirty="0"/>
              <a:t>r</a:t>
            </a:r>
            <a:r>
              <a:rPr sz="4400" spc="-40" dirty="0"/>
              <a:t>a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008" y="1683833"/>
            <a:ext cx="9161780" cy="49218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3.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Les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différentes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façons</a:t>
            </a:r>
            <a:r>
              <a:rPr sz="305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 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déclarer</a:t>
            </a:r>
            <a:r>
              <a:rPr sz="305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une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3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00"/>
              </a:spcBef>
            </a:pPr>
            <a:r>
              <a:rPr sz="2200" dirty="0">
                <a:latin typeface="Times New Roman"/>
                <a:cs typeface="Times New Roman"/>
              </a:rPr>
              <a:t>float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nomDeLaFonction(float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x, int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l)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;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//prototype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 nomDeLaFonction</a:t>
            </a:r>
            <a:endParaRPr sz="2200">
              <a:latin typeface="Times New Roman"/>
              <a:cs typeface="Times New Roman"/>
            </a:endParaRPr>
          </a:p>
          <a:p>
            <a:pPr marL="364490" marR="3811904">
              <a:lnSpc>
                <a:spcPct val="109500"/>
              </a:lnSpc>
            </a:pPr>
            <a:r>
              <a:rPr sz="2200" spc="-5" dirty="0">
                <a:latin typeface="Times New Roman"/>
                <a:cs typeface="Times New Roman"/>
              </a:rPr>
              <a:t>//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ou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float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nomDeLaFonction(float,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int)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;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main(){</a:t>
            </a:r>
            <a:endParaRPr sz="22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240"/>
              </a:spcBef>
            </a:pPr>
            <a:r>
              <a:rPr sz="2200" dirty="0">
                <a:latin typeface="Times New Roman"/>
                <a:cs typeface="Times New Roman"/>
              </a:rPr>
              <a:t>.....</a:t>
            </a:r>
            <a:endParaRPr sz="22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254"/>
              </a:spcBef>
            </a:pPr>
            <a:r>
              <a:rPr sz="2200" dirty="0">
                <a:latin typeface="Times New Roman"/>
                <a:cs typeface="Times New Roman"/>
              </a:rPr>
              <a:t>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nomDeLaFonction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(x,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n, p)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;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 la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2200">
              <a:latin typeface="Times New Roman"/>
              <a:cs typeface="Times New Roman"/>
            </a:endParaRPr>
          </a:p>
          <a:p>
            <a:pPr marL="362585">
              <a:lnSpc>
                <a:spcPct val="100000"/>
              </a:lnSpc>
              <a:spcBef>
                <a:spcPts val="240"/>
              </a:spcBef>
            </a:pPr>
            <a:r>
              <a:rPr sz="2200" dirty="0">
                <a:latin typeface="Times New Roman"/>
                <a:cs typeface="Times New Roman"/>
              </a:rPr>
              <a:t>.....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50"/>
              </a:spcBef>
            </a:pPr>
            <a:r>
              <a:rPr sz="220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364490" marR="3627754">
              <a:lnSpc>
                <a:spcPts val="2890"/>
              </a:lnSpc>
              <a:spcBef>
                <a:spcPts val="130"/>
              </a:spcBef>
              <a:tabLst>
                <a:tab pos="1014730" algn="l"/>
              </a:tabLst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Définition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r>
              <a:rPr sz="22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nomDeLaFonction </a:t>
            </a:r>
            <a:r>
              <a:rPr sz="2200" spc="-5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float	nomDeLaFonction(float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k,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l)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50"/>
              </a:spcBef>
            </a:pPr>
            <a:r>
              <a:rPr sz="2200" dirty="0">
                <a:latin typeface="Times New Roman"/>
                <a:cs typeface="Times New Roman"/>
              </a:rPr>
              <a:t>bloc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d’instructions;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40"/>
              </a:spcBef>
            </a:pPr>
            <a:r>
              <a:rPr sz="220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427735"/>
            <a:ext cx="7860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810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140" dirty="0"/>
              <a:t>f</a:t>
            </a:r>
            <a:r>
              <a:rPr sz="4400" spc="-355" dirty="0"/>
              <a:t>on</a:t>
            </a:r>
            <a:r>
              <a:rPr sz="4400" spc="-675" dirty="0"/>
              <a:t>c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340" dirty="0"/>
              <a:t>e</a:t>
            </a:r>
            <a:r>
              <a:rPr sz="4400" spc="-325" dirty="0"/>
              <a:t>t</a:t>
            </a:r>
            <a:r>
              <a:rPr sz="4400" b="0" spc="70" dirty="0">
                <a:latin typeface="Times New Roman"/>
                <a:cs typeface="Times New Roman"/>
              </a:rPr>
              <a:t> 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355" dirty="0"/>
              <a:t>u</a:t>
            </a:r>
            <a:r>
              <a:rPr sz="4400" spc="-335" dirty="0"/>
              <a:t>r</a:t>
            </a:r>
            <a:r>
              <a:rPr sz="4400" spc="-570" dirty="0"/>
              <a:t>s</a:t>
            </a:r>
            <a:r>
              <a:rPr sz="4400" b="0" spc="65" dirty="0">
                <a:latin typeface="Times New Roman"/>
                <a:cs typeface="Times New Roman"/>
              </a:rPr>
              <a:t> </a:t>
            </a:r>
            <a:r>
              <a:rPr sz="4400" spc="-355" dirty="0"/>
              <a:t>d</a:t>
            </a:r>
            <a:r>
              <a:rPr sz="4400" spc="-340" dirty="0"/>
              <a:t>é</a:t>
            </a:r>
            <a:r>
              <a:rPr sz="4400" spc="-675" dirty="0"/>
              <a:t>c</a:t>
            </a:r>
            <a:r>
              <a:rPr sz="4400" spc="-85" dirty="0"/>
              <a:t>l</a:t>
            </a:r>
            <a:r>
              <a:rPr sz="4400" spc="-125" dirty="0"/>
              <a:t>a</a:t>
            </a:r>
            <a:r>
              <a:rPr sz="4400" spc="-290" dirty="0"/>
              <a:t>r</a:t>
            </a:r>
            <a:r>
              <a:rPr sz="4400" spc="-40" dirty="0"/>
              <a:t>a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6384" y="1641765"/>
            <a:ext cx="9556115" cy="52527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3.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Les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différentes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façons</a:t>
            </a:r>
            <a:r>
              <a:rPr sz="305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 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déclarer</a:t>
            </a:r>
            <a:r>
              <a:rPr sz="3050" b="1" spc="-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une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305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44"/>
              </a:spcBef>
              <a:tabLst>
                <a:tab pos="4300855" algn="l"/>
                <a:tab pos="4892040" algn="l"/>
              </a:tabLst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400" b="1" spc="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nomDeLaFonction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,	</a:t>
            </a: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,	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//prototype</a:t>
            </a:r>
            <a:r>
              <a:rPr sz="22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nomDeLaFonction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15"/>
              </a:spcBef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main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4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15"/>
              </a:spcBef>
            </a:pPr>
            <a:r>
              <a:rPr sz="2400" spc="10" dirty="0">
                <a:latin typeface="Times New Roman"/>
                <a:cs typeface="Times New Roman"/>
              </a:rPr>
              <a:t>.....</a:t>
            </a:r>
            <a:endParaRPr sz="24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15"/>
              </a:spcBef>
            </a:pPr>
            <a:r>
              <a:rPr sz="2400" spc="10" dirty="0">
                <a:latin typeface="Times New Roman"/>
                <a:cs typeface="Times New Roman"/>
              </a:rPr>
              <a:t>y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nomDeLaFonction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spc="5" dirty="0">
                <a:latin typeface="Times New Roman"/>
                <a:cs typeface="Times New Roman"/>
              </a:rPr>
              <a:t>x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n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p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22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15"/>
              </a:spcBef>
            </a:pPr>
            <a:r>
              <a:rPr sz="2400" spc="10" dirty="0">
                <a:latin typeface="Times New Roman"/>
                <a:cs typeface="Times New Roman"/>
              </a:rPr>
              <a:t>.....</a:t>
            </a:r>
            <a:endParaRPr sz="24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19"/>
              </a:spcBef>
            </a:pPr>
            <a:r>
              <a:rPr sz="2400" b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4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25"/>
              </a:spcBef>
            </a:pPr>
            <a:r>
              <a:rPr sz="2400" spc="1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15"/>
              </a:spcBef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fct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(…)</a:t>
            </a:r>
            <a:endParaRPr sz="24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19"/>
              </a:spcBef>
            </a:pP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15"/>
              </a:spcBef>
            </a:pPr>
            <a:r>
              <a:rPr sz="2400" spc="10" dirty="0">
                <a:latin typeface="Times New Roman"/>
                <a:cs typeface="Times New Roman"/>
              </a:rPr>
              <a:t>.....</a:t>
            </a:r>
            <a:endParaRPr sz="24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215"/>
              </a:spcBef>
            </a:pP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64490" indent="-352425">
              <a:lnSpc>
                <a:spcPct val="100000"/>
              </a:lnSpc>
              <a:spcBef>
                <a:spcPts val="215"/>
              </a:spcBef>
              <a:buClr>
                <a:srgbClr val="DD7F46"/>
              </a:buClr>
              <a:buSzPct val="60416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400" spc="5" dirty="0">
                <a:latin typeface="Times New Roman"/>
                <a:cs typeface="Times New Roman"/>
              </a:rPr>
              <a:t>La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déclaration </a:t>
            </a:r>
            <a:r>
              <a:rPr sz="2400" spc="10" dirty="0">
                <a:latin typeface="Times New Roman"/>
                <a:cs typeface="Times New Roman"/>
              </a:rPr>
              <a:t>de</a:t>
            </a:r>
            <a:r>
              <a:rPr sz="2400" spc="5" dirty="0">
                <a:latin typeface="Times New Roman"/>
                <a:cs typeface="Times New Roman"/>
              </a:rPr>
              <a:t> nomDeLaFonction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est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connue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à</a:t>
            </a:r>
            <a:r>
              <a:rPr sz="2400" spc="5" dirty="0">
                <a:latin typeface="Times New Roman"/>
                <a:cs typeface="Times New Roman"/>
              </a:rPr>
              <a:t> la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fois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de</a:t>
            </a:r>
            <a:r>
              <a:rPr sz="2400" spc="5" dirty="0">
                <a:latin typeface="Times New Roman"/>
                <a:cs typeface="Times New Roman"/>
              </a:rPr>
              <a:t> main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et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fct.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427735"/>
            <a:ext cx="78600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810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140" dirty="0"/>
              <a:t>f</a:t>
            </a:r>
            <a:r>
              <a:rPr sz="4400" spc="-355" dirty="0"/>
              <a:t>on</a:t>
            </a:r>
            <a:r>
              <a:rPr sz="4400" spc="-675" dirty="0"/>
              <a:t>c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340" dirty="0"/>
              <a:t>e</a:t>
            </a:r>
            <a:r>
              <a:rPr sz="4400" spc="-325" dirty="0"/>
              <a:t>t</a:t>
            </a:r>
            <a:r>
              <a:rPr sz="4400" b="0" spc="70" dirty="0">
                <a:latin typeface="Times New Roman"/>
                <a:cs typeface="Times New Roman"/>
              </a:rPr>
              <a:t> 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355" dirty="0"/>
              <a:t>u</a:t>
            </a:r>
            <a:r>
              <a:rPr sz="4400" spc="-335" dirty="0"/>
              <a:t>r</a:t>
            </a:r>
            <a:r>
              <a:rPr sz="4400" spc="-570" dirty="0"/>
              <a:t>s</a:t>
            </a:r>
            <a:r>
              <a:rPr sz="4400" b="0" spc="65" dirty="0">
                <a:latin typeface="Times New Roman"/>
                <a:cs typeface="Times New Roman"/>
              </a:rPr>
              <a:t> </a:t>
            </a:r>
            <a:r>
              <a:rPr sz="4400" spc="-355" dirty="0"/>
              <a:t>d</a:t>
            </a:r>
            <a:r>
              <a:rPr sz="4400" spc="-340" dirty="0"/>
              <a:t>é</a:t>
            </a:r>
            <a:r>
              <a:rPr sz="4400" spc="-675" dirty="0"/>
              <a:t>c</a:t>
            </a:r>
            <a:r>
              <a:rPr sz="4400" spc="-85" dirty="0"/>
              <a:t>l</a:t>
            </a:r>
            <a:r>
              <a:rPr sz="4400" spc="-125" dirty="0"/>
              <a:t>a</a:t>
            </a:r>
            <a:r>
              <a:rPr sz="4400" spc="-290" dirty="0"/>
              <a:t>r</a:t>
            </a:r>
            <a:r>
              <a:rPr sz="4400" spc="-40" dirty="0"/>
              <a:t>a</a:t>
            </a:r>
            <a:r>
              <a:rPr sz="4400" spc="-330" dirty="0"/>
              <a:t>t</a:t>
            </a:r>
            <a:r>
              <a:rPr sz="4400" spc="-85" dirty="0"/>
              <a:t>i</a:t>
            </a:r>
            <a:r>
              <a:rPr sz="4400" spc="-355" dirty="0"/>
              <a:t>on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008" y="1700835"/>
            <a:ext cx="9752965" cy="305435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Remarque:</a:t>
            </a:r>
            <a:endParaRPr sz="3050">
              <a:latin typeface="Times New Roman"/>
              <a:cs typeface="Times New Roman"/>
            </a:endParaRPr>
          </a:p>
          <a:p>
            <a:pPr marL="12700" marR="5080">
              <a:lnSpc>
                <a:spcPct val="126499"/>
              </a:lnSpc>
              <a:spcBef>
                <a:spcPts val="10"/>
              </a:spcBef>
            </a:pPr>
            <a:r>
              <a:rPr sz="2600" spc="15" dirty="0">
                <a:latin typeface="Times New Roman"/>
                <a:cs typeface="Times New Roman"/>
              </a:rPr>
              <a:t>Le prototype de </a:t>
            </a:r>
            <a:r>
              <a:rPr sz="2600" spc="10" dirty="0">
                <a:latin typeface="Times New Roman"/>
                <a:cs typeface="Times New Roman"/>
              </a:rPr>
              <a:t>la fonction doit </a:t>
            </a:r>
            <a:r>
              <a:rPr sz="2600" spc="15" dirty="0">
                <a:latin typeface="Times New Roman"/>
                <a:cs typeface="Times New Roman"/>
              </a:rPr>
              <a:t>correspondre exactement à </a:t>
            </a:r>
            <a:r>
              <a:rPr sz="2600" spc="10" dirty="0">
                <a:latin typeface="Times New Roman"/>
                <a:cs typeface="Times New Roman"/>
              </a:rPr>
              <a:t>la définition,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5" dirty="0">
                <a:latin typeface="Times New Roman"/>
                <a:cs typeface="Times New Roman"/>
              </a:rPr>
              <a:t>n’est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 permis de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changer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d’avis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cours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route :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b="1" i="1" spc="10" dirty="0">
                <a:latin typeface="Times New Roman"/>
                <a:cs typeface="Times New Roman"/>
              </a:rPr>
              <a:t>f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600" b="1" i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x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prototype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autres...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008" y="4728462"/>
            <a:ext cx="2981960" cy="2028189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spc="10" dirty="0">
                <a:latin typeface="Times New Roman"/>
                <a:cs typeface="Times New Roman"/>
              </a:rPr>
              <a:t>f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long </a:t>
            </a:r>
            <a:r>
              <a:rPr sz="2600" spc="10" dirty="0">
                <a:latin typeface="Times New Roman"/>
                <a:cs typeface="Times New Roman"/>
              </a:rPr>
              <a:t>a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float </a:t>
            </a:r>
            <a:r>
              <a:rPr sz="2600" spc="15" dirty="0">
                <a:latin typeface="Times New Roman"/>
                <a:cs typeface="Times New Roman"/>
              </a:rPr>
              <a:t>x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600710">
              <a:lnSpc>
                <a:spcPct val="100000"/>
              </a:lnSpc>
              <a:spcBef>
                <a:spcPts val="1230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//corps</a:t>
            </a:r>
            <a:r>
              <a:rPr sz="22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544" y="4880862"/>
            <a:ext cx="359727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erreur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!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différent</a:t>
            </a:r>
            <a:r>
              <a:rPr sz="22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du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prototype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73427"/>
            <a:ext cx="9304655" cy="274510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dirty="0">
                <a:solidFill>
                  <a:srgbClr val="6F2FA0"/>
                </a:solidFill>
                <a:latin typeface="Times New Roman"/>
                <a:cs typeface="Times New Roman"/>
              </a:rPr>
              <a:t>CONCEPT:</a:t>
            </a:r>
            <a:endParaRPr sz="2600">
              <a:latin typeface="Times New Roman"/>
              <a:cs typeface="Times New Roman"/>
            </a:endParaRPr>
          </a:p>
          <a:p>
            <a:pPr marL="391160" marR="490855" indent="-391160">
              <a:lnSpc>
                <a:spcPts val="305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10" dirty="0">
                <a:latin typeface="Times New Roman"/>
                <a:cs typeface="Times New Roman"/>
              </a:rPr>
              <a:t>Lorsqu'un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paramètre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est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passé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en</a:t>
            </a:r>
            <a:r>
              <a:rPr sz="2500" spc="10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argument,</a:t>
            </a:r>
            <a:r>
              <a:rPr sz="2500" spc="10" dirty="0">
                <a:latin typeface="Times New Roman"/>
                <a:cs typeface="Times New Roman"/>
              </a:rPr>
              <a:t> seule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20" dirty="0">
                <a:latin typeface="Times New Roman"/>
                <a:cs typeface="Times New Roman"/>
              </a:rPr>
              <a:t>une </a:t>
            </a:r>
            <a:r>
              <a:rPr sz="2500" b="1" spc="10" dirty="0">
                <a:solidFill>
                  <a:srgbClr val="FF0065"/>
                </a:solidFill>
                <a:latin typeface="Times New Roman"/>
                <a:cs typeface="Times New Roman"/>
              </a:rPr>
              <a:t>copie</a:t>
            </a:r>
            <a:r>
              <a:rPr sz="2500" b="1" spc="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la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valeur</a:t>
            </a:r>
            <a:r>
              <a:rPr sz="2500" spc="-2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du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paramètre</a:t>
            </a:r>
            <a:r>
              <a:rPr sz="2500" spc="25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s’est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passé.</a:t>
            </a:r>
            <a:endParaRPr sz="2500">
              <a:latin typeface="Times New Roman"/>
              <a:cs typeface="Times New Roman"/>
            </a:endParaRPr>
          </a:p>
          <a:p>
            <a:pPr marL="390525" indent="-378460">
              <a:lnSpc>
                <a:spcPts val="2925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15" dirty="0">
                <a:latin typeface="Times New Roman"/>
                <a:cs typeface="Times New Roman"/>
              </a:rPr>
              <a:t>Les </a:t>
            </a:r>
            <a:r>
              <a:rPr sz="2500" spc="10" dirty="0">
                <a:latin typeface="Times New Roman"/>
                <a:cs typeface="Times New Roman"/>
              </a:rPr>
              <a:t>modifications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apportées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à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l'argument</a:t>
            </a:r>
            <a:r>
              <a:rPr sz="2500" spc="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n'affectent</a:t>
            </a:r>
            <a:r>
              <a:rPr sz="2500" spc="3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pas</a:t>
            </a:r>
            <a:r>
              <a:rPr sz="2500" spc="3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le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paramètre</a:t>
            </a:r>
            <a:endParaRPr sz="2500">
              <a:latin typeface="Times New Roman"/>
              <a:cs typeface="Times New Roman"/>
            </a:endParaRPr>
          </a:p>
          <a:p>
            <a:pPr marL="390525">
              <a:lnSpc>
                <a:spcPct val="100000"/>
              </a:lnSpc>
              <a:spcBef>
                <a:spcPts val="35"/>
              </a:spcBef>
            </a:pPr>
            <a:r>
              <a:rPr sz="2500" spc="10" dirty="0">
                <a:latin typeface="Times New Roman"/>
                <a:cs typeface="Times New Roman"/>
              </a:rPr>
              <a:t>original.</a:t>
            </a:r>
            <a:endParaRPr sz="2500">
              <a:latin typeface="Times New Roman"/>
              <a:cs typeface="Times New Roman"/>
            </a:endParaRPr>
          </a:p>
          <a:p>
            <a:pPr marL="391160" marR="59690" indent="-391160">
              <a:lnSpc>
                <a:spcPct val="101200"/>
              </a:lnSpc>
              <a:spcBef>
                <a:spcPts val="1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15" dirty="0">
                <a:latin typeface="Times New Roman"/>
                <a:cs typeface="Times New Roman"/>
              </a:rPr>
              <a:t>Les </a:t>
            </a:r>
            <a:r>
              <a:rPr sz="2500" spc="10" dirty="0">
                <a:latin typeface="Times New Roman"/>
                <a:cs typeface="Times New Roman"/>
              </a:rPr>
              <a:t>modifications </a:t>
            </a:r>
            <a:r>
              <a:rPr sz="2500" spc="5" dirty="0">
                <a:latin typeface="Times New Roman"/>
                <a:cs typeface="Times New Roman"/>
              </a:rPr>
              <a:t>effectuées </a:t>
            </a:r>
            <a:r>
              <a:rPr sz="2500" spc="10" dirty="0">
                <a:latin typeface="Times New Roman"/>
                <a:cs typeface="Times New Roman"/>
              </a:rPr>
              <a:t>à l’intérieur </a:t>
            </a:r>
            <a:r>
              <a:rPr sz="2500" spc="15" dirty="0">
                <a:latin typeface="Times New Roman"/>
                <a:cs typeface="Times New Roman"/>
              </a:rPr>
              <a:t>de </a:t>
            </a:r>
            <a:r>
              <a:rPr sz="2500" spc="10" dirty="0">
                <a:latin typeface="Times New Roman"/>
                <a:cs typeface="Times New Roman"/>
              </a:rPr>
              <a:t>la fonction </a:t>
            </a:r>
            <a:r>
              <a:rPr sz="2500" spc="15" dirty="0">
                <a:latin typeface="Times New Roman"/>
                <a:cs typeface="Times New Roman"/>
              </a:rPr>
              <a:t>ne </a:t>
            </a:r>
            <a:r>
              <a:rPr sz="2500" spc="10" dirty="0">
                <a:latin typeface="Times New Roman"/>
                <a:cs typeface="Times New Roman"/>
              </a:rPr>
              <a:t>sont </a:t>
            </a:r>
            <a:r>
              <a:rPr sz="2500" spc="15" dirty="0">
                <a:latin typeface="Times New Roman"/>
                <a:cs typeface="Times New Roman"/>
              </a:rPr>
              <a:t>donc </a:t>
            </a:r>
            <a:r>
              <a:rPr sz="2500" spc="-61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pas</a:t>
            </a:r>
            <a:r>
              <a:rPr sz="2500" spc="10" dirty="0">
                <a:latin typeface="Times New Roman"/>
                <a:cs typeface="Times New Roman"/>
              </a:rPr>
              <a:t> répercutées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à l’extérieur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</a:t>
            </a:r>
            <a:r>
              <a:rPr sz="2500" spc="10" dirty="0">
                <a:latin typeface="Times New Roman"/>
                <a:cs typeface="Times New Roman"/>
              </a:rPr>
              <a:t> la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fonction.</a:t>
            </a:r>
            <a:endParaRPr sz="25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04" y="1773427"/>
            <a:ext cx="9162415" cy="3467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0525" marR="5080" indent="-378460">
              <a:lnSpc>
                <a:spcPct val="1008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spc="5" dirty="0">
                <a:latin typeface="Times New Roman"/>
                <a:cs typeface="Times New Roman"/>
              </a:rPr>
              <a:t>Prenons </a:t>
            </a:r>
            <a:r>
              <a:rPr sz="2400" spc="10" dirty="0">
                <a:latin typeface="Times New Roman"/>
                <a:cs typeface="Times New Roman"/>
              </a:rPr>
              <a:t>une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fonction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simple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qui </a:t>
            </a:r>
            <a:r>
              <a:rPr sz="2400" spc="5" dirty="0">
                <a:latin typeface="Times New Roman"/>
                <a:cs typeface="Times New Roman"/>
              </a:rPr>
              <a:t>multiplie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simplement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par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2 </a:t>
            </a:r>
            <a:r>
              <a:rPr sz="2400" dirty="0">
                <a:latin typeface="Times New Roman"/>
                <a:cs typeface="Times New Roman"/>
              </a:rPr>
              <a:t>l'argument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fourni: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00">
              <a:latin typeface="Times New Roman"/>
              <a:cs typeface="Times New Roman"/>
            </a:endParaRPr>
          </a:p>
          <a:p>
            <a:pPr marL="575945">
              <a:lnSpc>
                <a:spcPct val="100000"/>
              </a:lnSpc>
            </a:pPr>
            <a:r>
              <a:rPr sz="25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5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spc="10" dirty="0">
                <a:latin typeface="Times New Roman"/>
                <a:cs typeface="Times New Roman"/>
              </a:rPr>
              <a:t>multiplierParDeux</a:t>
            </a:r>
            <a:r>
              <a:rPr sz="25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5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5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x</a:t>
            </a:r>
            <a:r>
              <a:rPr sz="25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495300">
              <a:lnSpc>
                <a:spcPct val="100000"/>
              </a:lnSpc>
              <a:spcBef>
                <a:spcPts val="50"/>
              </a:spcBef>
            </a:pPr>
            <a:r>
              <a:rPr sz="25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500">
              <a:latin typeface="Times New Roman"/>
              <a:cs typeface="Times New Roman"/>
            </a:endParaRPr>
          </a:p>
          <a:p>
            <a:pPr marL="655320" marR="7260590">
              <a:lnSpc>
                <a:spcPts val="3050"/>
              </a:lnSpc>
              <a:spcBef>
                <a:spcPts val="95"/>
              </a:spcBef>
            </a:pPr>
            <a:r>
              <a:rPr sz="2500" spc="15" dirty="0">
                <a:latin typeface="Times New Roman"/>
                <a:cs typeface="Times New Roman"/>
              </a:rPr>
              <a:t>x</a:t>
            </a:r>
            <a:r>
              <a:rPr sz="2500" spc="15" dirty="0">
                <a:solidFill>
                  <a:srgbClr val="FF0000"/>
                </a:solidFill>
                <a:latin typeface="Times New Roman"/>
                <a:cs typeface="Times New Roman"/>
              </a:rPr>
              <a:t>* = </a:t>
            </a:r>
            <a:r>
              <a:rPr sz="2500" b="1" spc="15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5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5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500" b="1" spc="-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x</a:t>
            </a:r>
            <a:r>
              <a:rPr sz="25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500">
              <a:latin typeface="Times New Roman"/>
              <a:cs typeface="Times New Roman"/>
            </a:endParaRPr>
          </a:p>
          <a:p>
            <a:pPr marL="576580">
              <a:lnSpc>
                <a:spcPts val="2925"/>
              </a:lnSpc>
            </a:pPr>
            <a:r>
              <a:rPr sz="25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5221" y="2974848"/>
            <a:ext cx="4543425" cy="2798445"/>
          </a:xfrm>
          <a:custGeom>
            <a:avLst/>
            <a:gdLst/>
            <a:ahLst/>
            <a:cxnLst/>
            <a:rect l="l" t="t" r="r" b="b"/>
            <a:pathLst>
              <a:path w="4543425" h="2798445">
                <a:moveTo>
                  <a:pt x="4543041" y="2793492"/>
                </a:moveTo>
                <a:lnTo>
                  <a:pt x="4543041" y="4572"/>
                </a:lnTo>
                <a:lnTo>
                  <a:pt x="4538469" y="0"/>
                </a:lnTo>
                <a:lnTo>
                  <a:pt x="4572" y="0"/>
                </a:lnTo>
                <a:lnTo>
                  <a:pt x="0" y="4572"/>
                </a:lnTo>
                <a:lnTo>
                  <a:pt x="0" y="2793492"/>
                </a:lnTo>
                <a:lnTo>
                  <a:pt x="4572" y="2798064"/>
                </a:lnTo>
                <a:lnTo>
                  <a:pt x="10668" y="2798064"/>
                </a:lnTo>
                <a:lnTo>
                  <a:pt x="10668" y="21336"/>
                </a:lnTo>
                <a:lnTo>
                  <a:pt x="19812" y="10668"/>
                </a:lnTo>
                <a:lnTo>
                  <a:pt x="19812" y="21336"/>
                </a:lnTo>
                <a:lnTo>
                  <a:pt x="4521705" y="21336"/>
                </a:lnTo>
                <a:lnTo>
                  <a:pt x="4521705" y="10668"/>
                </a:lnTo>
                <a:lnTo>
                  <a:pt x="4532373" y="21336"/>
                </a:lnTo>
                <a:lnTo>
                  <a:pt x="4532373" y="2798064"/>
                </a:lnTo>
                <a:lnTo>
                  <a:pt x="4538469" y="2798064"/>
                </a:lnTo>
                <a:lnTo>
                  <a:pt x="4543041" y="2793492"/>
                </a:lnTo>
                <a:close/>
              </a:path>
              <a:path w="4543425" h="2798445">
                <a:moveTo>
                  <a:pt x="19812" y="21336"/>
                </a:moveTo>
                <a:lnTo>
                  <a:pt x="19812" y="10668"/>
                </a:lnTo>
                <a:lnTo>
                  <a:pt x="10668" y="21336"/>
                </a:lnTo>
                <a:lnTo>
                  <a:pt x="19812" y="21336"/>
                </a:lnTo>
                <a:close/>
              </a:path>
              <a:path w="4543425" h="2798445">
                <a:moveTo>
                  <a:pt x="19812" y="2776728"/>
                </a:moveTo>
                <a:lnTo>
                  <a:pt x="19812" y="21336"/>
                </a:lnTo>
                <a:lnTo>
                  <a:pt x="10668" y="21336"/>
                </a:lnTo>
                <a:lnTo>
                  <a:pt x="10668" y="2776728"/>
                </a:lnTo>
                <a:lnTo>
                  <a:pt x="19812" y="2776728"/>
                </a:lnTo>
                <a:close/>
              </a:path>
              <a:path w="4543425" h="2798445">
                <a:moveTo>
                  <a:pt x="4532373" y="2776728"/>
                </a:moveTo>
                <a:lnTo>
                  <a:pt x="10668" y="2776728"/>
                </a:lnTo>
                <a:lnTo>
                  <a:pt x="19812" y="2787396"/>
                </a:lnTo>
                <a:lnTo>
                  <a:pt x="19812" y="2798064"/>
                </a:lnTo>
                <a:lnTo>
                  <a:pt x="4521705" y="2798064"/>
                </a:lnTo>
                <a:lnTo>
                  <a:pt x="4521705" y="2787396"/>
                </a:lnTo>
                <a:lnTo>
                  <a:pt x="4532373" y="2776728"/>
                </a:lnTo>
                <a:close/>
              </a:path>
              <a:path w="4543425" h="2798445">
                <a:moveTo>
                  <a:pt x="19812" y="2798064"/>
                </a:moveTo>
                <a:lnTo>
                  <a:pt x="19812" y="2787396"/>
                </a:lnTo>
                <a:lnTo>
                  <a:pt x="10668" y="2776728"/>
                </a:lnTo>
                <a:lnTo>
                  <a:pt x="10668" y="2798064"/>
                </a:lnTo>
                <a:lnTo>
                  <a:pt x="19812" y="2798064"/>
                </a:lnTo>
                <a:close/>
              </a:path>
              <a:path w="4543425" h="2798445">
                <a:moveTo>
                  <a:pt x="4532373" y="21336"/>
                </a:moveTo>
                <a:lnTo>
                  <a:pt x="4521705" y="10668"/>
                </a:lnTo>
                <a:lnTo>
                  <a:pt x="4521705" y="21336"/>
                </a:lnTo>
                <a:lnTo>
                  <a:pt x="4532373" y="21336"/>
                </a:lnTo>
                <a:close/>
              </a:path>
              <a:path w="4543425" h="2798445">
                <a:moveTo>
                  <a:pt x="4532373" y="2776728"/>
                </a:moveTo>
                <a:lnTo>
                  <a:pt x="4532373" y="21336"/>
                </a:lnTo>
                <a:lnTo>
                  <a:pt x="4521705" y="21336"/>
                </a:lnTo>
                <a:lnTo>
                  <a:pt x="4521705" y="2776728"/>
                </a:lnTo>
                <a:lnTo>
                  <a:pt x="4532373" y="2776728"/>
                </a:lnTo>
                <a:close/>
              </a:path>
              <a:path w="4543425" h="2798445">
                <a:moveTo>
                  <a:pt x="4532373" y="2798064"/>
                </a:moveTo>
                <a:lnTo>
                  <a:pt x="4532373" y="2776728"/>
                </a:lnTo>
                <a:lnTo>
                  <a:pt x="4521705" y="2787396"/>
                </a:lnTo>
                <a:lnTo>
                  <a:pt x="4521705" y="2798064"/>
                </a:lnTo>
                <a:lnTo>
                  <a:pt x="4532373" y="2798064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53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02292" y="1395475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90912" y="583183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62759"/>
            <a:ext cx="9234170" cy="5655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-15" dirty="0">
                <a:latin typeface="Times New Roman"/>
                <a:cs typeface="Times New Roman"/>
              </a:rPr>
              <a:t>Testons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donc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cette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fonction: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00" b="1" dirty="0">
                <a:solidFill>
                  <a:srgbClr val="008E3F"/>
                </a:solidFill>
                <a:latin typeface="Times New Roman"/>
                <a:cs typeface="Times New Roman"/>
              </a:rPr>
              <a:t>#include</a:t>
            </a:r>
            <a:r>
              <a:rPr sz="2200" b="1" spc="-5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8E3F"/>
                </a:solidFill>
                <a:latin typeface="Times New Roman"/>
                <a:cs typeface="Times New Roman"/>
              </a:rPr>
              <a:t>&lt;iostream&gt;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2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22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8E3F"/>
                </a:solidFill>
                <a:latin typeface="Times New Roman"/>
                <a:cs typeface="Times New Roman"/>
              </a:rPr>
              <a:t>std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50">
              <a:latin typeface="Times New Roman"/>
              <a:cs typeface="Times New Roman"/>
            </a:endParaRPr>
          </a:p>
          <a:p>
            <a:pPr marL="292735" marR="454025" indent="-280670">
              <a:lnSpc>
                <a:spcPct val="104099"/>
              </a:lnSpc>
              <a:spcBef>
                <a:spcPts val="5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multiplierParDeux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x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fonction: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multiplierParDeux() </a:t>
            </a:r>
            <a:r>
              <a:rPr sz="2200" spc="-5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*=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main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nombre(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resultat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tabLst>
                <a:tab pos="4916805" algn="l"/>
              </a:tabLst>
            </a:pPr>
            <a:r>
              <a:rPr sz="2200" dirty="0">
                <a:latin typeface="Times New Roman"/>
                <a:cs typeface="Times New Roman"/>
              </a:rPr>
              <a:t>resultat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2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multiplierParDeux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fonction:</a:t>
            </a:r>
            <a:r>
              <a:rPr sz="195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multiplierParDeux()</a:t>
            </a:r>
            <a:endParaRPr sz="1950">
              <a:latin typeface="Times New Roman"/>
              <a:cs typeface="Times New Roman"/>
            </a:endParaRPr>
          </a:p>
          <a:p>
            <a:pPr marL="292735" marR="2460625">
              <a:lnSpc>
                <a:spcPct val="100000"/>
              </a:lnSpc>
              <a:spcBef>
                <a:spcPts val="10"/>
              </a:spcBef>
            </a:pPr>
            <a:r>
              <a:rPr sz="2200" b="1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2200" b="1" spc="-1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"Le</a:t>
            </a:r>
            <a:r>
              <a:rPr sz="22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nombre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original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vaut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spc="-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2200" b="1" spc="-2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"Le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résultat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vaut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05459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04" y="1742947"/>
            <a:ext cx="4938395" cy="12369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code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donne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résultat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suivant:</a:t>
            </a:r>
            <a:endParaRPr sz="2600">
              <a:latin typeface="Times New Roman"/>
              <a:cs typeface="Times New Roman"/>
            </a:endParaRPr>
          </a:p>
          <a:p>
            <a:pPr marL="396240" marR="1261110">
              <a:lnSpc>
                <a:spcPct val="101499"/>
              </a:lnSpc>
              <a:spcBef>
                <a:spcPts val="35"/>
              </a:spcBef>
            </a:pP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80" dirty="0">
                <a:latin typeface="Arial MT"/>
                <a:cs typeface="Arial MT"/>
              </a:rPr>
              <a:t>nomb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o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g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na</a:t>
            </a:r>
            <a:r>
              <a:rPr sz="2600" spc="-100" dirty="0">
                <a:latin typeface="Arial MT"/>
                <a:cs typeface="Arial MT"/>
              </a:rPr>
              <a:t>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au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Arial MT"/>
                <a:cs typeface="Arial MT"/>
              </a:rPr>
              <a:t>2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é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250" dirty="0">
                <a:latin typeface="Arial MT"/>
                <a:cs typeface="Arial MT"/>
              </a:rPr>
              <a:t>u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au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4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2248" y="1727707"/>
            <a:ext cx="9435465" cy="40538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0"/>
              </a:spcBef>
            </a:pPr>
            <a:r>
              <a:rPr sz="2600" spc="15" dirty="0">
                <a:latin typeface="Times New Roman"/>
                <a:cs typeface="Times New Roman"/>
              </a:rPr>
              <a:t>Lors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l'appel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fonction,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 passe énormément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choses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516890" indent="-504825" algn="just">
              <a:lnSpc>
                <a:spcPct val="100000"/>
              </a:lnSpc>
              <a:spcBef>
                <a:spcPts val="45"/>
              </a:spcBef>
              <a:buClr>
                <a:srgbClr val="006FC0"/>
              </a:buClr>
              <a:buAutoNum type="arabicPeriod"/>
              <a:tabLst>
                <a:tab pos="517525" algn="l"/>
              </a:tabLst>
            </a:pPr>
            <a:r>
              <a:rPr sz="2600" spc="15" dirty="0">
                <a:latin typeface="Times New Roman"/>
                <a:cs typeface="Times New Roman"/>
              </a:rPr>
              <a:t>Le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évalue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i="1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latin typeface="Times New Roman"/>
                <a:cs typeface="Times New Roman"/>
              </a:rPr>
              <a:t>.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Il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trouve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2.</a:t>
            </a:r>
            <a:endParaRPr sz="2600">
              <a:latin typeface="Times New Roman"/>
              <a:cs typeface="Times New Roman"/>
            </a:endParaRPr>
          </a:p>
          <a:p>
            <a:pPr marL="516890" marR="5080" indent="-504825" algn="just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AutoNum type="arabicPeriod"/>
              <a:tabLst>
                <a:tab pos="517525" algn="l"/>
              </a:tabLst>
            </a:pPr>
            <a:r>
              <a:rPr sz="2600" spc="15" dirty="0">
                <a:latin typeface="Times New Roman"/>
                <a:cs typeface="Times New Roman"/>
              </a:rPr>
              <a:t>Le programme </a:t>
            </a:r>
            <a:r>
              <a:rPr sz="2600" i="1" spc="15" dirty="0">
                <a:latin typeface="Times New Roman"/>
                <a:cs typeface="Times New Roman"/>
              </a:rPr>
              <a:t>alloue </a:t>
            </a:r>
            <a:r>
              <a:rPr sz="2600" i="1" spc="20" dirty="0">
                <a:latin typeface="Times New Roman"/>
                <a:cs typeface="Times New Roman"/>
              </a:rPr>
              <a:t>un </a:t>
            </a:r>
            <a:r>
              <a:rPr sz="2600" i="1" spc="15" dirty="0">
                <a:latin typeface="Times New Roman"/>
                <a:cs typeface="Times New Roman"/>
              </a:rPr>
              <a:t>nouvel espace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mémoire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20" dirty="0">
                <a:latin typeface="Times New Roman"/>
                <a:cs typeface="Times New Roman"/>
              </a:rPr>
              <a:t>y </a:t>
            </a:r>
            <a:r>
              <a:rPr sz="2600" spc="10" dirty="0">
                <a:latin typeface="Times New Roman"/>
                <a:cs typeface="Times New Roman"/>
              </a:rPr>
              <a:t>écrit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valeur 2. Cet espace mémoire possède </a:t>
            </a:r>
            <a:r>
              <a:rPr sz="2600" spc="10" dirty="0">
                <a:latin typeface="Times New Roman"/>
                <a:cs typeface="Times New Roman"/>
              </a:rPr>
              <a:t>l'étiquette </a:t>
            </a:r>
            <a:r>
              <a:rPr sz="2600" b="1" i="1" spc="15" dirty="0">
                <a:latin typeface="Times New Roman"/>
                <a:cs typeface="Times New Roman"/>
              </a:rPr>
              <a:t>x</a:t>
            </a:r>
            <a:r>
              <a:rPr sz="2600" spc="15" dirty="0">
                <a:latin typeface="Times New Roman"/>
                <a:cs typeface="Times New Roman"/>
              </a:rPr>
              <a:t>,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20" dirty="0">
                <a:latin typeface="Times New Roman"/>
                <a:cs typeface="Times New Roman"/>
              </a:rPr>
              <a:t>nom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la fonction.</a:t>
            </a:r>
            <a:endParaRPr sz="2600">
              <a:latin typeface="Times New Roman"/>
              <a:cs typeface="Times New Roman"/>
            </a:endParaRPr>
          </a:p>
          <a:p>
            <a:pPr marL="516890" indent="-504825" algn="just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AutoNum type="arabicPeriod"/>
              <a:tabLst>
                <a:tab pos="517525" algn="l"/>
              </a:tabLst>
            </a:pPr>
            <a:r>
              <a:rPr sz="2600" spc="15" dirty="0">
                <a:latin typeface="Times New Roman"/>
                <a:cs typeface="Times New Roman"/>
              </a:rPr>
              <a:t>Le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10" dirty="0">
                <a:latin typeface="Times New Roman"/>
                <a:cs typeface="Times New Roman"/>
              </a:rPr>
              <a:t> entre</a:t>
            </a:r>
            <a:r>
              <a:rPr sz="2600" spc="15" dirty="0">
                <a:latin typeface="Times New Roman"/>
                <a:cs typeface="Times New Roman"/>
              </a:rPr>
              <a:t> dans </a:t>
            </a:r>
            <a:r>
              <a:rPr sz="2600" spc="10" dirty="0">
                <a:latin typeface="Times New Roman"/>
                <a:cs typeface="Times New Roman"/>
              </a:rPr>
              <a:t>la fonction.</a:t>
            </a:r>
            <a:endParaRPr sz="2600">
              <a:latin typeface="Times New Roman"/>
              <a:cs typeface="Times New Roman"/>
            </a:endParaRPr>
          </a:p>
          <a:p>
            <a:pPr marL="516890" indent="-504825" algn="just"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AutoNum type="arabicPeriod"/>
              <a:tabLst>
                <a:tab pos="517525" algn="l"/>
              </a:tabLst>
            </a:pPr>
            <a:r>
              <a:rPr sz="2600" spc="15" dirty="0">
                <a:latin typeface="Times New Roman"/>
                <a:cs typeface="Times New Roman"/>
              </a:rPr>
              <a:t>Le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10" dirty="0">
                <a:latin typeface="Times New Roman"/>
                <a:cs typeface="Times New Roman"/>
              </a:rPr>
              <a:t> multiplie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variable </a:t>
            </a:r>
            <a:r>
              <a:rPr sz="2600" b="1" i="1" spc="20" dirty="0">
                <a:latin typeface="Times New Roman"/>
                <a:cs typeface="Times New Roman"/>
              </a:rPr>
              <a:t>x</a:t>
            </a:r>
            <a:r>
              <a:rPr sz="2600" b="1" i="1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 2.</a:t>
            </a:r>
            <a:endParaRPr sz="2600">
              <a:latin typeface="Times New Roman"/>
              <a:cs typeface="Times New Roman"/>
            </a:endParaRPr>
          </a:p>
          <a:p>
            <a:pPr marL="516890" marR="139700" indent="-504825" algn="just">
              <a:lnSpc>
                <a:spcPct val="101499"/>
              </a:lnSpc>
              <a:spcBef>
                <a:spcPts val="10"/>
              </a:spcBef>
              <a:buClr>
                <a:srgbClr val="006FC0"/>
              </a:buClr>
              <a:buAutoNum type="arabicPeriod"/>
              <a:tabLst>
                <a:tab pos="517525" algn="l"/>
              </a:tabLst>
            </a:pPr>
            <a:r>
              <a:rPr sz="2600" spc="15" dirty="0">
                <a:latin typeface="Times New Roman"/>
                <a:cs typeface="Times New Roman"/>
              </a:rPr>
              <a:t>La valeur de </a:t>
            </a:r>
            <a:r>
              <a:rPr sz="2600" b="1" i="1" spc="20" dirty="0">
                <a:latin typeface="Times New Roman"/>
                <a:cs typeface="Times New Roman"/>
              </a:rPr>
              <a:t>x </a:t>
            </a:r>
            <a:r>
              <a:rPr sz="2600" spc="15" dirty="0">
                <a:latin typeface="Times New Roman"/>
                <a:cs typeface="Times New Roman"/>
              </a:rPr>
              <a:t>est ensuite copiée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5" dirty="0">
                <a:latin typeface="Times New Roman"/>
                <a:cs typeface="Times New Roman"/>
              </a:rPr>
              <a:t>affectée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10" dirty="0">
                <a:latin typeface="Times New Roman"/>
                <a:cs typeface="Times New Roman"/>
              </a:rPr>
              <a:t>la variable </a:t>
            </a:r>
            <a:r>
              <a:rPr sz="2600" b="1" i="1" spc="10" dirty="0">
                <a:latin typeface="Times New Roman"/>
                <a:cs typeface="Times New Roman"/>
              </a:rPr>
              <a:t>resultat</a:t>
            </a:r>
            <a:r>
              <a:rPr sz="2600" spc="10" dirty="0">
                <a:latin typeface="Times New Roman"/>
                <a:cs typeface="Times New Roman"/>
              </a:rPr>
              <a:t>,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vaut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donc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maintenant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4.</a:t>
            </a:r>
            <a:endParaRPr sz="2600">
              <a:latin typeface="Times New Roman"/>
              <a:cs typeface="Times New Roman"/>
            </a:endParaRPr>
          </a:p>
          <a:p>
            <a:pPr marL="516890" indent="-504825" algn="just"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AutoNum type="arabicPeriod"/>
              <a:tabLst>
                <a:tab pos="517525" algn="l"/>
              </a:tabLst>
            </a:pPr>
            <a:r>
              <a:rPr sz="2600" spc="20" dirty="0">
                <a:latin typeface="Times New Roman"/>
                <a:cs typeface="Times New Roman"/>
              </a:rPr>
              <a:t>On</a:t>
            </a:r>
            <a:r>
              <a:rPr sz="2600" spc="15" dirty="0">
                <a:latin typeface="Times New Roman"/>
                <a:cs typeface="Times New Roman"/>
              </a:rPr>
              <a:t> sort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alors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5652" y="1822195"/>
            <a:ext cx="9545955" cy="4859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16890" marR="480695" indent="-504825">
              <a:lnSpc>
                <a:spcPct val="101499"/>
              </a:lnSpc>
              <a:spcBef>
                <a:spcPts val="90"/>
              </a:spcBef>
              <a:buClr>
                <a:srgbClr val="006FC0"/>
              </a:buClr>
              <a:buFont typeface="Wingdings"/>
              <a:buChar char=""/>
              <a:tabLst>
                <a:tab pos="516890" algn="l"/>
                <a:tab pos="517525" algn="l"/>
              </a:tabLst>
            </a:pP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5" dirty="0">
                <a:latin typeface="Times New Roman"/>
                <a:cs typeface="Times New Roman"/>
              </a:rPr>
              <a:t>est important de noter que </a:t>
            </a:r>
            <a:r>
              <a:rPr sz="2600" spc="10" dirty="0">
                <a:latin typeface="Times New Roman"/>
                <a:cs typeface="Times New Roman"/>
              </a:rPr>
              <a:t>la variable </a:t>
            </a:r>
            <a:r>
              <a:rPr sz="2600" b="1" i="1" spc="20" dirty="0">
                <a:latin typeface="Times New Roman"/>
                <a:cs typeface="Times New Roman"/>
              </a:rPr>
              <a:t>nombre </a:t>
            </a:r>
            <a:r>
              <a:rPr sz="2600" spc="15" dirty="0">
                <a:latin typeface="Times New Roman"/>
                <a:cs typeface="Times New Roman"/>
              </a:rPr>
              <a:t>est copiée dans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nouvelle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case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mémoire.</a:t>
            </a:r>
            <a:endParaRPr sz="2600">
              <a:latin typeface="Times New Roman"/>
              <a:cs typeface="Times New Roman"/>
            </a:endParaRPr>
          </a:p>
          <a:p>
            <a:pPr marL="516890" marR="325120" indent="-504825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"/>
              <a:tabLst>
                <a:tab pos="516890" algn="l"/>
                <a:tab pos="517525" algn="l"/>
              </a:tabLst>
            </a:pP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5" dirty="0">
                <a:latin typeface="Times New Roman"/>
                <a:cs typeface="Times New Roman"/>
              </a:rPr>
              <a:t>est à noter également que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valeur de </a:t>
            </a:r>
            <a:r>
              <a:rPr sz="2600" spc="10" dirty="0">
                <a:latin typeface="Times New Roman"/>
                <a:cs typeface="Times New Roman"/>
              </a:rPr>
              <a:t>la variable </a:t>
            </a:r>
            <a:r>
              <a:rPr sz="2600" b="1" i="1" spc="20" dirty="0">
                <a:latin typeface="Times New Roman"/>
                <a:cs typeface="Times New Roman"/>
              </a:rPr>
              <a:t>nombre </a:t>
            </a:r>
            <a:r>
              <a:rPr sz="2600" spc="10" dirty="0">
                <a:latin typeface="Times New Roman"/>
                <a:cs typeface="Times New Roman"/>
              </a:rPr>
              <a:t>reste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inchangée.</a:t>
            </a:r>
            <a:endParaRPr sz="260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Wingdings"/>
              <a:buChar char=""/>
              <a:tabLst>
                <a:tab pos="516890" algn="l"/>
                <a:tab pos="517525" algn="l"/>
              </a:tabLst>
            </a:pPr>
            <a:r>
              <a:rPr sz="2600" spc="20" dirty="0">
                <a:latin typeface="Times New Roman"/>
                <a:cs typeface="Times New Roman"/>
              </a:rPr>
              <a:t>On </a:t>
            </a:r>
            <a:r>
              <a:rPr sz="2600" spc="10" dirty="0">
                <a:latin typeface="Times New Roman"/>
                <a:cs typeface="Times New Roman"/>
              </a:rPr>
              <a:t>dit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l'argument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b="1" i="1" spc="20" dirty="0">
                <a:latin typeface="Times New Roman"/>
                <a:cs typeface="Times New Roman"/>
              </a:rPr>
              <a:t>nombre</a:t>
            </a:r>
            <a:r>
              <a:rPr sz="2600" b="1" i="1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passé</a:t>
            </a:r>
            <a:r>
              <a:rPr sz="2600" b="1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par</a:t>
            </a:r>
            <a:r>
              <a:rPr sz="26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valeur</a:t>
            </a:r>
            <a:r>
              <a:rPr sz="2600" spc="1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514984" marR="5080" indent="-502920" algn="just">
              <a:lnSpc>
                <a:spcPct val="101699"/>
              </a:lnSpc>
              <a:spcBef>
                <a:spcPts val="5"/>
              </a:spcBef>
              <a:buClr>
                <a:srgbClr val="006FC0"/>
              </a:buClr>
              <a:buFont typeface="Wingdings"/>
              <a:buChar char=""/>
              <a:tabLst>
                <a:tab pos="517525" algn="l"/>
              </a:tabLst>
            </a:pPr>
            <a:r>
              <a:rPr sz="2600" spc="15" dirty="0">
                <a:latin typeface="Times New Roman"/>
                <a:cs typeface="Times New Roman"/>
              </a:rPr>
              <a:t>La valeur de </a:t>
            </a:r>
            <a:r>
              <a:rPr sz="2600" spc="10" dirty="0">
                <a:latin typeface="Times New Roman"/>
                <a:cs typeface="Times New Roman"/>
              </a:rPr>
              <a:t>retour (lorsqu’elle existe) </a:t>
            </a:r>
            <a:r>
              <a:rPr sz="2600" spc="15" dirty="0">
                <a:latin typeface="Times New Roman"/>
                <a:cs typeface="Times New Roman"/>
              </a:rPr>
              <a:t>est </a:t>
            </a:r>
            <a:r>
              <a:rPr sz="2600" spc="10" dirty="0">
                <a:latin typeface="Times New Roman"/>
                <a:cs typeface="Times New Roman"/>
              </a:rPr>
              <a:t>elle </a:t>
            </a:r>
            <a:r>
              <a:rPr sz="2600" spc="15" dirty="0">
                <a:latin typeface="Times New Roman"/>
                <a:cs typeface="Times New Roman"/>
              </a:rPr>
              <a:t>aussi </a:t>
            </a:r>
            <a:r>
              <a:rPr sz="2600" b="1" spc="15" dirty="0">
                <a:latin typeface="Times New Roman"/>
                <a:cs typeface="Times New Roman"/>
              </a:rPr>
              <a:t>transmise par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valeur</a:t>
            </a:r>
            <a:r>
              <a:rPr sz="2600" spc="15" dirty="0">
                <a:latin typeface="Times New Roman"/>
                <a:cs typeface="Times New Roman"/>
              </a:rPr>
              <a:t>, </a:t>
            </a:r>
            <a:r>
              <a:rPr sz="2600" spc="10" dirty="0">
                <a:latin typeface="Times New Roman"/>
                <a:cs typeface="Times New Roman"/>
              </a:rPr>
              <a:t>c’est-à-dire qu’elle fait l’objet </a:t>
            </a:r>
            <a:r>
              <a:rPr sz="2600" spc="15" dirty="0">
                <a:latin typeface="Times New Roman"/>
                <a:cs typeface="Times New Roman"/>
              </a:rPr>
              <a:t>d’une recopie de </a:t>
            </a:r>
            <a:r>
              <a:rPr sz="2600" spc="10" dirty="0">
                <a:latin typeface="Times New Roman"/>
                <a:cs typeface="Times New Roman"/>
              </a:rPr>
              <a:t>la fonction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appelée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appelante.</a:t>
            </a:r>
            <a:endParaRPr sz="2600">
              <a:latin typeface="Times New Roman"/>
              <a:cs typeface="Times New Roman"/>
            </a:endParaRPr>
          </a:p>
          <a:p>
            <a:pPr marL="516890" marR="728345" indent="-504825">
              <a:lnSpc>
                <a:spcPct val="101499"/>
              </a:lnSpc>
              <a:buClr>
                <a:srgbClr val="006FC0"/>
              </a:buClr>
              <a:buFont typeface="Wingdings"/>
              <a:buChar char=""/>
              <a:tabLst>
                <a:tab pos="516890" algn="l"/>
                <a:tab pos="517525" algn="l"/>
              </a:tabLst>
            </a:pPr>
            <a:r>
              <a:rPr sz="2600" spc="15" dirty="0">
                <a:latin typeface="Times New Roman"/>
                <a:cs typeface="Times New Roman"/>
              </a:rPr>
              <a:t>Par </a:t>
            </a:r>
            <a:r>
              <a:rPr sz="2600" spc="10" dirty="0">
                <a:latin typeface="Times New Roman"/>
                <a:cs typeface="Times New Roman"/>
              </a:rPr>
              <a:t>défaut,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les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arguments</a:t>
            </a:r>
            <a:r>
              <a:rPr sz="26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d’une</a:t>
            </a:r>
            <a:r>
              <a:rPr sz="2600" b="1" spc="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fonction</a:t>
            </a:r>
            <a:r>
              <a:rPr sz="2600" b="1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sont</a:t>
            </a:r>
            <a:r>
              <a:rPr sz="26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transmis</a:t>
            </a:r>
            <a:r>
              <a:rPr sz="26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par </a:t>
            </a:r>
            <a:r>
              <a:rPr sz="2600" b="1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valeur.</a:t>
            </a:r>
            <a:endParaRPr sz="2600">
              <a:latin typeface="Times New Roman"/>
              <a:cs typeface="Times New Roman"/>
            </a:endParaRPr>
          </a:p>
          <a:p>
            <a:pPr marL="516890" marR="52069" indent="-504825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"/>
              <a:tabLst>
                <a:tab pos="516890" algn="l"/>
                <a:tab pos="517525" algn="l"/>
              </a:tabLst>
            </a:pPr>
            <a:r>
              <a:rPr sz="2600" spc="20" dirty="0">
                <a:latin typeface="Times New Roman"/>
                <a:cs typeface="Times New Roman"/>
              </a:rPr>
              <a:t>Ce mode </a:t>
            </a:r>
            <a:r>
              <a:rPr sz="2600" spc="15" dirty="0">
                <a:latin typeface="Times New Roman"/>
                <a:cs typeface="Times New Roman"/>
              </a:rPr>
              <a:t>de transmission ne permet pas à une </a:t>
            </a:r>
            <a:r>
              <a:rPr sz="2600" spc="10" dirty="0">
                <a:latin typeface="Times New Roman"/>
                <a:cs typeface="Times New Roman"/>
              </a:rPr>
              <a:t>fonction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modifier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d’un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4148" y="1598167"/>
            <a:ext cx="8173084" cy="59397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305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7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-50" dirty="0">
                <a:latin typeface="Times New Roman"/>
                <a:cs typeface="Times New Roman"/>
              </a:rPr>
              <a:t>Voyez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deuxième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exemple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25"/>
              </a:spcBef>
            </a:pP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#include</a:t>
            </a:r>
            <a:r>
              <a:rPr sz="2200" b="1" spc="-5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&lt;iostream&gt;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15"/>
              </a:spcBef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2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22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std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2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changeMoi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2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//prototype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fonction: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main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10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12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200">
              <a:latin typeface="Times New Roman"/>
              <a:cs typeface="Times New Roman"/>
            </a:endParaRPr>
          </a:p>
          <a:p>
            <a:pPr marL="292735" marR="1553210">
              <a:lnSpc>
                <a:spcPct val="100000"/>
              </a:lnSpc>
            </a:pP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cout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"La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valeur de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nombre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est "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2200" spc="-5" dirty="0">
                <a:latin typeface="Times New Roman"/>
                <a:cs typeface="Times New Roman"/>
              </a:rPr>
              <a:t>nombre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spc="-5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changeMoi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10"/>
              </a:spcBef>
            </a:pP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b="1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"Reournons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à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main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encore</a:t>
            </a:r>
            <a:r>
              <a:rPr sz="22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une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fois,</a:t>
            </a:r>
            <a:r>
              <a:rPr sz="22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valeur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de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 marR="3020695">
              <a:lnSpc>
                <a:spcPct val="100000"/>
              </a:lnSpc>
            </a:pP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b="1" spc="-2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"nombre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spc="-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15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852169" marR="1400175" indent="-559435">
              <a:lnSpc>
                <a:spcPct val="100000"/>
              </a:lnSpc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2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changeMoi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maValeur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22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 </a:t>
            </a:r>
            <a:r>
              <a:rPr sz="2200" spc="-5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maValeur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852169">
              <a:lnSpc>
                <a:spcPct val="100000"/>
              </a:lnSpc>
              <a:spcBef>
                <a:spcPts val="10"/>
              </a:spcBef>
            </a:pP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b="1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Maintenant</a:t>
            </a:r>
            <a:r>
              <a:rPr sz="22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valeur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22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Times New Roman"/>
                <a:cs typeface="Times New Roman"/>
              </a:rPr>
              <a:t>maValeur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4148" y="1581403"/>
            <a:ext cx="9127490" cy="20637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3050">
              <a:latin typeface="Times New Roman"/>
              <a:cs typeface="Times New Roman"/>
            </a:endParaRPr>
          </a:p>
          <a:p>
            <a:pPr marL="379730" marR="5526405" indent="-367665">
              <a:lnSpc>
                <a:spcPct val="102000"/>
              </a:lnSpc>
              <a:spcBef>
                <a:spcPts val="5"/>
              </a:spcBef>
              <a:buFont typeface="Wingdings"/>
              <a:buChar char=""/>
              <a:tabLst>
                <a:tab pos="391160" algn="l"/>
              </a:tabLst>
            </a:pP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Sortie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du programme </a:t>
            </a:r>
            <a:r>
              <a:rPr sz="2600" b="1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L</a:t>
            </a:r>
            <a:r>
              <a:rPr sz="2500" spc="-240" dirty="0">
                <a:latin typeface="Arial MT"/>
                <a:cs typeface="Arial MT"/>
              </a:rPr>
              <a:t>a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210" dirty="0">
                <a:latin typeface="Arial MT"/>
                <a:cs typeface="Arial MT"/>
              </a:rPr>
              <a:t>v</a:t>
            </a:r>
            <a:r>
              <a:rPr sz="2500" spc="-245" dirty="0">
                <a:latin typeface="Arial MT"/>
                <a:cs typeface="Arial MT"/>
              </a:rPr>
              <a:t>a</a:t>
            </a:r>
            <a:r>
              <a:rPr sz="2500" spc="-105" dirty="0">
                <a:latin typeface="Arial MT"/>
                <a:cs typeface="Arial MT"/>
              </a:rPr>
              <a:t>l</a:t>
            </a:r>
            <a:r>
              <a:rPr sz="2500" spc="-245" dirty="0">
                <a:latin typeface="Arial MT"/>
                <a:cs typeface="Arial MT"/>
              </a:rPr>
              <a:t>eu</a:t>
            </a:r>
            <a:r>
              <a:rPr sz="2500" spc="-145" dirty="0">
                <a:latin typeface="Arial MT"/>
                <a:cs typeface="Arial MT"/>
              </a:rPr>
              <a:t>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d</a:t>
            </a:r>
            <a:r>
              <a:rPr sz="2500" spc="-240" dirty="0">
                <a:latin typeface="Arial MT"/>
                <a:cs typeface="Arial MT"/>
              </a:rPr>
              <a:t>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270" dirty="0">
                <a:latin typeface="Arial MT"/>
                <a:cs typeface="Arial MT"/>
              </a:rPr>
              <a:t>nomb</a:t>
            </a:r>
            <a:r>
              <a:rPr sz="2500" spc="-145" dirty="0">
                <a:latin typeface="Arial MT"/>
                <a:cs typeface="Arial MT"/>
              </a:rPr>
              <a:t>r</a:t>
            </a:r>
            <a:r>
              <a:rPr sz="2500" spc="-240" dirty="0">
                <a:latin typeface="Arial MT"/>
                <a:cs typeface="Arial MT"/>
              </a:rPr>
              <a:t>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e</a:t>
            </a:r>
            <a:r>
              <a:rPr sz="2500" spc="-210" dirty="0">
                <a:latin typeface="Arial MT"/>
                <a:cs typeface="Arial MT"/>
              </a:rPr>
              <a:t>s</a:t>
            </a:r>
            <a:r>
              <a:rPr sz="2500" spc="-120" dirty="0">
                <a:latin typeface="Arial MT"/>
                <a:cs typeface="Arial MT"/>
              </a:rPr>
              <a:t>t</a:t>
            </a:r>
            <a:r>
              <a:rPr sz="2500" spc="-65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1</a:t>
            </a:r>
            <a:r>
              <a:rPr sz="2500" spc="-180" dirty="0">
                <a:latin typeface="Arial MT"/>
                <a:cs typeface="Arial MT"/>
              </a:rPr>
              <a:t>2 </a:t>
            </a:r>
            <a:r>
              <a:rPr sz="2500" spc="-110" dirty="0">
                <a:latin typeface="Times New Roman"/>
                <a:cs typeface="Times New Roman"/>
              </a:rPr>
              <a:t> </a:t>
            </a:r>
            <a:r>
              <a:rPr sz="2500" spc="-300" dirty="0">
                <a:latin typeface="Arial MT"/>
                <a:cs typeface="Arial MT"/>
              </a:rPr>
              <a:t>Ma</a:t>
            </a:r>
            <a:r>
              <a:rPr sz="2500" spc="-105" dirty="0">
                <a:latin typeface="Arial MT"/>
                <a:cs typeface="Arial MT"/>
              </a:rPr>
              <a:t>i</a:t>
            </a:r>
            <a:r>
              <a:rPr sz="2500" spc="-245" dirty="0">
                <a:latin typeface="Arial MT"/>
                <a:cs typeface="Arial MT"/>
              </a:rPr>
              <a:t>n</a:t>
            </a:r>
            <a:r>
              <a:rPr sz="2500" spc="-125" dirty="0">
                <a:latin typeface="Arial MT"/>
                <a:cs typeface="Arial MT"/>
              </a:rPr>
              <a:t>t</a:t>
            </a:r>
            <a:r>
              <a:rPr sz="2500" spc="-245" dirty="0">
                <a:latin typeface="Arial MT"/>
                <a:cs typeface="Arial MT"/>
              </a:rPr>
              <a:t>enan</a:t>
            </a:r>
            <a:r>
              <a:rPr sz="2500" spc="-120" dirty="0">
                <a:latin typeface="Arial MT"/>
                <a:cs typeface="Arial MT"/>
              </a:rPr>
              <a:t>t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-105" dirty="0">
                <a:latin typeface="Arial MT"/>
                <a:cs typeface="Arial MT"/>
              </a:rPr>
              <a:t>l</a:t>
            </a:r>
            <a:r>
              <a:rPr sz="2500" spc="-240" dirty="0">
                <a:latin typeface="Arial MT"/>
                <a:cs typeface="Arial MT"/>
              </a:rPr>
              <a:t>a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210" dirty="0">
                <a:latin typeface="Arial MT"/>
                <a:cs typeface="Arial MT"/>
              </a:rPr>
              <a:t>v</a:t>
            </a:r>
            <a:r>
              <a:rPr sz="2500" spc="-245" dirty="0">
                <a:latin typeface="Arial MT"/>
                <a:cs typeface="Arial MT"/>
              </a:rPr>
              <a:t>a</a:t>
            </a:r>
            <a:r>
              <a:rPr sz="2500" spc="-105" dirty="0">
                <a:latin typeface="Arial MT"/>
                <a:cs typeface="Arial MT"/>
              </a:rPr>
              <a:t>l</a:t>
            </a:r>
            <a:r>
              <a:rPr sz="2500" spc="-245" dirty="0">
                <a:latin typeface="Arial MT"/>
                <a:cs typeface="Arial MT"/>
              </a:rPr>
              <a:t>eu</a:t>
            </a:r>
            <a:r>
              <a:rPr sz="2500" spc="-145" dirty="0">
                <a:latin typeface="Arial MT"/>
                <a:cs typeface="Arial MT"/>
              </a:rPr>
              <a:t>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e</a:t>
            </a:r>
            <a:r>
              <a:rPr sz="2500" spc="-210" dirty="0">
                <a:latin typeface="Arial MT"/>
                <a:cs typeface="Arial MT"/>
              </a:rPr>
              <a:t>s</a:t>
            </a:r>
            <a:r>
              <a:rPr sz="2500" spc="-120" dirty="0">
                <a:latin typeface="Arial MT"/>
                <a:cs typeface="Arial MT"/>
              </a:rPr>
              <a:t>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240" dirty="0">
                <a:latin typeface="Arial MT"/>
                <a:cs typeface="Arial MT"/>
              </a:rPr>
              <a:t>0</a:t>
            </a:r>
            <a:endParaRPr sz="2500">
              <a:latin typeface="Arial MT"/>
              <a:cs typeface="Arial MT"/>
            </a:endParaRPr>
          </a:p>
          <a:p>
            <a:pPr marL="379730">
              <a:lnSpc>
                <a:spcPct val="100000"/>
              </a:lnSpc>
              <a:spcBef>
                <a:spcPts val="35"/>
              </a:spcBef>
              <a:tabLst>
                <a:tab pos="5988050" algn="l"/>
              </a:tabLst>
            </a:pPr>
            <a:r>
              <a:rPr sz="2500" spc="-310" dirty="0">
                <a:latin typeface="Arial MT"/>
                <a:cs typeface="Arial MT"/>
              </a:rPr>
              <a:t>R</a:t>
            </a:r>
            <a:r>
              <a:rPr sz="2500" spc="-245" dirty="0">
                <a:latin typeface="Arial MT"/>
                <a:cs typeface="Arial MT"/>
              </a:rPr>
              <a:t>e</a:t>
            </a:r>
            <a:r>
              <a:rPr sz="2500" spc="-125" dirty="0">
                <a:latin typeface="Arial MT"/>
                <a:cs typeface="Arial MT"/>
              </a:rPr>
              <a:t>t</a:t>
            </a:r>
            <a:r>
              <a:rPr sz="2500" spc="-245" dirty="0">
                <a:latin typeface="Arial MT"/>
                <a:cs typeface="Arial MT"/>
              </a:rPr>
              <a:t>ou</a:t>
            </a:r>
            <a:r>
              <a:rPr sz="2500" spc="-145" dirty="0">
                <a:latin typeface="Arial MT"/>
                <a:cs typeface="Arial MT"/>
              </a:rPr>
              <a:t>r</a:t>
            </a:r>
            <a:r>
              <a:rPr sz="2500" spc="-245" dirty="0">
                <a:latin typeface="Arial MT"/>
                <a:cs typeface="Arial MT"/>
              </a:rPr>
              <a:t>non</a:t>
            </a:r>
            <a:r>
              <a:rPr sz="2500" spc="-215" dirty="0">
                <a:latin typeface="Arial MT"/>
                <a:cs typeface="Arial MT"/>
              </a:rPr>
              <a:t>s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240" dirty="0">
                <a:latin typeface="Arial MT"/>
                <a:cs typeface="Arial MT"/>
              </a:rPr>
              <a:t>à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05" dirty="0">
                <a:latin typeface="Arial MT"/>
                <a:cs typeface="Arial MT"/>
              </a:rPr>
              <a:t>l</a:t>
            </a:r>
            <a:r>
              <a:rPr sz="2500" spc="-240" dirty="0">
                <a:latin typeface="Arial MT"/>
                <a:cs typeface="Arial MT"/>
              </a:rPr>
              <a:t>a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Arial MT"/>
                <a:cs typeface="Arial MT"/>
              </a:rPr>
              <a:t>f</a:t>
            </a:r>
            <a:r>
              <a:rPr sz="2500" spc="-245" dirty="0">
                <a:latin typeface="Arial MT"/>
                <a:cs typeface="Arial MT"/>
              </a:rPr>
              <a:t>on</a:t>
            </a:r>
            <a:r>
              <a:rPr sz="2500" spc="-210" dirty="0">
                <a:latin typeface="Arial MT"/>
                <a:cs typeface="Arial MT"/>
              </a:rPr>
              <a:t>c</a:t>
            </a:r>
            <a:r>
              <a:rPr sz="2500" spc="-125" dirty="0">
                <a:latin typeface="Arial MT"/>
                <a:cs typeface="Arial MT"/>
              </a:rPr>
              <a:t>t</a:t>
            </a:r>
            <a:r>
              <a:rPr sz="2500" spc="-105" dirty="0">
                <a:latin typeface="Arial MT"/>
                <a:cs typeface="Arial MT"/>
              </a:rPr>
              <a:t>i</a:t>
            </a:r>
            <a:r>
              <a:rPr sz="2500" spc="-245" dirty="0">
                <a:latin typeface="Arial MT"/>
                <a:cs typeface="Arial MT"/>
              </a:rPr>
              <a:t>o</a:t>
            </a:r>
            <a:r>
              <a:rPr sz="2500" spc="-240" dirty="0">
                <a:latin typeface="Arial MT"/>
                <a:cs typeface="Arial MT"/>
              </a:rPr>
              <a:t>n</a:t>
            </a:r>
            <a:r>
              <a:rPr sz="2500" spc="-20" dirty="0">
                <a:latin typeface="Times New Roman"/>
                <a:cs typeface="Times New Roman"/>
              </a:rPr>
              <a:t> </a:t>
            </a:r>
            <a:r>
              <a:rPr sz="2500" spc="-300" dirty="0">
                <a:latin typeface="Arial MT"/>
                <a:cs typeface="Arial MT"/>
              </a:rPr>
              <a:t>ma</a:t>
            </a:r>
            <a:r>
              <a:rPr sz="2500" spc="-105" dirty="0">
                <a:latin typeface="Arial MT"/>
                <a:cs typeface="Arial MT"/>
              </a:rPr>
              <a:t>i</a:t>
            </a:r>
            <a:r>
              <a:rPr sz="2500" spc="-240" dirty="0">
                <a:latin typeface="Arial MT"/>
                <a:cs typeface="Arial MT"/>
              </a:rPr>
              <a:t>n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en</a:t>
            </a:r>
            <a:r>
              <a:rPr sz="2500" spc="-210" dirty="0">
                <a:latin typeface="Arial MT"/>
                <a:cs typeface="Arial MT"/>
              </a:rPr>
              <a:t>c</a:t>
            </a:r>
            <a:r>
              <a:rPr sz="2500" spc="-245" dirty="0">
                <a:latin typeface="Arial MT"/>
                <a:cs typeface="Arial MT"/>
              </a:rPr>
              <a:t>o</a:t>
            </a:r>
            <a:r>
              <a:rPr sz="2500" spc="-145" dirty="0">
                <a:latin typeface="Arial MT"/>
                <a:cs typeface="Arial MT"/>
              </a:rPr>
              <a:t>r</a:t>
            </a:r>
            <a:r>
              <a:rPr sz="2500" spc="-240" dirty="0">
                <a:latin typeface="Arial MT"/>
                <a:cs typeface="Arial MT"/>
              </a:rPr>
              <a:t>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un</a:t>
            </a:r>
            <a:r>
              <a:rPr sz="2500" spc="-240" dirty="0">
                <a:latin typeface="Arial MT"/>
                <a:cs typeface="Arial MT"/>
              </a:rPr>
              <a:t>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125" dirty="0">
                <a:latin typeface="Arial MT"/>
                <a:cs typeface="Arial MT"/>
              </a:rPr>
              <a:t>f</a:t>
            </a:r>
            <a:r>
              <a:rPr sz="2500" spc="-245" dirty="0">
                <a:latin typeface="Arial MT"/>
                <a:cs typeface="Arial MT"/>
              </a:rPr>
              <a:t>o</a:t>
            </a:r>
            <a:r>
              <a:rPr sz="2500" spc="-105" dirty="0">
                <a:latin typeface="Arial MT"/>
                <a:cs typeface="Arial MT"/>
              </a:rPr>
              <a:t>i</a:t>
            </a:r>
            <a:r>
              <a:rPr sz="2500" spc="-210" dirty="0">
                <a:latin typeface="Arial MT"/>
                <a:cs typeface="Arial MT"/>
              </a:rPr>
              <a:t>s</a:t>
            </a:r>
            <a:r>
              <a:rPr sz="2500" spc="-120" dirty="0">
                <a:latin typeface="Arial MT"/>
                <a:cs typeface="Arial MT"/>
              </a:rPr>
              <a:t>,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spc="-105" dirty="0">
                <a:latin typeface="Arial MT"/>
                <a:cs typeface="Arial MT"/>
              </a:rPr>
              <a:t>l</a:t>
            </a:r>
            <a:r>
              <a:rPr sz="2500" spc="-240" dirty="0">
                <a:latin typeface="Arial MT"/>
                <a:cs typeface="Arial MT"/>
              </a:rPr>
              <a:t>a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-210" dirty="0">
                <a:latin typeface="Arial MT"/>
                <a:cs typeface="Arial MT"/>
              </a:rPr>
              <a:t>v</a:t>
            </a:r>
            <a:r>
              <a:rPr sz="2500" spc="-245" dirty="0">
                <a:latin typeface="Arial MT"/>
                <a:cs typeface="Arial MT"/>
              </a:rPr>
              <a:t>a</a:t>
            </a:r>
            <a:r>
              <a:rPr sz="2500" spc="-105" dirty="0">
                <a:latin typeface="Arial MT"/>
                <a:cs typeface="Arial MT"/>
              </a:rPr>
              <a:t>l</a:t>
            </a:r>
            <a:r>
              <a:rPr sz="2500" spc="-245" dirty="0">
                <a:latin typeface="Arial MT"/>
                <a:cs typeface="Arial MT"/>
              </a:rPr>
              <a:t>eu</a:t>
            </a:r>
            <a:r>
              <a:rPr sz="2500" spc="-145" dirty="0">
                <a:latin typeface="Arial MT"/>
                <a:cs typeface="Arial MT"/>
              </a:rPr>
              <a:t>r</a:t>
            </a:r>
            <a:r>
              <a:rPr sz="2500" spc="-35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d</a:t>
            </a:r>
            <a:r>
              <a:rPr sz="2500" spc="-240" dirty="0">
                <a:latin typeface="Arial MT"/>
                <a:cs typeface="Arial MT"/>
              </a:rPr>
              <a:t>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270" dirty="0">
                <a:latin typeface="Arial MT"/>
                <a:cs typeface="Arial MT"/>
              </a:rPr>
              <a:t>nomb</a:t>
            </a:r>
            <a:r>
              <a:rPr sz="2500" spc="-145" dirty="0">
                <a:latin typeface="Arial MT"/>
                <a:cs typeface="Arial MT"/>
              </a:rPr>
              <a:t>r</a:t>
            </a:r>
            <a:r>
              <a:rPr sz="2500" spc="-240" dirty="0">
                <a:latin typeface="Arial MT"/>
                <a:cs typeface="Arial MT"/>
              </a:rPr>
              <a:t>e</a:t>
            </a:r>
            <a:r>
              <a:rPr sz="2500" spc="-40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e</a:t>
            </a:r>
            <a:r>
              <a:rPr sz="2500" spc="-210" dirty="0">
                <a:latin typeface="Arial MT"/>
                <a:cs typeface="Arial MT"/>
              </a:rPr>
              <a:t>s</a:t>
            </a:r>
            <a:r>
              <a:rPr sz="2500" spc="-120" dirty="0">
                <a:latin typeface="Arial MT"/>
                <a:cs typeface="Arial MT"/>
              </a:rPr>
              <a:t>t</a:t>
            </a:r>
            <a:r>
              <a:rPr sz="2500" spc="-55" dirty="0">
                <a:latin typeface="Times New Roman"/>
                <a:cs typeface="Times New Roman"/>
              </a:rPr>
              <a:t> </a:t>
            </a:r>
            <a:r>
              <a:rPr sz="2500" spc="-245" dirty="0">
                <a:latin typeface="Arial MT"/>
                <a:cs typeface="Arial MT"/>
              </a:rPr>
              <a:t>1</a:t>
            </a:r>
            <a:r>
              <a:rPr sz="2500" spc="-240" dirty="0">
                <a:latin typeface="Arial MT"/>
                <a:cs typeface="Arial MT"/>
              </a:rPr>
              <a:t>2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4148" y="1581403"/>
            <a:ext cx="7150100" cy="5739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3:</a:t>
            </a:r>
            <a:endParaRPr sz="305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7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-50" dirty="0">
                <a:latin typeface="Times New Roman"/>
                <a:cs typeface="Times New Roman"/>
              </a:rPr>
              <a:t>Voyez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troisième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exemple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12700" marR="4387850">
              <a:lnSpc>
                <a:spcPct val="101699"/>
              </a:lnSpc>
              <a:spcBef>
                <a:spcPts val="20"/>
              </a:spcBef>
            </a:pP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#include  </a:t>
            </a:r>
            <a:r>
              <a:rPr sz="195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&lt;iostream&gt; </a:t>
            </a: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namespace  </a:t>
            </a: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std 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void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echanger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latin typeface="Times New Roman"/>
                <a:cs typeface="Times New Roman"/>
              </a:rPr>
              <a:t>int</a:t>
            </a:r>
            <a:r>
              <a:rPr sz="1950" spc="5" dirty="0">
                <a:latin typeface="Times New Roman"/>
                <a:cs typeface="Times New Roman"/>
              </a:rPr>
              <a:t> a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int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b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19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-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int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main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950" spc="10" dirty="0">
                <a:latin typeface="Times New Roman"/>
                <a:cs typeface="Times New Roman"/>
              </a:rPr>
              <a:t>int</a:t>
            </a:r>
            <a:r>
              <a:rPr sz="1950" spc="-1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1950" spc="10" dirty="0">
                <a:latin typeface="Times New Roman"/>
                <a:cs typeface="Times New Roman"/>
              </a:rPr>
              <a:t>)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p(</a:t>
            </a:r>
            <a:r>
              <a:rPr sz="1950" spc="15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1950" spc="15" dirty="0">
                <a:latin typeface="Times New Roman"/>
                <a:cs typeface="Times New Roman"/>
              </a:rPr>
              <a:t>)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 marR="1960245">
              <a:lnSpc>
                <a:spcPct val="101499"/>
              </a:lnSpc>
            </a:pP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95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-15" dirty="0">
                <a:solidFill>
                  <a:srgbClr val="006FC0"/>
                </a:solidFill>
                <a:latin typeface="Times New Roman"/>
                <a:cs typeface="Times New Roman"/>
              </a:rPr>
              <a:t>"Avant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appel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: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n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p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-4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echanger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latin typeface="Times New Roman"/>
                <a:cs typeface="Times New Roman"/>
              </a:rPr>
              <a:t>n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p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95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"Après</a:t>
            </a:r>
            <a:r>
              <a:rPr sz="19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appel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: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n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p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endl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  <a:p>
            <a:pPr marL="12700" marR="4399280">
              <a:lnSpc>
                <a:spcPct val="101499"/>
              </a:lnSpc>
            </a:pPr>
            <a:r>
              <a:rPr sz="1950" spc="15" dirty="0">
                <a:latin typeface="Times New Roman"/>
                <a:cs typeface="Times New Roman"/>
              </a:rPr>
              <a:t>void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echanger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latin typeface="Times New Roman"/>
                <a:cs typeface="Times New Roman"/>
              </a:rPr>
              <a:t>int</a:t>
            </a:r>
            <a:r>
              <a:rPr sz="1950" spc="5" dirty="0">
                <a:latin typeface="Times New Roman"/>
                <a:cs typeface="Times New Roman"/>
              </a:rPr>
              <a:t> a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int</a:t>
            </a:r>
            <a:r>
              <a:rPr sz="1950" spc="-2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b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){ </a:t>
            </a:r>
            <a:r>
              <a:rPr sz="1950" spc="-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int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temporaire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5" dirty="0">
                <a:latin typeface="Times New Roman"/>
                <a:cs typeface="Times New Roman"/>
              </a:rPr>
              <a:t>a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 marR="5080">
              <a:lnSpc>
                <a:spcPct val="101499"/>
              </a:lnSpc>
              <a:spcBef>
                <a:spcPts val="10"/>
              </a:spcBef>
            </a:pP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95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"Début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échange 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dans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9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a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b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endl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-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a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b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950" spc="15" dirty="0">
                <a:latin typeface="Times New Roman"/>
                <a:cs typeface="Times New Roman"/>
              </a:rPr>
              <a:t>b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temporaire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95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"Fin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échange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dans</a:t>
            </a:r>
            <a:r>
              <a:rPr sz="19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9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 "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a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b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95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2517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4504" y="1742947"/>
            <a:ext cx="5222875" cy="2043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Ce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code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affiche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82270">
              <a:lnSpc>
                <a:spcPct val="100000"/>
              </a:lnSpc>
              <a:spcBef>
                <a:spcPts val="80"/>
              </a:spcBef>
            </a:pPr>
            <a:r>
              <a:rPr sz="2600" spc="-335" dirty="0">
                <a:latin typeface="Arial MT"/>
                <a:cs typeface="Arial MT"/>
              </a:rPr>
              <a:t>A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an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appe</a:t>
            </a:r>
            <a:r>
              <a:rPr sz="2600" spc="-100" dirty="0">
                <a:latin typeface="Arial MT"/>
                <a:cs typeface="Arial MT"/>
              </a:rPr>
              <a:t>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245" dirty="0">
                <a:latin typeface="Arial MT"/>
                <a:cs typeface="Arial MT"/>
              </a:rPr>
              <a:t>0</a:t>
            </a:r>
            <a:endParaRPr sz="2600">
              <a:latin typeface="Arial MT"/>
              <a:cs typeface="Arial MT"/>
            </a:endParaRPr>
          </a:p>
          <a:p>
            <a:pPr marL="396240" marR="5080">
              <a:lnSpc>
                <a:spcPct val="101499"/>
              </a:lnSpc>
              <a:spcBef>
                <a:spcPts val="5"/>
              </a:spcBef>
            </a:pPr>
            <a:r>
              <a:rPr sz="2600" spc="-325" dirty="0">
                <a:latin typeface="Arial MT"/>
                <a:cs typeface="Arial MT"/>
              </a:rPr>
              <a:t>D</a:t>
            </a:r>
            <a:r>
              <a:rPr sz="2600" spc="-250" dirty="0">
                <a:latin typeface="Arial MT"/>
                <a:cs typeface="Arial MT"/>
              </a:rPr>
              <a:t>ébu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é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ha</a:t>
            </a:r>
            <a:r>
              <a:rPr sz="2600" spc="-240" dirty="0">
                <a:latin typeface="Arial MT"/>
                <a:cs typeface="Arial MT"/>
              </a:rPr>
              <a:t>ng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185" dirty="0">
                <a:latin typeface="Arial MT"/>
                <a:cs typeface="Arial MT"/>
              </a:rPr>
              <a:t>0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75" dirty="0">
                <a:latin typeface="Arial MT"/>
                <a:cs typeface="Arial MT"/>
              </a:rPr>
              <a:t>F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é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ha</a:t>
            </a:r>
            <a:r>
              <a:rPr sz="2600" spc="-240" dirty="0">
                <a:latin typeface="Arial MT"/>
                <a:cs typeface="Arial MT"/>
              </a:rPr>
              <a:t>ng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0</a:t>
            </a:r>
            <a:endParaRPr sz="2600">
              <a:latin typeface="Arial MT"/>
              <a:cs typeface="Arial MT"/>
            </a:endParaRPr>
          </a:p>
          <a:p>
            <a:pPr marL="382270">
              <a:lnSpc>
                <a:spcPct val="100000"/>
              </a:lnSpc>
              <a:spcBef>
                <a:spcPts val="60"/>
              </a:spcBef>
            </a:pPr>
            <a:r>
              <a:rPr sz="2600" spc="-300" dirty="0">
                <a:latin typeface="Arial MT"/>
                <a:cs typeface="Arial MT"/>
              </a:rPr>
              <a:t>A</a:t>
            </a:r>
            <a:r>
              <a:rPr sz="2600" spc="-250" dirty="0">
                <a:latin typeface="Arial MT"/>
                <a:cs typeface="Arial MT"/>
              </a:rPr>
              <a:t>p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è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appe</a:t>
            </a:r>
            <a:r>
              <a:rPr sz="2600" spc="-100" dirty="0">
                <a:latin typeface="Arial MT"/>
                <a:cs typeface="Arial MT"/>
              </a:rPr>
              <a:t>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245" dirty="0">
                <a:latin typeface="Arial MT"/>
                <a:cs typeface="Arial MT"/>
              </a:rPr>
              <a:t>0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00" y="1742947"/>
            <a:ext cx="9342755" cy="324866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dirty="0">
                <a:solidFill>
                  <a:srgbClr val="6F2FA0"/>
                </a:solidFill>
                <a:latin typeface="Times New Roman"/>
                <a:cs typeface="Times New Roman"/>
              </a:rPr>
              <a:t>CONCEPT: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4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0" dirty="0">
                <a:latin typeface="Times New Roman"/>
                <a:cs typeface="Times New Roman"/>
              </a:rPr>
              <a:t>Lorsqu'il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10" dirty="0">
                <a:latin typeface="Times New Roman"/>
                <a:cs typeface="Times New Roman"/>
              </a:rPr>
              <a:t> utilisé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spc="10" dirty="0">
                <a:latin typeface="Times New Roman"/>
                <a:cs typeface="Times New Roman"/>
              </a:rPr>
              <a:t> tant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 paramètres,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endParaRPr sz="2600">
              <a:latin typeface="Times New Roman"/>
              <a:cs typeface="Times New Roman"/>
            </a:endParaRPr>
          </a:p>
          <a:p>
            <a:pPr marL="390525" marR="356870">
              <a:lnSpc>
                <a:spcPct val="101499"/>
              </a:lnSpc>
              <a:spcBef>
                <a:spcPts val="15"/>
              </a:spcBef>
            </a:pPr>
            <a:r>
              <a:rPr sz="2600" spc="10" dirty="0">
                <a:latin typeface="Times New Roman"/>
                <a:cs typeface="Times New Roman"/>
              </a:rPr>
              <a:t>référence </a:t>
            </a:r>
            <a:r>
              <a:rPr sz="2600" spc="15" dirty="0">
                <a:latin typeface="Times New Roman"/>
                <a:cs typeface="Times New Roman"/>
              </a:rPr>
              <a:t>permettent </a:t>
            </a:r>
            <a:r>
              <a:rPr sz="2600" spc="10" dirty="0">
                <a:latin typeface="Times New Roman"/>
                <a:cs typeface="Times New Roman"/>
              </a:rPr>
              <a:t>d'accéder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10" dirty="0">
                <a:latin typeface="Times New Roman"/>
                <a:cs typeface="Times New Roman"/>
              </a:rPr>
              <a:t>l’argument initial </a:t>
            </a:r>
            <a:r>
              <a:rPr sz="2600" spc="20" dirty="0">
                <a:latin typeface="Times New Roman"/>
                <a:cs typeface="Times New Roman"/>
              </a:rPr>
              <a:t>du </a:t>
            </a:r>
            <a:r>
              <a:rPr sz="2600" spc="15" dirty="0">
                <a:latin typeface="Times New Roman"/>
                <a:cs typeface="Times New Roman"/>
              </a:rPr>
              <a:t>paramètre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d’une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390525" marR="324485" indent="-378460">
              <a:lnSpc>
                <a:spcPts val="3180"/>
              </a:lnSpc>
              <a:spcBef>
                <a:spcPts val="10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spc="10" dirty="0">
                <a:latin typeface="Times New Roman"/>
                <a:cs typeface="Times New Roman"/>
              </a:rPr>
              <a:t>modifications </a:t>
            </a:r>
            <a:r>
              <a:rPr sz="2600" spc="15" dirty="0">
                <a:latin typeface="Times New Roman"/>
                <a:cs typeface="Times New Roman"/>
              </a:rPr>
              <a:t>apportées au paramètre sont également </a:t>
            </a:r>
            <a:r>
              <a:rPr sz="2600" spc="10" dirty="0">
                <a:latin typeface="Times New Roman"/>
                <a:cs typeface="Times New Roman"/>
              </a:rPr>
              <a:t>faite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l'argument.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ts val="3050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modification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effectuée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10" dirty="0">
                <a:latin typeface="Times New Roman"/>
                <a:cs typeface="Times New Roman"/>
              </a:rPr>
              <a:t>l’intérieur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répercute</a:t>
            </a:r>
            <a:endParaRPr sz="26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  <a:spcBef>
                <a:spcPts val="60"/>
              </a:spcBef>
            </a:pPr>
            <a:r>
              <a:rPr sz="2600" spc="10" dirty="0">
                <a:latin typeface="Times New Roman"/>
                <a:cs typeface="Times New Roman"/>
              </a:rPr>
              <a:t>alors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l’extérieur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00" y="1742947"/>
            <a:ext cx="9393555" cy="24428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90525" marR="5080" indent="-378460">
              <a:lnSpc>
                <a:spcPct val="101699"/>
              </a:lnSpc>
              <a:spcBef>
                <a:spcPts val="8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  <a:tab pos="7154545" algn="l"/>
              </a:tabLst>
            </a:pPr>
            <a:r>
              <a:rPr sz="2600" spc="20" dirty="0">
                <a:latin typeface="Times New Roman"/>
                <a:cs typeface="Times New Roman"/>
              </a:rPr>
              <a:t>Au </a:t>
            </a:r>
            <a:r>
              <a:rPr sz="2600" spc="10" dirty="0">
                <a:latin typeface="Times New Roman"/>
                <a:cs typeface="Times New Roman"/>
              </a:rPr>
              <a:t>lieu </a:t>
            </a:r>
            <a:r>
              <a:rPr sz="2600" spc="15" dirty="0">
                <a:latin typeface="Times New Roman"/>
                <a:cs typeface="Times New Roman"/>
              </a:rPr>
              <a:t>de copier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valeur de </a:t>
            </a:r>
            <a:r>
              <a:rPr sz="2600" b="1" i="1" spc="20" dirty="0">
                <a:latin typeface="Times New Roman"/>
                <a:cs typeface="Times New Roman"/>
              </a:rPr>
              <a:t>nombre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la variable </a:t>
            </a:r>
            <a:r>
              <a:rPr sz="2600" b="1" i="1" spc="15" dirty="0">
                <a:latin typeface="Times New Roman"/>
                <a:cs typeface="Times New Roman"/>
              </a:rPr>
              <a:t>x</a:t>
            </a:r>
            <a:r>
              <a:rPr sz="2600" spc="15" dirty="0">
                <a:latin typeface="Times New Roman"/>
                <a:cs typeface="Times New Roman"/>
              </a:rPr>
              <a:t>, </a:t>
            </a: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5" dirty="0">
                <a:latin typeface="Times New Roman"/>
                <a:cs typeface="Times New Roman"/>
              </a:rPr>
              <a:t>est 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possible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d'ajouter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20" dirty="0">
                <a:latin typeface="Times New Roman"/>
                <a:cs typeface="Times New Roman"/>
              </a:rPr>
              <a:t> « </a:t>
            </a:r>
            <a:r>
              <a:rPr sz="2600" spc="15" dirty="0">
                <a:latin typeface="Times New Roman"/>
                <a:cs typeface="Times New Roman"/>
              </a:rPr>
              <a:t>deuxième</a:t>
            </a:r>
            <a:r>
              <a:rPr sz="2600" spc="10" dirty="0">
                <a:latin typeface="Times New Roman"/>
                <a:cs typeface="Times New Roman"/>
              </a:rPr>
              <a:t> étiquette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»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10" dirty="0">
                <a:latin typeface="Times New Roman"/>
                <a:cs typeface="Times New Roman"/>
              </a:rPr>
              <a:t> la	variable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b="1" i="1" spc="20" dirty="0">
                <a:latin typeface="Times New Roman"/>
                <a:cs typeface="Times New Roman"/>
              </a:rPr>
              <a:t>nombre </a:t>
            </a:r>
            <a:r>
              <a:rPr sz="2600" b="1" i="1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l'intérieur</a:t>
            </a:r>
            <a:r>
              <a:rPr sz="2600" spc="15" dirty="0">
                <a:latin typeface="Times New Roman"/>
                <a:cs typeface="Times New Roman"/>
              </a:rPr>
              <a:t> de</a:t>
            </a:r>
            <a:r>
              <a:rPr sz="2600" spc="10" dirty="0">
                <a:latin typeface="Times New Roman"/>
                <a:cs typeface="Times New Roman"/>
              </a:rPr>
              <a:t> la fonction.</a:t>
            </a:r>
            <a:endParaRPr sz="2600">
              <a:latin typeface="Times New Roman"/>
              <a:cs typeface="Times New Roman"/>
            </a:endParaRPr>
          </a:p>
          <a:p>
            <a:pPr marL="390525" marR="450215" indent="-378460">
              <a:lnSpc>
                <a:spcPct val="101499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0" dirty="0">
                <a:latin typeface="Times New Roman"/>
                <a:cs typeface="Times New Roman"/>
              </a:rPr>
              <a:t>faut utiliser </a:t>
            </a:r>
            <a:r>
              <a:rPr sz="2600" spc="15" dirty="0">
                <a:latin typeface="Times New Roman"/>
                <a:cs typeface="Times New Roman"/>
              </a:rPr>
              <a:t>dans ce cas une </a:t>
            </a:r>
            <a:r>
              <a:rPr sz="2600" b="1" spc="10" dirty="0">
                <a:solidFill>
                  <a:srgbClr val="FF0065"/>
                </a:solidFill>
                <a:latin typeface="Times New Roman"/>
                <a:cs typeface="Times New Roman"/>
              </a:rPr>
              <a:t>référence </a:t>
            </a:r>
            <a:r>
              <a:rPr sz="2600" spc="20" dirty="0">
                <a:latin typeface="Times New Roman"/>
                <a:cs typeface="Times New Roman"/>
              </a:rPr>
              <a:t>comme </a:t>
            </a:r>
            <a:r>
              <a:rPr sz="2600" spc="10" dirty="0">
                <a:latin typeface="Times New Roman"/>
                <a:cs typeface="Times New Roman"/>
              </a:rPr>
              <a:t>argument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65"/>
                </a:solidFill>
                <a:latin typeface="Times New Roman"/>
                <a:cs typeface="Times New Roman"/>
              </a:rPr>
              <a:t>référence</a:t>
            </a:r>
            <a:r>
              <a:rPr sz="2600" b="1" spc="-1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d’une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=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son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adresse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mémoire.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00" y="1742947"/>
            <a:ext cx="9155430" cy="3651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référence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0" dirty="0">
                <a:latin typeface="Times New Roman"/>
                <a:cs typeface="Times New Roman"/>
              </a:rPr>
              <a:t>alias </a:t>
            </a:r>
            <a:r>
              <a:rPr sz="2600" spc="15" dirty="0">
                <a:latin typeface="Times New Roman"/>
                <a:cs typeface="Times New Roman"/>
              </a:rPr>
              <a:t>pour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autre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variable.</a:t>
            </a:r>
            <a:endParaRPr sz="2600">
              <a:latin typeface="Times New Roman"/>
              <a:cs typeface="Times New Roman"/>
            </a:endParaRPr>
          </a:p>
          <a:p>
            <a:pPr marL="391160" marR="19050" indent="-391160">
              <a:lnSpc>
                <a:spcPts val="318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-15" dirty="0">
                <a:latin typeface="Times New Roman"/>
                <a:cs typeface="Times New Roman"/>
              </a:rPr>
              <a:t>Toutes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 modifications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apportées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variable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référence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réellement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effectué </a:t>
            </a:r>
            <a:r>
              <a:rPr sz="2600" spc="15" dirty="0">
                <a:latin typeface="Times New Roman"/>
                <a:cs typeface="Times New Roman"/>
              </a:rPr>
              <a:t>sur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 </a:t>
            </a:r>
            <a:r>
              <a:rPr sz="2600" spc="15" dirty="0">
                <a:latin typeface="Times New Roman"/>
                <a:cs typeface="Times New Roman"/>
              </a:rPr>
              <a:t>pour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laquelle</a:t>
            </a:r>
            <a:r>
              <a:rPr sz="2600" spc="5" dirty="0">
                <a:latin typeface="Times New Roman"/>
                <a:cs typeface="Times New Roman"/>
              </a:rPr>
              <a:t> il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0" dirty="0">
                <a:latin typeface="Times New Roman"/>
                <a:cs typeface="Times New Roman"/>
              </a:rPr>
              <a:t>alias.</a:t>
            </a:r>
            <a:endParaRPr sz="2600">
              <a:latin typeface="Times New Roman"/>
              <a:cs typeface="Times New Roman"/>
            </a:endParaRPr>
          </a:p>
          <a:p>
            <a:pPr marL="474345" indent="-462280">
              <a:lnSpc>
                <a:spcPts val="3050"/>
              </a:lnSpc>
              <a:buClr>
                <a:srgbClr val="006FC0"/>
              </a:buClr>
              <a:buFont typeface="Wingdings"/>
              <a:buChar char=""/>
              <a:tabLst>
                <a:tab pos="474345" algn="l"/>
                <a:tab pos="474980" algn="l"/>
              </a:tabLst>
            </a:pP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utilisant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référence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tant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endParaRPr sz="2600">
              <a:latin typeface="Times New Roman"/>
              <a:cs typeface="Times New Roman"/>
            </a:endParaRPr>
          </a:p>
          <a:p>
            <a:pPr marL="390525" marR="5080">
              <a:lnSpc>
                <a:spcPts val="3180"/>
              </a:lnSpc>
              <a:spcBef>
                <a:spcPts val="105"/>
              </a:spcBef>
            </a:pP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peut </a:t>
            </a:r>
            <a:r>
              <a:rPr sz="2600" spc="10" dirty="0">
                <a:latin typeface="Times New Roman"/>
                <a:cs typeface="Times New Roman"/>
              </a:rPr>
              <a:t>modifier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spc="15" dirty="0">
                <a:latin typeface="Times New Roman"/>
                <a:cs typeface="Times New Roman"/>
              </a:rPr>
              <a:t> qui 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autre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474345" indent="-462280">
              <a:lnSpc>
                <a:spcPts val="3050"/>
              </a:lnSpc>
              <a:buClr>
                <a:srgbClr val="006FC0"/>
              </a:buClr>
              <a:buFont typeface="Wingdings"/>
              <a:buChar char=""/>
              <a:tabLst>
                <a:tab pos="474345" algn="l"/>
                <a:tab pos="47498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variables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référence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définies </a:t>
            </a:r>
            <a:r>
              <a:rPr sz="2600" spc="20" dirty="0">
                <a:latin typeface="Times New Roman"/>
                <a:cs typeface="Times New Roman"/>
              </a:rPr>
              <a:t>comme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10" dirty="0">
                <a:latin typeface="Times New Roman"/>
                <a:cs typeface="Times New Roman"/>
              </a:rPr>
              <a:t> variables</a:t>
            </a:r>
            <a:endParaRPr sz="2600">
              <a:latin typeface="Times New Roman"/>
              <a:cs typeface="Times New Roman"/>
            </a:endParaRPr>
          </a:p>
          <a:p>
            <a:pPr marL="390525" marR="382905">
              <a:lnSpc>
                <a:spcPct val="101499"/>
              </a:lnSpc>
              <a:spcBef>
                <a:spcPts val="15"/>
              </a:spcBef>
              <a:tabLst>
                <a:tab pos="1982470" algn="l"/>
              </a:tabLst>
            </a:pPr>
            <a:r>
              <a:rPr sz="2600" spc="10" dirty="0">
                <a:latin typeface="Times New Roman"/>
                <a:cs typeface="Times New Roman"/>
              </a:rPr>
              <a:t>ordinaires,	</a:t>
            </a:r>
            <a:r>
              <a:rPr sz="2600" spc="15" dirty="0">
                <a:latin typeface="Times New Roman"/>
                <a:cs typeface="Times New Roman"/>
              </a:rPr>
              <a:t>sauf que vous placez une </a:t>
            </a:r>
            <a:r>
              <a:rPr sz="2600" spc="10" dirty="0">
                <a:latin typeface="Times New Roman"/>
                <a:cs typeface="Times New Roman"/>
              </a:rPr>
              <a:t>esperluette </a:t>
            </a:r>
            <a:r>
              <a:rPr sz="2600" spc="15" dirty="0">
                <a:latin typeface="Times New Roman"/>
                <a:cs typeface="Times New Roman"/>
              </a:rPr>
              <a:t>(</a:t>
            </a:r>
            <a:r>
              <a:rPr sz="2600" b="1" spc="15" dirty="0">
                <a:solidFill>
                  <a:srgbClr val="FF0065"/>
                </a:solidFill>
                <a:latin typeface="Times New Roman"/>
                <a:cs typeface="Times New Roman"/>
              </a:rPr>
              <a:t>&amp;</a:t>
            </a:r>
            <a:r>
              <a:rPr sz="2600" spc="15" dirty="0">
                <a:latin typeface="Times New Roman"/>
                <a:cs typeface="Times New Roman"/>
              </a:rPr>
              <a:t>) devant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nom;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exemple: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30" dirty="0">
                <a:solidFill>
                  <a:srgbClr val="FF0065"/>
                </a:solidFill>
                <a:latin typeface="Times New Roman"/>
                <a:cs typeface="Times New Roman"/>
              </a:rPr>
              <a:t>&amp;</a:t>
            </a:r>
            <a:r>
              <a:rPr sz="2600" spc="5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x</a:t>
            </a:r>
            <a:r>
              <a:rPr sz="2600" spc="1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00" y="1739899"/>
            <a:ext cx="190690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98480" y="1907539"/>
            <a:ext cx="209423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5" dirty="0">
                <a:latin typeface="Times New Roman"/>
                <a:cs typeface="Times New Roman"/>
              </a:rPr>
              <a:t>Noter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la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présence</a:t>
            </a:r>
            <a:r>
              <a:rPr sz="1750" spc="5" dirty="0">
                <a:latin typeface="Times New Roman"/>
                <a:cs typeface="Times New Roman"/>
              </a:rPr>
              <a:t> de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spc="10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5973" y="1784604"/>
            <a:ext cx="4939665" cy="3354704"/>
            <a:chOff x="735973" y="1784604"/>
            <a:chExt cx="4939665" cy="3354704"/>
          </a:xfrm>
        </p:grpSpPr>
        <p:sp>
          <p:nvSpPr>
            <p:cNvPr id="10" name="object 10"/>
            <p:cNvSpPr/>
            <p:nvPr/>
          </p:nvSpPr>
          <p:spPr>
            <a:xfrm>
              <a:off x="735973" y="2578608"/>
              <a:ext cx="4543425" cy="2560320"/>
            </a:xfrm>
            <a:custGeom>
              <a:avLst/>
              <a:gdLst/>
              <a:ahLst/>
              <a:cxnLst/>
              <a:rect l="l" t="t" r="r" b="b"/>
              <a:pathLst>
                <a:path w="4543425" h="2560320">
                  <a:moveTo>
                    <a:pt x="4543041" y="2554224"/>
                  </a:moveTo>
                  <a:lnTo>
                    <a:pt x="4543041" y="4572"/>
                  </a:lnTo>
                  <a:lnTo>
                    <a:pt x="4538469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2554224"/>
                  </a:lnTo>
                  <a:lnTo>
                    <a:pt x="4572" y="2560320"/>
                  </a:lnTo>
                  <a:lnTo>
                    <a:pt x="9144" y="2560320"/>
                  </a:lnTo>
                  <a:lnTo>
                    <a:pt x="9144" y="21336"/>
                  </a:lnTo>
                  <a:lnTo>
                    <a:pt x="19812" y="10668"/>
                  </a:lnTo>
                  <a:lnTo>
                    <a:pt x="19812" y="21336"/>
                  </a:lnTo>
                  <a:lnTo>
                    <a:pt x="4521705" y="21336"/>
                  </a:lnTo>
                  <a:lnTo>
                    <a:pt x="4521705" y="10668"/>
                  </a:lnTo>
                  <a:lnTo>
                    <a:pt x="4532373" y="21336"/>
                  </a:lnTo>
                  <a:lnTo>
                    <a:pt x="4532373" y="2560320"/>
                  </a:lnTo>
                  <a:lnTo>
                    <a:pt x="4538469" y="2560320"/>
                  </a:lnTo>
                  <a:lnTo>
                    <a:pt x="4543041" y="2554224"/>
                  </a:lnTo>
                  <a:close/>
                </a:path>
                <a:path w="4543425" h="2560320">
                  <a:moveTo>
                    <a:pt x="19812" y="21336"/>
                  </a:moveTo>
                  <a:lnTo>
                    <a:pt x="19812" y="10668"/>
                  </a:lnTo>
                  <a:lnTo>
                    <a:pt x="9144" y="21336"/>
                  </a:lnTo>
                  <a:lnTo>
                    <a:pt x="19812" y="21336"/>
                  </a:lnTo>
                  <a:close/>
                </a:path>
                <a:path w="4543425" h="2560320">
                  <a:moveTo>
                    <a:pt x="19812" y="2538984"/>
                  </a:moveTo>
                  <a:lnTo>
                    <a:pt x="19812" y="21336"/>
                  </a:lnTo>
                  <a:lnTo>
                    <a:pt x="9144" y="21336"/>
                  </a:lnTo>
                  <a:lnTo>
                    <a:pt x="9144" y="2538984"/>
                  </a:lnTo>
                  <a:lnTo>
                    <a:pt x="19812" y="2538984"/>
                  </a:lnTo>
                  <a:close/>
                </a:path>
                <a:path w="4543425" h="2560320">
                  <a:moveTo>
                    <a:pt x="4532373" y="2538984"/>
                  </a:moveTo>
                  <a:lnTo>
                    <a:pt x="9144" y="2538984"/>
                  </a:lnTo>
                  <a:lnTo>
                    <a:pt x="19812" y="2549652"/>
                  </a:lnTo>
                  <a:lnTo>
                    <a:pt x="19812" y="2560320"/>
                  </a:lnTo>
                  <a:lnTo>
                    <a:pt x="4521705" y="2560320"/>
                  </a:lnTo>
                  <a:lnTo>
                    <a:pt x="4521705" y="2549652"/>
                  </a:lnTo>
                  <a:lnTo>
                    <a:pt x="4532373" y="2538984"/>
                  </a:lnTo>
                  <a:close/>
                </a:path>
                <a:path w="4543425" h="2560320">
                  <a:moveTo>
                    <a:pt x="19812" y="2560320"/>
                  </a:moveTo>
                  <a:lnTo>
                    <a:pt x="19812" y="2549652"/>
                  </a:lnTo>
                  <a:lnTo>
                    <a:pt x="9144" y="2538984"/>
                  </a:lnTo>
                  <a:lnTo>
                    <a:pt x="9144" y="2560320"/>
                  </a:lnTo>
                  <a:lnTo>
                    <a:pt x="19812" y="2560320"/>
                  </a:lnTo>
                  <a:close/>
                </a:path>
                <a:path w="4543425" h="2560320">
                  <a:moveTo>
                    <a:pt x="4532373" y="21336"/>
                  </a:moveTo>
                  <a:lnTo>
                    <a:pt x="4521705" y="10668"/>
                  </a:lnTo>
                  <a:lnTo>
                    <a:pt x="4521705" y="21336"/>
                  </a:lnTo>
                  <a:lnTo>
                    <a:pt x="4532373" y="21336"/>
                  </a:lnTo>
                  <a:close/>
                </a:path>
                <a:path w="4543425" h="2560320">
                  <a:moveTo>
                    <a:pt x="4532373" y="2538984"/>
                  </a:moveTo>
                  <a:lnTo>
                    <a:pt x="4532373" y="21336"/>
                  </a:lnTo>
                  <a:lnTo>
                    <a:pt x="4521705" y="21336"/>
                  </a:lnTo>
                  <a:lnTo>
                    <a:pt x="4521705" y="2538984"/>
                  </a:lnTo>
                  <a:lnTo>
                    <a:pt x="4532373" y="2538984"/>
                  </a:lnTo>
                  <a:close/>
                </a:path>
                <a:path w="4543425" h="2560320">
                  <a:moveTo>
                    <a:pt x="4532373" y="2560320"/>
                  </a:moveTo>
                  <a:lnTo>
                    <a:pt x="4532373" y="2538984"/>
                  </a:lnTo>
                  <a:lnTo>
                    <a:pt x="4521705" y="2549652"/>
                  </a:lnTo>
                  <a:lnTo>
                    <a:pt x="4521705" y="2560320"/>
                  </a:lnTo>
                  <a:lnTo>
                    <a:pt x="4532373" y="256032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33450" y="1784604"/>
              <a:ext cx="2242185" cy="576580"/>
            </a:xfrm>
            <a:custGeom>
              <a:avLst/>
              <a:gdLst/>
              <a:ahLst/>
              <a:cxnLst/>
              <a:rect l="l" t="t" r="r" b="b"/>
              <a:pathLst>
                <a:path w="2242185" h="576580">
                  <a:moveTo>
                    <a:pt x="2241804" y="571500"/>
                  </a:moveTo>
                  <a:lnTo>
                    <a:pt x="2241804" y="4572"/>
                  </a:lnTo>
                  <a:lnTo>
                    <a:pt x="223723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571500"/>
                  </a:lnTo>
                  <a:lnTo>
                    <a:pt x="4572" y="576072"/>
                  </a:lnTo>
                  <a:lnTo>
                    <a:pt x="10668" y="576072"/>
                  </a:lnTo>
                  <a:lnTo>
                    <a:pt x="10668" y="21336"/>
                  </a:lnTo>
                  <a:lnTo>
                    <a:pt x="19812" y="10668"/>
                  </a:lnTo>
                  <a:lnTo>
                    <a:pt x="19812" y="21336"/>
                  </a:lnTo>
                  <a:lnTo>
                    <a:pt x="2220468" y="21336"/>
                  </a:lnTo>
                  <a:lnTo>
                    <a:pt x="2220468" y="10668"/>
                  </a:lnTo>
                  <a:lnTo>
                    <a:pt x="2231136" y="21336"/>
                  </a:lnTo>
                  <a:lnTo>
                    <a:pt x="2231136" y="576072"/>
                  </a:lnTo>
                  <a:lnTo>
                    <a:pt x="2237232" y="576072"/>
                  </a:lnTo>
                  <a:lnTo>
                    <a:pt x="2241804" y="571500"/>
                  </a:lnTo>
                  <a:close/>
                </a:path>
                <a:path w="2242185" h="576580">
                  <a:moveTo>
                    <a:pt x="19812" y="21336"/>
                  </a:moveTo>
                  <a:lnTo>
                    <a:pt x="19812" y="10668"/>
                  </a:lnTo>
                  <a:lnTo>
                    <a:pt x="10668" y="21336"/>
                  </a:lnTo>
                  <a:lnTo>
                    <a:pt x="19812" y="21336"/>
                  </a:lnTo>
                  <a:close/>
                </a:path>
                <a:path w="2242185" h="576580">
                  <a:moveTo>
                    <a:pt x="19812" y="556260"/>
                  </a:moveTo>
                  <a:lnTo>
                    <a:pt x="19812" y="21336"/>
                  </a:lnTo>
                  <a:lnTo>
                    <a:pt x="10668" y="21336"/>
                  </a:lnTo>
                  <a:lnTo>
                    <a:pt x="10668" y="556260"/>
                  </a:lnTo>
                  <a:lnTo>
                    <a:pt x="19812" y="556260"/>
                  </a:lnTo>
                  <a:close/>
                </a:path>
                <a:path w="2242185" h="576580">
                  <a:moveTo>
                    <a:pt x="2231136" y="556260"/>
                  </a:moveTo>
                  <a:lnTo>
                    <a:pt x="10668" y="556260"/>
                  </a:lnTo>
                  <a:lnTo>
                    <a:pt x="19812" y="566928"/>
                  </a:lnTo>
                  <a:lnTo>
                    <a:pt x="19812" y="576072"/>
                  </a:lnTo>
                  <a:lnTo>
                    <a:pt x="2220468" y="576072"/>
                  </a:lnTo>
                  <a:lnTo>
                    <a:pt x="2220468" y="566928"/>
                  </a:lnTo>
                  <a:lnTo>
                    <a:pt x="2231136" y="556260"/>
                  </a:lnTo>
                  <a:close/>
                </a:path>
                <a:path w="2242185" h="576580">
                  <a:moveTo>
                    <a:pt x="19812" y="576072"/>
                  </a:moveTo>
                  <a:lnTo>
                    <a:pt x="19812" y="566928"/>
                  </a:lnTo>
                  <a:lnTo>
                    <a:pt x="10668" y="556260"/>
                  </a:lnTo>
                  <a:lnTo>
                    <a:pt x="10668" y="576072"/>
                  </a:lnTo>
                  <a:lnTo>
                    <a:pt x="19812" y="576072"/>
                  </a:lnTo>
                  <a:close/>
                </a:path>
                <a:path w="2242185" h="576580">
                  <a:moveTo>
                    <a:pt x="2231136" y="21336"/>
                  </a:moveTo>
                  <a:lnTo>
                    <a:pt x="2220468" y="10668"/>
                  </a:lnTo>
                  <a:lnTo>
                    <a:pt x="2220468" y="21336"/>
                  </a:lnTo>
                  <a:lnTo>
                    <a:pt x="2231136" y="21336"/>
                  </a:lnTo>
                  <a:close/>
                </a:path>
                <a:path w="2242185" h="576580">
                  <a:moveTo>
                    <a:pt x="2231136" y="556260"/>
                  </a:moveTo>
                  <a:lnTo>
                    <a:pt x="2231136" y="21336"/>
                  </a:lnTo>
                  <a:lnTo>
                    <a:pt x="2220468" y="21336"/>
                  </a:lnTo>
                  <a:lnTo>
                    <a:pt x="2220468" y="556260"/>
                  </a:lnTo>
                  <a:lnTo>
                    <a:pt x="2231136" y="556260"/>
                  </a:lnTo>
                  <a:close/>
                </a:path>
                <a:path w="2242185" h="576580">
                  <a:moveTo>
                    <a:pt x="2231136" y="576072"/>
                  </a:moveTo>
                  <a:lnTo>
                    <a:pt x="2231136" y="556260"/>
                  </a:lnTo>
                  <a:lnTo>
                    <a:pt x="2220468" y="566928"/>
                  </a:lnTo>
                  <a:lnTo>
                    <a:pt x="2220468" y="576072"/>
                  </a:lnTo>
                  <a:lnTo>
                    <a:pt x="2231136" y="576072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98726" y="2351532"/>
              <a:ext cx="111760" cy="713740"/>
            </a:xfrm>
            <a:custGeom>
              <a:avLst/>
              <a:gdLst/>
              <a:ahLst/>
              <a:cxnLst/>
              <a:rect l="l" t="t" r="r" b="b"/>
              <a:pathLst>
                <a:path w="111760" h="713739">
                  <a:moveTo>
                    <a:pt x="55543" y="690489"/>
                  </a:moveTo>
                  <a:lnTo>
                    <a:pt x="10668" y="615696"/>
                  </a:lnTo>
                  <a:lnTo>
                    <a:pt x="9144" y="612648"/>
                  </a:lnTo>
                  <a:lnTo>
                    <a:pt x="6096" y="612648"/>
                  </a:lnTo>
                  <a:lnTo>
                    <a:pt x="3048" y="614172"/>
                  </a:lnTo>
                  <a:lnTo>
                    <a:pt x="1524" y="615696"/>
                  </a:lnTo>
                  <a:lnTo>
                    <a:pt x="0" y="618744"/>
                  </a:lnTo>
                  <a:lnTo>
                    <a:pt x="1524" y="621792"/>
                  </a:lnTo>
                  <a:lnTo>
                    <a:pt x="50292" y="705394"/>
                  </a:lnTo>
                  <a:lnTo>
                    <a:pt x="50292" y="699516"/>
                  </a:lnTo>
                  <a:lnTo>
                    <a:pt x="55543" y="690489"/>
                  </a:lnTo>
                  <a:close/>
                </a:path>
                <a:path w="111760" h="713739">
                  <a:moveTo>
                    <a:pt x="60960" y="681180"/>
                  </a:moveTo>
                  <a:lnTo>
                    <a:pt x="60960" y="0"/>
                  </a:lnTo>
                  <a:lnTo>
                    <a:pt x="50292" y="0"/>
                  </a:lnTo>
                  <a:lnTo>
                    <a:pt x="50292" y="681736"/>
                  </a:lnTo>
                  <a:lnTo>
                    <a:pt x="55543" y="690489"/>
                  </a:lnTo>
                  <a:lnTo>
                    <a:pt x="60960" y="681180"/>
                  </a:lnTo>
                  <a:close/>
                </a:path>
                <a:path w="111760" h="713739">
                  <a:moveTo>
                    <a:pt x="60960" y="699516"/>
                  </a:moveTo>
                  <a:lnTo>
                    <a:pt x="55543" y="690489"/>
                  </a:lnTo>
                  <a:lnTo>
                    <a:pt x="50292" y="699516"/>
                  </a:lnTo>
                  <a:lnTo>
                    <a:pt x="60960" y="699516"/>
                  </a:lnTo>
                  <a:close/>
                </a:path>
                <a:path w="111760" h="713739">
                  <a:moveTo>
                    <a:pt x="60960" y="702564"/>
                  </a:moveTo>
                  <a:lnTo>
                    <a:pt x="60960" y="699516"/>
                  </a:lnTo>
                  <a:lnTo>
                    <a:pt x="50292" y="699516"/>
                  </a:lnTo>
                  <a:lnTo>
                    <a:pt x="50292" y="702564"/>
                  </a:lnTo>
                  <a:lnTo>
                    <a:pt x="60960" y="702564"/>
                  </a:lnTo>
                  <a:close/>
                </a:path>
                <a:path w="111760" h="713739">
                  <a:moveTo>
                    <a:pt x="60960" y="703072"/>
                  </a:moveTo>
                  <a:lnTo>
                    <a:pt x="60960" y="702564"/>
                  </a:lnTo>
                  <a:lnTo>
                    <a:pt x="50292" y="702564"/>
                  </a:lnTo>
                  <a:lnTo>
                    <a:pt x="50292" y="705394"/>
                  </a:lnTo>
                  <a:lnTo>
                    <a:pt x="54864" y="713232"/>
                  </a:lnTo>
                  <a:lnTo>
                    <a:pt x="60960" y="703072"/>
                  </a:lnTo>
                  <a:close/>
                </a:path>
                <a:path w="111760" h="713739">
                  <a:moveTo>
                    <a:pt x="111252" y="618744"/>
                  </a:moveTo>
                  <a:lnTo>
                    <a:pt x="109728" y="615696"/>
                  </a:lnTo>
                  <a:lnTo>
                    <a:pt x="106680" y="614172"/>
                  </a:lnTo>
                  <a:lnTo>
                    <a:pt x="105156" y="612648"/>
                  </a:lnTo>
                  <a:lnTo>
                    <a:pt x="100584" y="612648"/>
                  </a:lnTo>
                  <a:lnTo>
                    <a:pt x="99060" y="615696"/>
                  </a:lnTo>
                  <a:lnTo>
                    <a:pt x="55543" y="690489"/>
                  </a:lnTo>
                  <a:lnTo>
                    <a:pt x="60960" y="699516"/>
                  </a:lnTo>
                  <a:lnTo>
                    <a:pt x="60960" y="703072"/>
                  </a:lnTo>
                  <a:lnTo>
                    <a:pt x="109728" y="621792"/>
                  </a:lnTo>
                  <a:lnTo>
                    <a:pt x="111252" y="618744"/>
                  </a:lnTo>
                  <a:close/>
                </a:path>
              </a:pathLst>
            </a:custGeom>
            <a:solidFill>
              <a:srgbClr val="93B5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0224" y="2985006"/>
            <a:ext cx="9149080" cy="3959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5095">
              <a:lnSpc>
                <a:spcPct val="100000"/>
              </a:lnSpc>
              <a:spcBef>
                <a:spcPts val="130"/>
              </a:spcBef>
            </a:pPr>
            <a:r>
              <a:rPr sz="25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5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spc="10" dirty="0">
                <a:latin typeface="Times New Roman"/>
                <a:cs typeface="Times New Roman"/>
              </a:rPr>
              <a:t>multiplierParDeux</a:t>
            </a:r>
            <a:r>
              <a:rPr sz="25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5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5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b="1" spc="25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2500" b="1" spc="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x</a:t>
            </a:r>
            <a:r>
              <a:rPr sz="25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  <a:p>
            <a:pPr marL="125095">
              <a:lnSpc>
                <a:spcPct val="100000"/>
              </a:lnSpc>
              <a:spcBef>
                <a:spcPts val="50"/>
              </a:spcBef>
            </a:pPr>
            <a:r>
              <a:rPr sz="25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500">
              <a:latin typeface="Times New Roman"/>
              <a:cs typeface="Times New Roman"/>
            </a:endParaRPr>
          </a:p>
          <a:p>
            <a:pPr marL="768350" marR="7134225">
              <a:lnSpc>
                <a:spcPct val="101200"/>
              </a:lnSpc>
            </a:pPr>
            <a:r>
              <a:rPr sz="2500" spc="15" dirty="0">
                <a:latin typeface="Times New Roman"/>
                <a:cs typeface="Times New Roman"/>
              </a:rPr>
              <a:t>x</a:t>
            </a:r>
            <a:r>
              <a:rPr sz="2500" spc="15" dirty="0">
                <a:solidFill>
                  <a:srgbClr val="FF0000"/>
                </a:solidFill>
                <a:latin typeface="Times New Roman"/>
                <a:cs typeface="Times New Roman"/>
              </a:rPr>
              <a:t>* = </a:t>
            </a:r>
            <a:r>
              <a:rPr sz="2500" b="1" spc="15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5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5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5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500" b="1" spc="-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x</a:t>
            </a:r>
            <a:r>
              <a:rPr sz="25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500">
              <a:latin typeface="Times New Roman"/>
              <a:cs typeface="Times New Roman"/>
            </a:endParaRPr>
          </a:p>
          <a:p>
            <a:pPr marL="205740">
              <a:lnSpc>
                <a:spcPct val="100000"/>
              </a:lnSpc>
              <a:spcBef>
                <a:spcPts val="45"/>
              </a:spcBef>
            </a:pPr>
            <a:r>
              <a:rPr sz="25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5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La </a:t>
            </a:r>
            <a:r>
              <a:rPr sz="2600" spc="10" dirty="0">
                <a:latin typeface="Times New Roman"/>
                <a:cs typeface="Times New Roman"/>
              </a:rPr>
              <a:t>notation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30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x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signifie</a:t>
            </a:r>
            <a:r>
              <a:rPr sz="2600" spc="15" dirty="0">
                <a:latin typeface="Times New Roman"/>
                <a:cs typeface="Times New Roman"/>
              </a:rPr>
              <a:t> que </a:t>
            </a:r>
            <a:r>
              <a:rPr sz="2600" spc="20" dirty="0">
                <a:latin typeface="Times New Roman"/>
                <a:cs typeface="Times New Roman"/>
              </a:rPr>
              <a:t>x</a:t>
            </a:r>
            <a:r>
              <a:rPr sz="2600" spc="15" dirty="0">
                <a:latin typeface="Times New Roman"/>
                <a:cs typeface="Times New Roman"/>
              </a:rPr>
              <a:t> est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information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type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endParaRPr sz="2600">
              <a:latin typeface="Times New Roman"/>
              <a:cs typeface="Times New Roman"/>
            </a:endParaRPr>
          </a:p>
          <a:p>
            <a:pPr marL="390525">
              <a:lnSpc>
                <a:spcPct val="100000"/>
              </a:lnSpc>
              <a:spcBef>
                <a:spcPts val="50"/>
              </a:spcBef>
            </a:pPr>
            <a:r>
              <a:rPr sz="2600" spc="15" dirty="0">
                <a:latin typeface="Times New Roman"/>
                <a:cs typeface="Times New Roman"/>
              </a:rPr>
              <a:t>transmise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65"/>
                </a:solidFill>
                <a:latin typeface="Times New Roman"/>
                <a:cs typeface="Times New Roman"/>
              </a:rPr>
              <a:t>référence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b="1" i="1" spc="15" dirty="0">
                <a:solidFill>
                  <a:srgbClr val="FF0000"/>
                </a:solidFill>
                <a:latin typeface="Times New Roman"/>
                <a:cs typeface="Times New Roman"/>
              </a:rPr>
              <a:t>N.B: </a:t>
            </a:r>
            <a:r>
              <a:rPr sz="2600" spc="15" dirty="0">
                <a:latin typeface="Times New Roman"/>
                <a:cs typeface="Times New Roman"/>
              </a:rPr>
              <a:t>La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x</a:t>
            </a:r>
            <a:r>
              <a:rPr sz="2600" spc="15" dirty="0">
                <a:latin typeface="Times New Roman"/>
                <a:cs typeface="Times New Roman"/>
              </a:rPr>
              <a:t> est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appelée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"une </a:t>
            </a:r>
            <a:r>
              <a:rPr sz="2600" spc="10" dirty="0">
                <a:latin typeface="Times New Roman"/>
                <a:cs typeface="Times New Roman"/>
              </a:rPr>
              <a:t>référence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int."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00" y="1742947"/>
            <a:ext cx="8642350" cy="16363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78105" indent="-378460">
              <a:lnSpc>
                <a:spcPct val="101499"/>
              </a:lnSpc>
              <a:spcBef>
                <a:spcPts val="9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Lorsque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l'on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fonction,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il n'y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plus de copie.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Le 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donne simplement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0" dirty="0">
                <a:latin typeface="Times New Roman"/>
                <a:cs typeface="Times New Roman"/>
              </a:rPr>
              <a:t>alias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10" dirty="0">
                <a:latin typeface="Times New Roman"/>
                <a:cs typeface="Times New Roman"/>
              </a:rPr>
              <a:t>la variable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b="1" i="1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Dans</a:t>
            </a:r>
            <a:r>
              <a:rPr sz="2600" spc="15" dirty="0">
                <a:latin typeface="Times New Roman"/>
                <a:cs typeface="Times New Roman"/>
              </a:rPr>
              <a:t> ce cas,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i="1" spc="20" dirty="0">
                <a:latin typeface="Times New Roman"/>
                <a:cs typeface="Times New Roman"/>
              </a:rPr>
              <a:t>x</a:t>
            </a:r>
            <a:r>
              <a:rPr sz="2600" b="1" i="1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b="1" i="1" spc="20" dirty="0">
                <a:latin typeface="Times New Roman"/>
                <a:cs typeface="Times New Roman"/>
              </a:rPr>
              <a:t>nombre</a:t>
            </a:r>
            <a:r>
              <a:rPr sz="2600" b="1" i="1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confondues.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On </a:t>
            </a:r>
            <a:r>
              <a:rPr sz="2600" spc="10" dirty="0">
                <a:latin typeface="Times New Roman"/>
                <a:cs typeface="Times New Roman"/>
              </a:rPr>
              <a:t>dit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 </a:t>
            </a:r>
            <a:r>
              <a:rPr sz="2600" spc="5" dirty="0">
                <a:latin typeface="Times New Roman"/>
                <a:cs typeface="Times New Roman"/>
              </a:rPr>
              <a:t>l'argument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b="1" i="1" spc="20" dirty="0">
                <a:latin typeface="Times New Roman"/>
                <a:cs typeface="Times New Roman"/>
              </a:rPr>
              <a:t>nombre</a:t>
            </a:r>
            <a:r>
              <a:rPr sz="2600" b="1" i="1" spc="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passé</a:t>
            </a:r>
            <a:r>
              <a:rPr sz="2600" b="1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par</a:t>
            </a:r>
            <a:r>
              <a:rPr sz="2600" b="1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référence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581403"/>
            <a:ext cx="9164320" cy="56553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500" spc="-15" dirty="0">
                <a:latin typeface="Times New Roman"/>
                <a:cs typeface="Times New Roman"/>
              </a:rPr>
              <a:t>Testons</a:t>
            </a:r>
            <a:r>
              <a:rPr sz="2500" spc="10" dirty="0">
                <a:latin typeface="Times New Roman"/>
                <a:cs typeface="Times New Roman"/>
              </a:rPr>
              <a:t> maintenant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cette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fonction:</a:t>
            </a: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#include</a:t>
            </a:r>
            <a:r>
              <a:rPr sz="2200" b="1" spc="-5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6500"/>
                </a:solidFill>
                <a:latin typeface="Times New Roman"/>
                <a:cs typeface="Times New Roman"/>
              </a:rPr>
              <a:t>&lt;iostream&gt;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200" spc="-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2200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std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 marR="150495" indent="-280670">
              <a:lnSpc>
                <a:spcPct val="104099"/>
              </a:lnSpc>
              <a:spcBef>
                <a:spcPts val="315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multiplierParDeux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2200" spc="-5" dirty="0">
                <a:latin typeface="Times New Roman"/>
                <a:cs typeface="Times New Roman"/>
              </a:rPr>
              <a:t>x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fonction: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multiplierParDeux() </a:t>
            </a:r>
            <a:r>
              <a:rPr sz="2200" spc="-5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*=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10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x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main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10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nombre(</a:t>
            </a:r>
            <a:r>
              <a:rPr sz="2200" spc="-5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200" spc="-5" dirty="0">
                <a:latin typeface="Times New Roman"/>
                <a:cs typeface="Times New Roman"/>
              </a:rPr>
              <a:t>)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resultat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b="1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"Avant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appel,</a:t>
            </a:r>
            <a:r>
              <a:rPr sz="22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nombre</a:t>
            </a:r>
            <a:r>
              <a:rPr sz="22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2200" dirty="0">
                <a:latin typeface="Times New Roman"/>
                <a:cs typeface="Times New Roman"/>
              </a:rPr>
              <a:t>resultat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200" b="1" spc="-5" dirty="0">
                <a:latin typeface="Times New Roman"/>
                <a:cs typeface="Times New Roman"/>
              </a:rPr>
              <a:t>multiplierParDeux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19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 la</a:t>
            </a:r>
            <a:r>
              <a:rPr sz="19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fonction: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multiplierParDeux()</a:t>
            </a:r>
            <a:endParaRPr sz="1950">
              <a:latin typeface="Times New Roman"/>
              <a:cs typeface="Times New Roman"/>
            </a:endParaRPr>
          </a:p>
          <a:p>
            <a:pPr marL="292735" marR="2390140">
              <a:lnSpc>
                <a:spcPct val="100000"/>
              </a:lnSpc>
              <a:spcBef>
                <a:spcPts val="15"/>
              </a:spcBef>
            </a:pP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b="1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"Le</a:t>
            </a:r>
            <a:r>
              <a:rPr sz="22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nombre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original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vaut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spc="-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b="1" spc="-2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"Le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résultat</a:t>
            </a:r>
            <a:r>
              <a:rPr sz="2200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vaut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resultat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6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4504" y="1742947"/>
            <a:ext cx="9123045" cy="3651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Cela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donne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comme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résultat:</a:t>
            </a:r>
            <a:endParaRPr sz="2600">
              <a:latin typeface="Times New Roman"/>
              <a:cs typeface="Times New Roman"/>
            </a:endParaRPr>
          </a:p>
          <a:p>
            <a:pPr marL="396240" marR="5445760" indent="-49530">
              <a:lnSpc>
                <a:spcPct val="101899"/>
              </a:lnSpc>
            </a:pPr>
            <a:r>
              <a:rPr sz="2600" spc="-335" dirty="0">
                <a:latin typeface="Arial MT"/>
                <a:cs typeface="Arial MT"/>
              </a:rPr>
              <a:t>A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an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appe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80" dirty="0">
                <a:latin typeface="Arial MT"/>
                <a:cs typeface="Arial MT"/>
              </a:rPr>
              <a:t>nomb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Arial MT"/>
                <a:cs typeface="Arial MT"/>
              </a:rPr>
              <a:t>2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80" dirty="0">
                <a:latin typeface="Arial MT"/>
                <a:cs typeface="Arial MT"/>
              </a:rPr>
              <a:t>nomb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o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g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na</a:t>
            </a:r>
            <a:r>
              <a:rPr sz="2600" spc="-100" dirty="0">
                <a:latin typeface="Arial MT"/>
                <a:cs typeface="Arial MT"/>
              </a:rPr>
              <a:t>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au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Arial MT"/>
                <a:cs typeface="Arial MT"/>
              </a:rPr>
              <a:t>4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é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250" dirty="0">
                <a:latin typeface="Arial MT"/>
                <a:cs typeface="Arial MT"/>
              </a:rPr>
              <a:t>u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au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4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Arial MT"/>
              <a:cs typeface="Arial MT"/>
            </a:endParaRPr>
          </a:p>
          <a:p>
            <a:pPr marL="390525" marR="5080" indent="-378460">
              <a:lnSpc>
                <a:spcPct val="101499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Comme </a:t>
            </a:r>
            <a:r>
              <a:rPr sz="2600" spc="10" dirty="0">
                <a:latin typeface="Times New Roman"/>
                <a:cs typeface="Times New Roman"/>
              </a:rPr>
              <a:t>les </a:t>
            </a:r>
            <a:r>
              <a:rPr sz="2600" spc="15" dirty="0">
                <a:latin typeface="Times New Roman"/>
                <a:cs typeface="Times New Roman"/>
              </a:rPr>
              <a:t>deux </a:t>
            </a:r>
            <a:r>
              <a:rPr sz="2600" spc="10" dirty="0">
                <a:latin typeface="Times New Roman"/>
                <a:cs typeface="Times New Roman"/>
              </a:rPr>
              <a:t>variables </a:t>
            </a:r>
            <a:r>
              <a:rPr sz="2600" b="1" i="1" spc="20" dirty="0">
                <a:latin typeface="Times New Roman"/>
                <a:cs typeface="Times New Roman"/>
              </a:rPr>
              <a:t>x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b="1" i="1" spc="20" dirty="0">
                <a:latin typeface="Times New Roman"/>
                <a:cs typeface="Times New Roman"/>
              </a:rPr>
              <a:t>nombre </a:t>
            </a:r>
            <a:r>
              <a:rPr sz="2600" spc="15" dirty="0">
                <a:latin typeface="Times New Roman"/>
                <a:cs typeface="Times New Roman"/>
              </a:rPr>
              <a:t>correspondent à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20" dirty="0">
                <a:latin typeface="Times New Roman"/>
                <a:cs typeface="Times New Roman"/>
              </a:rPr>
              <a:t>même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case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mémoire,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faire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b="1" i="1" spc="15" dirty="0">
                <a:latin typeface="Times New Roman"/>
                <a:cs typeface="Times New Roman"/>
              </a:rPr>
              <a:t>x*=2</a:t>
            </a:r>
            <a:r>
              <a:rPr sz="2600" b="1" i="1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</a:t>
            </a:r>
            <a:r>
              <a:rPr sz="2600" spc="10" dirty="0">
                <a:latin typeface="Times New Roman"/>
                <a:cs typeface="Times New Roman"/>
              </a:rPr>
              <a:t> modifié 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b="1" i="1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latin typeface="Times New Roman"/>
                <a:cs typeface="Times New Roman"/>
              </a:rPr>
              <a:t>!</a:t>
            </a:r>
            <a:endParaRPr sz="2600">
              <a:latin typeface="Times New Roman"/>
              <a:cs typeface="Times New Roman"/>
            </a:endParaRPr>
          </a:p>
          <a:p>
            <a:pPr marL="390525" marR="168910" indent="-378460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0" dirty="0">
                <a:latin typeface="Times New Roman"/>
                <a:cs typeface="Times New Roman"/>
              </a:rPr>
              <a:t>Utiliser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références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peut donc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être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très </a:t>
            </a:r>
            <a:r>
              <a:rPr sz="2600" spc="15" dirty="0">
                <a:latin typeface="Times New Roman"/>
                <a:cs typeface="Times New Roman"/>
              </a:rPr>
              <a:t>dangereux.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C'est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pour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cela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qu'on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ne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utilise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 </a:t>
            </a:r>
            <a:r>
              <a:rPr sz="2600" spc="10" dirty="0">
                <a:latin typeface="Times New Roman"/>
                <a:cs typeface="Times New Roman"/>
              </a:rPr>
              <a:t>lorsqu'on</a:t>
            </a:r>
            <a:r>
              <a:rPr sz="2600" spc="5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 a </a:t>
            </a:r>
            <a:r>
              <a:rPr sz="2600" spc="10" dirty="0">
                <a:latin typeface="Times New Roman"/>
                <a:cs typeface="Times New Roman"/>
              </a:rPr>
              <a:t>réellement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besoin.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752" y="503935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692" y="1576379"/>
            <a:ext cx="9483725" cy="3115310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Remarque:</a:t>
            </a:r>
            <a:endParaRPr sz="2600">
              <a:latin typeface="Times New Roman"/>
              <a:cs typeface="Times New Roman"/>
            </a:endParaRPr>
          </a:p>
          <a:p>
            <a:pPr marL="319405" marR="5080" indent="-319405">
              <a:lnSpc>
                <a:spcPct val="126499"/>
              </a:lnSpc>
              <a:spcBef>
                <a:spcPts val="2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19405" algn="l"/>
                <a:tab pos="2263140" algn="l"/>
                <a:tab pos="2599690" algn="l"/>
                <a:tab pos="3960495" algn="l"/>
              </a:tabLst>
            </a:pPr>
            <a:r>
              <a:rPr sz="2600" spc="15" dirty="0">
                <a:latin typeface="Times New Roman"/>
                <a:cs typeface="Times New Roman"/>
              </a:rPr>
              <a:t>Le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	</a:t>
            </a:r>
            <a:r>
              <a:rPr sz="2600" spc="20" dirty="0">
                <a:latin typeface="Times New Roman"/>
                <a:cs typeface="Times New Roman"/>
              </a:rPr>
              <a:t>x	</a:t>
            </a:r>
            <a:r>
              <a:rPr sz="2600" spc="15" dirty="0">
                <a:latin typeface="Times New Roman"/>
                <a:cs typeface="Times New Roman"/>
              </a:rPr>
              <a:t>"pointe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	à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valeur de </a:t>
            </a:r>
            <a:r>
              <a:rPr sz="2600" spc="10" dirty="0">
                <a:latin typeface="Times New Roman"/>
                <a:cs typeface="Times New Roman"/>
              </a:rPr>
              <a:t>la variable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la fonction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main.</a:t>
            </a:r>
            <a:endParaRPr sz="2600">
              <a:latin typeface="Times New Roman"/>
              <a:cs typeface="Times New Roman"/>
            </a:endParaRPr>
          </a:p>
          <a:p>
            <a:pPr marL="342900" marR="394970" indent="-289560">
              <a:lnSpc>
                <a:spcPts val="3950"/>
              </a:lnSpc>
              <a:spcBef>
                <a:spcPts val="9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402590" algn="l"/>
                <a:tab pos="403225" algn="l"/>
                <a:tab pos="3515995" algn="l"/>
              </a:tabLst>
            </a:pPr>
            <a:r>
              <a:rPr dirty="0"/>
              <a:t>	</a:t>
            </a:r>
            <a:r>
              <a:rPr sz="2600" spc="20" dirty="0">
                <a:latin typeface="Times New Roman"/>
                <a:cs typeface="Times New Roman"/>
              </a:rPr>
              <a:t>Quand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5" dirty="0">
                <a:latin typeface="Times New Roman"/>
                <a:cs typeface="Times New Roman"/>
              </a:rPr>
              <a:t>programme	</a:t>
            </a:r>
            <a:r>
              <a:rPr sz="2600" spc="10" dirty="0">
                <a:latin typeface="Times New Roman"/>
                <a:cs typeface="Times New Roman"/>
              </a:rPr>
              <a:t>travaille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avec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référence, 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travaille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 </a:t>
            </a:r>
            <a:r>
              <a:rPr sz="2600" spc="10" dirty="0">
                <a:latin typeface="Times New Roman"/>
                <a:cs typeface="Times New Roman"/>
              </a:rPr>
              <a:t>fait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avec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10" dirty="0">
                <a:latin typeface="Times New Roman"/>
                <a:cs typeface="Times New Roman"/>
              </a:rPr>
              <a:t> référence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ou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pointe </a:t>
            </a:r>
            <a:r>
              <a:rPr sz="2600" spc="-25" dirty="0">
                <a:latin typeface="Times New Roman"/>
                <a:cs typeface="Times New Roman"/>
              </a:rPr>
              <a:t>sur.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7827" y="5019732"/>
            <a:ext cx="2856005" cy="21103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6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74148" y="1581403"/>
            <a:ext cx="7891780" cy="57391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305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7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-50" dirty="0">
                <a:latin typeface="Times New Roman"/>
                <a:cs typeface="Times New Roman"/>
              </a:rPr>
              <a:t>Voyez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deuxième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exemple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 </a:t>
            </a:r>
            <a:r>
              <a:rPr sz="2600" spc="10" dirty="0">
                <a:latin typeface="Times New Roman"/>
                <a:cs typeface="Times New Roman"/>
              </a:rPr>
              <a:t>utilisant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15" dirty="0">
                <a:latin typeface="Times New Roman"/>
                <a:cs typeface="Times New Roman"/>
              </a:rPr>
              <a:t> références: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#include</a:t>
            </a:r>
            <a:r>
              <a:rPr sz="1950" b="1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b="1" spc="5" dirty="0">
                <a:solidFill>
                  <a:srgbClr val="006500"/>
                </a:solidFill>
                <a:latin typeface="Times New Roman"/>
                <a:cs typeface="Times New Roman"/>
              </a:rPr>
              <a:t>&lt;iostream&gt;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195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1950" spc="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std</a:t>
            </a:r>
            <a:r>
              <a:rPr sz="1950" b="1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95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echanger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1950" spc="2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19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prototype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main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1950" spc="10" dirty="0">
                <a:latin typeface="Times New Roman"/>
                <a:cs typeface="Times New Roman"/>
              </a:rPr>
              <a:t>)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p(</a:t>
            </a:r>
            <a:r>
              <a:rPr sz="1950" spc="15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1950" spc="15" dirty="0">
                <a:latin typeface="Times New Roman"/>
                <a:cs typeface="Times New Roman"/>
              </a:rPr>
              <a:t>)</a:t>
            </a:r>
            <a:r>
              <a:rPr sz="1950" spc="-25" dirty="0"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1950" b="1" spc="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-15" dirty="0">
                <a:solidFill>
                  <a:srgbClr val="006FC0"/>
                </a:solidFill>
                <a:latin typeface="Times New Roman"/>
                <a:cs typeface="Times New Roman"/>
              </a:rPr>
              <a:t>"Avant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appel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 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n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p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2040889" algn="l"/>
              </a:tabLst>
            </a:pPr>
            <a:r>
              <a:rPr sz="1950" spc="10" dirty="0">
                <a:latin typeface="Times New Roman"/>
                <a:cs typeface="Times New Roman"/>
              </a:rPr>
              <a:t>echanger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latin typeface="Times New Roman"/>
                <a:cs typeface="Times New Roman"/>
              </a:rPr>
              <a:t>n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p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 de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la fonction:</a:t>
            </a:r>
            <a:r>
              <a:rPr sz="19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attention,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ici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pas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&amp;n,</a:t>
            </a:r>
            <a:r>
              <a:rPr sz="1950" spc="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&amp;p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1950" b="1" spc="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"Après</a:t>
            </a:r>
            <a:r>
              <a:rPr sz="19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appel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: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n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p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95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echanger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1950" spc="2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a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&amp;</a:t>
            </a:r>
            <a:r>
              <a:rPr sz="1950" spc="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b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// définition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temporaire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5" dirty="0">
                <a:latin typeface="Times New Roman"/>
                <a:cs typeface="Times New Roman"/>
              </a:rPr>
              <a:t>a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 marR="746125">
              <a:lnSpc>
                <a:spcPct val="101499"/>
              </a:lnSpc>
              <a:spcBef>
                <a:spcPts val="15"/>
              </a:spcBef>
            </a:pP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1950" b="1" spc="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"Début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échange 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dans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9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a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b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-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a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b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spc="15" dirty="0">
                <a:latin typeface="Times New Roman"/>
                <a:cs typeface="Times New Roman"/>
              </a:rPr>
              <a:t>b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temporaire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1950" b="1" spc="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"Fin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échange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dans</a:t>
            </a:r>
            <a:r>
              <a:rPr sz="19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9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 "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a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b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950" b="1" spc="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6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784479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0" dirty="0"/>
              <a:t>P</a:t>
            </a:r>
            <a:r>
              <a:rPr spc="-105" dirty="0"/>
              <a:t>a</a:t>
            </a:r>
            <a:r>
              <a:rPr spc="-509" dirty="0"/>
              <a:t>ss</a:t>
            </a:r>
            <a:r>
              <a:rPr spc="-20" dirty="0"/>
              <a:t>a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295" dirty="0"/>
              <a:t>r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290" dirty="0"/>
              <a:t>é</a:t>
            </a:r>
            <a:r>
              <a:rPr spc="-220" dirty="0"/>
              <a:t>r</a:t>
            </a:r>
            <a:r>
              <a:rPr spc="-305" dirty="0"/>
              <a:t>en</a:t>
            </a:r>
            <a:r>
              <a:rPr spc="-605" dirty="0"/>
              <a:t>c</a:t>
            </a:r>
            <a:r>
              <a:rPr spc="-295" dirty="0"/>
              <a:t>e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00" y="1901443"/>
            <a:ext cx="7037070" cy="284480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Cela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affiche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82270">
              <a:lnSpc>
                <a:spcPct val="100000"/>
              </a:lnSpc>
              <a:spcBef>
                <a:spcPts val="80"/>
              </a:spcBef>
            </a:pPr>
            <a:r>
              <a:rPr sz="2600" spc="-335" dirty="0">
                <a:latin typeface="Arial MT"/>
                <a:cs typeface="Arial MT"/>
              </a:rPr>
              <a:t>A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an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appe</a:t>
            </a:r>
            <a:r>
              <a:rPr sz="2600" spc="-100" dirty="0">
                <a:latin typeface="Arial MT"/>
                <a:cs typeface="Arial MT"/>
              </a:rPr>
              <a:t>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245" dirty="0">
                <a:latin typeface="Arial MT"/>
                <a:cs typeface="Arial MT"/>
              </a:rPr>
              <a:t>0</a:t>
            </a:r>
            <a:endParaRPr sz="2600">
              <a:latin typeface="Arial MT"/>
              <a:cs typeface="Arial MT"/>
            </a:endParaRPr>
          </a:p>
          <a:p>
            <a:pPr marL="396240" marR="1818639">
              <a:lnSpc>
                <a:spcPct val="101499"/>
              </a:lnSpc>
              <a:spcBef>
                <a:spcPts val="5"/>
              </a:spcBef>
            </a:pPr>
            <a:r>
              <a:rPr sz="2600" spc="-325" dirty="0">
                <a:latin typeface="Arial MT"/>
                <a:cs typeface="Arial MT"/>
              </a:rPr>
              <a:t>D</a:t>
            </a:r>
            <a:r>
              <a:rPr sz="2600" spc="-250" dirty="0">
                <a:latin typeface="Arial MT"/>
                <a:cs typeface="Arial MT"/>
              </a:rPr>
              <a:t>ébu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é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ha</a:t>
            </a:r>
            <a:r>
              <a:rPr sz="2600" spc="-240" dirty="0">
                <a:latin typeface="Arial MT"/>
                <a:cs typeface="Arial MT"/>
              </a:rPr>
              <a:t>ng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185" dirty="0">
                <a:latin typeface="Arial MT"/>
                <a:cs typeface="Arial MT"/>
              </a:rPr>
              <a:t>0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75" dirty="0">
                <a:latin typeface="Arial MT"/>
                <a:cs typeface="Arial MT"/>
              </a:rPr>
              <a:t>F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é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ha</a:t>
            </a:r>
            <a:r>
              <a:rPr sz="2600" spc="-240" dirty="0">
                <a:latin typeface="Arial MT"/>
                <a:cs typeface="Arial MT"/>
              </a:rPr>
              <a:t>ng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0</a:t>
            </a:r>
            <a:endParaRPr sz="2600">
              <a:latin typeface="Arial MT"/>
              <a:cs typeface="Arial MT"/>
            </a:endParaRPr>
          </a:p>
          <a:p>
            <a:pPr marL="382270">
              <a:lnSpc>
                <a:spcPct val="100000"/>
              </a:lnSpc>
              <a:spcBef>
                <a:spcPts val="60"/>
              </a:spcBef>
            </a:pPr>
            <a:r>
              <a:rPr sz="2600" spc="-300" dirty="0">
                <a:latin typeface="Arial MT"/>
                <a:cs typeface="Arial MT"/>
              </a:rPr>
              <a:t>A</a:t>
            </a:r>
            <a:r>
              <a:rPr sz="2600" spc="-250" dirty="0">
                <a:latin typeface="Arial MT"/>
                <a:cs typeface="Arial MT"/>
              </a:rPr>
              <a:t>p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è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appe</a:t>
            </a:r>
            <a:r>
              <a:rPr sz="2600" spc="-100" dirty="0">
                <a:latin typeface="Arial MT"/>
                <a:cs typeface="Arial MT"/>
              </a:rPr>
              <a:t>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0</a:t>
            </a:r>
            <a:endParaRPr sz="2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Arial MT"/>
              <a:cs typeface="Arial MT"/>
            </a:endParaRPr>
          </a:p>
          <a:p>
            <a:pPr marL="390525" indent="-37846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valeurs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 deux </a:t>
            </a:r>
            <a:r>
              <a:rPr sz="2600" spc="10" dirty="0">
                <a:latin typeface="Times New Roman"/>
                <a:cs typeface="Times New Roman"/>
              </a:rPr>
              <a:t>variables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ont</a:t>
            </a:r>
            <a:r>
              <a:rPr sz="2600" spc="10" dirty="0">
                <a:latin typeface="Times New Roman"/>
                <a:cs typeface="Times New Roman"/>
              </a:rPr>
              <a:t> été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échangées.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414019"/>
            <a:ext cx="602170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105" dirty="0"/>
              <a:t>a</a:t>
            </a:r>
            <a:r>
              <a:rPr spc="-305" dirty="0"/>
              <a:t>b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20" dirty="0"/>
              <a:t>g</a:t>
            </a:r>
            <a:r>
              <a:rPr spc="-70" dirty="0"/>
              <a:t>l</a:t>
            </a:r>
            <a:r>
              <a:rPr spc="-305" dirty="0"/>
              <a:t>ob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290" dirty="0"/>
              <a:t>e</a:t>
            </a:r>
            <a:r>
              <a:rPr spc="-285" dirty="0"/>
              <a:t>t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305" dirty="0"/>
              <a:t>o</a:t>
            </a:r>
            <a:r>
              <a:rPr spc="-595" dirty="0"/>
              <a:t>c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256" y="1985263"/>
            <a:ext cx="9685020" cy="2433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48309" marR="5080" indent="-448309">
              <a:lnSpc>
                <a:spcPct val="126499"/>
              </a:lnSpc>
              <a:spcBef>
                <a:spcPts val="9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448309" algn="l"/>
                <a:tab pos="448945" algn="l"/>
              </a:tabLst>
            </a:pPr>
            <a:r>
              <a:rPr sz="2600" spc="20" dirty="0">
                <a:latin typeface="Times New Roman"/>
                <a:cs typeface="Times New Roman"/>
              </a:rPr>
              <a:t>Une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</a:t>
            </a:r>
            <a:r>
              <a:rPr sz="2600" spc="2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locale</a:t>
            </a:r>
            <a:r>
              <a:rPr sz="260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définie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l'intérieur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d'une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n'est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accessible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10" dirty="0">
                <a:latin typeface="Times New Roman"/>
                <a:cs typeface="Times New Roman"/>
              </a:rPr>
              <a:t> l'extérieur</a:t>
            </a:r>
            <a:r>
              <a:rPr sz="2600" spc="15" dirty="0">
                <a:latin typeface="Times New Roman"/>
                <a:cs typeface="Times New Roman"/>
              </a:rPr>
              <a:t> de</a:t>
            </a:r>
            <a:r>
              <a:rPr sz="2600" spc="10" dirty="0">
                <a:latin typeface="Times New Roman"/>
                <a:cs typeface="Times New Roman"/>
              </a:rPr>
              <a:t> la fonction.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Wingdings"/>
              <a:buChar char=""/>
            </a:pPr>
            <a:endParaRPr sz="4050">
              <a:latin typeface="Times New Roman"/>
              <a:cs typeface="Times New Roman"/>
            </a:endParaRPr>
          </a:p>
          <a:p>
            <a:pPr marL="364490" marR="314325" indent="-352425">
              <a:lnSpc>
                <a:spcPct val="101899"/>
              </a:lnSpc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globale</a:t>
            </a:r>
            <a:r>
              <a:rPr sz="2600" spc="2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l'extérieur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toutes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 fonctions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accessible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toutes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fonctions</a:t>
            </a:r>
            <a:r>
              <a:rPr sz="2600" spc="15" dirty="0">
                <a:latin typeface="Times New Roman"/>
                <a:cs typeface="Times New Roman"/>
              </a:rPr>
              <a:t> dans </a:t>
            </a:r>
            <a:r>
              <a:rPr sz="2600" spc="20" dirty="0">
                <a:latin typeface="Times New Roman"/>
                <a:cs typeface="Times New Roman"/>
              </a:rPr>
              <a:t>son</a:t>
            </a:r>
            <a:r>
              <a:rPr sz="2600" spc="15" dirty="0">
                <a:latin typeface="Times New Roman"/>
                <a:cs typeface="Times New Roman"/>
              </a:rPr>
              <a:t> étendue.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377443"/>
            <a:ext cx="39827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20" dirty="0"/>
              <a:t>V</a:t>
            </a:r>
            <a:r>
              <a:rPr sz="4400" spc="-125" dirty="0"/>
              <a:t>a</a:t>
            </a:r>
            <a:r>
              <a:rPr sz="4400" spc="-335" dirty="0"/>
              <a:t>r</a:t>
            </a:r>
            <a:r>
              <a:rPr sz="4400" spc="-85" dirty="0"/>
              <a:t>i</a:t>
            </a:r>
            <a:r>
              <a:rPr sz="4400" spc="-125" dirty="0"/>
              <a:t>a</a:t>
            </a:r>
            <a:r>
              <a:rPr sz="4400" spc="-355" dirty="0"/>
              <a:t>b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85" dirty="0"/>
              <a:t>l</a:t>
            </a:r>
            <a:r>
              <a:rPr sz="4400" spc="-355" dirty="0"/>
              <a:t>o</a:t>
            </a:r>
            <a:r>
              <a:rPr sz="4400" spc="-675" dirty="0"/>
              <a:t>c</a:t>
            </a:r>
            <a:r>
              <a:rPr sz="4400" spc="-125" dirty="0"/>
              <a:t>a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6968" y="1645411"/>
            <a:ext cx="9732645" cy="2028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1625" marR="944244" indent="-289560">
              <a:lnSpc>
                <a:spcPct val="126200"/>
              </a:lnSpc>
              <a:spcBef>
                <a:spcPts val="9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spc="15" dirty="0">
                <a:latin typeface="Times New Roman"/>
                <a:cs typeface="Times New Roman"/>
              </a:rPr>
              <a:t>Les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définies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l'intérieur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d'une</a:t>
            </a:r>
            <a:r>
              <a:rPr sz="2600" spc="6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locales</a:t>
            </a:r>
            <a:r>
              <a:rPr sz="2600" spc="15" dirty="0">
                <a:latin typeface="Times New Roman"/>
                <a:cs typeface="Times New Roman"/>
              </a:rPr>
              <a:t> à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cette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400685" marR="5080" lvl="1" indent="-335280">
              <a:lnSpc>
                <a:spcPct val="126499"/>
              </a:lnSpc>
              <a:buClr>
                <a:srgbClr val="006FC0"/>
              </a:buClr>
              <a:buSzPct val="59615"/>
              <a:buFont typeface="Wingdings"/>
              <a:buChar char=""/>
              <a:tabLst>
                <a:tab pos="413384" algn="l"/>
                <a:tab pos="414020" algn="l"/>
              </a:tabLst>
            </a:pPr>
            <a:r>
              <a:rPr sz="2600" spc="10" dirty="0">
                <a:latin typeface="Times New Roman"/>
                <a:cs typeface="Times New Roman"/>
              </a:rPr>
              <a:t>Ils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 cachés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déclarations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autres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 normalement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peuvent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accéder.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388111"/>
            <a:ext cx="39827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320" dirty="0"/>
              <a:t>V</a:t>
            </a:r>
            <a:r>
              <a:rPr sz="4400" spc="-125" dirty="0"/>
              <a:t>a</a:t>
            </a:r>
            <a:r>
              <a:rPr sz="4400" spc="-335" dirty="0"/>
              <a:t>r</a:t>
            </a:r>
            <a:r>
              <a:rPr sz="4400" spc="-85" dirty="0"/>
              <a:t>i</a:t>
            </a:r>
            <a:r>
              <a:rPr sz="4400" spc="-125" dirty="0"/>
              <a:t>a</a:t>
            </a:r>
            <a:r>
              <a:rPr sz="4400" spc="-355" dirty="0"/>
              <a:t>b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r>
              <a:rPr sz="4400" b="0" spc="80" dirty="0">
                <a:latin typeface="Times New Roman"/>
                <a:cs typeface="Times New Roman"/>
              </a:rPr>
              <a:t> </a:t>
            </a:r>
            <a:r>
              <a:rPr sz="4400" spc="-85" dirty="0"/>
              <a:t>l</a:t>
            </a:r>
            <a:r>
              <a:rPr sz="4400" spc="-355" dirty="0"/>
              <a:t>o</a:t>
            </a:r>
            <a:r>
              <a:rPr sz="4400" spc="-675" dirty="0"/>
              <a:t>c</a:t>
            </a:r>
            <a:r>
              <a:rPr sz="4400" spc="-125" dirty="0"/>
              <a:t>a</a:t>
            </a:r>
            <a:r>
              <a:rPr sz="4400" spc="-85" dirty="0"/>
              <a:t>l</a:t>
            </a:r>
            <a:r>
              <a:rPr sz="4400" spc="-340" dirty="0"/>
              <a:t>e</a:t>
            </a:r>
            <a:r>
              <a:rPr sz="4400" spc="-570" dirty="0"/>
              <a:t>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8388" y="1392427"/>
            <a:ext cx="6929755" cy="6175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530"/>
              </a:lnSpc>
              <a:spcBef>
                <a:spcPts val="120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72</a:t>
            </a:r>
            <a:endParaRPr sz="1300">
              <a:latin typeface="Arial"/>
              <a:cs typeface="Arial"/>
            </a:endParaRPr>
          </a:p>
          <a:p>
            <a:pPr marL="236220">
              <a:lnSpc>
                <a:spcPts val="3629"/>
              </a:lnSpc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3050">
              <a:latin typeface="Times New Roman"/>
              <a:cs typeface="Times New Roman"/>
            </a:endParaRPr>
          </a:p>
          <a:p>
            <a:pPr marL="257810" marR="4646295" indent="-21590">
              <a:lnSpc>
                <a:spcPct val="144300"/>
              </a:lnSpc>
              <a:spcBef>
                <a:spcPts val="600"/>
              </a:spcBef>
            </a:pP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#include &lt;iostream&gt; </a:t>
            </a:r>
            <a:r>
              <a:rPr sz="1850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185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185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std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  <a:spcBef>
                <a:spcPts val="805"/>
              </a:spcBef>
            </a:pP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8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autreFonction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r>
              <a:rPr sz="18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//prototype</a:t>
            </a:r>
            <a:endParaRPr sz="185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  <a:spcBef>
                <a:spcPts val="790"/>
              </a:spcBef>
            </a:pP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850" b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main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850">
              <a:latin typeface="Times New Roman"/>
              <a:cs typeface="Times New Roman"/>
            </a:endParaRPr>
          </a:p>
          <a:p>
            <a:pPr marL="376555">
              <a:lnSpc>
                <a:spcPct val="100000"/>
              </a:lnSpc>
              <a:spcBef>
                <a:spcPts val="805"/>
              </a:spcBef>
            </a:pP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1850" spc="5" dirty="0">
                <a:latin typeface="Times New Roman"/>
                <a:cs typeface="Times New Roman"/>
              </a:rPr>
              <a:t>t nbre(</a:t>
            </a:r>
            <a:r>
              <a:rPr sz="1850" spc="5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1850" spc="5" dirty="0">
                <a:latin typeface="Times New Roman"/>
                <a:cs typeface="Times New Roman"/>
              </a:rPr>
              <a:t>)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185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//variable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locale</a:t>
            </a:r>
            <a:endParaRPr sz="1850">
              <a:latin typeface="Times New Roman"/>
              <a:cs typeface="Times New Roman"/>
            </a:endParaRPr>
          </a:p>
          <a:p>
            <a:pPr marL="376555" marR="730250">
              <a:lnSpc>
                <a:spcPts val="3020"/>
              </a:lnSpc>
              <a:spcBef>
                <a:spcPts val="225"/>
              </a:spcBef>
            </a:pP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850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Dans</a:t>
            </a:r>
            <a:r>
              <a:rPr sz="18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main,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nbre  est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850" spc="-4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autreFonction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();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1850" spc="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8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850">
              <a:latin typeface="Times New Roman"/>
              <a:cs typeface="Times New Roman"/>
            </a:endParaRPr>
          </a:p>
          <a:p>
            <a:pPr marL="376555">
              <a:lnSpc>
                <a:spcPct val="100000"/>
              </a:lnSpc>
              <a:spcBef>
                <a:spcPts val="560"/>
              </a:spcBef>
            </a:pP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850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Retour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à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main,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nbre</a:t>
            </a:r>
            <a:r>
              <a:rPr sz="18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376555">
              <a:lnSpc>
                <a:spcPct val="100000"/>
              </a:lnSpc>
              <a:spcBef>
                <a:spcPts val="805"/>
              </a:spcBef>
            </a:pPr>
            <a:r>
              <a:rPr sz="1850" b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85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  <a:spcBef>
                <a:spcPts val="805"/>
              </a:spcBef>
            </a:pP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  <a:spcBef>
                <a:spcPts val="790"/>
              </a:spcBef>
            </a:pP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8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autreFonction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(){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1850" spc="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8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85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805"/>
              </a:spcBef>
            </a:pP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1850" spc="5" dirty="0">
                <a:latin typeface="Times New Roman"/>
                <a:cs typeface="Times New Roman"/>
              </a:rPr>
              <a:t>nbre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850" spc="5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1850" spc="4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 variable</a:t>
            </a:r>
            <a:r>
              <a:rPr sz="18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locale</a:t>
            </a:r>
            <a:endParaRPr sz="1850">
              <a:latin typeface="Times New Roman"/>
              <a:cs typeface="Times New Roman"/>
            </a:endParaRPr>
          </a:p>
          <a:p>
            <a:pPr marL="316865">
              <a:lnSpc>
                <a:spcPct val="100000"/>
              </a:lnSpc>
              <a:spcBef>
                <a:spcPts val="795"/>
              </a:spcBef>
            </a:pP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850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Dans</a:t>
            </a:r>
            <a:r>
              <a:rPr sz="18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la fonction autreFonction,</a:t>
            </a:r>
            <a:r>
              <a:rPr sz="185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nbre</a:t>
            </a:r>
            <a:r>
              <a:rPr sz="18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198120">
              <a:lnSpc>
                <a:spcPct val="100000"/>
              </a:lnSpc>
              <a:spcBef>
                <a:spcPts val="800"/>
              </a:spcBef>
            </a:pP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414019"/>
            <a:ext cx="359537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105" dirty="0"/>
              <a:t>a</a:t>
            </a:r>
            <a:r>
              <a:rPr spc="-305" dirty="0"/>
              <a:t>b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305" dirty="0"/>
              <a:t>o</a:t>
            </a:r>
            <a:r>
              <a:rPr spc="-595" dirty="0"/>
              <a:t>c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1560" y="1640838"/>
            <a:ext cx="5311140" cy="2035810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945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Sortie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programme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  <a:tabLst>
                <a:tab pos="3531235" algn="l"/>
              </a:tabLst>
            </a:pPr>
            <a:r>
              <a:rPr sz="2600" spc="-325" dirty="0">
                <a:latin typeface="Arial MT"/>
                <a:cs typeface="Arial MT"/>
              </a:rPr>
              <a:t>D</a:t>
            </a:r>
            <a:r>
              <a:rPr sz="2600" spc="-250" dirty="0">
                <a:latin typeface="Arial MT"/>
                <a:cs typeface="Arial MT"/>
              </a:rPr>
              <a:t>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310" dirty="0">
                <a:latin typeface="Arial MT"/>
                <a:cs typeface="Arial MT"/>
              </a:rPr>
              <a:t>ma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1</a:t>
            </a:r>
            <a:endParaRPr sz="2600">
              <a:latin typeface="Arial MT"/>
              <a:cs typeface="Arial MT"/>
            </a:endParaRPr>
          </a:p>
          <a:p>
            <a:pPr marL="12700" marR="5080">
              <a:lnSpc>
                <a:spcPct val="126200"/>
              </a:lnSpc>
              <a:spcBef>
                <a:spcPts val="10"/>
              </a:spcBef>
            </a:pPr>
            <a:r>
              <a:rPr sz="2600" spc="-325" dirty="0">
                <a:latin typeface="Arial MT"/>
                <a:cs typeface="Arial MT"/>
              </a:rPr>
              <a:t>D</a:t>
            </a:r>
            <a:r>
              <a:rPr sz="2600" spc="-250" dirty="0">
                <a:latin typeface="Arial MT"/>
                <a:cs typeface="Arial MT"/>
              </a:rPr>
              <a:t>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au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75" dirty="0">
                <a:latin typeface="Arial MT"/>
                <a:cs typeface="Arial MT"/>
              </a:rPr>
              <a:t>F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21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90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2</a:t>
            </a:r>
            <a:r>
              <a:rPr sz="2600" spc="-185" dirty="0">
                <a:latin typeface="Arial MT"/>
                <a:cs typeface="Arial MT"/>
              </a:rPr>
              <a:t>0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32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ou</a:t>
            </a:r>
            <a:r>
              <a:rPr sz="2600" spc="-150" dirty="0">
                <a:latin typeface="Arial MT"/>
                <a:cs typeface="Arial MT"/>
              </a:rPr>
              <a:t>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à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310" dirty="0">
                <a:latin typeface="Arial MT"/>
                <a:cs typeface="Arial MT"/>
              </a:rPr>
              <a:t>ma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1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000" y="414019"/>
            <a:ext cx="359537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105" dirty="0"/>
              <a:t>a</a:t>
            </a:r>
            <a:r>
              <a:rPr spc="-305" dirty="0"/>
              <a:t>b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305" dirty="0"/>
              <a:t>o</a:t>
            </a:r>
            <a:r>
              <a:rPr spc="-595" dirty="0"/>
              <a:t>c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4044" y="1732279"/>
            <a:ext cx="288417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575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3050" b="1" spc="-455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3050" b="1" spc="-235" dirty="0">
                <a:solidFill>
                  <a:srgbClr val="C00000"/>
                </a:solidFill>
                <a:latin typeface="Arial"/>
                <a:cs typeface="Arial"/>
              </a:rPr>
              <a:t>h</a:t>
            </a:r>
            <a:r>
              <a:rPr sz="3050" b="1" spc="-225" dirty="0">
                <a:solidFill>
                  <a:srgbClr val="C00000"/>
                </a:solidFill>
                <a:latin typeface="Arial"/>
                <a:cs typeface="Arial"/>
              </a:rPr>
              <a:t>é</a:t>
            </a:r>
            <a:r>
              <a:rPr sz="3050" b="1" spc="-26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3050" b="1" spc="-7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3050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-28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3050" b="1" spc="-65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3050" b="1" spc="-235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3050" b="1" spc="-50" dirty="0">
                <a:solidFill>
                  <a:srgbClr val="C00000"/>
                </a:solidFill>
                <a:latin typeface="Arial"/>
                <a:cs typeface="Arial"/>
              </a:rPr>
              <a:t>li</a:t>
            </a:r>
            <a:r>
              <a:rPr sz="3050" b="1" spc="-455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3050" b="1" spc="-1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3050" b="1" spc="-215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3050" b="1" spc="-50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3050" b="1" spc="-55" dirty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320" y="2440317"/>
            <a:ext cx="6103733" cy="22449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14019"/>
            <a:ext cx="585216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70" dirty="0"/>
              <a:t>P</a:t>
            </a:r>
            <a:r>
              <a:rPr spc="-305" dirty="0"/>
              <a:t>o</a:t>
            </a:r>
            <a:r>
              <a:rPr spc="-100" dirty="0"/>
              <a:t>r</a:t>
            </a:r>
            <a:r>
              <a:rPr spc="-285" dirty="0"/>
              <a:t>t</a:t>
            </a:r>
            <a:r>
              <a:rPr spc="-290" dirty="0"/>
              <a:t>é</a:t>
            </a:r>
            <a:r>
              <a:rPr spc="-295" dirty="0"/>
              <a:t>e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25" dirty="0"/>
              <a:t>v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105" dirty="0"/>
              <a:t>a</a:t>
            </a:r>
            <a:r>
              <a:rPr spc="-305" dirty="0"/>
              <a:t>b</a:t>
            </a:r>
            <a:r>
              <a:rPr spc="-70" dirty="0"/>
              <a:t>l</a:t>
            </a:r>
            <a:r>
              <a:rPr spc="-305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305" dirty="0"/>
              <a:t>o</a:t>
            </a:r>
            <a:r>
              <a:rPr spc="-595" dirty="0"/>
              <a:t>c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6008" y="1822195"/>
            <a:ext cx="9544050" cy="304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5080" indent="-378460">
              <a:lnSpc>
                <a:spcPct val="101499"/>
              </a:lnSpc>
              <a:spcBef>
                <a:spcPts val="9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90525" algn="l"/>
                <a:tab pos="391160" algn="l"/>
                <a:tab pos="906399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va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ri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ab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l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es</a:t>
            </a:r>
            <a:r>
              <a:rPr sz="260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l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oca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l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es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d</a:t>
            </a:r>
            <a:r>
              <a:rPr sz="2600" spc="-15" dirty="0">
                <a:latin typeface="Times New Roman"/>
                <a:cs typeface="Times New Roman"/>
              </a:rPr>
              <a:t>'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f</a:t>
            </a:r>
            <a:r>
              <a:rPr sz="2600" spc="15" dirty="0">
                <a:latin typeface="Times New Roman"/>
                <a:cs typeface="Times New Roman"/>
              </a:rPr>
              <a:t>onc</a:t>
            </a:r>
            <a:r>
              <a:rPr sz="2600" spc="5" dirty="0">
                <a:latin typeface="Times New Roman"/>
                <a:cs typeface="Times New Roman"/>
              </a:rPr>
              <a:t>ti</a:t>
            </a:r>
            <a:r>
              <a:rPr sz="2600" spc="20" dirty="0">
                <a:latin typeface="Times New Roman"/>
                <a:cs typeface="Times New Roman"/>
              </a:rPr>
              <a:t>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ex</a:t>
            </a:r>
            <a:r>
              <a:rPr sz="2600" spc="5" dirty="0">
                <a:latin typeface="Times New Roman"/>
                <a:cs typeface="Times New Roman"/>
              </a:rPr>
              <a:t>i</a:t>
            </a:r>
            <a:r>
              <a:rPr sz="2600" spc="20" dirty="0">
                <a:latin typeface="Times New Roman"/>
                <a:cs typeface="Times New Roman"/>
              </a:rPr>
              <a:t>s</a:t>
            </a:r>
            <a:r>
              <a:rPr sz="2600" spc="5" dirty="0">
                <a:latin typeface="Times New Roman"/>
                <a:cs typeface="Times New Roman"/>
              </a:rPr>
              <a:t>t</a:t>
            </a:r>
            <a:r>
              <a:rPr sz="2600" spc="15" dirty="0">
                <a:latin typeface="Times New Roman"/>
                <a:cs typeface="Times New Roman"/>
              </a:rPr>
              <a:t>ent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s</a:t>
            </a:r>
            <a:r>
              <a:rPr sz="2600" spc="15" dirty="0">
                <a:latin typeface="Times New Roman"/>
                <a:cs typeface="Times New Roman"/>
              </a:rPr>
              <a:t>eu</a:t>
            </a:r>
            <a:r>
              <a:rPr sz="2600" spc="5" dirty="0">
                <a:latin typeface="Times New Roman"/>
                <a:cs typeface="Times New Roman"/>
              </a:rPr>
              <a:t>l</a:t>
            </a:r>
            <a:r>
              <a:rPr sz="2600" spc="15" dirty="0">
                <a:latin typeface="Times New Roman"/>
                <a:cs typeface="Times New Roman"/>
              </a:rPr>
              <a:t>e</a:t>
            </a:r>
            <a:r>
              <a:rPr sz="2600" spc="25" dirty="0">
                <a:latin typeface="Times New Roman"/>
                <a:cs typeface="Times New Roman"/>
              </a:rPr>
              <a:t>m</a:t>
            </a:r>
            <a:r>
              <a:rPr sz="2600" spc="15" dirty="0">
                <a:latin typeface="Times New Roman"/>
                <a:cs typeface="Times New Roman"/>
              </a:rPr>
              <a:t>ent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pendant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20" dirty="0">
                <a:latin typeface="Times New Roman"/>
                <a:cs typeface="Times New Roman"/>
              </a:rPr>
              <a:t>s</a:t>
            </a:r>
            <a:r>
              <a:rPr sz="2600" spc="15" dirty="0">
                <a:latin typeface="Times New Roman"/>
                <a:cs typeface="Times New Roman"/>
              </a:rPr>
              <a:t>on  exécution.</a:t>
            </a:r>
            <a:endParaRPr sz="2600">
              <a:latin typeface="Times New Roman"/>
              <a:cs typeface="Times New Roman"/>
            </a:endParaRPr>
          </a:p>
          <a:p>
            <a:pPr marL="390525" marR="132080" indent="-378460">
              <a:lnSpc>
                <a:spcPct val="101699"/>
              </a:lnSpc>
              <a:spcBef>
                <a:spcPts val="77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90525" algn="l"/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Quand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commence,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variables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locales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variables </a:t>
            </a:r>
            <a:r>
              <a:rPr sz="2600" spc="-63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paramètres </a:t>
            </a:r>
            <a:r>
              <a:rPr sz="2600" spc="15" dirty="0">
                <a:latin typeface="Times New Roman"/>
                <a:cs typeface="Times New Roman"/>
              </a:rPr>
              <a:t>sont créées dans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mémoire,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15" dirty="0">
                <a:latin typeface="Times New Roman"/>
                <a:cs typeface="Times New Roman"/>
              </a:rPr>
              <a:t>quand </a:t>
            </a:r>
            <a:r>
              <a:rPr sz="2600" spc="10" dirty="0">
                <a:latin typeface="Times New Roman"/>
                <a:cs typeface="Times New Roman"/>
              </a:rPr>
              <a:t>la fonction 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termine,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variables locales</a:t>
            </a:r>
            <a:r>
              <a:rPr sz="2600" spc="2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variables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paramètres</a:t>
            </a:r>
            <a:r>
              <a:rPr sz="2600" spc="3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détruites.</a:t>
            </a:r>
            <a:endParaRPr sz="2600">
              <a:latin typeface="Times New Roman"/>
              <a:cs typeface="Times New Roman"/>
            </a:endParaRPr>
          </a:p>
          <a:p>
            <a:pPr marL="390525" marR="159385" indent="-378460">
              <a:lnSpc>
                <a:spcPct val="101899"/>
              </a:lnSpc>
              <a:spcBef>
                <a:spcPts val="76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90525" algn="l"/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Cela veut </a:t>
            </a:r>
            <a:r>
              <a:rPr sz="2600" spc="10" dirty="0">
                <a:latin typeface="Times New Roman"/>
                <a:cs typeface="Times New Roman"/>
              </a:rPr>
              <a:t>dire </a:t>
            </a:r>
            <a:r>
              <a:rPr sz="2600" spc="15" dirty="0">
                <a:latin typeface="Times New Roman"/>
                <a:cs typeface="Times New Roman"/>
              </a:rPr>
              <a:t>que </a:t>
            </a:r>
            <a:r>
              <a:rPr sz="2600" spc="10" dirty="0">
                <a:latin typeface="Times New Roman"/>
                <a:cs typeface="Times New Roman"/>
              </a:rPr>
              <a:t>toute </a:t>
            </a:r>
            <a:r>
              <a:rPr sz="2600" spc="15" dirty="0">
                <a:latin typeface="Times New Roman"/>
                <a:cs typeface="Times New Roman"/>
              </a:rPr>
              <a:t>valeur stockée dans une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 locale </a:t>
            </a:r>
            <a:r>
              <a:rPr sz="2600" spc="15" dirty="0">
                <a:latin typeface="Times New Roman"/>
                <a:cs typeface="Times New Roman"/>
              </a:rPr>
              <a:t>est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perdu </a:t>
            </a:r>
            <a:r>
              <a:rPr sz="2600" spc="10" dirty="0">
                <a:latin typeface="Times New Roman"/>
                <a:cs typeface="Times New Roman"/>
              </a:rPr>
              <a:t>entre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appels 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fonction.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3926204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105" dirty="0"/>
              <a:t>a</a:t>
            </a:r>
            <a:r>
              <a:rPr spc="-305" dirty="0"/>
              <a:t>b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20" dirty="0"/>
              <a:t>g</a:t>
            </a:r>
            <a:r>
              <a:rPr spc="-70" dirty="0"/>
              <a:t>l</a:t>
            </a:r>
            <a:r>
              <a:rPr spc="-305" dirty="0"/>
              <a:t>ob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136" y="2084323"/>
            <a:ext cx="9726295" cy="3238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90525" marR="200025" indent="-378460">
              <a:lnSpc>
                <a:spcPct val="101899"/>
              </a:lnSpc>
              <a:spcBef>
                <a:spcPts val="8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90525" algn="l"/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globale</a:t>
            </a:r>
            <a:r>
              <a:rPr sz="2600" spc="2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toute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l'extérieur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toutes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 fonctions</a:t>
            </a:r>
            <a:r>
              <a:rPr sz="2600" spc="15" dirty="0">
                <a:latin typeface="Times New Roman"/>
                <a:cs typeface="Times New Roman"/>
              </a:rPr>
              <a:t> dans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Wingdings"/>
              <a:buChar char=""/>
            </a:pPr>
            <a:endParaRPr sz="41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buClr>
                <a:srgbClr val="006FC0"/>
              </a:buClr>
              <a:buSzPct val="59615"/>
              <a:buFont typeface="Wingdings"/>
              <a:buChar char=""/>
              <a:tabLst>
                <a:tab pos="390525" algn="l"/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portée</a:t>
            </a:r>
            <a:r>
              <a:rPr sz="2600" spc="10" dirty="0">
                <a:latin typeface="Times New Roman"/>
                <a:cs typeface="Times New Roman"/>
              </a:rPr>
              <a:t> d'une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globale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tout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FC0"/>
              </a:buClr>
              <a:buFont typeface="Wingdings"/>
              <a:buChar char=""/>
            </a:pPr>
            <a:endParaRPr sz="4050">
              <a:latin typeface="Times New Roman"/>
              <a:cs typeface="Times New Roman"/>
            </a:endParaRPr>
          </a:p>
          <a:p>
            <a:pPr marL="390525" marR="5080" indent="-378460">
              <a:lnSpc>
                <a:spcPct val="101899"/>
              </a:lnSpc>
              <a:buClr>
                <a:srgbClr val="006FC0"/>
              </a:buClr>
              <a:buSzPct val="59615"/>
              <a:buFont typeface="Wingdings"/>
              <a:buChar char=""/>
              <a:tabLst>
                <a:tab pos="390525" algn="l"/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Cela veut </a:t>
            </a:r>
            <a:r>
              <a:rPr sz="2600" spc="10" dirty="0">
                <a:latin typeface="Times New Roman"/>
                <a:cs typeface="Times New Roman"/>
              </a:rPr>
              <a:t>dire qu'une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globale </a:t>
            </a:r>
            <a:r>
              <a:rPr sz="2600" spc="15" dirty="0">
                <a:latin typeface="Times New Roman"/>
                <a:cs typeface="Times New Roman"/>
              </a:rPr>
              <a:t>peut </a:t>
            </a:r>
            <a:r>
              <a:rPr sz="2600" spc="10" dirty="0">
                <a:latin typeface="Times New Roman"/>
                <a:cs typeface="Times New Roman"/>
              </a:rPr>
              <a:t>être </a:t>
            </a:r>
            <a:r>
              <a:rPr sz="2600" spc="15" dirty="0">
                <a:latin typeface="Times New Roman"/>
                <a:cs typeface="Times New Roman"/>
              </a:rPr>
              <a:t>accédée par </a:t>
            </a:r>
            <a:r>
              <a:rPr sz="2600" spc="10" dirty="0">
                <a:latin typeface="Times New Roman"/>
                <a:cs typeface="Times New Roman"/>
              </a:rPr>
              <a:t>toutes les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qui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10" dirty="0">
                <a:latin typeface="Times New Roman"/>
                <a:cs typeface="Times New Roman"/>
              </a:rPr>
              <a:t> définies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après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globale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soit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3926204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105" dirty="0"/>
              <a:t>a</a:t>
            </a:r>
            <a:r>
              <a:rPr spc="-305" dirty="0"/>
              <a:t>b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20" dirty="0"/>
              <a:t>g</a:t>
            </a:r>
            <a:r>
              <a:rPr spc="-70" dirty="0"/>
              <a:t>l</a:t>
            </a:r>
            <a:r>
              <a:rPr spc="-305" dirty="0"/>
              <a:t>ob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256" y="1623111"/>
            <a:ext cx="8685530" cy="111506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Remarque: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variables</a:t>
            </a:r>
            <a:r>
              <a:rPr sz="260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globales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initialisés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zéro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automatiquement.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3926204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105" dirty="0"/>
              <a:t>a</a:t>
            </a:r>
            <a:r>
              <a:rPr spc="-305" dirty="0"/>
              <a:t>b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20" dirty="0"/>
              <a:t>g</a:t>
            </a:r>
            <a:r>
              <a:rPr spc="-70" dirty="0"/>
              <a:t>l</a:t>
            </a:r>
            <a:r>
              <a:rPr spc="-305" dirty="0"/>
              <a:t>ob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340" y="1534159"/>
            <a:ext cx="190881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4064" y="2011171"/>
            <a:ext cx="7350125" cy="5572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187950">
              <a:lnSpc>
                <a:spcPct val="124100"/>
              </a:lnSpc>
              <a:spcBef>
                <a:spcPts val="95"/>
              </a:spcBef>
            </a:pP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#include </a:t>
            </a:r>
            <a:r>
              <a:rPr sz="1950" spc="5" dirty="0">
                <a:solidFill>
                  <a:srgbClr val="006500"/>
                </a:solidFill>
                <a:latin typeface="Times New Roman"/>
                <a:cs typeface="Times New Roman"/>
              </a:rPr>
              <a:t>&lt;iostream&gt; </a:t>
            </a: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195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1950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std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 marR="3997325">
              <a:lnSpc>
                <a:spcPct val="124600"/>
              </a:lnSpc>
            </a:pPr>
            <a:r>
              <a:rPr sz="19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 </a:t>
            </a:r>
            <a:r>
              <a:rPr sz="1950" spc="10" dirty="0">
                <a:latin typeface="Times New Roman"/>
                <a:cs typeface="Times New Roman"/>
              </a:rPr>
              <a:t>autreFonction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();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//prototype </a:t>
            </a:r>
            <a:r>
              <a:rPr sz="1950" spc="-47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nbre(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1950" spc="10" dirty="0">
                <a:latin typeface="Times New Roman"/>
                <a:cs typeface="Times New Roman"/>
              </a:rPr>
              <a:t>)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 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//variable  globale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main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950">
              <a:latin typeface="Times New Roman"/>
              <a:cs typeface="Times New Roman"/>
            </a:endParaRPr>
          </a:p>
          <a:p>
            <a:pPr marL="137160" marR="1110615" indent="-62865">
              <a:lnSpc>
                <a:spcPts val="2920"/>
              </a:lnSpc>
              <a:spcBef>
                <a:spcPts val="175"/>
              </a:spcBef>
              <a:tabLst>
                <a:tab pos="4358640" algn="l"/>
              </a:tabLst>
            </a:pP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1950" spc="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Dans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 main,</a:t>
            </a:r>
            <a:r>
              <a:rPr sz="1950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nbre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est	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nbre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-4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autreFonction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  <a:spcBef>
                <a:spcPts val="380"/>
              </a:spcBef>
            </a:pP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1950" spc="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Retournons</a:t>
            </a:r>
            <a:r>
              <a:rPr sz="19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dans</a:t>
            </a:r>
            <a:r>
              <a:rPr sz="19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9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main,</a:t>
            </a:r>
            <a:r>
              <a:rPr sz="1950" spc="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nbre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 est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nbre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  <a:spcBef>
                <a:spcPts val="565"/>
              </a:spcBef>
            </a:pPr>
            <a:r>
              <a:rPr sz="19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5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9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95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autreFonction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  <a:p>
            <a:pPr marL="12700" marR="340995">
              <a:lnSpc>
                <a:spcPct val="124100"/>
              </a:lnSpc>
              <a:spcBef>
                <a:spcPts val="10"/>
              </a:spcBef>
            </a:pP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cout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Dans la fonction autreFonction, 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nbre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est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spc="15" dirty="0">
                <a:latin typeface="Times New Roman"/>
                <a:cs typeface="Times New Roman"/>
              </a:rPr>
              <a:t>nbre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-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nbre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32CC"/>
                </a:solidFill>
                <a:latin typeface="Times New Roman"/>
                <a:cs typeface="Times New Roman"/>
              </a:rPr>
              <a:t>50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5092700" algn="l"/>
              </a:tabLst>
            </a:pP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cout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Mais,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maintenant</a:t>
            </a:r>
            <a:r>
              <a:rPr sz="1950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sa</a:t>
            </a:r>
            <a:r>
              <a:rPr sz="19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valeur</a:t>
            </a:r>
            <a:r>
              <a:rPr sz="19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19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changée	à</a:t>
            </a:r>
            <a:r>
              <a:rPr sz="195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nbre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216" y="456692"/>
            <a:ext cx="39243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105" dirty="0"/>
              <a:t>a</a:t>
            </a:r>
            <a:r>
              <a:rPr spc="-305" dirty="0"/>
              <a:t>b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320" dirty="0"/>
              <a:t>g</a:t>
            </a:r>
            <a:r>
              <a:rPr spc="-70" dirty="0"/>
              <a:t>l</a:t>
            </a:r>
            <a:r>
              <a:rPr spc="-305" dirty="0"/>
              <a:t>ob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7656" y="1640838"/>
            <a:ext cx="5789930" cy="2537460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Output:</a:t>
            </a:r>
            <a:endParaRPr sz="26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850"/>
              </a:spcBef>
            </a:pPr>
            <a:r>
              <a:rPr sz="2600" spc="-325" dirty="0">
                <a:latin typeface="Arial MT"/>
                <a:cs typeface="Arial MT"/>
              </a:rPr>
              <a:t>D</a:t>
            </a:r>
            <a:r>
              <a:rPr sz="2600" spc="-250" dirty="0">
                <a:latin typeface="Arial MT"/>
                <a:cs typeface="Arial MT"/>
              </a:rPr>
              <a:t>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310" dirty="0">
                <a:latin typeface="Arial MT"/>
                <a:cs typeface="Arial MT"/>
              </a:rPr>
              <a:t>ma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2</a:t>
            </a:r>
            <a:endParaRPr sz="2600">
              <a:latin typeface="Arial MT"/>
              <a:cs typeface="Arial MT"/>
            </a:endParaRPr>
          </a:p>
          <a:p>
            <a:pPr marL="123825" marR="5080">
              <a:lnSpc>
                <a:spcPct val="126299"/>
              </a:lnSpc>
              <a:spcBef>
                <a:spcPts val="5"/>
              </a:spcBef>
              <a:tabLst>
                <a:tab pos="5394960" algn="l"/>
              </a:tabLst>
            </a:pPr>
            <a:r>
              <a:rPr sz="2600" spc="-325" dirty="0">
                <a:latin typeface="Arial MT"/>
                <a:cs typeface="Arial MT"/>
              </a:rPr>
              <a:t>D</a:t>
            </a:r>
            <a:r>
              <a:rPr sz="2600" spc="-250" dirty="0">
                <a:latin typeface="Arial MT"/>
                <a:cs typeface="Arial MT"/>
              </a:rPr>
              <a:t>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au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75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</a:t>
            </a:r>
            <a:r>
              <a:rPr sz="2600" spc="-240" dirty="0">
                <a:latin typeface="Arial MT"/>
                <a:cs typeface="Arial MT"/>
              </a:rPr>
              <a:t>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90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on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Arial MT"/>
                <a:cs typeface="Arial MT"/>
              </a:rPr>
              <a:t>2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15" dirty="0">
                <a:latin typeface="Arial MT"/>
                <a:cs typeface="Arial MT"/>
              </a:rPr>
              <a:t>Mais,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220" dirty="0">
                <a:latin typeface="Arial MT"/>
                <a:cs typeface="Arial MT"/>
              </a:rPr>
              <a:t>maintenant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235" dirty="0">
                <a:latin typeface="Arial MT"/>
                <a:cs typeface="Arial MT"/>
              </a:rPr>
              <a:t>sa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204" dirty="0">
                <a:latin typeface="Arial MT"/>
                <a:cs typeface="Arial MT"/>
              </a:rPr>
              <a:t>valeur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200" dirty="0">
                <a:latin typeface="Arial MT"/>
                <a:cs typeface="Arial MT"/>
              </a:rPr>
              <a:t>est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245" dirty="0">
                <a:latin typeface="Arial MT"/>
                <a:cs typeface="Arial MT"/>
              </a:rPr>
              <a:t>changée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45" dirty="0">
                <a:latin typeface="Arial MT"/>
                <a:cs typeface="Arial MT"/>
              </a:rPr>
              <a:t>à</a:t>
            </a:r>
            <a:r>
              <a:rPr sz="2600" spc="-245" dirty="0">
                <a:latin typeface="Times New Roman"/>
                <a:cs typeface="Times New Roman"/>
              </a:rPr>
              <a:t>	</a:t>
            </a:r>
            <a:r>
              <a:rPr sz="2600" spc="-245" dirty="0">
                <a:latin typeface="Arial MT"/>
                <a:cs typeface="Arial MT"/>
              </a:rPr>
              <a:t>50 </a:t>
            </a:r>
            <a:r>
              <a:rPr sz="2600" spc="-240" dirty="0">
                <a:latin typeface="Arial MT"/>
                <a:cs typeface="Arial MT"/>
              </a:rPr>
              <a:t> </a:t>
            </a:r>
            <a:r>
              <a:rPr sz="2600" spc="-32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ou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0" dirty="0">
                <a:latin typeface="Arial MT"/>
                <a:cs typeface="Arial MT"/>
              </a:rPr>
              <a:t>non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dan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310" dirty="0">
                <a:latin typeface="Arial MT"/>
                <a:cs typeface="Arial MT"/>
              </a:rPr>
              <a:t>ma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5</a:t>
            </a:r>
            <a:r>
              <a:rPr sz="2600" spc="-245" dirty="0">
                <a:latin typeface="Arial MT"/>
                <a:cs typeface="Arial MT"/>
              </a:rPr>
              <a:t>0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626554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105" dirty="0"/>
              <a:t>a</a:t>
            </a:r>
            <a:r>
              <a:rPr spc="-305" dirty="0"/>
              <a:t>b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20" dirty="0"/>
              <a:t>g</a:t>
            </a:r>
            <a:r>
              <a:rPr spc="-70" dirty="0"/>
              <a:t>l</a:t>
            </a:r>
            <a:r>
              <a:rPr spc="-305" dirty="0"/>
              <a:t>ob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595" dirty="0"/>
              <a:t>c</a:t>
            </a:r>
            <a:r>
              <a:rPr spc="-305" dirty="0"/>
              <a:t>on</a:t>
            </a:r>
            <a:r>
              <a:rPr spc="-509" dirty="0"/>
              <a:t>s</a:t>
            </a:r>
            <a:r>
              <a:rPr spc="-285" dirty="0"/>
              <a:t>t</a:t>
            </a:r>
            <a:r>
              <a:rPr spc="-105" dirty="0"/>
              <a:t>a</a:t>
            </a:r>
            <a:r>
              <a:rPr spc="-305" dirty="0"/>
              <a:t>n</a:t>
            </a:r>
            <a:r>
              <a:rPr spc="-285" dirty="0"/>
              <a:t>t</a:t>
            </a:r>
            <a:r>
              <a:rPr spc="-305" dirty="0"/>
              <a:t>e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6444" y="1582762"/>
            <a:ext cx="8291830" cy="596582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2600">
              <a:latin typeface="Times New Roman"/>
              <a:cs typeface="Times New Roman"/>
            </a:endParaRPr>
          </a:p>
          <a:p>
            <a:pPr marL="82550" marR="5824855">
              <a:lnSpc>
                <a:spcPct val="109500"/>
              </a:lnSpc>
              <a:spcBef>
                <a:spcPts val="15"/>
              </a:spcBef>
            </a:pP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#include </a:t>
            </a:r>
            <a:r>
              <a:rPr sz="2200" spc="-5" dirty="0">
                <a:solidFill>
                  <a:srgbClr val="006500"/>
                </a:solidFill>
                <a:latin typeface="Times New Roman"/>
                <a:cs typeface="Times New Roman"/>
              </a:rPr>
              <a:t>&lt;iostream&gt; </a:t>
            </a:r>
            <a:r>
              <a:rPr sz="2200" spc="-53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2200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2200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std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240"/>
              </a:spcBef>
              <a:tabLst>
                <a:tab pos="2618105" algn="l"/>
              </a:tabLst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autreFonction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();	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//prototype</a:t>
            </a:r>
            <a:endParaRPr sz="22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254"/>
              </a:spcBef>
              <a:tabLst>
                <a:tab pos="2487295" algn="l"/>
              </a:tabLst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20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nbre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</a:t>
            </a:r>
            <a:r>
              <a:rPr sz="2200" dirty="0">
                <a:solidFill>
                  <a:srgbClr val="FF0065"/>
                </a:solidFill>
                <a:latin typeface="Times New Roman"/>
                <a:cs typeface="Times New Roman"/>
              </a:rPr>
              <a:t>2</a:t>
            </a:r>
            <a:r>
              <a:rPr sz="2200" dirty="0">
                <a:latin typeface="Times New Roman"/>
                <a:cs typeface="Times New Roman"/>
              </a:rPr>
              <a:t>)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//constante</a:t>
            </a:r>
            <a:r>
              <a:rPr sz="2200" spc="-7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globale</a:t>
            </a:r>
            <a:endParaRPr sz="22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240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main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200">
              <a:latin typeface="Times New Roman"/>
              <a:cs typeface="Times New Roman"/>
            </a:endParaRPr>
          </a:p>
          <a:p>
            <a:pPr marL="222885" marR="1229995">
              <a:lnSpc>
                <a:spcPct val="109100"/>
              </a:lnSpc>
              <a:spcBef>
                <a:spcPts val="10"/>
              </a:spcBef>
              <a:tabLst>
                <a:tab pos="2246630" algn="l"/>
                <a:tab pos="4972685" algn="l"/>
              </a:tabLst>
            </a:pP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spc="-2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Dans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la fonction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main,</a:t>
            </a:r>
            <a:r>
              <a:rPr sz="220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nbre est	"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nbre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spc="-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autreFonction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();	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2200">
              <a:latin typeface="Times New Roman"/>
              <a:cs typeface="Times New Roman"/>
            </a:endParaRPr>
          </a:p>
          <a:p>
            <a:pPr marL="222885">
              <a:lnSpc>
                <a:spcPct val="100000"/>
              </a:lnSpc>
              <a:spcBef>
                <a:spcPts val="254"/>
              </a:spcBef>
            </a:pP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spc="-2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Retournons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dans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main,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 nbre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22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nbre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222885">
              <a:lnSpc>
                <a:spcPct val="100000"/>
              </a:lnSpc>
              <a:spcBef>
                <a:spcPts val="240"/>
              </a:spcBef>
            </a:pPr>
            <a:r>
              <a:rPr sz="22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200" b="1" spc="-7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65"/>
                </a:solidFill>
                <a:latin typeface="Times New Roman"/>
                <a:cs typeface="Times New Roman"/>
              </a:rPr>
              <a:t>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25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240"/>
              </a:spcBef>
              <a:tabLst>
                <a:tab pos="2746375" algn="l"/>
              </a:tabLst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autreFonction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{	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22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2200">
              <a:latin typeface="Times New Roman"/>
              <a:cs typeface="Times New Roman"/>
            </a:endParaRPr>
          </a:p>
          <a:p>
            <a:pPr marL="222885" marR="306705">
              <a:lnSpc>
                <a:spcPct val="109100"/>
              </a:lnSpc>
              <a:spcBef>
                <a:spcPts val="10"/>
              </a:spcBef>
              <a:tabLst>
                <a:tab pos="859790" algn="l"/>
                <a:tab pos="1156970" algn="l"/>
              </a:tabLst>
            </a:pP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spc="-2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Dans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2200" spc="-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autreFonction,</a:t>
            </a:r>
            <a:r>
              <a:rPr sz="220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nbre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22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nbre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200" spc="-5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nbre	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	</a:t>
            </a:r>
            <a:r>
              <a:rPr sz="2200" dirty="0">
                <a:solidFill>
                  <a:srgbClr val="FF0065"/>
                </a:solidFill>
                <a:latin typeface="Times New Roman"/>
                <a:cs typeface="Times New Roman"/>
              </a:rPr>
              <a:t>50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//erreur</a:t>
            </a:r>
            <a:endParaRPr sz="2200">
              <a:latin typeface="Times New Roman"/>
              <a:cs typeface="Times New Roman"/>
            </a:endParaRPr>
          </a:p>
          <a:p>
            <a:pPr marL="222885">
              <a:lnSpc>
                <a:spcPct val="100000"/>
              </a:lnSpc>
              <a:spcBef>
                <a:spcPts val="254"/>
              </a:spcBef>
              <a:tabLst>
                <a:tab pos="5854700" algn="l"/>
              </a:tabLst>
            </a:pP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200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" Mais,</a:t>
            </a:r>
            <a:r>
              <a:rPr sz="220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maintenant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006FC0"/>
                </a:solidFill>
                <a:latin typeface="Times New Roman"/>
                <a:cs typeface="Times New Roman"/>
              </a:rPr>
              <a:t>sa</a:t>
            </a:r>
            <a:r>
              <a:rPr sz="220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valeur</a:t>
            </a:r>
            <a:r>
              <a:rPr sz="2200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22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FC0"/>
                </a:solidFill>
                <a:latin typeface="Times New Roman"/>
                <a:cs typeface="Times New Roman"/>
              </a:rPr>
              <a:t>changée	à "</a:t>
            </a:r>
            <a:r>
              <a:rPr sz="22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nbre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82550">
              <a:lnSpc>
                <a:spcPct val="100000"/>
              </a:lnSpc>
              <a:spcBef>
                <a:spcPts val="240"/>
              </a:spcBef>
            </a:pP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957707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315" dirty="0"/>
              <a:t>g</a:t>
            </a:r>
            <a:r>
              <a:rPr sz="3750" spc="-75" dirty="0"/>
              <a:t>l</a:t>
            </a:r>
            <a:r>
              <a:rPr sz="3750" spc="-305" dirty="0"/>
              <a:t>ob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305" dirty="0"/>
              <a:t>e</a:t>
            </a:r>
            <a:r>
              <a:rPr sz="3750" spc="-280" dirty="0"/>
              <a:t>t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305" dirty="0"/>
              <a:t>po</a:t>
            </a:r>
            <a:r>
              <a:rPr sz="3750" spc="-95" dirty="0"/>
              <a:t>r</a:t>
            </a:r>
            <a:r>
              <a:rPr sz="3750" spc="-285" dirty="0"/>
              <a:t>t</a:t>
            </a:r>
            <a:r>
              <a:rPr sz="3750" spc="-110" dirty="0"/>
              <a:t>a</a:t>
            </a:r>
            <a:r>
              <a:rPr sz="3750" spc="-305" dirty="0"/>
              <a:t>n</a:t>
            </a:r>
            <a:r>
              <a:rPr sz="3750" spc="-280" dirty="0"/>
              <a:t>t</a:t>
            </a:r>
            <a:r>
              <a:rPr sz="3750" b="0" spc="30" dirty="0">
                <a:latin typeface="Times New Roman"/>
                <a:cs typeface="Times New Roman"/>
              </a:rPr>
              <a:t> </a:t>
            </a:r>
            <a:r>
              <a:rPr sz="3750" spc="-375" dirty="0"/>
              <a:t>m</a:t>
            </a:r>
            <a:r>
              <a:rPr sz="3750" spc="-305" dirty="0"/>
              <a:t>ê</a:t>
            </a:r>
            <a:r>
              <a:rPr sz="3750" spc="-375" dirty="0"/>
              <a:t>m</a:t>
            </a:r>
            <a:r>
              <a:rPr sz="3750" spc="-295" dirty="0"/>
              <a:t>e</a:t>
            </a:r>
            <a:r>
              <a:rPr sz="3750" b="0" spc="40" dirty="0">
                <a:latin typeface="Times New Roman"/>
                <a:cs typeface="Times New Roman"/>
              </a:rPr>
              <a:t> </a:t>
            </a:r>
            <a:r>
              <a:rPr sz="3750" spc="-305" dirty="0"/>
              <a:t>no</a:t>
            </a:r>
            <a:r>
              <a:rPr sz="3750" spc="-370" dirty="0"/>
              <a:t>m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6760" y="1742947"/>
            <a:ext cx="9452610" cy="3041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4490" marR="5080" indent="-352425">
              <a:lnSpc>
                <a:spcPct val="101499"/>
              </a:lnSpc>
              <a:spcBef>
                <a:spcPts val="9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-65" dirty="0">
                <a:latin typeface="Times New Roman"/>
                <a:cs typeface="Times New Roman"/>
              </a:rPr>
              <a:t>Vous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pouvez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avoir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91FE"/>
                </a:solidFill>
                <a:latin typeface="Times New Roman"/>
                <a:cs typeface="Times New Roman"/>
              </a:rPr>
              <a:t>variables</a:t>
            </a:r>
            <a:r>
              <a:rPr sz="2600" spc="20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91FE"/>
                </a:solidFill>
                <a:latin typeface="Times New Roman"/>
                <a:cs typeface="Times New Roman"/>
              </a:rPr>
              <a:t>locales</a:t>
            </a:r>
            <a:r>
              <a:rPr sz="2600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avec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même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nom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10" dirty="0">
                <a:latin typeface="Times New Roman"/>
                <a:cs typeface="Times New Roman"/>
              </a:rPr>
              <a:t> 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même</a:t>
            </a:r>
            <a:r>
              <a:rPr sz="2600" spc="10" dirty="0">
                <a:latin typeface="Times New Roman"/>
                <a:cs typeface="Times New Roman"/>
              </a:rPr>
              <a:t> fonction.</a:t>
            </a:r>
            <a:endParaRPr sz="2600">
              <a:latin typeface="Times New Roman"/>
              <a:cs typeface="Times New Roman"/>
            </a:endParaRPr>
          </a:p>
          <a:p>
            <a:pPr marL="364490" marR="76835" indent="-352425">
              <a:lnSpc>
                <a:spcPct val="101499"/>
              </a:lnSpc>
              <a:spcBef>
                <a:spcPts val="78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25" dirty="0">
                <a:latin typeface="Times New Roman"/>
                <a:cs typeface="Times New Roman"/>
              </a:rPr>
              <a:t>Même </a:t>
            </a:r>
            <a:r>
              <a:rPr sz="2600" spc="15" dirty="0">
                <a:latin typeface="Times New Roman"/>
                <a:cs typeface="Times New Roman"/>
              </a:rPr>
              <a:t>remarque pour une </a:t>
            </a:r>
            <a:r>
              <a:rPr sz="2600" spc="10" dirty="0">
                <a:solidFill>
                  <a:srgbClr val="0091FE"/>
                </a:solidFill>
                <a:latin typeface="Times New Roman"/>
                <a:cs typeface="Times New Roman"/>
              </a:rPr>
              <a:t>variable </a:t>
            </a:r>
            <a:r>
              <a:rPr sz="2600" spc="15" dirty="0">
                <a:solidFill>
                  <a:srgbClr val="0091FE"/>
                </a:solidFill>
                <a:latin typeface="Times New Roman"/>
                <a:cs typeface="Times New Roman"/>
              </a:rPr>
              <a:t>paramètre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solidFill>
                  <a:srgbClr val="0091FE"/>
                </a:solidFill>
                <a:latin typeface="Times New Roman"/>
                <a:cs typeface="Times New Roman"/>
              </a:rPr>
              <a:t>variable locale </a:t>
            </a:r>
            <a:r>
              <a:rPr sz="2600" spc="-635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10" dirty="0">
                <a:latin typeface="Times New Roman"/>
                <a:cs typeface="Times New Roman"/>
              </a:rPr>
              <a:t> 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même</a:t>
            </a:r>
            <a:r>
              <a:rPr sz="2600" spc="10" dirty="0">
                <a:latin typeface="Times New Roman"/>
                <a:cs typeface="Times New Roman"/>
              </a:rPr>
              <a:t> fonction.</a:t>
            </a:r>
            <a:endParaRPr sz="2600">
              <a:latin typeface="Times New Roman"/>
              <a:cs typeface="Times New Roman"/>
            </a:endParaRPr>
          </a:p>
          <a:p>
            <a:pPr marL="364490" marR="139700" indent="-352425">
              <a:lnSpc>
                <a:spcPct val="101699"/>
              </a:lnSpc>
              <a:spcBef>
                <a:spcPts val="77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15" dirty="0">
                <a:latin typeface="Times New Roman"/>
                <a:cs typeface="Times New Roman"/>
              </a:rPr>
              <a:t>Cependant, vous pouvez avoir une </a:t>
            </a:r>
            <a:r>
              <a:rPr sz="2600" spc="10" dirty="0">
                <a:solidFill>
                  <a:srgbClr val="0091FE"/>
                </a:solidFill>
                <a:latin typeface="Times New Roman"/>
                <a:cs typeface="Times New Roman"/>
              </a:rPr>
              <a:t>variable locale </a:t>
            </a:r>
            <a:r>
              <a:rPr sz="2600" spc="20" dirty="0">
                <a:latin typeface="Times New Roman"/>
                <a:cs typeface="Times New Roman"/>
              </a:rPr>
              <a:t>ou un </a:t>
            </a:r>
            <a:r>
              <a:rPr sz="2600" spc="15" dirty="0">
                <a:solidFill>
                  <a:srgbClr val="0091FE"/>
                </a:solidFill>
                <a:latin typeface="Times New Roman"/>
                <a:cs typeface="Times New Roman"/>
              </a:rPr>
              <a:t>paramètre </a:t>
            </a:r>
            <a:r>
              <a:rPr sz="2600" spc="-635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avec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20" dirty="0">
                <a:latin typeface="Times New Roman"/>
                <a:cs typeface="Times New Roman"/>
              </a:rPr>
              <a:t>même nom comme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solidFill>
                  <a:srgbClr val="0091FE"/>
                </a:solidFill>
                <a:latin typeface="Times New Roman"/>
                <a:cs typeface="Times New Roman"/>
              </a:rPr>
              <a:t>variable </a:t>
            </a:r>
            <a:r>
              <a:rPr sz="2600" spc="15" dirty="0">
                <a:solidFill>
                  <a:srgbClr val="0091FE"/>
                </a:solidFill>
                <a:latin typeface="Times New Roman"/>
                <a:cs typeface="Times New Roman"/>
              </a:rPr>
              <a:t>globale</a:t>
            </a:r>
            <a:r>
              <a:rPr sz="2600" spc="15" dirty="0">
                <a:latin typeface="Times New Roman"/>
                <a:cs typeface="Times New Roman"/>
              </a:rPr>
              <a:t>, </a:t>
            </a:r>
            <a:r>
              <a:rPr sz="2600" spc="20" dirty="0">
                <a:latin typeface="Times New Roman"/>
                <a:cs typeface="Times New Roman"/>
              </a:rPr>
              <a:t>ou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5" dirty="0">
                <a:solidFill>
                  <a:srgbClr val="0091FE"/>
                </a:solidFill>
                <a:latin typeface="Times New Roman"/>
                <a:cs typeface="Times New Roman"/>
              </a:rPr>
              <a:t>constante </a:t>
            </a:r>
            <a:r>
              <a:rPr sz="2600" spc="20" dirty="0">
                <a:solidFill>
                  <a:srgbClr val="0091FE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91FE"/>
                </a:solidFill>
                <a:latin typeface="Times New Roman"/>
                <a:cs typeface="Times New Roman"/>
              </a:rPr>
              <a:t>globale</a:t>
            </a:r>
            <a:r>
              <a:rPr sz="2600" spc="15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957707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315" dirty="0"/>
              <a:t>g</a:t>
            </a:r>
            <a:r>
              <a:rPr sz="3750" spc="-75" dirty="0"/>
              <a:t>l</a:t>
            </a:r>
            <a:r>
              <a:rPr sz="3750" spc="-305" dirty="0"/>
              <a:t>ob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305" dirty="0"/>
              <a:t>e</a:t>
            </a:r>
            <a:r>
              <a:rPr sz="3750" spc="-280" dirty="0"/>
              <a:t>t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305" dirty="0"/>
              <a:t>po</a:t>
            </a:r>
            <a:r>
              <a:rPr sz="3750" spc="-95" dirty="0"/>
              <a:t>r</a:t>
            </a:r>
            <a:r>
              <a:rPr sz="3750" spc="-285" dirty="0"/>
              <a:t>t</a:t>
            </a:r>
            <a:r>
              <a:rPr sz="3750" spc="-110" dirty="0"/>
              <a:t>a</a:t>
            </a:r>
            <a:r>
              <a:rPr sz="3750" spc="-305" dirty="0"/>
              <a:t>n</a:t>
            </a:r>
            <a:r>
              <a:rPr sz="3750" spc="-280" dirty="0"/>
              <a:t>t</a:t>
            </a:r>
            <a:r>
              <a:rPr sz="3750" b="0" spc="30" dirty="0">
                <a:latin typeface="Times New Roman"/>
                <a:cs typeface="Times New Roman"/>
              </a:rPr>
              <a:t> </a:t>
            </a:r>
            <a:r>
              <a:rPr sz="3750" spc="-375" dirty="0"/>
              <a:t>m</a:t>
            </a:r>
            <a:r>
              <a:rPr sz="3750" spc="-305" dirty="0"/>
              <a:t>ê</a:t>
            </a:r>
            <a:r>
              <a:rPr sz="3750" spc="-375" dirty="0"/>
              <a:t>m</a:t>
            </a:r>
            <a:r>
              <a:rPr sz="3750" spc="-295" dirty="0"/>
              <a:t>e</a:t>
            </a:r>
            <a:r>
              <a:rPr sz="3750" b="0" spc="40" dirty="0">
                <a:latin typeface="Times New Roman"/>
                <a:cs typeface="Times New Roman"/>
              </a:rPr>
              <a:t> </a:t>
            </a:r>
            <a:r>
              <a:rPr sz="3750" spc="-305" dirty="0"/>
              <a:t>no</a:t>
            </a:r>
            <a:r>
              <a:rPr sz="3750" spc="-370" dirty="0"/>
              <a:t>m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5568" y="1516926"/>
            <a:ext cx="6940550" cy="571690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endParaRPr sz="2600">
              <a:latin typeface="Times New Roman"/>
              <a:cs typeface="Times New Roman"/>
            </a:endParaRPr>
          </a:p>
          <a:p>
            <a:pPr marL="139065" marR="4773295">
              <a:lnSpc>
                <a:spcPct val="115700"/>
              </a:lnSpc>
              <a:spcBef>
                <a:spcPts val="45"/>
              </a:spcBef>
            </a:pP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#include &lt;iostream&gt; </a:t>
            </a:r>
            <a:r>
              <a:rPr sz="1850" spc="-45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using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namespace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std;</a:t>
            </a:r>
            <a:endParaRPr sz="1850">
              <a:latin typeface="Times New Roman"/>
              <a:cs typeface="Times New Roman"/>
            </a:endParaRPr>
          </a:p>
          <a:p>
            <a:pPr marL="139065" marR="3255645">
              <a:lnSpc>
                <a:spcPct val="115700"/>
              </a:lnSpc>
            </a:pP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8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autreFonction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();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//prototype 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const int </a:t>
            </a:r>
            <a:r>
              <a:rPr sz="1850" spc="5" dirty="0">
                <a:latin typeface="Times New Roman"/>
                <a:cs typeface="Times New Roman"/>
              </a:rPr>
              <a:t>nbre(</a:t>
            </a:r>
            <a:r>
              <a:rPr sz="1850" spc="5" dirty="0">
                <a:solidFill>
                  <a:srgbClr val="FF0065"/>
                </a:solidFill>
                <a:latin typeface="Times New Roman"/>
                <a:cs typeface="Times New Roman"/>
              </a:rPr>
              <a:t>2</a:t>
            </a:r>
            <a:r>
              <a:rPr sz="1850" spc="5" dirty="0">
                <a:latin typeface="Times New Roman"/>
                <a:cs typeface="Times New Roman"/>
              </a:rPr>
              <a:t>)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//constante globale </a:t>
            </a:r>
            <a:r>
              <a:rPr sz="1850" spc="-4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8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main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85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  <a:spcBef>
                <a:spcPts val="355"/>
              </a:spcBef>
              <a:tabLst>
                <a:tab pos="1835150" algn="l"/>
              </a:tabLst>
            </a:pP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85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nbre(</a:t>
            </a:r>
            <a:r>
              <a:rPr sz="1850" spc="5" dirty="0">
                <a:solidFill>
                  <a:srgbClr val="FF0065"/>
                </a:solidFill>
                <a:latin typeface="Times New Roman"/>
                <a:cs typeface="Times New Roman"/>
              </a:rPr>
              <a:t>5</a:t>
            </a:r>
            <a:r>
              <a:rPr sz="1850" spc="5" dirty="0">
                <a:latin typeface="Times New Roman"/>
                <a:cs typeface="Times New Roman"/>
              </a:rPr>
              <a:t>)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//variable</a:t>
            </a:r>
            <a:r>
              <a:rPr sz="185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locale</a:t>
            </a:r>
            <a:endParaRPr sz="1850">
              <a:latin typeface="Times New Roman"/>
              <a:cs typeface="Times New Roman"/>
            </a:endParaRPr>
          </a:p>
          <a:p>
            <a:pPr marL="257810" marR="920115">
              <a:lnSpc>
                <a:spcPct val="115700"/>
              </a:lnSpc>
            </a:pP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850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Dans</a:t>
            </a:r>
            <a:r>
              <a:rPr sz="18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main,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nbre est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850" spc="5" dirty="0">
                <a:latin typeface="Times New Roman"/>
                <a:cs typeface="Times New Roman"/>
              </a:rPr>
              <a:t>nbre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850" spc="-4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autreFonction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 de</a:t>
            </a:r>
            <a:r>
              <a:rPr sz="18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85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  <a:spcBef>
                <a:spcPts val="350"/>
              </a:spcBef>
            </a:pP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850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Retour dans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la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fonction</a:t>
            </a:r>
            <a:r>
              <a:rPr sz="18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main,</a:t>
            </a:r>
            <a:r>
              <a:rPr sz="18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nbre</a:t>
            </a:r>
            <a:r>
              <a:rPr sz="1850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  <a:spcBef>
                <a:spcPts val="350"/>
              </a:spcBef>
            </a:pPr>
            <a:r>
              <a:rPr sz="1850" b="1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85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FF0065"/>
                </a:solidFill>
                <a:latin typeface="Times New Roman"/>
                <a:cs typeface="Times New Roman"/>
              </a:rPr>
              <a:t>0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  <a:spcBef>
                <a:spcPts val="345"/>
              </a:spcBef>
            </a:pP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  <a:spcBef>
                <a:spcPts val="350"/>
              </a:spcBef>
            </a:pP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8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autreFonction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(){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1850" spc="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8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85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  <a:spcBef>
                <a:spcPts val="345"/>
              </a:spcBef>
            </a:pP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850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Dans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la fonction autreFonction,</a:t>
            </a:r>
            <a:r>
              <a:rPr sz="185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nbre</a:t>
            </a:r>
            <a:r>
              <a:rPr sz="185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  <a:spcBef>
                <a:spcPts val="350"/>
              </a:spcBef>
            </a:pPr>
            <a:r>
              <a:rPr sz="18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85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nbre(</a:t>
            </a:r>
            <a:r>
              <a:rPr sz="1850" spc="5" dirty="0">
                <a:solidFill>
                  <a:srgbClr val="FF0065"/>
                </a:solidFill>
                <a:latin typeface="Times New Roman"/>
                <a:cs typeface="Times New Roman"/>
              </a:rPr>
              <a:t>50</a:t>
            </a:r>
            <a:r>
              <a:rPr sz="1850" spc="5" dirty="0">
                <a:latin typeface="Times New Roman"/>
                <a:cs typeface="Times New Roman"/>
              </a:rPr>
              <a:t>)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257810">
              <a:lnSpc>
                <a:spcPct val="100000"/>
              </a:lnSpc>
              <a:spcBef>
                <a:spcPts val="350"/>
              </a:spcBef>
            </a:pP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850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Mais,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maintenant</a:t>
            </a:r>
            <a:r>
              <a:rPr sz="185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sa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valeur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est changée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à "</a:t>
            </a:r>
            <a:r>
              <a:rPr sz="18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139065">
              <a:lnSpc>
                <a:spcPct val="100000"/>
              </a:lnSpc>
              <a:spcBef>
                <a:spcPts val="345"/>
              </a:spcBef>
            </a:pPr>
            <a:r>
              <a:rPr sz="1850" spc="10" dirty="0"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957707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315" dirty="0"/>
              <a:t>g</a:t>
            </a:r>
            <a:r>
              <a:rPr sz="3750" spc="-75" dirty="0"/>
              <a:t>l</a:t>
            </a:r>
            <a:r>
              <a:rPr sz="3750" spc="-305" dirty="0"/>
              <a:t>ob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305" dirty="0"/>
              <a:t>e</a:t>
            </a:r>
            <a:r>
              <a:rPr sz="3750" spc="-280" dirty="0"/>
              <a:t>t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305" dirty="0"/>
              <a:t>po</a:t>
            </a:r>
            <a:r>
              <a:rPr sz="3750" spc="-95" dirty="0"/>
              <a:t>r</a:t>
            </a:r>
            <a:r>
              <a:rPr sz="3750" spc="-285" dirty="0"/>
              <a:t>t</a:t>
            </a:r>
            <a:r>
              <a:rPr sz="3750" spc="-110" dirty="0"/>
              <a:t>a</a:t>
            </a:r>
            <a:r>
              <a:rPr sz="3750" spc="-305" dirty="0"/>
              <a:t>n</a:t>
            </a:r>
            <a:r>
              <a:rPr sz="3750" spc="-280" dirty="0"/>
              <a:t>t</a:t>
            </a:r>
            <a:r>
              <a:rPr sz="3750" b="0" spc="30" dirty="0">
                <a:latin typeface="Times New Roman"/>
                <a:cs typeface="Times New Roman"/>
              </a:rPr>
              <a:t> </a:t>
            </a:r>
            <a:r>
              <a:rPr sz="3750" spc="-375" dirty="0"/>
              <a:t>m</a:t>
            </a:r>
            <a:r>
              <a:rPr sz="3750" spc="-305" dirty="0"/>
              <a:t>ê</a:t>
            </a:r>
            <a:r>
              <a:rPr sz="3750" spc="-375" dirty="0"/>
              <a:t>m</a:t>
            </a:r>
            <a:r>
              <a:rPr sz="3750" spc="-295" dirty="0"/>
              <a:t>e</a:t>
            </a:r>
            <a:r>
              <a:rPr sz="3750" b="0" spc="40" dirty="0">
                <a:latin typeface="Times New Roman"/>
                <a:cs typeface="Times New Roman"/>
              </a:rPr>
              <a:t> </a:t>
            </a:r>
            <a:r>
              <a:rPr sz="3750" spc="-305" dirty="0"/>
              <a:t>no</a:t>
            </a:r>
            <a:r>
              <a:rPr sz="3750" spc="-370" dirty="0"/>
              <a:t>m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1184" y="1643887"/>
            <a:ext cx="5526405" cy="253428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920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Sortie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programme</a:t>
            </a:r>
            <a:endParaRPr sz="26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825"/>
              </a:spcBef>
            </a:pPr>
            <a:r>
              <a:rPr sz="2600" spc="-325" dirty="0">
                <a:latin typeface="Arial MT"/>
                <a:cs typeface="Arial MT"/>
              </a:rPr>
              <a:t>D</a:t>
            </a:r>
            <a:r>
              <a:rPr sz="2600" spc="-250" dirty="0">
                <a:latin typeface="Arial MT"/>
                <a:cs typeface="Arial MT"/>
              </a:rPr>
              <a:t>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310" dirty="0">
                <a:latin typeface="Arial MT"/>
                <a:cs typeface="Arial MT"/>
              </a:rPr>
              <a:t>ma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5</a:t>
            </a:r>
            <a:endParaRPr sz="2600">
              <a:latin typeface="Arial MT"/>
              <a:cs typeface="Arial MT"/>
            </a:endParaRPr>
          </a:p>
          <a:p>
            <a:pPr marL="12700" marR="5080">
              <a:lnSpc>
                <a:spcPct val="126299"/>
              </a:lnSpc>
              <a:spcBef>
                <a:spcPts val="35"/>
              </a:spcBef>
              <a:tabLst>
                <a:tab pos="4838700" algn="l"/>
              </a:tabLst>
            </a:pPr>
            <a:r>
              <a:rPr sz="2600" spc="-325" dirty="0">
                <a:latin typeface="Arial MT"/>
                <a:cs typeface="Arial MT"/>
              </a:rPr>
              <a:t>D</a:t>
            </a:r>
            <a:r>
              <a:rPr sz="2600" spc="-250" dirty="0">
                <a:latin typeface="Arial MT"/>
                <a:cs typeface="Arial MT"/>
              </a:rPr>
              <a:t>an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au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75" dirty="0">
                <a:latin typeface="Arial MT"/>
                <a:cs typeface="Arial MT"/>
              </a:rPr>
              <a:t>F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21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90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85" dirty="0">
                <a:latin typeface="Arial MT"/>
                <a:cs typeface="Arial MT"/>
              </a:rPr>
              <a:t>2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310" dirty="0">
                <a:latin typeface="Arial MT"/>
                <a:cs typeface="Arial MT"/>
              </a:rPr>
              <a:t>Ma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310" dirty="0">
                <a:latin typeface="Arial MT"/>
                <a:cs typeface="Arial MT"/>
              </a:rPr>
              <a:t>ma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40" dirty="0">
                <a:latin typeface="Arial MT"/>
                <a:cs typeface="Arial MT"/>
              </a:rPr>
              <a:t>n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240" dirty="0">
                <a:latin typeface="Arial MT"/>
                <a:cs typeface="Arial MT"/>
              </a:rPr>
              <a:t>n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50" dirty="0">
                <a:latin typeface="Arial MT"/>
                <a:cs typeface="Arial MT"/>
              </a:rPr>
              <a:t>eu</a:t>
            </a:r>
            <a:r>
              <a:rPr sz="2600" spc="-150" dirty="0">
                <a:latin typeface="Arial MT"/>
                <a:cs typeface="Arial MT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han</a:t>
            </a:r>
            <a:r>
              <a:rPr sz="2600" spc="-240" dirty="0">
                <a:latin typeface="Arial MT"/>
                <a:cs typeface="Arial MT"/>
              </a:rPr>
              <a:t>gé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à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5</a:t>
            </a:r>
            <a:r>
              <a:rPr sz="2600" spc="-185" dirty="0">
                <a:latin typeface="Arial MT"/>
                <a:cs typeface="Arial MT"/>
              </a:rPr>
              <a:t>0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Retour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240" dirty="0">
                <a:latin typeface="Arial MT"/>
                <a:cs typeface="Arial MT"/>
              </a:rPr>
              <a:t>dans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175" dirty="0">
                <a:latin typeface="Arial MT"/>
                <a:cs typeface="Arial MT"/>
              </a:rPr>
              <a:t>la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-195" dirty="0">
                <a:latin typeface="Arial MT"/>
                <a:cs typeface="Arial MT"/>
              </a:rPr>
              <a:t>fonction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220" dirty="0">
                <a:latin typeface="Arial MT"/>
                <a:cs typeface="Arial MT"/>
              </a:rPr>
              <a:t>main,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225" dirty="0">
                <a:latin typeface="Arial MT"/>
                <a:cs typeface="Arial MT"/>
              </a:rPr>
              <a:t>nbre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200" dirty="0">
                <a:latin typeface="Arial MT"/>
                <a:cs typeface="Arial MT"/>
              </a:rPr>
              <a:t>est</a:t>
            </a:r>
            <a:r>
              <a:rPr sz="2600" spc="-200" dirty="0">
                <a:latin typeface="Times New Roman"/>
                <a:cs typeface="Times New Roman"/>
              </a:rPr>
              <a:t>	</a:t>
            </a:r>
            <a:r>
              <a:rPr sz="2600" spc="-245" dirty="0">
                <a:latin typeface="Arial MT"/>
                <a:cs typeface="Arial MT"/>
              </a:rPr>
              <a:t>5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136" y="1662175"/>
            <a:ext cx="9658350" cy="21380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64490" marR="499745" indent="-352425" algn="just">
              <a:lnSpc>
                <a:spcPct val="101699"/>
              </a:lnSpc>
              <a:spcBef>
                <a:spcPts val="8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5125" algn="l"/>
              </a:tabLst>
            </a:pPr>
            <a:r>
              <a:rPr sz="2600" spc="10" dirty="0">
                <a:latin typeface="Times New Roman"/>
                <a:cs typeface="Times New Roman"/>
              </a:rPr>
              <a:t>Si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fonction </a:t>
            </a:r>
            <a:r>
              <a:rPr sz="2600" spc="15" dirty="0">
                <a:latin typeface="Times New Roman"/>
                <a:cs typeface="Times New Roman"/>
              </a:rPr>
              <a:t>est appelée </a:t>
            </a:r>
            <a:r>
              <a:rPr sz="2600" spc="10" dirty="0">
                <a:latin typeface="Times New Roman"/>
                <a:cs typeface="Times New Roman"/>
              </a:rPr>
              <a:t>plusieurs fois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5" dirty="0">
                <a:latin typeface="Times New Roman"/>
                <a:cs typeface="Times New Roman"/>
              </a:rPr>
              <a:t>programme, </a:t>
            </a:r>
            <a:r>
              <a:rPr sz="2600" spc="10" dirty="0">
                <a:latin typeface="Times New Roman"/>
                <a:cs typeface="Times New Roman"/>
              </a:rPr>
              <a:t>les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valeurs stockées dans </a:t>
            </a:r>
            <a:r>
              <a:rPr sz="2600" spc="10" dirty="0">
                <a:latin typeface="Times New Roman"/>
                <a:cs typeface="Times New Roman"/>
              </a:rPr>
              <a:t>les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variables locales </a:t>
            </a:r>
            <a:r>
              <a:rPr sz="2600" spc="15" dirty="0">
                <a:latin typeface="Times New Roman"/>
                <a:cs typeface="Times New Roman"/>
              </a:rPr>
              <a:t>ne sont pas conservées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entre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appels de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364490" marR="5080" indent="-352425" algn="just">
              <a:lnSpc>
                <a:spcPct val="101899"/>
              </a:lnSpc>
              <a:spcBef>
                <a:spcPts val="75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5125" algn="l"/>
              </a:tabLst>
            </a:pPr>
            <a:r>
              <a:rPr sz="2600" spc="10" dirty="0">
                <a:latin typeface="Times New Roman"/>
                <a:cs typeface="Times New Roman"/>
              </a:rPr>
              <a:t>C'est </a:t>
            </a:r>
            <a:r>
              <a:rPr sz="2600" spc="15" dirty="0">
                <a:latin typeface="Times New Roman"/>
                <a:cs typeface="Times New Roman"/>
              </a:rPr>
              <a:t>parce que </a:t>
            </a:r>
            <a:r>
              <a:rPr sz="2600" spc="10" dirty="0">
                <a:latin typeface="Times New Roman"/>
                <a:cs typeface="Times New Roman"/>
              </a:rPr>
              <a:t>les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variables locales </a:t>
            </a:r>
            <a:r>
              <a:rPr sz="2600" spc="15" dirty="0">
                <a:latin typeface="Times New Roman"/>
                <a:cs typeface="Times New Roman"/>
              </a:rPr>
              <a:t>sont </a:t>
            </a:r>
            <a:r>
              <a:rPr sz="2600" spc="10" dirty="0">
                <a:latin typeface="Times New Roman"/>
                <a:cs typeface="Times New Roman"/>
              </a:rPr>
              <a:t>détruites </a:t>
            </a:r>
            <a:r>
              <a:rPr sz="2600" spc="15" dirty="0">
                <a:latin typeface="Times New Roman"/>
                <a:cs typeface="Times New Roman"/>
              </a:rPr>
              <a:t>lorsque </a:t>
            </a:r>
            <a:r>
              <a:rPr sz="2600" spc="10" dirty="0">
                <a:latin typeface="Times New Roman"/>
                <a:cs typeface="Times New Roman"/>
              </a:rPr>
              <a:t>la fonction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</a:t>
            </a:r>
            <a:r>
              <a:rPr sz="2600" spc="10" dirty="0">
                <a:latin typeface="Times New Roman"/>
                <a:cs typeface="Times New Roman"/>
              </a:rPr>
              <a:t> termine,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puis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recréés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lorsque </a:t>
            </a:r>
            <a:r>
              <a:rPr sz="2600" spc="10" dirty="0">
                <a:latin typeface="Times New Roman"/>
                <a:cs typeface="Times New Roman"/>
              </a:rPr>
              <a:t>la fonction</a:t>
            </a:r>
            <a:r>
              <a:rPr sz="2600" spc="15" dirty="0">
                <a:latin typeface="Times New Roman"/>
                <a:cs typeface="Times New Roman"/>
              </a:rPr>
              <a:t> recommence.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8388" y="1377949"/>
            <a:ext cx="8714740" cy="6089015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85</a:t>
            </a:r>
            <a:endParaRPr sz="1300">
              <a:latin typeface="Arial"/>
              <a:cs typeface="Arial"/>
            </a:endParaRPr>
          </a:p>
          <a:p>
            <a:pPr marL="362585">
              <a:lnSpc>
                <a:spcPct val="100000"/>
              </a:lnSpc>
              <a:spcBef>
                <a:spcPts val="27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6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2600">
              <a:latin typeface="Times New Roman"/>
              <a:cs typeface="Times New Roman"/>
            </a:endParaRPr>
          </a:p>
          <a:p>
            <a:pPr marL="300355" marR="5080">
              <a:lnSpc>
                <a:spcPct val="122900"/>
              </a:lnSpc>
              <a:spcBef>
                <a:spcPts val="35"/>
              </a:spcBef>
            </a:pPr>
            <a:r>
              <a:rPr sz="2050" spc="15" dirty="0">
                <a:latin typeface="Times New Roman"/>
                <a:cs typeface="Times New Roman"/>
              </a:rPr>
              <a:t>Ce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programme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montre</a:t>
            </a:r>
            <a:r>
              <a:rPr sz="2050" spc="65" dirty="0">
                <a:latin typeface="Times New Roman"/>
                <a:cs typeface="Times New Roman"/>
              </a:rPr>
              <a:t> </a:t>
            </a:r>
            <a:r>
              <a:rPr sz="2050" spc="15" dirty="0">
                <a:latin typeface="Times New Roman"/>
                <a:cs typeface="Times New Roman"/>
              </a:rPr>
              <a:t>que </a:t>
            </a:r>
            <a:r>
              <a:rPr sz="2050" spc="10" dirty="0">
                <a:latin typeface="Times New Roman"/>
                <a:cs typeface="Times New Roman"/>
              </a:rPr>
              <a:t>les variables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locales </a:t>
            </a:r>
            <a:r>
              <a:rPr sz="2050" spc="15" dirty="0">
                <a:latin typeface="Times New Roman"/>
                <a:cs typeface="Times New Roman"/>
              </a:rPr>
              <a:t>ne conservent</a:t>
            </a:r>
            <a:r>
              <a:rPr sz="2050" spc="25" dirty="0">
                <a:latin typeface="Times New Roman"/>
                <a:cs typeface="Times New Roman"/>
              </a:rPr>
              <a:t> </a:t>
            </a:r>
            <a:r>
              <a:rPr sz="2050" spc="15" dirty="0">
                <a:latin typeface="Times New Roman"/>
                <a:cs typeface="Times New Roman"/>
              </a:rPr>
              <a:t>pas</a:t>
            </a:r>
            <a:r>
              <a:rPr sz="2050" spc="10" dirty="0">
                <a:latin typeface="Times New Roman"/>
                <a:cs typeface="Times New Roman"/>
              </a:rPr>
              <a:t> leurs</a:t>
            </a:r>
            <a:r>
              <a:rPr sz="2050" spc="20" dirty="0"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valeurs </a:t>
            </a:r>
            <a:r>
              <a:rPr sz="2050" spc="-495" dirty="0"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entre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les</a:t>
            </a:r>
            <a:r>
              <a:rPr sz="2050" spc="5" dirty="0"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appels</a:t>
            </a:r>
            <a:r>
              <a:rPr sz="2050" spc="15" dirty="0">
                <a:latin typeface="Times New Roman"/>
                <a:cs typeface="Times New Roman"/>
              </a:rPr>
              <a:t> de</a:t>
            </a:r>
            <a:r>
              <a:rPr sz="2050" spc="10" dirty="0">
                <a:latin typeface="Times New Roman"/>
                <a:cs typeface="Times New Roman"/>
              </a:rPr>
              <a:t> fonction.</a:t>
            </a:r>
            <a:endParaRPr sz="2050">
              <a:latin typeface="Times New Roman"/>
              <a:cs typeface="Times New Roman"/>
            </a:endParaRPr>
          </a:p>
          <a:p>
            <a:pPr marL="376555" marR="6228080" indent="-10795">
              <a:lnSpc>
                <a:spcPct val="128099"/>
              </a:lnSpc>
              <a:spcBef>
                <a:spcPts val="150"/>
              </a:spcBef>
            </a:pPr>
            <a:r>
              <a:rPr sz="1850" b="1" i="1" spc="5" dirty="0">
                <a:solidFill>
                  <a:srgbClr val="006500"/>
                </a:solidFill>
                <a:latin typeface="Times New Roman"/>
                <a:cs typeface="Times New Roman"/>
              </a:rPr>
              <a:t>#include &lt;iostream&gt; </a:t>
            </a:r>
            <a:r>
              <a:rPr sz="1850" b="1" i="1" spc="1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85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1850" b="1" i="1" spc="-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1850" b="1" i="1" spc="-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b="1" i="1" spc="5" dirty="0">
                <a:solidFill>
                  <a:srgbClr val="006500"/>
                </a:solidFill>
                <a:latin typeface="Times New Roman"/>
                <a:cs typeface="Times New Roman"/>
              </a:rPr>
              <a:t>std</a:t>
            </a:r>
            <a:r>
              <a:rPr sz="185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376555">
              <a:lnSpc>
                <a:spcPct val="100000"/>
              </a:lnSpc>
              <a:spcBef>
                <a:spcPts val="575"/>
              </a:spcBef>
            </a:pPr>
            <a:r>
              <a:rPr sz="185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85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montrerVariableLocale</a:t>
            </a:r>
            <a:r>
              <a:rPr sz="1850" spc="-5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//prototype</a:t>
            </a:r>
            <a:endParaRPr sz="1850">
              <a:latin typeface="Times New Roman"/>
              <a:cs typeface="Times New Roman"/>
            </a:endParaRPr>
          </a:p>
          <a:p>
            <a:pPr marL="376555">
              <a:lnSpc>
                <a:spcPct val="100000"/>
              </a:lnSpc>
              <a:spcBef>
                <a:spcPts val="580"/>
              </a:spcBef>
            </a:pPr>
            <a:r>
              <a:rPr sz="185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850" b="1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b="1" i="1" spc="5" dirty="0">
                <a:latin typeface="Times New Roman"/>
                <a:cs typeface="Times New Roman"/>
              </a:rPr>
              <a:t>main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850">
              <a:latin typeface="Times New Roman"/>
              <a:cs typeface="Times New Roman"/>
            </a:endParaRPr>
          </a:p>
          <a:p>
            <a:pPr marL="495300" marR="2743200">
              <a:lnSpc>
                <a:spcPct val="125699"/>
              </a:lnSpc>
              <a:spcBef>
                <a:spcPts val="5"/>
              </a:spcBef>
            </a:pPr>
            <a:r>
              <a:rPr sz="1850" spc="-5" dirty="0">
                <a:latin typeface="Times New Roman"/>
                <a:cs typeface="Times New Roman"/>
              </a:rPr>
              <a:t>montrerVariableLocale</a:t>
            </a:r>
            <a:r>
              <a:rPr sz="1850" spc="-5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//1er appel</a:t>
            </a:r>
            <a:r>
              <a:rPr sz="185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8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8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fonction 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montrerVariableLocale</a:t>
            </a:r>
            <a:r>
              <a:rPr sz="1850" spc="-5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r>
              <a:rPr sz="18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//deuxième</a:t>
            </a:r>
            <a:r>
              <a:rPr sz="1850" spc="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 de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8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fonction </a:t>
            </a:r>
            <a:r>
              <a:rPr sz="1850" spc="-4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85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FF0065"/>
                </a:solidFill>
                <a:latin typeface="Times New Roman"/>
                <a:cs typeface="Times New Roman"/>
              </a:rPr>
              <a:t>0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376555">
              <a:lnSpc>
                <a:spcPct val="100000"/>
              </a:lnSpc>
              <a:spcBef>
                <a:spcPts val="575"/>
              </a:spcBef>
            </a:pP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  <a:p>
            <a:pPr marL="376555">
              <a:lnSpc>
                <a:spcPct val="100000"/>
              </a:lnSpc>
              <a:spcBef>
                <a:spcPts val="575"/>
              </a:spcBef>
            </a:pPr>
            <a:r>
              <a:rPr sz="185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850" b="1" i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-5" dirty="0">
                <a:latin typeface="Times New Roman"/>
                <a:cs typeface="Times New Roman"/>
              </a:rPr>
              <a:t>montrerVariableLocale</a:t>
            </a:r>
            <a:r>
              <a:rPr sz="1850" spc="-5" dirty="0">
                <a:solidFill>
                  <a:srgbClr val="FF0000"/>
                </a:solidFill>
                <a:latin typeface="Times New Roman"/>
                <a:cs typeface="Times New Roman"/>
              </a:rPr>
              <a:t>(){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1850" spc="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00B04F"/>
                </a:solidFill>
                <a:latin typeface="Times New Roman"/>
                <a:cs typeface="Times New Roman"/>
              </a:rPr>
              <a:t>de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85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850">
              <a:latin typeface="Times New Roman"/>
              <a:cs typeface="Times New Roman"/>
            </a:endParaRPr>
          </a:p>
          <a:p>
            <a:pPr marL="436245">
              <a:lnSpc>
                <a:spcPct val="100000"/>
              </a:lnSpc>
              <a:spcBef>
                <a:spcPts val="575"/>
              </a:spcBef>
            </a:pPr>
            <a:r>
              <a:rPr sz="185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8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nbreLocal(</a:t>
            </a:r>
            <a:r>
              <a:rPr sz="1850" spc="5" dirty="0">
                <a:solidFill>
                  <a:srgbClr val="FF0065"/>
                </a:solidFill>
                <a:latin typeface="Times New Roman"/>
                <a:cs typeface="Times New Roman"/>
              </a:rPr>
              <a:t>5</a:t>
            </a:r>
            <a:r>
              <a:rPr sz="1850" spc="5" dirty="0">
                <a:latin typeface="Times New Roman"/>
                <a:cs typeface="Times New Roman"/>
              </a:rPr>
              <a:t>)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18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//variable</a:t>
            </a:r>
            <a:r>
              <a:rPr sz="18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B04F"/>
                </a:solidFill>
                <a:latin typeface="Times New Roman"/>
                <a:cs typeface="Times New Roman"/>
              </a:rPr>
              <a:t>locale</a:t>
            </a:r>
            <a:endParaRPr sz="1850">
              <a:latin typeface="Times New Roman"/>
              <a:cs typeface="Times New Roman"/>
            </a:endParaRPr>
          </a:p>
          <a:p>
            <a:pPr marL="436245" marR="3632200">
              <a:lnSpc>
                <a:spcPct val="125400"/>
              </a:lnSpc>
              <a:spcBef>
                <a:spcPts val="15"/>
              </a:spcBef>
            </a:pPr>
            <a:r>
              <a:rPr sz="1850" b="1" i="1" spc="5" dirty="0">
                <a:solidFill>
                  <a:srgbClr val="006500"/>
                </a:solidFill>
                <a:latin typeface="Times New Roman"/>
                <a:cs typeface="Times New Roman"/>
              </a:rPr>
              <a:t>cout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 nbreLocal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18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18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nbreLocal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b="1" i="1" spc="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850" spc="-4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nbreLocal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8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50" spc="5" dirty="0">
                <a:solidFill>
                  <a:srgbClr val="FF0065"/>
                </a:solidFill>
                <a:latin typeface="Times New Roman"/>
                <a:cs typeface="Times New Roman"/>
              </a:rPr>
              <a:t>99</a:t>
            </a:r>
            <a:r>
              <a:rPr sz="18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850">
              <a:latin typeface="Times New Roman"/>
              <a:cs typeface="Times New Roman"/>
            </a:endParaRPr>
          </a:p>
          <a:p>
            <a:pPr marL="376555">
              <a:lnSpc>
                <a:spcPct val="100000"/>
              </a:lnSpc>
              <a:spcBef>
                <a:spcPts val="575"/>
              </a:spcBef>
            </a:pPr>
            <a:r>
              <a:rPr sz="18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908" y="1709419"/>
            <a:ext cx="3311525" cy="154495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65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Sortie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du programme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:</a:t>
            </a:r>
            <a:endParaRPr sz="2600">
              <a:latin typeface="Times New Roman"/>
              <a:cs typeface="Times New Roman"/>
            </a:endParaRPr>
          </a:p>
          <a:p>
            <a:pPr marL="53340">
              <a:lnSpc>
                <a:spcPct val="100000"/>
              </a:lnSpc>
              <a:spcBef>
                <a:spcPts val="875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eL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1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00" dirty="0">
                <a:latin typeface="Arial MT"/>
                <a:cs typeface="Arial MT"/>
              </a:rPr>
              <a:t>l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5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eLo</a:t>
            </a:r>
            <a:r>
              <a:rPr sz="2600" spc="-21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00" dirty="0">
                <a:latin typeface="Arial MT"/>
                <a:cs typeface="Arial MT"/>
              </a:rPr>
              <a:t>l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50" dirty="0">
                <a:latin typeface="Arial MT"/>
                <a:cs typeface="Arial MT"/>
              </a:rPr>
              <a:t>r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5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008" y="1663699"/>
            <a:ext cx="9571990" cy="2637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64490" marR="5080" indent="-352425">
              <a:lnSpc>
                <a:spcPct val="101499"/>
              </a:lnSpc>
              <a:spcBef>
                <a:spcPts val="9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15" dirty="0">
                <a:latin typeface="Times New Roman"/>
                <a:cs typeface="Times New Roman"/>
              </a:rPr>
              <a:t>Les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F0"/>
                </a:solidFill>
                <a:latin typeface="Times New Roman"/>
                <a:cs typeface="Times New Roman"/>
              </a:rPr>
              <a:t>variables</a:t>
            </a:r>
            <a:r>
              <a:rPr sz="2600" b="1" spc="2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B0F0"/>
                </a:solidFill>
                <a:latin typeface="Times New Roman"/>
                <a:cs typeface="Times New Roman"/>
              </a:rPr>
              <a:t>locales statiques</a:t>
            </a:r>
            <a:r>
              <a:rPr sz="2600" b="1" spc="5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détruites lors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d'un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retour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364490" marR="556895" indent="-352425">
              <a:lnSpc>
                <a:spcPct val="101499"/>
              </a:lnSpc>
              <a:spcBef>
                <a:spcPts val="78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10" dirty="0">
                <a:latin typeface="Times New Roman"/>
                <a:cs typeface="Times New Roman"/>
              </a:rPr>
              <a:t>Ils existent </a:t>
            </a:r>
            <a:r>
              <a:rPr sz="2600" spc="15" dirty="0">
                <a:latin typeface="Times New Roman"/>
                <a:cs typeface="Times New Roman"/>
              </a:rPr>
              <a:t>pour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durée </a:t>
            </a:r>
            <a:r>
              <a:rPr sz="2600" spc="20" dirty="0">
                <a:latin typeface="Times New Roman"/>
                <a:cs typeface="Times New Roman"/>
              </a:rPr>
              <a:t>du </a:t>
            </a:r>
            <a:r>
              <a:rPr sz="2600" spc="15" dirty="0">
                <a:latin typeface="Times New Roman"/>
                <a:cs typeface="Times New Roman"/>
              </a:rPr>
              <a:t>programme, </a:t>
            </a:r>
            <a:r>
              <a:rPr sz="2600" spc="20" dirty="0">
                <a:latin typeface="Times New Roman"/>
                <a:cs typeface="Times New Roman"/>
              </a:rPr>
              <a:t>même </a:t>
            </a:r>
            <a:r>
              <a:rPr sz="2600" spc="15" dirty="0">
                <a:latin typeface="Times New Roman"/>
                <a:cs typeface="Times New Roman"/>
              </a:rPr>
              <a:t>si </a:t>
            </a:r>
            <a:r>
              <a:rPr sz="2600" spc="10" dirty="0">
                <a:latin typeface="Times New Roman"/>
                <a:cs typeface="Times New Roman"/>
              </a:rPr>
              <a:t>leur </a:t>
            </a:r>
            <a:r>
              <a:rPr sz="2600" spc="15" dirty="0">
                <a:latin typeface="Times New Roman"/>
                <a:cs typeface="Times New Roman"/>
              </a:rPr>
              <a:t>portée est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seulement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laquelle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elles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10" dirty="0">
                <a:latin typeface="Times New Roman"/>
                <a:cs typeface="Times New Roman"/>
              </a:rPr>
              <a:t> définies.</a:t>
            </a:r>
            <a:endParaRPr sz="2600">
              <a:latin typeface="Times New Roman"/>
              <a:cs typeface="Times New Roman"/>
            </a:endParaRPr>
          </a:p>
          <a:p>
            <a:pPr marL="364490" marR="92710" indent="-352425">
              <a:lnSpc>
                <a:spcPct val="101499"/>
              </a:lnSpc>
              <a:spcBef>
                <a:spcPts val="78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20" dirty="0">
                <a:latin typeface="Times New Roman"/>
                <a:cs typeface="Times New Roman"/>
              </a:rPr>
              <a:t>Comme</a:t>
            </a:r>
            <a:r>
              <a:rPr sz="2600" spc="10" dirty="0">
                <a:latin typeface="Times New Roman"/>
                <a:cs typeface="Times New Roman"/>
              </a:rPr>
              <a:t> 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F0"/>
                </a:solidFill>
                <a:latin typeface="Times New Roman"/>
                <a:cs typeface="Times New Roman"/>
              </a:rPr>
              <a:t>variables</a:t>
            </a:r>
            <a:r>
              <a:rPr sz="2600" b="1" spc="2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F0"/>
                </a:solidFill>
                <a:latin typeface="Times New Roman"/>
                <a:cs typeface="Times New Roman"/>
              </a:rPr>
              <a:t>globales</a:t>
            </a:r>
            <a:r>
              <a:rPr sz="2600" spc="15" dirty="0">
                <a:latin typeface="Times New Roman"/>
                <a:cs typeface="Times New Roman"/>
              </a:rPr>
              <a:t>,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B0F0"/>
                </a:solidFill>
                <a:latin typeface="Times New Roman"/>
                <a:cs typeface="Times New Roman"/>
              </a:rPr>
              <a:t>variables</a:t>
            </a:r>
            <a:r>
              <a:rPr sz="2600" b="1" spc="2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B0F0"/>
                </a:solidFill>
                <a:latin typeface="Times New Roman"/>
                <a:cs typeface="Times New Roman"/>
              </a:rPr>
              <a:t>locales</a:t>
            </a:r>
            <a:r>
              <a:rPr sz="2600" b="1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B0F0"/>
                </a:solidFill>
                <a:latin typeface="Times New Roman"/>
                <a:cs typeface="Times New Roman"/>
              </a:rPr>
              <a:t>statiques</a:t>
            </a:r>
            <a:r>
              <a:rPr sz="2600" b="1" spc="4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initialisés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zéro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défaut.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6008" y="1543863"/>
            <a:ext cx="3961129" cy="261747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3050">
              <a:latin typeface="Times New Roman"/>
              <a:cs typeface="Times New Roman"/>
            </a:endParaRPr>
          </a:p>
          <a:p>
            <a:pPr marL="12700" marR="1031875">
              <a:lnSpc>
                <a:spcPct val="126499"/>
              </a:lnSpc>
              <a:spcBef>
                <a:spcPts val="10"/>
              </a:spcBef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static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600" spc="20" dirty="0">
                <a:latin typeface="Times New Roman"/>
                <a:cs typeface="Times New Roman"/>
              </a:rPr>
              <a:t>x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FF0065"/>
                </a:solidFill>
                <a:latin typeface="Times New Roman"/>
                <a:cs typeface="Times New Roman"/>
              </a:rPr>
              <a:t>4.5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600" b="1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const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MAX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20" dirty="0">
                <a:solidFill>
                  <a:srgbClr val="FF0065"/>
                </a:solidFill>
                <a:latin typeface="Times New Roman"/>
                <a:cs typeface="Times New Roman"/>
              </a:rPr>
              <a:t>5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26200"/>
              </a:lnSpc>
              <a:spcBef>
                <a:spcPts val="10"/>
              </a:spcBef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static int </a:t>
            </a:r>
            <a:r>
              <a:rPr sz="2600" spc="15" dirty="0">
                <a:latin typeface="Times New Roman"/>
                <a:cs typeface="Times New Roman"/>
              </a:rPr>
              <a:t>limit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3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600" spc="15" dirty="0">
                <a:latin typeface="Times New Roman"/>
                <a:cs typeface="Times New Roman"/>
              </a:rPr>
              <a:t>MAX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+ </a:t>
            </a:r>
            <a:r>
              <a:rPr sz="2600" spc="10" dirty="0">
                <a:solidFill>
                  <a:srgbClr val="FF0065"/>
                </a:solidFill>
                <a:latin typeface="Times New Roman"/>
                <a:cs typeface="Times New Roman"/>
              </a:rPr>
              <a:t>1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600" b="1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static</a:t>
            </a:r>
            <a:r>
              <a:rPr sz="26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short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X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50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0767" y="2193463"/>
            <a:ext cx="4811395" cy="145732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830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déclaration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variable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statique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x</a:t>
            </a:r>
            <a:endParaRPr sz="2200">
              <a:latin typeface="Times New Roman"/>
              <a:cs typeface="Times New Roman"/>
            </a:endParaRPr>
          </a:p>
          <a:p>
            <a:pPr marL="97790">
              <a:lnSpc>
                <a:spcPct val="100000"/>
              </a:lnSpc>
              <a:spcBef>
                <a:spcPts val="910"/>
              </a:spcBef>
            </a:pP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6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déclaration</a:t>
            </a:r>
            <a:r>
              <a:rPr sz="26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 la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constante</a:t>
            </a:r>
            <a:r>
              <a:rPr sz="26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30" dirty="0">
                <a:solidFill>
                  <a:srgbClr val="00B04F"/>
                </a:solidFill>
                <a:latin typeface="Times New Roman"/>
                <a:cs typeface="Times New Roman"/>
              </a:rPr>
              <a:t>MAX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3*MAX+1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expression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constante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2503" y="3788154"/>
            <a:ext cx="446913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50 de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type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int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converti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en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short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int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6008" y="4135626"/>
            <a:ext cx="2616835" cy="1028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6499"/>
              </a:lnSpc>
              <a:spcBef>
                <a:spcPts val="90"/>
              </a:spcBef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static float </a:t>
            </a:r>
            <a:r>
              <a:rPr sz="2600" spc="15" dirty="0">
                <a:latin typeface="Times New Roman"/>
                <a:cs typeface="Times New Roman"/>
              </a:rPr>
              <a:t>Y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3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static</a:t>
            </a:r>
            <a:r>
              <a:rPr sz="260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long</a:t>
            </a:r>
            <a:r>
              <a:rPr sz="26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Z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7.5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1835" y="4124653"/>
            <a:ext cx="5854700" cy="1028700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3 de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type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int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converti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en float</a:t>
            </a:r>
            <a:endParaRPr sz="22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1310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7.5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type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float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converti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en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long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(déconseillé)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136" y="1742947"/>
            <a:ext cx="8376920" cy="57327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6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utilise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variable locale statique</a:t>
            </a:r>
            <a:endParaRPr sz="2600">
              <a:latin typeface="Times New Roman"/>
              <a:cs typeface="Times New Roman"/>
            </a:endParaRPr>
          </a:p>
          <a:p>
            <a:pPr marL="704215" marR="5439410" indent="-125095">
              <a:lnSpc>
                <a:spcPct val="141500"/>
              </a:lnSpc>
              <a:spcBef>
                <a:spcPts val="495"/>
              </a:spcBef>
            </a:pPr>
            <a:r>
              <a:rPr sz="1950" b="1" i="1" spc="10" dirty="0">
                <a:solidFill>
                  <a:srgbClr val="008E3F"/>
                </a:solidFill>
                <a:latin typeface="Times New Roman"/>
                <a:cs typeface="Times New Roman"/>
              </a:rPr>
              <a:t>#include &lt;iostream&gt; </a:t>
            </a:r>
            <a:r>
              <a:rPr sz="1950" b="1" i="1" spc="1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b="1" i="1" spc="1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195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b="1" i="1" spc="10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1950" b="1" i="1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b="1" i="1" spc="10" dirty="0">
                <a:solidFill>
                  <a:srgbClr val="008E3F"/>
                </a:solidFill>
                <a:latin typeface="Times New Roman"/>
                <a:cs typeface="Times New Roman"/>
              </a:rPr>
              <a:t>std</a:t>
            </a:r>
            <a:r>
              <a:rPr sz="1950" b="1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704215">
              <a:lnSpc>
                <a:spcPct val="100000"/>
              </a:lnSpc>
              <a:spcBef>
                <a:spcPts val="800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950" b="1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montrerVarStatique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1950">
              <a:latin typeface="Times New Roman"/>
              <a:cs typeface="Times New Roman"/>
            </a:endParaRPr>
          </a:p>
          <a:p>
            <a:pPr marL="704215">
              <a:lnSpc>
                <a:spcPct val="100000"/>
              </a:lnSpc>
              <a:spcBef>
                <a:spcPts val="820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main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950">
              <a:latin typeface="Times New Roman"/>
              <a:cs typeface="Times New Roman"/>
            </a:endParaRPr>
          </a:p>
          <a:p>
            <a:pPr marL="1146175" marR="2628900" indent="-441959">
              <a:lnSpc>
                <a:spcPct val="134400"/>
              </a:lnSpc>
              <a:spcBef>
                <a:spcPts val="10"/>
              </a:spcBef>
            </a:pPr>
            <a:r>
              <a:rPr sz="1950" b="1" i="1" spc="10" dirty="0">
                <a:latin typeface="Times New Roman"/>
                <a:cs typeface="Times New Roman"/>
              </a:rPr>
              <a:t>for</a:t>
            </a:r>
            <a:r>
              <a:rPr sz="1950" b="1" i="1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i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compteur(</a:t>
            </a:r>
            <a:r>
              <a:rPr sz="1950" spc="10" dirty="0">
                <a:solidFill>
                  <a:srgbClr val="FF0065"/>
                </a:solidFill>
                <a:latin typeface="Times New Roman"/>
                <a:cs typeface="Times New Roman"/>
              </a:rPr>
              <a:t>0</a:t>
            </a:r>
            <a:r>
              <a:rPr sz="1950" spc="10" dirty="0">
                <a:latin typeface="Times New Roman"/>
                <a:cs typeface="Times New Roman"/>
              </a:rPr>
              <a:t>)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19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compteur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19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65"/>
                </a:solidFill>
                <a:latin typeface="Times New Roman"/>
                <a:cs typeface="Times New Roman"/>
              </a:rPr>
              <a:t>5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compteur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++) </a:t>
            </a:r>
            <a:r>
              <a:rPr sz="1950" spc="-4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montrerVarStatique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1950">
              <a:latin typeface="Times New Roman"/>
              <a:cs typeface="Times New Roman"/>
            </a:endParaRPr>
          </a:p>
          <a:p>
            <a:pPr marL="641985">
              <a:lnSpc>
                <a:spcPct val="100000"/>
              </a:lnSpc>
              <a:spcBef>
                <a:spcPts val="815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50" b="1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65"/>
                </a:solidFill>
                <a:latin typeface="Times New Roman"/>
                <a:cs typeface="Times New Roman"/>
              </a:rPr>
              <a:t>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768350">
              <a:lnSpc>
                <a:spcPct val="100000"/>
              </a:lnSpc>
              <a:spcBef>
                <a:spcPts val="80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  <a:p>
            <a:pPr marL="704215">
              <a:lnSpc>
                <a:spcPct val="100000"/>
              </a:lnSpc>
              <a:spcBef>
                <a:spcPts val="815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950" b="1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montrerVarStatique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950">
              <a:latin typeface="Times New Roman"/>
              <a:cs typeface="Times New Roman"/>
            </a:endParaRPr>
          </a:p>
          <a:p>
            <a:pPr marL="893444">
              <a:lnSpc>
                <a:spcPct val="100000"/>
              </a:lnSpc>
              <a:spcBef>
                <a:spcPts val="805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static</a:t>
            </a:r>
            <a:r>
              <a:rPr sz="1950" b="1" i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i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nbreStat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893444" marR="2811780">
              <a:lnSpc>
                <a:spcPct val="134900"/>
              </a:lnSpc>
            </a:pPr>
            <a:r>
              <a:rPr sz="1950" b="1" i="1" spc="10" dirty="0">
                <a:solidFill>
                  <a:srgbClr val="008E3F"/>
                </a:solidFill>
                <a:latin typeface="Times New Roman"/>
                <a:cs typeface="Times New Roman"/>
              </a:rPr>
              <a:t>cout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b="1" i="1" spc="15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b="1" i="1" spc="10" dirty="0">
                <a:solidFill>
                  <a:srgbClr val="006FC0"/>
                </a:solidFill>
                <a:latin typeface="Times New Roman"/>
                <a:cs typeface="Times New Roman"/>
              </a:rPr>
              <a:t>nbreStat </a:t>
            </a:r>
            <a:r>
              <a:rPr sz="1950" b="1" i="1" spc="5" dirty="0">
                <a:solidFill>
                  <a:srgbClr val="006FC0"/>
                </a:solidFill>
                <a:latin typeface="Times New Roman"/>
                <a:cs typeface="Times New Roman"/>
              </a:rPr>
              <a:t>est </a:t>
            </a:r>
            <a:r>
              <a:rPr sz="1950" b="1" i="1" spc="15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spc="10" dirty="0">
                <a:latin typeface="Times New Roman"/>
                <a:cs typeface="Times New Roman"/>
              </a:rPr>
              <a:t>nbreStat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b="1" i="1" spc="10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-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nbreStat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++;</a:t>
            </a:r>
            <a:endParaRPr sz="1950">
              <a:latin typeface="Times New Roman"/>
              <a:cs typeface="Times New Roman"/>
            </a:endParaRPr>
          </a:p>
          <a:p>
            <a:pPr marL="641985">
              <a:lnSpc>
                <a:spcPct val="100000"/>
              </a:lnSpc>
              <a:spcBef>
                <a:spcPts val="80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5108" y="1564639"/>
            <a:ext cx="3311525" cy="303530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Sortie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du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programme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spcBef>
                <a:spcPts val="825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4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0</a:t>
            </a:r>
            <a:endParaRPr sz="2600">
              <a:latin typeface="Arial MT"/>
              <a:cs typeface="Arial MT"/>
            </a:endParaRPr>
          </a:p>
          <a:p>
            <a:pPr marL="55244">
              <a:lnSpc>
                <a:spcPct val="100000"/>
              </a:lnSpc>
              <a:spcBef>
                <a:spcPts val="855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1</a:t>
            </a:r>
            <a:endParaRPr sz="2600">
              <a:latin typeface="Arial MT"/>
              <a:cs typeface="Arial MT"/>
            </a:endParaRPr>
          </a:p>
          <a:p>
            <a:pPr marL="55244">
              <a:lnSpc>
                <a:spcPct val="100000"/>
              </a:lnSpc>
              <a:spcBef>
                <a:spcPts val="815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2</a:t>
            </a:r>
            <a:endParaRPr sz="2600">
              <a:latin typeface="Arial MT"/>
              <a:cs typeface="Arial MT"/>
            </a:endParaRPr>
          </a:p>
          <a:p>
            <a:pPr marL="55244">
              <a:lnSpc>
                <a:spcPct val="100000"/>
              </a:lnSpc>
              <a:spcBef>
                <a:spcPts val="825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3</a:t>
            </a:r>
            <a:endParaRPr sz="2600">
              <a:latin typeface="Arial MT"/>
              <a:cs typeface="Arial MT"/>
            </a:endParaRPr>
          </a:p>
          <a:p>
            <a:pPr marL="55244">
              <a:lnSpc>
                <a:spcPct val="100000"/>
              </a:lnSpc>
              <a:spcBef>
                <a:spcPts val="830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4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236" y="1742947"/>
            <a:ext cx="8376920" cy="57327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2600" b="1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3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sz="26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utilise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locale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statique</a:t>
            </a:r>
            <a:endParaRPr sz="2600">
              <a:latin typeface="Times New Roman"/>
              <a:cs typeface="Times New Roman"/>
            </a:endParaRPr>
          </a:p>
          <a:p>
            <a:pPr marL="285115" marR="5858510" indent="-125095">
              <a:lnSpc>
                <a:spcPct val="141500"/>
              </a:lnSpc>
              <a:spcBef>
                <a:spcPts val="495"/>
              </a:spcBef>
            </a:pPr>
            <a:r>
              <a:rPr sz="1950" b="1" i="1" spc="10" dirty="0">
                <a:solidFill>
                  <a:srgbClr val="006500"/>
                </a:solidFill>
                <a:latin typeface="Times New Roman"/>
                <a:cs typeface="Times New Roman"/>
              </a:rPr>
              <a:t>#include &lt;iostream&gt; </a:t>
            </a:r>
            <a:r>
              <a:rPr sz="1950" b="1" i="1" spc="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1950" b="1" i="1" spc="10" dirty="0">
                <a:latin typeface="Times New Roman"/>
                <a:cs typeface="Times New Roman"/>
              </a:rPr>
              <a:t>using</a:t>
            </a:r>
            <a:r>
              <a:rPr sz="1950" b="1" i="1" spc="-10" dirty="0">
                <a:latin typeface="Times New Roman"/>
                <a:cs typeface="Times New Roman"/>
              </a:rPr>
              <a:t> </a:t>
            </a:r>
            <a:r>
              <a:rPr sz="1950" b="1" i="1" spc="10" dirty="0">
                <a:latin typeface="Times New Roman"/>
                <a:cs typeface="Times New Roman"/>
              </a:rPr>
              <a:t>namespace</a:t>
            </a:r>
            <a:r>
              <a:rPr sz="1950" b="1" i="1" spc="-10" dirty="0">
                <a:latin typeface="Times New Roman"/>
                <a:cs typeface="Times New Roman"/>
              </a:rPr>
              <a:t> </a:t>
            </a:r>
            <a:r>
              <a:rPr sz="1950" b="1" i="1" spc="10" dirty="0">
                <a:solidFill>
                  <a:srgbClr val="006500"/>
                </a:solidFill>
                <a:latin typeface="Times New Roman"/>
                <a:cs typeface="Times New Roman"/>
              </a:rPr>
              <a:t>std</a:t>
            </a:r>
            <a:r>
              <a:rPr sz="1950" b="1" i="1" spc="10" dirty="0"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800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950" b="1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montrerVarStatique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195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820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i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main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950">
              <a:latin typeface="Times New Roman"/>
              <a:cs typeface="Times New Roman"/>
            </a:endParaRPr>
          </a:p>
          <a:p>
            <a:pPr marL="727075" marR="3048000" indent="-441959">
              <a:lnSpc>
                <a:spcPct val="134400"/>
              </a:lnSpc>
              <a:spcBef>
                <a:spcPts val="10"/>
              </a:spcBef>
            </a:pPr>
            <a:r>
              <a:rPr sz="1950" b="1" i="1" spc="10" dirty="0">
                <a:latin typeface="Times New Roman"/>
                <a:cs typeface="Times New Roman"/>
              </a:rPr>
              <a:t>for</a:t>
            </a:r>
            <a:r>
              <a:rPr sz="1950" b="1" i="1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i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compteur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19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compteur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</a:t>
            </a:r>
            <a:r>
              <a:rPr sz="19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compteur</a:t>
            </a:r>
            <a:r>
              <a:rPr sz="1950" spc="25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++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r>
              <a:rPr sz="1950" spc="-4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montrerVarStatique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1950">
              <a:latin typeface="Times New Roman"/>
              <a:cs typeface="Times New Roman"/>
            </a:endParaRPr>
          </a:p>
          <a:p>
            <a:pPr marL="727075">
              <a:lnSpc>
                <a:spcPct val="100000"/>
              </a:lnSpc>
              <a:spcBef>
                <a:spcPts val="815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50" b="1" i="1" spc="-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80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815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950" b="1" i="1" spc="-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montrerVarStatique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950">
              <a:latin typeface="Times New Roman"/>
              <a:cs typeface="Times New Roman"/>
            </a:endParaRPr>
          </a:p>
          <a:p>
            <a:pPr marL="474345">
              <a:lnSpc>
                <a:spcPct val="100000"/>
              </a:lnSpc>
              <a:spcBef>
                <a:spcPts val="805"/>
              </a:spcBef>
            </a:pP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static</a:t>
            </a:r>
            <a:r>
              <a:rPr sz="1950" b="1" i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b="1" i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i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nbreStat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1950">
              <a:latin typeface="Times New Roman"/>
              <a:cs typeface="Times New Roman"/>
            </a:endParaRPr>
          </a:p>
          <a:p>
            <a:pPr marL="474345" marR="3347085">
              <a:lnSpc>
                <a:spcPct val="134900"/>
              </a:lnSpc>
            </a:pPr>
            <a:r>
              <a:rPr sz="1950" b="1" i="1" spc="10" dirty="0">
                <a:solidFill>
                  <a:srgbClr val="006500"/>
                </a:solidFill>
                <a:latin typeface="Times New Roman"/>
                <a:cs typeface="Times New Roman"/>
              </a:rPr>
              <a:t>cout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nbreStat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est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spc="10" dirty="0">
                <a:latin typeface="Times New Roman"/>
                <a:cs typeface="Times New Roman"/>
              </a:rPr>
              <a:t>nbreStat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 </a:t>
            </a:r>
            <a:r>
              <a:rPr sz="1950" b="1" i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-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nbreStat 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++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222885">
              <a:lnSpc>
                <a:spcPct val="100000"/>
              </a:lnSpc>
              <a:spcBef>
                <a:spcPts val="80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908" y="1663699"/>
            <a:ext cx="3151505" cy="304482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30"/>
              </a:spcBef>
            </a:pPr>
            <a:r>
              <a:rPr sz="2600" b="1" spc="-48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600" b="1" spc="-19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600" b="1" spc="-6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600" b="1" spc="-18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600" b="1" spc="-4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600" b="1" spc="-18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90" dirty="0">
                <a:solidFill>
                  <a:srgbClr val="FF0000"/>
                </a:solidFill>
                <a:latin typeface="Arial"/>
                <a:cs typeface="Arial"/>
              </a:rPr>
              <a:t>du</a:t>
            </a:r>
            <a:r>
              <a:rPr sz="26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90" dirty="0">
                <a:solidFill>
                  <a:srgbClr val="FF0000"/>
                </a:solidFill>
                <a:latin typeface="Arial"/>
                <a:cs typeface="Arial"/>
              </a:rPr>
              <a:t>pro</a:t>
            </a:r>
            <a:r>
              <a:rPr sz="2600" b="1" spc="-200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r>
              <a:rPr sz="2600" b="1" spc="-16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600" b="1" spc="-6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600" b="1" spc="-229" dirty="0">
                <a:solidFill>
                  <a:srgbClr val="FF0000"/>
                </a:solidFill>
                <a:latin typeface="Arial"/>
                <a:cs typeface="Arial"/>
              </a:rPr>
              <a:t>mm</a:t>
            </a:r>
            <a:r>
              <a:rPr sz="2600" b="1" spc="-18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600" spc="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-18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6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840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5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6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7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8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600" spc="-250" dirty="0">
                <a:latin typeface="Arial MT"/>
                <a:cs typeface="Arial MT"/>
              </a:rPr>
              <a:t>nb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300" dirty="0">
                <a:latin typeface="Arial MT"/>
                <a:cs typeface="Arial MT"/>
              </a:rPr>
              <a:t>S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9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2870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495" dirty="0"/>
              <a:t>s</a:t>
            </a:r>
            <a:r>
              <a:rPr sz="3750" spc="-285" dirty="0"/>
              <a:t>t</a:t>
            </a:r>
            <a:r>
              <a:rPr sz="3750" spc="-35" dirty="0"/>
              <a:t>a</a:t>
            </a:r>
            <a:r>
              <a:rPr sz="3750" spc="-285" dirty="0"/>
              <a:t>t</a:t>
            </a:r>
            <a:r>
              <a:rPr sz="3750" spc="-75" dirty="0"/>
              <a:t>i</a:t>
            </a:r>
            <a:r>
              <a:rPr sz="3750" spc="-315" dirty="0"/>
              <a:t>q</a:t>
            </a:r>
            <a:r>
              <a:rPr sz="3750" spc="-305" dirty="0"/>
              <a:t>ue</a:t>
            </a:r>
            <a:r>
              <a:rPr sz="3750" spc="-490" dirty="0"/>
              <a:t>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136" y="1742947"/>
            <a:ext cx="9283700" cy="263779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64490" marR="328295" indent="-352425">
              <a:lnSpc>
                <a:spcPct val="101699"/>
              </a:lnSpc>
              <a:spcBef>
                <a:spcPts val="8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25" dirty="0">
                <a:latin typeface="Times New Roman"/>
                <a:cs typeface="Times New Roman"/>
              </a:rPr>
              <a:t>Même </a:t>
            </a:r>
            <a:r>
              <a:rPr sz="2600" spc="15" dirty="0">
                <a:latin typeface="Times New Roman"/>
                <a:cs typeface="Times New Roman"/>
              </a:rPr>
              <a:t>si </a:t>
            </a:r>
            <a:r>
              <a:rPr sz="2600" spc="10" dirty="0">
                <a:latin typeface="Times New Roman"/>
                <a:cs typeface="Times New Roman"/>
              </a:rPr>
              <a:t>la déclaration </a:t>
            </a:r>
            <a:r>
              <a:rPr sz="2600" spc="15" dirty="0">
                <a:latin typeface="Times New Roman"/>
                <a:cs typeface="Times New Roman"/>
              </a:rPr>
              <a:t>qui </a:t>
            </a:r>
            <a:r>
              <a:rPr sz="2600" spc="10" dirty="0">
                <a:latin typeface="Times New Roman"/>
                <a:cs typeface="Times New Roman"/>
              </a:rPr>
              <a:t>définit </a:t>
            </a:r>
            <a:r>
              <a:rPr sz="2600" b="1" i="1" spc="15" dirty="0">
                <a:latin typeface="Times New Roman"/>
                <a:cs typeface="Times New Roman"/>
              </a:rPr>
              <a:t>nbreStat</a:t>
            </a:r>
            <a:r>
              <a:rPr sz="2600" spc="15" dirty="0">
                <a:latin typeface="Times New Roman"/>
                <a:cs typeface="Times New Roman"/>
              </a:rPr>
              <a:t>, est </a:t>
            </a:r>
            <a:r>
              <a:rPr sz="2600" spc="10" dirty="0">
                <a:latin typeface="Times New Roman"/>
                <a:cs typeface="Times New Roman"/>
              </a:rPr>
              <a:t>initialisée </a:t>
            </a:r>
            <a:r>
              <a:rPr sz="2600" spc="15" dirty="0">
                <a:latin typeface="Times New Roman"/>
                <a:cs typeface="Times New Roman"/>
              </a:rPr>
              <a:t>à 5, 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l'initialisation</a:t>
            </a:r>
            <a:r>
              <a:rPr sz="2600" spc="15" dirty="0">
                <a:latin typeface="Times New Roman"/>
                <a:cs typeface="Times New Roman"/>
              </a:rPr>
              <a:t> 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produit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chaque</a:t>
            </a:r>
            <a:r>
              <a:rPr sz="2600" spc="10" dirty="0">
                <a:latin typeface="Times New Roman"/>
                <a:cs typeface="Times New Roman"/>
              </a:rPr>
              <a:t> fois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 </a:t>
            </a:r>
            <a:r>
              <a:rPr sz="2600" spc="10" dirty="0">
                <a:latin typeface="Times New Roman"/>
                <a:cs typeface="Times New Roman"/>
              </a:rPr>
              <a:t>la fonction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appelée.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6FC0"/>
              </a:buClr>
              <a:buFont typeface="Wingdings"/>
              <a:buChar char=""/>
            </a:pPr>
            <a:endParaRPr sz="4100">
              <a:latin typeface="Times New Roman"/>
              <a:cs typeface="Times New Roman"/>
            </a:endParaRPr>
          </a:p>
          <a:p>
            <a:pPr marL="364490" marR="5080" indent="-352425">
              <a:lnSpc>
                <a:spcPct val="101499"/>
              </a:lnSpc>
              <a:spcBef>
                <a:spcPts val="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10" dirty="0">
                <a:latin typeface="Times New Roman"/>
                <a:cs typeface="Times New Roman"/>
              </a:rPr>
              <a:t>Si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c'était</a:t>
            </a:r>
            <a:r>
              <a:rPr sz="2600" spc="10" dirty="0">
                <a:latin typeface="Times New Roman"/>
                <a:cs typeface="Times New Roman"/>
              </a:rPr>
              <a:t> 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cas,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variable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serait </a:t>
            </a:r>
            <a:r>
              <a:rPr sz="2600" spc="15" dirty="0">
                <a:latin typeface="Times New Roman"/>
                <a:cs typeface="Times New Roman"/>
              </a:rPr>
              <a:t>pas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mesure de conserver sa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entre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15" dirty="0">
                <a:latin typeface="Times New Roman"/>
                <a:cs typeface="Times New Roman"/>
              </a:rPr>
              <a:t> appels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fonction.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34733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110" dirty="0"/>
              <a:t>à</a:t>
            </a:r>
            <a:r>
              <a:rPr sz="3750" b="0" spc="60" dirty="0">
                <a:latin typeface="Times New Roman"/>
                <a:cs typeface="Times New Roman"/>
              </a:rPr>
              <a:t> </a:t>
            </a:r>
            <a:r>
              <a:rPr sz="3750" spc="-305" dirty="0"/>
              <a:t>un</a:t>
            </a:r>
            <a:r>
              <a:rPr sz="3750" b="0" spc="35" dirty="0">
                <a:latin typeface="Times New Roman"/>
                <a:cs typeface="Times New Roman"/>
              </a:rPr>
              <a:t> 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136" y="1645411"/>
            <a:ext cx="9655175" cy="192913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90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20" dirty="0">
                <a:latin typeface="Times New Roman"/>
                <a:cs typeface="Times New Roman"/>
              </a:rPr>
              <a:t>C++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permet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déclarer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variables locales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0" dirty="0">
                <a:latin typeface="Times New Roman"/>
                <a:cs typeface="Times New Roman"/>
              </a:rPr>
              <a:t>bloc.</a:t>
            </a:r>
            <a:endParaRPr sz="2600">
              <a:latin typeface="Times New Roman"/>
              <a:cs typeface="Times New Roman"/>
            </a:endParaRPr>
          </a:p>
          <a:p>
            <a:pPr marL="364490" indent="-352425">
              <a:lnSpc>
                <a:spcPct val="100000"/>
              </a:lnSpc>
              <a:spcBef>
                <a:spcPts val="81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15" dirty="0">
                <a:latin typeface="Times New Roman"/>
                <a:cs typeface="Times New Roman"/>
              </a:rPr>
              <a:t>Leur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portée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limitée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bloc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364490" marR="5080" indent="-352425">
              <a:lnSpc>
                <a:spcPct val="101499"/>
              </a:lnSpc>
              <a:spcBef>
                <a:spcPts val="78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15" dirty="0">
                <a:latin typeface="Times New Roman"/>
                <a:cs typeface="Times New Roman"/>
              </a:rPr>
              <a:t>Leur emplacement est </a:t>
            </a:r>
            <a:r>
              <a:rPr sz="2600" spc="10" dirty="0">
                <a:latin typeface="Times New Roman"/>
                <a:cs typeface="Times New Roman"/>
              </a:rPr>
              <a:t>alloué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10" dirty="0">
                <a:latin typeface="Times New Roman"/>
                <a:cs typeface="Times New Roman"/>
              </a:rPr>
              <a:t>l’entrée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15" dirty="0">
                <a:latin typeface="Times New Roman"/>
                <a:cs typeface="Times New Roman"/>
              </a:rPr>
              <a:t>bloc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0" dirty="0">
                <a:latin typeface="Times New Roman"/>
                <a:cs typeface="Times New Roman"/>
              </a:rPr>
              <a:t>disparaît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sortie.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42975"/>
            <a:ext cx="534733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750" spc="-270" dirty="0"/>
              <a:t>V</a:t>
            </a:r>
            <a:r>
              <a:rPr sz="3750" spc="-110" dirty="0"/>
              <a:t>a</a:t>
            </a:r>
            <a:r>
              <a:rPr sz="3750" spc="-290" dirty="0"/>
              <a:t>r</a:t>
            </a:r>
            <a:r>
              <a:rPr sz="3750" spc="-75" dirty="0"/>
              <a:t>i</a:t>
            </a:r>
            <a:r>
              <a:rPr sz="3750" spc="-110" dirty="0"/>
              <a:t>a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55" dirty="0">
                <a:latin typeface="Times New Roman"/>
                <a:cs typeface="Times New Roman"/>
              </a:rPr>
              <a:t> 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r>
              <a:rPr sz="3750" spc="-110" dirty="0"/>
              <a:t>a</a:t>
            </a:r>
            <a:r>
              <a:rPr sz="3750" spc="-75" dirty="0"/>
              <a:t>l</a:t>
            </a:r>
            <a:r>
              <a:rPr sz="3750" spc="-305" dirty="0"/>
              <a:t>e</a:t>
            </a:r>
            <a:r>
              <a:rPr sz="3750" spc="-490" dirty="0"/>
              <a:t>s</a:t>
            </a:r>
            <a:r>
              <a:rPr sz="3750" b="0" spc="65" dirty="0">
                <a:latin typeface="Times New Roman"/>
                <a:cs typeface="Times New Roman"/>
              </a:rPr>
              <a:t> </a:t>
            </a:r>
            <a:r>
              <a:rPr sz="3750" spc="-110" dirty="0"/>
              <a:t>à</a:t>
            </a:r>
            <a:r>
              <a:rPr sz="3750" b="0" spc="60" dirty="0">
                <a:latin typeface="Times New Roman"/>
                <a:cs typeface="Times New Roman"/>
              </a:rPr>
              <a:t> </a:t>
            </a:r>
            <a:r>
              <a:rPr sz="3750" spc="-305" dirty="0"/>
              <a:t>un</a:t>
            </a:r>
            <a:r>
              <a:rPr sz="3750" b="0" spc="35" dirty="0">
                <a:latin typeface="Times New Roman"/>
                <a:cs typeface="Times New Roman"/>
              </a:rPr>
              <a:t> </a:t>
            </a:r>
            <a:r>
              <a:rPr sz="3750" spc="-305" dirty="0"/>
              <a:t>b</a:t>
            </a:r>
            <a:r>
              <a:rPr sz="3750" spc="-75" dirty="0"/>
              <a:t>l</a:t>
            </a:r>
            <a:r>
              <a:rPr sz="3750" spc="-305" dirty="0"/>
              <a:t>o</a:t>
            </a:r>
            <a:r>
              <a:rPr sz="3750" spc="-575" dirty="0"/>
              <a:t>c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2248" y="1431636"/>
            <a:ext cx="4941570" cy="278384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7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1750" b="1" spc="-5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f()</a:t>
            </a: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841375" algn="l"/>
              </a:tabLst>
            </a:pPr>
            <a:r>
              <a:rPr sz="17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1750" spc="5" dirty="0">
                <a:latin typeface="Times New Roman"/>
                <a:cs typeface="Times New Roman"/>
              </a:rPr>
              <a:t>n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//n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17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accessible</a:t>
            </a:r>
            <a:r>
              <a:rPr sz="1750" spc="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tout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le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bloc constituant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f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.....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dirty="0">
                <a:latin typeface="Times New Roman"/>
                <a:cs typeface="Times New Roman"/>
              </a:rPr>
              <a:t>for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(...){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1750" spc="5" dirty="0">
                <a:latin typeface="Times New Roman"/>
                <a:cs typeface="Times New Roman"/>
              </a:rPr>
              <a:t>p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17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 p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n’est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 connue</a:t>
            </a:r>
            <a:r>
              <a:rPr sz="17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que</a:t>
            </a:r>
            <a:r>
              <a:rPr sz="17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dans</a:t>
            </a:r>
            <a:r>
              <a:rPr sz="17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le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bloc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7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for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75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n</a:t>
            </a:r>
            <a:r>
              <a:rPr sz="1750" dirty="0"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 n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masque</a:t>
            </a:r>
            <a:r>
              <a:rPr sz="17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75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variable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n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7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portée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"englobante"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2248" y="4191099"/>
            <a:ext cx="8821420" cy="149034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  <a:tabLst>
                <a:tab pos="460375" algn="l"/>
              </a:tabLst>
            </a:pP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.....	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 attention,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on ne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peut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pas</a:t>
            </a:r>
            <a:r>
              <a:rPr sz="17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utiliser</a:t>
            </a:r>
            <a:r>
              <a:rPr sz="1750" spc="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::n</a:t>
            </a:r>
            <a:r>
              <a:rPr sz="175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ici</a:t>
            </a:r>
            <a:r>
              <a:rPr sz="1750" spc="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qui</a:t>
            </a:r>
            <a:r>
              <a:rPr sz="175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désignerait</a:t>
            </a:r>
            <a:r>
              <a:rPr sz="17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variable</a:t>
            </a:r>
            <a:r>
              <a:rPr sz="17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globale (inexistante</a:t>
            </a:r>
            <a:r>
              <a:rPr sz="17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ici)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spc="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.....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spc="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2248" y="5657187"/>
            <a:ext cx="574040" cy="7569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750" b="1" spc="-4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latin typeface="Times New Roman"/>
                <a:cs typeface="Times New Roman"/>
              </a:rPr>
              <a:t>p</a:t>
            </a:r>
            <a:r>
              <a:rPr sz="1750" spc="-40" dirty="0"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.....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3228" y="5657187"/>
            <a:ext cx="4895850" cy="7569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875"/>
              </a:spcBef>
            </a:pP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 p</a:t>
            </a:r>
            <a:r>
              <a:rPr sz="175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n’est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 connue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que</a:t>
            </a:r>
            <a:r>
              <a:rPr sz="17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dans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ce</a:t>
            </a:r>
            <a:r>
              <a:rPr sz="175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bloc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;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elle</a:t>
            </a:r>
            <a:r>
              <a:rPr sz="17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est</a:t>
            </a:r>
            <a:r>
              <a:rPr sz="1750" spc="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allouée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 ici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75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et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n’a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aucun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rapport</a:t>
            </a:r>
            <a:r>
              <a:rPr sz="17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avec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variable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p</a:t>
            </a:r>
            <a:r>
              <a:rPr sz="17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ci-dessus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6390230"/>
            <a:ext cx="2615565" cy="112458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750" spc="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r>
              <a:rPr sz="17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// et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elle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sera</a:t>
            </a:r>
            <a:r>
              <a:rPr sz="1750" spc="5" dirty="0">
                <a:solidFill>
                  <a:srgbClr val="00B04F"/>
                </a:solidFill>
                <a:latin typeface="Times New Roman"/>
                <a:cs typeface="Times New Roman"/>
              </a:rPr>
              <a:t> désallouée</a:t>
            </a:r>
            <a:r>
              <a:rPr sz="1750" spc="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750" dirty="0">
                <a:solidFill>
                  <a:srgbClr val="00B04F"/>
                </a:solidFill>
                <a:latin typeface="Times New Roman"/>
                <a:cs typeface="Times New Roman"/>
              </a:rPr>
              <a:t>ici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750" dirty="0">
                <a:solidFill>
                  <a:srgbClr val="FF0000"/>
                </a:solidFill>
                <a:latin typeface="Times New Roman"/>
                <a:cs typeface="Times New Roman"/>
              </a:rPr>
              <a:t>.....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750" spc="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6873" y="1411223"/>
            <a:ext cx="581025" cy="25146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0" rIns="0" bIns="0" rtlCol="0">
            <a:spAutoFit/>
          </a:bodyPr>
          <a:lstStyle/>
          <a:p>
            <a:pPr marL="5080" algn="ctr">
              <a:lnSpc>
                <a:spcPts val="1530"/>
              </a:lnSpc>
            </a:pP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95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733803"/>
            <a:ext cx="9070975" cy="3317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CONCEPT:</a:t>
            </a:r>
            <a:endParaRPr sz="3050">
              <a:latin typeface="Times New Roman"/>
              <a:cs typeface="Times New Roman"/>
            </a:endParaRPr>
          </a:p>
          <a:p>
            <a:pPr marL="390525" marR="157480" indent="-378460">
              <a:lnSpc>
                <a:spcPct val="101499"/>
              </a:lnSpc>
              <a:spcBef>
                <a:spcPts val="2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arguments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par défaut </a:t>
            </a:r>
            <a:r>
              <a:rPr sz="2600" spc="15" dirty="0">
                <a:latin typeface="Times New Roman"/>
                <a:cs typeface="Times New Roman"/>
              </a:rPr>
              <a:t>sont passées aux paramètres 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automatiquement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si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aucun</a:t>
            </a:r>
            <a:r>
              <a:rPr sz="2600" spc="10" dirty="0">
                <a:latin typeface="Times New Roman"/>
                <a:cs typeface="Times New Roman"/>
              </a:rPr>
              <a:t> argument n'est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fourni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l'appel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 marL="390525" marR="352425" indent="-378460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arguments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par défaut </a:t>
            </a:r>
            <a:r>
              <a:rPr sz="2600" spc="15" dirty="0">
                <a:latin typeface="Times New Roman"/>
                <a:cs typeface="Times New Roman"/>
              </a:rPr>
              <a:t>sont généralement indiquées dans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prototype</a:t>
            </a:r>
            <a:r>
              <a:rPr sz="2600" spc="2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de</a:t>
            </a:r>
            <a:r>
              <a:rPr sz="260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fonction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390525" marR="5080" indent="-378460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5" dirty="0">
                <a:latin typeface="Times New Roman"/>
                <a:cs typeface="Times New Roman"/>
              </a:rPr>
              <a:t>n’est </a:t>
            </a:r>
            <a:r>
              <a:rPr sz="2600" spc="10" dirty="0">
                <a:latin typeface="Times New Roman"/>
                <a:cs typeface="Times New Roman"/>
              </a:rPr>
              <a:t>alors </a:t>
            </a:r>
            <a:r>
              <a:rPr sz="2600" spc="15" dirty="0">
                <a:latin typeface="Times New Roman"/>
                <a:cs typeface="Times New Roman"/>
              </a:rPr>
              <a:t>pas nécessaire de </a:t>
            </a:r>
            <a:r>
              <a:rPr sz="2600" spc="10" dirty="0">
                <a:latin typeface="Times New Roman"/>
                <a:cs typeface="Times New Roman"/>
              </a:rPr>
              <a:t>fournir d’argument </a:t>
            </a:r>
            <a:r>
              <a:rPr sz="2600" spc="15" dirty="0">
                <a:latin typeface="Times New Roman"/>
                <a:cs typeface="Times New Roman"/>
              </a:rPr>
              <a:t>à ces 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avec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valeurs par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défaut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lors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l’appel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733803"/>
            <a:ext cx="9022080" cy="29152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-10" dirty="0">
                <a:solidFill>
                  <a:srgbClr val="6F2FA0"/>
                </a:solidFill>
                <a:latin typeface="Times New Roman"/>
                <a:cs typeface="Times New Roman"/>
              </a:rPr>
              <a:t>CONCEPT:</a:t>
            </a:r>
            <a:endParaRPr sz="305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7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syntaxe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d’un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avec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défaut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2828925">
              <a:lnSpc>
                <a:spcPct val="100000"/>
              </a:lnSpc>
              <a:spcBef>
                <a:spcPts val="45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type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identificateur</a:t>
            </a:r>
            <a:r>
              <a:rPr sz="2600" spc="-1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valeur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Voici</a:t>
            </a:r>
            <a:r>
              <a:rPr sz="26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un</a:t>
            </a:r>
            <a:r>
              <a:rPr sz="2600" b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ts val="3180"/>
              </a:lnSpc>
              <a:spcBef>
                <a:spcPts val="95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 </a:t>
            </a:r>
            <a:r>
              <a:rPr sz="2600" spc="15" dirty="0">
                <a:latin typeface="Times New Roman"/>
                <a:cs typeface="Times New Roman"/>
              </a:rPr>
              <a:t>montrerAire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600" spc="15" dirty="0">
                <a:latin typeface="Times New Roman"/>
                <a:cs typeface="Times New Roman"/>
              </a:rPr>
              <a:t>longueur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20.0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600" spc="5" dirty="0">
                <a:latin typeface="Times New Roman"/>
                <a:cs typeface="Times New Roman"/>
              </a:rPr>
              <a:t>largeur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10.0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2600" b="1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montrerAire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spc="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20.0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10.0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00" y="1832863"/>
            <a:ext cx="9217025" cy="24428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90525" marR="267335" indent="-378460">
              <a:lnSpc>
                <a:spcPct val="101899"/>
              </a:lnSpc>
              <a:spcBef>
                <a:spcPts val="8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20" dirty="0">
                <a:latin typeface="Times New Roman"/>
                <a:cs typeface="Times New Roman"/>
              </a:rPr>
              <a:t>On </a:t>
            </a:r>
            <a:r>
              <a:rPr sz="2600" spc="15" dirty="0">
                <a:latin typeface="Times New Roman"/>
                <a:cs typeface="Times New Roman"/>
              </a:rPr>
              <a:t>peut donner des valeurs par défaut à </a:t>
            </a:r>
            <a:r>
              <a:rPr sz="2600" spc="10" dirty="0">
                <a:latin typeface="Times New Roman"/>
                <a:cs typeface="Times New Roman"/>
              </a:rPr>
              <a:t>certains </a:t>
            </a:r>
            <a:r>
              <a:rPr sz="2600" spc="15" dirty="0">
                <a:latin typeface="Times New Roman"/>
                <a:cs typeface="Times New Roman"/>
              </a:rPr>
              <a:t>paramètres des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fonctions.</a:t>
            </a:r>
            <a:endParaRPr sz="2600">
              <a:latin typeface="Times New Roman"/>
              <a:cs typeface="Times New Roman"/>
            </a:endParaRPr>
          </a:p>
          <a:p>
            <a:pPr marL="390525" marR="5080" indent="-378460">
              <a:lnSpc>
                <a:spcPct val="101499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Lorsqu'on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</a:t>
            </a:r>
            <a:r>
              <a:rPr sz="2600" spc="10" dirty="0">
                <a:latin typeface="Times New Roman"/>
                <a:cs typeface="Times New Roman"/>
              </a:rPr>
              <a:t> fonction, </a:t>
            </a:r>
            <a:r>
              <a:rPr sz="2600" spc="20" dirty="0">
                <a:latin typeface="Times New Roman"/>
                <a:cs typeface="Times New Roman"/>
              </a:rPr>
              <a:t>on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sera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 obligé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d'indiquer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chaque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fois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tous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15" dirty="0">
                <a:latin typeface="Times New Roman"/>
                <a:cs typeface="Times New Roman"/>
              </a:rPr>
              <a:t> paramètres.</a:t>
            </a:r>
            <a:endParaRPr sz="2600">
              <a:latin typeface="Times New Roman"/>
              <a:cs typeface="Times New Roman"/>
            </a:endParaRPr>
          </a:p>
          <a:p>
            <a:pPr marL="390525" marR="94615" indent="-378460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Rendre </a:t>
            </a:r>
            <a:r>
              <a:rPr sz="2600" spc="10" dirty="0">
                <a:latin typeface="Times New Roman"/>
                <a:cs typeface="Times New Roman"/>
              </a:rPr>
              <a:t>certains </a:t>
            </a:r>
            <a:r>
              <a:rPr sz="2600" spc="15" dirty="0">
                <a:latin typeface="Times New Roman"/>
                <a:cs typeface="Times New Roman"/>
              </a:rPr>
              <a:t>paramètres des </a:t>
            </a:r>
            <a:r>
              <a:rPr sz="2600" spc="10" dirty="0">
                <a:latin typeface="Times New Roman"/>
                <a:cs typeface="Times New Roman"/>
              </a:rPr>
              <a:t>fonctions facultatifs </a:t>
            </a:r>
            <a:r>
              <a:rPr sz="2600" spc="15" dirty="0">
                <a:latin typeface="Times New Roman"/>
                <a:cs typeface="Times New Roman"/>
              </a:rPr>
              <a:t>en modifiant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prototype</a:t>
            </a:r>
            <a:r>
              <a:rPr sz="2600" spc="2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de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 la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fonction</a:t>
            </a:r>
            <a:r>
              <a:rPr sz="2600" spc="2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(et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non</a:t>
            </a:r>
            <a:r>
              <a:rPr sz="2600" spc="15" dirty="0">
                <a:latin typeface="Times New Roman"/>
                <a:cs typeface="Times New Roman"/>
              </a:rPr>
              <a:t> sa</a:t>
            </a:r>
            <a:r>
              <a:rPr sz="2600" spc="10" dirty="0">
                <a:latin typeface="Times New Roman"/>
                <a:cs typeface="Times New Roman"/>
              </a:rPr>
              <a:t> définition, attention).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503935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760" y="1825243"/>
            <a:ext cx="7310755" cy="303276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920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-55" dirty="0">
                <a:latin typeface="Times New Roman"/>
                <a:cs typeface="Times New Roman"/>
              </a:rPr>
              <a:t>Voici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définition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431165">
              <a:lnSpc>
                <a:spcPct val="100000"/>
              </a:lnSpc>
              <a:spcBef>
                <a:spcPts val="825"/>
              </a:spcBef>
            </a:pP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b="1" i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montrerAire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i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longueur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i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largeur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830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600710">
              <a:lnSpc>
                <a:spcPct val="100000"/>
              </a:lnSpc>
              <a:spcBef>
                <a:spcPts val="815"/>
              </a:spcBef>
            </a:pPr>
            <a:r>
              <a:rPr sz="2600" b="1" i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i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aire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latin typeface="Times New Roman"/>
                <a:cs typeface="Times New Roman"/>
              </a:rPr>
              <a:t>longueur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32CC"/>
                </a:solidFill>
                <a:latin typeface="Times New Roman"/>
                <a:cs typeface="Times New Roman"/>
              </a:rPr>
              <a:t>*</a:t>
            </a:r>
            <a:r>
              <a:rPr sz="2600" spc="-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largeur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  <a:p>
            <a:pPr marL="600710">
              <a:lnSpc>
                <a:spcPct val="100000"/>
              </a:lnSpc>
              <a:spcBef>
                <a:spcPts val="830"/>
              </a:spcBef>
            </a:pPr>
            <a:r>
              <a:rPr sz="2600" b="1" i="1" spc="1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600" b="1" i="1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6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600" spc="-30" dirty="0">
                <a:solidFill>
                  <a:srgbClr val="0000CC"/>
                </a:solidFill>
                <a:latin typeface="Times New Roman"/>
                <a:cs typeface="Times New Roman"/>
              </a:rPr>
              <a:t>L’aire</a:t>
            </a:r>
            <a:r>
              <a:rPr sz="26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00CC"/>
                </a:solidFill>
                <a:latin typeface="Times New Roman"/>
                <a:cs typeface="Times New Roman"/>
              </a:rPr>
              <a:t>est</a:t>
            </a:r>
            <a:r>
              <a:rPr sz="26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00CC"/>
                </a:solidFill>
                <a:latin typeface="Times New Roman"/>
                <a:cs typeface="Times New Roman"/>
              </a:rPr>
              <a:t>"</a:t>
            </a:r>
            <a:r>
              <a:rPr sz="26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aire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i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82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992" y="1432322"/>
            <a:ext cx="17780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8388" y="1392427"/>
            <a:ext cx="20320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503935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468" y="1623111"/>
            <a:ext cx="9043035" cy="201993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3050" b="1" spc="-45" dirty="0">
                <a:solidFill>
                  <a:srgbClr val="C00000"/>
                </a:solidFill>
                <a:latin typeface="Times New Roman"/>
                <a:cs typeface="Times New Roman"/>
              </a:rPr>
              <a:t>Voici</a:t>
            </a:r>
            <a:r>
              <a:rPr sz="305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l’appel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305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la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r>
              <a:rPr sz="305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3050">
              <a:latin typeface="Times New Roman"/>
              <a:cs typeface="Times New Roman"/>
            </a:endParaRPr>
          </a:p>
          <a:p>
            <a:pPr marL="96520" indent="-13970">
              <a:lnSpc>
                <a:spcPct val="100000"/>
              </a:lnSpc>
              <a:spcBef>
                <a:spcPts val="835"/>
              </a:spcBef>
            </a:pPr>
            <a:r>
              <a:rPr sz="2600" spc="15" dirty="0">
                <a:latin typeface="Times New Roman"/>
                <a:cs typeface="Times New Roman"/>
              </a:rPr>
              <a:t>Parce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</a:t>
            </a:r>
            <a:r>
              <a:rPr sz="2600" spc="10" dirty="0">
                <a:latin typeface="Times New Roman"/>
                <a:cs typeface="Times New Roman"/>
              </a:rPr>
              <a:t> les</a:t>
            </a:r>
            <a:r>
              <a:rPr sz="2600" spc="15" dirty="0">
                <a:latin typeface="Times New Roman"/>
                <a:cs typeface="Times New Roman"/>
              </a:rPr>
              <a:t> deux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ont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arguments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 par</a:t>
            </a:r>
            <a:r>
              <a:rPr sz="2600" spc="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défaut</a:t>
            </a:r>
            <a:r>
              <a:rPr sz="2600" spc="15" dirty="0">
                <a:latin typeface="Times New Roman"/>
                <a:cs typeface="Times New Roman"/>
              </a:rPr>
              <a:t>,</a:t>
            </a:r>
            <a:r>
              <a:rPr sz="2600" spc="10" dirty="0">
                <a:latin typeface="Times New Roman"/>
                <a:cs typeface="Times New Roman"/>
              </a:rPr>
              <a:t> elles</a:t>
            </a:r>
            <a:endParaRPr sz="2600">
              <a:latin typeface="Times New Roman"/>
              <a:cs typeface="Times New Roman"/>
            </a:endParaRPr>
          </a:p>
          <a:p>
            <a:pPr marL="113030" marR="5080" indent="-17145">
              <a:lnSpc>
                <a:spcPct val="101899"/>
              </a:lnSpc>
              <a:spcBef>
                <a:spcPts val="770"/>
              </a:spcBef>
            </a:pPr>
            <a:r>
              <a:rPr sz="2600" spc="15" dirty="0">
                <a:latin typeface="Times New Roman"/>
                <a:cs typeface="Times New Roman"/>
              </a:rPr>
              <a:t>peuvent éventuellement </a:t>
            </a:r>
            <a:r>
              <a:rPr sz="2600" spc="10" dirty="0">
                <a:latin typeface="Times New Roman"/>
                <a:cs typeface="Times New Roman"/>
              </a:rPr>
              <a:t>être </a:t>
            </a:r>
            <a:r>
              <a:rPr sz="2600" spc="15" dirty="0">
                <a:latin typeface="Times New Roman"/>
                <a:cs typeface="Times New Roman"/>
              </a:rPr>
              <a:t>omis dans </a:t>
            </a:r>
            <a:r>
              <a:rPr sz="2600" spc="10" dirty="0">
                <a:latin typeface="Times New Roman"/>
                <a:cs typeface="Times New Roman"/>
              </a:rPr>
              <a:t>l'appel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fonction, </a:t>
            </a:r>
            <a:r>
              <a:rPr sz="2600" spc="20" dirty="0">
                <a:latin typeface="Times New Roman"/>
                <a:cs typeface="Times New Roman"/>
              </a:rPr>
              <a:t>comme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indiqué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ici: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1293" y="3715002"/>
            <a:ext cx="199771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0" dirty="0">
                <a:latin typeface="Times New Roman"/>
                <a:cs typeface="Times New Roman"/>
              </a:rPr>
              <a:t>montrerAire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8480" y="3769866"/>
            <a:ext cx="245618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200" spc="-7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sans</a:t>
            </a:r>
            <a:r>
              <a:rPr sz="2200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argument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1288" y="4620257"/>
            <a:ext cx="3101340" cy="102552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Sortie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26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fonction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spc="-30" dirty="0">
                <a:latin typeface="Times New Roman"/>
                <a:cs typeface="Times New Roman"/>
              </a:rPr>
              <a:t>L’aire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200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0244" y="1639661"/>
            <a:ext cx="9311640" cy="148272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950"/>
              </a:spcBef>
            </a:pPr>
            <a:r>
              <a:rPr sz="260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Les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appels</a:t>
            </a:r>
            <a:r>
              <a:rPr sz="26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60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la</a:t>
            </a:r>
            <a:r>
              <a:rPr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r>
              <a:rPr sz="2600" b="1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26499"/>
              </a:lnSpc>
              <a:spcBef>
                <a:spcPts val="25"/>
              </a:spcBef>
            </a:pPr>
            <a:r>
              <a:rPr sz="2500" spc="15" dirty="0">
                <a:solidFill>
                  <a:srgbClr val="94B6D2"/>
                </a:solidFill>
                <a:latin typeface="Times New Roman"/>
                <a:cs typeface="Times New Roman"/>
              </a:rPr>
              <a:t>1) </a:t>
            </a:r>
            <a:r>
              <a:rPr sz="2400" spc="10" dirty="0">
                <a:latin typeface="Times New Roman"/>
                <a:cs typeface="Times New Roman"/>
              </a:rPr>
              <a:t>Dans </a:t>
            </a:r>
            <a:r>
              <a:rPr sz="2400" spc="5" dirty="0">
                <a:latin typeface="Times New Roman"/>
                <a:cs typeface="Times New Roman"/>
              </a:rPr>
              <a:t>l'appel </a:t>
            </a:r>
            <a:r>
              <a:rPr sz="2400" spc="10" dirty="0">
                <a:latin typeface="Times New Roman"/>
                <a:cs typeface="Times New Roman"/>
              </a:rPr>
              <a:t>ci-dessous, </a:t>
            </a:r>
            <a:r>
              <a:rPr sz="2400" spc="5" dirty="0">
                <a:latin typeface="Times New Roman"/>
                <a:cs typeface="Times New Roman"/>
              </a:rPr>
              <a:t>le premier </a:t>
            </a:r>
            <a:r>
              <a:rPr sz="2400" dirty="0">
                <a:latin typeface="Times New Roman"/>
                <a:cs typeface="Times New Roman"/>
              </a:rPr>
              <a:t>argument </a:t>
            </a:r>
            <a:r>
              <a:rPr sz="2400" spc="10" dirty="0">
                <a:latin typeface="Times New Roman"/>
                <a:cs typeface="Times New Roman"/>
              </a:rPr>
              <a:t>est </a:t>
            </a:r>
            <a:r>
              <a:rPr sz="2400" spc="5" dirty="0">
                <a:latin typeface="Times New Roman"/>
                <a:cs typeface="Times New Roman"/>
              </a:rPr>
              <a:t>spécifié, mais le </a:t>
            </a:r>
            <a:r>
              <a:rPr sz="2400" spc="10" dirty="0">
                <a:latin typeface="Times New Roman"/>
                <a:cs typeface="Times New Roman"/>
              </a:rPr>
              <a:t>second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est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omis: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2956" y="3195318"/>
            <a:ext cx="258445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25" dirty="0">
                <a:latin typeface="Times New Roman"/>
                <a:cs typeface="Times New Roman"/>
              </a:rPr>
              <a:t>m</a:t>
            </a:r>
            <a:r>
              <a:rPr sz="2600" spc="20" dirty="0">
                <a:latin typeface="Times New Roman"/>
                <a:cs typeface="Times New Roman"/>
              </a:rPr>
              <a:t>on</a:t>
            </a:r>
            <a:r>
              <a:rPr sz="2600" spc="5" dirty="0">
                <a:latin typeface="Times New Roman"/>
                <a:cs typeface="Times New Roman"/>
              </a:rPr>
              <a:t>tr</a:t>
            </a:r>
            <a:r>
              <a:rPr sz="2600" spc="15" dirty="0">
                <a:latin typeface="Times New Roman"/>
                <a:cs typeface="Times New Roman"/>
              </a:rPr>
              <a:t>e</a:t>
            </a:r>
            <a:r>
              <a:rPr sz="2600" spc="5" dirty="0">
                <a:latin typeface="Times New Roman"/>
                <a:cs typeface="Times New Roman"/>
              </a:rPr>
              <a:t>r</a:t>
            </a:r>
            <a:r>
              <a:rPr sz="2600" spc="25" dirty="0">
                <a:latin typeface="Times New Roman"/>
                <a:cs typeface="Times New Roman"/>
              </a:rPr>
              <a:t>A</a:t>
            </a:r>
            <a:r>
              <a:rPr sz="2600" spc="5" dirty="0">
                <a:latin typeface="Times New Roman"/>
                <a:cs typeface="Times New Roman"/>
              </a:rPr>
              <a:t>ir</a:t>
            </a:r>
            <a:r>
              <a:rPr sz="2600" spc="20" dirty="0">
                <a:latin typeface="Times New Roman"/>
                <a:cs typeface="Times New Roman"/>
              </a:rPr>
              <a:t>e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12.0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3067" y="3250182"/>
            <a:ext cx="335851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200" spc="-5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avec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un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seul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argument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3045" y="3596130"/>
            <a:ext cx="9018270" cy="2531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3820">
              <a:lnSpc>
                <a:spcPct val="126499"/>
              </a:lnSpc>
              <a:spcBef>
                <a:spcPts val="90"/>
              </a:spcBef>
            </a:pPr>
            <a:r>
              <a:rPr sz="2600" spc="15" dirty="0">
                <a:latin typeface="Times New Roman"/>
                <a:cs typeface="Times New Roman"/>
              </a:rPr>
              <a:t>La valeur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12.0 </a:t>
            </a:r>
            <a:r>
              <a:rPr sz="2600" spc="15" dirty="0">
                <a:latin typeface="Times New Roman"/>
                <a:cs typeface="Times New Roman"/>
              </a:rPr>
              <a:t>sera transmis à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dirty="0">
                <a:latin typeface="Times New Roman"/>
                <a:cs typeface="Times New Roman"/>
              </a:rPr>
              <a:t>longueur, </a:t>
            </a:r>
            <a:r>
              <a:rPr sz="2600" spc="10" dirty="0">
                <a:latin typeface="Times New Roman"/>
                <a:cs typeface="Times New Roman"/>
              </a:rPr>
              <a:t>tandis </a:t>
            </a:r>
            <a:r>
              <a:rPr sz="2600" spc="15" dirty="0">
                <a:latin typeface="Times New Roman"/>
                <a:cs typeface="Times New Roman"/>
              </a:rPr>
              <a:t>que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valeur par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défaut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10.0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seront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transmis à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largeur.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400">
              <a:latin typeface="Times New Roman"/>
              <a:cs typeface="Times New Roman"/>
            </a:endParaRPr>
          </a:p>
          <a:p>
            <a:pPr marL="95885" marR="5086985">
              <a:lnSpc>
                <a:spcPct val="126499"/>
              </a:lnSpc>
            </a:pPr>
            <a:r>
              <a:rPr sz="2600" spc="15" dirty="0">
                <a:latin typeface="Times New Roman"/>
                <a:cs typeface="Times New Roman"/>
              </a:rPr>
              <a:t>La </a:t>
            </a:r>
            <a:r>
              <a:rPr sz="2600" spc="10" dirty="0">
                <a:latin typeface="Times New Roman"/>
                <a:cs typeface="Times New Roman"/>
              </a:rPr>
              <a:t>sortie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la fonction </a:t>
            </a:r>
            <a:r>
              <a:rPr sz="2600" spc="15" dirty="0">
                <a:latin typeface="Times New Roman"/>
                <a:cs typeface="Times New Roman"/>
              </a:rPr>
              <a:t>sera: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L‘aire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32CC"/>
                </a:solidFill>
                <a:latin typeface="Times New Roman"/>
                <a:cs typeface="Times New Roman"/>
              </a:rPr>
              <a:t>120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9472" y="1645411"/>
            <a:ext cx="8841105" cy="2028189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905"/>
              </a:spcBef>
            </a:pPr>
            <a:r>
              <a:rPr sz="2600" b="1" spc="20" dirty="0">
                <a:solidFill>
                  <a:srgbClr val="C00000"/>
                </a:solidFill>
                <a:latin typeface="Times New Roman"/>
                <a:cs typeface="Times New Roman"/>
              </a:rPr>
              <a:t>Les</a:t>
            </a:r>
            <a:r>
              <a:rPr sz="26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appels</a:t>
            </a:r>
            <a:r>
              <a:rPr sz="26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de</a:t>
            </a:r>
            <a:r>
              <a:rPr sz="26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la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 </a:t>
            </a:r>
            <a:r>
              <a:rPr sz="26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281940" marR="5080" indent="-269875">
              <a:lnSpc>
                <a:spcPts val="3950"/>
              </a:lnSpc>
              <a:spcBef>
                <a:spcPts val="90"/>
              </a:spcBef>
            </a:pPr>
            <a:r>
              <a:rPr sz="2500" spc="15" dirty="0">
                <a:solidFill>
                  <a:srgbClr val="94B6D2"/>
                </a:solidFill>
                <a:latin typeface="Times New Roman"/>
                <a:cs typeface="Times New Roman"/>
              </a:rPr>
              <a:t>1) </a:t>
            </a:r>
            <a:r>
              <a:rPr sz="2600" spc="15" dirty="0">
                <a:latin typeface="Times New Roman"/>
                <a:cs typeface="Times New Roman"/>
              </a:rPr>
              <a:t>Bien </a:t>
            </a:r>
            <a:r>
              <a:rPr sz="2600" spc="-15" dirty="0">
                <a:latin typeface="Times New Roman"/>
                <a:cs typeface="Times New Roman"/>
              </a:rPr>
              <a:t>sûr, </a:t>
            </a:r>
            <a:r>
              <a:rPr sz="2600" spc="15" dirty="0">
                <a:latin typeface="Times New Roman"/>
                <a:cs typeface="Times New Roman"/>
              </a:rPr>
              <a:t>tous </a:t>
            </a:r>
            <a:r>
              <a:rPr sz="2600" spc="10" dirty="0">
                <a:latin typeface="Times New Roman"/>
                <a:cs typeface="Times New Roman"/>
              </a:rPr>
              <a:t>les arguments </a:t>
            </a:r>
            <a:r>
              <a:rPr sz="2600" spc="15" dirty="0">
                <a:latin typeface="Times New Roman"/>
                <a:cs typeface="Times New Roman"/>
              </a:rPr>
              <a:t>par défaut peuvent </a:t>
            </a:r>
            <a:r>
              <a:rPr sz="2600" spc="10" dirty="0">
                <a:latin typeface="Times New Roman"/>
                <a:cs typeface="Times New Roman"/>
              </a:rPr>
              <a:t>être </a:t>
            </a:r>
            <a:r>
              <a:rPr sz="2600" spc="15" dirty="0">
                <a:latin typeface="Times New Roman"/>
                <a:cs typeface="Times New Roman"/>
              </a:rPr>
              <a:t>remplacés.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Dans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l'appel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ci-dessous,</a:t>
            </a:r>
            <a:r>
              <a:rPr sz="2600" spc="10" dirty="0">
                <a:latin typeface="Times New Roman"/>
                <a:cs typeface="Times New Roman"/>
              </a:rPr>
              <a:t> 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fournis </a:t>
            </a:r>
            <a:r>
              <a:rPr sz="2600" spc="15" dirty="0">
                <a:latin typeface="Times New Roman"/>
                <a:cs typeface="Times New Roman"/>
              </a:rPr>
              <a:t> pour</a:t>
            </a:r>
            <a:r>
              <a:rPr sz="2600" spc="10" dirty="0">
                <a:latin typeface="Times New Roman"/>
                <a:cs typeface="Times New Roman"/>
              </a:rPr>
              <a:t> les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3040" y="4246878"/>
            <a:ext cx="317436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5" dirty="0">
                <a:latin typeface="Times New Roman"/>
                <a:cs typeface="Times New Roman"/>
              </a:rPr>
              <a:t>montrerAire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12.0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5.5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6071" y="4301742"/>
            <a:ext cx="164528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200" spc="-1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normal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0264" y="5249669"/>
            <a:ext cx="5958840" cy="1379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spc="15" dirty="0">
                <a:latin typeface="Times New Roman"/>
                <a:cs typeface="Times New Roman"/>
              </a:rPr>
              <a:t>La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sortie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</a:t>
            </a:r>
            <a:r>
              <a:rPr sz="2500" spc="-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l'appel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spc="15" dirty="0">
                <a:latin typeface="Times New Roman"/>
                <a:cs typeface="Times New Roman"/>
              </a:rPr>
              <a:t>de</a:t>
            </a:r>
            <a:r>
              <a:rPr sz="2500" spc="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fonction</a:t>
            </a:r>
            <a:r>
              <a:rPr sz="2500" spc="-1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ci-dessus</a:t>
            </a:r>
            <a:r>
              <a:rPr sz="2500" spc="15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sera: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500" spc="10" dirty="0">
                <a:latin typeface="Times New Roman"/>
                <a:cs typeface="Times New Roman"/>
              </a:rPr>
              <a:t>L‘aire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2500" spc="10" dirty="0">
                <a:latin typeface="Times New Roman"/>
                <a:cs typeface="Times New Roman"/>
              </a:rPr>
              <a:t>est</a:t>
            </a:r>
            <a:r>
              <a:rPr sz="2500" spc="-10" dirty="0">
                <a:latin typeface="Times New Roman"/>
                <a:cs typeface="Times New Roman"/>
              </a:rPr>
              <a:t> </a:t>
            </a:r>
            <a:r>
              <a:rPr sz="2500" spc="15" dirty="0">
                <a:solidFill>
                  <a:srgbClr val="FF32CC"/>
                </a:solidFill>
                <a:latin typeface="Times New Roman"/>
                <a:cs typeface="Times New Roman"/>
              </a:rPr>
              <a:t>66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2040" y="1652067"/>
            <a:ext cx="8991600" cy="512318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50"/>
              </a:spcBef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Remarque</a:t>
            </a:r>
            <a:r>
              <a:rPr sz="305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importante</a:t>
            </a:r>
            <a:r>
              <a:rPr sz="305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endParaRPr sz="3050">
              <a:latin typeface="Times New Roman"/>
              <a:cs typeface="Times New Roman"/>
            </a:endParaRPr>
          </a:p>
          <a:p>
            <a:pPr marL="95885" marR="554355">
              <a:lnSpc>
                <a:spcPct val="126499"/>
              </a:lnSpc>
              <a:spcBef>
                <a:spcPts val="10"/>
              </a:spcBef>
            </a:pPr>
            <a:r>
              <a:rPr sz="2600" spc="10" dirty="0">
                <a:latin typeface="Times New Roman"/>
                <a:cs typeface="Times New Roman"/>
              </a:rPr>
              <a:t>Si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15" dirty="0">
                <a:latin typeface="Times New Roman"/>
                <a:cs typeface="Times New Roman"/>
              </a:rPr>
              <a:t> n‘a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</a:t>
            </a:r>
            <a:r>
              <a:rPr sz="2600" spc="20" dirty="0">
                <a:latin typeface="Times New Roman"/>
                <a:cs typeface="Times New Roman"/>
              </a:rPr>
              <a:t> un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prototype,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défaut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peuvent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être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spécifiée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l'en-tête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fonction.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spc="15" dirty="0">
                <a:latin typeface="Times New Roman"/>
                <a:cs typeface="Times New Roman"/>
              </a:rPr>
              <a:t>La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montrerAire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6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peut </a:t>
            </a:r>
            <a:r>
              <a:rPr sz="2600" spc="10" dirty="0">
                <a:latin typeface="Times New Roman"/>
                <a:cs typeface="Times New Roman"/>
              </a:rPr>
              <a:t>être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comme</a:t>
            </a:r>
            <a:r>
              <a:rPr sz="2600" spc="10" dirty="0">
                <a:latin typeface="Times New Roman"/>
                <a:cs typeface="Times New Roman"/>
              </a:rPr>
              <a:t> suit:</a:t>
            </a:r>
            <a:endParaRPr sz="2600">
              <a:latin typeface="Times New Roman"/>
              <a:cs typeface="Times New Roman"/>
            </a:endParaRPr>
          </a:p>
          <a:p>
            <a:pPr marL="95885">
              <a:lnSpc>
                <a:spcPct val="100000"/>
              </a:lnSpc>
              <a:spcBef>
                <a:spcPts val="825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montrerAire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spc="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longueur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20.0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largeur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10.0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96520">
              <a:lnSpc>
                <a:spcPct val="100000"/>
              </a:lnSpc>
              <a:spcBef>
                <a:spcPts val="830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815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600" spc="10" dirty="0">
                <a:latin typeface="Times New Roman"/>
                <a:cs typeface="Times New Roman"/>
              </a:rPr>
              <a:t>aire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latin typeface="Times New Roman"/>
                <a:cs typeface="Times New Roman"/>
              </a:rPr>
              <a:t>longueur</a:t>
            </a:r>
            <a:r>
              <a:rPr sz="2600" spc="10" dirty="0">
                <a:solidFill>
                  <a:srgbClr val="FF0065"/>
                </a:solidFill>
                <a:latin typeface="Times New Roman"/>
                <a:cs typeface="Times New Roman"/>
              </a:rPr>
              <a:t>*</a:t>
            </a:r>
            <a:r>
              <a:rPr sz="2600" spc="10" dirty="0">
                <a:latin typeface="Times New Roman"/>
                <a:cs typeface="Times New Roman"/>
              </a:rPr>
              <a:t>largeur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  <a:spcBef>
                <a:spcPts val="830"/>
              </a:spcBef>
            </a:pPr>
            <a:r>
              <a:rPr sz="2600" spc="1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600" spc="-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6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-30" dirty="0">
                <a:solidFill>
                  <a:srgbClr val="006FC0"/>
                </a:solidFill>
                <a:latin typeface="Times New Roman"/>
                <a:cs typeface="Times New Roman"/>
              </a:rPr>
              <a:t>L’aire</a:t>
            </a:r>
            <a:r>
              <a:rPr sz="26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est</a:t>
            </a:r>
            <a:r>
              <a:rPr sz="2600" spc="-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60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aire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96520">
              <a:lnSpc>
                <a:spcPct val="100000"/>
              </a:lnSpc>
              <a:spcBef>
                <a:spcPts val="82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532" y="426211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6924" y="1559885"/>
            <a:ext cx="8743315" cy="148907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Attention:</a:t>
            </a:r>
            <a:endParaRPr sz="3050">
              <a:latin typeface="Times New Roman"/>
              <a:cs typeface="Times New Roman"/>
            </a:endParaRPr>
          </a:p>
          <a:p>
            <a:pPr marL="129539" marR="5080">
              <a:lnSpc>
                <a:spcPct val="101899"/>
              </a:lnSpc>
              <a:spcBef>
                <a:spcPts val="670"/>
              </a:spcBef>
            </a:pPr>
            <a:r>
              <a:rPr sz="2600" spc="15" dirty="0">
                <a:latin typeface="Times New Roman"/>
                <a:cs typeface="Times New Roman"/>
              </a:rPr>
              <a:t>Lorsqu'un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omis dans </a:t>
            </a: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5" dirty="0">
                <a:latin typeface="Times New Roman"/>
                <a:cs typeface="Times New Roman"/>
              </a:rPr>
              <a:t>appel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fonction,</a:t>
            </a:r>
            <a:r>
              <a:rPr sz="2600" spc="15" dirty="0">
                <a:latin typeface="Times New Roman"/>
                <a:cs typeface="Times New Roman"/>
              </a:rPr>
              <a:t> tous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arguments</a:t>
            </a:r>
            <a:r>
              <a:rPr sz="2600" spc="15" dirty="0">
                <a:latin typeface="Times New Roman"/>
                <a:cs typeface="Times New Roman"/>
              </a:rPr>
              <a:t> qui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viennent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après </a:t>
            </a:r>
            <a:r>
              <a:rPr sz="2600" spc="5" dirty="0">
                <a:latin typeface="Times New Roman"/>
                <a:cs typeface="Times New Roman"/>
              </a:rPr>
              <a:t>il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doit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être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laissé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côté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aussi.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962" y="2410169"/>
            <a:ext cx="154705" cy="16274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70744" y="3622038"/>
            <a:ext cx="300545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5" dirty="0">
                <a:latin typeface="Times New Roman"/>
                <a:cs typeface="Times New Roman"/>
              </a:rPr>
              <a:t>montrerAire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10.50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496" y="3676902"/>
            <a:ext cx="3091180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</a:t>
            </a:r>
            <a:r>
              <a:rPr sz="2200" spc="-1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f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onc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ti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on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ill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éga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l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2320" y="1433846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5716" y="1393951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532" y="426211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532" y="2343186"/>
            <a:ext cx="154705" cy="1641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3460" y="1579879"/>
            <a:ext cx="9701530" cy="384556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800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Attention:</a:t>
            </a:r>
            <a:endParaRPr sz="2600">
              <a:latin typeface="Times New Roman"/>
              <a:cs typeface="Times New Roman"/>
            </a:endParaRPr>
          </a:p>
          <a:p>
            <a:pPr marL="449580" indent="-116205">
              <a:lnSpc>
                <a:spcPct val="100000"/>
              </a:lnSpc>
              <a:spcBef>
                <a:spcPts val="705"/>
              </a:spcBef>
            </a:pPr>
            <a:r>
              <a:rPr sz="2600" spc="15" dirty="0">
                <a:latin typeface="Times New Roman"/>
                <a:cs typeface="Times New Roman"/>
              </a:rPr>
              <a:t>Lorsqu'une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utilise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mélange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avec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15" dirty="0">
                <a:latin typeface="Times New Roman"/>
                <a:cs typeface="Times New Roman"/>
              </a:rPr>
              <a:t>sans</a:t>
            </a:r>
            <a:endParaRPr sz="2600">
              <a:latin typeface="Times New Roman"/>
              <a:cs typeface="Times New Roman"/>
            </a:endParaRPr>
          </a:p>
          <a:p>
            <a:pPr marL="334010" marR="521334" indent="115570">
              <a:lnSpc>
                <a:spcPct val="101499"/>
              </a:lnSpc>
              <a:spcBef>
                <a:spcPts val="675"/>
              </a:spcBef>
            </a:pPr>
            <a:r>
              <a:rPr sz="2600" spc="10" dirty="0">
                <a:latin typeface="Times New Roman"/>
                <a:cs typeface="Times New Roman"/>
              </a:rPr>
              <a:t>arguments </a:t>
            </a:r>
            <a:r>
              <a:rPr sz="2600" spc="15" dirty="0">
                <a:latin typeface="Times New Roman"/>
                <a:cs typeface="Times New Roman"/>
              </a:rPr>
              <a:t>par </a:t>
            </a:r>
            <a:r>
              <a:rPr sz="2600" spc="10" dirty="0">
                <a:latin typeface="Times New Roman"/>
                <a:cs typeface="Times New Roman"/>
              </a:rPr>
              <a:t>défaut, le </a:t>
            </a:r>
            <a:r>
              <a:rPr sz="2600" spc="15" dirty="0">
                <a:latin typeface="Times New Roman"/>
                <a:cs typeface="Times New Roman"/>
              </a:rPr>
              <a:t>paramètre avec </a:t>
            </a:r>
            <a:r>
              <a:rPr sz="2600" spc="10" dirty="0">
                <a:latin typeface="Times New Roman"/>
                <a:cs typeface="Times New Roman"/>
              </a:rPr>
              <a:t>les arguments </a:t>
            </a:r>
            <a:r>
              <a:rPr sz="2600" spc="15" dirty="0">
                <a:latin typeface="Times New Roman"/>
                <a:cs typeface="Times New Roman"/>
              </a:rPr>
              <a:t>par défaut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doit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être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défini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</a:t>
            </a:r>
            <a:r>
              <a:rPr sz="2600" spc="-5" dirty="0">
                <a:latin typeface="Times New Roman"/>
                <a:cs typeface="Times New Roman"/>
              </a:rPr>
              <a:t> dernier.</a:t>
            </a:r>
            <a:endParaRPr sz="26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83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2600">
              <a:latin typeface="Times New Roman"/>
              <a:cs typeface="Times New Roman"/>
            </a:endParaRPr>
          </a:p>
          <a:p>
            <a:pPr marL="30480">
              <a:lnSpc>
                <a:spcPct val="100000"/>
              </a:lnSpc>
              <a:spcBef>
                <a:spcPts val="705"/>
              </a:spcBef>
            </a:pPr>
            <a:r>
              <a:rPr sz="2600" spc="15" dirty="0">
                <a:latin typeface="Times New Roman"/>
                <a:cs typeface="Times New Roman"/>
              </a:rPr>
              <a:t>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prototypes suivants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10" dirty="0">
                <a:latin typeface="Times New Roman"/>
                <a:cs typeface="Times New Roman"/>
              </a:rPr>
              <a:t> illégales:</a:t>
            </a:r>
            <a:endParaRPr sz="26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1030"/>
              </a:spcBef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b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calculPayement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numEmp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heurs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400" spc="10" dirty="0">
                <a:solidFill>
                  <a:srgbClr val="FF32CC"/>
                </a:solidFill>
                <a:latin typeface="Times New Roman"/>
                <a:cs typeface="Times New Roman"/>
              </a:rPr>
              <a:t>40.0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tauxRémun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400" b="1" spc="3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calculPayement(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heurs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400" spc="10" dirty="0">
                <a:solidFill>
                  <a:srgbClr val="FF32CC"/>
                </a:solidFill>
                <a:latin typeface="Times New Roman"/>
                <a:cs typeface="Times New Roman"/>
              </a:rPr>
              <a:t>40.0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4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numEmp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4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tauxRémun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320" y="1433846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5716" y="1393951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3000" y="1832863"/>
            <a:ext cx="6648450" cy="284670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90525" indent="-378460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Considérons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l’exemple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suivant: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sommeDeDeuxValeurs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x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y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6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en-tête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2700" marR="5040630">
              <a:lnSpc>
                <a:spcPts val="3180"/>
              </a:lnSpc>
              <a:spcBef>
                <a:spcPts val="105"/>
              </a:spcBef>
            </a:pP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spc="10" dirty="0">
                <a:latin typeface="Times New Roman"/>
                <a:cs typeface="Times New Roman"/>
              </a:rPr>
              <a:t>total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600" b="1" spc="-6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total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x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+</a:t>
            </a:r>
            <a:r>
              <a:rPr sz="2600" spc="15" dirty="0">
                <a:latin typeface="Times New Roman"/>
                <a:cs typeface="Times New Roman"/>
              </a:rPr>
              <a:t>y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ts val="3050"/>
              </a:lnSpc>
              <a:tabLst>
                <a:tab pos="2778125" algn="l"/>
              </a:tabLst>
            </a:pP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total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6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00B04F"/>
                </a:solidFill>
                <a:latin typeface="Times New Roman"/>
                <a:cs typeface="Times New Roman"/>
              </a:rPr>
              <a:t>ou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directement</a:t>
            </a:r>
            <a:r>
              <a:rPr sz="26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return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x+y;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500631"/>
            <a:ext cx="1906905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2248" y="1976119"/>
            <a:ext cx="8128000" cy="2442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965825">
              <a:lnSpc>
                <a:spcPct val="101499"/>
              </a:lnSpc>
              <a:spcBef>
                <a:spcPts val="95"/>
              </a:spcBef>
            </a:pPr>
            <a:r>
              <a:rPr sz="1950" spc="10" dirty="0">
                <a:solidFill>
                  <a:srgbClr val="008E3F"/>
                </a:solidFill>
                <a:latin typeface="Times New Roman"/>
                <a:cs typeface="Times New Roman"/>
              </a:rPr>
              <a:t>#include </a:t>
            </a:r>
            <a:r>
              <a:rPr sz="1950" spc="5" dirty="0">
                <a:solidFill>
                  <a:srgbClr val="008E3F"/>
                </a:solidFill>
                <a:latin typeface="Times New Roman"/>
                <a:cs typeface="Times New Roman"/>
              </a:rPr>
              <a:t>&lt;iostream&gt; </a:t>
            </a:r>
            <a:r>
              <a:rPr sz="1950" spc="1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195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1950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8E3F"/>
                </a:solidFill>
                <a:latin typeface="Times New Roman"/>
                <a:cs typeface="Times New Roman"/>
              </a:rPr>
              <a:t>std</a:t>
            </a:r>
            <a:r>
              <a:rPr sz="1950" spc="10" dirty="0"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Prototype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7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195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 prototype</a:t>
            </a:r>
            <a:r>
              <a:rPr sz="19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avec</a:t>
            </a:r>
            <a:r>
              <a:rPr sz="1950" spc="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une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valeur par</a:t>
            </a:r>
            <a:r>
              <a:rPr sz="19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défaut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/*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ou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6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*/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Main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main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950">
              <a:latin typeface="Times New Roman"/>
              <a:cs typeface="Times New Roman"/>
            </a:endParaRPr>
          </a:p>
          <a:p>
            <a:pPr marL="263525">
              <a:lnSpc>
                <a:spcPct val="100000"/>
              </a:lnSpc>
              <a:spcBef>
                <a:spcPts val="40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),</a:t>
            </a:r>
            <a:r>
              <a:rPr sz="19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p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),</a:t>
            </a:r>
            <a:r>
              <a:rPr sz="19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y1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y2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3708" y="4393182"/>
            <a:ext cx="3483610" cy="63055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80"/>
              </a:spcBef>
            </a:pPr>
            <a:r>
              <a:rPr sz="1950" spc="10" dirty="0">
                <a:latin typeface="Times New Roman"/>
                <a:cs typeface="Times New Roman"/>
              </a:rPr>
              <a:t>y1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dirty="0">
                <a:latin typeface="Times New Roman"/>
                <a:cs typeface="Times New Roman"/>
              </a:rPr>
              <a:t>n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1950" spc="10" dirty="0">
                <a:latin typeface="Times New Roman"/>
                <a:cs typeface="Times New Roman"/>
              </a:rPr>
              <a:t>p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1950" spc="-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y2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dirty="0">
                <a:latin typeface="Times New Roman"/>
                <a:cs typeface="Times New Roman"/>
              </a:rPr>
              <a:t>n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37135" y="4393182"/>
            <a:ext cx="3086735" cy="6305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19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"</a:t>
            </a:r>
            <a:r>
              <a:rPr sz="19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normal"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avec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un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seul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argument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2248" y="4998210"/>
            <a:ext cx="5397500" cy="24428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30"/>
              </a:spcBef>
            </a:pP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cout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79D6"/>
                </a:solidFill>
                <a:latin typeface="Times New Roman"/>
                <a:cs typeface="Times New Roman"/>
              </a:rPr>
              <a:t>"y1</a:t>
            </a:r>
            <a:r>
              <a:rPr sz="1950" spc="2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79D6"/>
                </a:solidFill>
                <a:latin typeface="Times New Roman"/>
                <a:cs typeface="Times New Roman"/>
              </a:rPr>
              <a:t>=</a:t>
            </a:r>
            <a:r>
              <a:rPr sz="195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79D6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y1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79D6"/>
                </a:solidFill>
                <a:latin typeface="Times New Roman"/>
                <a:cs typeface="Times New Roman"/>
              </a:rPr>
              <a:t>" y2</a:t>
            </a:r>
            <a:r>
              <a:rPr sz="1950" spc="2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79D6"/>
                </a:solidFill>
                <a:latin typeface="Times New Roman"/>
                <a:cs typeface="Times New Roman"/>
              </a:rPr>
              <a:t>=</a:t>
            </a:r>
            <a:r>
              <a:rPr sz="1950" dirty="0">
                <a:solidFill>
                  <a:srgbClr val="0079D6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79D6"/>
                </a:solidFill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y2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95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263525">
              <a:lnSpc>
                <a:spcPct val="100000"/>
              </a:lnSpc>
              <a:spcBef>
                <a:spcPts val="35"/>
              </a:spcBef>
            </a:pPr>
            <a:r>
              <a:rPr sz="19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5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Définition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x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y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endParaRPr sz="1950">
              <a:latin typeface="Times New Roman"/>
              <a:cs typeface="Times New Roman"/>
            </a:endParaRPr>
          </a:p>
          <a:p>
            <a:pPr marL="263525" marR="3665220">
              <a:lnSpc>
                <a:spcPct val="101499"/>
              </a:lnSpc>
              <a:spcBef>
                <a:spcPts val="10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1950" spc="10" dirty="0">
                <a:latin typeface="Times New Roman"/>
                <a:cs typeface="Times New Roman"/>
              </a:rPr>
              <a:t>total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total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1950" spc="15" dirty="0">
                <a:latin typeface="Times New Roman"/>
                <a:cs typeface="Times New Roman"/>
              </a:rPr>
              <a:t>x </a:t>
            </a:r>
            <a:r>
              <a:rPr sz="1950" spc="15" dirty="0">
                <a:solidFill>
                  <a:srgbClr val="FF32CC"/>
                </a:solidFill>
                <a:latin typeface="Times New Roman"/>
                <a:cs typeface="Times New Roman"/>
              </a:rPr>
              <a:t>+ </a:t>
            </a:r>
            <a:r>
              <a:rPr sz="1950" spc="5" dirty="0">
                <a:latin typeface="Times New Roman"/>
                <a:cs typeface="Times New Roman"/>
              </a:rPr>
              <a:t>y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5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total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sz="195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688083"/>
            <a:ext cx="2005964" cy="1404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Output:</a:t>
            </a:r>
            <a:endParaRPr sz="26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850"/>
              </a:spcBef>
            </a:pPr>
            <a:r>
              <a:rPr sz="2600" spc="-225" dirty="0">
                <a:latin typeface="Arial MT"/>
                <a:cs typeface="Arial MT"/>
              </a:rPr>
              <a:t>y</a:t>
            </a:r>
            <a:r>
              <a:rPr sz="2600" spc="-245" dirty="0">
                <a:latin typeface="Arial MT"/>
                <a:cs typeface="Arial MT"/>
              </a:rPr>
              <a:t>1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4" dirty="0">
                <a:latin typeface="Arial MT"/>
                <a:cs typeface="Arial MT"/>
              </a:rPr>
              <a:t>=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3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y</a:t>
            </a:r>
            <a:r>
              <a:rPr sz="2600" spc="-245" dirty="0">
                <a:latin typeface="Arial MT"/>
                <a:cs typeface="Arial MT"/>
              </a:rPr>
              <a:t>2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4" dirty="0">
                <a:latin typeface="Arial MT"/>
                <a:cs typeface="Arial MT"/>
              </a:rPr>
              <a:t>=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5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581403"/>
            <a:ext cx="9342120" cy="5735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Explication:</a:t>
            </a:r>
            <a:endParaRPr sz="3050">
              <a:latin typeface="Times New Roman"/>
              <a:cs typeface="Times New Roman"/>
            </a:endParaRPr>
          </a:p>
          <a:p>
            <a:pPr marL="390525" marR="589280" indent="-378460">
              <a:lnSpc>
                <a:spcPct val="101899"/>
              </a:lnSpc>
              <a:spcBef>
                <a:spcPts val="1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La </a:t>
            </a:r>
            <a:r>
              <a:rPr sz="2600" spc="10" dirty="0">
                <a:latin typeface="Times New Roman"/>
                <a:cs typeface="Times New Roman"/>
              </a:rPr>
              <a:t>déclaration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b="1" spc="5" dirty="0">
                <a:latin typeface="Times New Roman"/>
                <a:cs typeface="Times New Roman"/>
              </a:rPr>
              <a:t>sommeDeDeuxValeurs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  <a:r>
              <a:rPr sz="2600" spc="5" dirty="0">
                <a:latin typeface="Times New Roman"/>
                <a:cs typeface="Times New Roman"/>
              </a:rPr>
              <a:t>,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réalisée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prototype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1876425">
              <a:lnSpc>
                <a:spcPct val="100000"/>
              </a:lnSpc>
              <a:spcBef>
                <a:spcPts val="45"/>
              </a:spcBef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b="1" spc="5" dirty="0">
                <a:latin typeface="Times New Roman"/>
                <a:cs typeface="Times New Roman"/>
              </a:rPr>
              <a:t>sommeDeDeuxValeurs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5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La </a:t>
            </a:r>
            <a:r>
              <a:rPr sz="2600" spc="10" dirty="0">
                <a:latin typeface="Times New Roman"/>
                <a:cs typeface="Times New Roman"/>
              </a:rPr>
              <a:t>déclaration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du</a:t>
            </a:r>
            <a:r>
              <a:rPr sz="2600" spc="15" dirty="0">
                <a:latin typeface="Times New Roman"/>
                <a:cs typeface="Times New Roman"/>
              </a:rPr>
              <a:t> second </a:t>
            </a:r>
            <a:r>
              <a:rPr sz="2600" spc="10" dirty="0">
                <a:latin typeface="Times New Roman"/>
                <a:cs typeface="Times New Roman"/>
              </a:rPr>
              <a:t>argument apparaît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sous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spc="15" dirty="0">
                <a:latin typeface="Times New Roman"/>
                <a:cs typeface="Times New Roman"/>
              </a:rPr>
              <a:t> forme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65"/>
                </a:solidFill>
                <a:latin typeface="Times New Roman"/>
                <a:cs typeface="Times New Roman"/>
              </a:rPr>
              <a:t>5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5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0" dirty="0">
                <a:latin typeface="Times New Roman"/>
                <a:cs typeface="Times New Roman"/>
              </a:rPr>
              <a:t>Elle </a:t>
            </a:r>
            <a:r>
              <a:rPr sz="2600" spc="15" dirty="0">
                <a:latin typeface="Times New Roman"/>
                <a:cs typeface="Times New Roman"/>
              </a:rPr>
              <a:t>précise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compilateur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que, en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cas d’absence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second</a:t>
            </a:r>
            <a:endParaRPr sz="2600">
              <a:latin typeface="Times New Roman"/>
              <a:cs typeface="Times New Roman"/>
            </a:endParaRPr>
          </a:p>
          <a:p>
            <a:pPr marL="390525" marR="24765">
              <a:lnSpc>
                <a:spcPct val="101499"/>
              </a:lnSpc>
              <a:spcBef>
                <a:spcPts val="10"/>
              </a:spcBef>
            </a:pPr>
            <a:r>
              <a:rPr sz="2600" spc="10" dirty="0">
                <a:latin typeface="Times New Roman"/>
                <a:cs typeface="Times New Roman"/>
              </a:rPr>
              <a:t>argument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5" dirty="0">
                <a:latin typeface="Times New Roman"/>
                <a:cs typeface="Times New Roman"/>
              </a:rPr>
              <a:t>éventuel appel de </a:t>
            </a:r>
            <a:r>
              <a:rPr sz="2600" b="1" spc="5" dirty="0">
                <a:latin typeface="Times New Roman"/>
                <a:cs typeface="Times New Roman"/>
              </a:rPr>
              <a:t>sommeDeDeuxValeurs</a:t>
            </a:r>
            <a:r>
              <a:rPr sz="2600" i="1" spc="5" dirty="0">
                <a:latin typeface="Times New Roman"/>
                <a:cs typeface="Times New Roman"/>
              </a:rPr>
              <a:t>, </a:t>
            </a: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0" dirty="0">
                <a:latin typeface="Times New Roman"/>
                <a:cs typeface="Times New Roman"/>
              </a:rPr>
              <a:t>lui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faudra </a:t>
            </a:r>
            <a:r>
              <a:rPr sz="2600" spc="20" dirty="0">
                <a:latin typeface="Times New Roman"/>
                <a:cs typeface="Times New Roman"/>
              </a:rPr>
              <a:t>« </a:t>
            </a:r>
            <a:r>
              <a:rPr sz="2600" spc="10" dirty="0">
                <a:latin typeface="Times New Roman"/>
                <a:cs typeface="Times New Roman"/>
              </a:rPr>
              <a:t>faire </a:t>
            </a:r>
            <a:r>
              <a:rPr sz="2600" spc="20" dirty="0">
                <a:latin typeface="Times New Roman"/>
                <a:cs typeface="Times New Roman"/>
              </a:rPr>
              <a:t>comme </a:t>
            </a:r>
            <a:r>
              <a:rPr sz="2600" spc="15" dirty="0">
                <a:latin typeface="Times New Roman"/>
                <a:cs typeface="Times New Roman"/>
              </a:rPr>
              <a:t>si </a:t>
            </a:r>
            <a:r>
              <a:rPr sz="2600" spc="20" dirty="0">
                <a:latin typeface="Times New Roman"/>
                <a:cs typeface="Times New Roman"/>
              </a:rPr>
              <a:t>» </a:t>
            </a:r>
            <a:r>
              <a:rPr sz="2600" spc="10" dirty="0">
                <a:latin typeface="Times New Roman"/>
                <a:cs typeface="Times New Roman"/>
              </a:rPr>
              <a:t>l’appel avait été </a:t>
            </a:r>
            <a:r>
              <a:rPr sz="2600" spc="5" dirty="0">
                <a:latin typeface="Times New Roman"/>
                <a:cs typeface="Times New Roman"/>
              </a:rPr>
              <a:t>effectué </a:t>
            </a:r>
            <a:r>
              <a:rPr sz="2600" spc="15" dirty="0">
                <a:latin typeface="Times New Roman"/>
                <a:cs typeface="Times New Roman"/>
              </a:rPr>
              <a:t>avec </a:t>
            </a:r>
            <a:r>
              <a:rPr sz="2600" spc="10" dirty="0">
                <a:latin typeface="Times New Roman"/>
                <a:cs typeface="Times New Roman"/>
              </a:rPr>
              <a:t>cette 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valeur.</a:t>
            </a:r>
            <a:endParaRPr sz="2600">
              <a:latin typeface="Times New Roman"/>
              <a:cs typeface="Times New Roman"/>
            </a:endParaRPr>
          </a:p>
          <a:p>
            <a:pPr marL="390525" marR="5302250" indent="-391160" algn="r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Notez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qu’un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tel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</a:t>
            </a:r>
            <a:r>
              <a:rPr sz="2600" spc="10" dirty="0">
                <a:latin typeface="Times New Roman"/>
                <a:cs typeface="Times New Roman"/>
              </a:rPr>
              <a:t> :</a:t>
            </a:r>
            <a:endParaRPr sz="2600">
              <a:latin typeface="Times New Roman"/>
              <a:cs typeface="Times New Roman"/>
            </a:endParaRPr>
          </a:p>
          <a:p>
            <a:pPr marR="5359400" algn="r">
              <a:lnSpc>
                <a:spcPct val="100000"/>
              </a:lnSpc>
              <a:spcBef>
                <a:spcPts val="50"/>
              </a:spcBef>
            </a:pPr>
            <a:r>
              <a:rPr sz="2600" b="1" spc="5" dirty="0">
                <a:latin typeface="Times New Roman"/>
                <a:cs typeface="Times New Roman"/>
              </a:rPr>
              <a:t>sommeDeDeuxValeurs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 marR="70485">
              <a:lnSpc>
                <a:spcPct val="101499"/>
              </a:lnSpc>
              <a:spcBef>
                <a:spcPts val="15"/>
              </a:spcBef>
            </a:pPr>
            <a:r>
              <a:rPr sz="2600" spc="10" dirty="0">
                <a:latin typeface="Times New Roman"/>
                <a:cs typeface="Times New Roman"/>
              </a:rPr>
              <a:t>serait rejeté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10" dirty="0">
                <a:latin typeface="Times New Roman"/>
                <a:cs typeface="Times New Roman"/>
              </a:rPr>
              <a:t>la </a:t>
            </a:r>
            <a:r>
              <a:rPr sz="2600" spc="15" dirty="0">
                <a:latin typeface="Times New Roman"/>
                <a:cs typeface="Times New Roman"/>
              </a:rPr>
              <a:t>compilation puisque </a:t>
            </a:r>
            <a:r>
              <a:rPr sz="2600" spc="10" dirty="0">
                <a:latin typeface="Times New Roman"/>
                <a:cs typeface="Times New Roman"/>
              </a:rPr>
              <a:t>ici </a:t>
            </a: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0" dirty="0">
                <a:latin typeface="Times New Roman"/>
                <a:cs typeface="Times New Roman"/>
              </a:rPr>
              <a:t>n’était </a:t>
            </a:r>
            <a:r>
              <a:rPr sz="2600" spc="15" dirty="0">
                <a:latin typeface="Times New Roman"/>
                <a:cs typeface="Times New Roman"/>
              </a:rPr>
              <a:t>pas prévu de valeur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défaut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pour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premier </a:t>
            </a:r>
            <a:r>
              <a:rPr sz="2600" spc="10" dirty="0">
                <a:latin typeface="Times New Roman"/>
                <a:cs typeface="Times New Roman"/>
              </a:rPr>
              <a:t>argument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la fonction.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581403"/>
            <a:ext cx="8542655" cy="261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#include</a:t>
            </a:r>
            <a:r>
              <a:rPr sz="1950" b="1" spc="-30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&lt;iostream&gt;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950" spc="10" dirty="0">
                <a:solidFill>
                  <a:srgbClr val="006FC0"/>
                </a:solidFill>
                <a:latin typeface="Times New Roman"/>
                <a:cs typeface="Times New Roman"/>
              </a:rPr>
              <a:t>using</a:t>
            </a:r>
            <a:r>
              <a:rPr sz="1950" spc="-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6FC0"/>
                </a:solidFill>
                <a:latin typeface="Times New Roman"/>
                <a:cs typeface="Times New Roman"/>
              </a:rPr>
              <a:t>namespace</a:t>
            </a:r>
            <a:r>
              <a:rPr sz="1950" spc="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std</a:t>
            </a:r>
            <a:r>
              <a:rPr sz="19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Prototype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in</a:t>
            </a:r>
            <a:r>
              <a:rPr sz="1950" dirty="0">
                <a:latin typeface="Times New Roman"/>
                <a:cs typeface="Times New Roman"/>
              </a:rPr>
              <a:t>t</a:t>
            </a:r>
            <a:r>
              <a:rPr sz="1950" spc="7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1950" spc="15" dirty="0">
                <a:solidFill>
                  <a:srgbClr val="FF32CC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 prototype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avec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 deux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valeurs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par</a:t>
            </a:r>
            <a:r>
              <a:rPr sz="19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défaut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Main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-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main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1950">
              <a:latin typeface="Times New Roman"/>
              <a:cs typeface="Times New Roman"/>
            </a:endParaRPr>
          </a:p>
          <a:p>
            <a:pPr marL="263525">
              <a:lnSpc>
                <a:spcPct val="100000"/>
              </a:lnSpc>
              <a:spcBef>
                <a:spcPts val="35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n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),</a:t>
            </a:r>
            <a:r>
              <a:rPr sz="19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p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20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),</a:t>
            </a:r>
            <a:r>
              <a:rPr sz="19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y1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y2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y3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3708" y="4172202"/>
            <a:ext cx="3483610" cy="9321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85"/>
              </a:spcBef>
            </a:pPr>
            <a:r>
              <a:rPr sz="1950" spc="10" dirty="0">
                <a:latin typeface="Times New Roman"/>
                <a:cs typeface="Times New Roman"/>
              </a:rPr>
              <a:t>y1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dirty="0">
                <a:latin typeface="Times New Roman"/>
                <a:cs typeface="Times New Roman"/>
              </a:rPr>
              <a:t>n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, </a:t>
            </a:r>
            <a:r>
              <a:rPr sz="1950" spc="10" dirty="0">
                <a:latin typeface="Times New Roman"/>
                <a:cs typeface="Times New Roman"/>
              </a:rPr>
              <a:t>p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1950" spc="-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y2</a:t>
            </a:r>
            <a:r>
              <a:rPr sz="1950" spc="105" dirty="0"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spc="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dirty="0">
                <a:latin typeface="Times New Roman"/>
                <a:cs typeface="Times New Roman"/>
              </a:rPr>
              <a:t>n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y3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19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73127" y="4172202"/>
            <a:ext cx="3150870" cy="932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19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"</a:t>
            </a:r>
            <a:r>
              <a:rPr sz="19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normal"</a:t>
            </a:r>
            <a:endParaRPr sz="195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  <a:spcBef>
                <a:spcPts val="35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avec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un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seul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argument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appel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sans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argument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2248" y="5078981"/>
            <a:ext cx="7256780" cy="24428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30"/>
              </a:spcBef>
            </a:pP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cout</a:t>
            </a:r>
            <a:r>
              <a:rPr sz="1950" b="1" spc="1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"y1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=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y1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" y2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=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"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y2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" y3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Times New Roman"/>
                <a:cs typeface="Times New Roman"/>
              </a:rPr>
              <a:t>=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"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y3</a:t>
            </a:r>
            <a:r>
              <a:rPr sz="1950" spc="20" dirty="0"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8E3F"/>
                </a:solidFill>
                <a:latin typeface="Times New Roman"/>
                <a:cs typeface="Times New Roman"/>
              </a:rPr>
              <a:t>endl</a:t>
            </a:r>
            <a:r>
              <a:rPr sz="1950" b="1" spc="5" dirty="0">
                <a:solidFill>
                  <a:srgbClr val="008E3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263525">
              <a:lnSpc>
                <a:spcPct val="100000"/>
              </a:lnSpc>
              <a:spcBef>
                <a:spcPts val="35"/>
              </a:spcBef>
            </a:pPr>
            <a:r>
              <a:rPr sz="19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5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Définition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195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sommeDeDeuxValeurs</a:t>
            </a:r>
            <a:r>
              <a:rPr sz="195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spc="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x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195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latin typeface="Times New Roman"/>
                <a:cs typeface="Times New Roman"/>
              </a:rPr>
              <a:t>y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){</a:t>
            </a:r>
            <a:endParaRPr sz="1950">
              <a:latin typeface="Times New Roman"/>
              <a:cs typeface="Times New Roman"/>
            </a:endParaRPr>
          </a:p>
          <a:p>
            <a:pPr marL="263525" marR="5586730">
              <a:lnSpc>
                <a:spcPct val="101499"/>
              </a:lnSpc>
              <a:spcBef>
                <a:spcPts val="10"/>
              </a:spcBef>
            </a:pPr>
            <a:r>
              <a:rPr sz="19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1950" spc="10" dirty="0">
                <a:latin typeface="Times New Roman"/>
                <a:cs typeface="Times New Roman"/>
              </a:rPr>
              <a:t>total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19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total </a:t>
            </a:r>
            <a:r>
              <a:rPr sz="1950" spc="15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1950" spc="15" dirty="0">
                <a:latin typeface="Times New Roman"/>
                <a:cs typeface="Times New Roman"/>
              </a:rPr>
              <a:t>x </a:t>
            </a:r>
            <a:r>
              <a:rPr sz="1950" spc="15" dirty="0">
                <a:solidFill>
                  <a:srgbClr val="FF32CC"/>
                </a:solidFill>
                <a:latin typeface="Times New Roman"/>
                <a:cs typeface="Times New Roman"/>
              </a:rPr>
              <a:t>+ </a:t>
            </a:r>
            <a:r>
              <a:rPr sz="1950" spc="5" dirty="0">
                <a:latin typeface="Times New Roman"/>
                <a:cs typeface="Times New Roman"/>
              </a:rPr>
              <a:t>y</a:t>
            </a:r>
            <a:r>
              <a:rPr sz="1950" spc="5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9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1950" b="1" spc="-5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total</a:t>
            </a:r>
            <a:r>
              <a:rPr sz="1950" spc="10" dirty="0">
                <a:solidFill>
                  <a:srgbClr val="FF0000"/>
                </a:solidFill>
                <a:latin typeface="Times New Roman"/>
                <a:cs typeface="Times New Roman"/>
              </a:rPr>
              <a:t>;}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07720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275" dirty="0"/>
              <a:t>V</a:t>
            </a:r>
            <a:r>
              <a:rPr spc="-105" dirty="0"/>
              <a:t>a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pou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70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305" dirty="0"/>
              <a:t>en</a:t>
            </a:r>
            <a:r>
              <a:rPr spc="-285" dirty="0"/>
              <a:t>t</a:t>
            </a:r>
            <a:r>
              <a:rPr spc="-505" dirty="0"/>
              <a:t>s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688083"/>
            <a:ext cx="2845435" cy="1404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Output:</a:t>
            </a:r>
            <a:endParaRPr sz="26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850"/>
              </a:spcBef>
            </a:pPr>
            <a:r>
              <a:rPr sz="2600" spc="-225" dirty="0">
                <a:latin typeface="Arial MT"/>
                <a:cs typeface="Arial MT"/>
              </a:rPr>
              <a:t>y</a:t>
            </a:r>
            <a:r>
              <a:rPr sz="2600" spc="-245" dirty="0">
                <a:latin typeface="Arial MT"/>
                <a:cs typeface="Arial MT"/>
              </a:rPr>
              <a:t>1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4" dirty="0">
                <a:latin typeface="Arial MT"/>
                <a:cs typeface="Arial MT"/>
              </a:rPr>
              <a:t>=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3</a:t>
            </a:r>
            <a:r>
              <a:rPr sz="2600" spc="-245" dirty="0">
                <a:latin typeface="Arial MT"/>
                <a:cs typeface="Arial MT"/>
              </a:rPr>
              <a:t>0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y</a:t>
            </a:r>
            <a:r>
              <a:rPr sz="2600" spc="-245" dirty="0">
                <a:latin typeface="Arial MT"/>
                <a:cs typeface="Arial MT"/>
              </a:rPr>
              <a:t>2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4" dirty="0">
                <a:latin typeface="Arial MT"/>
                <a:cs typeface="Arial MT"/>
              </a:rPr>
              <a:t>=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5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y</a:t>
            </a:r>
            <a:r>
              <a:rPr sz="2600" spc="-245" dirty="0">
                <a:latin typeface="Arial MT"/>
                <a:cs typeface="Arial MT"/>
              </a:rPr>
              <a:t>3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4" dirty="0">
                <a:latin typeface="Arial MT"/>
                <a:cs typeface="Arial MT"/>
              </a:rPr>
              <a:t>=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45" dirty="0">
                <a:latin typeface="Arial MT"/>
                <a:cs typeface="Arial MT"/>
              </a:rPr>
              <a:t>5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42264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5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295" dirty="0"/>
              <a:t>r</a:t>
            </a:r>
            <a:r>
              <a:rPr spc="-305" dirty="0"/>
              <a:t>op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290" dirty="0"/>
              <a:t>é</a:t>
            </a:r>
            <a:r>
              <a:rPr spc="-285" dirty="0"/>
              <a:t>t</a:t>
            </a:r>
            <a:r>
              <a:rPr spc="-305" dirty="0"/>
              <a:t>é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752" y="1691131"/>
            <a:ext cx="9171305" cy="2442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1061085" indent="-378460">
              <a:lnSpc>
                <a:spcPct val="101499"/>
              </a:lnSpc>
              <a:spcBef>
                <a:spcPts val="9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valeurs par défaut sont </a:t>
            </a:r>
            <a:r>
              <a:rPr sz="2600" spc="10" dirty="0">
                <a:latin typeface="Times New Roman"/>
                <a:cs typeface="Times New Roman"/>
              </a:rPr>
              <a:t>spécifiées </a:t>
            </a:r>
            <a:r>
              <a:rPr sz="2600" spc="15" dirty="0">
                <a:latin typeface="Times New Roman"/>
                <a:cs typeface="Times New Roman"/>
              </a:rPr>
              <a:t>uniquement dans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prototype</a:t>
            </a:r>
            <a:r>
              <a:rPr sz="2600" spc="15" dirty="0">
                <a:latin typeface="Times New Roman"/>
                <a:cs typeface="Times New Roman"/>
              </a:rPr>
              <a:t>,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définition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de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 la</a:t>
            </a:r>
            <a:r>
              <a:rPr sz="260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fonction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390525" marR="5080" indent="-378460">
              <a:lnSpc>
                <a:spcPct val="101499"/>
              </a:lnSpc>
              <a:spcBef>
                <a:spcPts val="15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valeurs par défaut </a:t>
            </a:r>
            <a:r>
              <a:rPr sz="2600" spc="15" dirty="0">
                <a:latin typeface="Times New Roman"/>
                <a:cs typeface="Times New Roman"/>
              </a:rPr>
              <a:t>doivent </a:t>
            </a:r>
            <a:r>
              <a:rPr sz="2600" spc="10" dirty="0">
                <a:latin typeface="Times New Roman"/>
                <a:cs typeface="Times New Roman"/>
              </a:rPr>
              <a:t>obligatoirement apparaître </a:t>
            </a:r>
            <a:r>
              <a:rPr sz="2600" b="1" spc="20" dirty="0">
                <a:solidFill>
                  <a:srgbClr val="6F2FA0"/>
                </a:solidFill>
                <a:latin typeface="Times New Roman"/>
                <a:cs typeface="Times New Roman"/>
              </a:rPr>
              <a:t>en </a:t>
            </a:r>
            <a:r>
              <a:rPr sz="2600" b="1" spc="25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dernier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liste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d’une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 (c'est-à-dire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droite).</a:t>
            </a:r>
            <a:endParaRPr sz="2600">
              <a:latin typeface="Times New Roman"/>
              <a:cs typeface="Times New Roman"/>
            </a:endParaRPr>
          </a:p>
          <a:p>
            <a:pPr marL="390525" indent="-378460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Font typeface="Wingdings"/>
              <a:buChar char=""/>
              <a:tabLst>
                <a:tab pos="391160" algn="l"/>
              </a:tabLst>
            </a:pPr>
            <a:r>
              <a:rPr sz="2600" spc="15" dirty="0">
                <a:latin typeface="Times New Roman"/>
                <a:cs typeface="Times New Roman"/>
              </a:rPr>
              <a:t>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compilateur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analyse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 de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gauche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droite.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842264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5" dirty="0"/>
              <a:t>L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65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295" dirty="0"/>
              <a:t>r</a:t>
            </a:r>
            <a:r>
              <a:rPr spc="-305" dirty="0"/>
              <a:t>op</a:t>
            </a:r>
            <a:r>
              <a:rPr spc="-295" dirty="0"/>
              <a:t>r</a:t>
            </a:r>
            <a:r>
              <a:rPr spc="-70" dirty="0"/>
              <a:t>i</a:t>
            </a:r>
            <a:r>
              <a:rPr spc="-290" dirty="0"/>
              <a:t>é</a:t>
            </a:r>
            <a:r>
              <a:rPr spc="-285" dirty="0"/>
              <a:t>t</a:t>
            </a:r>
            <a:r>
              <a:rPr spc="-305" dirty="0"/>
              <a:t>é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e</a:t>
            </a:r>
            <a:r>
              <a:rPr spc="-505" dirty="0"/>
              <a:t>s</a:t>
            </a:r>
            <a:r>
              <a:rPr b="0" spc="50" dirty="0">
                <a:latin typeface="Times New Roman"/>
                <a:cs typeface="Times New Roman"/>
              </a:rPr>
              <a:t> </a:t>
            </a:r>
            <a:r>
              <a:rPr spc="-105" dirty="0"/>
              <a:t>a</a:t>
            </a:r>
            <a:r>
              <a:rPr spc="-210" dirty="0"/>
              <a:t>r</a:t>
            </a:r>
            <a:r>
              <a:rPr spc="-320" dirty="0"/>
              <a:t>g</a:t>
            </a:r>
            <a:r>
              <a:rPr spc="-305" dirty="0"/>
              <a:t>u</a:t>
            </a:r>
            <a:r>
              <a:rPr spc="-375" dirty="0"/>
              <a:t>m</a:t>
            </a:r>
            <a:r>
              <a:rPr spc="-290" dirty="0"/>
              <a:t>e</a:t>
            </a:r>
            <a:r>
              <a:rPr spc="-315" dirty="0"/>
              <a:t>n</a:t>
            </a:r>
            <a:r>
              <a:rPr spc="-285" dirty="0"/>
              <a:t>t</a:t>
            </a:r>
            <a:r>
              <a:rPr spc="-505" dirty="0"/>
              <a:t>s</a:t>
            </a:r>
            <a:r>
              <a:rPr b="0" spc="40" dirty="0">
                <a:latin typeface="Times New Roman"/>
                <a:cs typeface="Times New Roman"/>
              </a:rPr>
              <a:t> </a:t>
            </a:r>
            <a:r>
              <a:rPr spc="-305" dirty="0"/>
              <a:t>p</a:t>
            </a:r>
            <a:r>
              <a:rPr spc="-105" dirty="0"/>
              <a:t>a</a:t>
            </a:r>
            <a:r>
              <a:rPr spc="-295" dirty="0"/>
              <a:t>r</a:t>
            </a:r>
            <a:r>
              <a:rPr b="0" spc="4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35" dirty="0"/>
              <a:t>f</a:t>
            </a:r>
            <a:r>
              <a:rPr spc="-105" dirty="0"/>
              <a:t>a</a:t>
            </a:r>
            <a:r>
              <a:rPr spc="-305" dirty="0"/>
              <a:t>u</a:t>
            </a:r>
            <a:r>
              <a:rPr spc="-285" dirty="0"/>
              <a:t>t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688083"/>
            <a:ext cx="9211945" cy="16954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305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spcBef>
                <a:spcPts val="70"/>
              </a:spcBef>
              <a:buClr>
                <a:srgbClr val="006FC0"/>
              </a:buClr>
              <a:buAutoNum type="arabicPeriod"/>
              <a:tabLst>
                <a:tab pos="516890" algn="l"/>
                <a:tab pos="517525" algn="l"/>
                <a:tab pos="4886325" algn="l"/>
              </a:tabLst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float</a:t>
            </a:r>
            <a:r>
              <a:rPr sz="26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10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long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déclaration</a:t>
            </a:r>
            <a:r>
              <a:rPr sz="2200" spc="-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interdite</a:t>
            </a:r>
            <a:endParaRPr sz="220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AutoNum type="arabicPeriod"/>
              <a:tabLst>
                <a:tab pos="516890" algn="l"/>
                <a:tab pos="517525" algn="l"/>
                <a:tab pos="4766945" algn="l"/>
              </a:tabLst>
            </a:pPr>
            <a:r>
              <a:rPr sz="2600" spc="5" dirty="0">
                <a:latin typeface="Times New Roman"/>
                <a:cs typeface="Times New Roman"/>
              </a:rPr>
              <a:t>sommeDeDeuxValeurs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5" dirty="0">
                <a:solidFill>
                  <a:srgbClr val="FF32CC"/>
                </a:solidFill>
                <a:latin typeface="Times New Roman"/>
                <a:cs typeface="Times New Roman"/>
              </a:rPr>
              <a:t>3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5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);	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//on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ne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peut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pas</a:t>
            </a:r>
            <a:r>
              <a:rPr sz="2200" spc="-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«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sauter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»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des</a:t>
            </a:r>
            <a:endParaRPr sz="2200">
              <a:latin typeface="Times New Roman"/>
              <a:cs typeface="Times New Roman"/>
            </a:endParaRPr>
          </a:p>
          <a:p>
            <a:pPr marL="4714240">
              <a:lnSpc>
                <a:spcPct val="100000"/>
              </a:lnSpc>
              <a:spcBef>
                <a:spcPts val="445"/>
              </a:spcBef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//paramètres,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même</a:t>
            </a:r>
            <a:r>
              <a:rPr sz="2200" spc="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s'ils</a:t>
            </a:r>
            <a:r>
              <a:rPr sz="22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sont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facultatifs.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23107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5" dirty="0"/>
              <a:t>Récursivité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691131"/>
            <a:ext cx="9068435" cy="314896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16890" indent="-504825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516890" algn="l"/>
                <a:tab pos="517525" algn="l"/>
              </a:tabLst>
            </a:pPr>
            <a:r>
              <a:rPr sz="2600" spc="20" dirty="0">
                <a:latin typeface="Times New Roman"/>
                <a:cs typeface="Times New Roman"/>
              </a:rPr>
              <a:t>Une</a:t>
            </a:r>
            <a:r>
              <a:rPr sz="2600" spc="10" dirty="0">
                <a:latin typeface="Times New Roman"/>
                <a:cs typeface="Times New Roman"/>
              </a:rPr>
              <a:t> 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dite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récursive</a:t>
            </a:r>
            <a:r>
              <a:rPr sz="260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si</a:t>
            </a:r>
            <a:r>
              <a:rPr sz="2600" spc="10" dirty="0">
                <a:latin typeface="Times New Roman"/>
                <a:cs typeface="Times New Roman"/>
              </a:rPr>
              <a:t> elle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s’appelle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elle-même.</a:t>
            </a:r>
            <a:endParaRPr sz="260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spcBef>
                <a:spcPts val="45"/>
              </a:spcBef>
              <a:buClr>
                <a:srgbClr val="006FC0"/>
              </a:buClr>
              <a:buFont typeface="Wingdings"/>
              <a:buChar char=""/>
              <a:tabLst>
                <a:tab pos="516890" algn="l"/>
                <a:tab pos="517525" algn="l"/>
              </a:tabLst>
            </a:pPr>
            <a:r>
              <a:rPr sz="2600" spc="20" dirty="0">
                <a:latin typeface="Times New Roman"/>
                <a:cs typeface="Times New Roman"/>
              </a:rPr>
              <a:t>C++</a:t>
            </a:r>
            <a:r>
              <a:rPr sz="2600" spc="10" dirty="0">
                <a:latin typeface="Times New Roman"/>
                <a:cs typeface="Times New Roman"/>
              </a:rPr>
              <a:t> autorise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 récursivité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fonctions.</a:t>
            </a:r>
            <a:endParaRPr sz="260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spcBef>
                <a:spcPts val="60"/>
              </a:spcBef>
              <a:buClr>
                <a:srgbClr val="006FC0"/>
              </a:buClr>
              <a:buFont typeface="Wingdings"/>
              <a:buChar char=""/>
              <a:tabLst>
                <a:tab pos="516890" algn="l"/>
                <a:tab pos="517525" algn="l"/>
              </a:tabLst>
            </a:pPr>
            <a:r>
              <a:rPr sz="2600" spc="10" dirty="0">
                <a:latin typeface="Times New Roman"/>
                <a:cs typeface="Times New Roman"/>
              </a:rPr>
              <a:t>Elle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peut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prendre deux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aspects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90525" marR="5080" lvl="1">
              <a:lnSpc>
                <a:spcPct val="101400"/>
              </a:lnSpc>
              <a:spcBef>
                <a:spcPts val="5"/>
              </a:spcBef>
              <a:buClr>
                <a:srgbClr val="006FC0"/>
              </a:buClr>
              <a:buFont typeface="Wingdings"/>
              <a:buChar char=""/>
              <a:tabLst>
                <a:tab pos="628650" algn="l"/>
              </a:tabLst>
            </a:pP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récursivité </a:t>
            </a:r>
            <a:r>
              <a:rPr sz="2600" b="1" spc="5" dirty="0">
                <a:solidFill>
                  <a:srgbClr val="6F2FA0"/>
                </a:solidFill>
                <a:latin typeface="Times New Roman"/>
                <a:cs typeface="Times New Roman"/>
              </a:rPr>
              <a:t>directe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: </a:t>
            </a:r>
            <a:r>
              <a:rPr sz="2400" spc="10" dirty="0">
                <a:latin typeface="Times New Roman"/>
                <a:cs typeface="Times New Roman"/>
              </a:rPr>
              <a:t>une </a:t>
            </a:r>
            <a:r>
              <a:rPr sz="2400" spc="5" dirty="0">
                <a:latin typeface="Times New Roman"/>
                <a:cs typeface="Times New Roman"/>
              </a:rPr>
              <a:t>fonction comporte, </a:t>
            </a:r>
            <a:r>
              <a:rPr sz="2400" spc="10" dirty="0">
                <a:latin typeface="Times New Roman"/>
                <a:cs typeface="Times New Roman"/>
              </a:rPr>
              <a:t>dans sa </a:t>
            </a:r>
            <a:r>
              <a:rPr sz="2400" spc="5" dirty="0">
                <a:latin typeface="Times New Roman"/>
                <a:cs typeface="Times New Roman"/>
              </a:rPr>
              <a:t>définition, </a:t>
            </a:r>
            <a:r>
              <a:rPr sz="2400" spc="10" dirty="0">
                <a:latin typeface="Times New Roman"/>
                <a:cs typeface="Times New Roman"/>
              </a:rPr>
              <a:t>au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moins</a:t>
            </a:r>
            <a:r>
              <a:rPr sz="2400" spc="10" dirty="0">
                <a:latin typeface="Times New Roman"/>
                <a:cs typeface="Times New Roman"/>
              </a:rPr>
              <a:t> un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appel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à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elle-même;</a:t>
            </a:r>
            <a:endParaRPr sz="2400">
              <a:latin typeface="Times New Roman"/>
              <a:cs typeface="Times New Roman"/>
            </a:endParaRPr>
          </a:p>
          <a:p>
            <a:pPr marL="390525" marR="304165" lvl="1">
              <a:lnSpc>
                <a:spcPct val="101099"/>
              </a:lnSpc>
              <a:spcBef>
                <a:spcPts val="5"/>
              </a:spcBef>
              <a:buClr>
                <a:srgbClr val="006FC0"/>
              </a:buClr>
              <a:buFont typeface="Wingdings"/>
              <a:buChar char=""/>
              <a:tabLst>
                <a:tab pos="628650" algn="l"/>
              </a:tabLst>
            </a:pP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récursivité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croisée : </a:t>
            </a:r>
            <a:r>
              <a:rPr sz="2400" spc="5" dirty="0">
                <a:latin typeface="Times New Roman"/>
                <a:cs typeface="Times New Roman"/>
              </a:rPr>
              <a:t>l’appel d’une fonction entraîne celui d’une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autre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fonction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qui, </a:t>
            </a:r>
            <a:r>
              <a:rPr sz="2400" spc="10" dirty="0">
                <a:latin typeface="Times New Roman"/>
                <a:cs typeface="Times New Roman"/>
              </a:rPr>
              <a:t>à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son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tour,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appelle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la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fonction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initiale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(le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cycle </a:t>
            </a:r>
            <a:r>
              <a:rPr sz="2400" spc="10" dirty="0">
                <a:latin typeface="Times New Roman"/>
                <a:cs typeface="Times New Roman"/>
              </a:rPr>
              <a:t> pouvant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d’ailleurs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faire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intervenir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plus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deux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fonctions).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23107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5" dirty="0"/>
              <a:t>Récursivité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691131"/>
            <a:ext cx="8763635" cy="203898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516890" indent="-504825">
              <a:lnSpc>
                <a:spcPct val="100000"/>
              </a:lnSpc>
              <a:spcBef>
                <a:spcPts val="140"/>
              </a:spcBef>
              <a:buClr>
                <a:srgbClr val="006FC0"/>
              </a:buClr>
              <a:buFont typeface="Wingdings"/>
              <a:buChar char=""/>
              <a:tabLst>
                <a:tab pos="516890" algn="l"/>
                <a:tab pos="517525" algn="l"/>
              </a:tabLst>
            </a:pPr>
            <a:r>
              <a:rPr sz="2600" spc="20" dirty="0">
                <a:latin typeface="Times New Roman"/>
                <a:cs typeface="Times New Roman"/>
              </a:rPr>
              <a:t>Un </a:t>
            </a:r>
            <a:r>
              <a:rPr sz="2600" spc="15" dirty="0">
                <a:latin typeface="Times New Roman"/>
                <a:cs typeface="Times New Roman"/>
              </a:rPr>
              <a:t>programme </a:t>
            </a:r>
            <a:r>
              <a:rPr sz="2600" spc="10" dirty="0">
                <a:latin typeface="Times New Roman"/>
                <a:cs typeface="Times New Roman"/>
              </a:rPr>
              <a:t>récursif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se </a:t>
            </a:r>
            <a:r>
              <a:rPr sz="2600" spc="20" dirty="0">
                <a:latin typeface="Times New Roman"/>
                <a:cs typeface="Times New Roman"/>
              </a:rPr>
              <a:t>compose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 </a:t>
            </a:r>
            <a:r>
              <a:rPr sz="2600" spc="10" dirty="0">
                <a:latin typeface="Times New Roman"/>
                <a:cs typeface="Times New Roman"/>
              </a:rPr>
              <a:t>parties:</a:t>
            </a:r>
            <a:endParaRPr sz="2600">
              <a:latin typeface="Times New Roman"/>
              <a:cs typeface="Times New Roman"/>
            </a:endParaRPr>
          </a:p>
          <a:p>
            <a:pPr marL="562610" marR="132715" lvl="1" indent="-251460">
              <a:lnSpc>
                <a:spcPts val="318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"/>
              <a:tabLst>
                <a:tab pos="530860" algn="l"/>
              </a:tabLst>
            </a:pPr>
            <a:r>
              <a:rPr sz="2600" spc="20" dirty="0">
                <a:latin typeface="Times New Roman"/>
                <a:cs typeface="Times New Roman"/>
              </a:rPr>
              <a:t>Au </a:t>
            </a:r>
            <a:r>
              <a:rPr sz="2600" spc="15" dirty="0">
                <a:latin typeface="Times New Roman"/>
                <a:cs typeface="Times New Roman"/>
              </a:rPr>
              <a:t>moins une </a:t>
            </a:r>
            <a:r>
              <a:rPr sz="2600" b="1" spc="15" dirty="0">
                <a:latin typeface="Times New Roman"/>
                <a:cs typeface="Times New Roman"/>
              </a:rPr>
              <a:t>condition d’arrêt </a:t>
            </a:r>
            <a:r>
              <a:rPr sz="2600" spc="15" dirty="0">
                <a:latin typeface="Times New Roman"/>
                <a:cs typeface="Times New Roman"/>
              </a:rPr>
              <a:t>des appels </a:t>
            </a:r>
            <a:r>
              <a:rPr sz="2600" spc="10" dirty="0">
                <a:latin typeface="Times New Roman"/>
                <a:cs typeface="Times New Roman"/>
              </a:rPr>
              <a:t>récursifs, </a:t>
            </a:r>
            <a:r>
              <a:rPr sz="2600" spc="20" dirty="0">
                <a:latin typeface="Times New Roman"/>
                <a:cs typeface="Times New Roman"/>
              </a:rPr>
              <a:t>où </a:t>
            </a:r>
            <a:r>
              <a:rPr sz="2600" spc="10" dirty="0">
                <a:latin typeface="Times New Roman"/>
                <a:cs typeface="Times New Roman"/>
              </a:rPr>
              <a:t>les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valeurs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déterminer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 immédiatement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connues.</a:t>
            </a:r>
            <a:endParaRPr sz="2600">
              <a:latin typeface="Times New Roman"/>
              <a:cs typeface="Times New Roman"/>
            </a:endParaRPr>
          </a:p>
          <a:p>
            <a:pPr marL="554990" lvl="1" indent="-238760">
              <a:lnSpc>
                <a:spcPts val="3050"/>
              </a:lnSpc>
              <a:buClr>
                <a:srgbClr val="006FC0"/>
              </a:buClr>
              <a:buFont typeface="Wingdings"/>
              <a:buChar char=""/>
              <a:tabLst>
                <a:tab pos="555625" algn="l"/>
              </a:tabLst>
            </a:pPr>
            <a:r>
              <a:rPr sz="2600" spc="20" dirty="0">
                <a:latin typeface="Times New Roman"/>
                <a:cs typeface="Times New Roman"/>
              </a:rPr>
              <a:t>Un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appel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récursif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r>
              <a:rPr sz="2600" spc="15" dirty="0">
                <a:latin typeface="Times New Roman"/>
                <a:cs typeface="Times New Roman"/>
              </a:rPr>
              <a:t> La</a:t>
            </a:r>
            <a:r>
              <a:rPr sz="2600" spc="10" dirty="0">
                <a:latin typeface="Times New Roman"/>
                <a:cs typeface="Times New Roman"/>
              </a:rPr>
              <a:t> fonction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s’appelle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elle-même,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</a:t>
            </a:r>
            <a:r>
              <a:rPr sz="2600" spc="20" dirty="0">
                <a:latin typeface="Times New Roman"/>
                <a:cs typeface="Times New Roman"/>
              </a:rPr>
              <a:t> un</a:t>
            </a:r>
            <a:endParaRPr sz="2600">
              <a:latin typeface="Times New Roman"/>
              <a:cs typeface="Times New Roman"/>
            </a:endParaRPr>
          </a:p>
          <a:p>
            <a:pPr marL="568960">
              <a:lnSpc>
                <a:spcPct val="100000"/>
              </a:lnSpc>
              <a:spcBef>
                <a:spcPts val="50"/>
              </a:spcBef>
            </a:pPr>
            <a:r>
              <a:rPr sz="2600" spc="10" dirty="0">
                <a:latin typeface="Times New Roman"/>
                <a:cs typeface="Times New Roman"/>
              </a:rPr>
              <a:t>autre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environnement.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23107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5" dirty="0"/>
              <a:t>Récursivité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7864" y="1688083"/>
            <a:ext cx="8582025" cy="13042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La</a:t>
            </a:r>
            <a:r>
              <a:rPr sz="3050" b="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structure</a:t>
            </a:r>
            <a:r>
              <a:rPr sz="305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d’une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r>
              <a:rPr sz="305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5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récursive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600" b="1" dirty="0">
                <a:solidFill>
                  <a:srgbClr val="001F5F"/>
                </a:solidFill>
                <a:latin typeface="Times New Roman"/>
                <a:cs typeface="Times New Roman"/>
              </a:rPr>
              <a:t>typeDeValeurRetour</a:t>
            </a:r>
            <a:r>
              <a:rPr sz="2600" b="1" spc="3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fonctionRecursive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i="1" spc="10" dirty="0">
                <a:solidFill>
                  <a:srgbClr val="00B0F0"/>
                </a:solidFill>
                <a:latin typeface="Times New Roman"/>
                <a:cs typeface="Times New Roman"/>
              </a:rPr>
              <a:t>liste</a:t>
            </a:r>
            <a:r>
              <a:rPr sz="2600" i="1" spc="8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i="1" spc="15" dirty="0">
                <a:solidFill>
                  <a:srgbClr val="00B0F0"/>
                </a:solidFill>
                <a:latin typeface="Times New Roman"/>
                <a:cs typeface="Times New Roman"/>
              </a:rPr>
              <a:t>des</a:t>
            </a:r>
            <a:r>
              <a:rPr sz="2600" i="1" spc="4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i="1" spc="5" dirty="0">
                <a:solidFill>
                  <a:srgbClr val="00B0F0"/>
                </a:solidFill>
                <a:latin typeface="Times New Roman"/>
                <a:cs typeface="Times New Roman"/>
              </a:rPr>
              <a:t>paramètres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4167" y="2966718"/>
            <a:ext cx="397256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//condtion d‘arrêt</a:t>
            </a:r>
            <a:r>
              <a:rPr sz="260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et</a:t>
            </a:r>
            <a:r>
              <a:rPr sz="26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de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retour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7864" y="2966718"/>
            <a:ext cx="2781300" cy="244284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if</a:t>
            </a:r>
            <a:r>
              <a:rPr sz="260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FF0065"/>
                </a:solidFill>
                <a:latin typeface="Times New Roman"/>
                <a:cs typeface="Times New Roman"/>
              </a:rPr>
              <a:t>condition d‘arrêt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431800">
              <a:lnSpc>
                <a:spcPct val="100000"/>
              </a:lnSpc>
              <a:spcBef>
                <a:spcPts val="60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(…)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else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21995" y="4981445"/>
            <a:ext cx="204533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6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récursif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7869" y="5383781"/>
            <a:ext cx="8665845" cy="831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140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fonctionRecursive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i="1" spc="10" dirty="0">
                <a:solidFill>
                  <a:srgbClr val="00B0F0"/>
                </a:solidFill>
                <a:latin typeface="Times New Roman"/>
                <a:cs typeface="Times New Roman"/>
              </a:rPr>
              <a:t>liste</a:t>
            </a:r>
            <a:r>
              <a:rPr sz="2600" i="1" spc="65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i="1" spc="15" dirty="0">
                <a:solidFill>
                  <a:srgbClr val="00B0F0"/>
                </a:solidFill>
                <a:latin typeface="Times New Roman"/>
                <a:cs typeface="Times New Roman"/>
              </a:rPr>
              <a:t>des</a:t>
            </a:r>
            <a:r>
              <a:rPr sz="2600" i="1" spc="5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i="1" spc="15" dirty="0">
                <a:solidFill>
                  <a:srgbClr val="00B0F0"/>
                </a:solidFill>
                <a:latin typeface="Times New Roman"/>
                <a:cs typeface="Times New Roman"/>
              </a:rPr>
              <a:t>nouveaux</a:t>
            </a:r>
            <a:r>
              <a:rPr sz="2600" i="1" spc="3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sz="2600" i="1" spc="5" dirty="0">
                <a:solidFill>
                  <a:srgbClr val="00B0F0"/>
                </a:solidFill>
                <a:latin typeface="Times New Roman"/>
                <a:cs typeface="Times New Roman"/>
              </a:rPr>
              <a:t>paramètres</a:t>
            </a:r>
            <a:r>
              <a:rPr sz="2600" spc="5" dirty="0">
                <a:solidFill>
                  <a:srgbClr val="FF0000"/>
                </a:solidFill>
                <a:latin typeface="Times New Roman"/>
                <a:cs typeface="Times New Roman"/>
              </a:rPr>
              <a:t>))</a:t>
            </a:r>
            <a:r>
              <a:rPr sz="26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23107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5" dirty="0"/>
              <a:t>Récursivité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688083"/>
            <a:ext cx="4130040" cy="25126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1: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600" spc="15" dirty="0">
                <a:solidFill>
                  <a:srgbClr val="001F5F"/>
                </a:solidFill>
                <a:latin typeface="Times New Roman"/>
                <a:cs typeface="Times New Roman"/>
              </a:rPr>
              <a:t>long</a:t>
            </a:r>
            <a:r>
              <a:rPr sz="2600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6F2FA0"/>
                </a:solidFill>
                <a:latin typeface="Times New Roman"/>
                <a:cs typeface="Times New Roman"/>
              </a:rPr>
              <a:t>facto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n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spc="5" dirty="0">
                <a:solidFill>
                  <a:srgbClr val="006FC0"/>
                </a:solidFill>
                <a:latin typeface="Times New Roman"/>
                <a:cs typeface="Times New Roman"/>
              </a:rPr>
              <a:t>if</a:t>
            </a:r>
            <a:r>
              <a:rPr sz="26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(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n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&gt;</a:t>
            </a:r>
            <a:r>
              <a:rPr sz="2600" spc="15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600" spc="15" dirty="0">
                <a:latin typeface="Times New Roman"/>
                <a:cs typeface="Times New Roman"/>
              </a:rPr>
              <a:t>)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return 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6F2FA0"/>
                </a:solidFill>
                <a:latin typeface="Times New Roman"/>
                <a:cs typeface="Times New Roman"/>
              </a:rPr>
              <a:t>facto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n-1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)*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n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6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600" spc="15" dirty="0">
                <a:solidFill>
                  <a:srgbClr val="006FC0"/>
                </a:solidFill>
                <a:latin typeface="Times New Roman"/>
                <a:cs typeface="Times New Roman"/>
              </a:rPr>
              <a:t>else</a:t>
            </a:r>
            <a:r>
              <a:rPr sz="26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spc="10" dirty="0">
                <a:latin typeface="Times New Roman"/>
                <a:cs typeface="Times New Roman"/>
              </a:rPr>
              <a:t>(</a:t>
            </a:r>
            <a:r>
              <a:rPr sz="2600" spc="10" dirty="0">
                <a:solidFill>
                  <a:srgbClr val="FF32CC"/>
                </a:solidFill>
                <a:latin typeface="Times New Roman"/>
                <a:cs typeface="Times New Roman"/>
              </a:rPr>
              <a:t>1</a:t>
            </a:r>
            <a:r>
              <a:rPr sz="2600" spc="10" dirty="0">
                <a:latin typeface="Times New Roman"/>
                <a:cs typeface="Times New Roman"/>
              </a:rPr>
              <a:t>) </a:t>
            </a: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spc="15" dirty="0">
                <a:solidFill>
                  <a:srgbClr val="FF0065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23107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5" dirty="0"/>
              <a:t>Récursivité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4148" y="1688083"/>
            <a:ext cx="6711315" cy="21761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r>
              <a:rPr sz="30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5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0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5" dirty="0">
                <a:solidFill>
                  <a:srgbClr val="FF0000"/>
                </a:solidFill>
                <a:latin typeface="Times New Roman"/>
                <a:cs typeface="Times New Roman"/>
              </a:rPr>
              <a:t>suite</a:t>
            </a:r>
            <a:r>
              <a:rPr sz="30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5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0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0" dirty="0">
                <a:solidFill>
                  <a:srgbClr val="FF0000"/>
                </a:solidFill>
                <a:latin typeface="Times New Roman"/>
                <a:cs typeface="Times New Roman"/>
              </a:rPr>
              <a:t>Fibonacci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3075" spc="179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26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0;</a:t>
            </a:r>
            <a:endParaRPr sz="2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45"/>
              </a:spcBef>
            </a:pP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sz="3075" spc="179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26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1;</a:t>
            </a:r>
            <a:endParaRPr sz="2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0"/>
              </a:spcBef>
            </a:pP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075" spc="247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2600" spc="5" dirty="0">
                <a:solidFill>
                  <a:srgbClr val="252525"/>
                </a:solidFill>
                <a:latin typeface="Times New Roman"/>
                <a:cs typeface="Times New Roman"/>
              </a:rPr>
              <a:t> U</a:t>
            </a:r>
            <a:r>
              <a:rPr sz="3075" spc="7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n-1</a:t>
            </a:r>
            <a:r>
              <a:rPr sz="3075" spc="-97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26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n-2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2600" spc="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pour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tout</a:t>
            </a:r>
            <a:r>
              <a:rPr sz="26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entier</a:t>
            </a:r>
            <a:r>
              <a:rPr sz="26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tel</a:t>
            </a:r>
            <a:r>
              <a:rPr sz="26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que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n&gt;=2;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4909" y="2662427"/>
            <a:ext cx="300355" cy="1201420"/>
          </a:xfrm>
          <a:custGeom>
            <a:avLst/>
            <a:gdLst/>
            <a:ahLst/>
            <a:cxnLst/>
            <a:rect l="l" t="t" r="r" b="b"/>
            <a:pathLst>
              <a:path w="300355" h="1201420">
                <a:moveTo>
                  <a:pt x="100584" y="600456"/>
                </a:moveTo>
                <a:lnTo>
                  <a:pt x="88392" y="598932"/>
                </a:lnTo>
                <a:lnTo>
                  <a:pt x="76200" y="598932"/>
                </a:lnTo>
                <a:lnTo>
                  <a:pt x="64008" y="597408"/>
                </a:lnTo>
                <a:lnTo>
                  <a:pt x="50292" y="595884"/>
                </a:lnTo>
                <a:lnTo>
                  <a:pt x="3048" y="595884"/>
                </a:lnTo>
                <a:lnTo>
                  <a:pt x="0" y="597408"/>
                </a:lnTo>
                <a:lnTo>
                  <a:pt x="0" y="603504"/>
                </a:lnTo>
                <a:lnTo>
                  <a:pt x="3048" y="606552"/>
                </a:lnTo>
                <a:lnTo>
                  <a:pt x="35052" y="606552"/>
                </a:lnTo>
                <a:lnTo>
                  <a:pt x="50292" y="605028"/>
                </a:lnTo>
                <a:lnTo>
                  <a:pt x="62484" y="605028"/>
                </a:lnTo>
                <a:lnTo>
                  <a:pt x="76200" y="603504"/>
                </a:lnTo>
                <a:lnTo>
                  <a:pt x="100584" y="600456"/>
                </a:lnTo>
                <a:close/>
              </a:path>
              <a:path w="300355" h="1201420">
                <a:moveTo>
                  <a:pt x="300228" y="10668"/>
                </a:moveTo>
                <a:lnTo>
                  <a:pt x="300228" y="0"/>
                </a:lnTo>
                <a:lnTo>
                  <a:pt x="269748" y="0"/>
                </a:lnTo>
                <a:lnTo>
                  <a:pt x="256032" y="1524"/>
                </a:lnTo>
                <a:lnTo>
                  <a:pt x="242316" y="1524"/>
                </a:lnTo>
                <a:lnTo>
                  <a:pt x="184404" y="9144"/>
                </a:lnTo>
                <a:lnTo>
                  <a:pt x="169164" y="13716"/>
                </a:lnTo>
                <a:lnTo>
                  <a:pt x="161544" y="15240"/>
                </a:lnTo>
                <a:lnTo>
                  <a:pt x="152400" y="21336"/>
                </a:lnTo>
                <a:lnTo>
                  <a:pt x="150876" y="21336"/>
                </a:lnTo>
                <a:lnTo>
                  <a:pt x="149352" y="24384"/>
                </a:lnTo>
                <a:lnTo>
                  <a:pt x="147828" y="25908"/>
                </a:lnTo>
                <a:lnTo>
                  <a:pt x="147828" y="574548"/>
                </a:lnTo>
                <a:lnTo>
                  <a:pt x="146304" y="577596"/>
                </a:lnTo>
                <a:lnTo>
                  <a:pt x="146304" y="576072"/>
                </a:lnTo>
                <a:lnTo>
                  <a:pt x="143256" y="579120"/>
                </a:lnTo>
                <a:lnTo>
                  <a:pt x="134112" y="582168"/>
                </a:lnTo>
                <a:lnTo>
                  <a:pt x="126492" y="585216"/>
                </a:lnTo>
                <a:lnTo>
                  <a:pt x="118872" y="586740"/>
                </a:lnTo>
                <a:lnTo>
                  <a:pt x="108204" y="588264"/>
                </a:lnTo>
                <a:lnTo>
                  <a:pt x="99060" y="589788"/>
                </a:lnTo>
                <a:lnTo>
                  <a:pt x="74676" y="592836"/>
                </a:lnTo>
                <a:lnTo>
                  <a:pt x="62484" y="592836"/>
                </a:lnTo>
                <a:lnTo>
                  <a:pt x="48768" y="594360"/>
                </a:lnTo>
                <a:lnTo>
                  <a:pt x="35052" y="594360"/>
                </a:lnTo>
                <a:lnTo>
                  <a:pt x="6096" y="595884"/>
                </a:lnTo>
                <a:lnTo>
                  <a:pt x="50292" y="595884"/>
                </a:lnTo>
                <a:lnTo>
                  <a:pt x="64008" y="597408"/>
                </a:lnTo>
                <a:lnTo>
                  <a:pt x="76200" y="598932"/>
                </a:lnTo>
                <a:lnTo>
                  <a:pt x="88392" y="598932"/>
                </a:lnTo>
                <a:lnTo>
                  <a:pt x="100584" y="600456"/>
                </a:lnTo>
                <a:lnTo>
                  <a:pt x="109728" y="598932"/>
                </a:lnTo>
                <a:lnTo>
                  <a:pt x="120396" y="597408"/>
                </a:lnTo>
                <a:lnTo>
                  <a:pt x="129540" y="595884"/>
                </a:lnTo>
                <a:lnTo>
                  <a:pt x="135636" y="592836"/>
                </a:lnTo>
                <a:lnTo>
                  <a:pt x="143256" y="591312"/>
                </a:lnTo>
                <a:lnTo>
                  <a:pt x="147828" y="588264"/>
                </a:lnTo>
                <a:lnTo>
                  <a:pt x="152400" y="586740"/>
                </a:lnTo>
                <a:lnTo>
                  <a:pt x="152400" y="585216"/>
                </a:lnTo>
                <a:lnTo>
                  <a:pt x="153924" y="585216"/>
                </a:lnTo>
                <a:lnTo>
                  <a:pt x="155448" y="582168"/>
                </a:lnTo>
                <a:lnTo>
                  <a:pt x="156972" y="582168"/>
                </a:lnTo>
                <a:lnTo>
                  <a:pt x="156972" y="32004"/>
                </a:lnTo>
                <a:lnTo>
                  <a:pt x="158496" y="28956"/>
                </a:lnTo>
                <a:lnTo>
                  <a:pt x="158496" y="30480"/>
                </a:lnTo>
                <a:lnTo>
                  <a:pt x="161544" y="27432"/>
                </a:lnTo>
                <a:lnTo>
                  <a:pt x="166116" y="25908"/>
                </a:lnTo>
                <a:lnTo>
                  <a:pt x="172212" y="24384"/>
                </a:lnTo>
                <a:lnTo>
                  <a:pt x="179832" y="21336"/>
                </a:lnTo>
                <a:lnTo>
                  <a:pt x="187452" y="19812"/>
                </a:lnTo>
                <a:lnTo>
                  <a:pt x="196596" y="18288"/>
                </a:lnTo>
                <a:lnTo>
                  <a:pt x="217932" y="15240"/>
                </a:lnTo>
                <a:lnTo>
                  <a:pt x="230124" y="13716"/>
                </a:lnTo>
                <a:lnTo>
                  <a:pt x="242316" y="13716"/>
                </a:lnTo>
                <a:lnTo>
                  <a:pt x="256032" y="12192"/>
                </a:lnTo>
                <a:lnTo>
                  <a:pt x="269748" y="12192"/>
                </a:lnTo>
                <a:lnTo>
                  <a:pt x="300228" y="10668"/>
                </a:lnTo>
                <a:close/>
              </a:path>
              <a:path w="300355" h="1201420">
                <a:moveTo>
                  <a:pt x="160020" y="1184910"/>
                </a:moveTo>
                <a:lnTo>
                  <a:pt x="160020" y="1173480"/>
                </a:lnTo>
                <a:lnTo>
                  <a:pt x="156972" y="1170432"/>
                </a:lnTo>
                <a:lnTo>
                  <a:pt x="156972" y="620268"/>
                </a:lnTo>
                <a:lnTo>
                  <a:pt x="153924" y="617220"/>
                </a:lnTo>
                <a:lnTo>
                  <a:pt x="153924" y="615696"/>
                </a:lnTo>
                <a:lnTo>
                  <a:pt x="152400" y="615696"/>
                </a:lnTo>
                <a:lnTo>
                  <a:pt x="137160" y="608076"/>
                </a:lnTo>
                <a:lnTo>
                  <a:pt x="129540" y="606552"/>
                </a:lnTo>
                <a:lnTo>
                  <a:pt x="120396" y="605028"/>
                </a:lnTo>
                <a:lnTo>
                  <a:pt x="111252" y="601980"/>
                </a:lnTo>
                <a:lnTo>
                  <a:pt x="100584" y="600456"/>
                </a:lnTo>
                <a:lnTo>
                  <a:pt x="76200" y="603504"/>
                </a:lnTo>
                <a:lnTo>
                  <a:pt x="62484" y="605028"/>
                </a:lnTo>
                <a:lnTo>
                  <a:pt x="50292" y="605028"/>
                </a:lnTo>
                <a:lnTo>
                  <a:pt x="35052" y="606552"/>
                </a:lnTo>
                <a:lnTo>
                  <a:pt x="48768" y="608076"/>
                </a:lnTo>
                <a:lnTo>
                  <a:pt x="62484" y="608076"/>
                </a:lnTo>
                <a:lnTo>
                  <a:pt x="99060" y="612648"/>
                </a:lnTo>
                <a:lnTo>
                  <a:pt x="126492" y="617220"/>
                </a:lnTo>
                <a:lnTo>
                  <a:pt x="138684" y="620268"/>
                </a:lnTo>
                <a:lnTo>
                  <a:pt x="143256" y="623316"/>
                </a:lnTo>
                <a:lnTo>
                  <a:pt x="146304" y="624840"/>
                </a:lnTo>
                <a:lnTo>
                  <a:pt x="146304" y="623316"/>
                </a:lnTo>
                <a:lnTo>
                  <a:pt x="147828" y="626364"/>
                </a:lnTo>
                <a:lnTo>
                  <a:pt x="147828" y="1176528"/>
                </a:lnTo>
                <a:lnTo>
                  <a:pt x="149352" y="1176528"/>
                </a:lnTo>
                <a:lnTo>
                  <a:pt x="149352" y="1178052"/>
                </a:lnTo>
                <a:lnTo>
                  <a:pt x="152400" y="1181100"/>
                </a:lnTo>
                <a:lnTo>
                  <a:pt x="156972" y="1184148"/>
                </a:lnTo>
                <a:lnTo>
                  <a:pt x="160020" y="1184910"/>
                </a:lnTo>
                <a:close/>
              </a:path>
              <a:path w="300355" h="1201420">
                <a:moveTo>
                  <a:pt x="158496" y="30480"/>
                </a:moveTo>
                <a:lnTo>
                  <a:pt x="158496" y="28956"/>
                </a:lnTo>
                <a:lnTo>
                  <a:pt x="156972" y="32004"/>
                </a:lnTo>
                <a:lnTo>
                  <a:pt x="158496" y="30480"/>
                </a:lnTo>
                <a:close/>
              </a:path>
              <a:path w="300355" h="1201420">
                <a:moveTo>
                  <a:pt x="158496" y="577596"/>
                </a:moveTo>
                <a:lnTo>
                  <a:pt x="158496" y="30480"/>
                </a:lnTo>
                <a:lnTo>
                  <a:pt x="156972" y="32004"/>
                </a:lnTo>
                <a:lnTo>
                  <a:pt x="156972" y="580644"/>
                </a:lnTo>
                <a:lnTo>
                  <a:pt x="158496" y="577596"/>
                </a:lnTo>
                <a:close/>
              </a:path>
              <a:path w="300355" h="1201420">
                <a:moveTo>
                  <a:pt x="158496" y="1171956"/>
                </a:moveTo>
                <a:lnTo>
                  <a:pt x="158496" y="623316"/>
                </a:lnTo>
                <a:lnTo>
                  <a:pt x="156972" y="621792"/>
                </a:lnTo>
                <a:lnTo>
                  <a:pt x="156972" y="1170432"/>
                </a:lnTo>
                <a:lnTo>
                  <a:pt x="158496" y="1171956"/>
                </a:lnTo>
                <a:close/>
              </a:path>
              <a:path w="300355" h="1201420">
                <a:moveTo>
                  <a:pt x="300228" y="1200912"/>
                </a:moveTo>
                <a:lnTo>
                  <a:pt x="300228" y="1190244"/>
                </a:lnTo>
                <a:lnTo>
                  <a:pt x="269748" y="1190244"/>
                </a:lnTo>
                <a:lnTo>
                  <a:pt x="256032" y="1188720"/>
                </a:lnTo>
                <a:lnTo>
                  <a:pt x="242316" y="1188720"/>
                </a:lnTo>
                <a:lnTo>
                  <a:pt x="217932" y="1185672"/>
                </a:lnTo>
                <a:lnTo>
                  <a:pt x="196596" y="1182624"/>
                </a:lnTo>
                <a:lnTo>
                  <a:pt x="178308" y="1179576"/>
                </a:lnTo>
                <a:lnTo>
                  <a:pt x="172212" y="1178052"/>
                </a:lnTo>
                <a:lnTo>
                  <a:pt x="166116" y="1175004"/>
                </a:lnTo>
                <a:lnTo>
                  <a:pt x="161544" y="1173480"/>
                </a:lnTo>
                <a:lnTo>
                  <a:pt x="158496" y="1171956"/>
                </a:lnTo>
                <a:lnTo>
                  <a:pt x="160020" y="1173480"/>
                </a:lnTo>
                <a:lnTo>
                  <a:pt x="160020" y="1184910"/>
                </a:lnTo>
                <a:lnTo>
                  <a:pt x="163068" y="1185672"/>
                </a:lnTo>
                <a:lnTo>
                  <a:pt x="169164" y="1188720"/>
                </a:lnTo>
                <a:lnTo>
                  <a:pt x="176784" y="1190244"/>
                </a:lnTo>
                <a:lnTo>
                  <a:pt x="185928" y="1191768"/>
                </a:lnTo>
                <a:lnTo>
                  <a:pt x="195072" y="1194816"/>
                </a:lnTo>
                <a:lnTo>
                  <a:pt x="216408" y="1197864"/>
                </a:lnTo>
                <a:lnTo>
                  <a:pt x="228600" y="1197864"/>
                </a:lnTo>
                <a:lnTo>
                  <a:pt x="256032" y="1200912"/>
                </a:lnTo>
                <a:lnTo>
                  <a:pt x="300228" y="1200912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23107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5" dirty="0"/>
              <a:t>Récursivité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688083"/>
            <a:ext cx="5233035" cy="13042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2:</a:t>
            </a:r>
            <a:r>
              <a:rPr sz="305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5" dirty="0">
                <a:solidFill>
                  <a:srgbClr val="FF0000"/>
                </a:solidFill>
                <a:latin typeface="Times New Roman"/>
                <a:cs typeface="Times New Roman"/>
              </a:rPr>
              <a:t>la</a:t>
            </a:r>
            <a:r>
              <a:rPr sz="30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5" dirty="0">
                <a:solidFill>
                  <a:srgbClr val="FF0000"/>
                </a:solidFill>
                <a:latin typeface="Times New Roman"/>
                <a:cs typeface="Times New Roman"/>
              </a:rPr>
              <a:t>suite</a:t>
            </a:r>
            <a:r>
              <a:rPr sz="305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5" dirty="0">
                <a:solidFill>
                  <a:srgbClr val="FF0000"/>
                </a:solidFill>
                <a:latin typeface="Times New Roman"/>
                <a:cs typeface="Times New Roman"/>
              </a:rPr>
              <a:t>de</a:t>
            </a:r>
            <a:r>
              <a:rPr sz="30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0" dirty="0">
                <a:solidFill>
                  <a:srgbClr val="FF0000"/>
                </a:solidFill>
                <a:latin typeface="Times New Roman"/>
                <a:cs typeface="Times New Roman"/>
              </a:rPr>
              <a:t>Fibonacci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600" b="1" i="1" spc="10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2600" b="1" i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Fibonacci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(int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n)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b="1" i="1" spc="10" dirty="0">
                <a:solidFill>
                  <a:srgbClr val="252525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2253" y="2966718"/>
            <a:ext cx="2255520" cy="8305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i="1" spc="5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2600" b="1" i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(n</a:t>
            </a:r>
            <a:r>
              <a:rPr sz="26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==</a:t>
            </a:r>
            <a:r>
              <a:rPr sz="26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0)</a:t>
            </a:r>
            <a:endParaRPr sz="2600">
              <a:latin typeface="Times New Roman"/>
              <a:cs typeface="Times New Roman"/>
            </a:endParaRPr>
          </a:p>
          <a:p>
            <a:pPr marL="1019810">
              <a:lnSpc>
                <a:spcPct val="100000"/>
              </a:lnSpc>
              <a:spcBef>
                <a:spcPts val="45"/>
              </a:spcBef>
            </a:pPr>
            <a:r>
              <a:rPr sz="2600" b="1" i="1" spc="15" dirty="0">
                <a:solidFill>
                  <a:srgbClr val="252525"/>
                </a:solidFill>
                <a:latin typeface="Times New Roman"/>
                <a:cs typeface="Times New Roman"/>
              </a:rPr>
              <a:t>return</a:t>
            </a:r>
            <a:r>
              <a:rPr sz="2600" b="1" i="1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b="1" i="1" spc="10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6867" y="2966718"/>
            <a:ext cx="5427980" cy="83058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40"/>
              </a:spcBef>
            </a:pP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//première</a:t>
            </a:r>
            <a:r>
              <a:rPr sz="26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condition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 d‘arrêt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et</a:t>
            </a: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 retour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6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cas</a:t>
            </a:r>
            <a:r>
              <a:rPr sz="26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00B04F"/>
                </a:solidFill>
                <a:latin typeface="Times New Roman"/>
                <a:cs typeface="Times New Roman"/>
              </a:rPr>
              <a:t>où</a:t>
            </a:r>
            <a:r>
              <a:rPr sz="26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n=0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2248" y="4175250"/>
            <a:ext cx="2423160" cy="12344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i="1" spc="15" dirty="0">
                <a:solidFill>
                  <a:srgbClr val="252525"/>
                </a:solidFill>
                <a:latin typeface="Times New Roman"/>
                <a:cs typeface="Times New Roman"/>
              </a:rPr>
              <a:t>else</a:t>
            </a:r>
            <a:r>
              <a:rPr sz="2600" b="1" i="1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b="1" i="1" spc="5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2600" b="1" i="1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(n</a:t>
            </a:r>
            <a:r>
              <a:rPr sz="26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==</a:t>
            </a:r>
            <a:r>
              <a:rPr sz="26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1)</a:t>
            </a:r>
            <a:endParaRPr sz="2600">
              <a:latin typeface="Times New Roman"/>
              <a:cs typeface="Times New Roman"/>
            </a:endParaRPr>
          </a:p>
          <a:p>
            <a:pPr marL="1187450">
              <a:lnSpc>
                <a:spcPct val="100000"/>
              </a:lnSpc>
              <a:spcBef>
                <a:spcPts val="60"/>
              </a:spcBef>
            </a:pPr>
            <a:r>
              <a:rPr sz="2600" b="1" i="1" spc="15" dirty="0">
                <a:solidFill>
                  <a:srgbClr val="252525"/>
                </a:solidFill>
                <a:latin typeface="Times New Roman"/>
                <a:cs typeface="Times New Roman"/>
              </a:rPr>
              <a:t>return</a:t>
            </a:r>
            <a:r>
              <a:rPr sz="2600" b="1" i="1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1;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b="1" i="1" spc="15" dirty="0">
                <a:solidFill>
                  <a:srgbClr val="252525"/>
                </a:solidFill>
                <a:latin typeface="Times New Roman"/>
                <a:cs typeface="Times New Roman"/>
              </a:rPr>
              <a:t>else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16867" y="4175250"/>
            <a:ext cx="5334635" cy="831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140"/>
              </a:spcBef>
            </a:pPr>
            <a:r>
              <a:rPr sz="2600" spc="5" dirty="0">
                <a:solidFill>
                  <a:srgbClr val="00B04F"/>
                </a:solidFill>
                <a:latin typeface="Times New Roman"/>
                <a:cs typeface="Times New Roman"/>
              </a:rPr>
              <a:t>//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seconde</a:t>
            </a:r>
            <a:r>
              <a:rPr sz="26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condition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 d‘arrêt</a:t>
            </a:r>
            <a:r>
              <a:rPr sz="260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et</a:t>
            </a:r>
            <a:r>
              <a:rPr sz="26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 retour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//cas</a:t>
            </a:r>
            <a:r>
              <a:rPr sz="26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00B04F"/>
                </a:solidFill>
                <a:latin typeface="Times New Roman"/>
                <a:cs typeface="Times New Roman"/>
              </a:rPr>
              <a:t>où</a:t>
            </a:r>
            <a:r>
              <a:rPr sz="26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n=1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2248" y="5383781"/>
            <a:ext cx="8602980" cy="12344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019810">
              <a:lnSpc>
                <a:spcPct val="100000"/>
              </a:lnSpc>
              <a:spcBef>
                <a:spcPts val="140"/>
              </a:spcBef>
            </a:pPr>
            <a:r>
              <a:rPr sz="2600" b="1" i="1" spc="15" dirty="0">
                <a:solidFill>
                  <a:srgbClr val="252525"/>
                </a:solidFill>
                <a:latin typeface="Times New Roman"/>
                <a:cs typeface="Times New Roman"/>
              </a:rPr>
              <a:t>return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6F2FA0"/>
                </a:solidFill>
                <a:latin typeface="Times New Roman"/>
                <a:cs typeface="Times New Roman"/>
              </a:rPr>
              <a:t>Fibonacci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(n-1)</a:t>
            </a:r>
            <a:r>
              <a:rPr sz="2600" spc="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6F2FA0"/>
                </a:solidFill>
                <a:latin typeface="Times New Roman"/>
                <a:cs typeface="Times New Roman"/>
              </a:rPr>
              <a:t>Fibonacci</a:t>
            </a:r>
            <a:r>
              <a:rPr sz="2600" b="1" spc="20" dirty="0">
                <a:solidFill>
                  <a:srgbClr val="6F2FA0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(n-2));</a:t>
            </a:r>
            <a:endParaRPr sz="2600">
              <a:latin typeface="Times New Roman"/>
              <a:cs typeface="Times New Roman"/>
            </a:endParaRPr>
          </a:p>
          <a:p>
            <a:pPr marL="3538854">
              <a:lnSpc>
                <a:spcPct val="100000"/>
              </a:lnSpc>
              <a:spcBef>
                <a:spcPts val="60"/>
              </a:spcBef>
            </a:pP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6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récursif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 en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 utilisant</a:t>
            </a:r>
            <a:r>
              <a:rPr sz="26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60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00B04F"/>
                </a:solidFill>
                <a:latin typeface="Times New Roman"/>
                <a:cs typeface="Times New Roman"/>
              </a:rPr>
              <a:t>formule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b="1" i="1" spc="10" dirty="0">
                <a:solidFill>
                  <a:srgbClr val="252525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23107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5" dirty="0"/>
              <a:t>Récursivité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4148" y="1688083"/>
            <a:ext cx="6872605" cy="25800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3: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0" dirty="0">
                <a:solidFill>
                  <a:srgbClr val="FF0000"/>
                </a:solidFill>
                <a:latin typeface="Times New Roman"/>
                <a:cs typeface="Times New Roman"/>
              </a:rPr>
              <a:t>système</a:t>
            </a:r>
            <a:r>
              <a:rPr sz="30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5" dirty="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sz="30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5" dirty="0">
                <a:solidFill>
                  <a:srgbClr val="FF0000"/>
                </a:solidFill>
                <a:latin typeface="Times New Roman"/>
                <a:cs typeface="Times New Roman"/>
              </a:rPr>
              <a:t>suites</a:t>
            </a:r>
            <a:r>
              <a:rPr sz="30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0" dirty="0">
                <a:solidFill>
                  <a:srgbClr val="FF0000"/>
                </a:solidFill>
                <a:latin typeface="Times New Roman"/>
                <a:cs typeface="Times New Roman"/>
              </a:rPr>
              <a:t>réccurentes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200">
              <a:latin typeface="Times New Roman"/>
              <a:cs typeface="Times New Roman"/>
            </a:endParaRPr>
          </a:p>
          <a:p>
            <a:pPr marL="50800" marR="5449570">
              <a:lnSpc>
                <a:spcPct val="101499"/>
              </a:lnSpc>
            </a:pP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3075" spc="209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26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1/2;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3075" spc="187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2600" spc="-3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-3/2;</a:t>
            </a:r>
            <a:endParaRPr sz="2600">
              <a:latin typeface="Times New Roman"/>
              <a:cs typeface="Times New Roman"/>
            </a:endParaRPr>
          </a:p>
          <a:p>
            <a:pPr marL="50800" marR="43180">
              <a:lnSpc>
                <a:spcPts val="3180"/>
              </a:lnSpc>
              <a:spcBef>
                <a:spcPts val="95"/>
              </a:spcBef>
            </a:pP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= </a:t>
            </a:r>
            <a:r>
              <a:rPr sz="26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3075" spc="7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n-1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+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n-1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pour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tout entier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tel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que n&gt;=1;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3075" spc="247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26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2U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n-1</a:t>
            </a:r>
            <a:r>
              <a:rPr sz="3075" spc="-82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2600" spc="-4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3075" spc="15" baseline="-20325" dirty="0">
                <a:solidFill>
                  <a:srgbClr val="252525"/>
                </a:solidFill>
                <a:latin typeface="Times New Roman"/>
                <a:cs typeface="Times New Roman"/>
              </a:rPr>
              <a:t>n-1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pour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tout</a:t>
            </a:r>
            <a:r>
              <a:rPr sz="26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entier</a:t>
            </a:r>
            <a:r>
              <a:rPr sz="26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tel</a:t>
            </a:r>
            <a:r>
              <a:rPr sz="26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que</a:t>
            </a:r>
            <a:r>
              <a:rPr sz="26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solidFill>
                  <a:srgbClr val="252525"/>
                </a:solidFill>
                <a:latin typeface="Times New Roman"/>
                <a:cs typeface="Times New Roman"/>
              </a:rPr>
              <a:t>n&gt;=1;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1297" y="2662427"/>
            <a:ext cx="299085" cy="1687195"/>
          </a:xfrm>
          <a:custGeom>
            <a:avLst/>
            <a:gdLst/>
            <a:ahLst/>
            <a:cxnLst/>
            <a:rect l="l" t="t" r="r" b="b"/>
            <a:pathLst>
              <a:path w="299084" h="1687195">
                <a:moveTo>
                  <a:pt x="93726" y="843534"/>
                </a:moveTo>
                <a:lnTo>
                  <a:pt x="88392" y="842772"/>
                </a:lnTo>
                <a:lnTo>
                  <a:pt x="76200" y="841248"/>
                </a:lnTo>
                <a:lnTo>
                  <a:pt x="62484" y="839724"/>
                </a:lnTo>
                <a:lnTo>
                  <a:pt x="48768" y="839724"/>
                </a:lnTo>
                <a:lnTo>
                  <a:pt x="35052" y="838200"/>
                </a:lnTo>
                <a:lnTo>
                  <a:pt x="1524" y="838200"/>
                </a:lnTo>
                <a:lnTo>
                  <a:pt x="0" y="839724"/>
                </a:lnTo>
                <a:lnTo>
                  <a:pt x="0" y="845820"/>
                </a:lnTo>
                <a:lnTo>
                  <a:pt x="1524" y="848868"/>
                </a:lnTo>
                <a:lnTo>
                  <a:pt x="35052" y="848868"/>
                </a:lnTo>
                <a:lnTo>
                  <a:pt x="48768" y="847344"/>
                </a:lnTo>
                <a:lnTo>
                  <a:pt x="62484" y="847344"/>
                </a:lnTo>
                <a:lnTo>
                  <a:pt x="76200" y="845820"/>
                </a:lnTo>
                <a:lnTo>
                  <a:pt x="88392" y="844296"/>
                </a:lnTo>
                <a:lnTo>
                  <a:pt x="93726" y="843534"/>
                </a:lnTo>
                <a:close/>
              </a:path>
              <a:path w="299084" h="1687195">
                <a:moveTo>
                  <a:pt x="298704" y="10668"/>
                </a:moveTo>
                <a:lnTo>
                  <a:pt x="298704" y="0"/>
                </a:lnTo>
                <a:lnTo>
                  <a:pt x="269748" y="0"/>
                </a:lnTo>
                <a:lnTo>
                  <a:pt x="254508" y="1524"/>
                </a:lnTo>
                <a:lnTo>
                  <a:pt x="240792" y="1524"/>
                </a:lnTo>
                <a:lnTo>
                  <a:pt x="204216" y="6096"/>
                </a:lnTo>
                <a:lnTo>
                  <a:pt x="193548" y="7620"/>
                </a:lnTo>
                <a:lnTo>
                  <a:pt x="175260" y="10668"/>
                </a:lnTo>
                <a:lnTo>
                  <a:pt x="167640" y="13716"/>
                </a:lnTo>
                <a:lnTo>
                  <a:pt x="161544" y="15240"/>
                </a:lnTo>
                <a:lnTo>
                  <a:pt x="155448" y="18288"/>
                </a:lnTo>
                <a:lnTo>
                  <a:pt x="152400" y="21336"/>
                </a:lnTo>
                <a:lnTo>
                  <a:pt x="150876" y="21336"/>
                </a:lnTo>
                <a:lnTo>
                  <a:pt x="149352" y="24384"/>
                </a:lnTo>
                <a:lnTo>
                  <a:pt x="147828" y="24384"/>
                </a:lnTo>
                <a:lnTo>
                  <a:pt x="147828" y="818388"/>
                </a:lnTo>
                <a:lnTo>
                  <a:pt x="146304" y="819912"/>
                </a:lnTo>
                <a:lnTo>
                  <a:pt x="143256" y="821436"/>
                </a:lnTo>
                <a:lnTo>
                  <a:pt x="138684" y="822960"/>
                </a:lnTo>
                <a:lnTo>
                  <a:pt x="132588" y="826008"/>
                </a:lnTo>
                <a:lnTo>
                  <a:pt x="126492" y="827532"/>
                </a:lnTo>
                <a:lnTo>
                  <a:pt x="108204" y="830580"/>
                </a:lnTo>
                <a:lnTo>
                  <a:pt x="86868" y="833628"/>
                </a:lnTo>
                <a:lnTo>
                  <a:pt x="62484" y="836676"/>
                </a:lnTo>
                <a:lnTo>
                  <a:pt x="35052" y="836676"/>
                </a:lnTo>
                <a:lnTo>
                  <a:pt x="4572" y="838200"/>
                </a:lnTo>
                <a:lnTo>
                  <a:pt x="35052" y="838200"/>
                </a:lnTo>
                <a:lnTo>
                  <a:pt x="48768" y="839724"/>
                </a:lnTo>
                <a:lnTo>
                  <a:pt x="62484" y="839724"/>
                </a:lnTo>
                <a:lnTo>
                  <a:pt x="76200" y="841248"/>
                </a:lnTo>
                <a:lnTo>
                  <a:pt x="88392" y="842772"/>
                </a:lnTo>
                <a:lnTo>
                  <a:pt x="93726" y="843534"/>
                </a:lnTo>
                <a:lnTo>
                  <a:pt x="109728" y="841248"/>
                </a:lnTo>
                <a:lnTo>
                  <a:pt x="128016" y="838200"/>
                </a:lnTo>
                <a:lnTo>
                  <a:pt x="135636" y="836676"/>
                </a:lnTo>
                <a:lnTo>
                  <a:pt x="147828" y="830580"/>
                </a:lnTo>
                <a:lnTo>
                  <a:pt x="152400" y="829056"/>
                </a:lnTo>
                <a:lnTo>
                  <a:pt x="152400" y="827532"/>
                </a:lnTo>
                <a:lnTo>
                  <a:pt x="153924" y="827532"/>
                </a:lnTo>
                <a:lnTo>
                  <a:pt x="155448" y="824484"/>
                </a:lnTo>
                <a:lnTo>
                  <a:pt x="156972" y="824484"/>
                </a:lnTo>
                <a:lnTo>
                  <a:pt x="156972" y="32004"/>
                </a:lnTo>
                <a:lnTo>
                  <a:pt x="158496" y="28956"/>
                </a:lnTo>
                <a:lnTo>
                  <a:pt x="158496" y="30480"/>
                </a:lnTo>
                <a:lnTo>
                  <a:pt x="161544" y="27432"/>
                </a:lnTo>
                <a:lnTo>
                  <a:pt x="166116" y="25908"/>
                </a:lnTo>
                <a:lnTo>
                  <a:pt x="172212" y="24384"/>
                </a:lnTo>
                <a:lnTo>
                  <a:pt x="178308" y="21336"/>
                </a:lnTo>
                <a:lnTo>
                  <a:pt x="205740" y="16764"/>
                </a:lnTo>
                <a:lnTo>
                  <a:pt x="230124" y="13716"/>
                </a:lnTo>
                <a:lnTo>
                  <a:pt x="242316" y="13716"/>
                </a:lnTo>
                <a:lnTo>
                  <a:pt x="256032" y="12192"/>
                </a:lnTo>
                <a:lnTo>
                  <a:pt x="269748" y="12192"/>
                </a:lnTo>
                <a:lnTo>
                  <a:pt x="298704" y="10668"/>
                </a:lnTo>
                <a:close/>
              </a:path>
              <a:path w="299084" h="1687195">
                <a:moveTo>
                  <a:pt x="298704" y="1687068"/>
                </a:moveTo>
                <a:lnTo>
                  <a:pt x="298704" y="1674876"/>
                </a:lnTo>
                <a:lnTo>
                  <a:pt x="256032" y="1674876"/>
                </a:lnTo>
                <a:lnTo>
                  <a:pt x="242316" y="1673352"/>
                </a:lnTo>
                <a:lnTo>
                  <a:pt x="230124" y="1671828"/>
                </a:lnTo>
                <a:lnTo>
                  <a:pt x="217932" y="1671828"/>
                </a:lnTo>
                <a:lnTo>
                  <a:pt x="205740" y="1670304"/>
                </a:lnTo>
                <a:lnTo>
                  <a:pt x="196596" y="1668780"/>
                </a:lnTo>
                <a:lnTo>
                  <a:pt x="185928" y="1667256"/>
                </a:lnTo>
                <a:lnTo>
                  <a:pt x="178308" y="1664208"/>
                </a:lnTo>
                <a:lnTo>
                  <a:pt x="170688" y="1662684"/>
                </a:lnTo>
                <a:lnTo>
                  <a:pt x="166116" y="1661160"/>
                </a:lnTo>
                <a:lnTo>
                  <a:pt x="161544" y="1658112"/>
                </a:lnTo>
                <a:lnTo>
                  <a:pt x="158496" y="1656588"/>
                </a:lnTo>
                <a:lnTo>
                  <a:pt x="158496" y="1658112"/>
                </a:lnTo>
                <a:lnTo>
                  <a:pt x="156972" y="1655064"/>
                </a:lnTo>
                <a:lnTo>
                  <a:pt x="156972" y="862584"/>
                </a:lnTo>
                <a:lnTo>
                  <a:pt x="155448" y="862584"/>
                </a:lnTo>
                <a:lnTo>
                  <a:pt x="155448" y="861060"/>
                </a:lnTo>
                <a:lnTo>
                  <a:pt x="153924" y="859536"/>
                </a:lnTo>
                <a:lnTo>
                  <a:pt x="152400" y="859536"/>
                </a:lnTo>
                <a:lnTo>
                  <a:pt x="152400" y="858012"/>
                </a:lnTo>
                <a:lnTo>
                  <a:pt x="147828" y="856488"/>
                </a:lnTo>
                <a:lnTo>
                  <a:pt x="143256" y="853440"/>
                </a:lnTo>
                <a:lnTo>
                  <a:pt x="135636" y="850392"/>
                </a:lnTo>
                <a:lnTo>
                  <a:pt x="120396" y="847344"/>
                </a:lnTo>
                <a:lnTo>
                  <a:pt x="93726" y="843534"/>
                </a:lnTo>
                <a:lnTo>
                  <a:pt x="88392" y="844296"/>
                </a:lnTo>
                <a:lnTo>
                  <a:pt x="76200" y="845820"/>
                </a:lnTo>
                <a:lnTo>
                  <a:pt x="62484" y="847344"/>
                </a:lnTo>
                <a:lnTo>
                  <a:pt x="48768" y="847344"/>
                </a:lnTo>
                <a:lnTo>
                  <a:pt x="35052" y="848868"/>
                </a:lnTo>
                <a:lnTo>
                  <a:pt x="48768" y="850392"/>
                </a:lnTo>
                <a:lnTo>
                  <a:pt x="62484" y="850392"/>
                </a:lnTo>
                <a:lnTo>
                  <a:pt x="86868" y="853440"/>
                </a:lnTo>
                <a:lnTo>
                  <a:pt x="108204" y="856488"/>
                </a:lnTo>
                <a:lnTo>
                  <a:pt x="117348" y="858012"/>
                </a:lnTo>
                <a:lnTo>
                  <a:pt x="132588" y="861060"/>
                </a:lnTo>
                <a:lnTo>
                  <a:pt x="138684" y="864108"/>
                </a:lnTo>
                <a:lnTo>
                  <a:pt x="143256" y="865632"/>
                </a:lnTo>
                <a:lnTo>
                  <a:pt x="146304" y="867156"/>
                </a:lnTo>
                <a:lnTo>
                  <a:pt x="147828" y="868680"/>
                </a:lnTo>
                <a:lnTo>
                  <a:pt x="147828" y="1662684"/>
                </a:lnTo>
                <a:lnTo>
                  <a:pt x="149352" y="1662684"/>
                </a:lnTo>
                <a:lnTo>
                  <a:pt x="150876" y="1665732"/>
                </a:lnTo>
                <a:lnTo>
                  <a:pt x="152400" y="1665732"/>
                </a:lnTo>
                <a:lnTo>
                  <a:pt x="161544" y="1671828"/>
                </a:lnTo>
                <a:lnTo>
                  <a:pt x="169164" y="1673352"/>
                </a:lnTo>
                <a:lnTo>
                  <a:pt x="175260" y="1674876"/>
                </a:lnTo>
                <a:lnTo>
                  <a:pt x="184404" y="1677924"/>
                </a:lnTo>
                <a:lnTo>
                  <a:pt x="195072" y="1679448"/>
                </a:lnTo>
                <a:lnTo>
                  <a:pt x="204216" y="1680972"/>
                </a:lnTo>
                <a:lnTo>
                  <a:pt x="228600" y="1684020"/>
                </a:lnTo>
                <a:lnTo>
                  <a:pt x="242316" y="1684020"/>
                </a:lnTo>
                <a:lnTo>
                  <a:pt x="254508" y="1685544"/>
                </a:lnTo>
                <a:lnTo>
                  <a:pt x="269748" y="1685544"/>
                </a:lnTo>
                <a:lnTo>
                  <a:pt x="298704" y="1687068"/>
                </a:lnTo>
                <a:close/>
              </a:path>
              <a:path w="299084" h="1687195">
                <a:moveTo>
                  <a:pt x="147828" y="818388"/>
                </a:moveTo>
                <a:lnTo>
                  <a:pt x="144780" y="819912"/>
                </a:lnTo>
                <a:lnTo>
                  <a:pt x="146304" y="819912"/>
                </a:lnTo>
                <a:lnTo>
                  <a:pt x="147828" y="818388"/>
                </a:lnTo>
                <a:close/>
              </a:path>
              <a:path w="299084" h="1687195">
                <a:moveTo>
                  <a:pt x="147828" y="868680"/>
                </a:moveTo>
                <a:lnTo>
                  <a:pt x="146304" y="867156"/>
                </a:lnTo>
                <a:lnTo>
                  <a:pt x="144780" y="867156"/>
                </a:lnTo>
                <a:lnTo>
                  <a:pt x="147828" y="868680"/>
                </a:lnTo>
                <a:close/>
              </a:path>
              <a:path w="299084" h="1687195">
                <a:moveTo>
                  <a:pt x="147828" y="818388"/>
                </a:moveTo>
                <a:lnTo>
                  <a:pt x="147828" y="25908"/>
                </a:lnTo>
                <a:lnTo>
                  <a:pt x="146304" y="28956"/>
                </a:lnTo>
                <a:lnTo>
                  <a:pt x="146304" y="819150"/>
                </a:lnTo>
                <a:lnTo>
                  <a:pt x="147828" y="818388"/>
                </a:lnTo>
                <a:close/>
              </a:path>
              <a:path w="299084" h="1687195">
                <a:moveTo>
                  <a:pt x="147828" y="1661160"/>
                </a:moveTo>
                <a:lnTo>
                  <a:pt x="147828" y="868680"/>
                </a:lnTo>
                <a:lnTo>
                  <a:pt x="146304" y="867918"/>
                </a:lnTo>
                <a:lnTo>
                  <a:pt x="146304" y="1658112"/>
                </a:lnTo>
                <a:lnTo>
                  <a:pt x="147828" y="1661160"/>
                </a:lnTo>
                <a:close/>
              </a:path>
            </a:pathLst>
          </a:custGeom>
          <a:solidFill>
            <a:srgbClr val="93B5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245" y="1402079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4" y="0"/>
                </a:moveTo>
                <a:lnTo>
                  <a:pt x="0" y="0"/>
                </a:lnTo>
                <a:lnTo>
                  <a:pt x="0" y="266700"/>
                </a:lnTo>
                <a:lnTo>
                  <a:pt x="0" y="269748"/>
                </a:lnTo>
                <a:lnTo>
                  <a:pt x="588264" y="269748"/>
                </a:lnTo>
                <a:lnTo>
                  <a:pt x="588264" y="266700"/>
                </a:lnTo>
                <a:lnTo>
                  <a:pt x="588264" y="0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23107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05" dirty="0"/>
              <a:t>Récursivité</a:t>
            </a: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2248" y="1605787"/>
            <a:ext cx="6753859" cy="15068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Exemple</a:t>
            </a:r>
            <a:r>
              <a:rPr sz="305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3:</a:t>
            </a: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0" dirty="0">
                <a:solidFill>
                  <a:srgbClr val="FF0000"/>
                </a:solidFill>
                <a:latin typeface="Times New Roman"/>
                <a:cs typeface="Times New Roman"/>
              </a:rPr>
              <a:t>système</a:t>
            </a:r>
            <a:r>
              <a:rPr sz="30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5" dirty="0">
                <a:solidFill>
                  <a:srgbClr val="FF0000"/>
                </a:solidFill>
                <a:latin typeface="Times New Roman"/>
                <a:cs typeface="Times New Roman"/>
              </a:rPr>
              <a:t>des</a:t>
            </a:r>
            <a:r>
              <a:rPr sz="305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5" dirty="0">
                <a:solidFill>
                  <a:srgbClr val="FF0000"/>
                </a:solidFill>
                <a:latin typeface="Times New Roman"/>
                <a:cs typeface="Times New Roman"/>
              </a:rPr>
              <a:t>suites</a:t>
            </a:r>
            <a:r>
              <a:rPr sz="305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50" spc="10" dirty="0">
                <a:solidFill>
                  <a:srgbClr val="FF0000"/>
                </a:solidFill>
                <a:latin typeface="Times New Roman"/>
                <a:cs typeface="Times New Roman"/>
              </a:rPr>
              <a:t>réccurentes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2040889" algn="l"/>
              </a:tabLst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F2FA0"/>
                </a:solidFill>
                <a:latin typeface="Times New Roman"/>
                <a:cs typeface="Times New Roman"/>
              </a:rPr>
              <a:t>V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;	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//prototype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récursive</a:t>
            </a:r>
            <a:r>
              <a:rPr sz="2200" spc="-8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V(n)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F2FA0"/>
                </a:solidFill>
                <a:latin typeface="Times New Roman"/>
                <a:cs typeface="Times New Roman"/>
              </a:rPr>
              <a:t>U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//défintion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récursive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U(n)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20044" y="3087114"/>
            <a:ext cx="33921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//condition</a:t>
            </a:r>
            <a:r>
              <a:rPr sz="2200" spc="-6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d‘arrêt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et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retour</a:t>
            </a:r>
            <a:endParaRPr sz="2200">
              <a:latin typeface="Times New Roman"/>
              <a:cs typeface="Times New Roman"/>
            </a:endParaRPr>
          </a:p>
          <a:p>
            <a:pPr marL="506095">
              <a:lnSpc>
                <a:spcPct val="100000"/>
              </a:lnSpc>
            </a:pP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200" spc="-3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cas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où</a:t>
            </a:r>
            <a:r>
              <a:rPr sz="2200" spc="-1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n=0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2248" y="3087114"/>
            <a:ext cx="2450465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22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==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1019810">
              <a:lnSpc>
                <a:spcPct val="100000"/>
              </a:lnSpc>
            </a:pPr>
            <a:r>
              <a:rPr sz="22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return</a:t>
            </a:r>
            <a:r>
              <a:rPr sz="2200" b="1" spc="-1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1./2.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252525"/>
                </a:solidFill>
                <a:latin typeface="Times New Roman"/>
                <a:cs typeface="Times New Roman"/>
              </a:rPr>
              <a:t>else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2248" y="4094478"/>
            <a:ext cx="8133715" cy="2712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2169">
              <a:lnSpc>
                <a:spcPct val="100000"/>
              </a:lnSpc>
              <a:spcBef>
                <a:spcPts val="105"/>
              </a:spcBef>
              <a:tabLst>
                <a:tab pos="3913504" algn="l"/>
              </a:tabLst>
            </a:pPr>
            <a:r>
              <a:rPr sz="22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return</a:t>
            </a:r>
            <a:r>
              <a:rPr sz="22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6F2FA0"/>
                </a:solidFill>
                <a:latin typeface="Times New Roman"/>
                <a:cs typeface="Times New Roman"/>
              </a:rPr>
              <a:t>U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(n-1)</a:t>
            </a:r>
            <a:r>
              <a:rPr sz="22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22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F2FA0"/>
                </a:solidFill>
                <a:latin typeface="Times New Roman"/>
                <a:cs typeface="Times New Roman"/>
              </a:rPr>
              <a:t>V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(n-1)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);	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récursif</a:t>
            </a:r>
            <a:r>
              <a:rPr sz="2200" spc="-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en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utilisant</a:t>
            </a:r>
            <a:r>
              <a:rPr sz="2200" spc="-4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formule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200" b="1" spc="-4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F2FA0"/>
                </a:solidFill>
                <a:latin typeface="Times New Roman"/>
                <a:cs typeface="Times New Roman"/>
              </a:rPr>
              <a:t>V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b="1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20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r>
              <a:rPr sz="2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//défintion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20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la</a:t>
            </a:r>
            <a:r>
              <a:rPr sz="2200" spc="-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r>
              <a:rPr sz="2200" spc="-3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récursive</a:t>
            </a:r>
            <a:r>
              <a:rPr sz="2200" spc="-8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B04F"/>
                </a:solidFill>
                <a:latin typeface="Times New Roman"/>
                <a:cs typeface="Times New Roman"/>
              </a:rPr>
              <a:t>V(n)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2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2200" b="1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==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1019810">
              <a:lnSpc>
                <a:spcPct val="100000"/>
              </a:lnSpc>
            </a:pPr>
            <a:r>
              <a:rPr sz="22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return</a:t>
            </a:r>
            <a:r>
              <a:rPr sz="2200" b="1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3./2.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252525"/>
                </a:solidFill>
                <a:latin typeface="Times New Roman"/>
                <a:cs typeface="Times New Roman"/>
              </a:rPr>
              <a:t>else</a:t>
            </a:r>
            <a:endParaRPr sz="2200">
              <a:latin typeface="Times New Roman"/>
              <a:cs typeface="Times New Roman"/>
            </a:endParaRPr>
          </a:p>
          <a:p>
            <a:pPr marL="852169">
              <a:lnSpc>
                <a:spcPct val="100000"/>
              </a:lnSpc>
              <a:spcBef>
                <a:spcPts val="10"/>
              </a:spcBef>
            </a:pPr>
            <a:r>
              <a:rPr sz="22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return</a:t>
            </a:r>
            <a:r>
              <a:rPr sz="2200" b="1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200" dirty="0">
                <a:solidFill>
                  <a:srgbClr val="FF32CC"/>
                </a:solidFill>
                <a:latin typeface="Times New Roman"/>
                <a:cs typeface="Times New Roman"/>
              </a:rPr>
              <a:t>2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200" b="1" dirty="0">
                <a:solidFill>
                  <a:srgbClr val="6F2FA0"/>
                </a:solidFill>
                <a:latin typeface="Times New Roman"/>
                <a:cs typeface="Times New Roman"/>
              </a:rPr>
              <a:t>U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(n-1)</a:t>
            </a:r>
            <a:r>
              <a:rPr sz="2200" spc="-4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2200" spc="-1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6F2FA0"/>
                </a:solidFill>
                <a:latin typeface="Times New Roman"/>
                <a:cs typeface="Times New Roman"/>
              </a:rPr>
              <a:t>V</a:t>
            </a:r>
            <a:r>
              <a:rPr sz="2200" dirty="0">
                <a:solidFill>
                  <a:srgbClr val="252525"/>
                </a:solidFill>
                <a:latin typeface="Times New Roman"/>
                <a:cs typeface="Times New Roman"/>
              </a:rPr>
              <a:t>(n-1)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854075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40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95" dirty="0"/>
              <a:t>c</a:t>
            </a:r>
            <a:r>
              <a:rPr spc="-305" dirty="0"/>
              <a:t>h</a:t>
            </a:r>
            <a:r>
              <a:rPr spc="-114" dirty="0"/>
              <a:t>a</a:t>
            </a:r>
            <a:r>
              <a:rPr spc="-220" dirty="0"/>
              <a:t>r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75" dirty="0"/>
              <a:t>(</a:t>
            </a:r>
            <a:r>
              <a:rPr spc="-305" dirty="0"/>
              <a:t>ou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</a:t>
            </a:r>
            <a:r>
              <a:rPr spc="-315" dirty="0"/>
              <a:t>n</a:t>
            </a:r>
            <a:r>
              <a:rPr spc="-75" dirty="0"/>
              <a:t>)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136" y="1643887"/>
            <a:ext cx="9293860" cy="343154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b="1" dirty="0">
                <a:solidFill>
                  <a:srgbClr val="6F2FA0"/>
                </a:solidFill>
                <a:latin typeface="Times New Roman"/>
                <a:cs typeface="Times New Roman"/>
              </a:rPr>
              <a:t>CONCEPT: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ts val="3950"/>
              </a:lnSpc>
              <a:spcBef>
                <a:spcPts val="254"/>
              </a:spcBef>
            </a:pPr>
            <a:r>
              <a:rPr sz="2600" spc="20" dirty="0">
                <a:latin typeface="Times New Roman"/>
                <a:cs typeface="Times New Roman"/>
              </a:rPr>
              <a:t>Deux ou </a:t>
            </a:r>
            <a:r>
              <a:rPr sz="2600" spc="10" dirty="0">
                <a:latin typeface="Times New Roman"/>
                <a:cs typeface="Times New Roman"/>
              </a:rPr>
              <a:t>plusieurs fonctions </a:t>
            </a:r>
            <a:r>
              <a:rPr sz="2600" spc="15" dirty="0">
                <a:latin typeface="Times New Roman"/>
                <a:cs typeface="Times New Roman"/>
              </a:rPr>
              <a:t>peuvent avoir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20" dirty="0">
                <a:latin typeface="Times New Roman"/>
                <a:cs typeface="Times New Roman"/>
              </a:rPr>
              <a:t>même </a:t>
            </a:r>
            <a:r>
              <a:rPr sz="2600" spc="15" dirty="0">
                <a:latin typeface="Times New Roman"/>
                <a:cs typeface="Times New Roman"/>
              </a:rPr>
              <a:t>nom, à condition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 </a:t>
            </a:r>
            <a:r>
              <a:rPr sz="2600" spc="10" dirty="0">
                <a:latin typeface="Times New Roman"/>
                <a:cs typeface="Times New Roman"/>
              </a:rPr>
              <a:t>leurs listes </a:t>
            </a:r>
            <a:r>
              <a:rPr sz="2600" spc="15" dirty="0">
                <a:latin typeface="Times New Roman"/>
                <a:cs typeface="Times New Roman"/>
              </a:rPr>
              <a:t>de paramètres soient </a:t>
            </a:r>
            <a:r>
              <a:rPr sz="2600" spc="5" dirty="0">
                <a:latin typeface="Times New Roman"/>
                <a:cs typeface="Times New Roman"/>
              </a:rPr>
              <a:t>différents: </a:t>
            </a:r>
            <a:r>
              <a:rPr sz="2600" spc="15" dirty="0">
                <a:latin typeface="Times New Roman"/>
                <a:cs typeface="Times New Roman"/>
              </a:rPr>
              <a:t>nombre </a:t>
            </a:r>
            <a:r>
              <a:rPr sz="2600" spc="20" dirty="0">
                <a:latin typeface="Times New Roman"/>
                <a:cs typeface="Times New Roman"/>
              </a:rPr>
              <a:t>ou </a:t>
            </a:r>
            <a:r>
              <a:rPr sz="2600" spc="15" dirty="0">
                <a:latin typeface="Times New Roman"/>
                <a:cs typeface="Times New Roman"/>
              </a:rPr>
              <a:t>types de 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différents.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850">
              <a:latin typeface="Times New Roman"/>
              <a:cs typeface="Times New Roman"/>
            </a:endParaRPr>
          </a:p>
          <a:p>
            <a:pPr marL="364490" marR="801370" indent="-352425">
              <a:lnSpc>
                <a:spcPct val="101499"/>
              </a:lnSpc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20" dirty="0">
                <a:latin typeface="Times New Roman"/>
                <a:cs typeface="Times New Roman"/>
              </a:rPr>
              <a:t>Ce</a:t>
            </a:r>
            <a:r>
              <a:rPr sz="2600" spc="15" dirty="0">
                <a:latin typeface="Times New Roman"/>
                <a:cs typeface="Times New Roman"/>
              </a:rPr>
              <a:t> mécanisme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est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appelé 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surcharge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 (ou</a:t>
            </a:r>
            <a:r>
              <a:rPr sz="2600" b="1" spc="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surdéfinition</a:t>
            </a:r>
            <a:r>
              <a:rPr sz="2600" b="1" spc="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) </a:t>
            </a:r>
            <a:r>
              <a:rPr sz="2600" b="1" spc="15" dirty="0">
                <a:solidFill>
                  <a:srgbClr val="006FC0"/>
                </a:solidFill>
                <a:latin typeface="Times New Roman"/>
                <a:cs typeface="Times New Roman"/>
              </a:rPr>
              <a:t>des </a:t>
            </a:r>
            <a:r>
              <a:rPr sz="2600" b="1" spc="-63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6FC0"/>
                </a:solidFill>
                <a:latin typeface="Times New Roman"/>
                <a:cs typeface="Times New Roman"/>
              </a:rPr>
              <a:t>fonctions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120" y="424687"/>
            <a:ext cx="854075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40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95" dirty="0"/>
              <a:t>c</a:t>
            </a:r>
            <a:r>
              <a:rPr spc="-305" dirty="0"/>
              <a:t>h</a:t>
            </a:r>
            <a:r>
              <a:rPr spc="-114" dirty="0"/>
              <a:t>a</a:t>
            </a:r>
            <a:r>
              <a:rPr spc="-220" dirty="0"/>
              <a:t>r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75" dirty="0"/>
              <a:t>(</a:t>
            </a:r>
            <a:r>
              <a:rPr spc="-315" dirty="0"/>
              <a:t>o</a:t>
            </a:r>
            <a:r>
              <a:rPr spc="-305" dirty="0"/>
              <a:t>u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75" dirty="0"/>
              <a:t>)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</a:t>
            </a:r>
            <a:r>
              <a:rPr spc="-315" dirty="0"/>
              <a:t>n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512" y="1511593"/>
            <a:ext cx="6329680" cy="578231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3400" b="1" spc="-265" dirty="0">
                <a:solidFill>
                  <a:srgbClr val="FF0000"/>
                </a:solidFill>
                <a:latin typeface="Arial"/>
                <a:cs typeface="Arial"/>
              </a:rPr>
              <a:t>Exemple:</a:t>
            </a:r>
            <a:endParaRPr sz="3400">
              <a:latin typeface="Arial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254"/>
              </a:spcBef>
            </a:pPr>
            <a:r>
              <a:rPr sz="2400" spc="10" dirty="0">
                <a:latin typeface="Times New Roman"/>
                <a:cs typeface="Times New Roman"/>
              </a:rPr>
              <a:t>Ce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programme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utilise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fonctions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surchargées.</a:t>
            </a:r>
            <a:endParaRPr sz="2400">
              <a:latin typeface="Times New Roman"/>
              <a:cs typeface="Times New Roman"/>
            </a:endParaRPr>
          </a:p>
          <a:p>
            <a:pPr marL="484505" marR="3950335">
              <a:lnSpc>
                <a:spcPct val="119000"/>
              </a:lnSpc>
              <a:spcBef>
                <a:spcPts val="50"/>
              </a:spcBef>
            </a:pPr>
            <a:r>
              <a:rPr sz="1650" dirty="0">
                <a:latin typeface="Times New Roman"/>
                <a:cs typeface="Times New Roman"/>
              </a:rPr>
              <a:t>#include </a:t>
            </a:r>
            <a:r>
              <a:rPr sz="1650" spc="-5" dirty="0">
                <a:latin typeface="Times New Roman"/>
                <a:cs typeface="Times New Roman"/>
              </a:rPr>
              <a:t>&lt;iostream&gt; </a:t>
            </a:r>
            <a:r>
              <a:rPr sz="1650" dirty="0">
                <a:latin typeface="Times New Roman"/>
                <a:cs typeface="Times New Roman"/>
              </a:rPr>
              <a:t> #include </a:t>
            </a:r>
            <a:r>
              <a:rPr sz="1650" spc="-5" dirty="0">
                <a:latin typeface="Times New Roman"/>
                <a:cs typeface="Times New Roman"/>
              </a:rPr>
              <a:t>&lt;iomanip&gt; </a:t>
            </a:r>
            <a:r>
              <a:rPr sz="1650" dirty="0">
                <a:latin typeface="Times New Roman"/>
                <a:cs typeface="Times New Roman"/>
              </a:rPr>
              <a:t> using </a:t>
            </a:r>
            <a:r>
              <a:rPr sz="1650" spc="-5" dirty="0">
                <a:latin typeface="Times New Roman"/>
                <a:cs typeface="Times New Roman"/>
              </a:rPr>
              <a:t>namespace </a:t>
            </a:r>
            <a:r>
              <a:rPr sz="1650" dirty="0">
                <a:latin typeface="Times New Roman"/>
                <a:cs typeface="Times New Roman"/>
              </a:rPr>
              <a:t>std; 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int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square(int);</a:t>
            </a:r>
            <a:endParaRPr sz="1650">
              <a:latin typeface="Times New Roman"/>
              <a:cs typeface="Times New Roman"/>
            </a:endParaRPr>
          </a:p>
          <a:p>
            <a:pPr marL="589915" marR="3790315">
              <a:lnSpc>
                <a:spcPts val="2360"/>
              </a:lnSpc>
              <a:spcBef>
                <a:spcPts val="135"/>
              </a:spcBef>
            </a:pPr>
            <a:r>
              <a:rPr sz="1650" dirty="0">
                <a:latin typeface="Times New Roman"/>
                <a:cs typeface="Times New Roman"/>
              </a:rPr>
              <a:t>double</a:t>
            </a:r>
            <a:r>
              <a:rPr sz="1650" spc="-9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square(double); </a:t>
            </a:r>
            <a:r>
              <a:rPr sz="1650" spc="-39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int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main(){</a:t>
            </a:r>
            <a:endParaRPr sz="1650">
              <a:latin typeface="Times New Roman"/>
              <a:cs typeface="Times New Roman"/>
            </a:endParaRPr>
          </a:p>
          <a:p>
            <a:pPr marL="643255">
              <a:lnSpc>
                <a:spcPct val="100000"/>
              </a:lnSpc>
              <a:spcBef>
                <a:spcPts val="235"/>
              </a:spcBef>
            </a:pPr>
            <a:r>
              <a:rPr sz="1650" dirty="0">
                <a:latin typeface="Times New Roman"/>
                <a:cs typeface="Times New Roman"/>
              </a:rPr>
              <a:t>int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intUtilisateur;</a:t>
            </a:r>
            <a:endParaRPr sz="1650">
              <a:latin typeface="Times New Roman"/>
              <a:cs typeface="Times New Roman"/>
            </a:endParaRPr>
          </a:p>
          <a:p>
            <a:pPr marL="643255">
              <a:lnSpc>
                <a:spcPct val="100000"/>
              </a:lnSpc>
              <a:spcBef>
                <a:spcPts val="384"/>
              </a:spcBef>
            </a:pPr>
            <a:r>
              <a:rPr sz="1650" dirty="0">
                <a:latin typeface="Times New Roman"/>
                <a:cs typeface="Times New Roman"/>
              </a:rPr>
              <a:t>double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floatUtilisateur;</a:t>
            </a:r>
            <a:endParaRPr sz="1650">
              <a:latin typeface="Times New Roman"/>
              <a:cs typeface="Times New Roman"/>
            </a:endParaRPr>
          </a:p>
          <a:p>
            <a:pPr marL="589915">
              <a:lnSpc>
                <a:spcPct val="100000"/>
              </a:lnSpc>
              <a:spcBef>
                <a:spcPts val="370"/>
              </a:spcBef>
            </a:pPr>
            <a:r>
              <a:rPr sz="1650" spc="-5" dirty="0">
                <a:latin typeface="Times New Roman"/>
                <a:cs typeface="Times New Roman"/>
              </a:rPr>
              <a:t>//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Saisir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un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int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et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un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double.</a:t>
            </a:r>
            <a:endParaRPr sz="1650">
              <a:latin typeface="Times New Roman"/>
              <a:cs typeface="Times New Roman"/>
            </a:endParaRPr>
          </a:p>
          <a:p>
            <a:pPr marL="589915" marR="1494155">
              <a:lnSpc>
                <a:spcPct val="119100"/>
              </a:lnSpc>
              <a:spcBef>
                <a:spcPts val="5"/>
              </a:spcBef>
            </a:pPr>
            <a:r>
              <a:rPr sz="1650" dirty="0">
                <a:latin typeface="Times New Roman"/>
                <a:cs typeface="Times New Roman"/>
              </a:rPr>
              <a:t>cout &lt;&lt; </a:t>
            </a:r>
            <a:r>
              <a:rPr sz="1650" spc="-5" dirty="0">
                <a:latin typeface="Times New Roman"/>
                <a:cs typeface="Times New Roman"/>
              </a:rPr>
              <a:t>fixed </a:t>
            </a:r>
            <a:r>
              <a:rPr sz="1650" dirty="0">
                <a:latin typeface="Times New Roman"/>
                <a:cs typeface="Times New Roman"/>
              </a:rPr>
              <a:t>&lt;&lt; showpoint &lt;&lt; setprecision(2); 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cout &lt;&lt; </a:t>
            </a:r>
            <a:r>
              <a:rPr sz="1650" spc="-5" dirty="0">
                <a:latin typeface="Times New Roman"/>
                <a:cs typeface="Times New Roman"/>
              </a:rPr>
              <a:t>"Entrer </a:t>
            </a:r>
            <a:r>
              <a:rPr sz="1650" dirty="0">
                <a:latin typeface="Times New Roman"/>
                <a:cs typeface="Times New Roman"/>
              </a:rPr>
              <a:t>un </a:t>
            </a:r>
            <a:r>
              <a:rPr sz="1650" spc="-5" dirty="0">
                <a:latin typeface="Times New Roman"/>
                <a:cs typeface="Times New Roman"/>
              </a:rPr>
              <a:t>entier et </a:t>
            </a:r>
            <a:r>
              <a:rPr sz="1650" dirty="0">
                <a:latin typeface="Times New Roman"/>
                <a:cs typeface="Times New Roman"/>
              </a:rPr>
              <a:t>une valeur </a:t>
            </a:r>
            <a:r>
              <a:rPr sz="1650" spc="-5" dirty="0">
                <a:latin typeface="Times New Roman"/>
                <a:cs typeface="Times New Roman"/>
              </a:rPr>
              <a:t>flottante: "; </a:t>
            </a:r>
            <a:r>
              <a:rPr sz="1650" spc="-40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cin </a:t>
            </a:r>
            <a:r>
              <a:rPr sz="1650" dirty="0">
                <a:latin typeface="Times New Roman"/>
                <a:cs typeface="Times New Roman"/>
              </a:rPr>
              <a:t>&gt;&gt;</a:t>
            </a:r>
            <a:r>
              <a:rPr sz="1650" spc="-5" dirty="0">
                <a:latin typeface="Times New Roman"/>
                <a:cs typeface="Times New Roman"/>
              </a:rPr>
              <a:t> intUtilisateur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&gt;&gt;</a:t>
            </a:r>
            <a:r>
              <a:rPr sz="1650" spc="-5" dirty="0">
                <a:latin typeface="Times New Roman"/>
                <a:cs typeface="Times New Roman"/>
              </a:rPr>
              <a:t> floatUtilisateur;</a:t>
            </a:r>
            <a:endParaRPr sz="165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  <a:spcBef>
                <a:spcPts val="375"/>
              </a:spcBef>
            </a:pPr>
            <a:r>
              <a:rPr sz="1650" spc="-5" dirty="0">
                <a:latin typeface="Times New Roman"/>
                <a:cs typeface="Times New Roman"/>
              </a:rPr>
              <a:t>/</a:t>
            </a:r>
            <a:r>
              <a:rPr sz="1650" dirty="0">
                <a:latin typeface="Times New Roman"/>
                <a:cs typeface="Times New Roman"/>
              </a:rPr>
              <a:t>/</a:t>
            </a:r>
            <a:r>
              <a:rPr sz="1650" spc="-10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40" dirty="0">
                <a:latin typeface="Times New Roman"/>
                <a:cs typeface="Times New Roman"/>
              </a:rPr>
              <a:t>f</a:t>
            </a:r>
            <a:r>
              <a:rPr sz="1650" spc="-15" dirty="0">
                <a:latin typeface="Times New Roman"/>
                <a:cs typeface="Times New Roman"/>
              </a:rPr>
              <a:t>f</a:t>
            </a:r>
            <a:r>
              <a:rPr sz="1650" spc="-5" dirty="0">
                <a:latin typeface="Times New Roman"/>
                <a:cs typeface="Times New Roman"/>
              </a:rPr>
              <a:t>ic</a:t>
            </a:r>
            <a:r>
              <a:rPr sz="1650" dirty="0">
                <a:latin typeface="Times New Roman"/>
                <a:cs typeface="Times New Roman"/>
              </a:rPr>
              <a:t>h</a:t>
            </a:r>
            <a:r>
              <a:rPr sz="1650" spc="-5" dirty="0">
                <a:latin typeface="Times New Roman"/>
                <a:cs typeface="Times New Roman"/>
              </a:rPr>
              <a:t>e</a:t>
            </a:r>
            <a:r>
              <a:rPr sz="1650" dirty="0">
                <a:latin typeface="Times New Roman"/>
                <a:cs typeface="Times New Roman"/>
              </a:rPr>
              <a:t>r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le</a:t>
            </a:r>
            <a:r>
              <a:rPr sz="1650" dirty="0">
                <a:latin typeface="Times New Roman"/>
                <a:cs typeface="Times New Roman"/>
              </a:rPr>
              <a:t>urs</a:t>
            </a:r>
            <a:r>
              <a:rPr sz="1650" spc="-5" dirty="0">
                <a:latin typeface="Times New Roman"/>
                <a:cs typeface="Times New Roman"/>
              </a:rPr>
              <a:t> ca</a:t>
            </a:r>
            <a:r>
              <a:rPr sz="1650" dirty="0">
                <a:latin typeface="Times New Roman"/>
                <a:cs typeface="Times New Roman"/>
              </a:rPr>
              <a:t>rr</a:t>
            </a:r>
            <a:r>
              <a:rPr sz="1650" spc="-5" dirty="0">
                <a:latin typeface="Times New Roman"/>
                <a:cs typeface="Times New Roman"/>
              </a:rPr>
              <a:t>é</a:t>
            </a:r>
            <a:r>
              <a:rPr sz="1650" dirty="0">
                <a:latin typeface="Times New Roman"/>
                <a:cs typeface="Times New Roman"/>
              </a:rPr>
              <a:t>s.</a:t>
            </a:r>
            <a:endParaRPr sz="1650">
              <a:latin typeface="Times New Roman"/>
              <a:cs typeface="Times New Roman"/>
            </a:endParaRPr>
          </a:p>
          <a:p>
            <a:pPr marL="695325">
              <a:lnSpc>
                <a:spcPct val="100000"/>
              </a:lnSpc>
              <a:spcBef>
                <a:spcPts val="380"/>
              </a:spcBef>
            </a:pPr>
            <a:r>
              <a:rPr sz="1650" dirty="0">
                <a:latin typeface="Times New Roman"/>
                <a:cs typeface="Times New Roman"/>
              </a:rPr>
              <a:t>cout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&lt;&lt;</a:t>
            </a:r>
            <a:r>
              <a:rPr sz="1650" spc="-5" dirty="0">
                <a:latin typeface="Times New Roman"/>
                <a:cs typeface="Times New Roman"/>
              </a:rPr>
              <a:t> </a:t>
            </a:r>
            <a:r>
              <a:rPr sz="1650" spc="-40" dirty="0">
                <a:latin typeface="Times New Roman"/>
                <a:cs typeface="Times New Roman"/>
              </a:rPr>
              <a:t>"Voici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leurs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carrés: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";</a:t>
            </a:r>
            <a:endParaRPr sz="1650">
              <a:latin typeface="Times New Roman"/>
              <a:cs typeface="Times New Roman"/>
            </a:endParaRPr>
          </a:p>
          <a:p>
            <a:pPr marL="695325" marR="5080">
              <a:lnSpc>
                <a:spcPts val="2360"/>
              </a:lnSpc>
              <a:spcBef>
                <a:spcPts val="100"/>
              </a:spcBef>
            </a:pPr>
            <a:r>
              <a:rPr sz="1650" dirty="0">
                <a:latin typeface="Times New Roman"/>
                <a:cs typeface="Times New Roman"/>
              </a:rPr>
              <a:t>cout</a:t>
            </a:r>
            <a:r>
              <a:rPr sz="1650" spc="-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&lt;&lt;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square(intUtilisateur)</a:t>
            </a:r>
            <a:r>
              <a:rPr sz="1650" spc="-2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&lt;&lt;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"</a:t>
            </a:r>
            <a:r>
              <a:rPr sz="1650" spc="2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et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"</a:t>
            </a:r>
            <a:r>
              <a:rPr sz="1650" spc="1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&lt;&lt;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square(floatUtilisateur); </a:t>
            </a:r>
            <a:r>
              <a:rPr sz="1650" spc="-39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return</a:t>
            </a:r>
            <a:r>
              <a:rPr sz="1650" spc="-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0;}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6873" y="1411223"/>
            <a:ext cx="581025" cy="25146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0" rIns="0" bIns="0" rtlCol="0">
            <a:spAutoFit/>
          </a:bodyPr>
          <a:lstStyle/>
          <a:p>
            <a:pPr marL="159385">
              <a:lnSpc>
                <a:spcPts val="153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120" y="345439"/>
            <a:ext cx="854075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40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95" dirty="0"/>
              <a:t>c</a:t>
            </a:r>
            <a:r>
              <a:rPr spc="-305" dirty="0"/>
              <a:t>h</a:t>
            </a:r>
            <a:r>
              <a:rPr spc="-114" dirty="0"/>
              <a:t>a</a:t>
            </a:r>
            <a:r>
              <a:rPr spc="-220" dirty="0"/>
              <a:t>r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75" dirty="0"/>
              <a:t>(</a:t>
            </a:r>
            <a:r>
              <a:rPr spc="-315" dirty="0"/>
              <a:t>o</a:t>
            </a:r>
            <a:r>
              <a:rPr spc="-305" dirty="0"/>
              <a:t>u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75" dirty="0"/>
              <a:t>)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</a:t>
            </a:r>
            <a:r>
              <a:rPr spc="-315" dirty="0"/>
              <a:t>n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056" y="1643887"/>
            <a:ext cx="4259580" cy="4030979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905"/>
              </a:spcBef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square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81610">
              <a:lnSpc>
                <a:spcPct val="100000"/>
              </a:lnSpc>
              <a:spcBef>
                <a:spcPts val="830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spc="-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square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854075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40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95" dirty="0"/>
              <a:t>c</a:t>
            </a:r>
            <a:r>
              <a:rPr spc="-305" dirty="0"/>
              <a:t>h</a:t>
            </a:r>
            <a:r>
              <a:rPr spc="-114" dirty="0"/>
              <a:t>a</a:t>
            </a:r>
            <a:r>
              <a:rPr spc="-220" dirty="0"/>
              <a:t>r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75" dirty="0"/>
              <a:t>(</a:t>
            </a:r>
            <a:r>
              <a:rPr spc="-305" dirty="0"/>
              <a:t>ou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</a:t>
            </a:r>
            <a:r>
              <a:rPr spc="-315" dirty="0"/>
              <a:t>n</a:t>
            </a:r>
            <a:r>
              <a:rPr spc="-75" dirty="0"/>
              <a:t>)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256" y="1640838"/>
            <a:ext cx="5585460" cy="1536065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Sortie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du programme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26499"/>
              </a:lnSpc>
              <a:spcBef>
                <a:spcPts val="25"/>
              </a:spcBef>
            </a:pPr>
            <a:r>
              <a:rPr sz="2600" spc="-300" dirty="0">
                <a:latin typeface="Arial MT"/>
                <a:cs typeface="Arial MT"/>
              </a:rPr>
              <a:t>E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150" dirty="0">
                <a:latin typeface="Arial MT"/>
                <a:cs typeface="Arial MT"/>
              </a:rPr>
              <a:t>r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u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en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150" dirty="0">
                <a:latin typeface="Arial MT"/>
                <a:cs typeface="Arial MT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un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50" dirty="0">
                <a:latin typeface="Arial MT"/>
                <a:cs typeface="Arial MT"/>
              </a:rPr>
              <a:t>eu</a:t>
            </a:r>
            <a:r>
              <a:rPr sz="2600" spc="-150" dirty="0">
                <a:latin typeface="Arial MT"/>
                <a:cs typeface="Arial MT"/>
              </a:rPr>
              <a:t>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50" dirty="0">
                <a:latin typeface="Arial MT"/>
                <a:cs typeface="Arial MT"/>
              </a:rPr>
              <a:t>o</a:t>
            </a:r>
            <a:r>
              <a:rPr sz="2600" spc="-130" dirty="0">
                <a:latin typeface="Arial MT"/>
                <a:cs typeface="Arial MT"/>
              </a:rPr>
              <a:t>tt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240" dirty="0">
                <a:latin typeface="Arial MT"/>
                <a:cs typeface="Arial MT"/>
              </a:rPr>
              <a:t>n</a:t>
            </a:r>
            <a:r>
              <a:rPr sz="2600" spc="-114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</a:t>
            </a:r>
            <a:r>
              <a:rPr sz="2600" spc="-245" dirty="0">
                <a:latin typeface="Arial MT"/>
                <a:cs typeface="Arial MT"/>
              </a:rPr>
              <a:t>2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4</a:t>
            </a:r>
            <a:r>
              <a:rPr sz="2600" spc="-130" dirty="0">
                <a:latin typeface="Arial MT"/>
                <a:cs typeface="Arial MT"/>
              </a:rPr>
              <a:t>.</a:t>
            </a:r>
            <a:r>
              <a:rPr sz="2600" spc="-185" dirty="0">
                <a:latin typeface="Arial MT"/>
                <a:cs typeface="Arial MT"/>
              </a:rPr>
              <a:t>2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420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o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00" dirty="0">
                <a:latin typeface="Arial MT"/>
                <a:cs typeface="Arial MT"/>
              </a:rPr>
              <a:t>i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50" dirty="0">
                <a:latin typeface="Arial MT"/>
                <a:cs typeface="Arial MT"/>
              </a:rPr>
              <a:t>eu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20" dirty="0">
                <a:latin typeface="Arial MT"/>
                <a:cs typeface="Arial MT"/>
              </a:rPr>
              <a:t>s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155" dirty="0">
                <a:latin typeface="Arial MT"/>
                <a:cs typeface="Arial MT"/>
              </a:rPr>
              <a:t>rr</a:t>
            </a:r>
            <a:r>
              <a:rPr sz="2600" spc="-250" dirty="0">
                <a:latin typeface="Arial MT"/>
                <a:cs typeface="Arial MT"/>
              </a:rPr>
              <a:t>é</a:t>
            </a:r>
            <a:r>
              <a:rPr sz="2600" spc="-225" dirty="0">
                <a:latin typeface="Arial MT"/>
                <a:cs typeface="Arial MT"/>
              </a:rPr>
              <a:t>s</a:t>
            </a:r>
            <a:r>
              <a:rPr sz="2600" spc="-125" dirty="0">
                <a:latin typeface="Arial MT"/>
                <a:cs typeface="Arial MT"/>
              </a:rPr>
              <a:t>: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14</a:t>
            </a:r>
            <a:r>
              <a:rPr sz="2600" spc="-245" dirty="0">
                <a:latin typeface="Arial MT"/>
                <a:cs typeface="Arial MT"/>
              </a:rPr>
              <a:t>4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125" dirty="0">
                <a:latin typeface="Arial MT"/>
                <a:cs typeface="Arial MT"/>
              </a:rPr>
              <a:t>t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17</a:t>
            </a:r>
            <a:r>
              <a:rPr sz="2600" spc="-130" dirty="0">
                <a:latin typeface="Arial MT"/>
                <a:cs typeface="Arial MT"/>
              </a:rPr>
              <a:t>.</a:t>
            </a:r>
            <a:r>
              <a:rPr sz="2600" spc="-250" dirty="0">
                <a:latin typeface="Arial MT"/>
                <a:cs typeface="Arial MT"/>
              </a:rPr>
              <a:t>6</a:t>
            </a:r>
            <a:r>
              <a:rPr sz="2600" spc="-245" dirty="0">
                <a:latin typeface="Arial MT"/>
                <a:cs typeface="Arial MT"/>
              </a:rPr>
              <a:t>4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854075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40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95" dirty="0"/>
              <a:t>c</a:t>
            </a:r>
            <a:r>
              <a:rPr spc="-305" dirty="0"/>
              <a:t>h</a:t>
            </a:r>
            <a:r>
              <a:rPr spc="-114" dirty="0"/>
              <a:t>a</a:t>
            </a:r>
            <a:r>
              <a:rPr spc="-220" dirty="0"/>
              <a:t>r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75" dirty="0"/>
              <a:t>(</a:t>
            </a:r>
            <a:r>
              <a:rPr spc="-305" dirty="0"/>
              <a:t>ou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</a:t>
            </a:r>
            <a:r>
              <a:rPr spc="-315" dirty="0"/>
              <a:t>n</a:t>
            </a:r>
            <a:r>
              <a:rPr spc="-75" dirty="0"/>
              <a:t>)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136" y="1645411"/>
            <a:ext cx="5504180" cy="152654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905"/>
              </a:spcBef>
              <a:buClr>
                <a:srgbClr val="006FC0"/>
              </a:buClr>
              <a:buSzPct val="59615"/>
              <a:buFont typeface="Wingdings"/>
              <a:buChar char=""/>
              <a:tabLst>
                <a:tab pos="364490" algn="l"/>
                <a:tab pos="365125" algn="l"/>
              </a:tabLst>
            </a:pPr>
            <a:r>
              <a:rPr sz="2600" spc="-55" dirty="0">
                <a:latin typeface="Times New Roman"/>
                <a:cs typeface="Times New Roman"/>
              </a:rPr>
              <a:t>Voici</a:t>
            </a:r>
            <a:r>
              <a:rPr sz="2600" spc="10" dirty="0">
                <a:latin typeface="Times New Roman"/>
                <a:cs typeface="Times New Roman"/>
              </a:rPr>
              <a:t> les en-têtes </a:t>
            </a:r>
            <a:r>
              <a:rPr sz="2600" spc="15" dirty="0">
                <a:latin typeface="Times New Roman"/>
                <a:cs typeface="Times New Roman"/>
              </a:rPr>
              <a:t>des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carrés:</a:t>
            </a:r>
            <a:endParaRPr sz="26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  <a:spcBef>
                <a:spcPts val="815"/>
              </a:spcBef>
            </a:pP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square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347345">
              <a:lnSpc>
                <a:spcPct val="100000"/>
              </a:lnSpc>
              <a:spcBef>
                <a:spcPts val="830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 </a:t>
            </a:r>
            <a:r>
              <a:rPr sz="2600" spc="15" dirty="0">
                <a:latin typeface="Times New Roman"/>
                <a:cs typeface="Times New Roman"/>
              </a:rPr>
              <a:t>square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854075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40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95" dirty="0"/>
              <a:t>c</a:t>
            </a:r>
            <a:r>
              <a:rPr spc="-305" dirty="0"/>
              <a:t>h</a:t>
            </a:r>
            <a:r>
              <a:rPr spc="-114" dirty="0"/>
              <a:t>a</a:t>
            </a:r>
            <a:r>
              <a:rPr spc="-220" dirty="0"/>
              <a:t>r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75" dirty="0"/>
              <a:t>(</a:t>
            </a:r>
            <a:r>
              <a:rPr spc="-305" dirty="0"/>
              <a:t>ou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</a:t>
            </a:r>
            <a:r>
              <a:rPr spc="-315" dirty="0"/>
              <a:t>n</a:t>
            </a:r>
            <a:r>
              <a:rPr spc="-75" dirty="0"/>
              <a:t>)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6008" y="1643887"/>
            <a:ext cx="8982710" cy="302958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Signature</a:t>
            </a: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 de</a:t>
            </a:r>
            <a:r>
              <a:rPr sz="2600" b="1" spc="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C00000"/>
                </a:solidFill>
                <a:latin typeface="Times New Roman"/>
                <a:cs typeface="Times New Roman"/>
              </a:rPr>
              <a:t>la</a:t>
            </a:r>
            <a:r>
              <a:rPr sz="2600" b="1" spc="-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fonction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ts val="3950"/>
              </a:lnSpc>
              <a:spcBef>
                <a:spcPts val="254"/>
              </a:spcBef>
            </a:pPr>
            <a:r>
              <a:rPr sz="2600" spc="15" dirty="0">
                <a:latin typeface="Times New Roman"/>
                <a:cs typeface="Times New Roman"/>
              </a:rPr>
              <a:t>La </a:t>
            </a:r>
            <a:r>
              <a:rPr sz="2600" spc="15" dirty="0">
                <a:solidFill>
                  <a:srgbClr val="00B0F0"/>
                </a:solidFill>
                <a:latin typeface="Times New Roman"/>
                <a:cs typeface="Times New Roman"/>
              </a:rPr>
              <a:t>signature de </a:t>
            </a:r>
            <a:r>
              <a:rPr sz="2600" spc="10" dirty="0">
                <a:solidFill>
                  <a:srgbClr val="00B0F0"/>
                </a:solidFill>
                <a:latin typeface="Times New Roman"/>
                <a:cs typeface="Times New Roman"/>
              </a:rPr>
              <a:t>la fonction </a:t>
            </a:r>
            <a:r>
              <a:rPr sz="2600" spc="15" dirty="0">
                <a:latin typeface="Times New Roman"/>
                <a:cs typeface="Times New Roman"/>
              </a:rPr>
              <a:t>est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20" dirty="0">
                <a:latin typeface="Times New Roman"/>
                <a:cs typeface="Times New Roman"/>
              </a:rPr>
              <a:t>nom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la fonction et les </a:t>
            </a:r>
            <a:r>
              <a:rPr sz="2600" spc="15" dirty="0">
                <a:latin typeface="Times New Roman"/>
                <a:cs typeface="Times New Roman"/>
              </a:rPr>
              <a:t>types 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données des paramètres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10" dirty="0">
                <a:latin typeface="Times New Roman"/>
                <a:cs typeface="Times New Roman"/>
              </a:rPr>
              <a:t> la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bon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ordre.</a:t>
            </a:r>
            <a:endParaRPr sz="2600">
              <a:latin typeface="Times New Roman"/>
              <a:cs typeface="Times New Roman"/>
            </a:endParaRPr>
          </a:p>
          <a:p>
            <a:pPr marL="852169" marR="1769110" indent="-840105">
              <a:lnSpc>
                <a:spcPts val="3940"/>
              </a:lnSpc>
              <a:spcBef>
                <a:spcPts val="5"/>
              </a:spcBef>
            </a:pPr>
            <a:r>
              <a:rPr sz="2600" spc="15" dirty="0">
                <a:latin typeface="Times New Roman"/>
                <a:cs typeface="Times New Roman"/>
              </a:rPr>
              <a:t>Les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fonctions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carrés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auraient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signatures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suivantes: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square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852169">
              <a:lnSpc>
                <a:spcPct val="100000"/>
              </a:lnSpc>
              <a:spcBef>
                <a:spcPts val="555"/>
              </a:spcBef>
            </a:pPr>
            <a:r>
              <a:rPr sz="2600" spc="15" dirty="0">
                <a:latin typeface="Times New Roman"/>
                <a:cs typeface="Times New Roman"/>
              </a:rPr>
              <a:t>square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854075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40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595" dirty="0"/>
              <a:t>c</a:t>
            </a:r>
            <a:r>
              <a:rPr spc="-305" dirty="0"/>
              <a:t>h</a:t>
            </a:r>
            <a:r>
              <a:rPr spc="-114" dirty="0"/>
              <a:t>a</a:t>
            </a:r>
            <a:r>
              <a:rPr spc="-220" dirty="0"/>
              <a:t>r</a:t>
            </a:r>
            <a:r>
              <a:rPr spc="-320" dirty="0"/>
              <a:t>g</a:t>
            </a:r>
            <a:r>
              <a:rPr spc="-295" dirty="0"/>
              <a:t>e</a:t>
            </a:r>
            <a:r>
              <a:rPr b="0" spc="25" dirty="0">
                <a:latin typeface="Times New Roman"/>
                <a:cs typeface="Times New Roman"/>
              </a:rPr>
              <a:t> </a:t>
            </a:r>
            <a:r>
              <a:rPr spc="-75" dirty="0"/>
              <a:t>(</a:t>
            </a:r>
            <a:r>
              <a:rPr spc="-305" dirty="0"/>
              <a:t>ou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509" dirty="0"/>
              <a:t>s</a:t>
            </a:r>
            <a:r>
              <a:rPr spc="-305" dirty="0"/>
              <a:t>u</a:t>
            </a:r>
            <a:r>
              <a:rPr spc="-295" dirty="0"/>
              <a:t>r</a:t>
            </a:r>
            <a:r>
              <a:rPr spc="-305" dirty="0"/>
              <a:t>d</a:t>
            </a:r>
            <a:r>
              <a:rPr spc="-290" dirty="0"/>
              <a:t>é</a:t>
            </a:r>
            <a:r>
              <a:rPr spc="-75" dirty="0"/>
              <a:t>f</a:t>
            </a:r>
            <a:r>
              <a:rPr spc="-70" dirty="0"/>
              <a:t>i</a:t>
            </a:r>
            <a:r>
              <a:rPr spc="-305" dirty="0"/>
              <a:t>n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</a:t>
            </a:r>
            <a:r>
              <a:rPr spc="-315" dirty="0"/>
              <a:t>n</a:t>
            </a:r>
            <a:r>
              <a:rPr spc="-75" dirty="0"/>
              <a:t>)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05" dirty="0"/>
              <a:t>d</a:t>
            </a:r>
            <a:r>
              <a:rPr spc="-295" dirty="0"/>
              <a:t>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spc="-505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972" y="1566163"/>
            <a:ext cx="9604375" cy="353060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Remarque:</a:t>
            </a:r>
            <a:endParaRPr sz="2600">
              <a:latin typeface="Times New Roman"/>
              <a:cs typeface="Times New Roman"/>
            </a:endParaRPr>
          </a:p>
          <a:p>
            <a:pPr marL="179705" marR="5080" indent="-83820">
              <a:lnSpc>
                <a:spcPts val="3950"/>
              </a:lnSpc>
              <a:spcBef>
                <a:spcPts val="254"/>
              </a:spcBef>
            </a:pPr>
            <a:r>
              <a:rPr sz="2600" spc="15" dirty="0">
                <a:latin typeface="Times New Roman"/>
                <a:cs typeface="Times New Roman"/>
              </a:rPr>
              <a:t>Les </a:t>
            </a:r>
            <a:r>
              <a:rPr sz="2600" spc="10" dirty="0">
                <a:latin typeface="Times New Roman"/>
                <a:cs typeface="Times New Roman"/>
              </a:rPr>
              <a:t>fonctions </a:t>
            </a:r>
            <a:r>
              <a:rPr sz="2600" spc="15" dirty="0">
                <a:latin typeface="Times New Roman"/>
                <a:cs typeface="Times New Roman"/>
              </a:rPr>
              <a:t>suivantes ne pouvaient pas </a:t>
            </a:r>
            <a:r>
              <a:rPr sz="2600" spc="10" dirty="0">
                <a:latin typeface="Times New Roman"/>
                <a:cs typeface="Times New Roman"/>
              </a:rPr>
              <a:t>être utilisés </a:t>
            </a:r>
            <a:r>
              <a:rPr sz="2600" spc="15" dirty="0">
                <a:latin typeface="Times New Roman"/>
                <a:cs typeface="Times New Roman"/>
              </a:rPr>
              <a:t>dans </a:t>
            </a:r>
            <a:r>
              <a:rPr sz="2600" spc="10" dirty="0">
                <a:latin typeface="Times New Roman"/>
                <a:cs typeface="Times New Roman"/>
              </a:rPr>
              <a:t>le </a:t>
            </a:r>
            <a:r>
              <a:rPr sz="2600" spc="20" dirty="0">
                <a:latin typeface="Times New Roman"/>
                <a:cs typeface="Times New Roman"/>
              </a:rPr>
              <a:t>même 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programme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 </a:t>
            </a:r>
            <a:r>
              <a:rPr sz="2600" spc="10" dirty="0">
                <a:latin typeface="Times New Roman"/>
                <a:cs typeface="Times New Roman"/>
              </a:rPr>
              <a:t>leurs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listes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paramètres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ne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sont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pas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différents.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square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54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768350">
              <a:lnSpc>
                <a:spcPct val="100000"/>
              </a:lnSpc>
              <a:spcBef>
                <a:spcPts val="825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830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0331" y="5252717"/>
            <a:ext cx="541401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//Faux!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Les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listes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 de</a:t>
            </a:r>
            <a:r>
              <a:rPr sz="19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paramètres</a:t>
            </a:r>
            <a:r>
              <a:rPr sz="1950" spc="6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5" dirty="0">
                <a:solidFill>
                  <a:srgbClr val="00B04F"/>
                </a:solidFill>
                <a:latin typeface="Times New Roman"/>
                <a:cs typeface="Times New Roman"/>
              </a:rPr>
              <a:t>doivent</a:t>
            </a:r>
            <a:r>
              <a:rPr sz="19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1950" spc="10" dirty="0">
                <a:solidFill>
                  <a:srgbClr val="00B04F"/>
                </a:solidFill>
                <a:latin typeface="Times New Roman"/>
                <a:cs typeface="Times New Roman"/>
              </a:rPr>
              <a:t>être </a:t>
            </a:r>
            <a:r>
              <a:rPr sz="1950" spc="5" dirty="0">
                <a:solidFill>
                  <a:srgbClr val="00B04F"/>
                </a:solidFill>
                <a:latin typeface="Times New Roman"/>
                <a:cs typeface="Times New Roman"/>
              </a:rPr>
              <a:t>différent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612" y="5069837"/>
            <a:ext cx="4102735" cy="202946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60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double</a:t>
            </a:r>
            <a:r>
              <a:rPr sz="2600" b="1" spc="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square(</a:t>
            </a:r>
            <a:r>
              <a:rPr sz="260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60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600710">
              <a:lnSpc>
                <a:spcPct val="100000"/>
              </a:lnSpc>
              <a:spcBef>
                <a:spcPts val="830"/>
              </a:spcBef>
            </a:pPr>
            <a:r>
              <a:rPr sz="260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600" b="1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0000"/>
                </a:solidFill>
                <a:latin typeface="Times New Roman"/>
                <a:cs typeface="Times New Roman"/>
              </a:rPr>
              <a:t>*</a:t>
            </a:r>
            <a:r>
              <a:rPr sz="26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14019"/>
            <a:ext cx="35426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5" dirty="0"/>
              <a:t>L</a:t>
            </a:r>
            <a:r>
              <a:rPr spc="-105" dirty="0"/>
              <a:t>a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75" dirty="0"/>
              <a:t>e</a:t>
            </a:r>
            <a:r>
              <a:rPr spc="-90" dirty="0"/>
              <a:t>x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5" dirty="0"/>
              <a:t>()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/>
              <a:t>CONCEPT: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La </a:t>
            </a:r>
            <a:r>
              <a:rPr b="0" spc="10" dirty="0">
                <a:solidFill>
                  <a:srgbClr val="000000"/>
                </a:solidFill>
                <a:latin typeface="Times New Roman"/>
                <a:cs typeface="Times New Roman"/>
              </a:rPr>
              <a:t>fonction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i="1" spc="10" dirty="0">
                <a:solidFill>
                  <a:srgbClr val="000000"/>
                </a:solidFill>
                <a:latin typeface="Times New Roman"/>
                <a:cs typeface="Times New Roman"/>
              </a:rPr>
              <a:t>exit()</a:t>
            </a:r>
            <a:r>
              <a:rPr i="1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met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0" dirty="0">
                <a:solidFill>
                  <a:srgbClr val="000000"/>
                </a:solidFill>
                <a:latin typeface="Times New Roman"/>
                <a:cs typeface="Times New Roman"/>
              </a:rPr>
              <a:t>fin</a:t>
            </a:r>
            <a:r>
              <a:rPr b="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0" dirty="0">
                <a:solidFill>
                  <a:srgbClr val="000000"/>
                </a:solidFill>
                <a:latin typeface="Times New Roman"/>
                <a:cs typeface="Times New Roman"/>
              </a:rPr>
              <a:t>l’exécution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d’un</a:t>
            </a:r>
            <a:r>
              <a:rPr b="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programme, quel que</a:t>
            </a: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b="0" spc="10" dirty="0">
                <a:solidFill>
                  <a:srgbClr val="000000"/>
                </a:solidFill>
                <a:latin typeface="Times New Roman"/>
                <a:cs typeface="Times New Roman"/>
              </a:rPr>
              <a:t>soit la fonction</a:t>
            </a:r>
            <a:r>
              <a:rPr b="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20" dirty="0">
                <a:solidFill>
                  <a:srgbClr val="000000"/>
                </a:solidFill>
                <a:latin typeface="Times New Roman"/>
                <a:cs typeface="Times New Roman"/>
              </a:rPr>
              <a:t>ou </a:t>
            </a:r>
            <a:r>
              <a:rPr b="0" spc="10" dirty="0">
                <a:solidFill>
                  <a:srgbClr val="000000"/>
                </a:solidFill>
                <a:latin typeface="Times New Roman"/>
                <a:cs typeface="Times New Roman"/>
              </a:rPr>
              <a:t>le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 mécanisme</a:t>
            </a:r>
            <a:r>
              <a:rPr b="0" spc="-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de</a:t>
            </a:r>
            <a:r>
              <a:rPr b="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0" dirty="0">
                <a:solidFill>
                  <a:srgbClr val="000000"/>
                </a:solidFill>
                <a:latin typeface="Times New Roman"/>
                <a:cs typeface="Times New Roman"/>
              </a:rPr>
              <a:t>contrôle 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qui</a:t>
            </a:r>
            <a:r>
              <a:rPr b="0" spc="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est</a:t>
            </a:r>
            <a:r>
              <a:rPr b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en</a:t>
            </a:r>
            <a:r>
              <a:rPr b="0" spc="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5" dirty="0">
                <a:solidFill>
                  <a:srgbClr val="000000"/>
                </a:solidFill>
                <a:latin typeface="Times New Roman"/>
                <a:cs typeface="Times New Roman"/>
              </a:rPr>
              <a:t>cours</a:t>
            </a:r>
            <a:r>
              <a:rPr b="0" spc="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b="0" spc="10" dirty="0">
                <a:solidFill>
                  <a:srgbClr val="000000"/>
                </a:solidFill>
                <a:latin typeface="Times New Roman"/>
                <a:cs typeface="Times New Roman"/>
              </a:rPr>
              <a:t>d'exécution.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35426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5" dirty="0"/>
              <a:t>L</a:t>
            </a:r>
            <a:r>
              <a:rPr spc="-105" dirty="0"/>
              <a:t>a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75" dirty="0"/>
              <a:t>e</a:t>
            </a:r>
            <a:r>
              <a:rPr spc="-90" dirty="0"/>
              <a:t>x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5" dirty="0"/>
              <a:t>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2060" y="1469545"/>
            <a:ext cx="2479675" cy="240347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305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Exemple:</a:t>
            </a:r>
            <a:endParaRPr sz="3050">
              <a:latin typeface="Times New Roman"/>
              <a:cs typeface="Times New Roman"/>
            </a:endParaRPr>
          </a:p>
          <a:p>
            <a:pPr marL="116205" marR="5080" indent="-6350">
              <a:lnSpc>
                <a:spcPct val="114300"/>
              </a:lnSpc>
              <a:spcBef>
                <a:spcPts val="215"/>
              </a:spcBef>
            </a:pPr>
            <a:r>
              <a:rPr sz="2050" b="1" spc="15" dirty="0">
                <a:solidFill>
                  <a:srgbClr val="006500"/>
                </a:solidFill>
                <a:latin typeface="Times New Roman"/>
                <a:cs typeface="Times New Roman"/>
              </a:rPr>
              <a:t>#include </a:t>
            </a:r>
            <a:r>
              <a:rPr sz="20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&lt;iostream&gt; </a:t>
            </a:r>
            <a:r>
              <a:rPr sz="2050" b="1" spc="-50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050" b="1" spc="15" dirty="0">
                <a:solidFill>
                  <a:srgbClr val="006500"/>
                </a:solidFill>
                <a:latin typeface="Times New Roman"/>
                <a:cs typeface="Times New Roman"/>
              </a:rPr>
              <a:t>#include</a:t>
            </a:r>
            <a:r>
              <a:rPr sz="2050" b="1" spc="2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0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&lt;cstdlib&gt; </a:t>
            </a:r>
            <a:r>
              <a:rPr sz="2050" b="1" spc="15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using 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namespace </a:t>
            </a:r>
            <a:r>
              <a:rPr sz="20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std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</a:t>
            </a:r>
            <a:r>
              <a:rPr sz="2050" b="1" spc="2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latin typeface="Times New Roman"/>
                <a:cs typeface="Times New Roman"/>
              </a:rPr>
              <a:t>fonction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sz="205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  <a:spcBef>
                <a:spcPts val="325"/>
              </a:spcBef>
            </a:pPr>
            <a:r>
              <a:rPr sz="2050" b="1" spc="10" dirty="0">
                <a:solidFill>
                  <a:srgbClr val="001F5F"/>
                </a:solidFill>
                <a:latin typeface="Times New Roman"/>
                <a:cs typeface="Times New Roman"/>
              </a:rPr>
              <a:t>int</a:t>
            </a:r>
            <a:r>
              <a:rPr sz="2050" b="1" spc="-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latin typeface="Times New Roman"/>
                <a:cs typeface="Times New Roman"/>
              </a:rPr>
              <a:t>main</a:t>
            </a:r>
            <a:r>
              <a:rPr sz="2050" spc="5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16511" y="2469895"/>
            <a:ext cx="1205865" cy="344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50" spc="-25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Pour</a:t>
            </a:r>
            <a:r>
              <a:rPr sz="2050" spc="-1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exit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8496" y="3175506"/>
            <a:ext cx="1271270" cy="344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spc="5" dirty="0">
                <a:solidFill>
                  <a:srgbClr val="00B04F"/>
                </a:solidFill>
                <a:latin typeface="Times New Roman"/>
                <a:cs typeface="Times New Roman"/>
              </a:rPr>
              <a:t>//</a:t>
            </a:r>
            <a:r>
              <a:rPr sz="2050" spc="-6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Prototype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2748" y="3848810"/>
            <a:ext cx="7592695" cy="355536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405"/>
              </a:spcBef>
            </a:pPr>
            <a:r>
              <a:rPr sz="2050" spc="10" dirty="0">
                <a:latin typeface="Times New Roman"/>
                <a:cs typeface="Times New Roman"/>
              </a:rPr>
              <a:t>fonction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r>
              <a:rPr sz="205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//Appel</a:t>
            </a:r>
            <a:r>
              <a:rPr sz="2050" spc="2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205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  <a:spcBef>
                <a:spcPts val="310"/>
              </a:spcBef>
            </a:pPr>
            <a:r>
              <a:rPr sz="2050" b="1" spc="5" dirty="0">
                <a:solidFill>
                  <a:srgbClr val="001F5F"/>
                </a:solidFill>
                <a:latin typeface="Times New Roman"/>
                <a:cs typeface="Times New Roman"/>
              </a:rPr>
              <a:t>return</a:t>
            </a:r>
            <a:r>
              <a:rPr sz="2050" b="1"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5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325"/>
              </a:spcBef>
            </a:pP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50">
              <a:latin typeface="Times New Roman"/>
              <a:cs typeface="Times New Roman"/>
            </a:endParaRPr>
          </a:p>
          <a:p>
            <a:pPr marL="79375">
              <a:lnSpc>
                <a:spcPct val="100000"/>
              </a:lnSpc>
              <a:spcBef>
                <a:spcPts val="325"/>
              </a:spcBef>
            </a:pPr>
            <a:r>
              <a:rPr sz="2050" b="1" spc="15" dirty="0">
                <a:solidFill>
                  <a:srgbClr val="001F5F"/>
                </a:solidFill>
                <a:latin typeface="Times New Roman"/>
                <a:cs typeface="Times New Roman"/>
              </a:rPr>
              <a:t>void </a:t>
            </a:r>
            <a:r>
              <a:rPr sz="2050" spc="10" dirty="0">
                <a:latin typeface="Times New Roman"/>
                <a:cs typeface="Times New Roman"/>
              </a:rPr>
              <a:t>fonction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(){</a:t>
            </a:r>
            <a:r>
              <a:rPr sz="2050" spc="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//Définition</a:t>
            </a:r>
            <a:r>
              <a:rPr sz="2050" spc="4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B04F"/>
                </a:solidFill>
                <a:latin typeface="Times New Roman"/>
                <a:cs typeface="Times New Roman"/>
              </a:rPr>
              <a:t>de</a:t>
            </a:r>
            <a:r>
              <a:rPr sz="2050" dirty="0">
                <a:solidFill>
                  <a:srgbClr val="00B04F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B04F"/>
                </a:solidFill>
                <a:latin typeface="Times New Roman"/>
                <a:cs typeface="Times New Roman"/>
              </a:rPr>
              <a:t>fonction</a:t>
            </a:r>
            <a:endParaRPr sz="2050">
              <a:latin typeface="Times New Roman"/>
              <a:cs typeface="Times New Roman"/>
            </a:endParaRPr>
          </a:p>
          <a:p>
            <a:pPr marL="279400" marR="5080">
              <a:lnSpc>
                <a:spcPts val="2780"/>
              </a:lnSpc>
              <a:spcBef>
                <a:spcPts val="135"/>
              </a:spcBef>
            </a:pPr>
            <a:r>
              <a:rPr sz="2050" b="1" spc="15" dirty="0">
                <a:solidFill>
                  <a:srgbClr val="006500"/>
                </a:solidFill>
                <a:latin typeface="Times New Roman"/>
                <a:cs typeface="Times New Roman"/>
              </a:rPr>
              <a:t>cout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0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Ce</a:t>
            </a:r>
            <a:r>
              <a:rPr sz="20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programme</a:t>
            </a:r>
            <a:r>
              <a:rPr sz="2050" spc="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se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5" dirty="0">
                <a:solidFill>
                  <a:srgbClr val="006FC0"/>
                </a:solidFill>
                <a:latin typeface="Times New Roman"/>
                <a:cs typeface="Times New Roman"/>
              </a:rPr>
              <a:t>termine</a:t>
            </a:r>
            <a:r>
              <a:rPr sz="2050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avec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la fonction</a:t>
            </a:r>
            <a:r>
              <a:rPr sz="2050" spc="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exit.</a:t>
            </a:r>
            <a:r>
              <a:rPr sz="20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05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5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50" spc="-5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spc="1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0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"Bye!"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50">
              <a:latin typeface="Times New Roman"/>
              <a:cs typeface="Times New Roman"/>
            </a:endParaRPr>
          </a:p>
          <a:p>
            <a:pPr marL="279400">
              <a:lnSpc>
                <a:spcPct val="100000"/>
              </a:lnSpc>
              <a:spcBef>
                <a:spcPts val="185"/>
              </a:spcBef>
            </a:pPr>
            <a:r>
              <a:rPr sz="2050" spc="10" dirty="0">
                <a:latin typeface="Times New Roman"/>
                <a:cs typeface="Times New Roman"/>
              </a:rPr>
              <a:t>exit(</a:t>
            </a:r>
            <a:r>
              <a:rPr sz="2050" spc="10" dirty="0">
                <a:solidFill>
                  <a:srgbClr val="FF32CC"/>
                </a:solidFill>
                <a:latin typeface="Times New Roman"/>
                <a:cs typeface="Times New Roman"/>
              </a:rPr>
              <a:t>0</a:t>
            </a:r>
            <a:r>
              <a:rPr sz="2050" spc="10" dirty="0">
                <a:latin typeface="Times New Roman"/>
                <a:cs typeface="Times New Roman"/>
              </a:rPr>
              <a:t>)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endParaRPr sz="2050">
              <a:latin typeface="Times New Roman"/>
              <a:cs typeface="Times New Roman"/>
            </a:endParaRPr>
          </a:p>
          <a:p>
            <a:pPr marL="279400" marR="1542415">
              <a:lnSpc>
                <a:spcPct val="112700"/>
              </a:lnSpc>
              <a:spcBef>
                <a:spcPts val="10"/>
              </a:spcBef>
            </a:pPr>
            <a:r>
              <a:rPr sz="2050" b="1" spc="15" dirty="0">
                <a:solidFill>
                  <a:srgbClr val="006500"/>
                </a:solidFill>
                <a:latin typeface="Times New Roman"/>
                <a:cs typeface="Times New Roman"/>
              </a:rPr>
              <a:t>cout</a:t>
            </a:r>
            <a:r>
              <a:rPr sz="20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" Ce</a:t>
            </a:r>
            <a:r>
              <a:rPr sz="20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message</a:t>
            </a:r>
            <a:r>
              <a:rPr sz="2050" spc="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ne</a:t>
            </a:r>
            <a:r>
              <a:rPr sz="20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sera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pas</a:t>
            </a:r>
            <a:r>
              <a:rPr sz="2050" spc="5" dirty="0">
                <a:solidFill>
                  <a:srgbClr val="006FC0"/>
                </a:solidFill>
                <a:latin typeface="Times New Roman"/>
                <a:cs typeface="Times New Roman"/>
              </a:rPr>
              <a:t> affiché"</a:t>
            </a:r>
            <a:r>
              <a:rPr sz="2050" spc="2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050" spc="10" dirty="0">
                <a:solidFill>
                  <a:srgbClr val="FF0000"/>
                </a:solidFill>
                <a:latin typeface="Times New Roman"/>
                <a:cs typeface="Times New Roman"/>
              </a:rPr>
              <a:t>;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spc="15" dirty="0">
                <a:solidFill>
                  <a:srgbClr val="006500"/>
                </a:solidFill>
                <a:latin typeface="Times New Roman"/>
                <a:cs typeface="Times New Roman"/>
              </a:rPr>
              <a:t>cout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"</a:t>
            </a:r>
            <a:r>
              <a:rPr sz="2050" spc="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Car 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le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programme</a:t>
            </a:r>
            <a:r>
              <a:rPr sz="2050" spc="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050" spc="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0" dirty="0">
                <a:solidFill>
                  <a:srgbClr val="006FC0"/>
                </a:solidFill>
                <a:latin typeface="Times New Roman"/>
                <a:cs typeface="Times New Roman"/>
              </a:rPr>
              <a:t>déjà </a:t>
            </a:r>
            <a:r>
              <a:rPr sz="2050" spc="5" dirty="0">
                <a:solidFill>
                  <a:srgbClr val="006FC0"/>
                </a:solidFill>
                <a:latin typeface="Times New Roman"/>
                <a:cs typeface="Times New Roman"/>
              </a:rPr>
              <a:t>terminé."</a:t>
            </a:r>
            <a:r>
              <a:rPr sz="2050" spc="7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&lt;&lt;</a:t>
            </a:r>
            <a:r>
              <a:rPr sz="205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50" b="1" spc="10" dirty="0">
                <a:solidFill>
                  <a:srgbClr val="006500"/>
                </a:solidFill>
                <a:latin typeface="Times New Roman"/>
                <a:cs typeface="Times New Roman"/>
              </a:rPr>
              <a:t>endl</a:t>
            </a:r>
            <a:r>
              <a:rPr sz="2050" spc="10" dirty="0">
                <a:latin typeface="Times New Roman"/>
                <a:cs typeface="Times New Roman"/>
              </a:rPr>
              <a:t>;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050" spc="15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008" y="424687"/>
            <a:ext cx="35426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25" dirty="0"/>
              <a:t>L</a:t>
            </a:r>
            <a:r>
              <a:rPr spc="-105" dirty="0"/>
              <a:t>a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spc="-110" dirty="0"/>
              <a:t>f</a:t>
            </a:r>
            <a:r>
              <a:rPr spc="-305" dirty="0"/>
              <a:t>on</a:t>
            </a:r>
            <a:r>
              <a:rPr spc="-595" dirty="0"/>
              <a:t>c</a:t>
            </a:r>
            <a:r>
              <a:rPr spc="-285" dirty="0"/>
              <a:t>t</a:t>
            </a:r>
            <a:r>
              <a:rPr spc="-70" dirty="0"/>
              <a:t>i</a:t>
            </a:r>
            <a:r>
              <a:rPr spc="-305" dirty="0"/>
              <a:t>on</a:t>
            </a:r>
            <a:r>
              <a:rPr b="0" spc="35" dirty="0">
                <a:latin typeface="Times New Roman"/>
                <a:cs typeface="Times New Roman"/>
              </a:rPr>
              <a:t> </a:t>
            </a:r>
            <a:r>
              <a:rPr spc="-375" dirty="0"/>
              <a:t>e</a:t>
            </a:r>
            <a:r>
              <a:rPr spc="-90" dirty="0"/>
              <a:t>x</a:t>
            </a:r>
            <a:r>
              <a:rPr spc="-70" dirty="0"/>
              <a:t>i</a:t>
            </a:r>
            <a:r>
              <a:rPr spc="-285" dirty="0"/>
              <a:t>t</a:t>
            </a:r>
            <a:r>
              <a:rPr spc="-75" dirty="0"/>
              <a:t>()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136" y="1640838"/>
            <a:ext cx="5441950" cy="1536065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26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Sortie</a:t>
            </a:r>
            <a:r>
              <a:rPr sz="26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600" b="1" spc="15" dirty="0">
                <a:solidFill>
                  <a:srgbClr val="FF0000"/>
                </a:solidFill>
                <a:latin typeface="Times New Roman"/>
                <a:cs typeface="Times New Roman"/>
              </a:rPr>
              <a:t>du programme</a:t>
            </a:r>
            <a:endParaRPr sz="2600">
              <a:latin typeface="Times New Roman"/>
              <a:cs typeface="Times New Roman"/>
            </a:endParaRPr>
          </a:p>
          <a:p>
            <a:pPr marL="12700" marR="5080">
              <a:lnSpc>
                <a:spcPct val="126499"/>
              </a:lnSpc>
              <a:spcBef>
                <a:spcPts val="25"/>
              </a:spcBef>
            </a:pPr>
            <a:r>
              <a:rPr sz="2600" spc="-325" dirty="0">
                <a:latin typeface="Arial MT"/>
                <a:cs typeface="Arial MT"/>
              </a:rPr>
              <a:t>C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p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250" dirty="0">
                <a:latin typeface="Arial MT"/>
                <a:cs typeface="Arial MT"/>
              </a:rPr>
              <a:t>og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330" dirty="0">
                <a:latin typeface="Arial MT"/>
                <a:cs typeface="Arial MT"/>
              </a:rPr>
              <a:t>amm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155" dirty="0">
                <a:latin typeface="Arial MT"/>
                <a:cs typeface="Arial MT"/>
              </a:rPr>
              <a:t>r</a:t>
            </a:r>
            <a:r>
              <a:rPr sz="2600" spc="-370" dirty="0">
                <a:latin typeface="Arial MT"/>
                <a:cs typeface="Arial MT"/>
              </a:rPr>
              <a:t>m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50" dirty="0">
                <a:latin typeface="Arial MT"/>
                <a:cs typeface="Arial MT"/>
              </a:rPr>
              <a:t>n</a:t>
            </a:r>
            <a:r>
              <a:rPr sz="2600" spc="-245" dirty="0">
                <a:latin typeface="Arial MT"/>
                <a:cs typeface="Arial MT"/>
              </a:rPr>
              <a:t>e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a</a:t>
            </a:r>
            <a:r>
              <a:rPr sz="2600" spc="-225" dirty="0">
                <a:latin typeface="Arial MT"/>
                <a:cs typeface="Arial MT"/>
              </a:rPr>
              <a:t>v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0" dirty="0">
                <a:latin typeface="Arial MT"/>
                <a:cs typeface="Arial MT"/>
              </a:rPr>
              <a:t>c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Arial MT"/>
                <a:cs typeface="Arial MT"/>
              </a:rPr>
              <a:t>l</a:t>
            </a:r>
            <a:r>
              <a:rPr sz="2600" spc="-245" dirty="0">
                <a:latin typeface="Arial MT"/>
                <a:cs typeface="Arial MT"/>
              </a:rPr>
              <a:t>a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Arial MT"/>
                <a:cs typeface="Arial MT"/>
              </a:rPr>
              <a:t>f</a:t>
            </a:r>
            <a:r>
              <a:rPr sz="2600" spc="-250" dirty="0">
                <a:latin typeface="Arial MT"/>
                <a:cs typeface="Arial MT"/>
              </a:rPr>
              <a:t>on</a:t>
            </a:r>
            <a:r>
              <a:rPr sz="2600" spc="-225" dirty="0">
                <a:latin typeface="Arial MT"/>
                <a:cs typeface="Arial MT"/>
              </a:rPr>
              <a:t>c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240" dirty="0">
                <a:latin typeface="Arial MT"/>
                <a:cs typeface="Arial MT"/>
              </a:rPr>
              <a:t>o</a:t>
            </a:r>
            <a:r>
              <a:rPr sz="2600" spc="-245" dirty="0">
                <a:latin typeface="Arial MT"/>
                <a:cs typeface="Arial MT"/>
              </a:rPr>
              <a:t>n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250" dirty="0">
                <a:latin typeface="Arial MT"/>
                <a:cs typeface="Arial MT"/>
              </a:rPr>
              <a:t>e</a:t>
            </a:r>
            <a:r>
              <a:rPr sz="2600" spc="-225" dirty="0">
                <a:latin typeface="Arial MT"/>
                <a:cs typeface="Arial MT"/>
              </a:rPr>
              <a:t>x</a:t>
            </a:r>
            <a:r>
              <a:rPr sz="2600" spc="-105" dirty="0">
                <a:latin typeface="Arial MT"/>
                <a:cs typeface="Arial MT"/>
              </a:rPr>
              <a:t>i</a:t>
            </a:r>
            <a:r>
              <a:rPr sz="2600" spc="-130" dirty="0">
                <a:latin typeface="Arial MT"/>
                <a:cs typeface="Arial MT"/>
              </a:rPr>
              <a:t>t</a:t>
            </a:r>
            <a:r>
              <a:rPr sz="2600" spc="-125" dirty="0">
                <a:latin typeface="Arial MT"/>
                <a:cs typeface="Arial MT"/>
              </a:rPr>
              <a:t>. 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225" dirty="0">
                <a:latin typeface="Arial MT"/>
                <a:cs typeface="Arial MT"/>
              </a:rPr>
              <a:t>Bye!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0912" y="741679"/>
            <a:ext cx="1332865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50" b="1" spc="-135" dirty="0">
                <a:solidFill>
                  <a:srgbClr val="548BB8"/>
                </a:solidFill>
                <a:latin typeface="Arial"/>
                <a:cs typeface="Arial"/>
              </a:rPr>
              <a:t>Q</a:t>
            </a:r>
            <a:r>
              <a:rPr sz="3950" spc="65" dirty="0">
                <a:solidFill>
                  <a:srgbClr val="548BB8"/>
                </a:solidFill>
                <a:latin typeface="Times New Roman"/>
                <a:cs typeface="Times New Roman"/>
              </a:rPr>
              <a:t> </a:t>
            </a:r>
            <a:r>
              <a:rPr sz="3950" b="1" spc="-340" dirty="0">
                <a:solidFill>
                  <a:srgbClr val="548BB8"/>
                </a:solidFill>
                <a:latin typeface="Arial"/>
                <a:cs typeface="Arial"/>
              </a:rPr>
              <a:t>&amp;</a:t>
            </a:r>
            <a:r>
              <a:rPr sz="3950" spc="60" dirty="0">
                <a:solidFill>
                  <a:srgbClr val="548BB8"/>
                </a:solidFill>
                <a:latin typeface="Times New Roman"/>
                <a:cs typeface="Times New Roman"/>
              </a:rPr>
              <a:t> </a:t>
            </a:r>
            <a:r>
              <a:rPr sz="3950" b="1" spc="-120" dirty="0">
                <a:solidFill>
                  <a:srgbClr val="548BB8"/>
                </a:solidFill>
                <a:latin typeface="Arial"/>
                <a:cs typeface="Arial"/>
              </a:rPr>
              <a:t>A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53" y="1937004"/>
            <a:ext cx="10075160" cy="541172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248" y="520699"/>
            <a:ext cx="2299970" cy="631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345" dirty="0"/>
              <a:t>Références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09245" y="1397520"/>
            <a:ext cx="594360" cy="279400"/>
          </a:xfrm>
          <a:custGeom>
            <a:avLst/>
            <a:gdLst/>
            <a:ahLst/>
            <a:cxnLst/>
            <a:rect l="l" t="t" r="r" b="b"/>
            <a:pathLst>
              <a:path w="594360" h="279400">
                <a:moveTo>
                  <a:pt x="594360" y="1524"/>
                </a:moveTo>
                <a:lnTo>
                  <a:pt x="591312" y="0"/>
                </a:lnTo>
                <a:lnTo>
                  <a:pt x="0" y="0"/>
                </a:lnTo>
                <a:lnTo>
                  <a:pt x="0" y="4559"/>
                </a:lnTo>
                <a:lnTo>
                  <a:pt x="0" y="10668"/>
                </a:lnTo>
                <a:lnTo>
                  <a:pt x="0" y="269748"/>
                </a:lnTo>
                <a:lnTo>
                  <a:pt x="0" y="274307"/>
                </a:lnTo>
                <a:lnTo>
                  <a:pt x="0" y="278892"/>
                </a:lnTo>
                <a:lnTo>
                  <a:pt x="6096" y="278892"/>
                </a:lnTo>
                <a:lnTo>
                  <a:pt x="583692" y="278892"/>
                </a:lnTo>
                <a:lnTo>
                  <a:pt x="588264" y="278892"/>
                </a:lnTo>
                <a:lnTo>
                  <a:pt x="591312" y="278892"/>
                </a:lnTo>
                <a:lnTo>
                  <a:pt x="594360" y="277368"/>
                </a:lnTo>
                <a:lnTo>
                  <a:pt x="594360" y="1524"/>
                </a:lnTo>
                <a:close/>
              </a:path>
            </a:pathLst>
          </a:custGeom>
          <a:solidFill>
            <a:srgbClr val="D6E7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0796" y="1432322"/>
            <a:ext cx="26606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0"/>
              </a:lnSpc>
            </a:pPr>
            <a:r>
              <a:rPr sz="1300" b="1" spc="-30" dirty="0">
                <a:solidFill>
                  <a:srgbClr val="548BB8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548BB8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4504" y="1742947"/>
            <a:ext cx="9456420" cy="338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6890" indent="-504825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AutoNum type="arabicParenR"/>
              <a:tabLst>
                <a:tab pos="516890" algn="l"/>
                <a:tab pos="517525" algn="l"/>
              </a:tabLst>
            </a:pPr>
            <a:r>
              <a:rPr sz="2200" u="heavy" spc="-10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  <a:hlinkClick r:id="rId2"/>
              </a:rPr>
              <a:t>http://www.cplusplus.com</a:t>
            </a:r>
            <a:endParaRPr sz="220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spcBef>
                <a:spcPts val="15"/>
              </a:spcBef>
              <a:buClr>
                <a:srgbClr val="000000"/>
              </a:buClr>
              <a:buAutoNum type="arabicParenR"/>
              <a:tabLst>
                <a:tab pos="516890" algn="l"/>
                <a:tab pos="517525" algn="l"/>
              </a:tabLst>
            </a:pPr>
            <a:r>
              <a:rPr sz="2200" u="heavy" spc="-5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</a:rPr>
              <a:t>https://isocpp.org/</a:t>
            </a:r>
            <a:endParaRPr sz="220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buClr>
                <a:srgbClr val="000000"/>
              </a:buClr>
              <a:buAutoNum type="arabicParenR"/>
              <a:tabLst>
                <a:tab pos="516890" algn="l"/>
                <a:tab pos="517525" algn="l"/>
              </a:tabLst>
            </a:pPr>
            <a:r>
              <a:rPr sz="2200" u="heavy" spc="-5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</a:rPr>
              <a:t>https://openclassrooms.com/fr/courses/1894236-programmez-avec-le-langage-c</a:t>
            </a:r>
            <a:endParaRPr sz="220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buClr>
                <a:srgbClr val="000000"/>
              </a:buClr>
              <a:buAutoNum type="arabicParenR"/>
              <a:tabLst>
                <a:tab pos="516890" algn="l"/>
                <a:tab pos="517525" algn="l"/>
              </a:tabLst>
            </a:pPr>
            <a:r>
              <a:rPr sz="2200" u="heavy" spc="-10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</a:rPr>
              <a:t>https://</a:t>
            </a:r>
            <a:r>
              <a:rPr sz="2200" u="heavy" spc="-10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  <a:hlinkClick r:id="rId3"/>
              </a:rPr>
              <a:t>www.tutorialspoint.com/cplusplus/</a:t>
            </a:r>
            <a:endParaRPr sz="220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spcBef>
                <a:spcPts val="10"/>
              </a:spcBef>
              <a:buClr>
                <a:srgbClr val="000000"/>
              </a:buClr>
              <a:buAutoNum type="arabicParenR"/>
              <a:tabLst>
                <a:tab pos="516890" algn="l"/>
                <a:tab pos="517525" algn="l"/>
              </a:tabLst>
            </a:pPr>
            <a:r>
              <a:rPr sz="2200" u="heavy" spc="-5" dirty="0">
                <a:solidFill>
                  <a:srgbClr val="F7B614"/>
                </a:solidFill>
                <a:uFill>
                  <a:solidFill>
                    <a:srgbClr val="F7B514"/>
                  </a:solidFill>
                </a:uFill>
                <a:latin typeface="Times New Roman"/>
                <a:cs typeface="Times New Roman"/>
              </a:rPr>
              <a:t>https://en.cppreference.com</a:t>
            </a:r>
            <a:endParaRPr sz="2200">
              <a:latin typeface="Times New Roman"/>
              <a:cs typeface="Times New Roman"/>
            </a:endParaRPr>
          </a:p>
          <a:p>
            <a:pPr marL="516890" indent="-504825">
              <a:lnSpc>
                <a:spcPct val="100000"/>
              </a:lnSpc>
              <a:buAutoNum type="arabicParenR"/>
              <a:tabLst>
                <a:tab pos="516890" algn="l"/>
                <a:tab pos="517525" algn="l"/>
              </a:tabLst>
            </a:pPr>
            <a:r>
              <a:rPr sz="2200" spc="-5" dirty="0">
                <a:latin typeface="Times New Roman"/>
                <a:cs typeface="Times New Roman"/>
              </a:rPr>
              <a:t>Programmer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C++,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Claude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Delannoy,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éditions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Eyrolles,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2014.</a:t>
            </a:r>
            <a:endParaRPr sz="2200">
              <a:latin typeface="Times New Roman"/>
              <a:cs typeface="Times New Roman"/>
            </a:endParaRPr>
          </a:p>
          <a:p>
            <a:pPr marL="516890" marR="13970" indent="-504825">
              <a:lnSpc>
                <a:spcPts val="2650"/>
              </a:lnSpc>
              <a:spcBef>
                <a:spcPts val="80"/>
              </a:spcBef>
              <a:buAutoNum type="arabicParenR"/>
              <a:tabLst>
                <a:tab pos="516890" algn="l"/>
                <a:tab pos="517525" algn="l"/>
              </a:tabLst>
            </a:pPr>
            <a:r>
              <a:rPr sz="2200" spc="-5" dirty="0">
                <a:latin typeface="Times New Roman"/>
                <a:cs typeface="Times New Roman"/>
              </a:rPr>
              <a:t>Initiation </a:t>
            </a:r>
            <a:r>
              <a:rPr sz="2200" dirty="0">
                <a:latin typeface="Times New Roman"/>
                <a:cs typeface="Times New Roman"/>
              </a:rPr>
              <a:t>à la </a:t>
            </a:r>
            <a:r>
              <a:rPr sz="2200" spc="-5" dirty="0">
                <a:latin typeface="Times New Roman"/>
                <a:cs typeface="Times New Roman"/>
              </a:rPr>
              <a:t>programmation </a:t>
            </a:r>
            <a:r>
              <a:rPr sz="2200" dirty="0">
                <a:latin typeface="Times New Roman"/>
                <a:cs typeface="Times New Roman"/>
              </a:rPr>
              <a:t>(en C++), Jean-Cédric </a:t>
            </a:r>
            <a:r>
              <a:rPr sz="2200" spc="-10" dirty="0">
                <a:latin typeface="Times New Roman"/>
                <a:cs typeface="Times New Roman"/>
              </a:rPr>
              <a:t>Chappelier, </a:t>
            </a:r>
            <a:r>
              <a:rPr sz="2200" spc="5" dirty="0">
                <a:latin typeface="Times New Roman"/>
                <a:cs typeface="Times New Roman"/>
              </a:rPr>
              <a:t>&amp; </a:t>
            </a:r>
            <a:r>
              <a:rPr sz="2200" spc="-5" dirty="0">
                <a:latin typeface="Times New Roman"/>
                <a:cs typeface="Times New Roman"/>
              </a:rPr>
              <a:t>Jamila Sam,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coursera,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2018.</a:t>
            </a:r>
            <a:endParaRPr sz="2200">
              <a:latin typeface="Times New Roman"/>
              <a:cs typeface="Times New Roman"/>
            </a:endParaRPr>
          </a:p>
          <a:p>
            <a:pPr marL="516890" marR="222250" indent="-504825">
              <a:lnSpc>
                <a:spcPts val="2640"/>
              </a:lnSpc>
              <a:buAutoNum type="arabicParenR"/>
              <a:tabLst>
                <a:tab pos="516890" algn="l"/>
                <a:tab pos="517525" algn="l"/>
              </a:tabLst>
            </a:pPr>
            <a:r>
              <a:rPr sz="2200" dirty="0">
                <a:latin typeface="Times New Roman"/>
                <a:cs typeface="Times New Roman"/>
              </a:rPr>
              <a:t>Introduction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</a:t>
            </a:r>
            <a:r>
              <a:rPr sz="2200" spc="-5" dirty="0">
                <a:latin typeface="Times New Roman"/>
                <a:cs typeface="Times New Roman"/>
              </a:rPr>
              <a:t> programmation </a:t>
            </a:r>
            <a:r>
              <a:rPr sz="2200" dirty="0">
                <a:latin typeface="Times New Roman"/>
                <a:cs typeface="Times New Roman"/>
              </a:rPr>
              <a:t>orientée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objet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(en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C++),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Jamila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 </a:t>
            </a:r>
            <a:r>
              <a:rPr sz="2200" spc="5" dirty="0">
                <a:latin typeface="Times New Roman"/>
                <a:cs typeface="Times New Roman"/>
              </a:rPr>
              <a:t>&amp;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Jean-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Cédric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Chappelier,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coursera,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2018.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6873" y="1399031"/>
            <a:ext cx="588645" cy="269875"/>
          </a:xfrm>
          <a:custGeom>
            <a:avLst/>
            <a:gdLst/>
            <a:ahLst/>
            <a:cxnLst/>
            <a:rect l="l" t="t" r="r" b="b"/>
            <a:pathLst>
              <a:path w="588644" h="269875">
                <a:moveTo>
                  <a:pt x="588263" y="269747"/>
                </a:moveTo>
                <a:lnTo>
                  <a:pt x="588263" y="0"/>
                </a:lnTo>
                <a:lnTo>
                  <a:pt x="0" y="0"/>
                </a:lnTo>
                <a:lnTo>
                  <a:pt x="0" y="269747"/>
                </a:lnTo>
                <a:lnTo>
                  <a:pt x="588263" y="2697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4192" y="1392427"/>
            <a:ext cx="29146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b="1" spc="-3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1300" b="1" spc="-2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B61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6843</Words>
  <Application>Microsoft Office PowerPoint</Application>
  <PresentationFormat>Personnalisé</PresentationFormat>
  <Paragraphs>1305</Paragraphs>
  <Slides>127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127</vt:i4>
      </vt:variant>
    </vt:vector>
  </HeadingPairs>
  <TitlesOfParts>
    <vt:vector size="134" baseType="lpstr">
      <vt:lpstr>Arial</vt:lpstr>
      <vt:lpstr>Arial MT</vt:lpstr>
      <vt:lpstr>Calibri</vt:lpstr>
      <vt:lpstr>Cambria</vt:lpstr>
      <vt:lpstr>Times New Roman</vt:lpstr>
      <vt:lpstr>Wingdings</vt:lpstr>
      <vt:lpstr>Office Theme</vt:lpstr>
      <vt:lpstr>Programmation Orientée Objet (C++):  Les fonctions</vt:lpstr>
      <vt:lpstr>Programmation procédurale</vt:lpstr>
      <vt:lpstr>Notion de fonction</vt:lpstr>
      <vt:lpstr>Notion de fonction</vt:lpstr>
      <vt:lpstr>Notion de fonction</vt:lpstr>
      <vt:lpstr>Notion de fonction</vt:lpstr>
      <vt:lpstr>Définition de fonction</vt:lpstr>
      <vt:lpstr>Définition de fonction</vt:lpstr>
      <vt:lpstr>Définition de fonction</vt:lpstr>
      <vt:lpstr>Définition de fonction</vt:lpstr>
      <vt:lpstr>Définition de fonction</vt:lpstr>
      <vt:lpstr>Définition de fonction</vt:lpstr>
      <vt:lpstr>Définition de fonction</vt:lpstr>
      <vt:lpstr>Instruction Return</vt:lpstr>
      <vt:lpstr>Appel de fonction</vt:lpstr>
      <vt:lpstr>Arguments muets et arguments effectifs</vt:lpstr>
      <vt:lpstr>Arguments muets et arguments effectifs</vt:lpstr>
      <vt:lpstr>Prototype de fonction</vt:lpstr>
      <vt:lpstr>Prototype de fonction</vt:lpstr>
      <vt:lpstr>Fonction simple</vt:lpstr>
      <vt:lpstr>Fonctions sans valeur de retour ou sans arguments</vt:lpstr>
      <vt:lpstr>Fonctions sans valeur de retour</vt:lpstr>
      <vt:lpstr>Fonctions sans valeur de retour</vt:lpstr>
      <vt:lpstr>Fonctions sans valeur de retour</vt:lpstr>
      <vt:lpstr>Fonctions sans arguments</vt:lpstr>
      <vt:lpstr>Fonctions sans arguments</vt:lpstr>
      <vt:lpstr>Fonctions sans arguments</vt:lpstr>
      <vt:lpstr>Fonctions en C++</vt:lpstr>
      <vt:lpstr>Fonctions en C++</vt:lpstr>
      <vt:lpstr>Fonctions en C++</vt:lpstr>
      <vt:lpstr>Fonctions en C++</vt:lpstr>
      <vt:lpstr>La fonction main()</vt:lpstr>
      <vt:lpstr>Évaluation de l’appel d’une fonction</vt:lpstr>
      <vt:lpstr>Évaluation de l’appel d’une fonction</vt:lpstr>
      <vt:lpstr>Évaluation de l’appel d’une fonction</vt:lpstr>
      <vt:lpstr>Évaluation de l’appel d’une fonction</vt:lpstr>
      <vt:lpstr>Appel de fonctions</vt:lpstr>
      <vt:lpstr>Les fonctions et leurs déclarations</vt:lpstr>
      <vt:lpstr>Les fonctions et leurs déclarations</vt:lpstr>
      <vt:lpstr>Les fonctions et leurs déclarations</vt:lpstr>
      <vt:lpstr>Les fonctions et leurs déclarations</vt:lpstr>
      <vt:lpstr>Les fonctions et leurs déclarations</vt:lpstr>
      <vt:lpstr>Les fonctions et leurs déclarations</vt:lpstr>
      <vt:lpstr>Passage des arguments par valeur</vt:lpstr>
      <vt:lpstr>Passage des arguments par valeur</vt:lpstr>
      <vt:lpstr>Passage des arguments par valeur</vt:lpstr>
      <vt:lpstr>Passage des arguments par valeur</vt:lpstr>
      <vt:lpstr>Passage des arguments par valeur</vt:lpstr>
      <vt:lpstr>Passage des arguments par valeur</vt:lpstr>
      <vt:lpstr>Passage des arguments par valeur</vt:lpstr>
      <vt:lpstr>Passage des arguments par valeur</vt:lpstr>
      <vt:lpstr>Passage des arguments par valeur</vt:lpstr>
      <vt:lpstr>Passage des arguments par valeur</vt:lpstr>
      <vt:lpstr>Passage des arguments par référence</vt:lpstr>
      <vt:lpstr>Passage des arguments par référence</vt:lpstr>
      <vt:lpstr>Passage des arguments par référence</vt:lpstr>
      <vt:lpstr>Passage des arguments par référence</vt:lpstr>
      <vt:lpstr>Passage des arguments par référence</vt:lpstr>
      <vt:lpstr>Passage des arguments par référence</vt:lpstr>
      <vt:lpstr>Passage des arguments par référence</vt:lpstr>
      <vt:lpstr>Passage des arguments par référence</vt:lpstr>
      <vt:lpstr>Passage des arguments par référence</vt:lpstr>
      <vt:lpstr>Passage des arguments par référence</vt:lpstr>
      <vt:lpstr>Variables globales et locales</vt:lpstr>
      <vt:lpstr>Variables locales</vt:lpstr>
      <vt:lpstr>Variables locales</vt:lpstr>
      <vt:lpstr>Variables locales</vt:lpstr>
      <vt:lpstr>Variables locales</vt:lpstr>
      <vt:lpstr>Portée des variables locales</vt:lpstr>
      <vt:lpstr>Variables globales</vt:lpstr>
      <vt:lpstr>Variables globales</vt:lpstr>
      <vt:lpstr>Variables globales</vt:lpstr>
      <vt:lpstr>Variables globales</vt:lpstr>
      <vt:lpstr>Variables globales constantes</vt:lpstr>
      <vt:lpstr>Variables globales et locales portant même nom</vt:lpstr>
      <vt:lpstr>Variables globales et locales portant même nom</vt:lpstr>
      <vt:lpstr>Variables globales et locales portant même nom</vt:lpstr>
      <vt:lpstr>Variables locales statiques</vt:lpstr>
      <vt:lpstr>Variables locales statiques</vt:lpstr>
      <vt:lpstr>Variables locales statiques</vt:lpstr>
      <vt:lpstr>Variables locales statiques</vt:lpstr>
      <vt:lpstr>Variables locales statiques</vt:lpstr>
      <vt:lpstr>Variables locales statiques</vt:lpstr>
      <vt:lpstr>Variables locales statiques</vt:lpstr>
      <vt:lpstr>Variables locales statiques</vt:lpstr>
      <vt:lpstr>Variables locales statiques</vt:lpstr>
      <vt:lpstr>Variables locales statiques</vt:lpstr>
      <vt:lpstr>Variables locales à un bloc</vt:lpstr>
      <vt:lpstr>Variables locales à un bloc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Valeurs par défaut pour les arguments</vt:lpstr>
      <vt:lpstr>Les propriétés des arguments par défaut</vt:lpstr>
      <vt:lpstr>Les propriétés des arguments par défaut</vt:lpstr>
      <vt:lpstr>Récursivité</vt:lpstr>
      <vt:lpstr>Récursivité</vt:lpstr>
      <vt:lpstr>Récursivité</vt:lpstr>
      <vt:lpstr>Récursivité</vt:lpstr>
      <vt:lpstr>Récursivité</vt:lpstr>
      <vt:lpstr>Récursivité</vt:lpstr>
      <vt:lpstr>Récursivité</vt:lpstr>
      <vt:lpstr>Récursivité</vt:lpstr>
      <vt:lpstr>Surcharge (ou surdéfinition) de fonctions</vt:lpstr>
      <vt:lpstr>Surcharge (ou surdéfinition) de fonctions</vt:lpstr>
      <vt:lpstr>Surcharge (ou surdéfinition) de fonctions</vt:lpstr>
      <vt:lpstr>Surcharge (ou surdéfinition) de fonctions</vt:lpstr>
      <vt:lpstr>Surcharge (ou surdéfinition) de fonctions</vt:lpstr>
      <vt:lpstr>Surcharge (ou surdéfinition) de fonctions</vt:lpstr>
      <vt:lpstr>Surcharge (ou surdéfinition) de fonctions</vt:lpstr>
      <vt:lpstr>La fonction exit()</vt:lpstr>
      <vt:lpstr>La fonction exit()</vt:lpstr>
      <vt:lpstr>La fonction exit()</vt:lpstr>
      <vt:lpstr>Présentation PowerPoint</vt:lpstr>
      <vt:lpstr>Références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Chap2FonctionsCpp</dc:title>
  <dc:creator>hp</dc:creator>
  <cp:keywords>()</cp:keywords>
  <cp:lastModifiedBy>Utilisateur Windows</cp:lastModifiedBy>
  <cp:revision>3</cp:revision>
  <dcterms:created xsi:type="dcterms:W3CDTF">2024-02-21T01:16:10Z</dcterms:created>
  <dcterms:modified xsi:type="dcterms:W3CDTF">2024-02-21T02:13:44Z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2018-11-05T00:00:00Z</vt:filetime>
  </property>
  <property fmtid="{D5CDD505-2E9C-101B-9397-08002B2CF9AE}" pid="3" name="Creator">
    <vt:lpwstr>PDFCreator Version 1.7.2</vt:lpwstr>
  </property>
  <property fmtid="{D5CDD505-2E9C-101B-9397-08002B2CF9AE}" pid="4" name="LastSaved">
    <vt:filetime>2024-02-21T00:00:00Z</vt:filetime>
  </property>
</Properties>
</file>