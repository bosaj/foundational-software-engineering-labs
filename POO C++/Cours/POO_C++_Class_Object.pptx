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4" r:id="rId47"/>
    <p:sldId id="305" r:id="rId48"/>
    <p:sldId id="306" r:id="rId49"/>
    <p:sldId id="308" r:id="rId50"/>
    <p:sldId id="309" r:id="rId51"/>
    <p:sldId id="310" r:id="rId52"/>
    <p:sldId id="311" r:id="rId53"/>
    <p:sldId id="312" r:id="rId54"/>
    <p:sldId id="315" r:id="rId55"/>
    <p:sldId id="316" r:id="rId56"/>
    <p:sldId id="317" r:id="rId57"/>
    <p:sldId id="318" r:id="rId58"/>
    <p:sldId id="319" r:id="rId59"/>
    <p:sldId id="320" r:id="rId60"/>
    <p:sldId id="321" r:id="rId61"/>
    <p:sldId id="322" r:id="rId62"/>
    <p:sldId id="323" r:id="rId63"/>
    <p:sldId id="324" r:id="rId64"/>
    <p:sldId id="325" r:id="rId65"/>
    <p:sldId id="332" r:id="rId66"/>
    <p:sldId id="343" r:id="rId67"/>
    <p:sldId id="345" r:id="rId68"/>
    <p:sldId id="346" r:id="rId69"/>
    <p:sldId id="347" r:id="rId70"/>
    <p:sldId id="348" r:id="rId71"/>
    <p:sldId id="349" r:id="rId72"/>
    <p:sldId id="350" r:id="rId73"/>
    <p:sldId id="351" r:id="rId74"/>
    <p:sldId id="352" r:id="rId75"/>
    <p:sldId id="353" r:id="rId76"/>
    <p:sldId id="354" r:id="rId77"/>
    <p:sldId id="355" r:id="rId78"/>
    <p:sldId id="356" r:id="rId79"/>
    <p:sldId id="357" r:id="rId80"/>
    <p:sldId id="372" r:id="rId81"/>
    <p:sldId id="373" r:id="rId82"/>
    <p:sldId id="374" r:id="rId83"/>
    <p:sldId id="375" r:id="rId84"/>
    <p:sldId id="376" r:id="rId85"/>
    <p:sldId id="377" r:id="rId86"/>
    <p:sldId id="378" r:id="rId87"/>
    <p:sldId id="379" r:id="rId88"/>
    <p:sldId id="380" r:id="rId89"/>
    <p:sldId id="381" r:id="rId90"/>
    <p:sldId id="382" r:id="rId91"/>
    <p:sldId id="383" r:id="rId92"/>
    <p:sldId id="384" r:id="rId93"/>
    <p:sldId id="385" r:id="rId94"/>
    <p:sldId id="386" r:id="rId95"/>
    <p:sldId id="387" r:id="rId96"/>
    <p:sldId id="390" r:id="rId97"/>
    <p:sldId id="391" r:id="rId98"/>
    <p:sldId id="392" r:id="rId99"/>
    <p:sldId id="393" r:id="rId100"/>
    <p:sldId id="396" r:id="rId101"/>
    <p:sldId id="397" r:id="rId102"/>
  </p:sldIdLst>
  <p:sldSz cx="10693400" cy="7556500"/>
  <p:notesSz cx="10693400" cy="7556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1168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458349" y="1629155"/>
            <a:ext cx="8460105" cy="228600"/>
          </a:xfrm>
          <a:custGeom>
            <a:avLst/>
            <a:gdLst/>
            <a:ahLst/>
            <a:cxnLst/>
            <a:rect l="l" t="t" r="r" b="b"/>
            <a:pathLst>
              <a:path w="8460105" h="228600">
                <a:moveTo>
                  <a:pt x="0" y="228599"/>
                </a:moveTo>
                <a:lnTo>
                  <a:pt x="8459723" y="228599"/>
                </a:lnTo>
                <a:lnTo>
                  <a:pt x="8459723" y="0"/>
                </a:lnTo>
                <a:lnTo>
                  <a:pt x="0" y="0"/>
                </a:lnTo>
                <a:lnTo>
                  <a:pt x="0" y="228599"/>
                </a:lnTo>
                <a:close/>
              </a:path>
            </a:pathLst>
          </a:custGeom>
          <a:solidFill>
            <a:srgbClr val="93B5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840368" y="2056891"/>
            <a:ext cx="7586345" cy="1122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548BB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548BB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548BB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32644" y="2376931"/>
            <a:ext cx="4552950" cy="4689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rgbClr val="FF0065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74073" y="1629155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533399" y="228599"/>
                </a:moveTo>
                <a:lnTo>
                  <a:pt x="533399" y="0"/>
                </a:lnTo>
                <a:lnTo>
                  <a:pt x="0" y="0"/>
                </a:lnTo>
                <a:lnTo>
                  <a:pt x="0" y="228599"/>
                </a:lnTo>
                <a:lnTo>
                  <a:pt x="533399" y="228599"/>
                </a:lnTo>
                <a:close/>
              </a:path>
            </a:pathLst>
          </a:custGeom>
          <a:solidFill>
            <a:srgbClr val="DD7F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365385" y="1629155"/>
            <a:ext cx="8552815" cy="228600"/>
          </a:xfrm>
          <a:custGeom>
            <a:avLst/>
            <a:gdLst/>
            <a:ahLst/>
            <a:cxnLst/>
            <a:rect l="l" t="t" r="r" b="b"/>
            <a:pathLst>
              <a:path w="8552815" h="228600">
                <a:moveTo>
                  <a:pt x="8552687" y="228599"/>
                </a:moveTo>
                <a:lnTo>
                  <a:pt x="8552687" y="0"/>
                </a:lnTo>
                <a:lnTo>
                  <a:pt x="0" y="0"/>
                </a:lnTo>
                <a:lnTo>
                  <a:pt x="0" y="228599"/>
                </a:lnTo>
                <a:lnTo>
                  <a:pt x="8552687" y="228599"/>
                </a:lnTo>
                <a:close/>
              </a:path>
            </a:pathLst>
          </a:custGeom>
          <a:solidFill>
            <a:srgbClr val="93B5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548BB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74073" y="1629155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533399" y="228599"/>
                </a:moveTo>
                <a:lnTo>
                  <a:pt x="533399" y="0"/>
                </a:lnTo>
                <a:lnTo>
                  <a:pt x="0" y="0"/>
                </a:lnTo>
                <a:lnTo>
                  <a:pt x="0" y="228599"/>
                </a:lnTo>
                <a:lnTo>
                  <a:pt x="533399" y="228599"/>
                </a:lnTo>
                <a:close/>
              </a:path>
            </a:pathLst>
          </a:custGeom>
          <a:solidFill>
            <a:srgbClr val="DD7F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365385" y="1629155"/>
            <a:ext cx="8552815" cy="228600"/>
          </a:xfrm>
          <a:custGeom>
            <a:avLst/>
            <a:gdLst/>
            <a:ahLst/>
            <a:cxnLst/>
            <a:rect l="l" t="t" r="r" b="b"/>
            <a:pathLst>
              <a:path w="8552815" h="228600">
                <a:moveTo>
                  <a:pt x="8552687" y="228599"/>
                </a:moveTo>
                <a:lnTo>
                  <a:pt x="8552687" y="0"/>
                </a:lnTo>
                <a:lnTo>
                  <a:pt x="0" y="0"/>
                </a:lnTo>
                <a:lnTo>
                  <a:pt x="0" y="228599"/>
                </a:lnTo>
                <a:lnTo>
                  <a:pt x="8552687" y="228599"/>
                </a:lnTo>
                <a:close/>
              </a:path>
            </a:pathLst>
          </a:custGeom>
          <a:solidFill>
            <a:srgbClr val="93B5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74073" y="1629155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533399" y="228599"/>
                </a:moveTo>
                <a:lnTo>
                  <a:pt x="533399" y="0"/>
                </a:lnTo>
                <a:lnTo>
                  <a:pt x="0" y="0"/>
                </a:lnTo>
                <a:lnTo>
                  <a:pt x="0" y="228599"/>
                </a:lnTo>
                <a:lnTo>
                  <a:pt x="533399" y="228599"/>
                </a:lnTo>
                <a:close/>
              </a:path>
            </a:pathLst>
          </a:custGeom>
          <a:solidFill>
            <a:srgbClr val="DD7F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365385" y="1629155"/>
            <a:ext cx="8552815" cy="228600"/>
          </a:xfrm>
          <a:custGeom>
            <a:avLst/>
            <a:gdLst/>
            <a:ahLst/>
            <a:cxnLst/>
            <a:rect l="l" t="t" r="r" b="b"/>
            <a:pathLst>
              <a:path w="8552815" h="228600">
                <a:moveTo>
                  <a:pt x="8552687" y="228599"/>
                </a:moveTo>
                <a:lnTo>
                  <a:pt x="8552687" y="0"/>
                </a:lnTo>
                <a:lnTo>
                  <a:pt x="0" y="0"/>
                </a:lnTo>
                <a:lnTo>
                  <a:pt x="0" y="228599"/>
                </a:lnTo>
                <a:lnTo>
                  <a:pt x="8552687" y="228599"/>
                </a:lnTo>
                <a:close/>
              </a:path>
            </a:pathLst>
          </a:custGeom>
          <a:solidFill>
            <a:srgbClr val="93B5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32644" y="488695"/>
            <a:ext cx="8763635" cy="10632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548BB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84293" y="1849627"/>
            <a:ext cx="8924812" cy="4780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61600" y="1611883"/>
            <a:ext cx="106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68525" marR="5080" indent="-2156460">
              <a:lnSpc>
                <a:spcPct val="100000"/>
              </a:lnSpc>
              <a:spcBef>
                <a:spcPts val="100"/>
              </a:spcBef>
            </a:pPr>
            <a:r>
              <a:rPr spc="-270" dirty="0">
                <a:solidFill>
                  <a:srgbClr val="0079D6"/>
                </a:solidFill>
              </a:rPr>
              <a:t>Programmation</a:t>
            </a:r>
            <a:r>
              <a:rPr b="0" spc="45" dirty="0">
                <a:solidFill>
                  <a:srgbClr val="0079D6"/>
                </a:solidFill>
                <a:latin typeface="Times New Roman"/>
                <a:cs typeface="Times New Roman"/>
              </a:rPr>
              <a:t> </a:t>
            </a:r>
            <a:r>
              <a:rPr spc="-235" dirty="0">
                <a:solidFill>
                  <a:srgbClr val="0079D6"/>
                </a:solidFill>
              </a:rPr>
              <a:t>Orientée</a:t>
            </a:r>
            <a:r>
              <a:rPr b="0" spc="10" dirty="0">
                <a:solidFill>
                  <a:srgbClr val="0079D6"/>
                </a:solidFill>
                <a:latin typeface="Times New Roman"/>
                <a:cs typeface="Times New Roman"/>
              </a:rPr>
              <a:t> </a:t>
            </a:r>
            <a:r>
              <a:rPr spc="-200" dirty="0">
                <a:solidFill>
                  <a:srgbClr val="0079D6"/>
                </a:solidFill>
              </a:rPr>
              <a:t>Objet</a:t>
            </a:r>
            <a:r>
              <a:rPr b="0" spc="40" dirty="0">
                <a:solidFill>
                  <a:srgbClr val="0079D6"/>
                </a:solidFill>
                <a:latin typeface="Times New Roman"/>
                <a:cs typeface="Times New Roman"/>
              </a:rPr>
              <a:t> </a:t>
            </a:r>
            <a:r>
              <a:rPr spc="-295" dirty="0">
                <a:solidFill>
                  <a:srgbClr val="0079D6"/>
                </a:solidFill>
              </a:rPr>
              <a:t>en</a:t>
            </a:r>
            <a:r>
              <a:rPr b="0" spc="55" dirty="0">
                <a:solidFill>
                  <a:srgbClr val="0079D6"/>
                </a:solidFill>
                <a:latin typeface="Times New Roman"/>
                <a:cs typeface="Times New Roman"/>
              </a:rPr>
              <a:t> </a:t>
            </a:r>
            <a:r>
              <a:rPr spc="-20" dirty="0">
                <a:solidFill>
                  <a:srgbClr val="0079D6"/>
                </a:solidFill>
              </a:rPr>
              <a:t>C++:</a:t>
            </a:r>
            <a:r>
              <a:rPr b="0" spc="-20" dirty="0">
                <a:solidFill>
                  <a:srgbClr val="0079D6"/>
                </a:solidFill>
                <a:latin typeface="Times New Roman"/>
                <a:cs typeface="Times New Roman"/>
              </a:rPr>
              <a:t> </a:t>
            </a:r>
            <a:r>
              <a:rPr spc="-350" dirty="0"/>
              <a:t>Classes</a:t>
            </a:r>
            <a:r>
              <a:rPr b="0" spc="75" dirty="0">
                <a:latin typeface="Times New Roman"/>
                <a:cs typeface="Times New Roman"/>
              </a:rPr>
              <a:t> </a:t>
            </a:r>
            <a:r>
              <a:rPr spc="-280" dirty="0"/>
              <a:t>et</a:t>
            </a:r>
            <a:r>
              <a:rPr b="0" spc="70" dirty="0">
                <a:latin typeface="Times New Roman"/>
                <a:cs typeface="Times New Roman"/>
              </a:rPr>
              <a:t> </a:t>
            </a:r>
            <a:r>
              <a:rPr spc="-270" dirty="0"/>
              <a:t>Objets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93890" y="3713202"/>
            <a:ext cx="1705884" cy="18760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9624" y="1649583"/>
            <a:ext cx="81280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80" dirty="0">
                <a:solidFill>
                  <a:srgbClr val="008AF2"/>
                </a:solidFill>
                <a:latin typeface="Arial"/>
                <a:cs typeface="Arial"/>
              </a:rPr>
              <a:t>3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81508" rIns="0" bIns="0" rtlCol="0">
            <a:spAutoFit/>
          </a:bodyPr>
          <a:lstStyle/>
          <a:p>
            <a:pPr marL="300355">
              <a:lnSpc>
                <a:spcPct val="100000"/>
              </a:lnSpc>
              <a:spcBef>
                <a:spcPts val="100"/>
              </a:spcBef>
            </a:pPr>
            <a:r>
              <a:rPr spc="-225" dirty="0"/>
              <a:t>Notion</a:t>
            </a:r>
            <a:r>
              <a:rPr b="0" spc="15" dirty="0">
                <a:latin typeface="Times New Roman"/>
                <a:cs typeface="Times New Roman"/>
              </a:rPr>
              <a:t> </a:t>
            </a:r>
            <a:r>
              <a:rPr spc="-300" dirty="0"/>
              <a:t>de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345" dirty="0"/>
              <a:t>classe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2147" y="1978152"/>
            <a:ext cx="8069580" cy="3906011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61600" y="1611883"/>
            <a:ext cx="106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9624" y="1649583"/>
            <a:ext cx="81280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80" dirty="0">
                <a:solidFill>
                  <a:srgbClr val="008AF2"/>
                </a:solidFill>
                <a:latin typeface="Arial"/>
                <a:cs typeface="Arial"/>
              </a:rPr>
              <a:t>4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81508" rIns="0" bIns="0" rtlCol="0">
            <a:spAutoFit/>
          </a:bodyPr>
          <a:lstStyle/>
          <a:p>
            <a:pPr marL="300355">
              <a:lnSpc>
                <a:spcPct val="100000"/>
              </a:lnSpc>
              <a:spcBef>
                <a:spcPts val="100"/>
              </a:spcBef>
            </a:pPr>
            <a:r>
              <a:rPr spc="-225" dirty="0"/>
              <a:t>Notion</a:t>
            </a:r>
            <a:r>
              <a:rPr b="0" spc="15" dirty="0">
                <a:latin typeface="Times New Roman"/>
                <a:cs typeface="Times New Roman"/>
              </a:rPr>
              <a:t> </a:t>
            </a:r>
            <a:r>
              <a:rPr spc="-300" dirty="0"/>
              <a:t>de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345" dirty="0"/>
              <a:t>classe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774073" y="1618487"/>
            <a:ext cx="8549640" cy="4830445"/>
            <a:chOff x="774073" y="1618487"/>
            <a:chExt cx="8549640" cy="483044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6719" y="1866899"/>
              <a:ext cx="7936554" cy="45815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74073" y="1618487"/>
              <a:ext cx="684530" cy="243840"/>
            </a:xfrm>
            <a:custGeom>
              <a:avLst/>
              <a:gdLst/>
              <a:ahLst/>
              <a:cxnLst/>
              <a:rect l="l" t="t" r="r" b="b"/>
              <a:pathLst>
                <a:path w="684530" h="243839">
                  <a:moveTo>
                    <a:pt x="684275" y="243839"/>
                  </a:moveTo>
                  <a:lnTo>
                    <a:pt x="684275" y="0"/>
                  </a:lnTo>
                  <a:lnTo>
                    <a:pt x="0" y="0"/>
                  </a:lnTo>
                  <a:lnTo>
                    <a:pt x="0" y="243839"/>
                  </a:lnTo>
                  <a:lnTo>
                    <a:pt x="684275" y="24383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061600" y="1611883"/>
            <a:ext cx="106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9624" y="1649583"/>
            <a:ext cx="81280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80" dirty="0">
                <a:solidFill>
                  <a:srgbClr val="008AF2"/>
                </a:solidFill>
                <a:latin typeface="Arial"/>
                <a:cs typeface="Arial"/>
              </a:rPr>
              <a:t>5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81508" rIns="0" bIns="0" rtlCol="0">
            <a:spAutoFit/>
          </a:bodyPr>
          <a:lstStyle/>
          <a:p>
            <a:pPr marL="300355">
              <a:lnSpc>
                <a:spcPct val="100000"/>
              </a:lnSpc>
              <a:spcBef>
                <a:spcPts val="100"/>
              </a:spcBef>
            </a:pPr>
            <a:r>
              <a:rPr spc="-225" dirty="0"/>
              <a:t>Notion</a:t>
            </a:r>
            <a:r>
              <a:rPr b="0" spc="15" dirty="0">
                <a:latin typeface="Times New Roman"/>
                <a:cs typeface="Times New Roman"/>
              </a:rPr>
              <a:t> </a:t>
            </a:r>
            <a:r>
              <a:rPr spc="-300" dirty="0"/>
              <a:t>de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345" dirty="0"/>
              <a:t>classe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8347" y="1978152"/>
            <a:ext cx="7260318" cy="4439411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61600" y="1611883"/>
            <a:ext cx="106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01148" y="1651107"/>
            <a:ext cx="81280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80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75996" rIns="0" bIns="0" rtlCol="0">
            <a:spAutoFit/>
          </a:bodyPr>
          <a:lstStyle/>
          <a:p>
            <a:pPr marL="281940">
              <a:lnSpc>
                <a:spcPct val="100000"/>
              </a:lnSpc>
              <a:spcBef>
                <a:spcPts val="100"/>
              </a:spcBef>
            </a:pPr>
            <a:r>
              <a:rPr spc="-204" dirty="0"/>
              <a:t>Définition</a:t>
            </a:r>
            <a:r>
              <a:rPr b="0" spc="45" dirty="0">
                <a:latin typeface="Times New Roman"/>
                <a:cs typeface="Times New Roman"/>
              </a:rPr>
              <a:t> </a:t>
            </a:r>
            <a:r>
              <a:rPr spc="-260" dirty="0"/>
              <a:t>d’une</a:t>
            </a:r>
            <a:r>
              <a:rPr b="0" spc="45" dirty="0">
                <a:latin typeface="Times New Roman"/>
                <a:cs typeface="Times New Roman"/>
              </a:rPr>
              <a:t> </a:t>
            </a:r>
            <a:r>
              <a:rPr spc="-345" dirty="0"/>
              <a:t>classe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8995" y="1877568"/>
            <a:ext cx="8144256" cy="435406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397896" y="4364226"/>
            <a:ext cx="285369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1300" b="1" spc="-3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00B04F"/>
                </a:solidFill>
                <a:latin typeface="Times New Roman"/>
                <a:cs typeface="Times New Roman"/>
              </a:rPr>
              <a:t>N'oubliez</a:t>
            </a:r>
            <a:r>
              <a:rPr sz="1300" b="1" spc="-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00B04F"/>
                </a:solidFill>
                <a:latin typeface="Times New Roman"/>
                <a:cs typeface="Times New Roman"/>
              </a:rPr>
              <a:t>pas</a:t>
            </a:r>
            <a:r>
              <a:rPr sz="1300" b="1" spc="-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00B04F"/>
                </a:solidFill>
                <a:latin typeface="Times New Roman"/>
                <a:cs typeface="Times New Roman"/>
              </a:rPr>
              <a:t>le</a:t>
            </a:r>
            <a:r>
              <a:rPr sz="1300" b="1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00B04F"/>
                </a:solidFill>
                <a:latin typeface="Times New Roman"/>
                <a:cs typeface="Times New Roman"/>
              </a:rPr>
              <a:t>point-</a:t>
            </a:r>
            <a:r>
              <a:rPr sz="1300" b="1" dirty="0">
                <a:solidFill>
                  <a:srgbClr val="00B04F"/>
                </a:solidFill>
                <a:latin typeface="Times New Roman"/>
                <a:cs typeface="Times New Roman"/>
              </a:rPr>
              <a:t>virgule</a:t>
            </a:r>
            <a:r>
              <a:rPr sz="1300" b="1" spc="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00B04F"/>
                </a:solidFill>
                <a:latin typeface="Times New Roman"/>
                <a:cs typeface="Times New Roman"/>
              </a:rPr>
              <a:t>à</a:t>
            </a:r>
            <a:r>
              <a:rPr sz="1300" b="1" spc="-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00B04F"/>
                </a:solidFill>
                <a:latin typeface="Times New Roman"/>
                <a:cs typeface="Times New Roman"/>
              </a:rPr>
              <a:t>la</a:t>
            </a:r>
            <a:r>
              <a:rPr sz="1300" b="1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00B04F"/>
                </a:solidFill>
                <a:latin typeface="Times New Roman"/>
                <a:cs typeface="Times New Roman"/>
              </a:rPr>
              <a:t>fin</a:t>
            </a:r>
            <a:r>
              <a:rPr sz="1300" b="1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300" b="1" spc="-50" dirty="0">
                <a:solidFill>
                  <a:srgbClr val="00B04F"/>
                </a:solidFill>
                <a:latin typeface="Times New Roman"/>
                <a:cs typeface="Times New Roman"/>
              </a:rPr>
              <a:t>!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063124" y="1613407"/>
            <a:ext cx="106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99624" y="1649583"/>
            <a:ext cx="81280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80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74472" rIns="0" bIns="0" rtlCol="0">
            <a:spAutoFit/>
          </a:bodyPr>
          <a:lstStyle/>
          <a:p>
            <a:pPr marL="280670">
              <a:lnSpc>
                <a:spcPct val="100000"/>
              </a:lnSpc>
              <a:spcBef>
                <a:spcPts val="100"/>
              </a:spcBef>
            </a:pPr>
            <a:r>
              <a:rPr spc="-204" dirty="0"/>
              <a:t>Définition</a:t>
            </a:r>
            <a:r>
              <a:rPr b="0" spc="45" dirty="0">
                <a:latin typeface="Times New Roman"/>
                <a:cs typeface="Times New Roman"/>
              </a:rPr>
              <a:t> </a:t>
            </a:r>
            <a:r>
              <a:rPr spc="-260" dirty="0"/>
              <a:t>d’une</a:t>
            </a:r>
            <a:r>
              <a:rPr b="0" spc="45" dirty="0">
                <a:latin typeface="Times New Roman"/>
                <a:cs typeface="Times New Roman"/>
              </a:rPr>
              <a:t> </a:t>
            </a:r>
            <a:r>
              <a:rPr spc="-345" dirty="0"/>
              <a:t>classe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32644" y="1962403"/>
            <a:ext cx="166306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245" dirty="0">
                <a:solidFill>
                  <a:srgbClr val="FF0000"/>
                </a:solidFill>
                <a:latin typeface="Arial"/>
                <a:cs typeface="Arial"/>
              </a:rPr>
              <a:t>Exemple</a:t>
            </a:r>
            <a:r>
              <a:rPr sz="2800" spc="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spc="-75" dirty="0">
                <a:solidFill>
                  <a:srgbClr val="FF0000"/>
                </a:solidFill>
                <a:latin typeface="Arial"/>
                <a:cs typeface="Arial"/>
              </a:rPr>
              <a:t>1: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92589" y="2621280"/>
            <a:ext cx="4474845" cy="3970020"/>
          </a:xfrm>
          <a:custGeom>
            <a:avLst/>
            <a:gdLst/>
            <a:ahLst/>
            <a:cxnLst/>
            <a:rect l="l" t="t" r="r" b="b"/>
            <a:pathLst>
              <a:path w="4474845" h="3970020">
                <a:moveTo>
                  <a:pt x="4474461" y="3968496"/>
                </a:moveTo>
                <a:lnTo>
                  <a:pt x="4474461" y="3048"/>
                </a:lnTo>
                <a:lnTo>
                  <a:pt x="4472937" y="0"/>
                </a:lnTo>
                <a:lnTo>
                  <a:pt x="3048" y="0"/>
                </a:lnTo>
                <a:lnTo>
                  <a:pt x="0" y="3048"/>
                </a:lnTo>
                <a:lnTo>
                  <a:pt x="0" y="3968496"/>
                </a:lnTo>
                <a:lnTo>
                  <a:pt x="3048" y="3970020"/>
                </a:lnTo>
                <a:lnTo>
                  <a:pt x="6096" y="3970020"/>
                </a:lnTo>
                <a:lnTo>
                  <a:pt x="6096" y="10668"/>
                </a:lnTo>
                <a:lnTo>
                  <a:pt x="10668" y="4572"/>
                </a:lnTo>
                <a:lnTo>
                  <a:pt x="10668" y="10668"/>
                </a:lnTo>
                <a:lnTo>
                  <a:pt x="4465317" y="10668"/>
                </a:lnTo>
                <a:lnTo>
                  <a:pt x="4465317" y="4572"/>
                </a:lnTo>
                <a:lnTo>
                  <a:pt x="4469889" y="10668"/>
                </a:lnTo>
                <a:lnTo>
                  <a:pt x="4469889" y="3970020"/>
                </a:lnTo>
                <a:lnTo>
                  <a:pt x="4472937" y="3970020"/>
                </a:lnTo>
                <a:lnTo>
                  <a:pt x="4474461" y="3968496"/>
                </a:lnTo>
                <a:close/>
              </a:path>
              <a:path w="4474845" h="3970020">
                <a:moveTo>
                  <a:pt x="10668" y="10668"/>
                </a:moveTo>
                <a:lnTo>
                  <a:pt x="10668" y="4572"/>
                </a:lnTo>
                <a:lnTo>
                  <a:pt x="6096" y="10668"/>
                </a:lnTo>
                <a:lnTo>
                  <a:pt x="10668" y="10668"/>
                </a:lnTo>
                <a:close/>
              </a:path>
              <a:path w="4474845" h="3970020">
                <a:moveTo>
                  <a:pt x="10668" y="3960876"/>
                </a:moveTo>
                <a:lnTo>
                  <a:pt x="10668" y="10668"/>
                </a:lnTo>
                <a:lnTo>
                  <a:pt x="6096" y="10668"/>
                </a:lnTo>
                <a:lnTo>
                  <a:pt x="6096" y="3960876"/>
                </a:lnTo>
                <a:lnTo>
                  <a:pt x="10668" y="3960876"/>
                </a:lnTo>
                <a:close/>
              </a:path>
              <a:path w="4474845" h="3970020">
                <a:moveTo>
                  <a:pt x="4469889" y="3960876"/>
                </a:moveTo>
                <a:lnTo>
                  <a:pt x="6096" y="3960876"/>
                </a:lnTo>
                <a:lnTo>
                  <a:pt x="10668" y="3965448"/>
                </a:lnTo>
                <a:lnTo>
                  <a:pt x="10668" y="3970020"/>
                </a:lnTo>
                <a:lnTo>
                  <a:pt x="4465317" y="3970020"/>
                </a:lnTo>
                <a:lnTo>
                  <a:pt x="4465317" y="3965448"/>
                </a:lnTo>
                <a:lnTo>
                  <a:pt x="4469889" y="3960876"/>
                </a:lnTo>
                <a:close/>
              </a:path>
              <a:path w="4474845" h="3970020">
                <a:moveTo>
                  <a:pt x="10668" y="3970020"/>
                </a:moveTo>
                <a:lnTo>
                  <a:pt x="10668" y="3965448"/>
                </a:lnTo>
                <a:lnTo>
                  <a:pt x="6096" y="3960876"/>
                </a:lnTo>
                <a:lnTo>
                  <a:pt x="6096" y="3970020"/>
                </a:lnTo>
                <a:lnTo>
                  <a:pt x="10668" y="3970020"/>
                </a:lnTo>
                <a:close/>
              </a:path>
              <a:path w="4474845" h="3970020">
                <a:moveTo>
                  <a:pt x="4469889" y="10668"/>
                </a:moveTo>
                <a:lnTo>
                  <a:pt x="4465317" y="4572"/>
                </a:lnTo>
                <a:lnTo>
                  <a:pt x="4465317" y="10668"/>
                </a:lnTo>
                <a:lnTo>
                  <a:pt x="4469889" y="10668"/>
                </a:lnTo>
                <a:close/>
              </a:path>
              <a:path w="4474845" h="3970020">
                <a:moveTo>
                  <a:pt x="4469889" y="3960876"/>
                </a:moveTo>
                <a:lnTo>
                  <a:pt x="4469889" y="10668"/>
                </a:lnTo>
                <a:lnTo>
                  <a:pt x="4465317" y="10668"/>
                </a:lnTo>
                <a:lnTo>
                  <a:pt x="4465317" y="3960876"/>
                </a:lnTo>
                <a:lnTo>
                  <a:pt x="4469889" y="3960876"/>
                </a:lnTo>
                <a:close/>
              </a:path>
              <a:path w="4474845" h="3970020">
                <a:moveTo>
                  <a:pt x="4469889" y="3970020"/>
                </a:moveTo>
                <a:lnTo>
                  <a:pt x="4469889" y="3960876"/>
                </a:lnTo>
                <a:lnTo>
                  <a:pt x="4465317" y="3965448"/>
                </a:lnTo>
                <a:lnTo>
                  <a:pt x="4465317" y="3970020"/>
                </a:lnTo>
                <a:lnTo>
                  <a:pt x="4469889" y="3970020"/>
                </a:lnTo>
                <a:close/>
              </a:path>
            </a:pathLst>
          </a:custGeom>
          <a:solidFill>
            <a:srgbClr val="93B5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5900" y="2803650"/>
            <a:ext cx="180213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class</a:t>
            </a:r>
            <a:r>
              <a:rPr sz="18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0B0F0"/>
                </a:solidFill>
                <a:latin typeface="Arial MT"/>
                <a:cs typeface="Arial MT"/>
              </a:rPr>
              <a:t>Rectangle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solidFill>
                  <a:srgbClr val="FF0000"/>
                </a:solidFill>
                <a:latin typeface="Arial MT"/>
                <a:cs typeface="Arial MT"/>
              </a:rPr>
              <a:t>{</a:t>
            </a:r>
            <a:endParaRPr sz="1800">
              <a:latin typeface="Arial MT"/>
              <a:cs typeface="Arial MT"/>
            </a:endParaRPr>
          </a:p>
          <a:p>
            <a:pPr marL="203200" marR="5080">
              <a:lnSpc>
                <a:spcPct val="100000"/>
              </a:lnSpc>
            </a:pP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double</a:t>
            </a:r>
            <a:r>
              <a:rPr sz="18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hauteur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; </a:t>
            </a: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double</a:t>
            </a:r>
            <a:r>
              <a:rPr sz="18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largeur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;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66405" y="4449570"/>
            <a:ext cx="3493770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double</a:t>
            </a:r>
            <a:r>
              <a:rPr sz="18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b="1" spc="-10" dirty="0">
                <a:latin typeface="Arial"/>
                <a:cs typeface="Arial"/>
              </a:rPr>
              <a:t>surface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(){</a:t>
            </a:r>
            <a:endParaRPr sz="1800">
              <a:latin typeface="Arial MT"/>
              <a:cs typeface="Arial MT"/>
            </a:endParaRPr>
          </a:p>
          <a:p>
            <a:pPr marL="774065">
              <a:lnSpc>
                <a:spcPct val="100000"/>
              </a:lnSpc>
            </a:pP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return</a:t>
            </a:r>
            <a:r>
              <a:rPr sz="18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hauteur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*</a:t>
            </a:r>
            <a:r>
              <a:rPr sz="1800" spc="-10" dirty="0">
                <a:latin typeface="Arial MT"/>
                <a:cs typeface="Arial MT"/>
              </a:rPr>
              <a:t>largeur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;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solidFill>
                  <a:srgbClr val="FF0000"/>
                </a:solidFill>
                <a:latin typeface="Arial MT"/>
                <a:cs typeface="Arial MT"/>
              </a:rPr>
              <a:t>}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double</a:t>
            </a:r>
            <a:r>
              <a:rPr sz="18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perimetre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()</a:t>
            </a:r>
            <a:r>
              <a:rPr sz="1800" spc="-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Arial MT"/>
                <a:cs typeface="Arial MT"/>
              </a:rPr>
              <a:t>{</a:t>
            </a:r>
            <a:endParaRPr sz="1800">
              <a:latin typeface="Arial MT"/>
              <a:cs typeface="Arial MT"/>
            </a:endParaRPr>
          </a:p>
          <a:p>
            <a:pPr marL="774065">
              <a:lnSpc>
                <a:spcPct val="100000"/>
              </a:lnSpc>
            </a:pP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return</a:t>
            </a:r>
            <a:r>
              <a:rPr sz="18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32CC"/>
                </a:solidFill>
                <a:latin typeface="Arial MT"/>
                <a:cs typeface="Arial MT"/>
              </a:rPr>
              <a:t>2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*(</a:t>
            </a:r>
            <a:r>
              <a:rPr sz="1800" spc="-10" dirty="0">
                <a:latin typeface="Arial MT"/>
                <a:cs typeface="Arial MT"/>
              </a:rPr>
              <a:t>hauteur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+</a:t>
            </a:r>
            <a:r>
              <a:rPr sz="1800" spc="-10" dirty="0">
                <a:latin typeface="Arial MT"/>
                <a:cs typeface="Arial MT"/>
              </a:rPr>
              <a:t>largeur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);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solidFill>
                  <a:srgbClr val="FF0000"/>
                </a:solidFill>
                <a:latin typeface="Arial MT"/>
                <a:cs typeface="Arial MT"/>
              </a:rPr>
              <a:t>}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75905" y="6095489"/>
            <a:ext cx="165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0000"/>
                </a:solidFill>
                <a:latin typeface="Arial MT"/>
                <a:cs typeface="Arial MT"/>
              </a:rPr>
              <a:t>};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332097" y="2737104"/>
            <a:ext cx="3008630" cy="542925"/>
            <a:chOff x="6332097" y="2737104"/>
            <a:chExt cx="3008630" cy="542925"/>
          </a:xfrm>
        </p:grpSpPr>
        <p:sp>
          <p:nvSpPr>
            <p:cNvPr id="11" name="object 11"/>
            <p:cNvSpPr/>
            <p:nvPr/>
          </p:nvSpPr>
          <p:spPr>
            <a:xfrm>
              <a:off x="6332097" y="2737104"/>
              <a:ext cx="3008630" cy="542925"/>
            </a:xfrm>
            <a:custGeom>
              <a:avLst/>
              <a:gdLst/>
              <a:ahLst/>
              <a:cxnLst/>
              <a:rect l="l" t="t" r="r" b="b"/>
              <a:pathLst>
                <a:path w="3008629" h="542925">
                  <a:moveTo>
                    <a:pt x="1523" y="458723"/>
                  </a:moveTo>
                  <a:lnTo>
                    <a:pt x="1523" y="83819"/>
                  </a:lnTo>
                  <a:lnTo>
                    <a:pt x="0" y="92963"/>
                  </a:lnTo>
                  <a:lnTo>
                    <a:pt x="0" y="449579"/>
                  </a:lnTo>
                  <a:lnTo>
                    <a:pt x="1523" y="458723"/>
                  </a:lnTo>
                  <a:close/>
                </a:path>
                <a:path w="3008629" h="542925">
                  <a:moveTo>
                    <a:pt x="2947415" y="4571"/>
                  </a:moveTo>
                  <a:lnTo>
                    <a:pt x="2942843" y="3047"/>
                  </a:lnTo>
                  <a:lnTo>
                    <a:pt x="2924555" y="0"/>
                  </a:lnTo>
                  <a:lnTo>
                    <a:pt x="83819" y="0"/>
                  </a:lnTo>
                  <a:lnTo>
                    <a:pt x="41147" y="15239"/>
                  </a:lnTo>
                  <a:lnTo>
                    <a:pt x="35051" y="21335"/>
                  </a:lnTo>
                  <a:lnTo>
                    <a:pt x="27431" y="27431"/>
                  </a:lnTo>
                  <a:lnTo>
                    <a:pt x="21335" y="33527"/>
                  </a:lnTo>
                  <a:lnTo>
                    <a:pt x="7619" y="56387"/>
                  </a:lnTo>
                  <a:lnTo>
                    <a:pt x="1523" y="74675"/>
                  </a:lnTo>
                  <a:lnTo>
                    <a:pt x="1523" y="467867"/>
                  </a:lnTo>
                  <a:lnTo>
                    <a:pt x="4571" y="477011"/>
                  </a:lnTo>
                  <a:lnTo>
                    <a:pt x="4571" y="92963"/>
                  </a:lnTo>
                  <a:lnTo>
                    <a:pt x="6095" y="77723"/>
                  </a:lnTo>
                  <a:lnTo>
                    <a:pt x="7619" y="70103"/>
                  </a:lnTo>
                  <a:lnTo>
                    <a:pt x="10667" y="60959"/>
                  </a:lnTo>
                  <a:lnTo>
                    <a:pt x="12191" y="57911"/>
                  </a:lnTo>
                  <a:lnTo>
                    <a:pt x="13715" y="53339"/>
                  </a:lnTo>
                  <a:lnTo>
                    <a:pt x="15239" y="50291"/>
                  </a:lnTo>
                  <a:lnTo>
                    <a:pt x="16763" y="48767"/>
                  </a:lnTo>
                  <a:lnTo>
                    <a:pt x="19811" y="42671"/>
                  </a:lnTo>
                  <a:lnTo>
                    <a:pt x="22859" y="39623"/>
                  </a:lnTo>
                  <a:lnTo>
                    <a:pt x="24383" y="36575"/>
                  </a:lnTo>
                  <a:lnTo>
                    <a:pt x="36575" y="24383"/>
                  </a:lnTo>
                  <a:lnTo>
                    <a:pt x="39623" y="22859"/>
                  </a:lnTo>
                  <a:lnTo>
                    <a:pt x="42671" y="19811"/>
                  </a:lnTo>
                  <a:lnTo>
                    <a:pt x="45719" y="18287"/>
                  </a:lnTo>
                  <a:lnTo>
                    <a:pt x="47243" y="16763"/>
                  </a:lnTo>
                  <a:lnTo>
                    <a:pt x="59435" y="10667"/>
                  </a:lnTo>
                  <a:lnTo>
                    <a:pt x="64007" y="9143"/>
                  </a:lnTo>
                  <a:lnTo>
                    <a:pt x="67055" y="7619"/>
                  </a:lnTo>
                  <a:lnTo>
                    <a:pt x="73151" y="6095"/>
                  </a:lnTo>
                  <a:lnTo>
                    <a:pt x="80771" y="4571"/>
                  </a:lnTo>
                  <a:lnTo>
                    <a:pt x="2947415" y="4571"/>
                  </a:lnTo>
                  <a:close/>
                </a:path>
                <a:path w="3008629" h="542925">
                  <a:moveTo>
                    <a:pt x="2942843" y="537971"/>
                  </a:moveTo>
                  <a:lnTo>
                    <a:pt x="85343" y="536447"/>
                  </a:lnTo>
                  <a:lnTo>
                    <a:pt x="45719" y="522731"/>
                  </a:lnTo>
                  <a:lnTo>
                    <a:pt x="44195" y="521207"/>
                  </a:lnTo>
                  <a:lnTo>
                    <a:pt x="41147" y="519683"/>
                  </a:lnTo>
                  <a:lnTo>
                    <a:pt x="35051" y="513587"/>
                  </a:lnTo>
                  <a:lnTo>
                    <a:pt x="32003" y="512063"/>
                  </a:lnTo>
                  <a:lnTo>
                    <a:pt x="30479" y="510539"/>
                  </a:lnTo>
                  <a:lnTo>
                    <a:pt x="28955" y="510539"/>
                  </a:lnTo>
                  <a:lnTo>
                    <a:pt x="28955" y="507491"/>
                  </a:lnTo>
                  <a:lnTo>
                    <a:pt x="24383" y="502919"/>
                  </a:lnTo>
                  <a:lnTo>
                    <a:pt x="22859" y="502919"/>
                  </a:lnTo>
                  <a:lnTo>
                    <a:pt x="22859" y="499871"/>
                  </a:lnTo>
                  <a:lnTo>
                    <a:pt x="21335" y="498347"/>
                  </a:lnTo>
                  <a:lnTo>
                    <a:pt x="19811" y="498347"/>
                  </a:lnTo>
                  <a:lnTo>
                    <a:pt x="19811" y="495299"/>
                  </a:lnTo>
                  <a:lnTo>
                    <a:pt x="18287" y="493775"/>
                  </a:lnTo>
                  <a:lnTo>
                    <a:pt x="16763" y="493775"/>
                  </a:lnTo>
                  <a:lnTo>
                    <a:pt x="16763" y="490727"/>
                  </a:lnTo>
                  <a:lnTo>
                    <a:pt x="15239" y="490727"/>
                  </a:lnTo>
                  <a:lnTo>
                    <a:pt x="15239" y="487679"/>
                  </a:lnTo>
                  <a:lnTo>
                    <a:pt x="13715" y="487679"/>
                  </a:lnTo>
                  <a:lnTo>
                    <a:pt x="13715" y="484631"/>
                  </a:lnTo>
                  <a:lnTo>
                    <a:pt x="12191" y="484631"/>
                  </a:lnTo>
                  <a:lnTo>
                    <a:pt x="12191" y="481583"/>
                  </a:lnTo>
                  <a:lnTo>
                    <a:pt x="10667" y="481583"/>
                  </a:lnTo>
                  <a:lnTo>
                    <a:pt x="10667" y="477011"/>
                  </a:lnTo>
                  <a:lnTo>
                    <a:pt x="9143" y="477011"/>
                  </a:lnTo>
                  <a:lnTo>
                    <a:pt x="9143" y="470915"/>
                  </a:lnTo>
                  <a:lnTo>
                    <a:pt x="7619" y="470915"/>
                  </a:lnTo>
                  <a:lnTo>
                    <a:pt x="7619" y="464819"/>
                  </a:lnTo>
                  <a:lnTo>
                    <a:pt x="6095" y="464819"/>
                  </a:lnTo>
                  <a:lnTo>
                    <a:pt x="6095" y="448055"/>
                  </a:lnTo>
                  <a:lnTo>
                    <a:pt x="4571" y="448055"/>
                  </a:lnTo>
                  <a:lnTo>
                    <a:pt x="4571" y="477011"/>
                  </a:lnTo>
                  <a:lnTo>
                    <a:pt x="7619" y="486155"/>
                  </a:lnTo>
                  <a:lnTo>
                    <a:pt x="42671" y="527303"/>
                  </a:lnTo>
                  <a:lnTo>
                    <a:pt x="85343" y="542543"/>
                  </a:lnTo>
                  <a:lnTo>
                    <a:pt x="2924555" y="542543"/>
                  </a:lnTo>
                  <a:lnTo>
                    <a:pt x="2933699" y="541019"/>
                  </a:lnTo>
                  <a:lnTo>
                    <a:pt x="2942843" y="537971"/>
                  </a:lnTo>
                  <a:close/>
                </a:path>
                <a:path w="3008629" h="542925">
                  <a:moveTo>
                    <a:pt x="3003803" y="480821"/>
                  </a:moveTo>
                  <a:lnTo>
                    <a:pt x="3003803" y="80771"/>
                  </a:lnTo>
                  <a:lnTo>
                    <a:pt x="3002279" y="461771"/>
                  </a:lnTo>
                  <a:lnTo>
                    <a:pt x="3000755" y="469391"/>
                  </a:lnTo>
                  <a:lnTo>
                    <a:pt x="2999231" y="475487"/>
                  </a:lnTo>
                  <a:lnTo>
                    <a:pt x="2997707" y="480059"/>
                  </a:lnTo>
                  <a:lnTo>
                    <a:pt x="2988563" y="498347"/>
                  </a:lnTo>
                  <a:lnTo>
                    <a:pt x="2985515" y="501395"/>
                  </a:lnTo>
                  <a:lnTo>
                    <a:pt x="2983991" y="504443"/>
                  </a:lnTo>
                  <a:lnTo>
                    <a:pt x="2970275" y="518159"/>
                  </a:lnTo>
                  <a:lnTo>
                    <a:pt x="2967227" y="519683"/>
                  </a:lnTo>
                  <a:lnTo>
                    <a:pt x="2965703" y="521207"/>
                  </a:lnTo>
                  <a:lnTo>
                    <a:pt x="2962655" y="522731"/>
                  </a:lnTo>
                  <a:lnTo>
                    <a:pt x="2961131" y="524255"/>
                  </a:lnTo>
                  <a:lnTo>
                    <a:pt x="2948939" y="530351"/>
                  </a:lnTo>
                  <a:lnTo>
                    <a:pt x="2939795" y="533399"/>
                  </a:lnTo>
                  <a:lnTo>
                    <a:pt x="2933699" y="534923"/>
                  </a:lnTo>
                  <a:lnTo>
                    <a:pt x="2924555" y="536447"/>
                  </a:lnTo>
                  <a:lnTo>
                    <a:pt x="2924555" y="537971"/>
                  </a:lnTo>
                  <a:lnTo>
                    <a:pt x="2942843" y="537971"/>
                  </a:lnTo>
                  <a:lnTo>
                    <a:pt x="2951987" y="534923"/>
                  </a:lnTo>
                  <a:lnTo>
                    <a:pt x="2959607" y="531875"/>
                  </a:lnTo>
                  <a:lnTo>
                    <a:pt x="2967227" y="525779"/>
                  </a:lnTo>
                  <a:lnTo>
                    <a:pt x="2974847" y="521207"/>
                  </a:lnTo>
                  <a:lnTo>
                    <a:pt x="2982467" y="515111"/>
                  </a:lnTo>
                  <a:lnTo>
                    <a:pt x="2987039" y="507491"/>
                  </a:lnTo>
                  <a:lnTo>
                    <a:pt x="2993135" y="501395"/>
                  </a:lnTo>
                  <a:lnTo>
                    <a:pt x="2997707" y="493775"/>
                  </a:lnTo>
                  <a:lnTo>
                    <a:pt x="3002279" y="484631"/>
                  </a:lnTo>
                  <a:lnTo>
                    <a:pt x="3003803" y="480821"/>
                  </a:lnTo>
                  <a:close/>
                </a:path>
                <a:path w="3008629" h="542925">
                  <a:moveTo>
                    <a:pt x="3008375" y="458723"/>
                  </a:moveTo>
                  <a:lnTo>
                    <a:pt x="3008375" y="83819"/>
                  </a:lnTo>
                  <a:lnTo>
                    <a:pt x="3005327" y="65531"/>
                  </a:lnTo>
                  <a:lnTo>
                    <a:pt x="3002279" y="56387"/>
                  </a:lnTo>
                  <a:lnTo>
                    <a:pt x="2997707" y="48767"/>
                  </a:lnTo>
                  <a:lnTo>
                    <a:pt x="2993135" y="39623"/>
                  </a:lnTo>
                  <a:lnTo>
                    <a:pt x="2987039" y="33527"/>
                  </a:lnTo>
                  <a:lnTo>
                    <a:pt x="2980943" y="25907"/>
                  </a:lnTo>
                  <a:lnTo>
                    <a:pt x="2974847" y="19811"/>
                  </a:lnTo>
                  <a:lnTo>
                    <a:pt x="2951987" y="6095"/>
                  </a:lnTo>
                  <a:lnTo>
                    <a:pt x="2947415" y="4571"/>
                  </a:lnTo>
                  <a:lnTo>
                    <a:pt x="2927603" y="4571"/>
                  </a:lnTo>
                  <a:lnTo>
                    <a:pt x="2936747" y="6095"/>
                  </a:lnTo>
                  <a:lnTo>
                    <a:pt x="2950463" y="10667"/>
                  </a:lnTo>
                  <a:lnTo>
                    <a:pt x="2959607" y="15239"/>
                  </a:lnTo>
                  <a:lnTo>
                    <a:pt x="2961131" y="16763"/>
                  </a:lnTo>
                  <a:lnTo>
                    <a:pt x="2964179" y="18287"/>
                  </a:lnTo>
                  <a:lnTo>
                    <a:pt x="2965703" y="19811"/>
                  </a:lnTo>
                  <a:lnTo>
                    <a:pt x="2968751" y="21335"/>
                  </a:lnTo>
                  <a:lnTo>
                    <a:pt x="2973323" y="25907"/>
                  </a:lnTo>
                  <a:lnTo>
                    <a:pt x="2976371" y="27431"/>
                  </a:lnTo>
                  <a:lnTo>
                    <a:pt x="2982467" y="33527"/>
                  </a:lnTo>
                  <a:lnTo>
                    <a:pt x="2982467" y="36575"/>
                  </a:lnTo>
                  <a:lnTo>
                    <a:pt x="2983991" y="36575"/>
                  </a:lnTo>
                  <a:lnTo>
                    <a:pt x="2987039" y="39623"/>
                  </a:lnTo>
                  <a:lnTo>
                    <a:pt x="2987039" y="42671"/>
                  </a:lnTo>
                  <a:lnTo>
                    <a:pt x="2988563" y="42671"/>
                  </a:lnTo>
                  <a:lnTo>
                    <a:pt x="2990087" y="44195"/>
                  </a:lnTo>
                  <a:lnTo>
                    <a:pt x="2990087" y="47243"/>
                  </a:lnTo>
                  <a:lnTo>
                    <a:pt x="2991611" y="47243"/>
                  </a:lnTo>
                  <a:lnTo>
                    <a:pt x="2993135" y="48767"/>
                  </a:lnTo>
                  <a:lnTo>
                    <a:pt x="2993135" y="51815"/>
                  </a:lnTo>
                  <a:lnTo>
                    <a:pt x="2994659" y="51815"/>
                  </a:lnTo>
                  <a:lnTo>
                    <a:pt x="2994659" y="54863"/>
                  </a:lnTo>
                  <a:lnTo>
                    <a:pt x="2996183" y="54863"/>
                  </a:lnTo>
                  <a:lnTo>
                    <a:pt x="2996183" y="57911"/>
                  </a:lnTo>
                  <a:lnTo>
                    <a:pt x="2997707" y="57911"/>
                  </a:lnTo>
                  <a:lnTo>
                    <a:pt x="2997707" y="62483"/>
                  </a:lnTo>
                  <a:lnTo>
                    <a:pt x="2999231" y="62483"/>
                  </a:lnTo>
                  <a:lnTo>
                    <a:pt x="2999231" y="67055"/>
                  </a:lnTo>
                  <a:lnTo>
                    <a:pt x="3000755" y="67055"/>
                  </a:lnTo>
                  <a:lnTo>
                    <a:pt x="3000755" y="71627"/>
                  </a:lnTo>
                  <a:lnTo>
                    <a:pt x="3002279" y="71627"/>
                  </a:lnTo>
                  <a:lnTo>
                    <a:pt x="3002279" y="80771"/>
                  </a:lnTo>
                  <a:lnTo>
                    <a:pt x="3003803" y="80771"/>
                  </a:lnTo>
                  <a:lnTo>
                    <a:pt x="3003803" y="480821"/>
                  </a:lnTo>
                  <a:lnTo>
                    <a:pt x="3005327" y="477011"/>
                  </a:lnTo>
                  <a:lnTo>
                    <a:pt x="3008375" y="458723"/>
                  </a:lnTo>
                  <a:close/>
                </a:path>
              </a:pathLst>
            </a:custGeom>
            <a:solidFill>
              <a:srgbClr val="93B5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336670" y="2741675"/>
              <a:ext cx="2999740" cy="533400"/>
            </a:xfrm>
            <a:custGeom>
              <a:avLst/>
              <a:gdLst/>
              <a:ahLst/>
              <a:cxnLst/>
              <a:rect l="l" t="t" r="r" b="b"/>
              <a:pathLst>
                <a:path w="2999740" h="533400">
                  <a:moveTo>
                    <a:pt x="2999231" y="443483"/>
                  </a:moveTo>
                  <a:lnTo>
                    <a:pt x="2999231" y="88391"/>
                  </a:lnTo>
                  <a:lnTo>
                    <a:pt x="2992278" y="54006"/>
                  </a:lnTo>
                  <a:lnTo>
                    <a:pt x="2973323" y="25907"/>
                  </a:lnTo>
                  <a:lnTo>
                    <a:pt x="2945225" y="6953"/>
                  </a:lnTo>
                  <a:lnTo>
                    <a:pt x="2910839" y="0"/>
                  </a:lnTo>
                  <a:lnTo>
                    <a:pt x="89915" y="0"/>
                  </a:lnTo>
                  <a:lnTo>
                    <a:pt x="55292" y="6953"/>
                  </a:lnTo>
                  <a:lnTo>
                    <a:pt x="26669" y="25907"/>
                  </a:lnTo>
                  <a:lnTo>
                    <a:pt x="7191" y="54006"/>
                  </a:lnTo>
                  <a:lnTo>
                    <a:pt x="0" y="88391"/>
                  </a:lnTo>
                  <a:lnTo>
                    <a:pt x="0" y="443483"/>
                  </a:lnTo>
                  <a:lnTo>
                    <a:pt x="7191" y="478750"/>
                  </a:lnTo>
                  <a:lnTo>
                    <a:pt x="26669" y="507301"/>
                  </a:lnTo>
                  <a:lnTo>
                    <a:pt x="55292" y="526422"/>
                  </a:lnTo>
                  <a:lnTo>
                    <a:pt x="89915" y="533399"/>
                  </a:lnTo>
                  <a:lnTo>
                    <a:pt x="2910839" y="533399"/>
                  </a:lnTo>
                  <a:lnTo>
                    <a:pt x="2945225" y="526422"/>
                  </a:lnTo>
                  <a:lnTo>
                    <a:pt x="2973323" y="507301"/>
                  </a:lnTo>
                  <a:lnTo>
                    <a:pt x="2992278" y="478750"/>
                  </a:lnTo>
                  <a:lnTo>
                    <a:pt x="2999231" y="44348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332098" y="2737104"/>
              <a:ext cx="3008630" cy="542925"/>
            </a:xfrm>
            <a:custGeom>
              <a:avLst/>
              <a:gdLst/>
              <a:ahLst/>
              <a:cxnLst/>
              <a:rect l="l" t="t" r="r" b="b"/>
              <a:pathLst>
                <a:path w="3008629" h="542925">
                  <a:moveTo>
                    <a:pt x="1524" y="458724"/>
                  </a:moveTo>
                  <a:lnTo>
                    <a:pt x="1524" y="83820"/>
                  </a:lnTo>
                  <a:lnTo>
                    <a:pt x="0" y="92964"/>
                  </a:lnTo>
                  <a:lnTo>
                    <a:pt x="0" y="449580"/>
                  </a:lnTo>
                  <a:lnTo>
                    <a:pt x="1524" y="458724"/>
                  </a:lnTo>
                  <a:close/>
                </a:path>
                <a:path w="3008629" h="542925">
                  <a:moveTo>
                    <a:pt x="3008376" y="458724"/>
                  </a:moveTo>
                  <a:lnTo>
                    <a:pt x="3008376" y="83820"/>
                  </a:lnTo>
                  <a:lnTo>
                    <a:pt x="3005328" y="65532"/>
                  </a:lnTo>
                  <a:lnTo>
                    <a:pt x="3002280" y="56388"/>
                  </a:lnTo>
                  <a:lnTo>
                    <a:pt x="2997708" y="48768"/>
                  </a:lnTo>
                  <a:lnTo>
                    <a:pt x="2993136" y="39624"/>
                  </a:lnTo>
                  <a:lnTo>
                    <a:pt x="2987040" y="33528"/>
                  </a:lnTo>
                  <a:lnTo>
                    <a:pt x="2980944" y="25908"/>
                  </a:lnTo>
                  <a:lnTo>
                    <a:pt x="2974848" y="19812"/>
                  </a:lnTo>
                  <a:lnTo>
                    <a:pt x="2951988" y="6096"/>
                  </a:lnTo>
                  <a:lnTo>
                    <a:pt x="2942844" y="3048"/>
                  </a:lnTo>
                  <a:lnTo>
                    <a:pt x="2924556" y="0"/>
                  </a:lnTo>
                  <a:lnTo>
                    <a:pt x="83820" y="0"/>
                  </a:lnTo>
                  <a:lnTo>
                    <a:pt x="41148" y="15240"/>
                  </a:lnTo>
                  <a:lnTo>
                    <a:pt x="35052" y="21336"/>
                  </a:lnTo>
                  <a:lnTo>
                    <a:pt x="27432" y="27432"/>
                  </a:lnTo>
                  <a:lnTo>
                    <a:pt x="21336" y="33528"/>
                  </a:lnTo>
                  <a:lnTo>
                    <a:pt x="7620" y="56388"/>
                  </a:lnTo>
                  <a:lnTo>
                    <a:pt x="1524" y="74676"/>
                  </a:lnTo>
                  <a:lnTo>
                    <a:pt x="1524" y="467868"/>
                  </a:lnTo>
                  <a:lnTo>
                    <a:pt x="7620" y="486156"/>
                  </a:lnTo>
                  <a:lnTo>
                    <a:pt x="10668" y="491236"/>
                  </a:lnTo>
                  <a:lnTo>
                    <a:pt x="10668" y="83820"/>
                  </a:lnTo>
                  <a:lnTo>
                    <a:pt x="13716" y="68580"/>
                  </a:lnTo>
                  <a:lnTo>
                    <a:pt x="35052" y="33528"/>
                  </a:lnTo>
                  <a:lnTo>
                    <a:pt x="41148" y="28956"/>
                  </a:lnTo>
                  <a:lnTo>
                    <a:pt x="47244" y="22860"/>
                  </a:lnTo>
                  <a:lnTo>
                    <a:pt x="54864" y="19812"/>
                  </a:lnTo>
                  <a:lnTo>
                    <a:pt x="62484" y="15240"/>
                  </a:lnTo>
                  <a:lnTo>
                    <a:pt x="70104" y="12192"/>
                  </a:lnTo>
                  <a:lnTo>
                    <a:pt x="85344" y="9144"/>
                  </a:lnTo>
                  <a:lnTo>
                    <a:pt x="2924556" y="9144"/>
                  </a:lnTo>
                  <a:lnTo>
                    <a:pt x="2932176" y="10668"/>
                  </a:lnTo>
                  <a:lnTo>
                    <a:pt x="2939796" y="13716"/>
                  </a:lnTo>
                  <a:lnTo>
                    <a:pt x="2947416" y="15240"/>
                  </a:lnTo>
                  <a:lnTo>
                    <a:pt x="2962656" y="24384"/>
                  </a:lnTo>
                  <a:lnTo>
                    <a:pt x="2974848" y="33528"/>
                  </a:lnTo>
                  <a:lnTo>
                    <a:pt x="2979420" y="39624"/>
                  </a:lnTo>
                  <a:lnTo>
                    <a:pt x="2985516" y="45720"/>
                  </a:lnTo>
                  <a:lnTo>
                    <a:pt x="2988564" y="53340"/>
                  </a:lnTo>
                  <a:lnTo>
                    <a:pt x="2993136" y="60960"/>
                  </a:lnTo>
                  <a:lnTo>
                    <a:pt x="2994660" y="68580"/>
                  </a:lnTo>
                  <a:lnTo>
                    <a:pt x="2997708" y="76200"/>
                  </a:lnTo>
                  <a:lnTo>
                    <a:pt x="2999232" y="85344"/>
                  </a:lnTo>
                  <a:lnTo>
                    <a:pt x="2999232" y="490728"/>
                  </a:lnTo>
                  <a:lnTo>
                    <a:pt x="3002280" y="484632"/>
                  </a:lnTo>
                  <a:lnTo>
                    <a:pt x="3005328" y="477012"/>
                  </a:lnTo>
                  <a:lnTo>
                    <a:pt x="3008376" y="458724"/>
                  </a:lnTo>
                  <a:close/>
                </a:path>
                <a:path w="3008629" h="542925">
                  <a:moveTo>
                    <a:pt x="2999232" y="490728"/>
                  </a:moveTo>
                  <a:lnTo>
                    <a:pt x="2999232" y="457200"/>
                  </a:lnTo>
                  <a:lnTo>
                    <a:pt x="2997708" y="466344"/>
                  </a:lnTo>
                  <a:lnTo>
                    <a:pt x="2994660" y="473964"/>
                  </a:lnTo>
                  <a:lnTo>
                    <a:pt x="2993136" y="481584"/>
                  </a:lnTo>
                  <a:lnTo>
                    <a:pt x="2988564" y="489204"/>
                  </a:lnTo>
                  <a:lnTo>
                    <a:pt x="2983992" y="495300"/>
                  </a:lnTo>
                  <a:lnTo>
                    <a:pt x="2979420" y="502920"/>
                  </a:lnTo>
                  <a:lnTo>
                    <a:pt x="2974848" y="509016"/>
                  </a:lnTo>
                  <a:lnTo>
                    <a:pt x="2968752" y="513588"/>
                  </a:lnTo>
                  <a:lnTo>
                    <a:pt x="2961132" y="518160"/>
                  </a:lnTo>
                  <a:lnTo>
                    <a:pt x="2955036" y="522732"/>
                  </a:lnTo>
                  <a:lnTo>
                    <a:pt x="2939796" y="528828"/>
                  </a:lnTo>
                  <a:lnTo>
                    <a:pt x="2932176" y="530352"/>
                  </a:lnTo>
                  <a:lnTo>
                    <a:pt x="2923032" y="531876"/>
                  </a:lnTo>
                  <a:lnTo>
                    <a:pt x="2915412" y="533400"/>
                  </a:lnTo>
                  <a:lnTo>
                    <a:pt x="94488" y="533400"/>
                  </a:lnTo>
                  <a:lnTo>
                    <a:pt x="85344" y="531876"/>
                  </a:lnTo>
                  <a:lnTo>
                    <a:pt x="77724" y="530352"/>
                  </a:lnTo>
                  <a:lnTo>
                    <a:pt x="68580" y="528828"/>
                  </a:lnTo>
                  <a:lnTo>
                    <a:pt x="28956" y="501396"/>
                  </a:lnTo>
                  <a:lnTo>
                    <a:pt x="12192" y="464820"/>
                  </a:lnTo>
                  <a:lnTo>
                    <a:pt x="10668" y="457200"/>
                  </a:lnTo>
                  <a:lnTo>
                    <a:pt x="10668" y="491236"/>
                  </a:lnTo>
                  <a:lnTo>
                    <a:pt x="21336" y="509016"/>
                  </a:lnTo>
                  <a:lnTo>
                    <a:pt x="57912" y="534924"/>
                  </a:lnTo>
                  <a:lnTo>
                    <a:pt x="85344" y="542544"/>
                  </a:lnTo>
                  <a:lnTo>
                    <a:pt x="2924556" y="542544"/>
                  </a:lnTo>
                  <a:lnTo>
                    <a:pt x="2933700" y="541020"/>
                  </a:lnTo>
                  <a:lnTo>
                    <a:pt x="2951988" y="534924"/>
                  </a:lnTo>
                  <a:lnTo>
                    <a:pt x="2959608" y="531876"/>
                  </a:lnTo>
                  <a:lnTo>
                    <a:pt x="2967228" y="525780"/>
                  </a:lnTo>
                  <a:lnTo>
                    <a:pt x="2974848" y="521208"/>
                  </a:lnTo>
                  <a:lnTo>
                    <a:pt x="2982468" y="515112"/>
                  </a:lnTo>
                  <a:lnTo>
                    <a:pt x="2987040" y="507492"/>
                  </a:lnTo>
                  <a:lnTo>
                    <a:pt x="2993136" y="501396"/>
                  </a:lnTo>
                  <a:lnTo>
                    <a:pt x="2997708" y="493776"/>
                  </a:lnTo>
                  <a:lnTo>
                    <a:pt x="2999232" y="490728"/>
                  </a:lnTo>
                  <a:close/>
                </a:path>
              </a:pathLst>
            </a:custGeom>
            <a:solidFill>
              <a:srgbClr val="93B5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948814" y="2850894"/>
            <a:ext cx="177736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Nom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classe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217797" y="3461004"/>
            <a:ext cx="3477895" cy="466725"/>
            <a:chOff x="6217797" y="3461004"/>
            <a:chExt cx="3477895" cy="466725"/>
          </a:xfrm>
        </p:grpSpPr>
        <p:sp>
          <p:nvSpPr>
            <p:cNvPr id="16" name="object 16"/>
            <p:cNvSpPr/>
            <p:nvPr/>
          </p:nvSpPr>
          <p:spPr>
            <a:xfrm>
              <a:off x="6217797" y="3461004"/>
              <a:ext cx="3477895" cy="466725"/>
            </a:xfrm>
            <a:custGeom>
              <a:avLst/>
              <a:gdLst/>
              <a:ahLst/>
              <a:cxnLst/>
              <a:rect l="l" t="t" r="r" b="b"/>
              <a:pathLst>
                <a:path w="3477895" h="466725">
                  <a:moveTo>
                    <a:pt x="3423665" y="4571"/>
                  </a:moveTo>
                  <a:lnTo>
                    <a:pt x="3419855" y="3047"/>
                  </a:lnTo>
                  <a:lnTo>
                    <a:pt x="3404615" y="0"/>
                  </a:lnTo>
                  <a:lnTo>
                    <a:pt x="73151" y="0"/>
                  </a:lnTo>
                  <a:lnTo>
                    <a:pt x="65531" y="1523"/>
                  </a:lnTo>
                  <a:lnTo>
                    <a:pt x="56387" y="3047"/>
                  </a:lnTo>
                  <a:lnTo>
                    <a:pt x="50291" y="6095"/>
                  </a:lnTo>
                  <a:lnTo>
                    <a:pt x="42671" y="9143"/>
                  </a:lnTo>
                  <a:lnTo>
                    <a:pt x="36575" y="13715"/>
                  </a:lnTo>
                  <a:lnTo>
                    <a:pt x="35051" y="13715"/>
                  </a:lnTo>
                  <a:lnTo>
                    <a:pt x="24383" y="22859"/>
                  </a:lnTo>
                  <a:lnTo>
                    <a:pt x="24383" y="24383"/>
                  </a:lnTo>
                  <a:lnTo>
                    <a:pt x="15239" y="35051"/>
                  </a:lnTo>
                  <a:lnTo>
                    <a:pt x="13715" y="35051"/>
                  </a:lnTo>
                  <a:lnTo>
                    <a:pt x="10667" y="42671"/>
                  </a:lnTo>
                  <a:lnTo>
                    <a:pt x="6095" y="48767"/>
                  </a:lnTo>
                  <a:lnTo>
                    <a:pt x="4571" y="56387"/>
                  </a:lnTo>
                  <a:lnTo>
                    <a:pt x="1523" y="64007"/>
                  </a:lnTo>
                  <a:lnTo>
                    <a:pt x="0" y="73151"/>
                  </a:lnTo>
                  <a:lnTo>
                    <a:pt x="0" y="394715"/>
                  </a:lnTo>
                  <a:lnTo>
                    <a:pt x="1523" y="402335"/>
                  </a:lnTo>
                  <a:lnTo>
                    <a:pt x="4571" y="409955"/>
                  </a:lnTo>
                  <a:lnTo>
                    <a:pt x="4571" y="80771"/>
                  </a:lnTo>
                  <a:lnTo>
                    <a:pt x="6095" y="65531"/>
                  </a:lnTo>
                  <a:lnTo>
                    <a:pt x="7619" y="59435"/>
                  </a:lnTo>
                  <a:lnTo>
                    <a:pt x="10667" y="50291"/>
                  </a:lnTo>
                  <a:lnTo>
                    <a:pt x="13715" y="44195"/>
                  </a:lnTo>
                  <a:lnTo>
                    <a:pt x="15239" y="42671"/>
                  </a:lnTo>
                  <a:lnTo>
                    <a:pt x="16763" y="39623"/>
                  </a:lnTo>
                  <a:lnTo>
                    <a:pt x="18287" y="38099"/>
                  </a:lnTo>
                  <a:lnTo>
                    <a:pt x="19811" y="35051"/>
                  </a:lnTo>
                  <a:lnTo>
                    <a:pt x="25907" y="28955"/>
                  </a:lnTo>
                  <a:lnTo>
                    <a:pt x="27431" y="25907"/>
                  </a:lnTo>
                  <a:lnTo>
                    <a:pt x="30479" y="24383"/>
                  </a:lnTo>
                  <a:lnTo>
                    <a:pt x="36575" y="18287"/>
                  </a:lnTo>
                  <a:lnTo>
                    <a:pt x="39623" y="16763"/>
                  </a:lnTo>
                  <a:lnTo>
                    <a:pt x="41147" y="15239"/>
                  </a:lnTo>
                  <a:lnTo>
                    <a:pt x="53339" y="9143"/>
                  </a:lnTo>
                  <a:lnTo>
                    <a:pt x="57911" y="7619"/>
                  </a:lnTo>
                  <a:lnTo>
                    <a:pt x="64007" y="6095"/>
                  </a:lnTo>
                  <a:lnTo>
                    <a:pt x="71627" y="4571"/>
                  </a:lnTo>
                  <a:lnTo>
                    <a:pt x="3423665" y="4571"/>
                  </a:lnTo>
                  <a:close/>
                </a:path>
                <a:path w="3477895" h="466725">
                  <a:moveTo>
                    <a:pt x="3424427" y="461771"/>
                  </a:moveTo>
                  <a:lnTo>
                    <a:pt x="71627" y="460247"/>
                  </a:lnTo>
                  <a:lnTo>
                    <a:pt x="39623" y="448055"/>
                  </a:lnTo>
                  <a:lnTo>
                    <a:pt x="36575" y="446531"/>
                  </a:lnTo>
                  <a:lnTo>
                    <a:pt x="30479" y="440435"/>
                  </a:lnTo>
                  <a:lnTo>
                    <a:pt x="27431" y="438911"/>
                  </a:lnTo>
                  <a:lnTo>
                    <a:pt x="25907" y="438911"/>
                  </a:lnTo>
                  <a:lnTo>
                    <a:pt x="25907" y="435863"/>
                  </a:lnTo>
                  <a:lnTo>
                    <a:pt x="21335" y="431291"/>
                  </a:lnTo>
                  <a:lnTo>
                    <a:pt x="19811" y="431291"/>
                  </a:lnTo>
                  <a:lnTo>
                    <a:pt x="19811" y="428243"/>
                  </a:lnTo>
                  <a:lnTo>
                    <a:pt x="18287" y="426719"/>
                  </a:lnTo>
                  <a:lnTo>
                    <a:pt x="16763" y="426719"/>
                  </a:lnTo>
                  <a:lnTo>
                    <a:pt x="16763" y="423671"/>
                  </a:lnTo>
                  <a:lnTo>
                    <a:pt x="15239" y="422147"/>
                  </a:lnTo>
                  <a:lnTo>
                    <a:pt x="13715" y="422147"/>
                  </a:lnTo>
                  <a:lnTo>
                    <a:pt x="13715" y="419099"/>
                  </a:lnTo>
                  <a:lnTo>
                    <a:pt x="12191" y="419099"/>
                  </a:lnTo>
                  <a:lnTo>
                    <a:pt x="12191" y="416051"/>
                  </a:lnTo>
                  <a:lnTo>
                    <a:pt x="10667" y="416051"/>
                  </a:lnTo>
                  <a:lnTo>
                    <a:pt x="10667" y="411479"/>
                  </a:lnTo>
                  <a:lnTo>
                    <a:pt x="9143" y="411479"/>
                  </a:lnTo>
                  <a:lnTo>
                    <a:pt x="9143" y="406907"/>
                  </a:lnTo>
                  <a:lnTo>
                    <a:pt x="7619" y="406907"/>
                  </a:lnTo>
                  <a:lnTo>
                    <a:pt x="7619" y="400811"/>
                  </a:lnTo>
                  <a:lnTo>
                    <a:pt x="6095" y="400811"/>
                  </a:lnTo>
                  <a:lnTo>
                    <a:pt x="6095" y="385571"/>
                  </a:lnTo>
                  <a:lnTo>
                    <a:pt x="4571" y="385571"/>
                  </a:lnTo>
                  <a:lnTo>
                    <a:pt x="4571" y="409955"/>
                  </a:lnTo>
                  <a:lnTo>
                    <a:pt x="6095" y="417575"/>
                  </a:lnTo>
                  <a:lnTo>
                    <a:pt x="10667" y="423671"/>
                  </a:lnTo>
                  <a:lnTo>
                    <a:pt x="13715" y="431291"/>
                  </a:lnTo>
                  <a:lnTo>
                    <a:pt x="24383" y="441959"/>
                  </a:lnTo>
                  <a:lnTo>
                    <a:pt x="24383" y="443483"/>
                  </a:lnTo>
                  <a:lnTo>
                    <a:pt x="35051" y="452627"/>
                  </a:lnTo>
                  <a:lnTo>
                    <a:pt x="36575" y="452627"/>
                  </a:lnTo>
                  <a:lnTo>
                    <a:pt x="42671" y="457199"/>
                  </a:lnTo>
                  <a:lnTo>
                    <a:pt x="57911" y="463295"/>
                  </a:lnTo>
                  <a:lnTo>
                    <a:pt x="73151" y="466343"/>
                  </a:lnTo>
                  <a:lnTo>
                    <a:pt x="3404615" y="466343"/>
                  </a:lnTo>
                  <a:lnTo>
                    <a:pt x="3412235" y="464819"/>
                  </a:lnTo>
                  <a:lnTo>
                    <a:pt x="3421379" y="463295"/>
                  </a:lnTo>
                  <a:lnTo>
                    <a:pt x="3424427" y="461771"/>
                  </a:lnTo>
                  <a:close/>
                </a:path>
                <a:path w="3477895" h="466725">
                  <a:moveTo>
                    <a:pt x="3477767" y="393191"/>
                  </a:moveTo>
                  <a:lnTo>
                    <a:pt x="3477767" y="71627"/>
                  </a:lnTo>
                  <a:lnTo>
                    <a:pt x="3476243" y="64007"/>
                  </a:lnTo>
                  <a:lnTo>
                    <a:pt x="3473195" y="56387"/>
                  </a:lnTo>
                  <a:lnTo>
                    <a:pt x="3471671" y="48767"/>
                  </a:lnTo>
                  <a:lnTo>
                    <a:pt x="3467099" y="41147"/>
                  </a:lnTo>
                  <a:lnTo>
                    <a:pt x="3464051" y="35051"/>
                  </a:lnTo>
                  <a:lnTo>
                    <a:pt x="3454907" y="24383"/>
                  </a:lnTo>
                  <a:lnTo>
                    <a:pt x="3453383" y="22859"/>
                  </a:lnTo>
                  <a:lnTo>
                    <a:pt x="3442715" y="13715"/>
                  </a:lnTo>
                  <a:lnTo>
                    <a:pt x="3441191" y="13715"/>
                  </a:lnTo>
                  <a:lnTo>
                    <a:pt x="3435095" y="9143"/>
                  </a:lnTo>
                  <a:lnTo>
                    <a:pt x="3423665" y="4571"/>
                  </a:lnTo>
                  <a:lnTo>
                    <a:pt x="3406139" y="4571"/>
                  </a:lnTo>
                  <a:lnTo>
                    <a:pt x="3415283" y="6095"/>
                  </a:lnTo>
                  <a:lnTo>
                    <a:pt x="3424427" y="9143"/>
                  </a:lnTo>
                  <a:lnTo>
                    <a:pt x="3436619" y="15239"/>
                  </a:lnTo>
                  <a:lnTo>
                    <a:pt x="3438143" y="16763"/>
                  </a:lnTo>
                  <a:lnTo>
                    <a:pt x="3441191" y="18287"/>
                  </a:lnTo>
                  <a:lnTo>
                    <a:pt x="3445763" y="22859"/>
                  </a:lnTo>
                  <a:lnTo>
                    <a:pt x="3448811" y="24383"/>
                  </a:lnTo>
                  <a:lnTo>
                    <a:pt x="3451859" y="27431"/>
                  </a:lnTo>
                  <a:lnTo>
                    <a:pt x="3451859" y="30479"/>
                  </a:lnTo>
                  <a:lnTo>
                    <a:pt x="3453383" y="30479"/>
                  </a:lnTo>
                  <a:lnTo>
                    <a:pt x="3459479" y="36575"/>
                  </a:lnTo>
                  <a:lnTo>
                    <a:pt x="3459479" y="39623"/>
                  </a:lnTo>
                  <a:lnTo>
                    <a:pt x="3461003" y="39623"/>
                  </a:lnTo>
                  <a:lnTo>
                    <a:pt x="3462527" y="41147"/>
                  </a:lnTo>
                  <a:lnTo>
                    <a:pt x="3462527" y="44195"/>
                  </a:lnTo>
                  <a:lnTo>
                    <a:pt x="3464051" y="44195"/>
                  </a:lnTo>
                  <a:lnTo>
                    <a:pt x="3464051" y="47243"/>
                  </a:lnTo>
                  <a:lnTo>
                    <a:pt x="3465575" y="47243"/>
                  </a:lnTo>
                  <a:lnTo>
                    <a:pt x="3465575" y="50291"/>
                  </a:lnTo>
                  <a:lnTo>
                    <a:pt x="3467099" y="50291"/>
                  </a:lnTo>
                  <a:lnTo>
                    <a:pt x="3467099" y="54863"/>
                  </a:lnTo>
                  <a:lnTo>
                    <a:pt x="3468623" y="54863"/>
                  </a:lnTo>
                  <a:lnTo>
                    <a:pt x="3468623" y="59435"/>
                  </a:lnTo>
                  <a:lnTo>
                    <a:pt x="3470147" y="59435"/>
                  </a:lnTo>
                  <a:lnTo>
                    <a:pt x="3470147" y="64007"/>
                  </a:lnTo>
                  <a:lnTo>
                    <a:pt x="3471671" y="64007"/>
                  </a:lnTo>
                  <a:lnTo>
                    <a:pt x="3471671" y="76199"/>
                  </a:lnTo>
                  <a:lnTo>
                    <a:pt x="3473195" y="76199"/>
                  </a:lnTo>
                  <a:lnTo>
                    <a:pt x="3473195" y="413765"/>
                  </a:lnTo>
                  <a:lnTo>
                    <a:pt x="3474719" y="409955"/>
                  </a:lnTo>
                  <a:lnTo>
                    <a:pt x="3476243" y="402335"/>
                  </a:lnTo>
                  <a:lnTo>
                    <a:pt x="3477767" y="393191"/>
                  </a:lnTo>
                  <a:close/>
                </a:path>
                <a:path w="3477895" h="466725">
                  <a:moveTo>
                    <a:pt x="3473195" y="413765"/>
                  </a:moveTo>
                  <a:lnTo>
                    <a:pt x="3473195" y="76199"/>
                  </a:lnTo>
                  <a:lnTo>
                    <a:pt x="3471671" y="390143"/>
                  </a:lnTo>
                  <a:lnTo>
                    <a:pt x="3470147" y="402335"/>
                  </a:lnTo>
                  <a:lnTo>
                    <a:pt x="3465575" y="416051"/>
                  </a:lnTo>
                  <a:lnTo>
                    <a:pt x="3461003" y="425195"/>
                  </a:lnTo>
                  <a:lnTo>
                    <a:pt x="3459479" y="426719"/>
                  </a:lnTo>
                  <a:lnTo>
                    <a:pt x="3457955" y="429767"/>
                  </a:lnTo>
                  <a:lnTo>
                    <a:pt x="3453383" y="434339"/>
                  </a:lnTo>
                  <a:lnTo>
                    <a:pt x="3451859" y="437387"/>
                  </a:lnTo>
                  <a:lnTo>
                    <a:pt x="3448811" y="440435"/>
                  </a:lnTo>
                  <a:lnTo>
                    <a:pt x="3445763" y="441959"/>
                  </a:lnTo>
                  <a:lnTo>
                    <a:pt x="3441191" y="446531"/>
                  </a:lnTo>
                  <a:lnTo>
                    <a:pt x="3438143" y="448055"/>
                  </a:lnTo>
                  <a:lnTo>
                    <a:pt x="3436619" y="449579"/>
                  </a:lnTo>
                  <a:lnTo>
                    <a:pt x="3424427" y="455675"/>
                  </a:lnTo>
                  <a:lnTo>
                    <a:pt x="3415283" y="458723"/>
                  </a:lnTo>
                  <a:lnTo>
                    <a:pt x="3406139" y="460247"/>
                  </a:lnTo>
                  <a:lnTo>
                    <a:pt x="3406139" y="461771"/>
                  </a:lnTo>
                  <a:lnTo>
                    <a:pt x="3424427" y="461771"/>
                  </a:lnTo>
                  <a:lnTo>
                    <a:pt x="3427475" y="460247"/>
                  </a:lnTo>
                  <a:lnTo>
                    <a:pt x="3435095" y="457199"/>
                  </a:lnTo>
                  <a:lnTo>
                    <a:pt x="3464051" y="431291"/>
                  </a:lnTo>
                  <a:lnTo>
                    <a:pt x="3467099" y="423671"/>
                  </a:lnTo>
                  <a:lnTo>
                    <a:pt x="3471671" y="417575"/>
                  </a:lnTo>
                  <a:lnTo>
                    <a:pt x="3473195" y="413765"/>
                  </a:lnTo>
                  <a:close/>
                </a:path>
              </a:pathLst>
            </a:custGeom>
            <a:solidFill>
              <a:srgbClr val="93B5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222370" y="3465576"/>
              <a:ext cx="3469004" cy="457200"/>
            </a:xfrm>
            <a:custGeom>
              <a:avLst/>
              <a:gdLst/>
              <a:ahLst/>
              <a:cxnLst/>
              <a:rect l="l" t="t" r="r" b="b"/>
              <a:pathLst>
                <a:path w="3469004" h="457200">
                  <a:moveTo>
                    <a:pt x="3468623" y="380999"/>
                  </a:moveTo>
                  <a:lnTo>
                    <a:pt x="3468623" y="76199"/>
                  </a:lnTo>
                  <a:lnTo>
                    <a:pt x="3462504" y="46291"/>
                  </a:lnTo>
                  <a:lnTo>
                    <a:pt x="3445954" y="22097"/>
                  </a:lnTo>
                  <a:lnTo>
                    <a:pt x="3421689" y="5905"/>
                  </a:lnTo>
                  <a:lnTo>
                    <a:pt x="3392423" y="0"/>
                  </a:lnTo>
                  <a:lnTo>
                    <a:pt x="76199" y="0"/>
                  </a:lnTo>
                  <a:lnTo>
                    <a:pt x="46934" y="5905"/>
                  </a:lnTo>
                  <a:lnTo>
                    <a:pt x="22669" y="22097"/>
                  </a:lnTo>
                  <a:lnTo>
                    <a:pt x="6119" y="46291"/>
                  </a:lnTo>
                  <a:lnTo>
                    <a:pt x="0" y="76199"/>
                  </a:lnTo>
                  <a:lnTo>
                    <a:pt x="0" y="380999"/>
                  </a:lnTo>
                  <a:lnTo>
                    <a:pt x="6119" y="410908"/>
                  </a:lnTo>
                  <a:lnTo>
                    <a:pt x="22669" y="435101"/>
                  </a:lnTo>
                  <a:lnTo>
                    <a:pt x="46934" y="451294"/>
                  </a:lnTo>
                  <a:lnTo>
                    <a:pt x="76199" y="457199"/>
                  </a:lnTo>
                  <a:lnTo>
                    <a:pt x="3392423" y="457199"/>
                  </a:lnTo>
                  <a:lnTo>
                    <a:pt x="3421689" y="451294"/>
                  </a:lnTo>
                  <a:lnTo>
                    <a:pt x="3445954" y="435101"/>
                  </a:lnTo>
                  <a:lnTo>
                    <a:pt x="3462504" y="410908"/>
                  </a:lnTo>
                  <a:lnTo>
                    <a:pt x="3468623" y="380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17798" y="3461004"/>
              <a:ext cx="3477895" cy="466725"/>
            </a:xfrm>
            <a:custGeom>
              <a:avLst/>
              <a:gdLst/>
              <a:ahLst/>
              <a:cxnLst/>
              <a:rect l="l" t="t" r="r" b="b"/>
              <a:pathLst>
                <a:path w="3477895" h="466725">
                  <a:moveTo>
                    <a:pt x="3477768" y="393192"/>
                  </a:moveTo>
                  <a:lnTo>
                    <a:pt x="3477768" y="71628"/>
                  </a:lnTo>
                  <a:lnTo>
                    <a:pt x="3476244" y="64008"/>
                  </a:lnTo>
                  <a:lnTo>
                    <a:pt x="3473196" y="56388"/>
                  </a:lnTo>
                  <a:lnTo>
                    <a:pt x="3471672" y="48768"/>
                  </a:lnTo>
                  <a:lnTo>
                    <a:pt x="3467100" y="41148"/>
                  </a:lnTo>
                  <a:lnTo>
                    <a:pt x="3464052" y="35052"/>
                  </a:lnTo>
                  <a:lnTo>
                    <a:pt x="3454908" y="24384"/>
                  </a:lnTo>
                  <a:lnTo>
                    <a:pt x="3453384" y="22860"/>
                  </a:lnTo>
                  <a:lnTo>
                    <a:pt x="3442716" y="13716"/>
                  </a:lnTo>
                  <a:lnTo>
                    <a:pt x="3441192" y="13716"/>
                  </a:lnTo>
                  <a:lnTo>
                    <a:pt x="3435096" y="9144"/>
                  </a:lnTo>
                  <a:lnTo>
                    <a:pt x="3419856" y="3048"/>
                  </a:lnTo>
                  <a:lnTo>
                    <a:pt x="3404616" y="0"/>
                  </a:lnTo>
                  <a:lnTo>
                    <a:pt x="73152" y="0"/>
                  </a:lnTo>
                  <a:lnTo>
                    <a:pt x="65532" y="1524"/>
                  </a:lnTo>
                  <a:lnTo>
                    <a:pt x="56388" y="3048"/>
                  </a:lnTo>
                  <a:lnTo>
                    <a:pt x="50292" y="6096"/>
                  </a:lnTo>
                  <a:lnTo>
                    <a:pt x="42672" y="9144"/>
                  </a:lnTo>
                  <a:lnTo>
                    <a:pt x="36576" y="13716"/>
                  </a:lnTo>
                  <a:lnTo>
                    <a:pt x="35052" y="13716"/>
                  </a:lnTo>
                  <a:lnTo>
                    <a:pt x="24384" y="22860"/>
                  </a:lnTo>
                  <a:lnTo>
                    <a:pt x="24384" y="24384"/>
                  </a:lnTo>
                  <a:lnTo>
                    <a:pt x="15240" y="35052"/>
                  </a:lnTo>
                  <a:lnTo>
                    <a:pt x="13716" y="35052"/>
                  </a:lnTo>
                  <a:lnTo>
                    <a:pt x="10668" y="42672"/>
                  </a:lnTo>
                  <a:lnTo>
                    <a:pt x="6096" y="48768"/>
                  </a:lnTo>
                  <a:lnTo>
                    <a:pt x="4572" y="56388"/>
                  </a:lnTo>
                  <a:lnTo>
                    <a:pt x="1524" y="64008"/>
                  </a:lnTo>
                  <a:lnTo>
                    <a:pt x="0" y="73152"/>
                  </a:lnTo>
                  <a:lnTo>
                    <a:pt x="0" y="394716"/>
                  </a:lnTo>
                  <a:lnTo>
                    <a:pt x="1524" y="402336"/>
                  </a:lnTo>
                  <a:lnTo>
                    <a:pt x="4572" y="409956"/>
                  </a:lnTo>
                  <a:lnTo>
                    <a:pt x="6096" y="417576"/>
                  </a:lnTo>
                  <a:lnTo>
                    <a:pt x="10668" y="423672"/>
                  </a:lnTo>
                  <a:lnTo>
                    <a:pt x="10668" y="73152"/>
                  </a:lnTo>
                  <a:lnTo>
                    <a:pt x="12192" y="65532"/>
                  </a:lnTo>
                  <a:lnTo>
                    <a:pt x="15240" y="53340"/>
                  </a:lnTo>
                  <a:lnTo>
                    <a:pt x="18288" y="47244"/>
                  </a:lnTo>
                  <a:lnTo>
                    <a:pt x="22860" y="41148"/>
                  </a:lnTo>
                  <a:lnTo>
                    <a:pt x="30480" y="32258"/>
                  </a:lnTo>
                  <a:lnTo>
                    <a:pt x="30480" y="30480"/>
                  </a:lnTo>
                  <a:lnTo>
                    <a:pt x="41148" y="22479"/>
                  </a:lnTo>
                  <a:lnTo>
                    <a:pt x="41148" y="21336"/>
                  </a:lnTo>
                  <a:lnTo>
                    <a:pt x="53340" y="15240"/>
                  </a:lnTo>
                  <a:lnTo>
                    <a:pt x="60960" y="12192"/>
                  </a:lnTo>
                  <a:lnTo>
                    <a:pt x="67056" y="10668"/>
                  </a:lnTo>
                  <a:lnTo>
                    <a:pt x="74676" y="9144"/>
                  </a:lnTo>
                  <a:lnTo>
                    <a:pt x="3404616" y="9144"/>
                  </a:lnTo>
                  <a:lnTo>
                    <a:pt x="3410712" y="10668"/>
                  </a:lnTo>
                  <a:lnTo>
                    <a:pt x="3418332" y="12192"/>
                  </a:lnTo>
                  <a:lnTo>
                    <a:pt x="3436620" y="21336"/>
                  </a:lnTo>
                  <a:lnTo>
                    <a:pt x="3436620" y="22479"/>
                  </a:lnTo>
                  <a:lnTo>
                    <a:pt x="3447288" y="30480"/>
                  </a:lnTo>
                  <a:lnTo>
                    <a:pt x="3447288" y="32258"/>
                  </a:lnTo>
                  <a:lnTo>
                    <a:pt x="3454908" y="41148"/>
                  </a:lnTo>
                  <a:lnTo>
                    <a:pt x="3459480" y="47244"/>
                  </a:lnTo>
                  <a:lnTo>
                    <a:pt x="3462528" y="53340"/>
                  </a:lnTo>
                  <a:lnTo>
                    <a:pt x="3464052" y="59436"/>
                  </a:lnTo>
                  <a:lnTo>
                    <a:pt x="3465576" y="67056"/>
                  </a:lnTo>
                  <a:lnTo>
                    <a:pt x="3467100" y="73152"/>
                  </a:lnTo>
                  <a:lnTo>
                    <a:pt x="3467100" y="423672"/>
                  </a:lnTo>
                  <a:lnTo>
                    <a:pt x="3471672" y="417576"/>
                  </a:lnTo>
                  <a:lnTo>
                    <a:pt x="3474720" y="409956"/>
                  </a:lnTo>
                  <a:lnTo>
                    <a:pt x="3476244" y="402336"/>
                  </a:lnTo>
                  <a:lnTo>
                    <a:pt x="3477768" y="393192"/>
                  </a:lnTo>
                  <a:close/>
                </a:path>
                <a:path w="3477895" h="466725">
                  <a:moveTo>
                    <a:pt x="32004" y="435864"/>
                  </a:moveTo>
                  <a:lnTo>
                    <a:pt x="12192" y="399288"/>
                  </a:lnTo>
                  <a:lnTo>
                    <a:pt x="10668" y="393192"/>
                  </a:lnTo>
                  <a:lnTo>
                    <a:pt x="10668" y="423672"/>
                  </a:lnTo>
                  <a:lnTo>
                    <a:pt x="13716" y="431292"/>
                  </a:lnTo>
                  <a:lnTo>
                    <a:pt x="24384" y="441960"/>
                  </a:lnTo>
                  <a:lnTo>
                    <a:pt x="24384" y="443484"/>
                  </a:lnTo>
                  <a:lnTo>
                    <a:pt x="30480" y="448709"/>
                  </a:lnTo>
                  <a:lnTo>
                    <a:pt x="30480" y="435864"/>
                  </a:lnTo>
                  <a:lnTo>
                    <a:pt x="32004" y="435864"/>
                  </a:lnTo>
                  <a:close/>
                </a:path>
                <a:path w="3477895" h="466725">
                  <a:moveTo>
                    <a:pt x="32004" y="30480"/>
                  </a:moveTo>
                  <a:lnTo>
                    <a:pt x="30480" y="30480"/>
                  </a:lnTo>
                  <a:lnTo>
                    <a:pt x="30480" y="32258"/>
                  </a:lnTo>
                  <a:lnTo>
                    <a:pt x="32004" y="30480"/>
                  </a:lnTo>
                  <a:close/>
                </a:path>
                <a:path w="3477895" h="466725">
                  <a:moveTo>
                    <a:pt x="42672" y="445008"/>
                  </a:moveTo>
                  <a:lnTo>
                    <a:pt x="30480" y="435864"/>
                  </a:lnTo>
                  <a:lnTo>
                    <a:pt x="30480" y="448709"/>
                  </a:lnTo>
                  <a:lnTo>
                    <a:pt x="35052" y="452628"/>
                  </a:lnTo>
                  <a:lnTo>
                    <a:pt x="36576" y="452628"/>
                  </a:lnTo>
                  <a:lnTo>
                    <a:pt x="41148" y="456057"/>
                  </a:lnTo>
                  <a:lnTo>
                    <a:pt x="41148" y="445008"/>
                  </a:lnTo>
                  <a:lnTo>
                    <a:pt x="42672" y="445008"/>
                  </a:lnTo>
                  <a:close/>
                </a:path>
                <a:path w="3477895" h="466725">
                  <a:moveTo>
                    <a:pt x="42672" y="21336"/>
                  </a:moveTo>
                  <a:lnTo>
                    <a:pt x="41148" y="21336"/>
                  </a:lnTo>
                  <a:lnTo>
                    <a:pt x="41148" y="22479"/>
                  </a:lnTo>
                  <a:lnTo>
                    <a:pt x="42672" y="21336"/>
                  </a:lnTo>
                  <a:close/>
                </a:path>
                <a:path w="3477895" h="466725">
                  <a:moveTo>
                    <a:pt x="3447288" y="448709"/>
                  </a:moveTo>
                  <a:lnTo>
                    <a:pt x="3447288" y="435864"/>
                  </a:lnTo>
                  <a:lnTo>
                    <a:pt x="3435096" y="445008"/>
                  </a:lnTo>
                  <a:lnTo>
                    <a:pt x="3430524" y="448056"/>
                  </a:lnTo>
                  <a:lnTo>
                    <a:pt x="3424428" y="451104"/>
                  </a:lnTo>
                  <a:lnTo>
                    <a:pt x="3416808" y="454152"/>
                  </a:lnTo>
                  <a:lnTo>
                    <a:pt x="3410712" y="455676"/>
                  </a:lnTo>
                  <a:lnTo>
                    <a:pt x="3403092" y="455676"/>
                  </a:lnTo>
                  <a:lnTo>
                    <a:pt x="3395472" y="457200"/>
                  </a:lnTo>
                  <a:lnTo>
                    <a:pt x="80772" y="457200"/>
                  </a:lnTo>
                  <a:lnTo>
                    <a:pt x="74676" y="455676"/>
                  </a:lnTo>
                  <a:lnTo>
                    <a:pt x="67056" y="455676"/>
                  </a:lnTo>
                  <a:lnTo>
                    <a:pt x="59436" y="454152"/>
                  </a:lnTo>
                  <a:lnTo>
                    <a:pt x="41148" y="445008"/>
                  </a:lnTo>
                  <a:lnTo>
                    <a:pt x="41148" y="456057"/>
                  </a:lnTo>
                  <a:lnTo>
                    <a:pt x="42672" y="457200"/>
                  </a:lnTo>
                  <a:lnTo>
                    <a:pt x="57912" y="463296"/>
                  </a:lnTo>
                  <a:lnTo>
                    <a:pt x="73152" y="466344"/>
                  </a:lnTo>
                  <a:lnTo>
                    <a:pt x="3404616" y="466344"/>
                  </a:lnTo>
                  <a:lnTo>
                    <a:pt x="3412236" y="464820"/>
                  </a:lnTo>
                  <a:lnTo>
                    <a:pt x="3421380" y="463296"/>
                  </a:lnTo>
                  <a:lnTo>
                    <a:pt x="3427476" y="460248"/>
                  </a:lnTo>
                  <a:lnTo>
                    <a:pt x="3435096" y="457200"/>
                  </a:lnTo>
                  <a:lnTo>
                    <a:pt x="3442716" y="452628"/>
                  </a:lnTo>
                  <a:lnTo>
                    <a:pt x="3447288" y="448709"/>
                  </a:lnTo>
                  <a:close/>
                </a:path>
                <a:path w="3477895" h="466725">
                  <a:moveTo>
                    <a:pt x="3436620" y="22479"/>
                  </a:moveTo>
                  <a:lnTo>
                    <a:pt x="3436620" y="21336"/>
                  </a:lnTo>
                  <a:lnTo>
                    <a:pt x="3435096" y="21336"/>
                  </a:lnTo>
                  <a:lnTo>
                    <a:pt x="3436620" y="22479"/>
                  </a:lnTo>
                  <a:close/>
                </a:path>
                <a:path w="3477895" h="466725">
                  <a:moveTo>
                    <a:pt x="3447288" y="32258"/>
                  </a:moveTo>
                  <a:lnTo>
                    <a:pt x="3447288" y="30480"/>
                  </a:lnTo>
                  <a:lnTo>
                    <a:pt x="3445764" y="30480"/>
                  </a:lnTo>
                  <a:lnTo>
                    <a:pt x="3447288" y="32258"/>
                  </a:lnTo>
                  <a:close/>
                </a:path>
                <a:path w="3477895" h="466725">
                  <a:moveTo>
                    <a:pt x="3467100" y="423672"/>
                  </a:moveTo>
                  <a:lnTo>
                    <a:pt x="3467100" y="393192"/>
                  </a:lnTo>
                  <a:lnTo>
                    <a:pt x="3465576" y="400812"/>
                  </a:lnTo>
                  <a:lnTo>
                    <a:pt x="3462528" y="413004"/>
                  </a:lnTo>
                  <a:lnTo>
                    <a:pt x="3459480" y="419100"/>
                  </a:lnTo>
                  <a:lnTo>
                    <a:pt x="3454908" y="425196"/>
                  </a:lnTo>
                  <a:lnTo>
                    <a:pt x="3445764" y="435864"/>
                  </a:lnTo>
                  <a:lnTo>
                    <a:pt x="3447288" y="435864"/>
                  </a:lnTo>
                  <a:lnTo>
                    <a:pt x="3447288" y="448709"/>
                  </a:lnTo>
                  <a:lnTo>
                    <a:pt x="3453384" y="443484"/>
                  </a:lnTo>
                  <a:lnTo>
                    <a:pt x="3454908" y="441960"/>
                  </a:lnTo>
                  <a:lnTo>
                    <a:pt x="3464052" y="431292"/>
                  </a:lnTo>
                  <a:lnTo>
                    <a:pt x="3467100" y="423672"/>
                  </a:lnTo>
                  <a:close/>
                </a:path>
              </a:pathLst>
            </a:custGeom>
            <a:solidFill>
              <a:srgbClr val="93B5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718690" y="3538218"/>
            <a:ext cx="24745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Attributs/champs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(fields)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266565" y="5044440"/>
            <a:ext cx="3477895" cy="467995"/>
            <a:chOff x="6266565" y="5044440"/>
            <a:chExt cx="3477895" cy="467995"/>
          </a:xfrm>
        </p:grpSpPr>
        <p:sp>
          <p:nvSpPr>
            <p:cNvPr id="21" name="object 21"/>
            <p:cNvSpPr/>
            <p:nvPr/>
          </p:nvSpPr>
          <p:spPr>
            <a:xfrm>
              <a:off x="6266565" y="5044440"/>
              <a:ext cx="3477895" cy="467995"/>
            </a:xfrm>
            <a:custGeom>
              <a:avLst/>
              <a:gdLst/>
              <a:ahLst/>
              <a:cxnLst/>
              <a:rect l="l" t="t" r="r" b="b"/>
              <a:pathLst>
                <a:path w="3477895" h="467995">
                  <a:moveTo>
                    <a:pt x="1523" y="394715"/>
                  </a:moveTo>
                  <a:lnTo>
                    <a:pt x="1523" y="73151"/>
                  </a:lnTo>
                  <a:lnTo>
                    <a:pt x="0" y="80771"/>
                  </a:lnTo>
                  <a:lnTo>
                    <a:pt x="0" y="387095"/>
                  </a:lnTo>
                  <a:lnTo>
                    <a:pt x="1523" y="394715"/>
                  </a:lnTo>
                  <a:close/>
                </a:path>
                <a:path w="3477895" h="467995">
                  <a:moveTo>
                    <a:pt x="3419855" y="4571"/>
                  </a:moveTo>
                  <a:lnTo>
                    <a:pt x="3412235" y="1523"/>
                  </a:lnTo>
                  <a:lnTo>
                    <a:pt x="3404615" y="0"/>
                  </a:lnTo>
                  <a:lnTo>
                    <a:pt x="73151" y="0"/>
                  </a:lnTo>
                  <a:lnTo>
                    <a:pt x="65531" y="1523"/>
                  </a:lnTo>
                  <a:lnTo>
                    <a:pt x="57911" y="4571"/>
                  </a:lnTo>
                  <a:lnTo>
                    <a:pt x="50291" y="6095"/>
                  </a:lnTo>
                  <a:lnTo>
                    <a:pt x="42671" y="10667"/>
                  </a:lnTo>
                  <a:lnTo>
                    <a:pt x="36575" y="13715"/>
                  </a:lnTo>
                  <a:lnTo>
                    <a:pt x="24383" y="24383"/>
                  </a:lnTo>
                  <a:lnTo>
                    <a:pt x="13715" y="36575"/>
                  </a:lnTo>
                  <a:lnTo>
                    <a:pt x="10667" y="42671"/>
                  </a:lnTo>
                  <a:lnTo>
                    <a:pt x="6095" y="50291"/>
                  </a:lnTo>
                  <a:lnTo>
                    <a:pt x="4571" y="57911"/>
                  </a:lnTo>
                  <a:lnTo>
                    <a:pt x="1523" y="65531"/>
                  </a:lnTo>
                  <a:lnTo>
                    <a:pt x="1523" y="402335"/>
                  </a:lnTo>
                  <a:lnTo>
                    <a:pt x="6095" y="413765"/>
                  </a:lnTo>
                  <a:lnTo>
                    <a:pt x="6095" y="67055"/>
                  </a:lnTo>
                  <a:lnTo>
                    <a:pt x="7619" y="60959"/>
                  </a:lnTo>
                  <a:lnTo>
                    <a:pt x="10667" y="51815"/>
                  </a:lnTo>
                  <a:lnTo>
                    <a:pt x="15239" y="42671"/>
                  </a:lnTo>
                  <a:lnTo>
                    <a:pt x="16763" y="41147"/>
                  </a:lnTo>
                  <a:lnTo>
                    <a:pt x="18287" y="38099"/>
                  </a:lnTo>
                  <a:lnTo>
                    <a:pt x="21335" y="35051"/>
                  </a:lnTo>
                  <a:lnTo>
                    <a:pt x="22859" y="32003"/>
                  </a:lnTo>
                  <a:lnTo>
                    <a:pt x="32003" y="22859"/>
                  </a:lnTo>
                  <a:lnTo>
                    <a:pt x="35051" y="21335"/>
                  </a:lnTo>
                  <a:lnTo>
                    <a:pt x="38099" y="18287"/>
                  </a:lnTo>
                  <a:lnTo>
                    <a:pt x="41147" y="16763"/>
                  </a:lnTo>
                  <a:lnTo>
                    <a:pt x="82295" y="4571"/>
                  </a:lnTo>
                  <a:lnTo>
                    <a:pt x="3419855" y="4571"/>
                  </a:lnTo>
                  <a:close/>
                </a:path>
                <a:path w="3477895" h="467995">
                  <a:moveTo>
                    <a:pt x="3425189" y="461771"/>
                  </a:moveTo>
                  <a:lnTo>
                    <a:pt x="67055" y="460247"/>
                  </a:lnTo>
                  <a:lnTo>
                    <a:pt x="41147" y="449579"/>
                  </a:lnTo>
                  <a:lnTo>
                    <a:pt x="38099" y="448055"/>
                  </a:lnTo>
                  <a:lnTo>
                    <a:pt x="35051" y="445007"/>
                  </a:lnTo>
                  <a:lnTo>
                    <a:pt x="32003" y="443483"/>
                  </a:lnTo>
                  <a:lnTo>
                    <a:pt x="24383" y="435863"/>
                  </a:lnTo>
                  <a:lnTo>
                    <a:pt x="22859" y="435863"/>
                  </a:lnTo>
                  <a:lnTo>
                    <a:pt x="22859" y="432815"/>
                  </a:lnTo>
                  <a:lnTo>
                    <a:pt x="19811" y="429767"/>
                  </a:lnTo>
                  <a:lnTo>
                    <a:pt x="18287" y="429767"/>
                  </a:lnTo>
                  <a:lnTo>
                    <a:pt x="18287" y="426719"/>
                  </a:lnTo>
                  <a:lnTo>
                    <a:pt x="16763" y="425195"/>
                  </a:lnTo>
                  <a:lnTo>
                    <a:pt x="15239" y="425195"/>
                  </a:lnTo>
                  <a:lnTo>
                    <a:pt x="15239" y="422147"/>
                  </a:lnTo>
                  <a:lnTo>
                    <a:pt x="13715" y="422147"/>
                  </a:lnTo>
                  <a:lnTo>
                    <a:pt x="13715" y="419099"/>
                  </a:lnTo>
                  <a:lnTo>
                    <a:pt x="12191" y="419099"/>
                  </a:lnTo>
                  <a:lnTo>
                    <a:pt x="12191" y="416051"/>
                  </a:lnTo>
                  <a:lnTo>
                    <a:pt x="10667" y="416051"/>
                  </a:lnTo>
                  <a:lnTo>
                    <a:pt x="10667" y="411479"/>
                  </a:lnTo>
                  <a:lnTo>
                    <a:pt x="9143" y="411479"/>
                  </a:lnTo>
                  <a:lnTo>
                    <a:pt x="9143" y="406907"/>
                  </a:lnTo>
                  <a:lnTo>
                    <a:pt x="7619" y="406907"/>
                  </a:lnTo>
                  <a:lnTo>
                    <a:pt x="7619" y="400811"/>
                  </a:lnTo>
                  <a:lnTo>
                    <a:pt x="6095" y="400811"/>
                  </a:lnTo>
                  <a:lnTo>
                    <a:pt x="6095" y="413765"/>
                  </a:lnTo>
                  <a:lnTo>
                    <a:pt x="10667" y="425195"/>
                  </a:lnTo>
                  <a:lnTo>
                    <a:pt x="24383" y="443483"/>
                  </a:lnTo>
                  <a:lnTo>
                    <a:pt x="36575" y="454151"/>
                  </a:lnTo>
                  <a:lnTo>
                    <a:pt x="42671" y="457199"/>
                  </a:lnTo>
                  <a:lnTo>
                    <a:pt x="50291" y="461771"/>
                  </a:lnTo>
                  <a:lnTo>
                    <a:pt x="57911" y="463295"/>
                  </a:lnTo>
                  <a:lnTo>
                    <a:pt x="65531" y="466343"/>
                  </a:lnTo>
                  <a:lnTo>
                    <a:pt x="73151" y="466343"/>
                  </a:lnTo>
                  <a:lnTo>
                    <a:pt x="82295" y="467867"/>
                  </a:lnTo>
                  <a:lnTo>
                    <a:pt x="3396995" y="467867"/>
                  </a:lnTo>
                  <a:lnTo>
                    <a:pt x="3404615" y="466343"/>
                  </a:lnTo>
                  <a:lnTo>
                    <a:pt x="3413759" y="466343"/>
                  </a:lnTo>
                  <a:lnTo>
                    <a:pt x="3425189" y="461771"/>
                  </a:lnTo>
                  <a:close/>
                </a:path>
                <a:path w="3477895" h="467995">
                  <a:moveTo>
                    <a:pt x="3477767" y="394715"/>
                  </a:moveTo>
                  <a:lnTo>
                    <a:pt x="3477767" y="73151"/>
                  </a:lnTo>
                  <a:lnTo>
                    <a:pt x="3476243" y="65531"/>
                  </a:lnTo>
                  <a:lnTo>
                    <a:pt x="3474719" y="56387"/>
                  </a:lnTo>
                  <a:lnTo>
                    <a:pt x="3471671" y="50291"/>
                  </a:lnTo>
                  <a:lnTo>
                    <a:pt x="3467099" y="42671"/>
                  </a:lnTo>
                  <a:lnTo>
                    <a:pt x="3464051" y="35051"/>
                  </a:lnTo>
                  <a:lnTo>
                    <a:pt x="3454907" y="24383"/>
                  </a:lnTo>
                  <a:lnTo>
                    <a:pt x="3453383" y="24383"/>
                  </a:lnTo>
                  <a:lnTo>
                    <a:pt x="3441191" y="13715"/>
                  </a:lnTo>
                  <a:lnTo>
                    <a:pt x="3435095" y="10667"/>
                  </a:lnTo>
                  <a:lnTo>
                    <a:pt x="3427475" y="6095"/>
                  </a:lnTo>
                  <a:lnTo>
                    <a:pt x="3419855" y="4571"/>
                  </a:lnTo>
                  <a:lnTo>
                    <a:pt x="3396995" y="4571"/>
                  </a:lnTo>
                  <a:lnTo>
                    <a:pt x="3412235" y="6095"/>
                  </a:lnTo>
                  <a:lnTo>
                    <a:pt x="3418331" y="7619"/>
                  </a:lnTo>
                  <a:lnTo>
                    <a:pt x="3422903" y="9143"/>
                  </a:lnTo>
                  <a:lnTo>
                    <a:pt x="3438143" y="16763"/>
                  </a:lnTo>
                  <a:lnTo>
                    <a:pt x="3441191" y="19811"/>
                  </a:lnTo>
                  <a:lnTo>
                    <a:pt x="3444239" y="21335"/>
                  </a:lnTo>
                  <a:lnTo>
                    <a:pt x="3457955" y="35051"/>
                  </a:lnTo>
                  <a:lnTo>
                    <a:pt x="3457955" y="38099"/>
                  </a:lnTo>
                  <a:lnTo>
                    <a:pt x="3459479" y="38099"/>
                  </a:lnTo>
                  <a:lnTo>
                    <a:pt x="3461003" y="39623"/>
                  </a:lnTo>
                  <a:lnTo>
                    <a:pt x="3461003" y="42671"/>
                  </a:lnTo>
                  <a:lnTo>
                    <a:pt x="3462527" y="42671"/>
                  </a:lnTo>
                  <a:lnTo>
                    <a:pt x="3464051" y="44195"/>
                  </a:lnTo>
                  <a:lnTo>
                    <a:pt x="3464051" y="47243"/>
                  </a:lnTo>
                  <a:lnTo>
                    <a:pt x="3465575" y="47243"/>
                  </a:lnTo>
                  <a:lnTo>
                    <a:pt x="3465575" y="50291"/>
                  </a:lnTo>
                  <a:lnTo>
                    <a:pt x="3467099" y="50291"/>
                  </a:lnTo>
                  <a:lnTo>
                    <a:pt x="3467099" y="54863"/>
                  </a:lnTo>
                  <a:lnTo>
                    <a:pt x="3468623" y="54863"/>
                  </a:lnTo>
                  <a:lnTo>
                    <a:pt x="3468623" y="59435"/>
                  </a:lnTo>
                  <a:lnTo>
                    <a:pt x="3470147" y="59435"/>
                  </a:lnTo>
                  <a:lnTo>
                    <a:pt x="3470147" y="64007"/>
                  </a:lnTo>
                  <a:lnTo>
                    <a:pt x="3471671" y="64007"/>
                  </a:lnTo>
                  <a:lnTo>
                    <a:pt x="3471671" y="73151"/>
                  </a:lnTo>
                  <a:lnTo>
                    <a:pt x="3473195" y="73151"/>
                  </a:lnTo>
                  <a:lnTo>
                    <a:pt x="3473195" y="413765"/>
                  </a:lnTo>
                  <a:lnTo>
                    <a:pt x="3474719" y="409955"/>
                  </a:lnTo>
                  <a:lnTo>
                    <a:pt x="3477767" y="394715"/>
                  </a:lnTo>
                  <a:close/>
                </a:path>
                <a:path w="3477895" h="467995">
                  <a:moveTo>
                    <a:pt x="3473195" y="413765"/>
                  </a:moveTo>
                  <a:lnTo>
                    <a:pt x="3473195" y="73151"/>
                  </a:lnTo>
                  <a:lnTo>
                    <a:pt x="3471671" y="394715"/>
                  </a:lnTo>
                  <a:lnTo>
                    <a:pt x="3470147" y="403859"/>
                  </a:lnTo>
                  <a:lnTo>
                    <a:pt x="3465575" y="417575"/>
                  </a:lnTo>
                  <a:lnTo>
                    <a:pt x="3462527" y="423671"/>
                  </a:lnTo>
                  <a:lnTo>
                    <a:pt x="3461003" y="425195"/>
                  </a:lnTo>
                  <a:lnTo>
                    <a:pt x="3459479" y="428243"/>
                  </a:lnTo>
                  <a:lnTo>
                    <a:pt x="3457955" y="429767"/>
                  </a:lnTo>
                  <a:lnTo>
                    <a:pt x="3456431" y="432815"/>
                  </a:lnTo>
                  <a:lnTo>
                    <a:pt x="3444239" y="445007"/>
                  </a:lnTo>
                  <a:lnTo>
                    <a:pt x="3441191" y="446531"/>
                  </a:lnTo>
                  <a:lnTo>
                    <a:pt x="3438143" y="449579"/>
                  </a:lnTo>
                  <a:lnTo>
                    <a:pt x="3422903" y="457199"/>
                  </a:lnTo>
                  <a:lnTo>
                    <a:pt x="3418331" y="458723"/>
                  </a:lnTo>
                  <a:lnTo>
                    <a:pt x="3412235" y="460247"/>
                  </a:lnTo>
                  <a:lnTo>
                    <a:pt x="3412235" y="461771"/>
                  </a:lnTo>
                  <a:lnTo>
                    <a:pt x="3425189" y="461771"/>
                  </a:lnTo>
                  <a:lnTo>
                    <a:pt x="3428999" y="460247"/>
                  </a:lnTo>
                  <a:lnTo>
                    <a:pt x="3435095" y="457199"/>
                  </a:lnTo>
                  <a:lnTo>
                    <a:pt x="3442715" y="452627"/>
                  </a:lnTo>
                  <a:lnTo>
                    <a:pt x="3453383" y="443483"/>
                  </a:lnTo>
                  <a:lnTo>
                    <a:pt x="3454907" y="443483"/>
                  </a:lnTo>
                  <a:lnTo>
                    <a:pt x="3468623" y="425195"/>
                  </a:lnTo>
                  <a:lnTo>
                    <a:pt x="3473195" y="413765"/>
                  </a:lnTo>
                  <a:close/>
                </a:path>
              </a:pathLst>
            </a:custGeom>
            <a:solidFill>
              <a:srgbClr val="93B5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72661" y="5049011"/>
              <a:ext cx="3467100" cy="457200"/>
            </a:xfrm>
            <a:custGeom>
              <a:avLst/>
              <a:gdLst/>
              <a:ahLst/>
              <a:cxnLst/>
              <a:rect l="l" t="t" r="r" b="b"/>
              <a:pathLst>
                <a:path w="3467100" h="457200">
                  <a:moveTo>
                    <a:pt x="3467099" y="380999"/>
                  </a:moveTo>
                  <a:lnTo>
                    <a:pt x="3467099" y="76199"/>
                  </a:lnTo>
                  <a:lnTo>
                    <a:pt x="3460980" y="46934"/>
                  </a:lnTo>
                  <a:lnTo>
                    <a:pt x="3444430" y="22669"/>
                  </a:lnTo>
                  <a:lnTo>
                    <a:pt x="3420165" y="6119"/>
                  </a:lnTo>
                  <a:lnTo>
                    <a:pt x="3390899" y="0"/>
                  </a:lnTo>
                  <a:lnTo>
                    <a:pt x="76199" y="0"/>
                  </a:lnTo>
                  <a:lnTo>
                    <a:pt x="46291" y="6119"/>
                  </a:lnTo>
                  <a:lnTo>
                    <a:pt x="22097" y="22669"/>
                  </a:lnTo>
                  <a:lnTo>
                    <a:pt x="5905" y="46934"/>
                  </a:lnTo>
                  <a:lnTo>
                    <a:pt x="0" y="76199"/>
                  </a:lnTo>
                  <a:lnTo>
                    <a:pt x="0" y="380999"/>
                  </a:lnTo>
                  <a:lnTo>
                    <a:pt x="5905" y="410908"/>
                  </a:lnTo>
                  <a:lnTo>
                    <a:pt x="22097" y="435101"/>
                  </a:lnTo>
                  <a:lnTo>
                    <a:pt x="46291" y="451294"/>
                  </a:lnTo>
                  <a:lnTo>
                    <a:pt x="76199" y="457199"/>
                  </a:lnTo>
                  <a:lnTo>
                    <a:pt x="3390899" y="457199"/>
                  </a:lnTo>
                  <a:lnTo>
                    <a:pt x="3420165" y="451294"/>
                  </a:lnTo>
                  <a:lnTo>
                    <a:pt x="3444430" y="435101"/>
                  </a:lnTo>
                  <a:lnTo>
                    <a:pt x="3460980" y="410908"/>
                  </a:lnTo>
                  <a:lnTo>
                    <a:pt x="3467099" y="380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66566" y="5044440"/>
              <a:ext cx="3477895" cy="467995"/>
            </a:xfrm>
            <a:custGeom>
              <a:avLst/>
              <a:gdLst/>
              <a:ahLst/>
              <a:cxnLst/>
              <a:rect l="l" t="t" r="r" b="b"/>
              <a:pathLst>
                <a:path w="3477895" h="467995">
                  <a:moveTo>
                    <a:pt x="1524" y="394716"/>
                  </a:moveTo>
                  <a:lnTo>
                    <a:pt x="1524" y="73152"/>
                  </a:lnTo>
                  <a:lnTo>
                    <a:pt x="0" y="80772"/>
                  </a:lnTo>
                  <a:lnTo>
                    <a:pt x="0" y="387096"/>
                  </a:lnTo>
                  <a:lnTo>
                    <a:pt x="1524" y="394716"/>
                  </a:lnTo>
                  <a:close/>
                </a:path>
                <a:path w="3477895" h="467995">
                  <a:moveTo>
                    <a:pt x="3477768" y="394716"/>
                  </a:moveTo>
                  <a:lnTo>
                    <a:pt x="3477768" y="73152"/>
                  </a:lnTo>
                  <a:lnTo>
                    <a:pt x="3476244" y="65532"/>
                  </a:lnTo>
                  <a:lnTo>
                    <a:pt x="3474720" y="56388"/>
                  </a:lnTo>
                  <a:lnTo>
                    <a:pt x="3471672" y="50292"/>
                  </a:lnTo>
                  <a:lnTo>
                    <a:pt x="3467100" y="42672"/>
                  </a:lnTo>
                  <a:lnTo>
                    <a:pt x="3464052" y="35052"/>
                  </a:lnTo>
                  <a:lnTo>
                    <a:pt x="3454908" y="24384"/>
                  </a:lnTo>
                  <a:lnTo>
                    <a:pt x="3453384" y="24384"/>
                  </a:lnTo>
                  <a:lnTo>
                    <a:pt x="3441192" y="13716"/>
                  </a:lnTo>
                  <a:lnTo>
                    <a:pt x="3435096" y="10668"/>
                  </a:lnTo>
                  <a:lnTo>
                    <a:pt x="3427476" y="6096"/>
                  </a:lnTo>
                  <a:lnTo>
                    <a:pt x="3419856" y="4572"/>
                  </a:lnTo>
                  <a:lnTo>
                    <a:pt x="3412236" y="1524"/>
                  </a:lnTo>
                  <a:lnTo>
                    <a:pt x="3404616" y="0"/>
                  </a:lnTo>
                  <a:lnTo>
                    <a:pt x="73152" y="0"/>
                  </a:lnTo>
                  <a:lnTo>
                    <a:pt x="65532" y="1524"/>
                  </a:lnTo>
                  <a:lnTo>
                    <a:pt x="57912" y="4572"/>
                  </a:lnTo>
                  <a:lnTo>
                    <a:pt x="50292" y="6096"/>
                  </a:lnTo>
                  <a:lnTo>
                    <a:pt x="42672" y="10668"/>
                  </a:lnTo>
                  <a:lnTo>
                    <a:pt x="36576" y="13716"/>
                  </a:lnTo>
                  <a:lnTo>
                    <a:pt x="24384" y="24384"/>
                  </a:lnTo>
                  <a:lnTo>
                    <a:pt x="13716" y="36576"/>
                  </a:lnTo>
                  <a:lnTo>
                    <a:pt x="10668" y="42672"/>
                  </a:lnTo>
                  <a:lnTo>
                    <a:pt x="6096" y="50292"/>
                  </a:lnTo>
                  <a:lnTo>
                    <a:pt x="4572" y="57912"/>
                  </a:lnTo>
                  <a:lnTo>
                    <a:pt x="1524" y="65532"/>
                  </a:lnTo>
                  <a:lnTo>
                    <a:pt x="1524" y="402336"/>
                  </a:lnTo>
                  <a:lnTo>
                    <a:pt x="10668" y="425196"/>
                  </a:lnTo>
                  <a:lnTo>
                    <a:pt x="10668" y="74676"/>
                  </a:lnTo>
                  <a:lnTo>
                    <a:pt x="13716" y="59436"/>
                  </a:lnTo>
                  <a:lnTo>
                    <a:pt x="22860" y="41148"/>
                  </a:lnTo>
                  <a:lnTo>
                    <a:pt x="30480" y="32258"/>
                  </a:lnTo>
                  <a:lnTo>
                    <a:pt x="30480" y="32004"/>
                  </a:lnTo>
                  <a:lnTo>
                    <a:pt x="32004" y="30480"/>
                  </a:lnTo>
                  <a:lnTo>
                    <a:pt x="32004" y="30861"/>
                  </a:lnTo>
                  <a:lnTo>
                    <a:pt x="42672" y="22860"/>
                  </a:lnTo>
                  <a:lnTo>
                    <a:pt x="47244" y="18288"/>
                  </a:lnTo>
                  <a:lnTo>
                    <a:pt x="54864" y="15240"/>
                  </a:lnTo>
                  <a:lnTo>
                    <a:pt x="67056" y="12192"/>
                  </a:lnTo>
                  <a:lnTo>
                    <a:pt x="74676" y="10668"/>
                  </a:lnTo>
                  <a:lnTo>
                    <a:pt x="3404616" y="10668"/>
                  </a:lnTo>
                  <a:lnTo>
                    <a:pt x="3410712" y="12192"/>
                  </a:lnTo>
                  <a:lnTo>
                    <a:pt x="3418332" y="13716"/>
                  </a:lnTo>
                  <a:lnTo>
                    <a:pt x="3424428" y="15240"/>
                  </a:lnTo>
                  <a:lnTo>
                    <a:pt x="3430524" y="18288"/>
                  </a:lnTo>
                  <a:lnTo>
                    <a:pt x="3436620" y="22860"/>
                  </a:lnTo>
                  <a:lnTo>
                    <a:pt x="3447288" y="32004"/>
                  </a:lnTo>
                  <a:lnTo>
                    <a:pt x="3447288" y="30480"/>
                  </a:lnTo>
                  <a:lnTo>
                    <a:pt x="3456432" y="42672"/>
                  </a:lnTo>
                  <a:lnTo>
                    <a:pt x="3459480" y="47244"/>
                  </a:lnTo>
                  <a:lnTo>
                    <a:pt x="3462528" y="53340"/>
                  </a:lnTo>
                  <a:lnTo>
                    <a:pt x="3464052" y="60960"/>
                  </a:lnTo>
                  <a:lnTo>
                    <a:pt x="3467100" y="67056"/>
                  </a:lnTo>
                  <a:lnTo>
                    <a:pt x="3467100" y="427228"/>
                  </a:lnTo>
                  <a:lnTo>
                    <a:pt x="3468624" y="425196"/>
                  </a:lnTo>
                  <a:lnTo>
                    <a:pt x="3474720" y="409956"/>
                  </a:lnTo>
                  <a:lnTo>
                    <a:pt x="3477768" y="394716"/>
                  </a:lnTo>
                  <a:close/>
                </a:path>
                <a:path w="3477895" h="467995">
                  <a:moveTo>
                    <a:pt x="31546" y="436778"/>
                  </a:moveTo>
                  <a:lnTo>
                    <a:pt x="22860" y="425196"/>
                  </a:lnTo>
                  <a:lnTo>
                    <a:pt x="18288" y="420624"/>
                  </a:lnTo>
                  <a:lnTo>
                    <a:pt x="15240" y="413004"/>
                  </a:lnTo>
                  <a:lnTo>
                    <a:pt x="12192" y="400812"/>
                  </a:lnTo>
                  <a:lnTo>
                    <a:pt x="10668" y="393192"/>
                  </a:lnTo>
                  <a:lnTo>
                    <a:pt x="10668" y="425196"/>
                  </a:lnTo>
                  <a:lnTo>
                    <a:pt x="24384" y="443484"/>
                  </a:lnTo>
                  <a:lnTo>
                    <a:pt x="30480" y="448818"/>
                  </a:lnTo>
                  <a:lnTo>
                    <a:pt x="30480" y="435864"/>
                  </a:lnTo>
                  <a:lnTo>
                    <a:pt x="31546" y="436778"/>
                  </a:lnTo>
                  <a:close/>
                </a:path>
                <a:path w="3477895" h="467995">
                  <a:moveTo>
                    <a:pt x="32004" y="30480"/>
                  </a:moveTo>
                  <a:lnTo>
                    <a:pt x="30480" y="32004"/>
                  </a:lnTo>
                  <a:lnTo>
                    <a:pt x="31089" y="31546"/>
                  </a:lnTo>
                  <a:lnTo>
                    <a:pt x="32004" y="30480"/>
                  </a:lnTo>
                  <a:close/>
                </a:path>
                <a:path w="3477895" h="467995">
                  <a:moveTo>
                    <a:pt x="31089" y="31546"/>
                  </a:moveTo>
                  <a:lnTo>
                    <a:pt x="30480" y="32004"/>
                  </a:lnTo>
                  <a:lnTo>
                    <a:pt x="30480" y="32258"/>
                  </a:lnTo>
                  <a:lnTo>
                    <a:pt x="31089" y="31546"/>
                  </a:lnTo>
                  <a:close/>
                </a:path>
                <a:path w="3477895" h="467995">
                  <a:moveTo>
                    <a:pt x="32004" y="437388"/>
                  </a:moveTo>
                  <a:lnTo>
                    <a:pt x="31546" y="436778"/>
                  </a:lnTo>
                  <a:lnTo>
                    <a:pt x="30480" y="435864"/>
                  </a:lnTo>
                  <a:lnTo>
                    <a:pt x="32004" y="437388"/>
                  </a:lnTo>
                  <a:close/>
                </a:path>
                <a:path w="3477895" h="467995">
                  <a:moveTo>
                    <a:pt x="32004" y="450151"/>
                  </a:moveTo>
                  <a:lnTo>
                    <a:pt x="32004" y="437388"/>
                  </a:lnTo>
                  <a:lnTo>
                    <a:pt x="30480" y="435864"/>
                  </a:lnTo>
                  <a:lnTo>
                    <a:pt x="30480" y="448818"/>
                  </a:lnTo>
                  <a:lnTo>
                    <a:pt x="32004" y="450151"/>
                  </a:lnTo>
                  <a:close/>
                </a:path>
                <a:path w="3477895" h="467995">
                  <a:moveTo>
                    <a:pt x="32004" y="30861"/>
                  </a:moveTo>
                  <a:lnTo>
                    <a:pt x="32004" y="30480"/>
                  </a:lnTo>
                  <a:lnTo>
                    <a:pt x="31089" y="31546"/>
                  </a:lnTo>
                  <a:lnTo>
                    <a:pt x="32004" y="30861"/>
                  </a:lnTo>
                  <a:close/>
                </a:path>
                <a:path w="3477895" h="467995">
                  <a:moveTo>
                    <a:pt x="3467100" y="427228"/>
                  </a:moveTo>
                  <a:lnTo>
                    <a:pt x="3467100" y="393192"/>
                  </a:lnTo>
                  <a:lnTo>
                    <a:pt x="3464052" y="408432"/>
                  </a:lnTo>
                  <a:lnTo>
                    <a:pt x="3462528" y="414528"/>
                  </a:lnTo>
                  <a:lnTo>
                    <a:pt x="3459480" y="420624"/>
                  </a:lnTo>
                  <a:lnTo>
                    <a:pt x="3454908" y="426720"/>
                  </a:lnTo>
                  <a:lnTo>
                    <a:pt x="3447288" y="437388"/>
                  </a:lnTo>
                  <a:lnTo>
                    <a:pt x="3447288" y="435864"/>
                  </a:lnTo>
                  <a:lnTo>
                    <a:pt x="3436620" y="445008"/>
                  </a:lnTo>
                  <a:lnTo>
                    <a:pt x="3430524" y="449580"/>
                  </a:lnTo>
                  <a:lnTo>
                    <a:pt x="3424428" y="452628"/>
                  </a:lnTo>
                  <a:lnTo>
                    <a:pt x="3416808" y="454152"/>
                  </a:lnTo>
                  <a:lnTo>
                    <a:pt x="3410712" y="455676"/>
                  </a:lnTo>
                  <a:lnTo>
                    <a:pt x="3403092" y="457200"/>
                  </a:lnTo>
                  <a:lnTo>
                    <a:pt x="74676" y="457200"/>
                  </a:lnTo>
                  <a:lnTo>
                    <a:pt x="31546" y="436778"/>
                  </a:lnTo>
                  <a:lnTo>
                    <a:pt x="32004" y="437388"/>
                  </a:lnTo>
                  <a:lnTo>
                    <a:pt x="32004" y="450151"/>
                  </a:lnTo>
                  <a:lnTo>
                    <a:pt x="36576" y="454152"/>
                  </a:lnTo>
                  <a:lnTo>
                    <a:pt x="42672" y="457200"/>
                  </a:lnTo>
                  <a:lnTo>
                    <a:pt x="50292" y="461772"/>
                  </a:lnTo>
                  <a:lnTo>
                    <a:pt x="57912" y="463296"/>
                  </a:lnTo>
                  <a:lnTo>
                    <a:pt x="65532" y="466344"/>
                  </a:lnTo>
                  <a:lnTo>
                    <a:pt x="73152" y="466344"/>
                  </a:lnTo>
                  <a:lnTo>
                    <a:pt x="82296" y="467868"/>
                  </a:lnTo>
                  <a:lnTo>
                    <a:pt x="3396996" y="467868"/>
                  </a:lnTo>
                  <a:lnTo>
                    <a:pt x="3404616" y="466344"/>
                  </a:lnTo>
                  <a:lnTo>
                    <a:pt x="3413760" y="466344"/>
                  </a:lnTo>
                  <a:lnTo>
                    <a:pt x="3429000" y="460248"/>
                  </a:lnTo>
                  <a:lnTo>
                    <a:pt x="3435096" y="457200"/>
                  </a:lnTo>
                  <a:lnTo>
                    <a:pt x="3442716" y="452628"/>
                  </a:lnTo>
                  <a:lnTo>
                    <a:pt x="3453384" y="443484"/>
                  </a:lnTo>
                  <a:lnTo>
                    <a:pt x="3454908" y="443484"/>
                  </a:lnTo>
                  <a:lnTo>
                    <a:pt x="3467100" y="427228"/>
                  </a:lnTo>
                  <a:close/>
                </a:path>
              </a:pathLst>
            </a:custGeom>
            <a:solidFill>
              <a:srgbClr val="93B5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7491359" y="5121654"/>
            <a:ext cx="10274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Méthodes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061600" y="1611883"/>
            <a:ext cx="106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sz="12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826893" y="2958096"/>
            <a:ext cx="3510279" cy="3202305"/>
          </a:xfrm>
          <a:custGeom>
            <a:avLst/>
            <a:gdLst/>
            <a:ahLst/>
            <a:cxnLst/>
            <a:rect l="l" t="t" r="r" b="b"/>
            <a:pathLst>
              <a:path w="3510279" h="3202304">
                <a:moveTo>
                  <a:pt x="3395472" y="736092"/>
                </a:moveTo>
                <a:lnTo>
                  <a:pt x="3311652" y="687324"/>
                </a:lnTo>
                <a:lnTo>
                  <a:pt x="3310128" y="685800"/>
                </a:lnTo>
                <a:lnTo>
                  <a:pt x="3307080" y="687324"/>
                </a:lnTo>
                <a:lnTo>
                  <a:pt x="3305556" y="688848"/>
                </a:lnTo>
                <a:lnTo>
                  <a:pt x="3304032" y="691896"/>
                </a:lnTo>
                <a:lnTo>
                  <a:pt x="3305556" y="694944"/>
                </a:lnTo>
                <a:lnTo>
                  <a:pt x="3307080" y="696468"/>
                </a:lnTo>
                <a:lnTo>
                  <a:pt x="3367646" y="731583"/>
                </a:lnTo>
                <a:lnTo>
                  <a:pt x="362712" y="743712"/>
                </a:lnTo>
                <a:lnTo>
                  <a:pt x="359664" y="743712"/>
                </a:lnTo>
                <a:lnTo>
                  <a:pt x="345948" y="743712"/>
                </a:lnTo>
                <a:lnTo>
                  <a:pt x="332232" y="742188"/>
                </a:lnTo>
                <a:lnTo>
                  <a:pt x="320040" y="742188"/>
                </a:lnTo>
                <a:lnTo>
                  <a:pt x="309372" y="740664"/>
                </a:lnTo>
                <a:lnTo>
                  <a:pt x="301752" y="739140"/>
                </a:lnTo>
                <a:lnTo>
                  <a:pt x="295656" y="736092"/>
                </a:lnTo>
                <a:lnTo>
                  <a:pt x="294132" y="736092"/>
                </a:lnTo>
                <a:lnTo>
                  <a:pt x="292608" y="735330"/>
                </a:lnTo>
                <a:lnTo>
                  <a:pt x="292608" y="469392"/>
                </a:lnTo>
                <a:lnTo>
                  <a:pt x="291084" y="469392"/>
                </a:lnTo>
                <a:lnTo>
                  <a:pt x="291084" y="467868"/>
                </a:lnTo>
                <a:lnTo>
                  <a:pt x="289560" y="466344"/>
                </a:lnTo>
                <a:lnTo>
                  <a:pt x="280416" y="461772"/>
                </a:lnTo>
                <a:lnTo>
                  <a:pt x="275844" y="460248"/>
                </a:lnTo>
                <a:lnTo>
                  <a:pt x="266700" y="458724"/>
                </a:lnTo>
                <a:lnTo>
                  <a:pt x="256032" y="457200"/>
                </a:lnTo>
                <a:lnTo>
                  <a:pt x="243840" y="457200"/>
                </a:lnTo>
                <a:lnTo>
                  <a:pt x="230124" y="455676"/>
                </a:lnTo>
                <a:lnTo>
                  <a:pt x="216408" y="455676"/>
                </a:lnTo>
                <a:lnTo>
                  <a:pt x="214884" y="466344"/>
                </a:lnTo>
                <a:lnTo>
                  <a:pt x="243840" y="466344"/>
                </a:lnTo>
                <a:lnTo>
                  <a:pt x="256032" y="467868"/>
                </a:lnTo>
                <a:lnTo>
                  <a:pt x="274320" y="470916"/>
                </a:lnTo>
                <a:lnTo>
                  <a:pt x="277368" y="472440"/>
                </a:lnTo>
                <a:lnTo>
                  <a:pt x="280416" y="472440"/>
                </a:lnTo>
                <a:lnTo>
                  <a:pt x="281940" y="473964"/>
                </a:lnTo>
                <a:lnTo>
                  <a:pt x="283464" y="473964"/>
                </a:lnTo>
                <a:lnTo>
                  <a:pt x="283464" y="740664"/>
                </a:lnTo>
                <a:lnTo>
                  <a:pt x="284988" y="740664"/>
                </a:lnTo>
                <a:lnTo>
                  <a:pt x="284988" y="742188"/>
                </a:lnTo>
                <a:lnTo>
                  <a:pt x="286512" y="743712"/>
                </a:lnTo>
                <a:lnTo>
                  <a:pt x="288036" y="743712"/>
                </a:lnTo>
                <a:lnTo>
                  <a:pt x="288036" y="745236"/>
                </a:lnTo>
                <a:lnTo>
                  <a:pt x="291084" y="745236"/>
                </a:lnTo>
                <a:lnTo>
                  <a:pt x="294132" y="746760"/>
                </a:lnTo>
                <a:lnTo>
                  <a:pt x="298704" y="748284"/>
                </a:lnTo>
                <a:lnTo>
                  <a:pt x="301752" y="748792"/>
                </a:lnTo>
                <a:lnTo>
                  <a:pt x="298704" y="749808"/>
                </a:lnTo>
                <a:lnTo>
                  <a:pt x="295656" y="749808"/>
                </a:lnTo>
                <a:lnTo>
                  <a:pt x="291084" y="751332"/>
                </a:lnTo>
                <a:lnTo>
                  <a:pt x="288036" y="752856"/>
                </a:lnTo>
                <a:lnTo>
                  <a:pt x="286512" y="754380"/>
                </a:lnTo>
                <a:lnTo>
                  <a:pt x="284988" y="754380"/>
                </a:lnTo>
                <a:lnTo>
                  <a:pt x="284988" y="755904"/>
                </a:lnTo>
                <a:lnTo>
                  <a:pt x="283464" y="755904"/>
                </a:lnTo>
                <a:lnTo>
                  <a:pt x="283464" y="1022604"/>
                </a:lnTo>
                <a:lnTo>
                  <a:pt x="281940" y="1024128"/>
                </a:lnTo>
                <a:lnTo>
                  <a:pt x="280416" y="1024128"/>
                </a:lnTo>
                <a:lnTo>
                  <a:pt x="274320" y="1027176"/>
                </a:lnTo>
                <a:lnTo>
                  <a:pt x="265176" y="1028700"/>
                </a:lnTo>
                <a:lnTo>
                  <a:pt x="254508" y="1030224"/>
                </a:lnTo>
                <a:lnTo>
                  <a:pt x="243840" y="1030224"/>
                </a:lnTo>
                <a:lnTo>
                  <a:pt x="230124" y="1031748"/>
                </a:lnTo>
                <a:lnTo>
                  <a:pt x="214884" y="1031748"/>
                </a:lnTo>
                <a:lnTo>
                  <a:pt x="216408" y="1040892"/>
                </a:lnTo>
                <a:lnTo>
                  <a:pt x="243840" y="1040892"/>
                </a:lnTo>
                <a:lnTo>
                  <a:pt x="268224" y="1037844"/>
                </a:lnTo>
                <a:lnTo>
                  <a:pt x="277368" y="1036320"/>
                </a:lnTo>
                <a:lnTo>
                  <a:pt x="283464" y="1033272"/>
                </a:lnTo>
                <a:lnTo>
                  <a:pt x="286512" y="1033272"/>
                </a:lnTo>
                <a:lnTo>
                  <a:pt x="286512" y="1031748"/>
                </a:lnTo>
                <a:lnTo>
                  <a:pt x="289560" y="1031748"/>
                </a:lnTo>
                <a:lnTo>
                  <a:pt x="289560" y="1030224"/>
                </a:lnTo>
                <a:lnTo>
                  <a:pt x="291084" y="1028700"/>
                </a:lnTo>
                <a:lnTo>
                  <a:pt x="292608" y="1028700"/>
                </a:lnTo>
                <a:lnTo>
                  <a:pt x="292608" y="762000"/>
                </a:lnTo>
                <a:lnTo>
                  <a:pt x="295656" y="760476"/>
                </a:lnTo>
                <a:lnTo>
                  <a:pt x="297180" y="760476"/>
                </a:lnTo>
                <a:lnTo>
                  <a:pt x="301752" y="758952"/>
                </a:lnTo>
                <a:lnTo>
                  <a:pt x="309372" y="757428"/>
                </a:lnTo>
                <a:lnTo>
                  <a:pt x="320040" y="755904"/>
                </a:lnTo>
                <a:lnTo>
                  <a:pt x="332232" y="754380"/>
                </a:lnTo>
                <a:lnTo>
                  <a:pt x="345948" y="754380"/>
                </a:lnTo>
                <a:lnTo>
                  <a:pt x="359664" y="752856"/>
                </a:lnTo>
                <a:lnTo>
                  <a:pt x="359664" y="754380"/>
                </a:lnTo>
                <a:lnTo>
                  <a:pt x="3367900" y="740740"/>
                </a:lnTo>
                <a:lnTo>
                  <a:pt x="3307080" y="777240"/>
                </a:lnTo>
                <a:lnTo>
                  <a:pt x="3305556" y="777240"/>
                </a:lnTo>
                <a:lnTo>
                  <a:pt x="3304032" y="780288"/>
                </a:lnTo>
                <a:lnTo>
                  <a:pt x="3307080" y="786384"/>
                </a:lnTo>
                <a:lnTo>
                  <a:pt x="3310128" y="786384"/>
                </a:lnTo>
                <a:lnTo>
                  <a:pt x="3313176" y="784860"/>
                </a:lnTo>
                <a:lnTo>
                  <a:pt x="3386328" y="741502"/>
                </a:lnTo>
                <a:lnTo>
                  <a:pt x="3395472" y="736092"/>
                </a:lnTo>
                <a:close/>
              </a:path>
              <a:path w="3510279" h="3202304">
                <a:moveTo>
                  <a:pt x="3445764" y="2319528"/>
                </a:moveTo>
                <a:lnTo>
                  <a:pt x="3360420" y="2272284"/>
                </a:lnTo>
                <a:lnTo>
                  <a:pt x="3358896" y="2270760"/>
                </a:lnTo>
                <a:lnTo>
                  <a:pt x="3355848" y="2272284"/>
                </a:lnTo>
                <a:lnTo>
                  <a:pt x="3354324" y="2273808"/>
                </a:lnTo>
                <a:lnTo>
                  <a:pt x="3352800" y="2276856"/>
                </a:lnTo>
                <a:lnTo>
                  <a:pt x="3354324" y="2279904"/>
                </a:lnTo>
                <a:lnTo>
                  <a:pt x="3355848" y="2281428"/>
                </a:lnTo>
                <a:lnTo>
                  <a:pt x="3416135" y="2315184"/>
                </a:lnTo>
                <a:lnTo>
                  <a:pt x="2441448" y="2327148"/>
                </a:lnTo>
                <a:lnTo>
                  <a:pt x="2397252" y="2327033"/>
                </a:lnTo>
                <a:lnTo>
                  <a:pt x="2377440" y="2325624"/>
                </a:lnTo>
                <a:lnTo>
                  <a:pt x="2377440" y="2336292"/>
                </a:lnTo>
                <a:lnTo>
                  <a:pt x="2357628" y="2334768"/>
                </a:lnTo>
                <a:lnTo>
                  <a:pt x="2359152" y="2334882"/>
                </a:lnTo>
                <a:lnTo>
                  <a:pt x="2377440" y="2336292"/>
                </a:lnTo>
                <a:lnTo>
                  <a:pt x="2377440" y="2325624"/>
                </a:lnTo>
                <a:lnTo>
                  <a:pt x="2357628" y="2325497"/>
                </a:lnTo>
                <a:lnTo>
                  <a:pt x="2339340" y="2324100"/>
                </a:lnTo>
                <a:lnTo>
                  <a:pt x="2322576" y="2322576"/>
                </a:lnTo>
                <a:lnTo>
                  <a:pt x="2305812" y="2319528"/>
                </a:lnTo>
                <a:lnTo>
                  <a:pt x="2292096" y="2318004"/>
                </a:lnTo>
                <a:lnTo>
                  <a:pt x="2278380" y="2314956"/>
                </a:lnTo>
                <a:lnTo>
                  <a:pt x="2266188" y="2311908"/>
                </a:lnTo>
                <a:lnTo>
                  <a:pt x="2255520" y="2308860"/>
                </a:lnTo>
                <a:lnTo>
                  <a:pt x="2246376" y="2307336"/>
                </a:lnTo>
                <a:lnTo>
                  <a:pt x="2240280" y="2302764"/>
                </a:lnTo>
                <a:lnTo>
                  <a:pt x="2240280" y="2304288"/>
                </a:lnTo>
                <a:lnTo>
                  <a:pt x="2235708" y="2299716"/>
                </a:lnTo>
                <a:lnTo>
                  <a:pt x="2235708" y="2301240"/>
                </a:lnTo>
                <a:lnTo>
                  <a:pt x="2234184" y="2299716"/>
                </a:lnTo>
                <a:lnTo>
                  <a:pt x="2232660" y="2295144"/>
                </a:lnTo>
                <a:lnTo>
                  <a:pt x="2232660" y="1499616"/>
                </a:lnTo>
                <a:lnTo>
                  <a:pt x="2231136" y="1498092"/>
                </a:lnTo>
                <a:lnTo>
                  <a:pt x="2231136" y="1496568"/>
                </a:lnTo>
                <a:lnTo>
                  <a:pt x="2228088" y="1493520"/>
                </a:lnTo>
                <a:lnTo>
                  <a:pt x="2226564" y="1493520"/>
                </a:lnTo>
                <a:lnTo>
                  <a:pt x="2220468" y="1488948"/>
                </a:lnTo>
                <a:lnTo>
                  <a:pt x="2180844" y="1476756"/>
                </a:lnTo>
                <a:lnTo>
                  <a:pt x="2151888" y="1472184"/>
                </a:lnTo>
                <a:lnTo>
                  <a:pt x="2135124" y="1469136"/>
                </a:lnTo>
                <a:lnTo>
                  <a:pt x="2098548" y="1466088"/>
                </a:lnTo>
                <a:lnTo>
                  <a:pt x="2078736" y="1466088"/>
                </a:lnTo>
                <a:lnTo>
                  <a:pt x="2058924" y="1464564"/>
                </a:lnTo>
                <a:lnTo>
                  <a:pt x="2037588" y="1464564"/>
                </a:lnTo>
                <a:lnTo>
                  <a:pt x="2016252" y="1463040"/>
                </a:lnTo>
                <a:lnTo>
                  <a:pt x="2016252" y="1473708"/>
                </a:lnTo>
                <a:lnTo>
                  <a:pt x="2058924" y="1473708"/>
                </a:lnTo>
                <a:lnTo>
                  <a:pt x="2098548" y="1476756"/>
                </a:lnTo>
                <a:lnTo>
                  <a:pt x="2116836" y="1478280"/>
                </a:lnTo>
                <a:lnTo>
                  <a:pt x="2150364" y="1481328"/>
                </a:lnTo>
                <a:lnTo>
                  <a:pt x="2165604" y="1484376"/>
                </a:lnTo>
                <a:lnTo>
                  <a:pt x="2179320" y="1485900"/>
                </a:lnTo>
                <a:lnTo>
                  <a:pt x="2191512" y="1488948"/>
                </a:lnTo>
                <a:lnTo>
                  <a:pt x="2209800" y="1495044"/>
                </a:lnTo>
                <a:lnTo>
                  <a:pt x="2217420" y="1498092"/>
                </a:lnTo>
                <a:lnTo>
                  <a:pt x="2220468" y="1500124"/>
                </a:lnTo>
                <a:lnTo>
                  <a:pt x="2221077" y="1500530"/>
                </a:lnTo>
                <a:lnTo>
                  <a:pt x="2221992" y="1501902"/>
                </a:lnTo>
                <a:lnTo>
                  <a:pt x="2223516" y="1504188"/>
                </a:lnTo>
                <a:lnTo>
                  <a:pt x="2221992" y="1502664"/>
                </a:lnTo>
                <a:lnTo>
                  <a:pt x="2223516" y="1505712"/>
                </a:lnTo>
                <a:lnTo>
                  <a:pt x="2223516" y="2298192"/>
                </a:lnTo>
                <a:lnTo>
                  <a:pt x="2225040" y="2302764"/>
                </a:lnTo>
                <a:lnTo>
                  <a:pt x="2225040" y="2304288"/>
                </a:lnTo>
                <a:lnTo>
                  <a:pt x="2229612" y="2307336"/>
                </a:lnTo>
                <a:lnTo>
                  <a:pt x="2229612" y="2308860"/>
                </a:lnTo>
                <a:lnTo>
                  <a:pt x="2235708" y="2311908"/>
                </a:lnTo>
                <a:lnTo>
                  <a:pt x="2243328" y="2316480"/>
                </a:lnTo>
                <a:lnTo>
                  <a:pt x="2252472" y="2319528"/>
                </a:lnTo>
                <a:lnTo>
                  <a:pt x="2263140" y="2322576"/>
                </a:lnTo>
                <a:lnTo>
                  <a:pt x="2275332" y="2324100"/>
                </a:lnTo>
                <a:lnTo>
                  <a:pt x="2289048" y="2327148"/>
                </a:lnTo>
                <a:lnTo>
                  <a:pt x="2304288" y="2330196"/>
                </a:lnTo>
                <a:lnTo>
                  <a:pt x="2322576" y="2331847"/>
                </a:lnTo>
                <a:lnTo>
                  <a:pt x="2330196" y="2332482"/>
                </a:lnTo>
                <a:lnTo>
                  <a:pt x="2321052" y="2333244"/>
                </a:lnTo>
                <a:lnTo>
                  <a:pt x="2305812" y="2336292"/>
                </a:lnTo>
                <a:lnTo>
                  <a:pt x="2289048" y="2337816"/>
                </a:lnTo>
                <a:lnTo>
                  <a:pt x="2275332" y="2340864"/>
                </a:lnTo>
                <a:lnTo>
                  <a:pt x="2235708" y="2353056"/>
                </a:lnTo>
                <a:lnTo>
                  <a:pt x="2229612" y="2357628"/>
                </a:lnTo>
                <a:lnTo>
                  <a:pt x="2225040" y="2360676"/>
                </a:lnTo>
                <a:lnTo>
                  <a:pt x="2225040" y="2363724"/>
                </a:lnTo>
                <a:lnTo>
                  <a:pt x="2223516" y="2366772"/>
                </a:lnTo>
                <a:lnTo>
                  <a:pt x="2223516" y="3159252"/>
                </a:lnTo>
                <a:lnTo>
                  <a:pt x="2221992" y="3163824"/>
                </a:lnTo>
                <a:lnTo>
                  <a:pt x="2215896" y="3168396"/>
                </a:lnTo>
                <a:lnTo>
                  <a:pt x="2217420" y="3166872"/>
                </a:lnTo>
                <a:lnTo>
                  <a:pt x="2209800" y="3171444"/>
                </a:lnTo>
                <a:lnTo>
                  <a:pt x="2200656" y="3172968"/>
                </a:lnTo>
                <a:lnTo>
                  <a:pt x="2179320" y="3179064"/>
                </a:lnTo>
                <a:lnTo>
                  <a:pt x="2165604" y="3182112"/>
                </a:lnTo>
                <a:lnTo>
                  <a:pt x="2150364" y="3183636"/>
                </a:lnTo>
                <a:lnTo>
                  <a:pt x="2133600" y="3186684"/>
                </a:lnTo>
                <a:lnTo>
                  <a:pt x="2116836" y="3188208"/>
                </a:lnTo>
                <a:lnTo>
                  <a:pt x="2098548" y="3189732"/>
                </a:lnTo>
                <a:lnTo>
                  <a:pt x="2078736" y="3189732"/>
                </a:lnTo>
                <a:lnTo>
                  <a:pt x="2058924" y="3191256"/>
                </a:lnTo>
                <a:lnTo>
                  <a:pt x="2016252" y="3191256"/>
                </a:lnTo>
                <a:lnTo>
                  <a:pt x="2016252" y="3201924"/>
                </a:lnTo>
                <a:lnTo>
                  <a:pt x="2037588" y="3201924"/>
                </a:lnTo>
                <a:lnTo>
                  <a:pt x="2058924" y="3200400"/>
                </a:lnTo>
                <a:lnTo>
                  <a:pt x="2078736" y="3200400"/>
                </a:lnTo>
                <a:lnTo>
                  <a:pt x="2118360" y="3197352"/>
                </a:lnTo>
                <a:lnTo>
                  <a:pt x="2151888" y="3194304"/>
                </a:lnTo>
                <a:lnTo>
                  <a:pt x="2167128" y="3191256"/>
                </a:lnTo>
                <a:lnTo>
                  <a:pt x="2180844" y="3188208"/>
                </a:lnTo>
                <a:lnTo>
                  <a:pt x="2193036" y="3186684"/>
                </a:lnTo>
                <a:lnTo>
                  <a:pt x="2214372" y="3180588"/>
                </a:lnTo>
                <a:lnTo>
                  <a:pt x="2215896" y="3179445"/>
                </a:lnTo>
                <a:lnTo>
                  <a:pt x="2220468" y="3176016"/>
                </a:lnTo>
                <a:lnTo>
                  <a:pt x="2221992" y="3176016"/>
                </a:lnTo>
                <a:lnTo>
                  <a:pt x="2226564" y="3172968"/>
                </a:lnTo>
                <a:lnTo>
                  <a:pt x="2228088" y="3172968"/>
                </a:lnTo>
                <a:lnTo>
                  <a:pt x="2228088" y="3171444"/>
                </a:lnTo>
                <a:lnTo>
                  <a:pt x="2231136" y="3168396"/>
                </a:lnTo>
                <a:lnTo>
                  <a:pt x="2231136" y="3166872"/>
                </a:lnTo>
                <a:lnTo>
                  <a:pt x="2232660" y="3166872"/>
                </a:lnTo>
                <a:lnTo>
                  <a:pt x="2232660" y="2369820"/>
                </a:lnTo>
                <a:lnTo>
                  <a:pt x="2234184" y="2366772"/>
                </a:lnTo>
                <a:lnTo>
                  <a:pt x="2232660" y="2368296"/>
                </a:lnTo>
                <a:lnTo>
                  <a:pt x="2235708" y="2363724"/>
                </a:lnTo>
                <a:lnTo>
                  <a:pt x="2235708" y="2365248"/>
                </a:lnTo>
                <a:lnTo>
                  <a:pt x="2240280" y="2362200"/>
                </a:lnTo>
                <a:lnTo>
                  <a:pt x="2278380" y="2350008"/>
                </a:lnTo>
                <a:lnTo>
                  <a:pt x="2290572" y="2348484"/>
                </a:lnTo>
                <a:lnTo>
                  <a:pt x="2305812" y="2345436"/>
                </a:lnTo>
                <a:lnTo>
                  <a:pt x="2339340" y="2342388"/>
                </a:lnTo>
                <a:lnTo>
                  <a:pt x="2359152" y="2340864"/>
                </a:lnTo>
                <a:lnTo>
                  <a:pt x="2377440" y="2339340"/>
                </a:lnTo>
                <a:lnTo>
                  <a:pt x="2397252" y="2337917"/>
                </a:lnTo>
                <a:lnTo>
                  <a:pt x="2418588" y="2337816"/>
                </a:lnTo>
                <a:lnTo>
                  <a:pt x="2441448" y="2337816"/>
                </a:lnTo>
                <a:lnTo>
                  <a:pt x="2442972" y="2337816"/>
                </a:lnTo>
                <a:lnTo>
                  <a:pt x="3416744" y="2325840"/>
                </a:lnTo>
                <a:lnTo>
                  <a:pt x="3432048" y="2325649"/>
                </a:lnTo>
                <a:lnTo>
                  <a:pt x="3435096" y="2325624"/>
                </a:lnTo>
                <a:lnTo>
                  <a:pt x="3416744" y="2325840"/>
                </a:lnTo>
                <a:lnTo>
                  <a:pt x="3357372" y="2362200"/>
                </a:lnTo>
                <a:lnTo>
                  <a:pt x="3354324" y="2362200"/>
                </a:lnTo>
                <a:lnTo>
                  <a:pt x="3354324" y="2365248"/>
                </a:lnTo>
                <a:lnTo>
                  <a:pt x="3357372" y="2371344"/>
                </a:lnTo>
                <a:lnTo>
                  <a:pt x="3360420" y="2371344"/>
                </a:lnTo>
                <a:lnTo>
                  <a:pt x="3361944" y="2369820"/>
                </a:lnTo>
                <a:lnTo>
                  <a:pt x="3435096" y="2325928"/>
                </a:lnTo>
                <a:lnTo>
                  <a:pt x="3445764" y="2319528"/>
                </a:lnTo>
                <a:close/>
              </a:path>
              <a:path w="3510279" h="3202304">
                <a:moveTo>
                  <a:pt x="3509772" y="44196"/>
                </a:moveTo>
                <a:lnTo>
                  <a:pt x="29972" y="44196"/>
                </a:lnTo>
                <a:lnTo>
                  <a:pt x="88392" y="9144"/>
                </a:lnTo>
                <a:lnTo>
                  <a:pt x="89916" y="7620"/>
                </a:lnTo>
                <a:lnTo>
                  <a:pt x="91440" y="4572"/>
                </a:lnTo>
                <a:lnTo>
                  <a:pt x="89916" y="3048"/>
                </a:lnTo>
                <a:lnTo>
                  <a:pt x="88392" y="0"/>
                </a:lnTo>
                <a:lnTo>
                  <a:pt x="85344" y="0"/>
                </a:lnTo>
                <a:lnTo>
                  <a:pt x="83820" y="1524"/>
                </a:lnTo>
                <a:lnTo>
                  <a:pt x="10477" y="44196"/>
                </a:lnTo>
                <a:lnTo>
                  <a:pt x="9144" y="44196"/>
                </a:lnTo>
                <a:lnTo>
                  <a:pt x="9144" y="44970"/>
                </a:lnTo>
                <a:lnTo>
                  <a:pt x="0" y="50292"/>
                </a:lnTo>
                <a:lnTo>
                  <a:pt x="9144" y="55600"/>
                </a:lnTo>
                <a:lnTo>
                  <a:pt x="83820" y="99060"/>
                </a:lnTo>
                <a:lnTo>
                  <a:pt x="85344" y="100584"/>
                </a:lnTo>
                <a:lnTo>
                  <a:pt x="88392" y="99060"/>
                </a:lnTo>
                <a:lnTo>
                  <a:pt x="89916" y="97536"/>
                </a:lnTo>
                <a:lnTo>
                  <a:pt x="91440" y="94488"/>
                </a:lnTo>
                <a:lnTo>
                  <a:pt x="89916" y="91440"/>
                </a:lnTo>
                <a:lnTo>
                  <a:pt x="88392" y="89916"/>
                </a:lnTo>
                <a:lnTo>
                  <a:pt x="27952" y="54864"/>
                </a:lnTo>
                <a:lnTo>
                  <a:pt x="3509772" y="54864"/>
                </a:lnTo>
                <a:lnTo>
                  <a:pt x="3509772" y="44196"/>
                </a:lnTo>
                <a:close/>
              </a:path>
            </a:pathLst>
          </a:custGeom>
          <a:solidFill>
            <a:srgbClr val="93B5D2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99624" y="1649583"/>
            <a:ext cx="81280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80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74472" rIns="0" bIns="0" rtlCol="0">
            <a:spAutoFit/>
          </a:bodyPr>
          <a:lstStyle/>
          <a:p>
            <a:pPr marL="280670">
              <a:lnSpc>
                <a:spcPct val="100000"/>
              </a:lnSpc>
              <a:spcBef>
                <a:spcPts val="100"/>
              </a:spcBef>
            </a:pPr>
            <a:r>
              <a:rPr spc="-204" dirty="0"/>
              <a:t>Définition</a:t>
            </a:r>
            <a:r>
              <a:rPr b="0" spc="45" dirty="0">
                <a:latin typeface="Times New Roman"/>
                <a:cs typeface="Times New Roman"/>
              </a:rPr>
              <a:t> </a:t>
            </a:r>
            <a:r>
              <a:rPr spc="-260" dirty="0"/>
              <a:t>d’une</a:t>
            </a:r>
            <a:r>
              <a:rPr b="0" spc="45" dirty="0">
                <a:latin typeface="Times New Roman"/>
                <a:cs typeface="Times New Roman"/>
              </a:rPr>
              <a:t> </a:t>
            </a:r>
            <a:r>
              <a:rPr spc="-345" dirty="0"/>
              <a:t>classe</a:t>
            </a:r>
          </a:p>
        </p:txBody>
      </p:sp>
      <p:sp>
        <p:nvSpPr>
          <p:cNvPr id="5" name="object 5"/>
          <p:cNvSpPr/>
          <p:nvPr/>
        </p:nvSpPr>
        <p:spPr>
          <a:xfrm>
            <a:off x="1092589" y="2549652"/>
            <a:ext cx="4836160" cy="4474845"/>
          </a:xfrm>
          <a:custGeom>
            <a:avLst/>
            <a:gdLst/>
            <a:ahLst/>
            <a:cxnLst/>
            <a:rect l="l" t="t" r="r" b="b"/>
            <a:pathLst>
              <a:path w="4836160" h="4474845">
                <a:moveTo>
                  <a:pt x="4835649" y="4471416"/>
                </a:moveTo>
                <a:lnTo>
                  <a:pt x="4835649" y="1524"/>
                </a:lnTo>
                <a:lnTo>
                  <a:pt x="4832601" y="0"/>
                </a:lnTo>
                <a:lnTo>
                  <a:pt x="3048" y="0"/>
                </a:lnTo>
                <a:lnTo>
                  <a:pt x="0" y="1524"/>
                </a:lnTo>
                <a:lnTo>
                  <a:pt x="0" y="4471416"/>
                </a:lnTo>
                <a:lnTo>
                  <a:pt x="3048" y="4474464"/>
                </a:lnTo>
                <a:lnTo>
                  <a:pt x="6096" y="4474464"/>
                </a:lnTo>
                <a:lnTo>
                  <a:pt x="6096" y="10668"/>
                </a:lnTo>
                <a:lnTo>
                  <a:pt x="10668" y="4572"/>
                </a:lnTo>
                <a:lnTo>
                  <a:pt x="10668" y="10668"/>
                </a:lnTo>
                <a:lnTo>
                  <a:pt x="4824981" y="10668"/>
                </a:lnTo>
                <a:lnTo>
                  <a:pt x="4824981" y="4572"/>
                </a:lnTo>
                <a:lnTo>
                  <a:pt x="4829553" y="10668"/>
                </a:lnTo>
                <a:lnTo>
                  <a:pt x="4829553" y="4474464"/>
                </a:lnTo>
                <a:lnTo>
                  <a:pt x="4832601" y="4474464"/>
                </a:lnTo>
                <a:lnTo>
                  <a:pt x="4835649" y="4471416"/>
                </a:lnTo>
                <a:close/>
              </a:path>
              <a:path w="4836160" h="4474845">
                <a:moveTo>
                  <a:pt x="10668" y="10668"/>
                </a:moveTo>
                <a:lnTo>
                  <a:pt x="10668" y="4572"/>
                </a:lnTo>
                <a:lnTo>
                  <a:pt x="6096" y="10668"/>
                </a:lnTo>
                <a:lnTo>
                  <a:pt x="10668" y="10668"/>
                </a:lnTo>
                <a:close/>
              </a:path>
              <a:path w="4836160" h="4474845">
                <a:moveTo>
                  <a:pt x="10668" y="4463796"/>
                </a:moveTo>
                <a:lnTo>
                  <a:pt x="10668" y="10668"/>
                </a:lnTo>
                <a:lnTo>
                  <a:pt x="6096" y="10668"/>
                </a:lnTo>
                <a:lnTo>
                  <a:pt x="6096" y="4463796"/>
                </a:lnTo>
                <a:lnTo>
                  <a:pt x="10668" y="4463796"/>
                </a:lnTo>
                <a:close/>
              </a:path>
              <a:path w="4836160" h="4474845">
                <a:moveTo>
                  <a:pt x="4829553" y="4463796"/>
                </a:moveTo>
                <a:lnTo>
                  <a:pt x="6096" y="4463796"/>
                </a:lnTo>
                <a:lnTo>
                  <a:pt x="10668" y="4469892"/>
                </a:lnTo>
                <a:lnTo>
                  <a:pt x="10668" y="4474464"/>
                </a:lnTo>
                <a:lnTo>
                  <a:pt x="4824981" y="4474464"/>
                </a:lnTo>
                <a:lnTo>
                  <a:pt x="4824981" y="4469892"/>
                </a:lnTo>
                <a:lnTo>
                  <a:pt x="4829553" y="4463796"/>
                </a:lnTo>
                <a:close/>
              </a:path>
              <a:path w="4836160" h="4474845">
                <a:moveTo>
                  <a:pt x="10668" y="4474464"/>
                </a:moveTo>
                <a:lnTo>
                  <a:pt x="10668" y="4469892"/>
                </a:lnTo>
                <a:lnTo>
                  <a:pt x="6096" y="4463796"/>
                </a:lnTo>
                <a:lnTo>
                  <a:pt x="6096" y="4474464"/>
                </a:lnTo>
                <a:lnTo>
                  <a:pt x="10668" y="4474464"/>
                </a:lnTo>
                <a:close/>
              </a:path>
              <a:path w="4836160" h="4474845">
                <a:moveTo>
                  <a:pt x="4829553" y="10668"/>
                </a:moveTo>
                <a:lnTo>
                  <a:pt x="4824981" y="4572"/>
                </a:lnTo>
                <a:lnTo>
                  <a:pt x="4824981" y="10668"/>
                </a:lnTo>
                <a:lnTo>
                  <a:pt x="4829553" y="10668"/>
                </a:lnTo>
                <a:close/>
              </a:path>
              <a:path w="4836160" h="4474845">
                <a:moveTo>
                  <a:pt x="4829553" y="4463796"/>
                </a:moveTo>
                <a:lnTo>
                  <a:pt x="4829553" y="10668"/>
                </a:lnTo>
                <a:lnTo>
                  <a:pt x="4824981" y="10668"/>
                </a:lnTo>
                <a:lnTo>
                  <a:pt x="4824981" y="4463796"/>
                </a:lnTo>
                <a:lnTo>
                  <a:pt x="4829553" y="4463796"/>
                </a:lnTo>
                <a:close/>
              </a:path>
              <a:path w="4836160" h="4474845">
                <a:moveTo>
                  <a:pt x="4829553" y="4474464"/>
                </a:moveTo>
                <a:lnTo>
                  <a:pt x="4829553" y="4463796"/>
                </a:lnTo>
                <a:lnTo>
                  <a:pt x="4824981" y="4469892"/>
                </a:lnTo>
                <a:lnTo>
                  <a:pt x="4824981" y="4474464"/>
                </a:lnTo>
                <a:lnTo>
                  <a:pt x="4829553" y="4474464"/>
                </a:lnTo>
                <a:close/>
              </a:path>
            </a:pathLst>
          </a:custGeom>
          <a:solidFill>
            <a:srgbClr val="93B5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32644" y="1962403"/>
            <a:ext cx="1663064" cy="14598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245" dirty="0">
                <a:solidFill>
                  <a:srgbClr val="FF0000"/>
                </a:solidFill>
                <a:latin typeface="Arial"/>
                <a:cs typeface="Arial"/>
              </a:rPr>
              <a:t>Exemple</a:t>
            </a:r>
            <a:r>
              <a:rPr sz="2800" spc="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spc="-75" dirty="0">
                <a:solidFill>
                  <a:srgbClr val="FF0000"/>
                </a:solidFill>
                <a:latin typeface="Arial"/>
                <a:cs typeface="Arial"/>
              </a:rPr>
              <a:t>2:</a:t>
            </a:r>
            <a:endParaRPr sz="2800">
              <a:latin typeface="Arial"/>
              <a:cs typeface="Arial"/>
            </a:endParaRPr>
          </a:p>
          <a:p>
            <a:pPr marL="155575">
              <a:lnSpc>
                <a:spcPct val="100000"/>
              </a:lnSpc>
              <a:spcBef>
                <a:spcPts val="1455"/>
              </a:spcBef>
            </a:pPr>
            <a:r>
              <a:rPr sz="1800" spc="-50" dirty="0">
                <a:solidFill>
                  <a:srgbClr val="FF0000"/>
                </a:solidFill>
                <a:latin typeface="Arial MT"/>
                <a:cs typeface="Arial MT"/>
              </a:rPr>
              <a:t>…</a:t>
            </a:r>
            <a:endParaRPr sz="1800">
              <a:latin typeface="Arial MT"/>
              <a:cs typeface="Arial MT"/>
            </a:endParaRPr>
          </a:p>
          <a:p>
            <a:pPr marL="155575">
              <a:lnSpc>
                <a:spcPct val="100000"/>
              </a:lnSpc>
            </a:pP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class</a:t>
            </a:r>
            <a:r>
              <a:rPr sz="18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00B0F0"/>
                </a:solidFill>
                <a:latin typeface="Arial MT"/>
                <a:cs typeface="Arial MT"/>
              </a:rPr>
              <a:t>Point</a:t>
            </a:r>
            <a:endParaRPr sz="1800">
              <a:latin typeface="Arial MT"/>
              <a:cs typeface="Arial MT"/>
            </a:endParaRPr>
          </a:p>
          <a:p>
            <a:pPr marL="155575">
              <a:lnSpc>
                <a:spcPct val="100000"/>
              </a:lnSpc>
            </a:pPr>
            <a:r>
              <a:rPr sz="1800" spc="-50" dirty="0">
                <a:solidFill>
                  <a:srgbClr val="FF0000"/>
                </a:solidFill>
                <a:latin typeface="Arial MT"/>
                <a:cs typeface="Arial MT"/>
              </a:rPr>
              <a:t>{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02397" y="3670806"/>
            <a:ext cx="9518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double</a:t>
            </a:r>
            <a:r>
              <a:rPr sz="18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x</a:t>
            </a:r>
            <a:r>
              <a:rPr sz="1800" spc="-25" dirty="0">
                <a:solidFill>
                  <a:srgbClr val="FF0000"/>
                </a:solidFill>
                <a:latin typeface="Arial MT"/>
                <a:cs typeface="Arial MT"/>
              </a:rPr>
              <a:t>; </a:t>
            </a: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double</a:t>
            </a:r>
            <a:r>
              <a:rPr sz="18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y</a:t>
            </a:r>
            <a:r>
              <a:rPr sz="1800" spc="-25" dirty="0">
                <a:solidFill>
                  <a:srgbClr val="FF0000"/>
                </a:solidFill>
                <a:latin typeface="Arial MT"/>
                <a:cs typeface="Arial MT"/>
              </a:rPr>
              <a:t>;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75900" y="4768086"/>
            <a:ext cx="3883025" cy="221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9565" marR="5080" indent="-3175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void</a:t>
            </a:r>
            <a:r>
              <a:rPr sz="18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translater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(</a:t>
            </a: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double</a:t>
            </a:r>
            <a:r>
              <a:rPr sz="18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dx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,</a:t>
            </a:r>
            <a:r>
              <a:rPr sz="1800" spc="-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double</a:t>
            </a:r>
            <a:r>
              <a:rPr sz="18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dy</a:t>
            </a:r>
            <a:r>
              <a:rPr sz="1800" spc="-20" dirty="0">
                <a:solidFill>
                  <a:srgbClr val="FF0000"/>
                </a:solidFill>
                <a:latin typeface="Arial MT"/>
                <a:cs typeface="Arial MT"/>
              </a:rPr>
              <a:t>){ </a:t>
            </a:r>
            <a:r>
              <a:rPr sz="1800" dirty="0">
                <a:latin typeface="Arial MT"/>
                <a:cs typeface="Arial MT"/>
              </a:rPr>
              <a:t>x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+=</a:t>
            </a:r>
            <a:r>
              <a:rPr sz="1800" spc="-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dx</a:t>
            </a:r>
            <a:r>
              <a:rPr sz="1800" spc="-25" dirty="0">
                <a:solidFill>
                  <a:srgbClr val="FF0000"/>
                </a:solidFill>
                <a:latin typeface="Arial MT"/>
                <a:cs typeface="Arial MT"/>
              </a:rPr>
              <a:t>;</a:t>
            </a:r>
            <a:endParaRPr sz="1800">
              <a:latin typeface="Arial MT"/>
              <a:cs typeface="Arial MT"/>
            </a:endParaRPr>
          </a:p>
          <a:p>
            <a:pPr marL="329565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y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+=</a:t>
            </a:r>
            <a:r>
              <a:rPr sz="1800" spc="-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dy</a:t>
            </a:r>
            <a:r>
              <a:rPr sz="1800" spc="-25" dirty="0">
                <a:solidFill>
                  <a:srgbClr val="FF0000"/>
                </a:solidFill>
                <a:latin typeface="Arial MT"/>
                <a:cs typeface="Arial MT"/>
              </a:rPr>
              <a:t>;</a:t>
            </a:r>
            <a:endParaRPr sz="1800">
              <a:latin typeface="Arial MT"/>
              <a:cs typeface="Arial MT"/>
            </a:endParaRPr>
          </a:p>
          <a:p>
            <a:pPr marL="139065">
              <a:lnSpc>
                <a:spcPct val="100000"/>
              </a:lnSpc>
            </a:pPr>
            <a:r>
              <a:rPr sz="1800" spc="-50" dirty="0">
                <a:solidFill>
                  <a:srgbClr val="FF0000"/>
                </a:solidFill>
                <a:latin typeface="Arial MT"/>
                <a:cs typeface="Arial MT"/>
              </a:rPr>
              <a:t>}</a:t>
            </a:r>
            <a:endParaRPr sz="1800">
              <a:latin typeface="Arial MT"/>
              <a:cs typeface="Arial MT"/>
            </a:endParaRPr>
          </a:p>
          <a:p>
            <a:pPr marL="329565" marR="1526540" indent="-317500">
              <a:lnSpc>
                <a:spcPct val="100000"/>
              </a:lnSpc>
            </a:pP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double</a:t>
            </a:r>
            <a:r>
              <a:rPr sz="18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distance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()</a:t>
            </a:r>
            <a:r>
              <a:rPr sz="1800" spc="-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Arial MT"/>
                <a:cs typeface="Arial MT"/>
              </a:rPr>
              <a:t>{ </a:t>
            </a: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return</a:t>
            </a:r>
            <a:r>
              <a:rPr sz="18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01F5F"/>
                </a:solidFill>
                <a:latin typeface="Arial MT"/>
                <a:cs typeface="Arial MT"/>
              </a:rPr>
              <a:t>sqrt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(</a:t>
            </a: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*</a:t>
            </a: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+</a:t>
            </a:r>
            <a:r>
              <a:rPr sz="1800" spc="-10" dirty="0">
                <a:latin typeface="Arial MT"/>
                <a:cs typeface="Arial MT"/>
              </a:rPr>
              <a:t>y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*</a:t>
            </a:r>
            <a:r>
              <a:rPr sz="1800" spc="-10" dirty="0">
                <a:latin typeface="Arial MT"/>
                <a:cs typeface="Arial MT"/>
              </a:rPr>
              <a:t>y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);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solidFill>
                  <a:srgbClr val="FF0000"/>
                </a:solidFill>
                <a:latin typeface="Arial MT"/>
                <a:cs typeface="Arial MT"/>
              </a:rPr>
              <a:t>}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25" dirty="0">
                <a:solidFill>
                  <a:srgbClr val="FF0000"/>
                </a:solidFill>
                <a:latin typeface="Arial MT"/>
                <a:cs typeface="Arial MT"/>
              </a:rPr>
              <a:t>};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217797" y="3892296"/>
            <a:ext cx="3477895" cy="467995"/>
            <a:chOff x="6217797" y="3892296"/>
            <a:chExt cx="3477895" cy="467995"/>
          </a:xfrm>
        </p:grpSpPr>
        <p:sp>
          <p:nvSpPr>
            <p:cNvPr id="10" name="object 10"/>
            <p:cNvSpPr/>
            <p:nvPr/>
          </p:nvSpPr>
          <p:spPr>
            <a:xfrm>
              <a:off x="6217797" y="3892296"/>
              <a:ext cx="3477895" cy="467995"/>
            </a:xfrm>
            <a:custGeom>
              <a:avLst/>
              <a:gdLst/>
              <a:ahLst/>
              <a:cxnLst/>
              <a:rect l="l" t="t" r="r" b="b"/>
              <a:pathLst>
                <a:path w="3477895" h="467995">
                  <a:moveTo>
                    <a:pt x="3419855" y="4571"/>
                  </a:moveTo>
                  <a:lnTo>
                    <a:pt x="3412235" y="1523"/>
                  </a:lnTo>
                  <a:lnTo>
                    <a:pt x="3404615" y="0"/>
                  </a:lnTo>
                  <a:lnTo>
                    <a:pt x="73151" y="0"/>
                  </a:lnTo>
                  <a:lnTo>
                    <a:pt x="65531" y="1523"/>
                  </a:lnTo>
                  <a:lnTo>
                    <a:pt x="56387" y="4571"/>
                  </a:lnTo>
                  <a:lnTo>
                    <a:pt x="50291" y="6095"/>
                  </a:lnTo>
                  <a:lnTo>
                    <a:pt x="42671" y="10667"/>
                  </a:lnTo>
                  <a:lnTo>
                    <a:pt x="36575" y="13715"/>
                  </a:lnTo>
                  <a:lnTo>
                    <a:pt x="35051" y="15239"/>
                  </a:lnTo>
                  <a:lnTo>
                    <a:pt x="24383" y="24383"/>
                  </a:lnTo>
                  <a:lnTo>
                    <a:pt x="15239" y="35051"/>
                  </a:lnTo>
                  <a:lnTo>
                    <a:pt x="13715" y="36575"/>
                  </a:lnTo>
                  <a:lnTo>
                    <a:pt x="10667" y="42671"/>
                  </a:lnTo>
                  <a:lnTo>
                    <a:pt x="6095" y="50291"/>
                  </a:lnTo>
                  <a:lnTo>
                    <a:pt x="4571" y="57911"/>
                  </a:lnTo>
                  <a:lnTo>
                    <a:pt x="1523" y="65531"/>
                  </a:lnTo>
                  <a:lnTo>
                    <a:pt x="0" y="73151"/>
                  </a:lnTo>
                  <a:lnTo>
                    <a:pt x="0" y="394715"/>
                  </a:lnTo>
                  <a:lnTo>
                    <a:pt x="1523" y="402335"/>
                  </a:lnTo>
                  <a:lnTo>
                    <a:pt x="4571" y="409955"/>
                  </a:lnTo>
                  <a:lnTo>
                    <a:pt x="4571" y="80771"/>
                  </a:lnTo>
                  <a:lnTo>
                    <a:pt x="6095" y="65531"/>
                  </a:lnTo>
                  <a:lnTo>
                    <a:pt x="10667" y="51815"/>
                  </a:lnTo>
                  <a:lnTo>
                    <a:pt x="16763" y="39623"/>
                  </a:lnTo>
                  <a:lnTo>
                    <a:pt x="21335" y="35051"/>
                  </a:lnTo>
                  <a:lnTo>
                    <a:pt x="22859" y="32003"/>
                  </a:lnTo>
                  <a:lnTo>
                    <a:pt x="32003" y="22859"/>
                  </a:lnTo>
                  <a:lnTo>
                    <a:pt x="35051" y="21335"/>
                  </a:lnTo>
                  <a:lnTo>
                    <a:pt x="39623" y="16763"/>
                  </a:lnTo>
                  <a:lnTo>
                    <a:pt x="51815" y="10667"/>
                  </a:lnTo>
                  <a:lnTo>
                    <a:pt x="65531" y="6095"/>
                  </a:lnTo>
                  <a:lnTo>
                    <a:pt x="80771" y="4571"/>
                  </a:lnTo>
                  <a:lnTo>
                    <a:pt x="3419855" y="4571"/>
                  </a:lnTo>
                  <a:close/>
                </a:path>
                <a:path w="3477895" h="467995">
                  <a:moveTo>
                    <a:pt x="3424427" y="461771"/>
                  </a:moveTo>
                  <a:lnTo>
                    <a:pt x="65531" y="460247"/>
                  </a:lnTo>
                  <a:lnTo>
                    <a:pt x="51815" y="455675"/>
                  </a:lnTo>
                  <a:lnTo>
                    <a:pt x="39623" y="449579"/>
                  </a:lnTo>
                  <a:lnTo>
                    <a:pt x="35051" y="445007"/>
                  </a:lnTo>
                  <a:lnTo>
                    <a:pt x="32003" y="443483"/>
                  </a:lnTo>
                  <a:lnTo>
                    <a:pt x="24383" y="435863"/>
                  </a:lnTo>
                  <a:lnTo>
                    <a:pt x="22859" y="435863"/>
                  </a:lnTo>
                  <a:lnTo>
                    <a:pt x="22859" y="432815"/>
                  </a:lnTo>
                  <a:lnTo>
                    <a:pt x="18287" y="428243"/>
                  </a:lnTo>
                  <a:lnTo>
                    <a:pt x="16763" y="428243"/>
                  </a:lnTo>
                  <a:lnTo>
                    <a:pt x="16763" y="425195"/>
                  </a:lnTo>
                  <a:lnTo>
                    <a:pt x="15239" y="425195"/>
                  </a:lnTo>
                  <a:lnTo>
                    <a:pt x="15239" y="422147"/>
                  </a:lnTo>
                  <a:lnTo>
                    <a:pt x="13715" y="422147"/>
                  </a:lnTo>
                  <a:lnTo>
                    <a:pt x="13715" y="419099"/>
                  </a:lnTo>
                  <a:lnTo>
                    <a:pt x="12191" y="419099"/>
                  </a:lnTo>
                  <a:lnTo>
                    <a:pt x="12191" y="416051"/>
                  </a:lnTo>
                  <a:lnTo>
                    <a:pt x="10667" y="416051"/>
                  </a:lnTo>
                  <a:lnTo>
                    <a:pt x="10667" y="411479"/>
                  </a:lnTo>
                  <a:lnTo>
                    <a:pt x="9143" y="411479"/>
                  </a:lnTo>
                  <a:lnTo>
                    <a:pt x="9143" y="406907"/>
                  </a:lnTo>
                  <a:lnTo>
                    <a:pt x="7619" y="406907"/>
                  </a:lnTo>
                  <a:lnTo>
                    <a:pt x="7619" y="402335"/>
                  </a:lnTo>
                  <a:lnTo>
                    <a:pt x="6095" y="402335"/>
                  </a:lnTo>
                  <a:lnTo>
                    <a:pt x="6095" y="387095"/>
                  </a:lnTo>
                  <a:lnTo>
                    <a:pt x="4571" y="387095"/>
                  </a:lnTo>
                  <a:lnTo>
                    <a:pt x="4571" y="409955"/>
                  </a:lnTo>
                  <a:lnTo>
                    <a:pt x="6095" y="417575"/>
                  </a:lnTo>
                  <a:lnTo>
                    <a:pt x="10667" y="425195"/>
                  </a:lnTo>
                  <a:lnTo>
                    <a:pt x="13715" y="431291"/>
                  </a:lnTo>
                  <a:lnTo>
                    <a:pt x="24383" y="443483"/>
                  </a:lnTo>
                  <a:lnTo>
                    <a:pt x="35051" y="452627"/>
                  </a:lnTo>
                  <a:lnTo>
                    <a:pt x="36575" y="454151"/>
                  </a:lnTo>
                  <a:lnTo>
                    <a:pt x="42671" y="457199"/>
                  </a:lnTo>
                  <a:lnTo>
                    <a:pt x="50291" y="461771"/>
                  </a:lnTo>
                  <a:lnTo>
                    <a:pt x="57911" y="463295"/>
                  </a:lnTo>
                  <a:lnTo>
                    <a:pt x="65531" y="466343"/>
                  </a:lnTo>
                  <a:lnTo>
                    <a:pt x="73151" y="466343"/>
                  </a:lnTo>
                  <a:lnTo>
                    <a:pt x="80771" y="467867"/>
                  </a:lnTo>
                  <a:lnTo>
                    <a:pt x="3396995" y="467867"/>
                  </a:lnTo>
                  <a:lnTo>
                    <a:pt x="3404615" y="466343"/>
                  </a:lnTo>
                  <a:lnTo>
                    <a:pt x="3412235" y="466343"/>
                  </a:lnTo>
                  <a:lnTo>
                    <a:pt x="3421379" y="463295"/>
                  </a:lnTo>
                  <a:lnTo>
                    <a:pt x="3424427" y="461771"/>
                  </a:lnTo>
                  <a:close/>
                </a:path>
                <a:path w="3477895" h="467995">
                  <a:moveTo>
                    <a:pt x="3464051" y="45719"/>
                  </a:moveTo>
                  <a:lnTo>
                    <a:pt x="3464051" y="35051"/>
                  </a:lnTo>
                  <a:lnTo>
                    <a:pt x="3454907" y="24383"/>
                  </a:lnTo>
                  <a:lnTo>
                    <a:pt x="3453383" y="24383"/>
                  </a:lnTo>
                  <a:lnTo>
                    <a:pt x="3442715" y="13715"/>
                  </a:lnTo>
                  <a:lnTo>
                    <a:pt x="3441191" y="13715"/>
                  </a:lnTo>
                  <a:lnTo>
                    <a:pt x="3435095" y="10667"/>
                  </a:lnTo>
                  <a:lnTo>
                    <a:pt x="3427475" y="6095"/>
                  </a:lnTo>
                  <a:lnTo>
                    <a:pt x="3419855" y="4571"/>
                  </a:lnTo>
                  <a:lnTo>
                    <a:pt x="3396995" y="4571"/>
                  </a:lnTo>
                  <a:lnTo>
                    <a:pt x="3412235" y="6095"/>
                  </a:lnTo>
                  <a:lnTo>
                    <a:pt x="3418331" y="7619"/>
                  </a:lnTo>
                  <a:lnTo>
                    <a:pt x="3422903" y="9143"/>
                  </a:lnTo>
                  <a:lnTo>
                    <a:pt x="3438143" y="16763"/>
                  </a:lnTo>
                  <a:lnTo>
                    <a:pt x="3441191" y="19811"/>
                  </a:lnTo>
                  <a:lnTo>
                    <a:pt x="3444239" y="21335"/>
                  </a:lnTo>
                  <a:lnTo>
                    <a:pt x="3456431" y="33527"/>
                  </a:lnTo>
                  <a:lnTo>
                    <a:pt x="3456431" y="36575"/>
                  </a:lnTo>
                  <a:lnTo>
                    <a:pt x="3457955" y="36575"/>
                  </a:lnTo>
                  <a:lnTo>
                    <a:pt x="3461003" y="39623"/>
                  </a:lnTo>
                  <a:lnTo>
                    <a:pt x="3461003" y="42671"/>
                  </a:lnTo>
                  <a:lnTo>
                    <a:pt x="3462527" y="42671"/>
                  </a:lnTo>
                  <a:lnTo>
                    <a:pt x="3462527" y="45719"/>
                  </a:lnTo>
                  <a:lnTo>
                    <a:pt x="3464051" y="45719"/>
                  </a:lnTo>
                  <a:close/>
                </a:path>
                <a:path w="3477895" h="467995">
                  <a:moveTo>
                    <a:pt x="3473195" y="413765"/>
                  </a:moveTo>
                  <a:lnTo>
                    <a:pt x="3473195" y="77723"/>
                  </a:lnTo>
                  <a:lnTo>
                    <a:pt x="3471671" y="390143"/>
                  </a:lnTo>
                  <a:lnTo>
                    <a:pt x="3470147" y="402335"/>
                  </a:lnTo>
                  <a:lnTo>
                    <a:pt x="3468623" y="408431"/>
                  </a:lnTo>
                  <a:lnTo>
                    <a:pt x="3467099" y="413003"/>
                  </a:lnTo>
                  <a:lnTo>
                    <a:pt x="3459479" y="428243"/>
                  </a:lnTo>
                  <a:lnTo>
                    <a:pt x="3456431" y="431291"/>
                  </a:lnTo>
                  <a:lnTo>
                    <a:pt x="3454907" y="434339"/>
                  </a:lnTo>
                  <a:lnTo>
                    <a:pt x="3444239" y="445007"/>
                  </a:lnTo>
                  <a:lnTo>
                    <a:pt x="3441191" y="446531"/>
                  </a:lnTo>
                  <a:lnTo>
                    <a:pt x="3438143" y="449579"/>
                  </a:lnTo>
                  <a:lnTo>
                    <a:pt x="3422903" y="457199"/>
                  </a:lnTo>
                  <a:lnTo>
                    <a:pt x="3418331" y="458723"/>
                  </a:lnTo>
                  <a:lnTo>
                    <a:pt x="3412235" y="460247"/>
                  </a:lnTo>
                  <a:lnTo>
                    <a:pt x="3412235" y="461771"/>
                  </a:lnTo>
                  <a:lnTo>
                    <a:pt x="3424427" y="461771"/>
                  </a:lnTo>
                  <a:lnTo>
                    <a:pt x="3427475" y="460247"/>
                  </a:lnTo>
                  <a:lnTo>
                    <a:pt x="3435095" y="457199"/>
                  </a:lnTo>
                  <a:lnTo>
                    <a:pt x="3442715" y="452627"/>
                  </a:lnTo>
                  <a:lnTo>
                    <a:pt x="3453383" y="443483"/>
                  </a:lnTo>
                  <a:lnTo>
                    <a:pt x="3454907" y="443483"/>
                  </a:lnTo>
                  <a:lnTo>
                    <a:pt x="3464051" y="431291"/>
                  </a:lnTo>
                  <a:lnTo>
                    <a:pt x="3467099" y="425195"/>
                  </a:lnTo>
                  <a:lnTo>
                    <a:pt x="3471671" y="417575"/>
                  </a:lnTo>
                  <a:lnTo>
                    <a:pt x="3473195" y="413765"/>
                  </a:lnTo>
                  <a:close/>
                </a:path>
                <a:path w="3477895" h="467995">
                  <a:moveTo>
                    <a:pt x="3477767" y="394715"/>
                  </a:moveTo>
                  <a:lnTo>
                    <a:pt x="3477767" y="73151"/>
                  </a:lnTo>
                  <a:lnTo>
                    <a:pt x="3476243" y="65531"/>
                  </a:lnTo>
                  <a:lnTo>
                    <a:pt x="3473195" y="56387"/>
                  </a:lnTo>
                  <a:lnTo>
                    <a:pt x="3471671" y="50291"/>
                  </a:lnTo>
                  <a:lnTo>
                    <a:pt x="3467099" y="42671"/>
                  </a:lnTo>
                  <a:lnTo>
                    <a:pt x="3464051" y="36575"/>
                  </a:lnTo>
                  <a:lnTo>
                    <a:pt x="3464051" y="48767"/>
                  </a:lnTo>
                  <a:lnTo>
                    <a:pt x="3465575" y="48767"/>
                  </a:lnTo>
                  <a:lnTo>
                    <a:pt x="3465575" y="51815"/>
                  </a:lnTo>
                  <a:lnTo>
                    <a:pt x="3467099" y="51815"/>
                  </a:lnTo>
                  <a:lnTo>
                    <a:pt x="3467099" y="54863"/>
                  </a:lnTo>
                  <a:lnTo>
                    <a:pt x="3468623" y="54863"/>
                  </a:lnTo>
                  <a:lnTo>
                    <a:pt x="3468623" y="59435"/>
                  </a:lnTo>
                  <a:lnTo>
                    <a:pt x="3470147" y="59435"/>
                  </a:lnTo>
                  <a:lnTo>
                    <a:pt x="3470147" y="65531"/>
                  </a:lnTo>
                  <a:lnTo>
                    <a:pt x="3471671" y="65531"/>
                  </a:lnTo>
                  <a:lnTo>
                    <a:pt x="3471671" y="77723"/>
                  </a:lnTo>
                  <a:lnTo>
                    <a:pt x="3473195" y="77723"/>
                  </a:lnTo>
                  <a:lnTo>
                    <a:pt x="3473195" y="413765"/>
                  </a:lnTo>
                  <a:lnTo>
                    <a:pt x="3474719" y="409955"/>
                  </a:lnTo>
                  <a:lnTo>
                    <a:pt x="3477767" y="394715"/>
                  </a:lnTo>
                  <a:close/>
                </a:path>
              </a:pathLst>
            </a:custGeom>
            <a:solidFill>
              <a:srgbClr val="93B5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222370" y="3896867"/>
              <a:ext cx="3469004" cy="457200"/>
            </a:xfrm>
            <a:custGeom>
              <a:avLst/>
              <a:gdLst/>
              <a:ahLst/>
              <a:cxnLst/>
              <a:rect l="l" t="t" r="r" b="b"/>
              <a:pathLst>
                <a:path w="3469004" h="457200">
                  <a:moveTo>
                    <a:pt x="3468623" y="380999"/>
                  </a:moveTo>
                  <a:lnTo>
                    <a:pt x="3468623" y="76199"/>
                  </a:lnTo>
                  <a:lnTo>
                    <a:pt x="3462504" y="46934"/>
                  </a:lnTo>
                  <a:lnTo>
                    <a:pt x="3445954" y="22669"/>
                  </a:lnTo>
                  <a:lnTo>
                    <a:pt x="3421689" y="6119"/>
                  </a:lnTo>
                  <a:lnTo>
                    <a:pt x="3392423" y="0"/>
                  </a:lnTo>
                  <a:lnTo>
                    <a:pt x="76199" y="0"/>
                  </a:lnTo>
                  <a:lnTo>
                    <a:pt x="46934" y="6119"/>
                  </a:lnTo>
                  <a:lnTo>
                    <a:pt x="22669" y="22669"/>
                  </a:lnTo>
                  <a:lnTo>
                    <a:pt x="6119" y="46934"/>
                  </a:lnTo>
                  <a:lnTo>
                    <a:pt x="0" y="76199"/>
                  </a:lnTo>
                  <a:lnTo>
                    <a:pt x="0" y="380999"/>
                  </a:lnTo>
                  <a:lnTo>
                    <a:pt x="6119" y="410908"/>
                  </a:lnTo>
                  <a:lnTo>
                    <a:pt x="22669" y="435101"/>
                  </a:lnTo>
                  <a:lnTo>
                    <a:pt x="46934" y="451294"/>
                  </a:lnTo>
                  <a:lnTo>
                    <a:pt x="76199" y="457199"/>
                  </a:lnTo>
                  <a:lnTo>
                    <a:pt x="3392423" y="457199"/>
                  </a:lnTo>
                  <a:lnTo>
                    <a:pt x="3421689" y="451294"/>
                  </a:lnTo>
                  <a:lnTo>
                    <a:pt x="3445954" y="435101"/>
                  </a:lnTo>
                  <a:lnTo>
                    <a:pt x="3462504" y="410908"/>
                  </a:lnTo>
                  <a:lnTo>
                    <a:pt x="3468623" y="380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17798" y="3892296"/>
              <a:ext cx="3477895" cy="467995"/>
            </a:xfrm>
            <a:custGeom>
              <a:avLst/>
              <a:gdLst/>
              <a:ahLst/>
              <a:cxnLst/>
              <a:rect l="l" t="t" r="r" b="b"/>
              <a:pathLst>
                <a:path w="3477895" h="467995">
                  <a:moveTo>
                    <a:pt x="3477768" y="394716"/>
                  </a:moveTo>
                  <a:lnTo>
                    <a:pt x="3477768" y="73152"/>
                  </a:lnTo>
                  <a:lnTo>
                    <a:pt x="3476244" y="65532"/>
                  </a:lnTo>
                  <a:lnTo>
                    <a:pt x="3473196" y="56388"/>
                  </a:lnTo>
                  <a:lnTo>
                    <a:pt x="3471672" y="50292"/>
                  </a:lnTo>
                  <a:lnTo>
                    <a:pt x="3467100" y="42672"/>
                  </a:lnTo>
                  <a:lnTo>
                    <a:pt x="3464052" y="36576"/>
                  </a:lnTo>
                  <a:lnTo>
                    <a:pt x="3464052" y="35052"/>
                  </a:lnTo>
                  <a:lnTo>
                    <a:pt x="3454908" y="24384"/>
                  </a:lnTo>
                  <a:lnTo>
                    <a:pt x="3453384" y="24384"/>
                  </a:lnTo>
                  <a:lnTo>
                    <a:pt x="3442716" y="13716"/>
                  </a:lnTo>
                  <a:lnTo>
                    <a:pt x="3441192" y="13716"/>
                  </a:lnTo>
                  <a:lnTo>
                    <a:pt x="3435096" y="10668"/>
                  </a:lnTo>
                  <a:lnTo>
                    <a:pt x="3427476" y="6096"/>
                  </a:lnTo>
                  <a:lnTo>
                    <a:pt x="3419856" y="4572"/>
                  </a:lnTo>
                  <a:lnTo>
                    <a:pt x="3412236" y="1524"/>
                  </a:lnTo>
                  <a:lnTo>
                    <a:pt x="3404616" y="0"/>
                  </a:lnTo>
                  <a:lnTo>
                    <a:pt x="73152" y="0"/>
                  </a:lnTo>
                  <a:lnTo>
                    <a:pt x="65532" y="1524"/>
                  </a:lnTo>
                  <a:lnTo>
                    <a:pt x="56388" y="4572"/>
                  </a:lnTo>
                  <a:lnTo>
                    <a:pt x="50292" y="6096"/>
                  </a:lnTo>
                  <a:lnTo>
                    <a:pt x="42672" y="10668"/>
                  </a:lnTo>
                  <a:lnTo>
                    <a:pt x="36576" y="13716"/>
                  </a:lnTo>
                  <a:lnTo>
                    <a:pt x="35052" y="15240"/>
                  </a:lnTo>
                  <a:lnTo>
                    <a:pt x="24384" y="24384"/>
                  </a:lnTo>
                  <a:lnTo>
                    <a:pt x="15240" y="35052"/>
                  </a:lnTo>
                  <a:lnTo>
                    <a:pt x="13716" y="36576"/>
                  </a:lnTo>
                  <a:lnTo>
                    <a:pt x="10668" y="42672"/>
                  </a:lnTo>
                  <a:lnTo>
                    <a:pt x="6096" y="50292"/>
                  </a:lnTo>
                  <a:lnTo>
                    <a:pt x="4572" y="57912"/>
                  </a:lnTo>
                  <a:lnTo>
                    <a:pt x="1524" y="65532"/>
                  </a:lnTo>
                  <a:lnTo>
                    <a:pt x="0" y="73152"/>
                  </a:lnTo>
                  <a:lnTo>
                    <a:pt x="0" y="394716"/>
                  </a:lnTo>
                  <a:lnTo>
                    <a:pt x="1524" y="402336"/>
                  </a:lnTo>
                  <a:lnTo>
                    <a:pt x="4572" y="409956"/>
                  </a:lnTo>
                  <a:lnTo>
                    <a:pt x="6096" y="417576"/>
                  </a:lnTo>
                  <a:lnTo>
                    <a:pt x="10668" y="425196"/>
                  </a:lnTo>
                  <a:lnTo>
                    <a:pt x="10668" y="74676"/>
                  </a:lnTo>
                  <a:lnTo>
                    <a:pt x="13716" y="59436"/>
                  </a:lnTo>
                  <a:lnTo>
                    <a:pt x="15240" y="53340"/>
                  </a:lnTo>
                  <a:lnTo>
                    <a:pt x="18288" y="47244"/>
                  </a:lnTo>
                  <a:lnTo>
                    <a:pt x="22860" y="41148"/>
                  </a:lnTo>
                  <a:lnTo>
                    <a:pt x="22860" y="42672"/>
                  </a:lnTo>
                  <a:lnTo>
                    <a:pt x="30480" y="32512"/>
                  </a:lnTo>
                  <a:lnTo>
                    <a:pt x="30480" y="32004"/>
                  </a:lnTo>
                  <a:lnTo>
                    <a:pt x="32004" y="30480"/>
                  </a:lnTo>
                  <a:lnTo>
                    <a:pt x="32004" y="30861"/>
                  </a:lnTo>
                  <a:lnTo>
                    <a:pt x="41148" y="24003"/>
                  </a:lnTo>
                  <a:lnTo>
                    <a:pt x="41148" y="22860"/>
                  </a:lnTo>
                  <a:lnTo>
                    <a:pt x="47244" y="18288"/>
                  </a:lnTo>
                  <a:lnTo>
                    <a:pt x="53340" y="15240"/>
                  </a:lnTo>
                  <a:lnTo>
                    <a:pt x="60960" y="13716"/>
                  </a:lnTo>
                  <a:lnTo>
                    <a:pt x="67056" y="12192"/>
                  </a:lnTo>
                  <a:lnTo>
                    <a:pt x="74676" y="10668"/>
                  </a:lnTo>
                  <a:lnTo>
                    <a:pt x="3404616" y="10668"/>
                  </a:lnTo>
                  <a:lnTo>
                    <a:pt x="3410712" y="12192"/>
                  </a:lnTo>
                  <a:lnTo>
                    <a:pt x="3418332" y="13716"/>
                  </a:lnTo>
                  <a:lnTo>
                    <a:pt x="3424428" y="15240"/>
                  </a:lnTo>
                  <a:lnTo>
                    <a:pt x="3430524" y="18288"/>
                  </a:lnTo>
                  <a:lnTo>
                    <a:pt x="3436620" y="22860"/>
                  </a:lnTo>
                  <a:lnTo>
                    <a:pt x="3436620" y="24003"/>
                  </a:lnTo>
                  <a:lnTo>
                    <a:pt x="3445764" y="30861"/>
                  </a:lnTo>
                  <a:lnTo>
                    <a:pt x="3445764" y="30480"/>
                  </a:lnTo>
                  <a:lnTo>
                    <a:pt x="3447288" y="32004"/>
                  </a:lnTo>
                  <a:lnTo>
                    <a:pt x="3447288" y="32512"/>
                  </a:lnTo>
                  <a:lnTo>
                    <a:pt x="3454908" y="42672"/>
                  </a:lnTo>
                  <a:lnTo>
                    <a:pt x="3454908" y="41148"/>
                  </a:lnTo>
                  <a:lnTo>
                    <a:pt x="3459480" y="47244"/>
                  </a:lnTo>
                  <a:lnTo>
                    <a:pt x="3462528" y="53340"/>
                  </a:lnTo>
                  <a:lnTo>
                    <a:pt x="3464052" y="60960"/>
                  </a:lnTo>
                  <a:lnTo>
                    <a:pt x="3465576" y="67056"/>
                  </a:lnTo>
                  <a:lnTo>
                    <a:pt x="3467100" y="74676"/>
                  </a:lnTo>
                  <a:lnTo>
                    <a:pt x="3467100" y="425196"/>
                  </a:lnTo>
                  <a:lnTo>
                    <a:pt x="3471672" y="417576"/>
                  </a:lnTo>
                  <a:lnTo>
                    <a:pt x="3474720" y="409956"/>
                  </a:lnTo>
                  <a:lnTo>
                    <a:pt x="3477768" y="394716"/>
                  </a:lnTo>
                  <a:close/>
                </a:path>
                <a:path w="3477895" h="467995">
                  <a:moveTo>
                    <a:pt x="31350" y="436517"/>
                  </a:moveTo>
                  <a:lnTo>
                    <a:pt x="22860" y="425196"/>
                  </a:lnTo>
                  <a:lnTo>
                    <a:pt x="22860" y="426720"/>
                  </a:lnTo>
                  <a:lnTo>
                    <a:pt x="18288" y="420624"/>
                  </a:lnTo>
                  <a:lnTo>
                    <a:pt x="15240" y="413004"/>
                  </a:lnTo>
                  <a:lnTo>
                    <a:pt x="12192" y="400812"/>
                  </a:lnTo>
                  <a:lnTo>
                    <a:pt x="10668" y="393192"/>
                  </a:lnTo>
                  <a:lnTo>
                    <a:pt x="10668" y="425196"/>
                  </a:lnTo>
                  <a:lnTo>
                    <a:pt x="13716" y="431292"/>
                  </a:lnTo>
                  <a:lnTo>
                    <a:pt x="24384" y="443484"/>
                  </a:lnTo>
                  <a:lnTo>
                    <a:pt x="30480" y="448709"/>
                  </a:lnTo>
                  <a:lnTo>
                    <a:pt x="30480" y="435864"/>
                  </a:lnTo>
                  <a:lnTo>
                    <a:pt x="31350" y="436517"/>
                  </a:lnTo>
                  <a:close/>
                </a:path>
                <a:path w="3477895" h="467995">
                  <a:moveTo>
                    <a:pt x="32004" y="30480"/>
                  </a:moveTo>
                  <a:lnTo>
                    <a:pt x="30480" y="32004"/>
                  </a:lnTo>
                  <a:lnTo>
                    <a:pt x="31350" y="31350"/>
                  </a:lnTo>
                  <a:lnTo>
                    <a:pt x="32004" y="30480"/>
                  </a:lnTo>
                  <a:close/>
                </a:path>
                <a:path w="3477895" h="467995">
                  <a:moveTo>
                    <a:pt x="31350" y="31350"/>
                  </a:moveTo>
                  <a:lnTo>
                    <a:pt x="30480" y="32004"/>
                  </a:lnTo>
                  <a:lnTo>
                    <a:pt x="30480" y="32512"/>
                  </a:lnTo>
                  <a:lnTo>
                    <a:pt x="31350" y="31350"/>
                  </a:lnTo>
                  <a:close/>
                </a:path>
                <a:path w="3477895" h="467995">
                  <a:moveTo>
                    <a:pt x="32004" y="437388"/>
                  </a:moveTo>
                  <a:lnTo>
                    <a:pt x="31350" y="436517"/>
                  </a:lnTo>
                  <a:lnTo>
                    <a:pt x="30480" y="435864"/>
                  </a:lnTo>
                  <a:lnTo>
                    <a:pt x="32004" y="437388"/>
                  </a:lnTo>
                  <a:close/>
                </a:path>
                <a:path w="3477895" h="467995">
                  <a:moveTo>
                    <a:pt x="32004" y="450015"/>
                  </a:moveTo>
                  <a:lnTo>
                    <a:pt x="32004" y="437388"/>
                  </a:lnTo>
                  <a:lnTo>
                    <a:pt x="30480" y="435864"/>
                  </a:lnTo>
                  <a:lnTo>
                    <a:pt x="30480" y="448709"/>
                  </a:lnTo>
                  <a:lnTo>
                    <a:pt x="32004" y="450015"/>
                  </a:lnTo>
                  <a:close/>
                </a:path>
                <a:path w="3477895" h="467995">
                  <a:moveTo>
                    <a:pt x="32004" y="30861"/>
                  </a:moveTo>
                  <a:lnTo>
                    <a:pt x="32004" y="30480"/>
                  </a:lnTo>
                  <a:lnTo>
                    <a:pt x="31350" y="31350"/>
                  </a:lnTo>
                  <a:lnTo>
                    <a:pt x="32004" y="30861"/>
                  </a:lnTo>
                  <a:close/>
                </a:path>
                <a:path w="3477895" h="467995">
                  <a:moveTo>
                    <a:pt x="42672" y="445008"/>
                  </a:moveTo>
                  <a:lnTo>
                    <a:pt x="31350" y="436517"/>
                  </a:lnTo>
                  <a:lnTo>
                    <a:pt x="32004" y="437388"/>
                  </a:lnTo>
                  <a:lnTo>
                    <a:pt x="32004" y="450015"/>
                  </a:lnTo>
                  <a:lnTo>
                    <a:pt x="35052" y="452628"/>
                  </a:lnTo>
                  <a:lnTo>
                    <a:pt x="36576" y="454152"/>
                  </a:lnTo>
                  <a:lnTo>
                    <a:pt x="41148" y="456438"/>
                  </a:lnTo>
                  <a:lnTo>
                    <a:pt x="41148" y="445008"/>
                  </a:lnTo>
                  <a:lnTo>
                    <a:pt x="42672" y="445008"/>
                  </a:lnTo>
                  <a:close/>
                </a:path>
                <a:path w="3477895" h="467995">
                  <a:moveTo>
                    <a:pt x="42672" y="22860"/>
                  </a:moveTo>
                  <a:lnTo>
                    <a:pt x="41148" y="22860"/>
                  </a:lnTo>
                  <a:lnTo>
                    <a:pt x="41148" y="24003"/>
                  </a:lnTo>
                  <a:lnTo>
                    <a:pt x="42672" y="22860"/>
                  </a:lnTo>
                  <a:close/>
                </a:path>
                <a:path w="3477895" h="467995">
                  <a:moveTo>
                    <a:pt x="3446678" y="436321"/>
                  </a:moveTo>
                  <a:lnTo>
                    <a:pt x="3435096" y="445008"/>
                  </a:lnTo>
                  <a:lnTo>
                    <a:pt x="3430524" y="449580"/>
                  </a:lnTo>
                  <a:lnTo>
                    <a:pt x="3424428" y="452628"/>
                  </a:lnTo>
                  <a:lnTo>
                    <a:pt x="3416808" y="454152"/>
                  </a:lnTo>
                  <a:lnTo>
                    <a:pt x="3410712" y="455676"/>
                  </a:lnTo>
                  <a:lnTo>
                    <a:pt x="3403092" y="457200"/>
                  </a:lnTo>
                  <a:lnTo>
                    <a:pt x="74676" y="457200"/>
                  </a:lnTo>
                  <a:lnTo>
                    <a:pt x="59436" y="454152"/>
                  </a:lnTo>
                  <a:lnTo>
                    <a:pt x="41148" y="445008"/>
                  </a:lnTo>
                  <a:lnTo>
                    <a:pt x="41148" y="456438"/>
                  </a:lnTo>
                  <a:lnTo>
                    <a:pt x="42672" y="457200"/>
                  </a:lnTo>
                  <a:lnTo>
                    <a:pt x="50292" y="461772"/>
                  </a:lnTo>
                  <a:lnTo>
                    <a:pt x="57912" y="463296"/>
                  </a:lnTo>
                  <a:lnTo>
                    <a:pt x="65532" y="466344"/>
                  </a:lnTo>
                  <a:lnTo>
                    <a:pt x="73152" y="466344"/>
                  </a:lnTo>
                  <a:lnTo>
                    <a:pt x="80772" y="467868"/>
                  </a:lnTo>
                  <a:lnTo>
                    <a:pt x="3396996" y="467868"/>
                  </a:lnTo>
                  <a:lnTo>
                    <a:pt x="3404616" y="466344"/>
                  </a:lnTo>
                  <a:lnTo>
                    <a:pt x="3412236" y="466344"/>
                  </a:lnTo>
                  <a:lnTo>
                    <a:pt x="3421380" y="463296"/>
                  </a:lnTo>
                  <a:lnTo>
                    <a:pt x="3427476" y="460248"/>
                  </a:lnTo>
                  <a:lnTo>
                    <a:pt x="3435096" y="457200"/>
                  </a:lnTo>
                  <a:lnTo>
                    <a:pt x="3442716" y="452628"/>
                  </a:lnTo>
                  <a:lnTo>
                    <a:pt x="3445764" y="450015"/>
                  </a:lnTo>
                  <a:lnTo>
                    <a:pt x="3445764" y="437388"/>
                  </a:lnTo>
                  <a:lnTo>
                    <a:pt x="3446678" y="436321"/>
                  </a:lnTo>
                  <a:close/>
                </a:path>
                <a:path w="3477895" h="467995">
                  <a:moveTo>
                    <a:pt x="3436620" y="24003"/>
                  </a:moveTo>
                  <a:lnTo>
                    <a:pt x="3436620" y="22860"/>
                  </a:lnTo>
                  <a:lnTo>
                    <a:pt x="3435096" y="22860"/>
                  </a:lnTo>
                  <a:lnTo>
                    <a:pt x="3436620" y="24003"/>
                  </a:lnTo>
                  <a:close/>
                </a:path>
                <a:path w="3477895" h="467995">
                  <a:moveTo>
                    <a:pt x="3447288" y="32004"/>
                  </a:moveTo>
                  <a:lnTo>
                    <a:pt x="3445764" y="30480"/>
                  </a:lnTo>
                  <a:lnTo>
                    <a:pt x="3446417" y="31350"/>
                  </a:lnTo>
                  <a:lnTo>
                    <a:pt x="3447288" y="32004"/>
                  </a:lnTo>
                  <a:close/>
                </a:path>
                <a:path w="3477895" h="467995">
                  <a:moveTo>
                    <a:pt x="3446417" y="31350"/>
                  </a:moveTo>
                  <a:lnTo>
                    <a:pt x="3445764" y="30480"/>
                  </a:lnTo>
                  <a:lnTo>
                    <a:pt x="3445764" y="30861"/>
                  </a:lnTo>
                  <a:lnTo>
                    <a:pt x="3446417" y="31350"/>
                  </a:lnTo>
                  <a:close/>
                </a:path>
                <a:path w="3477895" h="467995">
                  <a:moveTo>
                    <a:pt x="3447288" y="435864"/>
                  </a:moveTo>
                  <a:lnTo>
                    <a:pt x="3446678" y="436321"/>
                  </a:lnTo>
                  <a:lnTo>
                    <a:pt x="3445764" y="437388"/>
                  </a:lnTo>
                  <a:lnTo>
                    <a:pt x="3447288" y="435864"/>
                  </a:lnTo>
                  <a:close/>
                </a:path>
                <a:path w="3477895" h="467995">
                  <a:moveTo>
                    <a:pt x="3447288" y="448709"/>
                  </a:moveTo>
                  <a:lnTo>
                    <a:pt x="3447288" y="435864"/>
                  </a:lnTo>
                  <a:lnTo>
                    <a:pt x="3445764" y="437388"/>
                  </a:lnTo>
                  <a:lnTo>
                    <a:pt x="3445764" y="450015"/>
                  </a:lnTo>
                  <a:lnTo>
                    <a:pt x="3447288" y="448709"/>
                  </a:lnTo>
                  <a:close/>
                </a:path>
                <a:path w="3477895" h="467995">
                  <a:moveTo>
                    <a:pt x="3447288" y="32512"/>
                  </a:moveTo>
                  <a:lnTo>
                    <a:pt x="3447288" y="32004"/>
                  </a:lnTo>
                  <a:lnTo>
                    <a:pt x="3446417" y="31350"/>
                  </a:lnTo>
                  <a:lnTo>
                    <a:pt x="3447288" y="32512"/>
                  </a:lnTo>
                  <a:close/>
                </a:path>
                <a:path w="3477895" h="467995">
                  <a:moveTo>
                    <a:pt x="3467100" y="425196"/>
                  </a:moveTo>
                  <a:lnTo>
                    <a:pt x="3467100" y="393192"/>
                  </a:lnTo>
                  <a:lnTo>
                    <a:pt x="3464052" y="408432"/>
                  </a:lnTo>
                  <a:lnTo>
                    <a:pt x="3462528" y="414528"/>
                  </a:lnTo>
                  <a:lnTo>
                    <a:pt x="3459480" y="420624"/>
                  </a:lnTo>
                  <a:lnTo>
                    <a:pt x="3454908" y="426720"/>
                  </a:lnTo>
                  <a:lnTo>
                    <a:pt x="3446678" y="436321"/>
                  </a:lnTo>
                  <a:lnTo>
                    <a:pt x="3447288" y="435864"/>
                  </a:lnTo>
                  <a:lnTo>
                    <a:pt x="3447288" y="448709"/>
                  </a:lnTo>
                  <a:lnTo>
                    <a:pt x="3453384" y="443484"/>
                  </a:lnTo>
                  <a:lnTo>
                    <a:pt x="3454908" y="443484"/>
                  </a:lnTo>
                  <a:lnTo>
                    <a:pt x="3464052" y="431292"/>
                  </a:lnTo>
                  <a:lnTo>
                    <a:pt x="3467100" y="425196"/>
                  </a:lnTo>
                  <a:close/>
                </a:path>
              </a:pathLst>
            </a:custGeom>
            <a:solidFill>
              <a:srgbClr val="93B5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718690" y="3969510"/>
            <a:ext cx="24745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Attributs/champs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(fields)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332097" y="2766060"/>
            <a:ext cx="3008630" cy="542925"/>
            <a:chOff x="6332097" y="2766060"/>
            <a:chExt cx="3008630" cy="542925"/>
          </a:xfrm>
        </p:grpSpPr>
        <p:sp>
          <p:nvSpPr>
            <p:cNvPr id="15" name="object 15"/>
            <p:cNvSpPr/>
            <p:nvPr/>
          </p:nvSpPr>
          <p:spPr>
            <a:xfrm>
              <a:off x="6332097" y="2766060"/>
              <a:ext cx="3008630" cy="542925"/>
            </a:xfrm>
            <a:custGeom>
              <a:avLst/>
              <a:gdLst/>
              <a:ahLst/>
              <a:cxnLst/>
              <a:rect l="l" t="t" r="r" b="b"/>
              <a:pathLst>
                <a:path w="3008629" h="542925">
                  <a:moveTo>
                    <a:pt x="1523" y="458723"/>
                  </a:moveTo>
                  <a:lnTo>
                    <a:pt x="1523" y="83819"/>
                  </a:lnTo>
                  <a:lnTo>
                    <a:pt x="0" y="92963"/>
                  </a:lnTo>
                  <a:lnTo>
                    <a:pt x="0" y="449579"/>
                  </a:lnTo>
                  <a:lnTo>
                    <a:pt x="1523" y="458723"/>
                  </a:lnTo>
                  <a:close/>
                </a:path>
                <a:path w="3008629" h="542925">
                  <a:moveTo>
                    <a:pt x="2945891" y="4571"/>
                  </a:moveTo>
                  <a:lnTo>
                    <a:pt x="2942843" y="3047"/>
                  </a:lnTo>
                  <a:lnTo>
                    <a:pt x="2924555" y="0"/>
                  </a:lnTo>
                  <a:lnTo>
                    <a:pt x="83819" y="0"/>
                  </a:lnTo>
                  <a:lnTo>
                    <a:pt x="74675" y="1523"/>
                  </a:lnTo>
                  <a:lnTo>
                    <a:pt x="65531" y="4571"/>
                  </a:lnTo>
                  <a:lnTo>
                    <a:pt x="57911" y="7619"/>
                  </a:lnTo>
                  <a:lnTo>
                    <a:pt x="48767" y="10667"/>
                  </a:lnTo>
                  <a:lnTo>
                    <a:pt x="41147" y="15239"/>
                  </a:lnTo>
                  <a:lnTo>
                    <a:pt x="35051" y="21335"/>
                  </a:lnTo>
                  <a:lnTo>
                    <a:pt x="27431" y="27431"/>
                  </a:lnTo>
                  <a:lnTo>
                    <a:pt x="4571" y="65531"/>
                  </a:lnTo>
                  <a:lnTo>
                    <a:pt x="1523" y="74675"/>
                  </a:lnTo>
                  <a:lnTo>
                    <a:pt x="1523" y="467867"/>
                  </a:lnTo>
                  <a:lnTo>
                    <a:pt x="4571" y="477011"/>
                  </a:lnTo>
                  <a:lnTo>
                    <a:pt x="4571" y="92963"/>
                  </a:lnTo>
                  <a:lnTo>
                    <a:pt x="6095" y="77723"/>
                  </a:lnTo>
                  <a:lnTo>
                    <a:pt x="7619" y="70103"/>
                  </a:lnTo>
                  <a:lnTo>
                    <a:pt x="10667" y="60959"/>
                  </a:lnTo>
                  <a:lnTo>
                    <a:pt x="18287" y="45719"/>
                  </a:lnTo>
                  <a:lnTo>
                    <a:pt x="19811" y="44195"/>
                  </a:lnTo>
                  <a:lnTo>
                    <a:pt x="21335" y="41147"/>
                  </a:lnTo>
                  <a:lnTo>
                    <a:pt x="25907" y="36575"/>
                  </a:lnTo>
                  <a:lnTo>
                    <a:pt x="27431" y="33527"/>
                  </a:lnTo>
                  <a:lnTo>
                    <a:pt x="33527" y="27431"/>
                  </a:lnTo>
                  <a:lnTo>
                    <a:pt x="36575" y="25907"/>
                  </a:lnTo>
                  <a:lnTo>
                    <a:pt x="41147" y="21335"/>
                  </a:lnTo>
                  <a:lnTo>
                    <a:pt x="44195" y="19811"/>
                  </a:lnTo>
                  <a:lnTo>
                    <a:pt x="45719" y="18287"/>
                  </a:lnTo>
                  <a:lnTo>
                    <a:pt x="48767" y="16763"/>
                  </a:lnTo>
                  <a:lnTo>
                    <a:pt x="50291" y="15239"/>
                  </a:lnTo>
                  <a:lnTo>
                    <a:pt x="59435" y="10667"/>
                  </a:lnTo>
                  <a:lnTo>
                    <a:pt x="68579" y="7619"/>
                  </a:lnTo>
                  <a:lnTo>
                    <a:pt x="74675" y="6095"/>
                  </a:lnTo>
                  <a:lnTo>
                    <a:pt x="83819" y="4571"/>
                  </a:lnTo>
                  <a:lnTo>
                    <a:pt x="2945891" y="4571"/>
                  </a:lnTo>
                  <a:close/>
                </a:path>
                <a:path w="3008629" h="542925">
                  <a:moveTo>
                    <a:pt x="2942843" y="537971"/>
                  </a:moveTo>
                  <a:lnTo>
                    <a:pt x="82295" y="536447"/>
                  </a:lnTo>
                  <a:lnTo>
                    <a:pt x="48767" y="524255"/>
                  </a:lnTo>
                  <a:lnTo>
                    <a:pt x="42671" y="521207"/>
                  </a:lnTo>
                  <a:lnTo>
                    <a:pt x="39623" y="518159"/>
                  </a:lnTo>
                  <a:lnTo>
                    <a:pt x="36575" y="516635"/>
                  </a:lnTo>
                  <a:lnTo>
                    <a:pt x="27431" y="507491"/>
                  </a:lnTo>
                  <a:lnTo>
                    <a:pt x="25907" y="507491"/>
                  </a:lnTo>
                  <a:lnTo>
                    <a:pt x="25907" y="504443"/>
                  </a:lnTo>
                  <a:lnTo>
                    <a:pt x="22859" y="501395"/>
                  </a:lnTo>
                  <a:lnTo>
                    <a:pt x="21335" y="501395"/>
                  </a:lnTo>
                  <a:lnTo>
                    <a:pt x="21335" y="498347"/>
                  </a:lnTo>
                  <a:lnTo>
                    <a:pt x="19811" y="496823"/>
                  </a:lnTo>
                  <a:lnTo>
                    <a:pt x="18287" y="496823"/>
                  </a:lnTo>
                  <a:lnTo>
                    <a:pt x="18287" y="493775"/>
                  </a:lnTo>
                  <a:lnTo>
                    <a:pt x="16763" y="493775"/>
                  </a:lnTo>
                  <a:lnTo>
                    <a:pt x="16763" y="490727"/>
                  </a:lnTo>
                  <a:lnTo>
                    <a:pt x="15239" y="490727"/>
                  </a:lnTo>
                  <a:lnTo>
                    <a:pt x="15239" y="487679"/>
                  </a:lnTo>
                  <a:lnTo>
                    <a:pt x="13715" y="487679"/>
                  </a:lnTo>
                  <a:lnTo>
                    <a:pt x="13715" y="484631"/>
                  </a:lnTo>
                  <a:lnTo>
                    <a:pt x="12191" y="484631"/>
                  </a:lnTo>
                  <a:lnTo>
                    <a:pt x="12191" y="481583"/>
                  </a:lnTo>
                  <a:lnTo>
                    <a:pt x="10667" y="481583"/>
                  </a:lnTo>
                  <a:lnTo>
                    <a:pt x="10667" y="477011"/>
                  </a:lnTo>
                  <a:lnTo>
                    <a:pt x="9143" y="477011"/>
                  </a:lnTo>
                  <a:lnTo>
                    <a:pt x="9143" y="472439"/>
                  </a:lnTo>
                  <a:lnTo>
                    <a:pt x="7619" y="472439"/>
                  </a:lnTo>
                  <a:lnTo>
                    <a:pt x="7619" y="464819"/>
                  </a:lnTo>
                  <a:lnTo>
                    <a:pt x="6095" y="464819"/>
                  </a:lnTo>
                  <a:lnTo>
                    <a:pt x="6095" y="449579"/>
                  </a:lnTo>
                  <a:lnTo>
                    <a:pt x="4571" y="449579"/>
                  </a:lnTo>
                  <a:lnTo>
                    <a:pt x="4571" y="477011"/>
                  </a:lnTo>
                  <a:lnTo>
                    <a:pt x="27431" y="515111"/>
                  </a:lnTo>
                  <a:lnTo>
                    <a:pt x="67055" y="539495"/>
                  </a:lnTo>
                  <a:lnTo>
                    <a:pt x="85343" y="542543"/>
                  </a:lnTo>
                  <a:lnTo>
                    <a:pt x="2924555" y="542543"/>
                  </a:lnTo>
                  <a:lnTo>
                    <a:pt x="2933699" y="541019"/>
                  </a:lnTo>
                  <a:lnTo>
                    <a:pt x="2942843" y="537971"/>
                  </a:lnTo>
                  <a:close/>
                </a:path>
                <a:path w="3008629" h="542925">
                  <a:moveTo>
                    <a:pt x="3008375" y="458723"/>
                  </a:moveTo>
                  <a:lnTo>
                    <a:pt x="3008375" y="83819"/>
                  </a:lnTo>
                  <a:lnTo>
                    <a:pt x="3005327" y="65531"/>
                  </a:lnTo>
                  <a:lnTo>
                    <a:pt x="2974847" y="21335"/>
                  </a:lnTo>
                  <a:lnTo>
                    <a:pt x="2951987" y="7619"/>
                  </a:lnTo>
                  <a:lnTo>
                    <a:pt x="2945891" y="4571"/>
                  </a:lnTo>
                  <a:lnTo>
                    <a:pt x="2926079" y="4571"/>
                  </a:lnTo>
                  <a:lnTo>
                    <a:pt x="2935223" y="6095"/>
                  </a:lnTo>
                  <a:lnTo>
                    <a:pt x="2948939" y="10667"/>
                  </a:lnTo>
                  <a:lnTo>
                    <a:pt x="2951987" y="12191"/>
                  </a:lnTo>
                  <a:lnTo>
                    <a:pt x="2956559" y="13715"/>
                  </a:lnTo>
                  <a:lnTo>
                    <a:pt x="2958083" y="15239"/>
                  </a:lnTo>
                  <a:lnTo>
                    <a:pt x="2964179" y="18287"/>
                  </a:lnTo>
                  <a:lnTo>
                    <a:pt x="2967227" y="21335"/>
                  </a:lnTo>
                  <a:lnTo>
                    <a:pt x="2970275" y="22859"/>
                  </a:lnTo>
                  <a:lnTo>
                    <a:pt x="2987039" y="39623"/>
                  </a:lnTo>
                  <a:lnTo>
                    <a:pt x="2987039" y="42671"/>
                  </a:lnTo>
                  <a:lnTo>
                    <a:pt x="2988563" y="42671"/>
                  </a:lnTo>
                  <a:lnTo>
                    <a:pt x="2990087" y="44195"/>
                  </a:lnTo>
                  <a:lnTo>
                    <a:pt x="2990087" y="47243"/>
                  </a:lnTo>
                  <a:lnTo>
                    <a:pt x="2991611" y="47243"/>
                  </a:lnTo>
                  <a:lnTo>
                    <a:pt x="2991611" y="50291"/>
                  </a:lnTo>
                  <a:lnTo>
                    <a:pt x="2993135" y="50291"/>
                  </a:lnTo>
                  <a:lnTo>
                    <a:pt x="2994659" y="51815"/>
                  </a:lnTo>
                  <a:lnTo>
                    <a:pt x="2994659" y="54863"/>
                  </a:lnTo>
                  <a:lnTo>
                    <a:pt x="2996183" y="54863"/>
                  </a:lnTo>
                  <a:lnTo>
                    <a:pt x="2996183" y="57911"/>
                  </a:lnTo>
                  <a:lnTo>
                    <a:pt x="2997707" y="57911"/>
                  </a:lnTo>
                  <a:lnTo>
                    <a:pt x="2997707" y="62483"/>
                  </a:lnTo>
                  <a:lnTo>
                    <a:pt x="2999231" y="62483"/>
                  </a:lnTo>
                  <a:lnTo>
                    <a:pt x="2999231" y="67055"/>
                  </a:lnTo>
                  <a:lnTo>
                    <a:pt x="3000755" y="67055"/>
                  </a:lnTo>
                  <a:lnTo>
                    <a:pt x="3000755" y="73151"/>
                  </a:lnTo>
                  <a:lnTo>
                    <a:pt x="3002279" y="73151"/>
                  </a:lnTo>
                  <a:lnTo>
                    <a:pt x="3002279" y="80771"/>
                  </a:lnTo>
                  <a:lnTo>
                    <a:pt x="3003803" y="80771"/>
                  </a:lnTo>
                  <a:lnTo>
                    <a:pt x="3003803" y="481583"/>
                  </a:lnTo>
                  <a:lnTo>
                    <a:pt x="3005327" y="477011"/>
                  </a:lnTo>
                  <a:lnTo>
                    <a:pt x="3008375" y="458723"/>
                  </a:lnTo>
                  <a:close/>
                </a:path>
                <a:path w="3008629" h="542925">
                  <a:moveTo>
                    <a:pt x="3003803" y="481583"/>
                  </a:moveTo>
                  <a:lnTo>
                    <a:pt x="3003803" y="80771"/>
                  </a:lnTo>
                  <a:lnTo>
                    <a:pt x="3002279" y="461771"/>
                  </a:lnTo>
                  <a:lnTo>
                    <a:pt x="3000755" y="469391"/>
                  </a:lnTo>
                  <a:lnTo>
                    <a:pt x="2999231" y="475487"/>
                  </a:lnTo>
                  <a:lnTo>
                    <a:pt x="2996183" y="484631"/>
                  </a:lnTo>
                  <a:lnTo>
                    <a:pt x="2991611" y="493775"/>
                  </a:lnTo>
                  <a:lnTo>
                    <a:pt x="2990087" y="495299"/>
                  </a:lnTo>
                  <a:lnTo>
                    <a:pt x="2988563" y="498347"/>
                  </a:lnTo>
                  <a:lnTo>
                    <a:pt x="2987039" y="499871"/>
                  </a:lnTo>
                  <a:lnTo>
                    <a:pt x="2985515" y="502919"/>
                  </a:lnTo>
                  <a:lnTo>
                    <a:pt x="2979419" y="509015"/>
                  </a:lnTo>
                  <a:lnTo>
                    <a:pt x="2977895" y="512063"/>
                  </a:lnTo>
                  <a:lnTo>
                    <a:pt x="2974847" y="513587"/>
                  </a:lnTo>
                  <a:lnTo>
                    <a:pt x="2968751" y="519683"/>
                  </a:lnTo>
                  <a:lnTo>
                    <a:pt x="2965703" y="521207"/>
                  </a:lnTo>
                  <a:lnTo>
                    <a:pt x="2964179" y="522731"/>
                  </a:lnTo>
                  <a:lnTo>
                    <a:pt x="2961131" y="524255"/>
                  </a:lnTo>
                  <a:lnTo>
                    <a:pt x="2926079" y="536447"/>
                  </a:lnTo>
                  <a:lnTo>
                    <a:pt x="2926079" y="537971"/>
                  </a:lnTo>
                  <a:lnTo>
                    <a:pt x="2942843" y="537971"/>
                  </a:lnTo>
                  <a:lnTo>
                    <a:pt x="2951987" y="534923"/>
                  </a:lnTo>
                  <a:lnTo>
                    <a:pt x="2959607" y="531875"/>
                  </a:lnTo>
                  <a:lnTo>
                    <a:pt x="2967227" y="527303"/>
                  </a:lnTo>
                  <a:lnTo>
                    <a:pt x="2982467" y="515111"/>
                  </a:lnTo>
                  <a:lnTo>
                    <a:pt x="2987039" y="509015"/>
                  </a:lnTo>
                  <a:lnTo>
                    <a:pt x="2993135" y="501395"/>
                  </a:lnTo>
                  <a:lnTo>
                    <a:pt x="3002279" y="486155"/>
                  </a:lnTo>
                  <a:lnTo>
                    <a:pt x="3003803" y="481583"/>
                  </a:lnTo>
                  <a:close/>
                </a:path>
              </a:pathLst>
            </a:custGeom>
            <a:solidFill>
              <a:srgbClr val="93B5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336670" y="2770631"/>
              <a:ext cx="2999740" cy="533400"/>
            </a:xfrm>
            <a:custGeom>
              <a:avLst/>
              <a:gdLst/>
              <a:ahLst/>
              <a:cxnLst/>
              <a:rect l="l" t="t" r="r" b="b"/>
              <a:pathLst>
                <a:path w="2999740" h="533400">
                  <a:moveTo>
                    <a:pt x="2999231" y="445007"/>
                  </a:moveTo>
                  <a:lnTo>
                    <a:pt x="2999231" y="88391"/>
                  </a:lnTo>
                  <a:lnTo>
                    <a:pt x="2992278" y="54006"/>
                  </a:lnTo>
                  <a:lnTo>
                    <a:pt x="2973323" y="25907"/>
                  </a:lnTo>
                  <a:lnTo>
                    <a:pt x="2945225" y="6953"/>
                  </a:lnTo>
                  <a:lnTo>
                    <a:pt x="2910839" y="0"/>
                  </a:lnTo>
                  <a:lnTo>
                    <a:pt x="89915" y="0"/>
                  </a:lnTo>
                  <a:lnTo>
                    <a:pt x="55292" y="6953"/>
                  </a:lnTo>
                  <a:lnTo>
                    <a:pt x="26669" y="25907"/>
                  </a:lnTo>
                  <a:lnTo>
                    <a:pt x="7191" y="54006"/>
                  </a:lnTo>
                  <a:lnTo>
                    <a:pt x="0" y="88391"/>
                  </a:lnTo>
                  <a:lnTo>
                    <a:pt x="0" y="445007"/>
                  </a:lnTo>
                  <a:lnTo>
                    <a:pt x="7191" y="479393"/>
                  </a:lnTo>
                  <a:lnTo>
                    <a:pt x="26669" y="507491"/>
                  </a:lnTo>
                  <a:lnTo>
                    <a:pt x="55292" y="526446"/>
                  </a:lnTo>
                  <a:lnTo>
                    <a:pt x="89915" y="533399"/>
                  </a:lnTo>
                  <a:lnTo>
                    <a:pt x="2910839" y="533399"/>
                  </a:lnTo>
                  <a:lnTo>
                    <a:pt x="2945225" y="526446"/>
                  </a:lnTo>
                  <a:lnTo>
                    <a:pt x="2973323" y="507491"/>
                  </a:lnTo>
                  <a:lnTo>
                    <a:pt x="2992278" y="479393"/>
                  </a:lnTo>
                  <a:lnTo>
                    <a:pt x="2999231" y="4450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332098" y="2766060"/>
              <a:ext cx="3008630" cy="542925"/>
            </a:xfrm>
            <a:custGeom>
              <a:avLst/>
              <a:gdLst/>
              <a:ahLst/>
              <a:cxnLst/>
              <a:rect l="l" t="t" r="r" b="b"/>
              <a:pathLst>
                <a:path w="3008629" h="542925">
                  <a:moveTo>
                    <a:pt x="1524" y="458724"/>
                  </a:moveTo>
                  <a:lnTo>
                    <a:pt x="1524" y="83820"/>
                  </a:lnTo>
                  <a:lnTo>
                    <a:pt x="0" y="92964"/>
                  </a:lnTo>
                  <a:lnTo>
                    <a:pt x="0" y="449580"/>
                  </a:lnTo>
                  <a:lnTo>
                    <a:pt x="1524" y="458724"/>
                  </a:lnTo>
                  <a:close/>
                </a:path>
                <a:path w="3008629" h="542925">
                  <a:moveTo>
                    <a:pt x="3008376" y="458724"/>
                  </a:moveTo>
                  <a:lnTo>
                    <a:pt x="3008376" y="83820"/>
                  </a:lnTo>
                  <a:lnTo>
                    <a:pt x="3005328" y="65532"/>
                  </a:lnTo>
                  <a:lnTo>
                    <a:pt x="2974848" y="21336"/>
                  </a:lnTo>
                  <a:lnTo>
                    <a:pt x="2951988" y="7620"/>
                  </a:lnTo>
                  <a:lnTo>
                    <a:pt x="2942844" y="3048"/>
                  </a:lnTo>
                  <a:lnTo>
                    <a:pt x="2924556" y="0"/>
                  </a:lnTo>
                  <a:lnTo>
                    <a:pt x="83820" y="0"/>
                  </a:lnTo>
                  <a:lnTo>
                    <a:pt x="74676" y="1524"/>
                  </a:lnTo>
                  <a:lnTo>
                    <a:pt x="65532" y="4572"/>
                  </a:lnTo>
                  <a:lnTo>
                    <a:pt x="57912" y="7620"/>
                  </a:lnTo>
                  <a:lnTo>
                    <a:pt x="48768" y="10668"/>
                  </a:lnTo>
                  <a:lnTo>
                    <a:pt x="41148" y="15240"/>
                  </a:lnTo>
                  <a:lnTo>
                    <a:pt x="35052" y="21336"/>
                  </a:lnTo>
                  <a:lnTo>
                    <a:pt x="27432" y="27432"/>
                  </a:lnTo>
                  <a:lnTo>
                    <a:pt x="4572" y="65532"/>
                  </a:lnTo>
                  <a:lnTo>
                    <a:pt x="1524" y="74676"/>
                  </a:lnTo>
                  <a:lnTo>
                    <a:pt x="1524" y="467868"/>
                  </a:lnTo>
                  <a:lnTo>
                    <a:pt x="7620" y="486156"/>
                  </a:lnTo>
                  <a:lnTo>
                    <a:pt x="10668" y="491236"/>
                  </a:lnTo>
                  <a:lnTo>
                    <a:pt x="10668" y="85344"/>
                  </a:lnTo>
                  <a:lnTo>
                    <a:pt x="12192" y="76200"/>
                  </a:lnTo>
                  <a:lnTo>
                    <a:pt x="28956" y="39624"/>
                  </a:lnTo>
                  <a:lnTo>
                    <a:pt x="77724" y="10668"/>
                  </a:lnTo>
                  <a:lnTo>
                    <a:pt x="85344" y="10668"/>
                  </a:lnTo>
                  <a:lnTo>
                    <a:pt x="94488" y="9144"/>
                  </a:lnTo>
                  <a:lnTo>
                    <a:pt x="2915412" y="9144"/>
                  </a:lnTo>
                  <a:lnTo>
                    <a:pt x="2924556" y="10668"/>
                  </a:lnTo>
                  <a:lnTo>
                    <a:pt x="2932176" y="10668"/>
                  </a:lnTo>
                  <a:lnTo>
                    <a:pt x="2968752" y="28956"/>
                  </a:lnTo>
                  <a:lnTo>
                    <a:pt x="2988564" y="53340"/>
                  </a:lnTo>
                  <a:lnTo>
                    <a:pt x="2993136" y="60960"/>
                  </a:lnTo>
                  <a:lnTo>
                    <a:pt x="2994660" y="68580"/>
                  </a:lnTo>
                  <a:lnTo>
                    <a:pt x="2997708" y="76200"/>
                  </a:lnTo>
                  <a:lnTo>
                    <a:pt x="2999232" y="85344"/>
                  </a:lnTo>
                  <a:lnTo>
                    <a:pt x="2999232" y="491236"/>
                  </a:lnTo>
                  <a:lnTo>
                    <a:pt x="3002280" y="486156"/>
                  </a:lnTo>
                  <a:lnTo>
                    <a:pt x="3005328" y="477012"/>
                  </a:lnTo>
                  <a:lnTo>
                    <a:pt x="3008376" y="458724"/>
                  </a:lnTo>
                  <a:close/>
                </a:path>
                <a:path w="3008629" h="542925">
                  <a:moveTo>
                    <a:pt x="2999232" y="491236"/>
                  </a:moveTo>
                  <a:lnTo>
                    <a:pt x="2999232" y="457200"/>
                  </a:lnTo>
                  <a:lnTo>
                    <a:pt x="2997708" y="466344"/>
                  </a:lnTo>
                  <a:lnTo>
                    <a:pt x="2994660" y="473964"/>
                  </a:lnTo>
                  <a:lnTo>
                    <a:pt x="2974848" y="509016"/>
                  </a:lnTo>
                  <a:lnTo>
                    <a:pt x="2961132" y="518160"/>
                  </a:lnTo>
                  <a:lnTo>
                    <a:pt x="2955036" y="522732"/>
                  </a:lnTo>
                  <a:lnTo>
                    <a:pt x="2947416" y="527304"/>
                  </a:lnTo>
                  <a:lnTo>
                    <a:pt x="2939796" y="528828"/>
                  </a:lnTo>
                  <a:lnTo>
                    <a:pt x="2932176" y="531876"/>
                  </a:lnTo>
                  <a:lnTo>
                    <a:pt x="2923032" y="531876"/>
                  </a:lnTo>
                  <a:lnTo>
                    <a:pt x="2915412" y="533400"/>
                  </a:lnTo>
                  <a:lnTo>
                    <a:pt x="94488" y="533400"/>
                  </a:lnTo>
                  <a:lnTo>
                    <a:pt x="85344" y="531876"/>
                  </a:lnTo>
                  <a:lnTo>
                    <a:pt x="77724" y="531876"/>
                  </a:lnTo>
                  <a:lnTo>
                    <a:pt x="68580" y="528828"/>
                  </a:lnTo>
                  <a:lnTo>
                    <a:pt x="53340" y="522732"/>
                  </a:lnTo>
                  <a:lnTo>
                    <a:pt x="35052" y="509016"/>
                  </a:lnTo>
                  <a:lnTo>
                    <a:pt x="28956" y="502920"/>
                  </a:lnTo>
                  <a:lnTo>
                    <a:pt x="24384" y="495300"/>
                  </a:lnTo>
                  <a:lnTo>
                    <a:pt x="19812" y="489204"/>
                  </a:lnTo>
                  <a:lnTo>
                    <a:pt x="13716" y="473964"/>
                  </a:lnTo>
                  <a:lnTo>
                    <a:pt x="12192" y="466344"/>
                  </a:lnTo>
                  <a:lnTo>
                    <a:pt x="10668" y="457200"/>
                  </a:lnTo>
                  <a:lnTo>
                    <a:pt x="10668" y="491236"/>
                  </a:lnTo>
                  <a:lnTo>
                    <a:pt x="42672" y="527304"/>
                  </a:lnTo>
                  <a:lnTo>
                    <a:pt x="85344" y="542544"/>
                  </a:lnTo>
                  <a:lnTo>
                    <a:pt x="2924556" y="542544"/>
                  </a:lnTo>
                  <a:lnTo>
                    <a:pt x="2967228" y="527304"/>
                  </a:lnTo>
                  <a:lnTo>
                    <a:pt x="2987040" y="509016"/>
                  </a:lnTo>
                  <a:lnTo>
                    <a:pt x="2993136" y="501396"/>
                  </a:lnTo>
                  <a:lnTo>
                    <a:pt x="2999232" y="491236"/>
                  </a:lnTo>
                  <a:close/>
                </a:path>
              </a:pathLst>
            </a:custGeom>
            <a:solidFill>
              <a:srgbClr val="93B5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948814" y="2881374"/>
            <a:ext cx="177736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Nom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classe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266565" y="5477255"/>
            <a:ext cx="3477895" cy="466725"/>
            <a:chOff x="6266565" y="5477255"/>
            <a:chExt cx="3477895" cy="466725"/>
          </a:xfrm>
        </p:grpSpPr>
        <p:sp>
          <p:nvSpPr>
            <p:cNvPr id="20" name="object 20"/>
            <p:cNvSpPr/>
            <p:nvPr/>
          </p:nvSpPr>
          <p:spPr>
            <a:xfrm>
              <a:off x="6266565" y="5477256"/>
              <a:ext cx="3477895" cy="466725"/>
            </a:xfrm>
            <a:custGeom>
              <a:avLst/>
              <a:gdLst/>
              <a:ahLst/>
              <a:cxnLst/>
              <a:rect l="l" t="t" r="r" b="b"/>
              <a:pathLst>
                <a:path w="3477895" h="466725">
                  <a:moveTo>
                    <a:pt x="1523" y="394715"/>
                  </a:moveTo>
                  <a:lnTo>
                    <a:pt x="1523" y="73151"/>
                  </a:lnTo>
                  <a:lnTo>
                    <a:pt x="0" y="80771"/>
                  </a:lnTo>
                  <a:lnTo>
                    <a:pt x="0" y="385571"/>
                  </a:lnTo>
                  <a:lnTo>
                    <a:pt x="1523" y="394715"/>
                  </a:lnTo>
                  <a:close/>
                </a:path>
                <a:path w="3477895" h="466725">
                  <a:moveTo>
                    <a:pt x="3423665" y="4571"/>
                  </a:moveTo>
                  <a:lnTo>
                    <a:pt x="3419855" y="3047"/>
                  </a:lnTo>
                  <a:lnTo>
                    <a:pt x="3404615" y="0"/>
                  </a:lnTo>
                  <a:lnTo>
                    <a:pt x="73151" y="0"/>
                  </a:lnTo>
                  <a:lnTo>
                    <a:pt x="57911" y="3047"/>
                  </a:lnTo>
                  <a:lnTo>
                    <a:pt x="42671" y="9143"/>
                  </a:lnTo>
                  <a:lnTo>
                    <a:pt x="24383" y="22859"/>
                  </a:lnTo>
                  <a:lnTo>
                    <a:pt x="24383" y="24383"/>
                  </a:lnTo>
                  <a:lnTo>
                    <a:pt x="13715" y="35051"/>
                  </a:lnTo>
                  <a:lnTo>
                    <a:pt x="10667" y="42671"/>
                  </a:lnTo>
                  <a:lnTo>
                    <a:pt x="6095" y="48767"/>
                  </a:lnTo>
                  <a:lnTo>
                    <a:pt x="4571" y="56387"/>
                  </a:lnTo>
                  <a:lnTo>
                    <a:pt x="1523" y="64007"/>
                  </a:lnTo>
                  <a:lnTo>
                    <a:pt x="1523" y="402335"/>
                  </a:lnTo>
                  <a:lnTo>
                    <a:pt x="6095" y="413765"/>
                  </a:lnTo>
                  <a:lnTo>
                    <a:pt x="6095" y="67055"/>
                  </a:lnTo>
                  <a:lnTo>
                    <a:pt x="9143" y="54863"/>
                  </a:lnTo>
                  <a:lnTo>
                    <a:pt x="16763" y="39623"/>
                  </a:lnTo>
                  <a:lnTo>
                    <a:pt x="18287" y="38099"/>
                  </a:lnTo>
                  <a:lnTo>
                    <a:pt x="19811" y="35051"/>
                  </a:lnTo>
                  <a:lnTo>
                    <a:pt x="25907" y="28955"/>
                  </a:lnTo>
                  <a:lnTo>
                    <a:pt x="27431" y="25907"/>
                  </a:lnTo>
                  <a:lnTo>
                    <a:pt x="30479" y="24383"/>
                  </a:lnTo>
                  <a:lnTo>
                    <a:pt x="35051" y="19811"/>
                  </a:lnTo>
                  <a:lnTo>
                    <a:pt x="38099" y="18287"/>
                  </a:lnTo>
                  <a:lnTo>
                    <a:pt x="41147" y="15239"/>
                  </a:lnTo>
                  <a:lnTo>
                    <a:pt x="53339" y="9143"/>
                  </a:lnTo>
                  <a:lnTo>
                    <a:pt x="57911" y="7619"/>
                  </a:lnTo>
                  <a:lnTo>
                    <a:pt x="64007" y="6095"/>
                  </a:lnTo>
                  <a:lnTo>
                    <a:pt x="71627" y="4571"/>
                  </a:lnTo>
                  <a:lnTo>
                    <a:pt x="3423665" y="4571"/>
                  </a:lnTo>
                  <a:close/>
                </a:path>
                <a:path w="3477895" h="466725">
                  <a:moveTo>
                    <a:pt x="3425189" y="461771"/>
                  </a:moveTo>
                  <a:lnTo>
                    <a:pt x="71627" y="460247"/>
                  </a:lnTo>
                  <a:lnTo>
                    <a:pt x="38099" y="446531"/>
                  </a:lnTo>
                  <a:lnTo>
                    <a:pt x="35051" y="445007"/>
                  </a:lnTo>
                  <a:lnTo>
                    <a:pt x="30479" y="440435"/>
                  </a:lnTo>
                  <a:lnTo>
                    <a:pt x="27431" y="440435"/>
                  </a:lnTo>
                  <a:lnTo>
                    <a:pt x="27431" y="437387"/>
                  </a:lnTo>
                  <a:lnTo>
                    <a:pt x="21335" y="431291"/>
                  </a:lnTo>
                  <a:lnTo>
                    <a:pt x="19811" y="431291"/>
                  </a:lnTo>
                  <a:lnTo>
                    <a:pt x="19811" y="428243"/>
                  </a:lnTo>
                  <a:lnTo>
                    <a:pt x="18287" y="426719"/>
                  </a:lnTo>
                  <a:lnTo>
                    <a:pt x="16763" y="426719"/>
                  </a:lnTo>
                  <a:lnTo>
                    <a:pt x="16763" y="423671"/>
                  </a:lnTo>
                  <a:lnTo>
                    <a:pt x="15239" y="423671"/>
                  </a:lnTo>
                  <a:lnTo>
                    <a:pt x="15239" y="420623"/>
                  </a:lnTo>
                  <a:lnTo>
                    <a:pt x="13715" y="420623"/>
                  </a:lnTo>
                  <a:lnTo>
                    <a:pt x="13715" y="417575"/>
                  </a:lnTo>
                  <a:lnTo>
                    <a:pt x="12191" y="417575"/>
                  </a:lnTo>
                  <a:lnTo>
                    <a:pt x="12191" y="414527"/>
                  </a:lnTo>
                  <a:lnTo>
                    <a:pt x="10667" y="414527"/>
                  </a:lnTo>
                  <a:lnTo>
                    <a:pt x="10667" y="411479"/>
                  </a:lnTo>
                  <a:lnTo>
                    <a:pt x="9143" y="411479"/>
                  </a:lnTo>
                  <a:lnTo>
                    <a:pt x="9143" y="405383"/>
                  </a:lnTo>
                  <a:lnTo>
                    <a:pt x="7619" y="405383"/>
                  </a:lnTo>
                  <a:lnTo>
                    <a:pt x="7619" y="399287"/>
                  </a:lnTo>
                  <a:lnTo>
                    <a:pt x="6095" y="399287"/>
                  </a:lnTo>
                  <a:lnTo>
                    <a:pt x="6095" y="413765"/>
                  </a:lnTo>
                  <a:lnTo>
                    <a:pt x="7619" y="417575"/>
                  </a:lnTo>
                  <a:lnTo>
                    <a:pt x="10667" y="423671"/>
                  </a:lnTo>
                  <a:lnTo>
                    <a:pt x="15239" y="431291"/>
                  </a:lnTo>
                  <a:lnTo>
                    <a:pt x="24383" y="441959"/>
                  </a:lnTo>
                  <a:lnTo>
                    <a:pt x="24383" y="443483"/>
                  </a:lnTo>
                  <a:lnTo>
                    <a:pt x="42671" y="457199"/>
                  </a:lnTo>
                  <a:lnTo>
                    <a:pt x="57911" y="463295"/>
                  </a:lnTo>
                  <a:lnTo>
                    <a:pt x="73151" y="466343"/>
                  </a:lnTo>
                  <a:lnTo>
                    <a:pt x="3404615" y="466343"/>
                  </a:lnTo>
                  <a:lnTo>
                    <a:pt x="3413759" y="464819"/>
                  </a:lnTo>
                  <a:lnTo>
                    <a:pt x="3421379" y="463295"/>
                  </a:lnTo>
                  <a:lnTo>
                    <a:pt x="3425189" y="461771"/>
                  </a:lnTo>
                  <a:close/>
                </a:path>
                <a:path w="3477895" h="466725">
                  <a:moveTo>
                    <a:pt x="3477767" y="393191"/>
                  </a:moveTo>
                  <a:lnTo>
                    <a:pt x="3477767" y="71627"/>
                  </a:lnTo>
                  <a:lnTo>
                    <a:pt x="3474719" y="56387"/>
                  </a:lnTo>
                  <a:lnTo>
                    <a:pt x="3471671" y="48767"/>
                  </a:lnTo>
                  <a:lnTo>
                    <a:pt x="3467099" y="41147"/>
                  </a:lnTo>
                  <a:lnTo>
                    <a:pt x="3464051" y="35051"/>
                  </a:lnTo>
                  <a:lnTo>
                    <a:pt x="3454907" y="24383"/>
                  </a:lnTo>
                  <a:lnTo>
                    <a:pt x="3453383" y="22859"/>
                  </a:lnTo>
                  <a:lnTo>
                    <a:pt x="3435095" y="9143"/>
                  </a:lnTo>
                  <a:lnTo>
                    <a:pt x="3423665" y="4571"/>
                  </a:lnTo>
                  <a:lnTo>
                    <a:pt x="3407663" y="4571"/>
                  </a:lnTo>
                  <a:lnTo>
                    <a:pt x="3415283" y="6095"/>
                  </a:lnTo>
                  <a:lnTo>
                    <a:pt x="3424427" y="9143"/>
                  </a:lnTo>
                  <a:lnTo>
                    <a:pt x="3439667" y="16763"/>
                  </a:lnTo>
                  <a:lnTo>
                    <a:pt x="3444239" y="21335"/>
                  </a:lnTo>
                  <a:lnTo>
                    <a:pt x="3447287" y="22859"/>
                  </a:lnTo>
                  <a:lnTo>
                    <a:pt x="3453383" y="28955"/>
                  </a:lnTo>
                  <a:lnTo>
                    <a:pt x="3453383" y="32003"/>
                  </a:lnTo>
                  <a:lnTo>
                    <a:pt x="3454907" y="32003"/>
                  </a:lnTo>
                  <a:lnTo>
                    <a:pt x="3459479" y="36575"/>
                  </a:lnTo>
                  <a:lnTo>
                    <a:pt x="3459479" y="39623"/>
                  </a:lnTo>
                  <a:lnTo>
                    <a:pt x="3461003" y="39623"/>
                  </a:lnTo>
                  <a:lnTo>
                    <a:pt x="3462527" y="41147"/>
                  </a:lnTo>
                  <a:lnTo>
                    <a:pt x="3462527" y="44195"/>
                  </a:lnTo>
                  <a:lnTo>
                    <a:pt x="3464051" y="44195"/>
                  </a:lnTo>
                  <a:lnTo>
                    <a:pt x="3464051" y="47243"/>
                  </a:lnTo>
                  <a:lnTo>
                    <a:pt x="3465575" y="47243"/>
                  </a:lnTo>
                  <a:lnTo>
                    <a:pt x="3465575" y="50291"/>
                  </a:lnTo>
                  <a:lnTo>
                    <a:pt x="3467099" y="50291"/>
                  </a:lnTo>
                  <a:lnTo>
                    <a:pt x="3467099" y="53339"/>
                  </a:lnTo>
                  <a:lnTo>
                    <a:pt x="3468623" y="53339"/>
                  </a:lnTo>
                  <a:lnTo>
                    <a:pt x="3468623" y="57911"/>
                  </a:lnTo>
                  <a:lnTo>
                    <a:pt x="3470147" y="57911"/>
                  </a:lnTo>
                  <a:lnTo>
                    <a:pt x="3470147" y="64007"/>
                  </a:lnTo>
                  <a:lnTo>
                    <a:pt x="3471671" y="64007"/>
                  </a:lnTo>
                  <a:lnTo>
                    <a:pt x="3471671" y="73151"/>
                  </a:lnTo>
                  <a:lnTo>
                    <a:pt x="3473195" y="73151"/>
                  </a:lnTo>
                  <a:lnTo>
                    <a:pt x="3473195" y="413765"/>
                  </a:lnTo>
                  <a:lnTo>
                    <a:pt x="3474719" y="409955"/>
                  </a:lnTo>
                  <a:lnTo>
                    <a:pt x="3476243" y="402335"/>
                  </a:lnTo>
                  <a:lnTo>
                    <a:pt x="3477767" y="393191"/>
                  </a:lnTo>
                  <a:close/>
                </a:path>
                <a:path w="3477895" h="466725">
                  <a:moveTo>
                    <a:pt x="3473195" y="413765"/>
                  </a:moveTo>
                  <a:lnTo>
                    <a:pt x="3473195" y="73151"/>
                  </a:lnTo>
                  <a:lnTo>
                    <a:pt x="3471671" y="393191"/>
                  </a:lnTo>
                  <a:lnTo>
                    <a:pt x="3470147" y="402335"/>
                  </a:lnTo>
                  <a:lnTo>
                    <a:pt x="3468623" y="408431"/>
                  </a:lnTo>
                  <a:lnTo>
                    <a:pt x="3467099" y="413003"/>
                  </a:lnTo>
                  <a:lnTo>
                    <a:pt x="3461003" y="425195"/>
                  </a:lnTo>
                  <a:lnTo>
                    <a:pt x="3459479" y="426719"/>
                  </a:lnTo>
                  <a:lnTo>
                    <a:pt x="3457955" y="429767"/>
                  </a:lnTo>
                  <a:lnTo>
                    <a:pt x="3453383" y="434339"/>
                  </a:lnTo>
                  <a:lnTo>
                    <a:pt x="3451859" y="437387"/>
                  </a:lnTo>
                  <a:lnTo>
                    <a:pt x="3447287" y="441959"/>
                  </a:lnTo>
                  <a:lnTo>
                    <a:pt x="3444239" y="443483"/>
                  </a:lnTo>
                  <a:lnTo>
                    <a:pt x="3439667" y="448055"/>
                  </a:lnTo>
                  <a:lnTo>
                    <a:pt x="3424427" y="455675"/>
                  </a:lnTo>
                  <a:lnTo>
                    <a:pt x="3415283" y="458723"/>
                  </a:lnTo>
                  <a:lnTo>
                    <a:pt x="3407663" y="460247"/>
                  </a:lnTo>
                  <a:lnTo>
                    <a:pt x="3407663" y="461771"/>
                  </a:lnTo>
                  <a:lnTo>
                    <a:pt x="3425189" y="461771"/>
                  </a:lnTo>
                  <a:lnTo>
                    <a:pt x="3428999" y="460247"/>
                  </a:lnTo>
                  <a:lnTo>
                    <a:pt x="3464051" y="431291"/>
                  </a:lnTo>
                  <a:lnTo>
                    <a:pt x="3471671" y="417575"/>
                  </a:lnTo>
                  <a:lnTo>
                    <a:pt x="3473195" y="413765"/>
                  </a:lnTo>
                  <a:close/>
                </a:path>
              </a:pathLst>
            </a:custGeom>
            <a:solidFill>
              <a:srgbClr val="93B5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72661" y="5481827"/>
              <a:ext cx="3467100" cy="457200"/>
            </a:xfrm>
            <a:custGeom>
              <a:avLst/>
              <a:gdLst/>
              <a:ahLst/>
              <a:cxnLst/>
              <a:rect l="l" t="t" r="r" b="b"/>
              <a:pathLst>
                <a:path w="3467100" h="457200">
                  <a:moveTo>
                    <a:pt x="3467099" y="380999"/>
                  </a:moveTo>
                  <a:lnTo>
                    <a:pt x="3467099" y="76199"/>
                  </a:lnTo>
                  <a:lnTo>
                    <a:pt x="3460980" y="46291"/>
                  </a:lnTo>
                  <a:lnTo>
                    <a:pt x="3444430" y="22097"/>
                  </a:lnTo>
                  <a:lnTo>
                    <a:pt x="3420165" y="5905"/>
                  </a:lnTo>
                  <a:lnTo>
                    <a:pt x="3390899" y="0"/>
                  </a:lnTo>
                  <a:lnTo>
                    <a:pt x="76199" y="0"/>
                  </a:lnTo>
                  <a:lnTo>
                    <a:pt x="46291" y="5905"/>
                  </a:lnTo>
                  <a:lnTo>
                    <a:pt x="22097" y="22097"/>
                  </a:lnTo>
                  <a:lnTo>
                    <a:pt x="5905" y="46291"/>
                  </a:lnTo>
                  <a:lnTo>
                    <a:pt x="0" y="76199"/>
                  </a:lnTo>
                  <a:lnTo>
                    <a:pt x="0" y="380999"/>
                  </a:lnTo>
                  <a:lnTo>
                    <a:pt x="5905" y="410908"/>
                  </a:lnTo>
                  <a:lnTo>
                    <a:pt x="22097" y="435101"/>
                  </a:lnTo>
                  <a:lnTo>
                    <a:pt x="46291" y="451294"/>
                  </a:lnTo>
                  <a:lnTo>
                    <a:pt x="76199" y="457199"/>
                  </a:lnTo>
                  <a:lnTo>
                    <a:pt x="3390899" y="457199"/>
                  </a:lnTo>
                  <a:lnTo>
                    <a:pt x="3420165" y="451294"/>
                  </a:lnTo>
                  <a:lnTo>
                    <a:pt x="3444430" y="435101"/>
                  </a:lnTo>
                  <a:lnTo>
                    <a:pt x="3460980" y="410908"/>
                  </a:lnTo>
                  <a:lnTo>
                    <a:pt x="3467099" y="380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66566" y="5477255"/>
              <a:ext cx="3477895" cy="466725"/>
            </a:xfrm>
            <a:custGeom>
              <a:avLst/>
              <a:gdLst/>
              <a:ahLst/>
              <a:cxnLst/>
              <a:rect l="l" t="t" r="r" b="b"/>
              <a:pathLst>
                <a:path w="3477895" h="466725">
                  <a:moveTo>
                    <a:pt x="1524" y="394716"/>
                  </a:moveTo>
                  <a:lnTo>
                    <a:pt x="1524" y="73152"/>
                  </a:lnTo>
                  <a:lnTo>
                    <a:pt x="0" y="80772"/>
                  </a:lnTo>
                  <a:lnTo>
                    <a:pt x="0" y="385572"/>
                  </a:lnTo>
                  <a:lnTo>
                    <a:pt x="1524" y="394716"/>
                  </a:lnTo>
                  <a:close/>
                </a:path>
                <a:path w="3477895" h="466725">
                  <a:moveTo>
                    <a:pt x="3477768" y="393192"/>
                  </a:moveTo>
                  <a:lnTo>
                    <a:pt x="3477768" y="71628"/>
                  </a:lnTo>
                  <a:lnTo>
                    <a:pt x="3474720" y="56388"/>
                  </a:lnTo>
                  <a:lnTo>
                    <a:pt x="3471672" y="48768"/>
                  </a:lnTo>
                  <a:lnTo>
                    <a:pt x="3467100" y="41148"/>
                  </a:lnTo>
                  <a:lnTo>
                    <a:pt x="3464052" y="35052"/>
                  </a:lnTo>
                  <a:lnTo>
                    <a:pt x="3435096" y="9144"/>
                  </a:lnTo>
                  <a:lnTo>
                    <a:pt x="3404616" y="0"/>
                  </a:lnTo>
                  <a:lnTo>
                    <a:pt x="73152" y="0"/>
                  </a:lnTo>
                  <a:lnTo>
                    <a:pt x="57912" y="3048"/>
                  </a:lnTo>
                  <a:lnTo>
                    <a:pt x="42672" y="9144"/>
                  </a:lnTo>
                  <a:lnTo>
                    <a:pt x="24384" y="22860"/>
                  </a:lnTo>
                  <a:lnTo>
                    <a:pt x="24384" y="24384"/>
                  </a:lnTo>
                  <a:lnTo>
                    <a:pt x="13716" y="35052"/>
                  </a:lnTo>
                  <a:lnTo>
                    <a:pt x="10668" y="42672"/>
                  </a:lnTo>
                  <a:lnTo>
                    <a:pt x="6096" y="48768"/>
                  </a:lnTo>
                  <a:lnTo>
                    <a:pt x="4572" y="56388"/>
                  </a:lnTo>
                  <a:lnTo>
                    <a:pt x="1524" y="64008"/>
                  </a:lnTo>
                  <a:lnTo>
                    <a:pt x="1524" y="402336"/>
                  </a:lnTo>
                  <a:lnTo>
                    <a:pt x="7620" y="417576"/>
                  </a:lnTo>
                  <a:lnTo>
                    <a:pt x="10668" y="423672"/>
                  </a:lnTo>
                  <a:lnTo>
                    <a:pt x="10668" y="73152"/>
                  </a:lnTo>
                  <a:lnTo>
                    <a:pt x="12192" y="65532"/>
                  </a:lnTo>
                  <a:lnTo>
                    <a:pt x="13716" y="59436"/>
                  </a:lnTo>
                  <a:lnTo>
                    <a:pt x="22860" y="41148"/>
                  </a:lnTo>
                  <a:lnTo>
                    <a:pt x="30480" y="32258"/>
                  </a:lnTo>
                  <a:lnTo>
                    <a:pt x="30480" y="30480"/>
                  </a:lnTo>
                  <a:lnTo>
                    <a:pt x="42672" y="21336"/>
                  </a:lnTo>
                  <a:lnTo>
                    <a:pt x="47244" y="18288"/>
                  </a:lnTo>
                  <a:lnTo>
                    <a:pt x="54864" y="15240"/>
                  </a:lnTo>
                  <a:lnTo>
                    <a:pt x="60960" y="12192"/>
                  </a:lnTo>
                  <a:lnTo>
                    <a:pt x="67056" y="10668"/>
                  </a:lnTo>
                  <a:lnTo>
                    <a:pt x="74676" y="9144"/>
                  </a:lnTo>
                  <a:lnTo>
                    <a:pt x="3404616" y="9144"/>
                  </a:lnTo>
                  <a:lnTo>
                    <a:pt x="3410712" y="10668"/>
                  </a:lnTo>
                  <a:lnTo>
                    <a:pt x="3418332" y="12192"/>
                  </a:lnTo>
                  <a:lnTo>
                    <a:pt x="3456432" y="41148"/>
                  </a:lnTo>
                  <a:lnTo>
                    <a:pt x="3464052" y="59436"/>
                  </a:lnTo>
                  <a:lnTo>
                    <a:pt x="3467100" y="67056"/>
                  </a:lnTo>
                  <a:lnTo>
                    <a:pt x="3467100" y="426212"/>
                  </a:lnTo>
                  <a:lnTo>
                    <a:pt x="3468624" y="423672"/>
                  </a:lnTo>
                  <a:lnTo>
                    <a:pt x="3471672" y="417576"/>
                  </a:lnTo>
                  <a:lnTo>
                    <a:pt x="3474720" y="409956"/>
                  </a:lnTo>
                  <a:lnTo>
                    <a:pt x="3476244" y="402336"/>
                  </a:lnTo>
                  <a:lnTo>
                    <a:pt x="3477768" y="393192"/>
                  </a:lnTo>
                  <a:close/>
                </a:path>
                <a:path w="3477895" h="466725">
                  <a:moveTo>
                    <a:pt x="32004" y="435864"/>
                  </a:moveTo>
                  <a:lnTo>
                    <a:pt x="12192" y="399288"/>
                  </a:lnTo>
                  <a:lnTo>
                    <a:pt x="10668" y="393192"/>
                  </a:lnTo>
                  <a:lnTo>
                    <a:pt x="10668" y="423672"/>
                  </a:lnTo>
                  <a:lnTo>
                    <a:pt x="15240" y="431292"/>
                  </a:lnTo>
                  <a:lnTo>
                    <a:pt x="24384" y="441960"/>
                  </a:lnTo>
                  <a:lnTo>
                    <a:pt x="24384" y="443484"/>
                  </a:lnTo>
                  <a:lnTo>
                    <a:pt x="30480" y="448056"/>
                  </a:lnTo>
                  <a:lnTo>
                    <a:pt x="30480" y="435864"/>
                  </a:lnTo>
                  <a:lnTo>
                    <a:pt x="32004" y="435864"/>
                  </a:lnTo>
                  <a:close/>
                </a:path>
                <a:path w="3477895" h="466725">
                  <a:moveTo>
                    <a:pt x="32004" y="30480"/>
                  </a:moveTo>
                  <a:lnTo>
                    <a:pt x="30480" y="30480"/>
                  </a:lnTo>
                  <a:lnTo>
                    <a:pt x="30480" y="32258"/>
                  </a:lnTo>
                  <a:lnTo>
                    <a:pt x="32004" y="30480"/>
                  </a:lnTo>
                  <a:close/>
                </a:path>
                <a:path w="3477895" h="466725">
                  <a:moveTo>
                    <a:pt x="3467100" y="426212"/>
                  </a:moveTo>
                  <a:lnTo>
                    <a:pt x="3467100" y="393192"/>
                  </a:lnTo>
                  <a:lnTo>
                    <a:pt x="3465576" y="400812"/>
                  </a:lnTo>
                  <a:lnTo>
                    <a:pt x="3462528" y="413004"/>
                  </a:lnTo>
                  <a:lnTo>
                    <a:pt x="3459480" y="419100"/>
                  </a:lnTo>
                  <a:lnTo>
                    <a:pt x="3454908" y="425196"/>
                  </a:lnTo>
                  <a:lnTo>
                    <a:pt x="3447288" y="435864"/>
                  </a:lnTo>
                  <a:lnTo>
                    <a:pt x="3436620" y="445008"/>
                  </a:lnTo>
                  <a:lnTo>
                    <a:pt x="3424428" y="451104"/>
                  </a:lnTo>
                  <a:lnTo>
                    <a:pt x="3416808" y="454152"/>
                  </a:lnTo>
                  <a:lnTo>
                    <a:pt x="3410712" y="455676"/>
                  </a:lnTo>
                  <a:lnTo>
                    <a:pt x="3403092" y="455676"/>
                  </a:lnTo>
                  <a:lnTo>
                    <a:pt x="3396996" y="457200"/>
                  </a:lnTo>
                  <a:lnTo>
                    <a:pt x="82296" y="457200"/>
                  </a:lnTo>
                  <a:lnTo>
                    <a:pt x="74676" y="455676"/>
                  </a:lnTo>
                  <a:lnTo>
                    <a:pt x="67056" y="455676"/>
                  </a:lnTo>
                  <a:lnTo>
                    <a:pt x="60960" y="454152"/>
                  </a:lnTo>
                  <a:lnTo>
                    <a:pt x="53340" y="451104"/>
                  </a:lnTo>
                  <a:lnTo>
                    <a:pt x="41148" y="445008"/>
                  </a:lnTo>
                  <a:lnTo>
                    <a:pt x="30480" y="435864"/>
                  </a:lnTo>
                  <a:lnTo>
                    <a:pt x="30480" y="448056"/>
                  </a:lnTo>
                  <a:lnTo>
                    <a:pt x="42672" y="457200"/>
                  </a:lnTo>
                  <a:lnTo>
                    <a:pt x="57912" y="463296"/>
                  </a:lnTo>
                  <a:lnTo>
                    <a:pt x="73152" y="466344"/>
                  </a:lnTo>
                  <a:lnTo>
                    <a:pt x="3404616" y="466344"/>
                  </a:lnTo>
                  <a:lnTo>
                    <a:pt x="3442716" y="452628"/>
                  </a:lnTo>
                  <a:lnTo>
                    <a:pt x="3464052" y="431292"/>
                  </a:lnTo>
                  <a:lnTo>
                    <a:pt x="3467100" y="426212"/>
                  </a:lnTo>
                  <a:close/>
                </a:path>
              </a:pathLst>
            </a:custGeom>
            <a:solidFill>
              <a:srgbClr val="93B5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7491359" y="5554469"/>
            <a:ext cx="10274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Méthodes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061600" y="1611883"/>
            <a:ext cx="106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endParaRPr sz="12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322449" y="2987052"/>
            <a:ext cx="4014470" cy="3677920"/>
          </a:xfrm>
          <a:custGeom>
            <a:avLst/>
            <a:gdLst/>
            <a:ahLst/>
            <a:cxnLst/>
            <a:rect l="l" t="t" r="r" b="b"/>
            <a:pathLst>
              <a:path w="4014470" h="3677920">
                <a:moveTo>
                  <a:pt x="3899916" y="1138428"/>
                </a:moveTo>
                <a:lnTo>
                  <a:pt x="3817620" y="1089660"/>
                </a:lnTo>
                <a:lnTo>
                  <a:pt x="3816096" y="1088136"/>
                </a:lnTo>
                <a:lnTo>
                  <a:pt x="3813048" y="1088136"/>
                </a:lnTo>
                <a:lnTo>
                  <a:pt x="3811524" y="1091184"/>
                </a:lnTo>
                <a:lnTo>
                  <a:pt x="3810000" y="1092708"/>
                </a:lnTo>
                <a:lnTo>
                  <a:pt x="3810000" y="1095756"/>
                </a:lnTo>
                <a:lnTo>
                  <a:pt x="3813048" y="1097280"/>
                </a:lnTo>
                <a:lnTo>
                  <a:pt x="3872306" y="1133551"/>
                </a:lnTo>
                <a:lnTo>
                  <a:pt x="146316" y="1074445"/>
                </a:lnTo>
                <a:lnTo>
                  <a:pt x="144780" y="1074420"/>
                </a:lnTo>
                <a:lnTo>
                  <a:pt x="129540" y="1074420"/>
                </a:lnTo>
                <a:lnTo>
                  <a:pt x="115824" y="1074420"/>
                </a:lnTo>
                <a:lnTo>
                  <a:pt x="94488" y="1071372"/>
                </a:lnTo>
                <a:lnTo>
                  <a:pt x="85344" y="1069848"/>
                </a:lnTo>
                <a:lnTo>
                  <a:pt x="82296" y="1068324"/>
                </a:lnTo>
                <a:lnTo>
                  <a:pt x="79248" y="1068324"/>
                </a:lnTo>
                <a:lnTo>
                  <a:pt x="77724" y="1066800"/>
                </a:lnTo>
                <a:lnTo>
                  <a:pt x="77724" y="803148"/>
                </a:lnTo>
                <a:lnTo>
                  <a:pt x="76200" y="801624"/>
                </a:lnTo>
                <a:lnTo>
                  <a:pt x="76200" y="800100"/>
                </a:lnTo>
                <a:lnTo>
                  <a:pt x="74676" y="798576"/>
                </a:lnTo>
                <a:lnTo>
                  <a:pt x="74676" y="797052"/>
                </a:lnTo>
                <a:lnTo>
                  <a:pt x="73152" y="797052"/>
                </a:lnTo>
                <a:lnTo>
                  <a:pt x="71628" y="795528"/>
                </a:lnTo>
                <a:lnTo>
                  <a:pt x="68580" y="794004"/>
                </a:lnTo>
                <a:lnTo>
                  <a:pt x="64008" y="792480"/>
                </a:lnTo>
                <a:lnTo>
                  <a:pt x="60960" y="792480"/>
                </a:lnTo>
                <a:lnTo>
                  <a:pt x="51816" y="790956"/>
                </a:lnTo>
                <a:lnTo>
                  <a:pt x="41148" y="789432"/>
                </a:lnTo>
                <a:lnTo>
                  <a:pt x="28956" y="787908"/>
                </a:lnTo>
                <a:lnTo>
                  <a:pt x="15240" y="786384"/>
                </a:lnTo>
                <a:lnTo>
                  <a:pt x="0" y="786384"/>
                </a:lnTo>
                <a:lnTo>
                  <a:pt x="0" y="797052"/>
                </a:lnTo>
                <a:lnTo>
                  <a:pt x="27432" y="797052"/>
                </a:lnTo>
                <a:lnTo>
                  <a:pt x="39624" y="798576"/>
                </a:lnTo>
                <a:lnTo>
                  <a:pt x="50292" y="800100"/>
                </a:lnTo>
                <a:lnTo>
                  <a:pt x="59436" y="801624"/>
                </a:lnTo>
                <a:lnTo>
                  <a:pt x="62484" y="803148"/>
                </a:lnTo>
                <a:lnTo>
                  <a:pt x="65532" y="803148"/>
                </a:lnTo>
                <a:lnTo>
                  <a:pt x="67056" y="804672"/>
                </a:lnTo>
                <a:lnTo>
                  <a:pt x="67056" y="1069848"/>
                </a:lnTo>
                <a:lnTo>
                  <a:pt x="68580" y="1071372"/>
                </a:lnTo>
                <a:lnTo>
                  <a:pt x="68580" y="1072896"/>
                </a:lnTo>
                <a:lnTo>
                  <a:pt x="70104" y="1072896"/>
                </a:lnTo>
                <a:lnTo>
                  <a:pt x="70104" y="1074420"/>
                </a:lnTo>
                <a:lnTo>
                  <a:pt x="76200" y="1077468"/>
                </a:lnTo>
                <a:lnTo>
                  <a:pt x="77724" y="1077468"/>
                </a:lnTo>
                <a:lnTo>
                  <a:pt x="79248" y="1077468"/>
                </a:lnTo>
                <a:lnTo>
                  <a:pt x="82296" y="1078992"/>
                </a:lnTo>
                <a:lnTo>
                  <a:pt x="87630" y="1079881"/>
                </a:lnTo>
                <a:lnTo>
                  <a:pt x="83820" y="1080516"/>
                </a:lnTo>
                <a:lnTo>
                  <a:pt x="79248" y="1080516"/>
                </a:lnTo>
                <a:lnTo>
                  <a:pt x="70104" y="1085088"/>
                </a:lnTo>
                <a:lnTo>
                  <a:pt x="70104" y="1086612"/>
                </a:lnTo>
                <a:lnTo>
                  <a:pt x="68580" y="1086612"/>
                </a:lnTo>
                <a:lnTo>
                  <a:pt x="68580" y="1088136"/>
                </a:lnTo>
                <a:lnTo>
                  <a:pt x="67056" y="1089660"/>
                </a:lnTo>
                <a:lnTo>
                  <a:pt x="67056" y="1354074"/>
                </a:lnTo>
                <a:lnTo>
                  <a:pt x="65532" y="1354836"/>
                </a:lnTo>
                <a:lnTo>
                  <a:pt x="67056" y="1354836"/>
                </a:lnTo>
                <a:lnTo>
                  <a:pt x="64008" y="1356360"/>
                </a:lnTo>
                <a:lnTo>
                  <a:pt x="62484" y="1356360"/>
                </a:lnTo>
                <a:lnTo>
                  <a:pt x="57912" y="1357884"/>
                </a:lnTo>
                <a:lnTo>
                  <a:pt x="50292" y="1359408"/>
                </a:lnTo>
                <a:lnTo>
                  <a:pt x="39624" y="1360932"/>
                </a:lnTo>
                <a:lnTo>
                  <a:pt x="27432" y="1362456"/>
                </a:lnTo>
                <a:lnTo>
                  <a:pt x="0" y="1362456"/>
                </a:lnTo>
                <a:lnTo>
                  <a:pt x="0" y="1373124"/>
                </a:lnTo>
                <a:lnTo>
                  <a:pt x="15240" y="1373124"/>
                </a:lnTo>
                <a:lnTo>
                  <a:pt x="28956" y="1371600"/>
                </a:lnTo>
                <a:lnTo>
                  <a:pt x="41148" y="1370076"/>
                </a:lnTo>
                <a:lnTo>
                  <a:pt x="51816" y="1368552"/>
                </a:lnTo>
                <a:lnTo>
                  <a:pt x="60960" y="1367028"/>
                </a:lnTo>
                <a:lnTo>
                  <a:pt x="65532" y="1365504"/>
                </a:lnTo>
                <a:lnTo>
                  <a:pt x="68580" y="1365504"/>
                </a:lnTo>
                <a:lnTo>
                  <a:pt x="70104" y="1363980"/>
                </a:lnTo>
                <a:lnTo>
                  <a:pt x="71628" y="1363980"/>
                </a:lnTo>
                <a:lnTo>
                  <a:pt x="73152" y="1362456"/>
                </a:lnTo>
                <a:lnTo>
                  <a:pt x="74676" y="1362456"/>
                </a:lnTo>
                <a:lnTo>
                  <a:pt x="74676" y="1360932"/>
                </a:lnTo>
                <a:lnTo>
                  <a:pt x="76200" y="1360932"/>
                </a:lnTo>
                <a:lnTo>
                  <a:pt x="76200" y="1357884"/>
                </a:lnTo>
                <a:lnTo>
                  <a:pt x="77724" y="1356360"/>
                </a:lnTo>
                <a:lnTo>
                  <a:pt x="77724" y="1092708"/>
                </a:lnTo>
                <a:lnTo>
                  <a:pt x="79248" y="1091184"/>
                </a:lnTo>
                <a:lnTo>
                  <a:pt x="82296" y="1091184"/>
                </a:lnTo>
                <a:lnTo>
                  <a:pt x="85344" y="1089660"/>
                </a:lnTo>
                <a:lnTo>
                  <a:pt x="103632" y="1086612"/>
                </a:lnTo>
                <a:lnTo>
                  <a:pt x="115824" y="1085088"/>
                </a:lnTo>
                <a:lnTo>
                  <a:pt x="129540" y="1085088"/>
                </a:lnTo>
                <a:lnTo>
                  <a:pt x="143256" y="1085088"/>
                </a:lnTo>
                <a:lnTo>
                  <a:pt x="3871925" y="1144219"/>
                </a:lnTo>
                <a:lnTo>
                  <a:pt x="3811524" y="1178052"/>
                </a:lnTo>
                <a:lnTo>
                  <a:pt x="3808476" y="1179576"/>
                </a:lnTo>
                <a:lnTo>
                  <a:pt x="3808476" y="1182624"/>
                </a:lnTo>
                <a:lnTo>
                  <a:pt x="3810000" y="1184148"/>
                </a:lnTo>
                <a:lnTo>
                  <a:pt x="3811524" y="1187196"/>
                </a:lnTo>
                <a:lnTo>
                  <a:pt x="3816096" y="1187196"/>
                </a:lnTo>
                <a:lnTo>
                  <a:pt x="3889476" y="1144498"/>
                </a:lnTo>
                <a:lnTo>
                  <a:pt x="3890772" y="1144524"/>
                </a:lnTo>
                <a:lnTo>
                  <a:pt x="3890772" y="1143736"/>
                </a:lnTo>
                <a:lnTo>
                  <a:pt x="3899916" y="1138428"/>
                </a:lnTo>
                <a:close/>
              </a:path>
              <a:path w="4014470" h="3677920">
                <a:moveTo>
                  <a:pt x="3950208" y="2723388"/>
                </a:moveTo>
                <a:lnTo>
                  <a:pt x="3936403" y="2715755"/>
                </a:lnTo>
                <a:lnTo>
                  <a:pt x="3936403" y="2727909"/>
                </a:lnTo>
                <a:lnTo>
                  <a:pt x="3928694" y="2723591"/>
                </a:lnTo>
                <a:lnTo>
                  <a:pt x="3936403" y="2727909"/>
                </a:lnTo>
                <a:lnTo>
                  <a:pt x="3936403" y="2715755"/>
                </a:lnTo>
                <a:lnTo>
                  <a:pt x="3864864" y="2676144"/>
                </a:lnTo>
                <a:lnTo>
                  <a:pt x="3863340" y="2674620"/>
                </a:lnTo>
                <a:lnTo>
                  <a:pt x="3860292" y="2676144"/>
                </a:lnTo>
                <a:lnTo>
                  <a:pt x="3858768" y="2677668"/>
                </a:lnTo>
                <a:lnTo>
                  <a:pt x="3857244" y="2680716"/>
                </a:lnTo>
                <a:lnTo>
                  <a:pt x="3857244" y="2683764"/>
                </a:lnTo>
                <a:lnTo>
                  <a:pt x="3860292" y="2685288"/>
                </a:lnTo>
                <a:lnTo>
                  <a:pt x="3920744" y="2719133"/>
                </a:lnTo>
                <a:lnTo>
                  <a:pt x="3240024" y="2731008"/>
                </a:lnTo>
                <a:lnTo>
                  <a:pt x="3218688" y="2731008"/>
                </a:lnTo>
                <a:lnTo>
                  <a:pt x="3197352" y="2729484"/>
                </a:lnTo>
                <a:lnTo>
                  <a:pt x="3176016" y="2729484"/>
                </a:lnTo>
                <a:lnTo>
                  <a:pt x="3119628" y="2724912"/>
                </a:lnTo>
                <a:lnTo>
                  <a:pt x="3075432" y="2717292"/>
                </a:lnTo>
                <a:lnTo>
                  <a:pt x="3063240" y="2715768"/>
                </a:lnTo>
                <a:lnTo>
                  <a:pt x="3052572" y="2712720"/>
                </a:lnTo>
                <a:lnTo>
                  <a:pt x="3043428" y="2709672"/>
                </a:lnTo>
                <a:lnTo>
                  <a:pt x="3031236" y="2703576"/>
                </a:lnTo>
                <a:lnTo>
                  <a:pt x="3032760" y="2703576"/>
                </a:lnTo>
                <a:lnTo>
                  <a:pt x="3029712" y="2700528"/>
                </a:lnTo>
                <a:lnTo>
                  <a:pt x="3029712" y="1834896"/>
                </a:lnTo>
                <a:lnTo>
                  <a:pt x="3028188" y="1830324"/>
                </a:lnTo>
                <a:lnTo>
                  <a:pt x="3023616" y="1825752"/>
                </a:lnTo>
                <a:lnTo>
                  <a:pt x="3023616" y="1824228"/>
                </a:lnTo>
                <a:lnTo>
                  <a:pt x="3022092" y="1824228"/>
                </a:lnTo>
                <a:lnTo>
                  <a:pt x="3015996" y="1821180"/>
                </a:lnTo>
                <a:lnTo>
                  <a:pt x="3008376" y="1816608"/>
                </a:lnTo>
                <a:lnTo>
                  <a:pt x="2999232" y="1813560"/>
                </a:lnTo>
                <a:lnTo>
                  <a:pt x="2988564" y="1810512"/>
                </a:lnTo>
                <a:lnTo>
                  <a:pt x="2976372" y="1807464"/>
                </a:lnTo>
                <a:lnTo>
                  <a:pt x="2961132" y="1805940"/>
                </a:lnTo>
                <a:lnTo>
                  <a:pt x="2945892" y="1802892"/>
                </a:lnTo>
                <a:lnTo>
                  <a:pt x="2912364" y="1799844"/>
                </a:lnTo>
                <a:lnTo>
                  <a:pt x="2872740" y="1796796"/>
                </a:lnTo>
                <a:lnTo>
                  <a:pt x="2851404" y="1795272"/>
                </a:lnTo>
                <a:lnTo>
                  <a:pt x="2808732" y="1795272"/>
                </a:lnTo>
                <a:lnTo>
                  <a:pt x="2808732" y="1804416"/>
                </a:lnTo>
                <a:lnTo>
                  <a:pt x="2830068" y="1804416"/>
                </a:lnTo>
                <a:lnTo>
                  <a:pt x="2851404" y="1805940"/>
                </a:lnTo>
                <a:lnTo>
                  <a:pt x="2872740" y="1805940"/>
                </a:lnTo>
                <a:lnTo>
                  <a:pt x="2892552" y="1807464"/>
                </a:lnTo>
                <a:lnTo>
                  <a:pt x="2929128" y="1810512"/>
                </a:lnTo>
                <a:lnTo>
                  <a:pt x="2944368" y="1813560"/>
                </a:lnTo>
                <a:lnTo>
                  <a:pt x="2959608" y="1815084"/>
                </a:lnTo>
                <a:lnTo>
                  <a:pt x="2987040" y="1821180"/>
                </a:lnTo>
                <a:lnTo>
                  <a:pt x="3005328" y="1827276"/>
                </a:lnTo>
                <a:lnTo>
                  <a:pt x="3012948" y="1830324"/>
                </a:lnTo>
                <a:lnTo>
                  <a:pt x="3015996" y="1832356"/>
                </a:lnTo>
                <a:lnTo>
                  <a:pt x="3017520" y="1833372"/>
                </a:lnTo>
                <a:lnTo>
                  <a:pt x="3019044" y="1834896"/>
                </a:lnTo>
                <a:lnTo>
                  <a:pt x="3019044" y="2702052"/>
                </a:lnTo>
                <a:lnTo>
                  <a:pt x="3020568" y="2705100"/>
                </a:lnTo>
                <a:lnTo>
                  <a:pt x="3020568" y="2706624"/>
                </a:lnTo>
                <a:lnTo>
                  <a:pt x="3022092" y="2706624"/>
                </a:lnTo>
                <a:lnTo>
                  <a:pt x="3025140" y="2711196"/>
                </a:lnTo>
                <a:lnTo>
                  <a:pt x="3026664" y="2711196"/>
                </a:lnTo>
                <a:lnTo>
                  <a:pt x="3031236" y="2714244"/>
                </a:lnTo>
                <a:lnTo>
                  <a:pt x="3038856" y="2718816"/>
                </a:lnTo>
                <a:lnTo>
                  <a:pt x="3060192" y="2724912"/>
                </a:lnTo>
                <a:lnTo>
                  <a:pt x="3072384" y="2727960"/>
                </a:lnTo>
                <a:lnTo>
                  <a:pt x="3086100" y="2731008"/>
                </a:lnTo>
                <a:lnTo>
                  <a:pt x="3119628" y="2734056"/>
                </a:lnTo>
                <a:lnTo>
                  <a:pt x="3130804" y="2736088"/>
                </a:lnTo>
                <a:lnTo>
                  <a:pt x="3102864" y="2738628"/>
                </a:lnTo>
                <a:lnTo>
                  <a:pt x="3072384" y="2744724"/>
                </a:lnTo>
                <a:lnTo>
                  <a:pt x="3060192" y="2746248"/>
                </a:lnTo>
                <a:lnTo>
                  <a:pt x="3049524" y="2749296"/>
                </a:lnTo>
                <a:lnTo>
                  <a:pt x="3040380" y="2753868"/>
                </a:lnTo>
                <a:lnTo>
                  <a:pt x="3031236" y="2756916"/>
                </a:lnTo>
                <a:lnTo>
                  <a:pt x="3026664" y="2759964"/>
                </a:lnTo>
                <a:lnTo>
                  <a:pt x="3025140" y="2759964"/>
                </a:lnTo>
                <a:lnTo>
                  <a:pt x="3025140" y="2761488"/>
                </a:lnTo>
                <a:lnTo>
                  <a:pt x="3020568" y="2766060"/>
                </a:lnTo>
                <a:lnTo>
                  <a:pt x="3019044" y="2770632"/>
                </a:lnTo>
                <a:lnTo>
                  <a:pt x="3019044" y="3636264"/>
                </a:lnTo>
                <a:lnTo>
                  <a:pt x="3015996" y="3639312"/>
                </a:lnTo>
                <a:lnTo>
                  <a:pt x="3017520" y="3639312"/>
                </a:lnTo>
                <a:lnTo>
                  <a:pt x="3005328" y="3645408"/>
                </a:lnTo>
                <a:lnTo>
                  <a:pt x="2996184" y="3648456"/>
                </a:lnTo>
                <a:lnTo>
                  <a:pt x="2985516" y="3651504"/>
                </a:lnTo>
                <a:lnTo>
                  <a:pt x="2973324" y="3654552"/>
                </a:lnTo>
                <a:lnTo>
                  <a:pt x="2959608" y="3656076"/>
                </a:lnTo>
                <a:lnTo>
                  <a:pt x="2944368" y="3659124"/>
                </a:lnTo>
                <a:lnTo>
                  <a:pt x="2929128" y="3660648"/>
                </a:lnTo>
                <a:lnTo>
                  <a:pt x="2892552" y="3663696"/>
                </a:lnTo>
                <a:lnTo>
                  <a:pt x="2872740" y="3665220"/>
                </a:lnTo>
                <a:lnTo>
                  <a:pt x="2851404" y="3666744"/>
                </a:lnTo>
                <a:lnTo>
                  <a:pt x="2808732" y="3666744"/>
                </a:lnTo>
                <a:lnTo>
                  <a:pt x="2808732" y="3677412"/>
                </a:lnTo>
                <a:lnTo>
                  <a:pt x="2830068" y="3677412"/>
                </a:lnTo>
                <a:lnTo>
                  <a:pt x="2851404" y="3675888"/>
                </a:lnTo>
                <a:lnTo>
                  <a:pt x="2872740" y="3675888"/>
                </a:lnTo>
                <a:lnTo>
                  <a:pt x="2912364" y="3672840"/>
                </a:lnTo>
                <a:lnTo>
                  <a:pt x="2929128" y="3671316"/>
                </a:lnTo>
                <a:lnTo>
                  <a:pt x="2945892" y="3668268"/>
                </a:lnTo>
                <a:lnTo>
                  <a:pt x="2962656" y="3666744"/>
                </a:lnTo>
                <a:lnTo>
                  <a:pt x="3009900" y="3654552"/>
                </a:lnTo>
                <a:lnTo>
                  <a:pt x="3022092" y="3646932"/>
                </a:lnTo>
                <a:lnTo>
                  <a:pt x="3023616" y="3646932"/>
                </a:lnTo>
                <a:lnTo>
                  <a:pt x="3026664" y="3643884"/>
                </a:lnTo>
                <a:lnTo>
                  <a:pt x="3026664" y="3642360"/>
                </a:lnTo>
                <a:lnTo>
                  <a:pt x="3028188" y="3642360"/>
                </a:lnTo>
                <a:lnTo>
                  <a:pt x="3028188" y="3640836"/>
                </a:lnTo>
                <a:lnTo>
                  <a:pt x="3029712" y="3637788"/>
                </a:lnTo>
                <a:lnTo>
                  <a:pt x="3029712" y="2772156"/>
                </a:lnTo>
                <a:lnTo>
                  <a:pt x="3031236" y="2769870"/>
                </a:lnTo>
                <a:lnTo>
                  <a:pt x="3032150" y="2768498"/>
                </a:lnTo>
                <a:lnTo>
                  <a:pt x="3032760" y="2768092"/>
                </a:lnTo>
                <a:lnTo>
                  <a:pt x="3073908" y="2753868"/>
                </a:lnTo>
                <a:lnTo>
                  <a:pt x="3104388" y="2749296"/>
                </a:lnTo>
                <a:lnTo>
                  <a:pt x="3119628" y="2746248"/>
                </a:lnTo>
                <a:lnTo>
                  <a:pt x="3156204" y="2743200"/>
                </a:lnTo>
                <a:lnTo>
                  <a:pt x="3176016" y="2743200"/>
                </a:lnTo>
                <a:lnTo>
                  <a:pt x="3197352" y="2741676"/>
                </a:lnTo>
                <a:lnTo>
                  <a:pt x="3218688" y="2741676"/>
                </a:lnTo>
                <a:lnTo>
                  <a:pt x="3240024" y="2740152"/>
                </a:lnTo>
                <a:lnTo>
                  <a:pt x="3243072" y="2740152"/>
                </a:lnTo>
                <a:lnTo>
                  <a:pt x="3921023" y="2728277"/>
                </a:lnTo>
                <a:lnTo>
                  <a:pt x="3936492" y="2728010"/>
                </a:lnTo>
                <a:lnTo>
                  <a:pt x="3939540" y="2727960"/>
                </a:lnTo>
                <a:lnTo>
                  <a:pt x="3921023" y="2728277"/>
                </a:lnTo>
                <a:lnTo>
                  <a:pt x="3861816" y="2764536"/>
                </a:lnTo>
                <a:lnTo>
                  <a:pt x="3858768" y="2766060"/>
                </a:lnTo>
                <a:lnTo>
                  <a:pt x="3858768" y="2769108"/>
                </a:lnTo>
                <a:lnTo>
                  <a:pt x="3860292" y="2772156"/>
                </a:lnTo>
                <a:lnTo>
                  <a:pt x="3861816" y="2773680"/>
                </a:lnTo>
                <a:lnTo>
                  <a:pt x="3864864" y="2775204"/>
                </a:lnTo>
                <a:lnTo>
                  <a:pt x="3866388" y="2773680"/>
                </a:lnTo>
                <a:lnTo>
                  <a:pt x="3939540" y="2729788"/>
                </a:lnTo>
                <a:lnTo>
                  <a:pt x="3950208" y="2723388"/>
                </a:lnTo>
                <a:close/>
              </a:path>
              <a:path w="4014470" h="3677920">
                <a:moveTo>
                  <a:pt x="4014216" y="45720"/>
                </a:moveTo>
                <a:lnTo>
                  <a:pt x="27952" y="45720"/>
                </a:lnTo>
                <a:lnTo>
                  <a:pt x="88392" y="10668"/>
                </a:lnTo>
                <a:lnTo>
                  <a:pt x="91440" y="9144"/>
                </a:lnTo>
                <a:lnTo>
                  <a:pt x="91440" y="6096"/>
                </a:lnTo>
                <a:lnTo>
                  <a:pt x="89916" y="3048"/>
                </a:lnTo>
                <a:lnTo>
                  <a:pt x="88392" y="1524"/>
                </a:lnTo>
                <a:lnTo>
                  <a:pt x="85344" y="0"/>
                </a:lnTo>
                <a:lnTo>
                  <a:pt x="83820" y="1524"/>
                </a:lnTo>
                <a:lnTo>
                  <a:pt x="0" y="50292"/>
                </a:lnTo>
                <a:lnTo>
                  <a:pt x="9144" y="55600"/>
                </a:lnTo>
                <a:lnTo>
                  <a:pt x="83820" y="99060"/>
                </a:lnTo>
                <a:lnTo>
                  <a:pt x="85344" y="100584"/>
                </a:lnTo>
                <a:lnTo>
                  <a:pt x="88392" y="99060"/>
                </a:lnTo>
                <a:lnTo>
                  <a:pt x="89916" y="97536"/>
                </a:lnTo>
                <a:lnTo>
                  <a:pt x="91440" y="94488"/>
                </a:lnTo>
                <a:lnTo>
                  <a:pt x="91440" y="91440"/>
                </a:lnTo>
                <a:lnTo>
                  <a:pt x="88392" y="89916"/>
                </a:lnTo>
                <a:lnTo>
                  <a:pt x="27952" y="54864"/>
                </a:lnTo>
                <a:lnTo>
                  <a:pt x="4014216" y="54864"/>
                </a:lnTo>
                <a:lnTo>
                  <a:pt x="4014216" y="45720"/>
                </a:lnTo>
                <a:close/>
              </a:path>
            </a:pathLst>
          </a:custGeom>
          <a:solidFill>
            <a:srgbClr val="93B5D2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1148" y="1651107"/>
            <a:ext cx="81280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80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75996" rIns="0" bIns="0" rtlCol="0">
            <a:spAutoFit/>
          </a:bodyPr>
          <a:lstStyle/>
          <a:p>
            <a:pPr marL="281940">
              <a:lnSpc>
                <a:spcPct val="100000"/>
              </a:lnSpc>
              <a:spcBef>
                <a:spcPts val="100"/>
              </a:spcBef>
            </a:pPr>
            <a:r>
              <a:rPr spc="-240" dirty="0"/>
              <a:t>Déclaration</a:t>
            </a:r>
            <a:r>
              <a:rPr b="0" spc="85" dirty="0">
                <a:latin typeface="Times New Roman"/>
                <a:cs typeface="Times New Roman"/>
              </a:rPr>
              <a:t> </a:t>
            </a:r>
            <a:r>
              <a:rPr spc="-360" dirty="0"/>
              <a:t>des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spc="-275" dirty="0"/>
              <a:t>attributs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8995" y="1940052"/>
            <a:ext cx="8144256" cy="421995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63124" y="1613407"/>
            <a:ext cx="106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10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20685" y="1875535"/>
            <a:ext cx="8180070" cy="3743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  <a:buClr>
                <a:srgbClr val="006FC0"/>
              </a:buClr>
              <a:buFont typeface="Wingdings"/>
              <a:buChar char=""/>
              <a:tabLst>
                <a:tab pos="354965" algn="l"/>
              </a:tabLst>
            </a:pPr>
            <a:r>
              <a:rPr sz="2400" b="1" dirty="0">
                <a:latin typeface="Times New Roman"/>
                <a:cs typeface="Times New Roman"/>
              </a:rPr>
              <a:t>Attributs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c'est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nom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l'on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donne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aux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variables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contenues </a:t>
            </a:r>
            <a:r>
              <a:rPr sz="2400" dirty="0">
                <a:latin typeface="Times New Roman"/>
                <a:cs typeface="Times New Roman"/>
              </a:rPr>
              <a:t>dans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classes.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3285"/>
              </a:lnSpc>
            </a:pPr>
            <a:r>
              <a:rPr sz="2800" b="1" spc="-245" dirty="0">
                <a:solidFill>
                  <a:srgbClr val="FF0000"/>
                </a:solidFill>
                <a:latin typeface="Arial"/>
                <a:cs typeface="Arial"/>
              </a:rPr>
              <a:t>Exemple</a:t>
            </a:r>
            <a:r>
              <a:rPr sz="2800" spc="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spc="-25" dirty="0">
                <a:solidFill>
                  <a:srgbClr val="FF0000"/>
                </a:solidFill>
                <a:latin typeface="Arial"/>
                <a:cs typeface="Arial"/>
              </a:rPr>
              <a:t>1:</a:t>
            </a:r>
            <a:endParaRPr sz="28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75"/>
              </a:spcBef>
              <a:buClr>
                <a:srgbClr val="006FC0"/>
              </a:buClr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Les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attributs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hauteur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largeur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type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classe</a:t>
            </a:r>
            <a:endParaRPr sz="2400">
              <a:latin typeface="Times New Roman"/>
              <a:cs typeface="Times New Roman"/>
            </a:endParaRPr>
          </a:p>
          <a:p>
            <a:pPr marL="354965">
              <a:lnSpc>
                <a:spcPct val="100000"/>
              </a:lnSpc>
            </a:pPr>
            <a:r>
              <a:rPr sz="2400" b="1" dirty="0">
                <a:solidFill>
                  <a:srgbClr val="00B0F0"/>
                </a:solidFill>
                <a:latin typeface="Times New Roman"/>
                <a:cs typeface="Times New Roman"/>
              </a:rPr>
              <a:t>Rectangle</a:t>
            </a:r>
            <a:r>
              <a:rPr sz="2400" b="1" spc="-40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pourront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être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déclarés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Times New Roman"/>
              <a:cs typeface="Times New Roman"/>
            </a:endParaRPr>
          </a:p>
          <a:p>
            <a:pPr marL="393065" marR="5601970">
              <a:lnSpc>
                <a:spcPct val="100000"/>
              </a:lnSpc>
            </a:pPr>
            <a:r>
              <a:rPr sz="2400" dirty="0">
                <a:solidFill>
                  <a:srgbClr val="00B0F0"/>
                </a:solidFill>
                <a:latin typeface="Times New Roman"/>
                <a:cs typeface="Times New Roman"/>
              </a:rPr>
              <a:t>class</a:t>
            </a:r>
            <a:r>
              <a:rPr sz="2400" spc="-55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B0F0"/>
                </a:solidFill>
                <a:latin typeface="Times New Roman"/>
                <a:cs typeface="Times New Roman"/>
              </a:rPr>
              <a:t>Rectangle</a:t>
            </a:r>
            <a:r>
              <a:rPr sz="2400" b="1" spc="-60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400" spc="-50" dirty="0">
                <a:solidFill>
                  <a:srgbClr val="FF0000"/>
                </a:solidFill>
                <a:latin typeface="Times New Roman"/>
                <a:cs typeface="Times New Roman"/>
              </a:rPr>
              <a:t>{ 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400" b="1" spc="-7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hauteur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400" b="1" spc="-7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largeur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  <a:p>
            <a:pPr marL="393065">
              <a:lnSpc>
                <a:spcPct val="100000"/>
              </a:lnSpc>
            </a:pP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};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27228" rIns="0" bIns="0" rtlCol="0">
            <a:spAutoFit/>
          </a:bodyPr>
          <a:lstStyle/>
          <a:p>
            <a:pPr marL="208915">
              <a:lnSpc>
                <a:spcPct val="100000"/>
              </a:lnSpc>
              <a:spcBef>
                <a:spcPts val="100"/>
              </a:spcBef>
            </a:pPr>
            <a:r>
              <a:rPr spc="-240" dirty="0"/>
              <a:t>Déclaration</a:t>
            </a:r>
            <a:r>
              <a:rPr b="0" spc="85" dirty="0">
                <a:latin typeface="Times New Roman"/>
                <a:cs typeface="Times New Roman"/>
              </a:rPr>
              <a:t> </a:t>
            </a:r>
            <a:r>
              <a:rPr spc="-360" dirty="0"/>
              <a:t>des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spc="-275" dirty="0"/>
              <a:t>attributs</a:t>
            </a:r>
          </a:p>
        </p:txBody>
      </p:sp>
      <p:sp>
        <p:nvSpPr>
          <p:cNvPr id="6" name="object 6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21976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10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11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7261" y="1866391"/>
            <a:ext cx="8079740" cy="15589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245" dirty="0">
                <a:solidFill>
                  <a:srgbClr val="FF0000"/>
                </a:solidFill>
                <a:latin typeface="Arial"/>
                <a:cs typeface="Arial"/>
              </a:rPr>
              <a:t>Exemple</a:t>
            </a:r>
            <a:r>
              <a:rPr sz="2800" spc="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spc="-25" dirty="0">
                <a:solidFill>
                  <a:srgbClr val="FF0000"/>
                </a:solidFill>
                <a:latin typeface="Arial"/>
                <a:cs typeface="Arial"/>
              </a:rPr>
              <a:t>2:</a:t>
            </a:r>
            <a:endParaRPr sz="2800">
              <a:latin typeface="Arial"/>
              <a:cs typeface="Arial"/>
            </a:endParaRPr>
          </a:p>
          <a:p>
            <a:pPr marL="354965" marR="5080" indent="-342900">
              <a:lnSpc>
                <a:spcPct val="100000"/>
              </a:lnSpc>
              <a:spcBef>
                <a:spcPts val="75"/>
              </a:spcBef>
              <a:buClr>
                <a:srgbClr val="006FC0"/>
              </a:buClr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Nous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supposerons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ici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qu’un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objet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type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B0F0"/>
                </a:solidFill>
                <a:latin typeface="Times New Roman"/>
                <a:cs typeface="Times New Roman"/>
              </a:rPr>
              <a:t>Point</a:t>
            </a:r>
            <a:r>
              <a:rPr sz="2400" b="1" spc="-20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sera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représenté </a:t>
            </a:r>
            <a:r>
              <a:rPr sz="2400" dirty="0">
                <a:latin typeface="Times New Roman"/>
                <a:cs typeface="Times New Roman"/>
              </a:rPr>
              <a:t>par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deux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coordonnées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entières.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Clr>
                <a:srgbClr val="006FC0"/>
              </a:buClr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Ils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nous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suffira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déclarer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ainsi</a:t>
            </a:r>
            <a:r>
              <a:rPr sz="2400" spc="-50" dirty="0">
                <a:latin typeface="Times New Roman"/>
                <a:cs typeface="Times New Roman"/>
              </a:rPr>
              <a:t> 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38260" y="3399534"/>
            <a:ext cx="77025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400" b="1" spc="-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x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6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400" b="1" spc="-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6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12096" y="3389476"/>
            <a:ext cx="1177925" cy="75692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88265">
              <a:lnSpc>
                <a:spcPct val="100000"/>
              </a:lnSpc>
              <a:spcBef>
                <a:spcPts val="580"/>
              </a:spcBef>
            </a:pPr>
            <a:r>
              <a:rPr sz="2000" dirty="0">
                <a:solidFill>
                  <a:srgbClr val="00863C"/>
                </a:solidFill>
                <a:latin typeface="Times New Roman"/>
                <a:cs typeface="Times New Roman"/>
              </a:rPr>
              <a:t>//</a:t>
            </a:r>
            <a:r>
              <a:rPr sz="2000" spc="-15" dirty="0">
                <a:solidFill>
                  <a:srgbClr val="00863C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0863C"/>
                </a:solidFill>
                <a:latin typeface="Times New Roman"/>
                <a:cs typeface="Times New Roman"/>
              </a:rPr>
              <a:t>abscisse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solidFill>
                  <a:srgbClr val="00863C"/>
                </a:solidFill>
                <a:latin typeface="Times New Roman"/>
                <a:cs typeface="Times New Roman"/>
              </a:rPr>
              <a:t>//</a:t>
            </a:r>
            <a:r>
              <a:rPr sz="2000" spc="-15" dirty="0">
                <a:solidFill>
                  <a:srgbClr val="00863C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0863C"/>
                </a:solidFill>
                <a:latin typeface="Times New Roman"/>
                <a:cs typeface="Times New Roman"/>
              </a:rPr>
              <a:t>ordonnée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27228" rIns="0" bIns="0" rtlCol="0">
            <a:spAutoFit/>
          </a:bodyPr>
          <a:lstStyle/>
          <a:p>
            <a:pPr marL="208915">
              <a:lnSpc>
                <a:spcPct val="100000"/>
              </a:lnSpc>
              <a:spcBef>
                <a:spcPts val="100"/>
              </a:spcBef>
            </a:pPr>
            <a:r>
              <a:rPr spc="-240" dirty="0"/>
              <a:t>Déclaration</a:t>
            </a:r>
            <a:r>
              <a:rPr b="0" spc="85" dirty="0">
                <a:latin typeface="Times New Roman"/>
                <a:cs typeface="Times New Roman"/>
              </a:rPr>
              <a:t> </a:t>
            </a:r>
            <a:r>
              <a:rPr spc="-360" dirty="0"/>
              <a:t>des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spc="-275" dirty="0"/>
              <a:t>attributs</a:t>
            </a:r>
          </a:p>
        </p:txBody>
      </p:sp>
      <p:sp>
        <p:nvSpPr>
          <p:cNvPr id="8" name="object 8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021976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11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5900" y="1767331"/>
            <a:ext cx="8697595" cy="3208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0" marR="7620" indent="-304800">
              <a:lnSpc>
                <a:spcPct val="124200"/>
              </a:lnSpc>
              <a:spcBef>
                <a:spcPts val="100"/>
              </a:spcBef>
              <a:buFont typeface="Wingdings"/>
              <a:buChar char=""/>
              <a:tabLst>
                <a:tab pos="317500" algn="l"/>
                <a:tab pos="332105" algn="l"/>
              </a:tabLst>
            </a:pPr>
            <a:r>
              <a:rPr sz="1400" dirty="0">
                <a:solidFill>
                  <a:srgbClr val="006FC0"/>
                </a:solidFill>
                <a:latin typeface="Times New Roman"/>
                <a:cs typeface="Times New Roman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Les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attributs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sont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variables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«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globales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»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au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module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constitue </a:t>
            </a: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classe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485140" marR="287655" lvl="1" indent="-152400">
              <a:lnSpc>
                <a:spcPct val="124200"/>
              </a:lnSpc>
              <a:spcBef>
                <a:spcPts val="10"/>
              </a:spcBef>
              <a:buSzPct val="58333"/>
              <a:buFont typeface="Wingdings"/>
              <a:buChar char=""/>
              <a:tabLst>
                <a:tab pos="485140" algn="l"/>
                <a:tab pos="492125" algn="l"/>
              </a:tabLst>
            </a:pP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Ils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sont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directement</a:t>
            </a:r>
            <a:r>
              <a:rPr sz="240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accessibles</a:t>
            </a:r>
            <a:r>
              <a:rPr sz="2400" b="1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dans</a:t>
            </a:r>
            <a:r>
              <a:rPr sz="24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toutes</a:t>
            </a:r>
            <a:r>
              <a:rPr sz="24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les</a:t>
            </a:r>
            <a:r>
              <a:rPr sz="24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méthodes</a:t>
            </a:r>
            <a:r>
              <a:rPr sz="24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la </a:t>
            </a:r>
            <a:r>
              <a:rPr sz="2400" spc="-10" dirty="0">
                <a:latin typeface="Times New Roman"/>
                <a:cs typeface="Times New Roman"/>
              </a:rPr>
              <a:t>classe.</a:t>
            </a:r>
            <a:endParaRPr sz="2400">
              <a:latin typeface="Times New Roman"/>
              <a:cs typeface="Times New Roman"/>
            </a:endParaRPr>
          </a:p>
          <a:p>
            <a:pPr marL="492125" lvl="1" indent="-159385">
              <a:lnSpc>
                <a:spcPct val="100000"/>
              </a:lnSpc>
              <a:spcBef>
                <a:spcPts val="695"/>
              </a:spcBef>
              <a:buClr>
                <a:srgbClr val="006FC0"/>
              </a:buClr>
              <a:buSzPct val="58333"/>
              <a:buFont typeface="Wingdings"/>
              <a:buChar char=""/>
              <a:tabLst>
                <a:tab pos="492125" algn="l"/>
              </a:tabLst>
            </a:pP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parle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«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portée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classe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»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(«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variables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globales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à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classe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»).</a:t>
            </a:r>
            <a:endParaRPr sz="2400">
              <a:latin typeface="Times New Roman"/>
              <a:cs typeface="Times New Roman"/>
            </a:endParaRPr>
          </a:p>
          <a:p>
            <a:pPr marL="485140" marR="100330" lvl="1" indent="-152400">
              <a:lnSpc>
                <a:spcPct val="124200"/>
              </a:lnSpc>
              <a:spcBef>
                <a:spcPts val="10"/>
              </a:spcBef>
              <a:buSzPct val="58333"/>
              <a:buFont typeface="Wingdings"/>
              <a:buChar char=""/>
              <a:tabLst>
                <a:tab pos="485140" algn="l"/>
                <a:tab pos="492125" algn="l"/>
              </a:tabLst>
            </a:pP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Il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n’est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donc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pas</a:t>
            </a:r>
            <a:r>
              <a:rPr sz="24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nécessaire</a:t>
            </a:r>
            <a:r>
              <a:rPr sz="2400" b="1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de</a:t>
            </a:r>
            <a:r>
              <a:rPr sz="24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les</a:t>
            </a:r>
            <a:r>
              <a:rPr sz="240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passer</a:t>
            </a:r>
            <a:r>
              <a:rPr sz="2400" b="1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comme</a:t>
            </a:r>
            <a:r>
              <a:rPr sz="2400" b="1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arguments</a:t>
            </a:r>
            <a:r>
              <a:rPr sz="24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des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méthodes.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74472" rIns="0" bIns="0" rtlCol="0">
            <a:spAutoFit/>
          </a:bodyPr>
          <a:lstStyle/>
          <a:p>
            <a:pPr marL="280670">
              <a:lnSpc>
                <a:spcPct val="100000"/>
              </a:lnSpc>
              <a:spcBef>
                <a:spcPts val="100"/>
              </a:spcBef>
            </a:pPr>
            <a:r>
              <a:rPr spc="-330" dirty="0"/>
              <a:t>Portée</a:t>
            </a:r>
            <a:r>
              <a:rPr b="0" spc="70" dirty="0">
                <a:latin typeface="Times New Roman"/>
                <a:cs typeface="Times New Roman"/>
              </a:rPr>
              <a:t> </a:t>
            </a:r>
            <a:r>
              <a:rPr spc="-360" dirty="0"/>
              <a:t>des</a:t>
            </a:r>
            <a:r>
              <a:rPr b="0" spc="85" dirty="0">
                <a:latin typeface="Times New Roman"/>
                <a:cs typeface="Times New Roman"/>
              </a:rPr>
              <a:t> </a:t>
            </a:r>
            <a:r>
              <a:rPr spc="-275" dirty="0"/>
              <a:t>attributs</a:t>
            </a:r>
          </a:p>
        </p:txBody>
      </p:sp>
      <p:sp>
        <p:nvSpPr>
          <p:cNvPr id="4" name="object 4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12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21976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12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20685" y="1887727"/>
            <a:ext cx="13830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225" dirty="0">
                <a:solidFill>
                  <a:srgbClr val="FF0000"/>
                </a:solidFill>
                <a:latin typeface="Arial"/>
                <a:cs typeface="Arial"/>
              </a:rPr>
              <a:t>Exemple: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80625" y="2478024"/>
            <a:ext cx="4547870" cy="3667125"/>
          </a:xfrm>
          <a:custGeom>
            <a:avLst/>
            <a:gdLst/>
            <a:ahLst/>
            <a:cxnLst/>
            <a:rect l="l" t="t" r="r" b="b"/>
            <a:pathLst>
              <a:path w="4547870" h="3667125">
                <a:moveTo>
                  <a:pt x="4547613" y="3665220"/>
                </a:moveTo>
                <a:lnTo>
                  <a:pt x="4547613" y="1524"/>
                </a:lnTo>
                <a:lnTo>
                  <a:pt x="4544565" y="0"/>
                </a:lnTo>
                <a:lnTo>
                  <a:pt x="3048" y="0"/>
                </a:lnTo>
                <a:lnTo>
                  <a:pt x="0" y="1524"/>
                </a:lnTo>
                <a:lnTo>
                  <a:pt x="0" y="3665220"/>
                </a:lnTo>
                <a:lnTo>
                  <a:pt x="3048" y="3666744"/>
                </a:lnTo>
                <a:lnTo>
                  <a:pt x="6096" y="3666744"/>
                </a:lnTo>
                <a:lnTo>
                  <a:pt x="6096" y="9144"/>
                </a:lnTo>
                <a:lnTo>
                  <a:pt x="10668" y="4572"/>
                </a:lnTo>
                <a:lnTo>
                  <a:pt x="10668" y="9144"/>
                </a:lnTo>
                <a:lnTo>
                  <a:pt x="4536945" y="9144"/>
                </a:lnTo>
                <a:lnTo>
                  <a:pt x="4536945" y="4572"/>
                </a:lnTo>
                <a:lnTo>
                  <a:pt x="4541517" y="9144"/>
                </a:lnTo>
                <a:lnTo>
                  <a:pt x="4541517" y="3666744"/>
                </a:lnTo>
                <a:lnTo>
                  <a:pt x="4544565" y="3666744"/>
                </a:lnTo>
                <a:lnTo>
                  <a:pt x="4547613" y="3665220"/>
                </a:lnTo>
                <a:close/>
              </a:path>
              <a:path w="4547870" h="3667125">
                <a:moveTo>
                  <a:pt x="10668" y="9144"/>
                </a:moveTo>
                <a:lnTo>
                  <a:pt x="10668" y="4572"/>
                </a:lnTo>
                <a:lnTo>
                  <a:pt x="6096" y="9144"/>
                </a:lnTo>
                <a:lnTo>
                  <a:pt x="10668" y="9144"/>
                </a:lnTo>
                <a:close/>
              </a:path>
              <a:path w="4547870" h="3667125">
                <a:moveTo>
                  <a:pt x="10668" y="3657600"/>
                </a:moveTo>
                <a:lnTo>
                  <a:pt x="10668" y="9144"/>
                </a:lnTo>
                <a:lnTo>
                  <a:pt x="6096" y="9144"/>
                </a:lnTo>
                <a:lnTo>
                  <a:pt x="6096" y="3657600"/>
                </a:lnTo>
                <a:lnTo>
                  <a:pt x="10668" y="3657600"/>
                </a:lnTo>
                <a:close/>
              </a:path>
              <a:path w="4547870" h="3667125">
                <a:moveTo>
                  <a:pt x="4541517" y="3657600"/>
                </a:moveTo>
                <a:lnTo>
                  <a:pt x="6096" y="3657600"/>
                </a:lnTo>
                <a:lnTo>
                  <a:pt x="10668" y="3662172"/>
                </a:lnTo>
                <a:lnTo>
                  <a:pt x="10668" y="3666744"/>
                </a:lnTo>
                <a:lnTo>
                  <a:pt x="4536945" y="3666744"/>
                </a:lnTo>
                <a:lnTo>
                  <a:pt x="4536945" y="3662172"/>
                </a:lnTo>
                <a:lnTo>
                  <a:pt x="4541517" y="3657600"/>
                </a:lnTo>
                <a:close/>
              </a:path>
              <a:path w="4547870" h="3667125">
                <a:moveTo>
                  <a:pt x="10668" y="3666744"/>
                </a:moveTo>
                <a:lnTo>
                  <a:pt x="10668" y="3662172"/>
                </a:lnTo>
                <a:lnTo>
                  <a:pt x="6096" y="3657600"/>
                </a:lnTo>
                <a:lnTo>
                  <a:pt x="6096" y="3666744"/>
                </a:lnTo>
                <a:lnTo>
                  <a:pt x="10668" y="3666744"/>
                </a:lnTo>
                <a:close/>
              </a:path>
              <a:path w="4547870" h="3667125">
                <a:moveTo>
                  <a:pt x="4541517" y="9144"/>
                </a:moveTo>
                <a:lnTo>
                  <a:pt x="4536945" y="4572"/>
                </a:lnTo>
                <a:lnTo>
                  <a:pt x="4536945" y="9144"/>
                </a:lnTo>
                <a:lnTo>
                  <a:pt x="4541517" y="9144"/>
                </a:lnTo>
                <a:close/>
              </a:path>
              <a:path w="4547870" h="3667125">
                <a:moveTo>
                  <a:pt x="4541517" y="3657600"/>
                </a:moveTo>
                <a:lnTo>
                  <a:pt x="4541517" y="9144"/>
                </a:lnTo>
                <a:lnTo>
                  <a:pt x="4536945" y="9144"/>
                </a:lnTo>
                <a:lnTo>
                  <a:pt x="4536945" y="3657600"/>
                </a:lnTo>
                <a:lnTo>
                  <a:pt x="4541517" y="3657600"/>
                </a:lnTo>
                <a:close/>
              </a:path>
              <a:path w="4547870" h="3667125">
                <a:moveTo>
                  <a:pt x="4541517" y="3666744"/>
                </a:moveTo>
                <a:lnTo>
                  <a:pt x="4541517" y="3657600"/>
                </a:lnTo>
                <a:lnTo>
                  <a:pt x="4536945" y="3662172"/>
                </a:lnTo>
                <a:lnTo>
                  <a:pt x="4536945" y="3666744"/>
                </a:lnTo>
                <a:lnTo>
                  <a:pt x="4541517" y="3666744"/>
                </a:lnTo>
                <a:close/>
              </a:path>
            </a:pathLst>
          </a:custGeom>
          <a:solidFill>
            <a:srgbClr val="93B5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463941" y="2646678"/>
            <a:ext cx="4009390" cy="3317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8AF2"/>
                </a:solidFill>
                <a:latin typeface="Arial MT"/>
                <a:cs typeface="Arial MT"/>
              </a:rPr>
              <a:t>class</a:t>
            </a:r>
            <a:r>
              <a:rPr sz="1800" spc="-25" dirty="0">
                <a:solidFill>
                  <a:srgbClr val="008AF2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008AF2"/>
                </a:solidFill>
                <a:latin typeface="Arial MT"/>
                <a:cs typeface="Arial MT"/>
              </a:rPr>
              <a:t>Point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solidFill>
                  <a:srgbClr val="FF0000"/>
                </a:solidFill>
                <a:latin typeface="Arial MT"/>
                <a:cs typeface="Arial MT"/>
              </a:rPr>
              <a:t>{</a:t>
            </a:r>
            <a:endParaRPr sz="1800">
              <a:latin typeface="Arial MT"/>
              <a:cs typeface="Arial MT"/>
            </a:endParaRPr>
          </a:p>
          <a:p>
            <a:pPr marL="12700" marR="3062605">
              <a:lnSpc>
                <a:spcPct val="100000"/>
              </a:lnSpc>
            </a:pP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double</a:t>
            </a:r>
            <a:r>
              <a:rPr sz="18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x</a:t>
            </a:r>
            <a:r>
              <a:rPr sz="1800" spc="-25" dirty="0">
                <a:solidFill>
                  <a:srgbClr val="FF0000"/>
                </a:solidFill>
                <a:latin typeface="Arial MT"/>
                <a:cs typeface="Arial MT"/>
              </a:rPr>
              <a:t>; </a:t>
            </a: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double</a:t>
            </a:r>
            <a:r>
              <a:rPr sz="18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y</a:t>
            </a:r>
            <a:r>
              <a:rPr sz="1800" spc="-25" dirty="0">
                <a:solidFill>
                  <a:srgbClr val="FF0000"/>
                </a:solidFill>
                <a:latin typeface="Arial MT"/>
                <a:cs typeface="Arial MT"/>
              </a:rPr>
              <a:t>;</a:t>
            </a:r>
            <a:endParaRPr sz="1800">
              <a:latin typeface="Arial MT"/>
              <a:cs typeface="Arial MT"/>
            </a:endParaRPr>
          </a:p>
          <a:p>
            <a:pPr marL="266700" marR="5080" indent="-128270">
              <a:lnSpc>
                <a:spcPct val="100000"/>
              </a:lnSpc>
            </a:pP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void</a:t>
            </a:r>
            <a:r>
              <a:rPr sz="18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translater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(</a:t>
            </a: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double</a:t>
            </a:r>
            <a:r>
              <a:rPr sz="18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dx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,</a:t>
            </a:r>
            <a:r>
              <a:rPr sz="1800" spc="-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double</a:t>
            </a:r>
            <a:r>
              <a:rPr sz="18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dy</a:t>
            </a:r>
            <a:r>
              <a:rPr sz="1800" spc="-20" dirty="0">
                <a:solidFill>
                  <a:srgbClr val="FF0000"/>
                </a:solidFill>
                <a:latin typeface="Arial MT"/>
                <a:cs typeface="Arial MT"/>
              </a:rPr>
              <a:t>){ </a:t>
            </a:r>
            <a:r>
              <a:rPr sz="1800" dirty="0">
                <a:latin typeface="Arial MT"/>
                <a:cs typeface="Arial MT"/>
              </a:rPr>
              <a:t>x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+=</a:t>
            </a:r>
            <a:r>
              <a:rPr sz="1800" spc="-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dx</a:t>
            </a:r>
            <a:r>
              <a:rPr sz="1800" spc="-25" dirty="0">
                <a:solidFill>
                  <a:srgbClr val="FF0000"/>
                </a:solidFill>
                <a:latin typeface="Arial MT"/>
                <a:cs typeface="Arial MT"/>
              </a:rPr>
              <a:t>;</a:t>
            </a:r>
            <a:endParaRPr sz="1800">
              <a:latin typeface="Arial MT"/>
              <a:cs typeface="Arial MT"/>
            </a:endParaRPr>
          </a:p>
          <a:p>
            <a:pPr marL="2667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y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+=</a:t>
            </a:r>
            <a:r>
              <a:rPr sz="1800" spc="-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dy</a:t>
            </a:r>
            <a:r>
              <a:rPr sz="1800" spc="-25" dirty="0">
                <a:solidFill>
                  <a:srgbClr val="FF0000"/>
                </a:solidFill>
                <a:latin typeface="Arial MT"/>
                <a:cs typeface="Arial MT"/>
              </a:rPr>
              <a:t>;</a:t>
            </a:r>
            <a:endParaRPr sz="1800">
              <a:latin typeface="Arial MT"/>
              <a:cs typeface="Arial MT"/>
            </a:endParaRPr>
          </a:p>
          <a:p>
            <a:pPr marL="202565">
              <a:lnSpc>
                <a:spcPct val="100000"/>
              </a:lnSpc>
            </a:pPr>
            <a:r>
              <a:rPr sz="1800" spc="-50" dirty="0">
                <a:solidFill>
                  <a:srgbClr val="FF0000"/>
                </a:solidFill>
                <a:latin typeface="Arial MT"/>
                <a:cs typeface="Arial MT"/>
              </a:rPr>
              <a:t>}</a:t>
            </a:r>
            <a:endParaRPr sz="1800">
              <a:latin typeface="Arial MT"/>
              <a:cs typeface="Arial MT"/>
            </a:endParaRPr>
          </a:p>
          <a:p>
            <a:pPr marL="266700" marR="1717039" indent="-128270">
              <a:lnSpc>
                <a:spcPct val="100000"/>
              </a:lnSpc>
            </a:pP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double</a:t>
            </a:r>
            <a:r>
              <a:rPr sz="18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distance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()</a:t>
            </a:r>
            <a:r>
              <a:rPr sz="1800" spc="-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Arial MT"/>
                <a:cs typeface="Arial MT"/>
              </a:rPr>
              <a:t>{ </a:t>
            </a: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return</a:t>
            </a:r>
            <a:r>
              <a:rPr sz="18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01F5F"/>
                </a:solidFill>
                <a:latin typeface="Arial MT"/>
                <a:cs typeface="Arial MT"/>
              </a:rPr>
              <a:t>sqrt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(</a:t>
            </a: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*</a:t>
            </a: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+</a:t>
            </a:r>
            <a:r>
              <a:rPr sz="1800" spc="-10" dirty="0">
                <a:latin typeface="Arial MT"/>
                <a:cs typeface="Arial MT"/>
              </a:rPr>
              <a:t>y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*</a:t>
            </a:r>
            <a:r>
              <a:rPr sz="1800" spc="-10" dirty="0">
                <a:latin typeface="Arial MT"/>
                <a:cs typeface="Arial MT"/>
              </a:rPr>
              <a:t>y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);</a:t>
            </a:r>
            <a:endParaRPr sz="1800">
              <a:latin typeface="Arial MT"/>
              <a:cs typeface="Arial MT"/>
            </a:endParaRPr>
          </a:p>
          <a:p>
            <a:pPr marL="202565">
              <a:lnSpc>
                <a:spcPct val="100000"/>
              </a:lnSpc>
            </a:pPr>
            <a:r>
              <a:rPr sz="1800" spc="-50" dirty="0">
                <a:solidFill>
                  <a:srgbClr val="FF0000"/>
                </a:solidFill>
                <a:latin typeface="Arial MT"/>
                <a:cs typeface="Arial MT"/>
              </a:rPr>
              <a:t>}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25" dirty="0">
                <a:solidFill>
                  <a:srgbClr val="FF0000"/>
                </a:solidFill>
                <a:latin typeface="Arial MT"/>
                <a:cs typeface="Arial MT"/>
              </a:rPr>
              <a:t>};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74472" rIns="0" bIns="0" rtlCol="0">
            <a:spAutoFit/>
          </a:bodyPr>
          <a:lstStyle/>
          <a:p>
            <a:pPr marL="280670">
              <a:lnSpc>
                <a:spcPct val="100000"/>
              </a:lnSpc>
              <a:spcBef>
                <a:spcPts val="100"/>
              </a:spcBef>
            </a:pPr>
            <a:r>
              <a:rPr spc="-330" dirty="0"/>
              <a:t>Portée</a:t>
            </a:r>
            <a:r>
              <a:rPr b="0" spc="70" dirty="0">
                <a:latin typeface="Times New Roman"/>
                <a:cs typeface="Times New Roman"/>
              </a:rPr>
              <a:t> </a:t>
            </a:r>
            <a:r>
              <a:rPr spc="-360" dirty="0"/>
              <a:t>des</a:t>
            </a:r>
            <a:r>
              <a:rPr b="0" spc="85" dirty="0">
                <a:latin typeface="Times New Roman"/>
                <a:cs typeface="Times New Roman"/>
              </a:rPr>
              <a:t> </a:t>
            </a:r>
            <a:r>
              <a:rPr spc="-275" dirty="0"/>
              <a:t>attributs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13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021976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13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8836" rIns="0" bIns="0" rtlCol="0">
            <a:spAutoFit/>
          </a:bodyPr>
          <a:lstStyle/>
          <a:p>
            <a:pPr marL="381000">
              <a:lnSpc>
                <a:spcPct val="100000"/>
              </a:lnSpc>
              <a:spcBef>
                <a:spcPts val="100"/>
              </a:spcBef>
            </a:pPr>
            <a:r>
              <a:rPr spc="-204" dirty="0"/>
              <a:t>Définition</a:t>
            </a:r>
            <a:r>
              <a:rPr b="0" spc="20" dirty="0">
                <a:latin typeface="Times New Roman"/>
                <a:cs typeface="Times New Roman"/>
              </a:rPr>
              <a:t> </a:t>
            </a:r>
            <a:r>
              <a:rPr spc="-360" dirty="0"/>
              <a:t>des</a:t>
            </a:r>
            <a:r>
              <a:rPr b="0" spc="55" dirty="0">
                <a:latin typeface="Times New Roman"/>
                <a:cs typeface="Times New Roman"/>
              </a:rPr>
              <a:t> </a:t>
            </a:r>
            <a:r>
              <a:rPr spc="-340" dirty="0"/>
              <a:t>méthodes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49052" y="1928875"/>
            <a:ext cx="8385809" cy="2486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740" marR="5080" indent="-320040">
              <a:lnSpc>
                <a:spcPct val="100000"/>
              </a:lnSpc>
              <a:spcBef>
                <a:spcPts val="100"/>
              </a:spcBef>
              <a:buClr>
                <a:srgbClr val="006FC0"/>
              </a:buClr>
              <a:buSzPct val="58333"/>
              <a:buFont typeface="Wingdings"/>
              <a:buChar char=""/>
              <a:tabLst>
                <a:tab pos="332740" algn="l"/>
              </a:tabLst>
            </a:pPr>
            <a:r>
              <a:rPr sz="2400" dirty="0">
                <a:latin typeface="Times New Roman"/>
                <a:cs typeface="Times New Roman"/>
              </a:rPr>
              <a:t>Une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implémentation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(ou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définition)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de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méthode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définit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du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code </a:t>
            </a:r>
            <a:r>
              <a:rPr sz="2400" dirty="0">
                <a:latin typeface="Times New Roman"/>
                <a:cs typeface="Times New Roman"/>
              </a:rPr>
              <a:t>exécutable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qui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peut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être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invoqué,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passant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éventuellement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un </a:t>
            </a:r>
            <a:r>
              <a:rPr sz="2400" dirty="0">
                <a:latin typeface="Times New Roman"/>
                <a:cs typeface="Times New Roman"/>
              </a:rPr>
              <a:t>nombre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fixé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valeurs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comme </a:t>
            </a:r>
            <a:r>
              <a:rPr sz="2400" spc="-10" dirty="0">
                <a:latin typeface="Times New Roman"/>
                <a:cs typeface="Times New Roman"/>
              </a:rPr>
              <a:t>arguments.</a:t>
            </a:r>
            <a:endParaRPr sz="2400">
              <a:latin typeface="Times New Roman"/>
              <a:cs typeface="Times New Roman"/>
            </a:endParaRPr>
          </a:p>
          <a:p>
            <a:pPr marL="413384" indent="-400685">
              <a:lnSpc>
                <a:spcPct val="100000"/>
              </a:lnSpc>
              <a:spcBef>
                <a:spcPts val="660"/>
              </a:spcBef>
              <a:buClr>
                <a:srgbClr val="006FC0"/>
              </a:buClr>
              <a:buSzPct val="58333"/>
              <a:buFont typeface="Wingdings"/>
              <a:buChar char=""/>
              <a:tabLst>
                <a:tab pos="413384" algn="l"/>
              </a:tabLst>
            </a:pPr>
            <a:r>
              <a:rPr sz="2400" dirty="0">
                <a:latin typeface="Times New Roman"/>
                <a:cs typeface="Times New Roman"/>
              </a:rPr>
              <a:t>Les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méthodes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sont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492125" lvl="1" indent="-159385">
              <a:lnSpc>
                <a:spcPct val="100000"/>
              </a:lnSpc>
              <a:spcBef>
                <a:spcPts val="740"/>
              </a:spcBef>
              <a:buClr>
                <a:srgbClr val="006FC0"/>
              </a:buClr>
              <a:buSzPct val="58333"/>
              <a:buFont typeface="Wingdings"/>
              <a:buChar char=""/>
              <a:tabLst>
                <a:tab pos="492125" algn="l"/>
              </a:tabLst>
            </a:pPr>
            <a:r>
              <a:rPr sz="2400" dirty="0">
                <a:latin typeface="Times New Roman"/>
                <a:cs typeface="Times New Roman"/>
              </a:rPr>
              <a:t>des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fonctions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propres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à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classe</a:t>
            </a:r>
            <a:endParaRPr sz="2400">
              <a:latin typeface="Times New Roman"/>
              <a:cs typeface="Times New Roman"/>
            </a:endParaRPr>
          </a:p>
          <a:p>
            <a:pPr marL="492125" lvl="1" indent="-159385">
              <a:lnSpc>
                <a:spcPct val="100000"/>
              </a:lnSpc>
              <a:spcBef>
                <a:spcPts val="700"/>
              </a:spcBef>
              <a:buClr>
                <a:srgbClr val="006FC0"/>
              </a:buClr>
              <a:buSzPct val="58333"/>
              <a:buFont typeface="Wingdings"/>
              <a:buChar char=""/>
              <a:tabLst>
                <a:tab pos="492125" algn="l"/>
              </a:tabLst>
            </a:pPr>
            <a:r>
              <a:rPr sz="2400" dirty="0">
                <a:latin typeface="Times New Roman"/>
                <a:cs typeface="Times New Roman"/>
              </a:rPr>
              <a:t>qui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accès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aux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attributs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classe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14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21976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14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25704" rIns="0" bIns="0" rtlCol="0">
            <a:spAutoFit/>
          </a:bodyPr>
          <a:lstStyle/>
          <a:p>
            <a:pPr marL="381000">
              <a:lnSpc>
                <a:spcPct val="100000"/>
              </a:lnSpc>
              <a:spcBef>
                <a:spcPts val="100"/>
              </a:spcBef>
            </a:pPr>
            <a:r>
              <a:rPr spc="-204" dirty="0"/>
              <a:t>Définition</a:t>
            </a:r>
            <a:r>
              <a:rPr b="0" spc="20" dirty="0">
                <a:latin typeface="Times New Roman"/>
                <a:cs typeface="Times New Roman"/>
              </a:rPr>
              <a:t> </a:t>
            </a:r>
            <a:r>
              <a:rPr spc="-360" dirty="0"/>
              <a:t>des</a:t>
            </a:r>
            <a:r>
              <a:rPr b="0" spc="55" dirty="0">
                <a:latin typeface="Times New Roman"/>
                <a:cs typeface="Times New Roman"/>
              </a:rPr>
              <a:t> </a:t>
            </a:r>
            <a:r>
              <a:rPr spc="-340" dirty="0"/>
              <a:t>méthodes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49052" y="1837435"/>
            <a:ext cx="8606155" cy="3091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740" marR="5080" indent="-320040">
              <a:lnSpc>
                <a:spcPct val="100000"/>
              </a:lnSpc>
              <a:spcBef>
                <a:spcPts val="100"/>
              </a:spcBef>
              <a:buClr>
                <a:srgbClr val="006FC0"/>
              </a:buClr>
              <a:buSzPct val="58333"/>
              <a:buFont typeface="Wingdings"/>
              <a:buChar char=""/>
              <a:tabLst>
                <a:tab pos="332740" algn="l"/>
              </a:tabLst>
            </a:pP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syntaxe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définition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méthodes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d’une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classe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syntaxe </a:t>
            </a:r>
            <a:r>
              <a:rPr sz="2400" dirty="0">
                <a:latin typeface="Times New Roman"/>
                <a:cs typeface="Times New Roman"/>
              </a:rPr>
              <a:t>normale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définition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fonctions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2800" b="1" spc="-215" dirty="0">
                <a:solidFill>
                  <a:srgbClr val="FF0000"/>
                </a:solidFill>
                <a:latin typeface="Arial"/>
                <a:cs typeface="Arial"/>
              </a:rPr>
              <a:t>Syntaxe</a:t>
            </a:r>
            <a:r>
              <a:rPr sz="2800" spc="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spc="-50" dirty="0">
                <a:solidFill>
                  <a:srgbClr val="FF0000"/>
                </a:solidFill>
                <a:latin typeface="Arial"/>
                <a:cs typeface="Arial"/>
              </a:rPr>
              <a:t>: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&lt;typeDeRetour&gt;</a:t>
            </a:r>
            <a:r>
              <a:rPr sz="2400" b="1" spc="-5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nomDeLaMethode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400" b="1" spc="-10" dirty="0">
                <a:solidFill>
                  <a:srgbClr val="FF32CC"/>
                </a:solidFill>
                <a:latin typeface="Times New Roman"/>
                <a:cs typeface="Times New Roman"/>
              </a:rPr>
              <a:t>&lt;liste_des_paramètres&gt;</a:t>
            </a:r>
            <a:r>
              <a:rPr sz="2400" b="1" spc="-75" dirty="0">
                <a:solidFill>
                  <a:srgbClr val="FF32CC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24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165100">
              <a:lnSpc>
                <a:spcPct val="100000"/>
              </a:lnSpc>
              <a:spcBef>
                <a:spcPts val="700"/>
              </a:spcBef>
            </a:pPr>
            <a:r>
              <a:rPr sz="2400" b="1" dirty="0">
                <a:solidFill>
                  <a:srgbClr val="00B04F"/>
                </a:solidFill>
                <a:latin typeface="Times New Roman"/>
                <a:cs typeface="Times New Roman"/>
              </a:rPr>
              <a:t>&lt;corps</a:t>
            </a:r>
            <a:r>
              <a:rPr sz="2400" b="1" spc="-3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2400" b="1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B04F"/>
                </a:solidFill>
                <a:latin typeface="Times New Roman"/>
                <a:cs typeface="Times New Roman"/>
              </a:rPr>
              <a:t>la</a:t>
            </a:r>
            <a:r>
              <a:rPr sz="2400" b="1" spc="-3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B04F"/>
                </a:solidFill>
                <a:latin typeface="Times New Roman"/>
                <a:cs typeface="Times New Roman"/>
              </a:rPr>
              <a:t>méthode&gt;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24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332105" indent="-319405">
              <a:lnSpc>
                <a:spcPct val="100000"/>
              </a:lnSpc>
              <a:spcBef>
                <a:spcPts val="705"/>
              </a:spcBef>
              <a:buClr>
                <a:srgbClr val="006FC0"/>
              </a:buClr>
              <a:buSzPct val="58333"/>
              <a:buFont typeface="Wingdings"/>
              <a:buChar char=""/>
              <a:tabLst>
                <a:tab pos="332105" algn="l"/>
              </a:tabLst>
            </a:pPr>
            <a:r>
              <a:rPr sz="2400" dirty="0">
                <a:latin typeface="Times New Roman"/>
                <a:cs typeface="Times New Roman"/>
              </a:rPr>
              <a:t>Elles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sont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simplement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définies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dans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classe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elle-même.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15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21976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15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25704" rIns="0" bIns="0" rtlCol="0">
            <a:spAutoFit/>
          </a:bodyPr>
          <a:lstStyle/>
          <a:p>
            <a:pPr marL="381000">
              <a:lnSpc>
                <a:spcPct val="100000"/>
              </a:lnSpc>
              <a:spcBef>
                <a:spcPts val="100"/>
              </a:spcBef>
            </a:pPr>
            <a:r>
              <a:rPr spc="-204" dirty="0"/>
              <a:t>Définition</a:t>
            </a:r>
            <a:r>
              <a:rPr b="0" spc="20" dirty="0">
                <a:latin typeface="Times New Roman"/>
                <a:cs typeface="Times New Roman"/>
              </a:rPr>
              <a:t> </a:t>
            </a:r>
            <a:r>
              <a:rPr spc="-360" dirty="0"/>
              <a:t>des</a:t>
            </a:r>
            <a:r>
              <a:rPr b="0" spc="55" dirty="0">
                <a:latin typeface="Times New Roman"/>
                <a:cs typeface="Times New Roman"/>
              </a:rPr>
              <a:t> </a:t>
            </a:r>
            <a:r>
              <a:rPr spc="-340" dirty="0"/>
              <a:t>méthodes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5900" y="1814575"/>
            <a:ext cx="8384540" cy="3126740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2400" b="1" spc="-80" dirty="0">
                <a:solidFill>
                  <a:srgbClr val="001F5F"/>
                </a:solidFill>
                <a:latin typeface="Arial"/>
                <a:cs typeface="Arial"/>
              </a:rPr>
              <a:t>&lt;typeDeRetour&gt;</a:t>
            </a:r>
            <a:endParaRPr sz="2400">
              <a:latin typeface="Arial"/>
              <a:cs typeface="Arial"/>
            </a:endParaRPr>
          </a:p>
          <a:p>
            <a:pPr marL="332740" marR="5080" indent="-320040">
              <a:lnSpc>
                <a:spcPct val="101299"/>
              </a:lnSpc>
              <a:spcBef>
                <a:spcPts val="670"/>
              </a:spcBef>
              <a:buFont typeface="Wingdings"/>
              <a:buChar char=""/>
              <a:tabLst>
                <a:tab pos="332740" algn="l"/>
                <a:tab pos="415925" algn="l"/>
              </a:tabLst>
            </a:pPr>
            <a:r>
              <a:rPr sz="1400" dirty="0">
                <a:solidFill>
                  <a:srgbClr val="006FC0"/>
                </a:solidFill>
                <a:latin typeface="Times New Roman"/>
                <a:cs typeface="Times New Roman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Quand la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méthode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renvoie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valeur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indique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type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valeur </a:t>
            </a:r>
            <a:r>
              <a:rPr sz="2400" dirty="0">
                <a:latin typeface="Times New Roman"/>
                <a:cs typeface="Times New Roman"/>
              </a:rPr>
              <a:t>renvoyée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(type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simple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ou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nom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d'une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classe)</a:t>
            </a:r>
            <a:endParaRPr sz="2400">
              <a:latin typeface="Times New Roman"/>
              <a:cs typeface="Times New Roman"/>
            </a:endParaRPr>
          </a:p>
          <a:p>
            <a:pPr marL="492125" lvl="1" indent="-159385">
              <a:lnSpc>
                <a:spcPct val="100000"/>
              </a:lnSpc>
              <a:spcBef>
                <a:spcPts val="710"/>
              </a:spcBef>
              <a:buClr>
                <a:srgbClr val="006FC0"/>
              </a:buClr>
              <a:buSzPct val="58333"/>
              <a:buFont typeface="Wingdings"/>
              <a:buChar char=""/>
              <a:tabLst>
                <a:tab pos="492125" algn="l"/>
              </a:tabLst>
            </a:pP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400" b="1" spc="-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min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40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400" spc="-3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400" spc="-5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b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 marL="492125" lvl="1" indent="-159385">
              <a:lnSpc>
                <a:spcPct val="100000"/>
              </a:lnSpc>
              <a:spcBef>
                <a:spcPts val="695"/>
              </a:spcBef>
              <a:buClr>
                <a:srgbClr val="006FC0"/>
              </a:buClr>
              <a:buSzPct val="58333"/>
              <a:buFont typeface="Wingdings"/>
              <a:buChar char=""/>
              <a:tabLst>
                <a:tab pos="492125" algn="l"/>
              </a:tabLst>
            </a:pP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vector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&lt;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&gt;</a:t>
            </a:r>
            <a:r>
              <a:rPr sz="2400" b="1" spc="-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premiers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40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400" spc="-8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n</a:t>
            </a:r>
            <a:r>
              <a:rPr sz="2400" spc="-35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 marL="408305" indent="-395605">
              <a:lnSpc>
                <a:spcPct val="100000"/>
              </a:lnSpc>
              <a:spcBef>
                <a:spcPts val="695"/>
              </a:spcBef>
              <a:buClr>
                <a:srgbClr val="006FC0"/>
              </a:buClr>
              <a:buSzPct val="58333"/>
              <a:buFont typeface="Wingdings"/>
              <a:buChar char=""/>
              <a:tabLst>
                <a:tab pos="408305" algn="l"/>
              </a:tabLst>
            </a:pP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void</a:t>
            </a:r>
            <a:r>
              <a:rPr sz="2400" b="1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méthode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renvoie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valeur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(procédure):</a:t>
            </a:r>
            <a:endParaRPr sz="2400">
              <a:latin typeface="Times New Roman"/>
              <a:cs typeface="Times New Roman"/>
            </a:endParaRPr>
          </a:p>
          <a:p>
            <a:pPr marL="492125" lvl="1" indent="-159385">
              <a:lnSpc>
                <a:spcPct val="100000"/>
              </a:lnSpc>
              <a:spcBef>
                <a:spcPts val="710"/>
              </a:spcBef>
              <a:buClr>
                <a:srgbClr val="006FC0"/>
              </a:buClr>
              <a:buSzPct val="58333"/>
              <a:buFont typeface="Wingdings"/>
              <a:buChar char=""/>
              <a:tabLst>
                <a:tab pos="492125" algn="l"/>
              </a:tabLst>
            </a:pP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void</a:t>
            </a:r>
            <a:r>
              <a:rPr sz="2400" b="1" spc="-5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afficher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40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400" spc="-7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[],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400" spc="-6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N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16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21976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16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8836" rIns="0" bIns="0" rtlCol="0">
            <a:spAutoFit/>
          </a:bodyPr>
          <a:lstStyle/>
          <a:p>
            <a:pPr marL="381000">
              <a:lnSpc>
                <a:spcPct val="100000"/>
              </a:lnSpc>
              <a:spcBef>
                <a:spcPts val="100"/>
              </a:spcBef>
            </a:pPr>
            <a:r>
              <a:rPr spc="-204" dirty="0"/>
              <a:t>Définition</a:t>
            </a:r>
            <a:r>
              <a:rPr b="0" spc="20" dirty="0">
                <a:latin typeface="Times New Roman"/>
                <a:cs typeface="Times New Roman"/>
              </a:rPr>
              <a:t> </a:t>
            </a:r>
            <a:r>
              <a:rPr spc="-360" dirty="0"/>
              <a:t>des</a:t>
            </a:r>
            <a:r>
              <a:rPr b="0" spc="55" dirty="0">
                <a:latin typeface="Times New Roman"/>
                <a:cs typeface="Times New Roman"/>
              </a:rPr>
              <a:t> </a:t>
            </a:r>
            <a:r>
              <a:rPr spc="-340" dirty="0"/>
              <a:t>méthodes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49052" y="1755139"/>
            <a:ext cx="8198484" cy="2766060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2400" b="1" spc="-105" dirty="0">
                <a:solidFill>
                  <a:srgbClr val="FF32CC"/>
                </a:solidFill>
                <a:latin typeface="Arial"/>
                <a:cs typeface="Arial"/>
              </a:rPr>
              <a:t>&lt;liste_des_paramètres&gt;</a:t>
            </a:r>
            <a:endParaRPr sz="2400">
              <a:latin typeface="Arial"/>
              <a:cs typeface="Arial"/>
            </a:endParaRPr>
          </a:p>
          <a:p>
            <a:pPr marL="332105" indent="-319405">
              <a:lnSpc>
                <a:spcPct val="100000"/>
              </a:lnSpc>
              <a:spcBef>
                <a:spcPts val="745"/>
              </a:spcBef>
              <a:buClr>
                <a:srgbClr val="006FC0"/>
              </a:buClr>
              <a:buSzPct val="58333"/>
              <a:buFont typeface="Wingdings"/>
              <a:buChar char=""/>
              <a:tabLst>
                <a:tab pos="332105" algn="l"/>
              </a:tabLst>
            </a:pPr>
            <a:r>
              <a:rPr sz="2400" spc="-10" dirty="0">
                <a:latin typeface="Times New Roman"/>
                <a:cs typeface="Times New Roman"/>
              </a:rPr>
              <a:t>Vide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méthode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n’a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paramètres</a:t>
            </a:r>
            <a:endParaRPr sz="2400">
              <a:latin typeface="Times New Roman"/>
              <a:cs typeface="Times New Roman"/>
            </a:endParaRPr>
          </a:p>
          <a:p>
            <a:pPr marL="492125" lvl="1" indent="-159385">
              <a:lnSpc>
                <a:spcPct val="100000"/>
              </a:lnSpc>
              <a:spcBef>
                <a:spcPts val="710"/>
              </a:spcBef>
              <a:buClr>
                <a:srgbClr val="006FC0"/>
              </a:buClr>
              <a:buSzPct val="58333"/>
              <a:buFont typeface="Wingdings"/>
              <a:buChar char=""/>
              <a:tabLst>
                <a:tab pos="492125" algn="l"/>
              </a:tabLst>
            </a:pPr>
            <a:r>
              <a:rPr sz="2400" dirty="0">
                <a:solidFill>
                  <a:srgbClr val="001F5F"/>
                </a:solidFill>
                <a:latin typeface="Times New Roman"/>
                <a:cs typeface="Times New Roman"/>
              </a:rPr>
              <a:t>void</a:t>
            </a:r>
            <a:r>
              <a:rPr sz="2400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afficher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()</a:t>
            </a:r>
            <a:endParaRPr sz="2400">
              <a:latin typeface="Times New Roman"/>
              <a:cs typeface="Times New Roman"/>
            </a:endParaRPr>
          </a:p>
          <a:p>
            <a:pPr marL="332105" indent="-319405">
              <a:lnSpc>
                <a:spcPct val="100000"/>
              </a:lnSpc>
              <a:spcBef>
                <a:spcPts val="695"/>
              </a:spcBef>
              <a:buClr>
                <a:srgbClr val="006FC0"/>
              </a:buClr>
              <a:buSzPct val="58333"/>
              <a:buFont typeface="Wingdings"/>
              <a:buChar char=""/>
              <a:tabLst>
                <a:tab pos="332105" algn="l"/>
              </a:tabLst>
            </a:pPr>
            <a:r>
              <a:rPr sz="2400" dirty="0">
                <a:latin typeface="Times New Roman"/>
                <a:cs typeface="Times New Roman"/>
              </a:rPr>
              <a:t>Une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suite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couples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001F5F"/>
                </a:solidFill>
                <a:latin typeface="Times New Roman"/>
                <a:cs typeface="Times New Roman"/>
              </a:rPr>
              <a:t>type</a:t>
            </a:r>
            <a:r>
              <a:rPr sz="2400" b="1" i="1" spc="-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6F2FA0"/>
                </a:solidFill>
                <a:latin typeface="Times New Roman"/>
                <a:cs typeface="Times New Roman"/>
              </a:rPr>
              <a:t>identificateur</a:t>
            </a:r>
            <a:r>
              <a:rPr sz="2400" b="1" i="1" spc="-40" dirty="0">
                <a:solidFill>
                  <a:srgbClr val="6F2FA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séparés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virgules</a:t>
            </a:r>
            <a:endParaRPr sz="2400">
              <a:latin typeface="Times New Roman"/>
              <a:cs typeface="Times New Roman"/>
            </a:endParaRPr>
          </a:p>
          <a:p>
            <a:pPr marL="492125" lvl="1" indent="-159385">
              <a:lnSpc>
                <a:spcPct val="100000"/>
              </a:lnSpc>
              <a:spcBef>
                <a:spcPts val="695"/>
              </a:spcBef>
              <a:buClr>
                <a:srgbClr val="006FC0"/>
              </a:buClr>
              <a:buSzPct val="58333"/>
              <a:buFont typeface="Wingdings"/>
              <a:buChar char=""/>
              <a:tabLst>
                <a:tab pos="492125" algn="l"/>
              </a:tabLst>
            </a:pPr>
            <a:r>
              <a:rPr sz="240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400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max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40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400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400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b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 marL="492125" lvl="1" indent="-159385">
              <a:lnSpc>
                <a:spcPct val="100000"/>
              </a:lnSpc>
              <a:spcBef>
                <a:spcPts val="710"/>
              </a:spcBef>
              <a:buClr>
                <a:srgbClr val="006FC0"/>
              </a:buClr>
              <a:buSzPct val="58333"/>
              <a:buFont typeface="Wingdings"/>
              <a:buChar char=""/>
              <a:tabLst>
                <a:tab pos="492125" algn="l"/>
              </a:tabLst>
            </a:pPr>
            <a:r>
              <a:rPr sz="240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400" spc="-3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moyenne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400" dirty="0">
                <a:solidFill>
                  <a:srgbClr val="001F5F"/>
                </a:solidFill>
                <a:latin typeface="Times New Roman"/>
                <a:cs typeface="Times New Roman"/>
              </a:rPr>
              <a:t>array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&lt;</a:t>
            </a:r>
            <a:r>
              <a:rPr sz="240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7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&gt;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tab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17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21976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17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3012" rIns="0" bIns="0" rtlCol="0">
            <a:spAutoFit/>
          </a:bodyPr>
          <a:lstStyle/>
          <a:p>
            <a:pPr marL="381000">
              <a:lnSpc>
                <a:spcPct val="100000"/>
              </a:lnSpc>
              <a:spcBef>
                <a:spcPts val="100"/>
              </a:spcBef>
            </a:pPr>
            <a:r>
              <a:rPr spc="-204" dirty="0"/>
              <a:t>Définition</a:t>
            </a:r>
            <a:r>
              <a:rPr b="0" spc="20" dirty="0">
                <a:latin typeface="Times New Roman"/>
                <a:cs typeface="Times New Roman"/>
              </a:rPr>
              <a:t> </a:t>
            </a:r>
            <a:r>
              <a:rPr spc="-360" dirty="0"/>
              <a:t>des</a:t>
            </a:r>
            <a:r>
              <a:rPr b="0" spc="55" dirty="0">
                <a:latin typeface="Times New Roman"/>
                <a:cs typeface="Times New Roman"/>
              </a:rPr>
              <a:t> </a:t>
            </a:r>
            <a:r>
              <a:rPr spc="-340" dirty="0"/>
              <a:t>méthodes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52812" y="1755139"/>
            <a:ext cx="8911590" cy="2133600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2400" b="1" spc="-180" dirty="0">
                <a:solidFill>
                  <a:srgbClr val="00B04F"/>
                </a:solidFill>
                <a:latin typeface="Arial"/>
                <a:cs typeface="Arial"/>
              </a:rPr>
              <a:t>&lt;corps</a:t>
            </a:r>
            <a:r>
              <a:rPr sz="2400" spc="3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400" b="1" spc="-204" dirty="0">
                <a:solidFill>
                  <a:srgbClr val="00B04F"/>
                </a:solidFill>
                <a:latin typeface="Arial"/>
                <a:cs typeface="Arial"/>
              </a:rPr>
              <a:t>de</a:t>
            </a:r>
            <a:r>
              <a:rPr sz="2400" spc="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B04F"/>
                </a:solidFill>
                <a:latin typeface="Arial"/>
                <a:cs typeface="Arial"/>
              </a:rPr>
              <a:t>la</a:t>
            </a:r>
            <a:r>
              <a:rPr sz="2400" spc="-6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400" b="1" spc="-30" dirty="0">
                <a:solidFill>
                  <a:srgbClr val="00B04F"/>
                </a:solidFill>
                <a:latin typeface="Arial"/>
                <a:cs typeface="Arial"/>
              </a:rPr>
              <a:t>méthode&gt;</a:t>
            </a:r>
            <a:endParaRPr sz="2400">
              <a:latin typeface="Arial"/>
              <a:cs typeface="Arial"/>
            </a:endParaRPr>
          </a:p>
          <a:p>
            <a:pPr marL="332105" indent="-319405">
              <a:lnSpc>
                <a:spcPct val="100000"/>
              </a:lnSpc>
              <a:spcBef>
                <a:spcPts val="745"/>
              </a:spcBef>
              <a:buClr>
                <a:srgbClr val="006FC0"/>
              </a:buClr>
              <a:buSzPct val="58333"/>
              <a:buFont typeface="Wingdings"/>
              <a:buChar char=""/>
              <a:tabLst>
                <a:tab pos="332105" algn="l"/>
              </a:tabLst>
            </a:pPr>
            <a:r>
              <a:rPr sz="2400" dirty="0">
                <a:latin typeface="Times New Roman"/>
                <a:cs typeface="Times New Roman"/>
              </a:rPr>
              <a:t>Suite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déclarations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variables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locales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d’instructions</a:t>
            </a:r>
            <a:endParaRPr sz="2400">
              <a:latin typeface="Times New Roman"/>
              <a:cs typeface="Times New Roman"/>
            </a:endParaRPr>
          </a:p>
          <a:p>
            <a:pPr marL="332105" marR="5080" indent="-320040">
              <a:lnSpc>
                <a:spcPct val="100000"/>
              </a:lnSpc>
              <a:spcBef>
                <a:spcPts val="710"/>
              </a:spcBef>
              <a:buClr>
                <a:srgbClr val="006FC0"/>
              </a:buClr>
              <a:buSzPct val="58333"/>
              <a:buFont typeface="Wingdings"/>
              <a:buChar char=""/>
              <a:tabLst>
                <a:tab pos="332105" algn="l"/>
              </a:tabLst>
            </a:pPr>
            <a:r>
              <a:rPr sz="2400" dirty="0">
                <a:latin typeface="Times New Roman"/>
                <a:cs typeface="Times New Roman"/>
              </a:rPr>
              <a:t>Si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méthode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type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retour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corps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méthode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doit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contenir </a:t>
            </a:r>
            <a:r>
              <a:rPr sz="2400" dirty="0">
                <a:latin typeface="Times New Roman"/>
                <a:cs typeface="Times New Roman"/>
              </a:rPr>
              <a:t>au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moins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instruction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return</a:t>
            </a:r>
            <a:r>
              <a:rPr sz="2400" b="1" spc="-5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6F2FA0"/>
                </a:solidFill>
                <a:latin typeface="Times New Roman"/>
                <a:cs typeface="Times New Roman"/>
              </a:rPr>
              <a:t>expression</a:t>
            </a:r>
            <a:r>
              <a:rPr sz="2400" b="1" i="1" spc="-45" dirty="0">
                <a:solidFill>
                  <a:srgbClr val="6F2FA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où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6F2FA0"/>
                </a:solidFill>
                <a:latin typeface="Times New Roman"/>
                <a:cs typeface="Times New Roman"/>
              </a:rPr>
              <a:t>expression</a:t>
            </a:r>
            <a:r>
              <a:rPr sz="2400" b="1" i="1" spc="-50" dirty="0">
                <a:solidFill>
                  <a:srgbClr val="6F2FA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délivre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une </a:t>
            </a:r>
            <a:r>
              <a:rPr sz="2400" dirty="0">
                <a:latin typeface="Times New Roman"/>
                <a:cs typeface="Times New Roman"/>
              </a:rPr>
              <a:t>valeur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compatible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avec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type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retour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déclaré.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89510" y="4565904"/>
            <a:ext cx="5268595" cy="1811020"/>
          </a:xfrm>
          <a:custGeom>
            <a:avLst/>
            <a:gdLst/>
            <a:ahLst/>
            <a:cxnLst/>
            <a:rect l="l" t="t" r="r" b="b"/>
            <a:pathLst>
              <a:path w="5268595" h="1811020">
                <a:moveTo>
                  <a:pt x="5268468" y="1807464"/>
                </a:moveTo>
                <a:lnTo>
                  <a:pt x="5268468" y="1524"/>
                </a:lnTo>
                <a:lnTo>
                  <a:pt x="5265420" y="0"/>
                </a:lnTo>
                <a:lnTo>
                  <a:pt x="1524" y="0"/>
                </a:lnTo>
                <a:lnTo>
                  <a:pt x="0" y="1524"/>
                </a:lnTo>
                <a:lnTo>
                  <a:pt x="0" y="1807464"/>
                </a:lnTo>
                <a:lnTo>
                  <a:pt x="1524" y="1810512"/>
                </a:lnTo>
                <a:lnTo>
                  <a:pt x="4572" y="1810512"/>
                </a:lnTo>
                <a:lnTo>
                  <a:pt x="4572" y="9144"/>
                </a:lnTo>
                <a:lnTo>
                  <a:pt x="10668" y="4572"/>
                </a:lnTo>
                <a:lnTo>
                  <a:pt x="10668" y="9144"/>
                </a:lnTo>
                <a:lnTo>
                  <a:pt x="5257800" y="9144"/>
                </a:lnTo>
                <a:lnTo>
                  <a:pt x="5257800" y="4572"/>
                </a:lnTo>
                <a:lnTo>
                  <a:pt x="5262372" y="9144"/>
                </a:lnTo>
                <a:lnTo>
                  <a:pt x="5262372" y="1810512"/>
                </a:lnTo>
                <a:lnTo>
                  <a:pt x="5265420" y="1810512"/>
                </a:lnTo>
                <a:lnTo>
                  <a:pt x="5268468" y="1807464"/>
                </a:lnTo>
                <a:close/>
              </a:path>
              <a:path w="5268595" h="1811020">
                <a:moveTo>
                  <a:pt x="10668" y="9144"/>
                </a:moveTo>
                <a:lnTo>
                  <a:pt x="10668" y="4572"/>
                </a:lnTo>
                <a:lnTo>
                  <a:pt x="4572" y="9144"/>
                </a:lnTo>
                <a:lnTo>
                  <a:pt x="10668" y="9144"/>
                </a:lnTo>
                <a:close/>
              </a:path>
              <a:path w="5268595" h="1811020">
                <a:moveTo>
                  <a:pt x="10668" y="1799844"/>
                </a:moveTo>
                <a:lnTo>
                  <a:pt x="10668" y="9144"/>
                </a:lnTo>
                <a:lnTo>
                  <a:pt x="4572" y="9144"/>
                </a:lnTo>
                <a:lnTo>
                  <a:pt x="4572" y="1799844"/>
                </a:lnTo>
                <a:lnTo>
                  <a:pt x="10668" y="1799844"/>
                </a:lnTo>
                <a:close/>
              </a:path>
              <a:path w="5268595" h="1811020">
                <a:moveTo>
                  <a:pt x="5262372" y="1799844"/>
                </a:moveTo>
                <a:lnTo>
                  <a:pt x="4572" y="1799844"/>
                </a:lnTo>
                <a:lnTo>
                  <a:pt x="10668" y="1804416"/>
                </a:lnTo>
                <a:lnTo>
                  <a:pt x="10668" y="1810512"/>
                </a:lnTo>
                <a:lnTo>
                  <a:pt x="5257800" y="1810512"/>
                </a:lnTo>
                <a:lnTo>
                  <a:pt x="5257800" y="1804416"/>
                </a:lnTo>
                <a:lnTo>
                  <a:pt x="5262372" y="1799844"/>
                </a:lnTo>
                <a:close/>
              </a:path>
              <a:path w="5268595" h="1811020">
                <a:moveTo>
                  <a:pt x="10668" y="1810512"/>
                </a:moveTo>
                <a:lnTo>
                  <a:pt x="10668" y="1804416"/>
                </a:lnTo>
                <a:lnTo>
                  <a:pt x="4572" y="1799844"/>
                </a:lnTo>
                <a:lnTo>
                  <a:pt x="4572" y="1810512"/>
                </a:lnTo>
                <a:lnTo>
                  <a:pt x="10668" y="1810512"/>
                </a:lnTo>
                <a:close/>
              </a:path>
              <a:path w="5268595" h="1811020">
                <a:moveTo>
                  <a:pt x="5262372" y="9144"/>
                </a:moveTo>
                <a:lnTo>
                  <a:pt x="5257800" y="4572"/>
                </a:lnTo>
                <a:lnTo>
                  <a:pt x="5257800" y="9144"/>
                </a:lnTo>
                <a:lnTo>
                  <a:pt x="5262372" y="9144"/>
                </a:lnTo>
                <a:close/>
              </a:path>
              <a:path w="5268595" h="1811020">
                <a:moveTo>
                  <a:pt x="5262372" y="1799844"/>
                </a:moveTo>
                <a:lnTo>
                  <a:pt x="5262372" y="9144"/>
                </a:lnTo>
                <a:lnTo>
                  <a:pt x="5257800" y="9144"/>
                </a:lnTo>
                <a:lnTo>
                  <a:pt x="5257800" y="1799844"/>
                </a:lnTo>
                <a:lnTo>
                  <a:pt x="5262372" y="1799844"/>
                </a:lnTo>
                <a:close/>
              </a:path>
              <a:path w="5268595" h="1811020">
                <a:moveTo>
                  <a:pt x="5262372" y="1810512"/>
                </a:moveTo>
                <a:lnTo>
                  <a:pt x="5262372" y="1799844"/>
                </a:lnTo>
                <a:lnTo>
                  <a:pt x="5257800" y="1804416"/>
                </a:lnTo>
                <a:lnTo>
                  <a:pt x="5257800" y="1810512"/>
                </a:lnTo>
                <a:lnTo>
                  <a:pt x="5262372" y="1810512"/>
                </a:lnTo>
                <a:close/>
              </a:path>
            </a:pathLst>
          </a:custGeom>
          <a:solidFill>
            <a:srgbClr val="93B5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472828" y="4720842"/>
            <a:ext cx="344741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937260" algn="l"/>
                <a:tab pos="1962785" algn="l"/>
              </a:tabLst>
            </a:pPr>
            <a:r>
              <a:rPr sz="1600" dirty="0">
                <a:solidFill>
                  <a:srgbClr val="001F5F"/>
                </a:solidFill>
                <a:latin typeface="Arial MT"/>
                <a:cs typeface="Arial MT"/>
              </a:rPr>
              <a:t>double</a:t>
            </a:r>
            <a:r>
              <a:rPr sz="16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min</a:t>
            </a:r>
            <a:r>
              <a:rPr sz="1600" dirty="0">
                <a:solidFill>
                  <a:srgbClr val="FF0000"/>
                </a:solidFill>
                <a:latin typeface="Arial MT"/>
                <a:cs typeface="Arial MT"/>
              </a:rPr>
              <a:t>(</a:t>
            </a:r>
            <a:r>
              <a:rPr sz="1600" dirty="0">
                <a:solidFill>
                  <a:srgbClr val="001F5F"/>
                </a:solidFill>
                <a:latin typeface="Arial MT"/>
                <a:cs typeface="Arial MT"/>
              </a:rPr>
              <a:t>double</a:t>
            </a:r>
            <a:r>
              <a:rPr sz="16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dirty="0">
                <a:solidFill>
                  <a:srgbClr val="FF0000"/>
                </a:solidFill>
                <a:latin typeface="Arial MT"/>
                <a:cs typeface="Arial MT"/>
              </a:rPr>
              <a:t>,</a:t>
            </a:r>
            <a:r>
              <a:rPr sz="1600" spc="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1F5F"/>
                </a:solidFill>
                <a:latin typeface="Arial MT"/>
                <a:cs typeface="Arial MT"/>
              </a:rPr>
              <a:t>double</a:t>
            </a:r>
            <a:r>
              <a:rPr sz="16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</a:t>
            </a:r>
            <a:r>
              <a:rPr sz="1600" dirty="0">
                <a:solidFill>
                  <a:srgbClr val="FF0000"/>
                </a:solidFill>
                <a:latin typeface="Arial MT"/>
                <a:cs typeface="Arial MT"/>
              </a:rPr>
              <a:t>)</a:t>
            </a:r>
            <a:r>
              <a:rPr sz="16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600" spc="-50" dirty="0">
                <a:solidFill>
                  <a:srgbClr val="FF0000"/>
                </a:solidFill>
                <a:latin typeface="Arial MT"/>
                <a:cs typeface="Arial MT"/>
              </a:rPr>
              <a:t>{ </a:t>
            </a:r>
            <a:r>
              <a:rPr sz="1600" dirty="0">
                <a:solidFill>
                  <a:srgbClr val="001F5F"/>
                </a:solidFill>
                <a:latin typeface="Arial MT"/>
                <a:cs typeface="Arial MT"/>
              </a:rPr>
              <a:t>double</a:t>
            </a:r>
            <a:r>
              <a:rPr sz="16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vMin</a:t>
            </a:r>
            <a:r>
              <a:rPr sz="1600" spc="-20" dirty="0">
                <a:solidFill>
                  <a:srgbClr val="FF0000"/>
                </a:solidFill>
                <a:latin typeface="Arial MT"/>
                <a:cs typeface="Arial MT"/>
              </a:rPr>
              <a:t>;</a:t>
            </a:r>
            <a:r>
              <a:rPr sz="1600" dirty="0">
                <a:solidFill>
                  <a:srgbClr val="FF0000"/>
                </a:solidFill>
                <a:latin typeface="Arial MT"/>
                <a:cs typeface="Arial MT"/>
              </a:rPr>
              <a:t>	</a:t>
            </a:r>
            <a:r>
              <a:rPr sz="1600" dirty="0">
                <a:solidFill>
                  <a:srgbClr val="00B04F"/>
                </a:solidFill>
                <a:latin typeface="Arial MT"/>
                <a:cs typeface="Arial MT"/>
              </a:rPr>
              <a:t>//</a:t>
            </a:r>
            <a:r>
              <a:rPr sz="1600" spc="5" dirty="0">
                <a:solidFill>
                  <a:srgbClr val="00B04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B04F"/>
                </a:solidFill>
                <a:latin typeface="Arial MT"/>
                <a:cs typeface="Arial MT"/>
              </a:rPr>
              <a:t>variable</a:t>
            </a:r>
            <a:r>
              <a:rPr sz="1600" spc="-20" dirty="0">
                <a:solidFill>
                  <a:srgbClr val="00B04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0B04F"/>
                </a:solidFill>
                <a:latin typeface="Arial MT"/>
                <a:cs typeface="Arial MT"/>
              </a:rPr>
              <a:t>locale </a:t>
            </a:r>
            <a:r>
              <a:rPr sz="1600" dirty="0">
                <a:solidFill>
                  <a:srgbClr val="001F5F"/>
                </a:solidFill>
                <a:latin typeface="Arial MT"/>
                <a:cs typeface="Arial MT"/>
              </a:rPr>
              <a:t>if</a:t>
            </a:r>
            <a:r>
              <a:rPr sz="16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0000"/>
                </a:solidFill>
                <a:latin typeface="Arial MT"/>
                <a:cs typeface="Arial MT"/>
              </a:rPr>
              <a:t>(</a:t>
            </a:r>
            <a:r>
              <a:rPr sz="1600" dirty="0">
                <a:latin typeface="Arial MT"/>
                <a:cs typeface="Arial MT"/>
              </a:rPr>
              <a:t>a </a:t>
            </a:r>
            <a:r>
              <a:rPr sz="1600" dirty="0">
                <a:solidFill>
                  <a:srgbClr val="FF0000"/>
                </a:solidFill>
                <a:latin typeface="Arial MT"/>
                <a:cs typeface="Arial MT"/>
              </a:rPr>
              <a:t>&lt;</a:t>
            </a:r>
            <a:r>
              <a:rPr sz="16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b</a:t>
            </a:r>
            <a:r>
              <a:rPr sz="1600" spc="-25" dirty="0">
                <a:solidFill>
                  <a:srgbClr val="FF0000"/>
                </a:solidFill>
                <a:latin typeface="Arial MT"/>
                <a:cs typeface="Arial MT"/>
              </a:rPr>
              <a:t>)</a:t>
            </a:r>
            <a:r>
              <a:rPr sz="1600" dirty="0">
                <a:solidFill>
                  <a:srgbClr val="FF0000"/>
                </a:solidFill>
                <a:latin typeface="Arial MT"/>
                <a:cs typeface="Arial MT"/>
              </a:rPr>
              <a:t>	</a:t>
            </a:r>
            <a:r>
              <a:rPr sz="1600" dirty="0">
                <a:latin typeface="Arial MT"/>
                <a:cs typeface="Arial MT"/>
              </a:rPr>
              <a:t>vMin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0000"/>
                </a:solidFill>
                <a:latin typeface="Arial MT"/>
                <a:cs typeface="Arial MT"/>
              </a:rPr>
              <a:t>=</a:t>
            </a:r>
            <a:r>
              <a:rPr sz="16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a</a:t>
            </a:r>
            <a:r>
              <a:rPr sz="1600" spc="-25" dirty="0">
                <a:solidFill>
                  <a:srgbClr val="FF0000"/>
                </a:solidFill>
                <a:latin typeface="Arial MT"/>
                <a:cs typeface="Arial MT"/>
              </a:rPr>
              <a:t>;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33047" y="5696201"/>
            <a:ext cx="19342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00B04F"/>
                </a:solidFill>
                <a:latin typeface="Arial MT"/>
                <a:cs typeface="Arial MT"/>
              </a:rPr>
              <a:t>//instruction</a:t>
            </a:r>
            <a:r>
              <a:rPr sz="1600" spc="-15" dirty="0">
                <a:solidFill>
                  <a:srgbClr val="00B04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B04F"/>
                </a:solidFill>
                <a:latin typeface="Arial MT"/>
                <a:cs typeface="Arial MT"/>
              </a:rPr>
              <a:t>de</a:t>
            </a:r>
            <a:r>
              <a:rPr sz="1600" spc="-25" dirty="0">
                <a:solidFill>
                  <a:srgbClr val="00B04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0B04F"/>
                </a:solidFill>
                <a:latin typeface="Arial MT"/>
                <a:cs typeface="Arial MT"/>
              </a:rPr>
              <a:t>retour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72828" y="5452361"/>
            <a:ext cx="134239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001F5F"/>
                </a:solidFill>
                <a:latin typeface="Arial MT"/>
                <a:cs typeface="Arial MT"/>
              </a:rPr>
              <a:t>else</a:t>
            </a:r>
            <a:r>
              <a:rPr sz="1600" spc="434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vMin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0000"/>
                </a:solidFill>
                <a:latin typeface="Arial MT"/>
                <a:cs typeface="Arial MT"/>
              </a:rPr>
              <a:t>=</a:t>
            </a:r>
            <a:r>
              <a:rPr sz="1600" spc="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b</a:t>
            </a:r>
            <a:r>
              <a:rPr sz="1600" spc="-25" dirty="0">
                <a:solidFill>
                  <a:srgbClr val="FF0000"/>
                </a:solidFill>
                <a:latin typeface="Arial MT"/>
                <a:cs typeface="Arial MT"/>
              </a:rPr>
              <a:t>; </a:t>
            </a:r>
            <a:r>
              <a:rPr sz="1600" dirty="0">
                <a:solidFill>
                  <a:srgbClr val="001F5F"/>
                </a:solidFill>
                <a:latin typeface="Arial MT"/>
                <a:cs typeface="Arial MT"/>
              </a:rPr>
              <a:t>return</a:t>
            </a:r>
            <a:r>
              <a:rPr sz="16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vMin</a:t>
            </a:r>
            <a:r>
              <a:rPr sz="1600" spc="-10" dirty="0">
                <a:solidFill>
                  <a:srgbClr val="FF0000"/>
                </a:solidFill>
                <a:latin typeface="Arial MT"/>
                <a:cs typeface="Arial MT"/>
              </a:rPr>
              <a:t>;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600" spc="-50" dirty="0">
                <a:solidFill>
                  <a:srgbClr val="FF0000"/>
                </a:solidFill>
                <a:latin typeface="Arial MT"/>
                <a:cs typeface="Arial MT"/>
              </a:rPr>
              <a:t>}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18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021976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18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3304" rIns="0" bIns="0" rtlCol="0">
            <a:spAutoFit/>
          </a:bodyPr>
          <a:lstStyle/>
          <a:p>
            <a:pPr marL="381000">
              <a:lnSpc>
                <a:spcPct val="100000"/>
              </a:lnSpc>
              <a:spcBef>
                <a:spcPts val="100"/>
              </a:spcBef>
            </a:pPr>
            <a:r>
              <a:rPr spc="-204" dirty="0"/>
              <a:t>Définition</a:t>
            </a:r>
            <a:r>
              <a:rPr b="0" spc="20" dirty="0">
                <a:latin typeface="Times New Roman"/>
                <a:cs typeface="Times New Roman"/>
              </a:rPr>
              <a:t> </a:t>
            </a:r>
            <a:r>
              <a:rPr spc="-360" dirty="0"/>
              <a:t>des</a:t>
            </a:r>
            <a:r>
              <a:rPr b="0" spc="55" dirty="0">
                <a:latin typeface="Times New Roman"/>
                <a:cs typeface="Times New Roman"/>
              </a:rPr>
              <a:t> </a:t>
            </a:r>
            <a:r>
              <a:rPr spc="-340" dirty="0"/>
              <a:t>méthodes</a:t>
            </a:r>
          </a:p>
        </p:txBody>
      </p:sp>
      <p:sp>
        <p:nvSpPr>
          <p:cNvPr id="4" name="object 4"/>
          <p:cNvSpPr/>
          <p:nvPr/>
        </p:nvSpPr>
        <p:spPr>
          <a:xfrm>
            <a:off x="1237369" y="2909316"/>
            <a:ext cx="8362315" cy="3827145"/>
          </a:xfrm>
          <a:custGeom>
            <a:avLst/>
            <a:gdLst/>
            <a:ahLst/>
            <a:cxnLst/>
            <a:rect l="l" t="t" r="r" b="b"/>
            <a:pathLst>
              <a:path w="8362315" h="3827145">
                <a:moveTo>
                  <a:pt x="8362185" y="3825240"/>
                </a:moveTo>
                <a:lnTo>
                  <a:pt x="8362185" y="3048"/>
                </a:lnTo>
                <a:lnTo>
                  <a:pt x="8360661" y="0"/>
                </a:lnTo>
                <a:lnTo>
                  <a:pt x="1524" y="0"/>
                </a:lnTo>
                <a:lnTo>
                  <a:pt x="0" y="3048"/>
                </a:lnTo>
                <a:lnTo>
                  <a:pt x="0" y="3825240"/>
                </a:lnTo>
                <a:lnTo>
                  <a:pt x="1524" y="3826764"/>
                </a:lnTo>
                <a:lnTo>
                  <a:pt x="4572" y="3826764"/>
                </a:lnTo>
                <a:lnTo>
                  <a:pt x="4572" y="10668"/>
                </a:lnTo>
                <a:lnTo>
                  <a:pt x="10668" y="4572"/>
                </a:lnTo>
                <a:lnTo>
                  <a:pt x="10668" y="10668"/>
                </a:lnTo>
                <a:lnTo>
                  <a:pt x="8353041" y="10668"/>
                </a:lnTo>
                <a:lnTo>
                  <a:pt x="8353041" y="4572"/>
                </a:lnTo>
                <a:lnTo>
                  <a:pt x="8357613" y="10668"/>
                </a:lnTo>
                <a:lnTo>
                  <a:pt x="8357613" y="3826764"/>
                </a:lnTo>
                <a:lnTo>
                  <a:pt x="8360661" y="3826764"/>
                </a:lnTo>
                <a:lnTo>
                  <a:pt x="8362185" y="3825240"/>
                </a:lnTo>
                <a:close/>
              </a:path>
              <a:path w="8362315" h="3827145">
                <a:moveTo>
                  <a:pt x="10668" y="10668"/>
                </a:moveTo>
                <a:lnTo>
                  <a:pt x="10668" y="4572"/>
                </a:lnTo>
                <a:lnTo>
                  <a:pt x="4572" y="10668"/>
                </a:lnTo>
                <a:lnTo>
                  <a:pt x="10668" y="10668"/>
                </a:lnTo>
                <a:close/>
              </a:path>
              <a:path w="8362315" h="3827145">
                <a:moveTo>
                  <a:pt x="10668" y="3816096"/>
                </a:moveTo>
                <a:lnTo>
                  <a:pt x="10668" y="10668"/>
                </a:lnTo>
                <a:lnTo>
                  <a:pt x="4572" y="10668"/>
                </a:lnTo>
                <a:lnTo>
                  <a:pt x="4572" y="3816096"/>
                </a:lnTo>
                <a:lnTo>
                  <a:pt x="10668" y="3816096"/>
                </a:lnTo>
                <a:close/>
              </a:path>
              <a:path w="8362315" h="3827145">
                <a:moveTo>
                  <a:pt x="8357613" y="3816096"/>
                </a:moveTo>
                <a:lnTo>
                  <a:pt x="4572" y="3816096"/>
                </a:lnTo>
                <a:lnTo>
                  <a:pt x="10668" y="3822192"/>
                </a:lnTo>
                <a:lnTo>
                  <a:pt x="10668" y="3826764"/>
                </a:lnTo>
                <a:lnTo>
                  <a:pt x="8353041" y="3826764"/>
                </a:lnTo>
                <a:lnTo>
                  <a:pt x="8353041" y="3822192"/>
                </a:lnTo>
                <a:lnTo>
                  <a:pt x="8357613" y="3816096"/>
                </a:lnTo>
                <a:close/>
              </a:path>
              <a:path w="8362315" h="3827145">
                <a:moveTo>
                  <a:pt x="10668" y="3826764"/>
                </a:moveTo>
                <a:lnTo>
                  <a:pt x="10668" y="3822192"/>
                </a:lnTo>
                <a:lnTo>
                  <a:pt x="4572" y="3816096"/>
                </a:lnTo>
                <a:lnTo>
                  <a:pt x="4572" y="3826764"/>
                </a:lnTo>
                <a:lnTo>
                  <a:pt x="10668" y="3826764"/>
                </a:lnTo>
                <a:close/>
              </a:path>
              <a:path w="8362315" h="3827145">
                <a:moveTo>
                  <a:pt x="8357613" y="10668"/>
                </a:moveTo>
                <a:lnTo>
                  <a:pt x="8353041" y="4572"/>
                </a:lnTo>
                <a:lnTo>
                  <a:pt x="8353041" y="10668"/>
                </a:lnTo>
                <a:lnTo>
                  <a:pt x="8357613" y="10668"/>
                </a:lnTo>
                <a:close/>
              </a:path>
              <a:path w="8362315" h="3827145">
                <a:moveTo>
                  <a:pt x="8357613" y="3816096"/>
                </a:moveTo>
                <a:lnTo>
                  <a:pt x="8357613" y="10668"/>
                </a:lnTo>
                <a:lnTo>
                  <a:pt x="8353041" y="10668"/>
                </a:lnTo>
                <a:lnTo>
                  <a:pt x="8353041" y="3816096"/>
                </a:lnTo>
                <a:lnTo>
                  <a:pt x="8357613" y="3816096"/>
                </a:lnTo>
                <a:close/>
              </a:path>
              <a:path w="8362315" h="3827145">
                <a:moveTo>
                  <a:pt x="8357613" y="3826764"/>
                </a:moveTo>
                <a:lnTo>
                  <a:pt x="8357613" y="3816096"/>
                </a:lnTo>
                <a:lnTo>
                  <a:pt x="8353041" y="3822192"/>
                </a:lnTo>
                <a:lnTo>
                  <a:pt x="8353041" y="3826764"/>
                </a:lnTo>
                <a:lnTo>
                  <a:pt x="8357613" y="3826764"/>
                </a:lnTo>
                <a:close/>
              </a:path>
            </a:pathLst>
          </a:custGeom>
          <a:solidFill>
            <a:srgbClr val="93B5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52812" y="1966975"/>
            <a:ext cx="8258809" cy="436880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32740" marR="5080" indent="-320040">
              <a:lnSpc>
                <a:spcPct val="101299"/>
              </a:lnSpc>
              <a:spcBef>
                <a:spcPts val="60"/>
              </a:spcBef>
              <a:buFont typeface="Wingdings"/>
              <a:buChar char=""/>
              <a:tabLst>
                <a:tab pos="332740" algn="l"/>
                <a:tab pos="415925" algn="l"/>
              </a:tabLst>
            </a:pPr>
            <a:r>
              <a:rPr sz="1400" dirty="0">
                <a:solidFill>
                  <a:srgbClr val="006FC0"/>
                </a:solidFill>
                <a:latin typeface="Times New Roman"/>
                <a:cs typeface="Times New Roman"/>
              </a:rPr>
              <a:t>	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return</a:t>
            </a:r>
            <a:r>
              <a:rPr sz="2400" b="1" spc="-3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sert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aussi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à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sortir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d’une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méthode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sans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renvoyer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valeur </a:t>
            </a:r>
            <a:r>
              <a:rPr sz="2400" dirty="0">
                <a:latin typeface="Times New Roman"/>
                <a:cs typeface="Times New Roman"/>
              </a:rPr>
              <a:t>(méthode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ayant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void</a:t>
            </a:r>
            <a:r>
              <a:rPr sz="2400" b="1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comme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type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retour).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80"/>
              </a:spcBef>
            </a:pPr>
            <a:endParaRPr sz="2400">
              <a:latin typeface="Times New Roman"/>
              <a:cs typeface="Times New Roman"/>
            </a:endParaRPr>
          </a:p>
          <a:p>
            <a:pPr marL="480059" marR="919480">
              <a:lnSpc>
                <a:spcPct val="100000"/>
              </a:lnSpc>
            </a:pPr>
            <a:r>
              <a:rPr sz="2200" dirty="0">
                <a:solidFill>
                  <a:srgbClr val="001F5F"/>
                </a:solidFill>
                <a:latin typeface="Arial MT"/>
                <a:cs typeface="Arial MT"/>
              </a:rPr>
              <a:t>void</a:t>
            </a:r>
            <a:r>
              <a:rPr sz="22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afficherPosition</a:t>
            </a:r>
            <a:r>
              <a:rPr sz="2200" spc="-10" dirty="0">
                <a:solidFill>
                  <a:srgbClr val="FF0000"/>
                </a:solidFill>
                <a:latin typeface="Arial MT"/>
                <a:cs typeface="Arial MT"/>
              </a:rPr>
              <a:t>(</a:t>
            </a:r>
            <a:r>
              <a:rPr sz="2200" spc="-10" dirty="0">
                <a:solidFill>
                  <a:srgbClr val="001F5F"/>
                </a:solidFill>
                <a:latin typeface="Arial MT"/>
                <a:cs typeface="Arial MT"/>
              </a:rPr>
              <a:t>double</a:t>
            </a:r>
            <a:r>
              <a:rPr sz="22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tab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[],</a:t>
            </a:r>
            <a:r>
              <a:rPr sz="2200" spc="-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1F5F"/>
                </a:solidFill>
                <a:latin typeface="Arial MT"/>
                <a:cs typeface="Arial MT"/>
              </a:rPr>
              <a:t>int</a:t>
            </a:r>
            <a:r>
              <a:rPr sz="22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taille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,</a:t>
            </a:r>
            <a:r>
              <a:rPr sz="2200" spc="-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1F5F"/>
                </a:solidFill>
                <a:latin typeface="Arial MT"/>
                <a:cs typeface="Arial MT"/>
              </a:rPr>
              <a:t>double</a:t>
            </a:r>
            <a:r>
              <a:rPr sz="2200" spc="-3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val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)</a:t>
            </a:r>
            <a:r>
              <a:rPr sz="2200" spc="-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spc="-50" dirty="0">
                <a:solidFill>
                  <a:srgbClr val="FF0000"/>
                </a:solidFill>
                <a:latin typeface="Arial MT"/>
                <a:cs typeface="Arial MT"/>
              </a:rPr>
              <a:t>{ </a:t>
            </a:r>
            <a:r>
              <a:rPr sz="2200" dirty="0">
                <a:solidFill>
                  <a:srgbClr val="001F5F"/>
                </a:solidFill>
                <a:latin typeface="Arial MT"/>
                <a:cs typeface="Arial MT"/>
              </a:rPr>
              <a:t>for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(</a:t>
            </a:r>
            <a:r>
              <a:rPr sz="2200" dirty="0">
                <a:solidFill>
                  <a:srgbClr val="001F5F"/>
                </a:solidFill>
                <a:latin typeface="Arial MT"/>
                <a:cs typeface="Arial MT"/>
              </a:rPr>
              <a:t>int</a:t>
            </a:r>
            <a:r>
              <a:rPr sz="22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(</a:t>
            </a:r>
            <a:r>
              <a:rPr sz="2200" dirty="0">
                <a:solidFill>
                  <a:srgbClr val="FF32CC"/>
                </a:solidFill>
                <a:latin typeface="Arial MT"/>
                <a:cs typeface="Arial MT"/>
              </a:rPr>
              <a:t>0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);</a:t>
            </a:r>
            <a:r>
              <a:rPr sz="220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&lt;</a:t>
            </a:r>
            <a:r>
              <a:rPr sz="220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taille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;</a:t>
            </a:r>
            <a:r>
              <a:rPr sz="2200" spc="-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i</a:t>
            </a:r>
            <a:r>
              <a:rPr sz="2200" spc="-20" dirty="0">
                <a:solidFill>
                  <a:srgbClr val="FF0000"/>
                </a:solidFill>
                <a:latin typeface="Arial MT"/>
                <a:cs typeface="Arial MT"/>
              </a:rPr>
              <a:t>++){</a:t>
            </a:r>
            <a:endParaRPr sz="2200">
              <a:latin typeface="Arial MT"/>
              <a:cs typeface="Arial MT"/>
            </a:endParaRPr>
          </a:p>
          <a:p>
            <a:pPr marL="1024255">
              <a:lnSpc>
                <a:spcPct val="100000"/>
              </a:lnSpc>
            </a:pPr>
            <a:r>
              <a:rPr sz="2200" dirty="0">
                <a:solidFill>
                  <a:srgbClr val="001F5F"/>
                </a:solidFill>
                <a:latin typeface="Arial MT"/>
                <a:cs typeface="Arial MT"/>
              </a:rPr>
              <a:t>if</a:t>
            </a:r>
            <a:r>
              <a:rPr sz="22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(</a:t>
            </a:r>
            <a:r>
              <a:rPr sz="2200" dirty="0">
                <a:latin typeface="Arial MT"/>
                <a:cs typeface="Arial MT"/>
              </a:rPr>
              <a:t>tab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[</a:t>
            </a:r>
            <a:r>
              <a:rPr sz="2200" dirty="0">
                <a:latin typeface="Arial MT"/>
                <a:cs typeface="Arial MT"/>
              </a:rPr>
              <a:t>i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]</a:t>
            </a:r>
            <a:r>
              <a:rPr sz="2200" spc="-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==</a:t>
            </a:r>
            <a:r>
              <a:rPr sz="220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val</a:t>
            </a:r>
            <a:r>
              <a:rPr sz="2200" spc="-20" dirty="0">
                <a:solidFill>
                  <a:srgbClr val="FF0000"/>
                </a:solidFill>
                <a:latin typeface="Arial MT"/>
                <a:cs typeface="Arial MT"/>
              </a:rPr>
              <a:t>){</a:t>
            </a:r>
            <a:endParaRPr sz="2200">
              <a:latin typeface="Arial MT"/>
              <a:cs typeface="Arial MT"/>
            </a:endParaRPr>
          </a:p>
          <a:p>
            <a:pPr marL="1257300" marR="174625">
              <a:lnSpc>
                <a:spcPct val="100000"/>
              </a:lnSpc>
            </a:pPr>
            <a:r>
              <a:rPr sz="2200" b="1" dirty="0">
                <a:solidFill>
                  <a:srgbClr val="009900"/>
                </a:solidFill>
                <a:latin typeface="Arial"/>
                <a:cs typeface="Arial"/>
              </a:rPr>
              <a:t>cout 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&lt;&lt;</a:t>
            </a:r>
            <a:r>
              <a:rPr sz="220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6FC0"/>
                </a:solidFill>
                <a:latin typeface="Arial MT"/>
                <a:cs typeface="Arial MT"/>
              </a:rPr>
              <a:t>"La</a:t>
            </a:r>
            <a:r>
              <a:rPr sz="2200" spc="-3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6FC0"/>
                </a:solidFill>
                <a:latin typeface="Arial MT"/>
                <a:cs typeface="Arial MT"/>
              </a:rPr>
              <a:t>position</a:t>
            </a:r>
            <a:r>
              <a:rPr sz="2200" spc="-2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6FC0"/>
                </a:solidFill>
                <a:latin typeface="Arial MT"/>
                <a:cs typeface="Arial MT"/>
              </a:rPr>
              <a:t>de</a:t>
            </a:r>
            <a:r>
              <a:rPr sz="2200" spc="-2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6FC0"/>
                </a:solidFill>
                <a:latin typeface="Arial MT"/>
                <a:cs typeface="Arial MT"/>
              </a:rPr>
              <a:t>"</a:t>
            </a:r>
            <a:r>
              <a:rPr sz="2200" spc="-3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&lt;&lt;</a:t>
            </a:r>
            <a:r>
              <a:rPr sz="2200" spc="-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val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&lt;&lt;</a:t>
            </a:r>
            <a:r>
              <a:rPr sz="2200" spc="-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6FC0"/>
                </a:solidFill>
                <a:latin typeface="Arial MT"/>
                <a:cs typeface="Arial MT"/>
              </a:rPr>
              <a:t>"</a:t>
            </a:r>
            <a:r>
              <a:rPr sz="2200" spc="-2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6FC0"/>
                </a:solidFill>
                <a:latin typeface="Arial MT"/>
                <a:cs typeface="Arial MT"/>
              </a:rPr>
              <a:t>est</a:t>
            </a:r>
            <a:r>
              <a:rPr sz="2200" spc="-2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6FC0"/>
                </a:solidFill>
                <a:latin typeface="Arial MT"/>
                <a:cs typeface="Arial MT"/>
              </a:rPr>
              <a:t>"</a:t>
            </a:r>
            <a:r>
              <a:rPr sz="2200" spc="-3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&lt;&lt;</a:t>
            </a:r>
            <a:r>
              <a:rPr sz="220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&lt;&lt;</a:t>
            </a:r>
            <a:r>
              <a:rPr sz="2200" spc="-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b="1" spc="-10" dirty="0">
                <a:solidFill>
                  <a:srgbClr val="009900"/>
                </a:solidFill>
                <a:latin typeface="Arial"/>
                <a:cs typeface="Arial"/>
              </a:rPr>
              <a:t>endl</a:t>
            </a:r>
            <a:r>
              <a:rPr sz="2200" spc="-10" dirty="0">
                <a:solidFill>
                  <a:srgbClr val="FF0000"/>
                </a:solidFill>
                <a:latin typeface="Arial MT"/>
                <a:cs typeface="Arial MT"/>
              </a:rPr>
              <a:t>; </a:t>
            </a:r>
            <a:r>
              <a:rPr sz="2200" spc="-10" dirty="0">
                <a:solidFill>
                  <a:srgbClr val="001F5F"/>
                </a:solidFill>
                <a:latin typeface="Arial MT"/>
                <a:cs typeface="Arial MT"/>
              </a:rPr>
              <a:t>return</a:t>
            </a:r>
            <a:r>
              <a:rPr sz="2200" spc="-10" dirty="0">
                <a:solidFill>
                  <a:srgbClr val="FF0000"/>
                </a:solidFill>
                <a:latin typeface="Arial MT"/>
                <a:cs typeface="Arial MT"/>
              </a:rPr>
              <a:t>;</a:t>
            </a:r>
            <a:endParaRPr sz="2200">
              <a:latin typeface="Arial MT"/>
              <a:cs typeface="Arial MT"/>
            </a:endParaRPr>
          </a:p>
          <a:p>
            <a:pPr marL="946785">
              <a:lnSpc>
                <a:spcPct val="100000"/>
              </a:lnSpc>
            </a:pPr>
            <a:r>
              <a:rPr sz="2200" spc="-50" dirty="0">
                <a:solidFill>
                  <a:srgbClr val="FF0000"/>
                </a:solidFill>
                <a:latin typeface="Arial MT"/>
                <a:cs typeface="Arial MT"/>
              </a:rPr>
              <a:t>}</a:t>
            </a:r>
            <a:endParaRPr sz="2200">
              <a:latin typeface="Arial MT"/>
              <a:cs typeface="Arial MT"/>
            </a:endParaRPr>
          </a:p>
          <a:p>
            <a:pPr marL="480059">
              <a:lnSpc>
                <a:spcPct val="100000"/>
              </a:lnSpc>
            </a:pPr>
            <a:r>
              <a:rPr sz="2200" spc="-50" dirty="0">
                <a:solidFill>
                  <a:srgbClr val="FF0000"/>
                </a:solidFill>
                <a:latin typeface="Arial MT"/>
                <a:cs typeface="Arial MT"/>
              </a:rPr>
              <a:t>}</a:t>
            </a:r>
            <a:endParaRPr sz="2200">
              <a:latin typeface="Arial MT"/>
              <a:cs typeface="Arial MT"/>
            </a:endParaRPr>
          </a:p>
          <a:p>
            <a:pPr marL="480059">
              <a:lnSpc>
                <a:spcPct val="100000"/>
              </a:lnSpc>
            </a:pPr>
            <a:r>
              <a:rPr sz="2200" b="1" dirty="0">
                <a:solidFill>
                  <a:srgbClr val="009900"/>
                </a:solidFill>
                <a:latin typeface="Arial"/>
                <a:cs typeface="Arial"/>
              </a:rPr>
              <a:t>cout</a:t>
            </a:r>
            <a:r>
              <a:rPr sz="2200" b="1" spc="-15" dirty="0">
                <a:solidFill>
                  <a:srgbClr val="0099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&lt;&lt;</a:t>
            </a:r>
            <a:r>
              <a:rPr sz="2200" spc="-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val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&lt;&lt;</a:t>
            </a:r>
            <a:r>
              <a:rPr sz="2200" spc="-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6FC0"/>
                </a:solidFill>
                <a:latin typeface="Arial MT"/>
                <a:cs typeface="Arial MT"/>
              </a:rPr>
              <a:t>"</a:t>
            </a:r>
            <a:r>
              <a:rPr sz="2200" spc="-3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6FC0"/>
                </a:solidFill>
                <a:latin typeface="Arial MT"/>
                <a:cs typeface="Arial MT"/>
              </a:rPr>
              <a:t>n’est</a:t>
            </a:r>
            <a:r>
              <a:rPr sz="2200" spc="-5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6FC0"/>
                </a:solidFill>
                <a:latin typeface="Arial MT"/>
                <a:cs typeface="Arial MT"/>
              </a:rPr>
              <a:t>pas</a:t>
            </a:r>
            <a:r>
              <a:rPr sz="2200" spc="-3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6FC0"/>
                </a:solidFill>
                <a:latin typeface="Arial MT"/>
                <a:cs typeface="Arial MT"/>
              </a:rPr>
              <a:t>présente</a:t>
            </a:r>
            <a:r>
              <a:rPr sz="2200" spc="-2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6FC0"/>
                </a:solidFill>
                <a:latin typeface="Arial MT"/>
                <a:cs typeface="Arial MT"/>
              </a:rPr>
              <a:t>dans</a:t>
            </a:r>
            <a:r>
              <a:rPr sz="2200" spc="-3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6FC0"/>
                </a:solidFill>
                <a:latin typeface="Arial MT"/>
                <a:cs typeface="Arial MT"/>
              </a:rPr>
              <a:t>le</a:t>
            </a:r>
            <a:r>
              <a:rPr sz="2200" spc="-4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6FC0"/>
                </a:solidFill>
                <a:latin typeface="Arial MT"/>
                <a:cs typeface="Arial MT"/>
              </a:rPr>
              <a:t>tableau"</a:t>
            </a:r>
            <a:r>
              <a:rPr sz="2200" spc="-5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&lt;&lt;</a:t>
            </a:r>
            <a:r>
              <a:rPr sz="2200" spc="-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b="1" spc="-10" dirty="0">
                <a:solidFill>
                  <a:srgbClr val="009900"/>
                </a:solidFill>
                <a:latin typeface="Arial"/>
                <a:cs typeface="Arial"/>
              </a:rPr>
              <a:t>endl</a:t>
            </a:r>
            <a:r>
              <a:rPr sz="2200" spc="-10" dirty="0">
                <a:solidFill>
                  <a:srgbClr val="FF0000"/>
                </a:solidFill>
                <a:latin typeface="Arial MT"/>
                <a:cs typeface="Arial MT"/>
              </a:rPr>
              <a:t>;</a:t>
            </a:r>
            <a:endParaRPr sz="2200">
              <a:latin typeface="Arial MT"/>
              <a:cs typeface="Arial MT"/>
            </a:endParaRPr>
          </a:p>
          <a:p>
            <a:pPr marL="480059">
              <a:lnSpc>
                <a:spcPct val="100000"/>
              </a:lnSpc>
            </a:pPr>
            <a:r>
              <a:rPr sz="2200" spc="-50" dirty="0">
                <a:solidFill>
                  <a:srgbClr val="FF0000"/>
                </a:solidFill>
                <a:latin typeface="Arial MT"/>
                <a:cs typeface="Arial MT"/>
              </a:rPr>
              <a:t>}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19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021976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19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3012" rIns="0" bIns="0" rtlCol="0">
            <a:spAutoFit/>
          </a:bodyPr>
          <a:lstStyle/>
          <a:p>
            <a:pPr marL="381000">
              <a:lnSpc>
                <a:spcPct val="100000"/>
              </a:lnSpc>
              <a:spcBef>
                <a:spcPts val="100"/>
              </a:spcBef>
            </a:pPr>
            <a:r>
              <a:rPr spc="-204" dirty="0"/>
              <a:t>Définition</a:t>
            </a:r>
            <a:r>
              <a:rPr b="0" spc="20" dirty="0">
                <a:latin typeface="Times New Roman"/>
                <a:cs typeface="Times New Roman"/>
              </a:rPr>
              <a:t> </a:t>
            </a:r>
            <a:r>
              <a:rPr spc="-360" dirty="0"/>
              <a:t>des</a:t>
            </a:r>
            <a:r>
              <a:rPr b="0" spc="55" dirty="0">
                <a:latin typeface="Times New Roman"/>
                <a:cs typeface="Times New Roman"/>
              </a:rPr>
              <a:t> </a:t>
            </a:r>
            <a:r>
              <a:rPr spc="-340" dirty="0"/>
              <a:t>méthodes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04272" y="1855723"/>
            <a:ext cx="8706485" cy="2372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740" marR="106045" indent="-320040">
              <a:lnSpc>
                <a:spcPct val="100000"/>
              </a:lnSpc>
              <a:spcBef>
                <a:spcPts val="100"/>
              </a:spcBef>
              <a:buClr>
                <a:srgbClr val="006FC0"/>
              </a:buClr>
              <a:buSzPct val="58333"/>
              <a:buFont typeface="Wingdings"/>
              <a:buChar char=""/>
              <a:tabLst>
                <a:tab pos="332740" algn="l"/>
              </a:tabLst>
            </a:pPr>
            <a:r>
              <a:rPr sz="2400" dirty="0">
                <a:latin typeface="Times New Roman"/>
                <a:cs typeface="Times New Roman"/>
              </a:rPr>
              <a:t>Les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variables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locales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sont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variables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déclarées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à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l’intérieur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d’une méthode:</a:t>
            </a:r>
            <a:endParaRPr sz="2400">
              <a:latin typeface="Times New Roman"/>
              <a:cs typeface="Times New Roman"/>
            </a:endParaRPr>
          </a:p>
          <a:p>
            <a:pPr marL="728345" lvl="1" indent="-349885">
              <a:lnSpc>
                <a:spcPct val="100000"/>
              </a:lnSpc>
              <a:spcBef>
                <a:spcPts val="600"/>
              </a:spcBef>
              <a:buClr>
                <a:srgbClr val="94B6D2"/>
              </a:buClr>
              <a:buSzPct val="68750"/>
              <a:buFont typeface="Wingdings"/>
              <a:buChar char=""/>
              <a:tabLst>
                <a:tab pos="728345" algn="l"/>
              </a:tabLst>
            </a:pPr>
            <a:r>
              <a:rPr sz="2400" dirty="0">
                <a:latin typeface="Times New Roman"/>
                <a:cs typeface="Times New Roman"/>
              </a:rPr>
              <a:t>elles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conservent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données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qui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sont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manipulées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méthode.</a:t>
            </a:r>
            <a:endParaRPr sz="2400">
              <a:latin typeface="Times New Roman"/>
              <a:cs typeface="Times New Roman"/>
            </a:endParaRPr>
          </a:p>
          <a:p>
            <a:pPr marL="652780" marR="5080" lvl="1" indent="-274320">
              <a:lnSpc>
                <a:spcPct val="100000"/>
              </a:lnSpc>
              <a:spcBef>
                <a:spcPts val="600"/>
              </a:spcBef>
              <a:buFont typeface="Wingdings"/>
              <a:buChar char=""/>
              <a:tabLst>
                <a:tab pos="652780" algn="l"/>
                <a:tab pos="728345" algn="l"/>
              </a:tabLst>
            </a:pPr>
            <a:r>
              <a:rPr sz="1650" dirty="0">
                <a:solidFill>
                  <a:srgbClr val="94B6D2"/>
                </a:solidFill>
                <a:latin typeface="Times New Roman"/>
                <a:cs typeface="Times New Roman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elles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sont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accessibles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dans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bloc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dans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lequel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elles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été </a:t>
            </a:r>
            <a:r>
              <a:rPr sz="2400" dirty="0">
                <a:latin typeface="Times New Roman"/>
                <a:cs typeface="Times New Roman"/>
              </a:rPr>
              <a:t>déclarées,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leur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valeur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perdue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lorsque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méthode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termine</a:t>
            </a:r>
            <a:r>
              <a:rPr sz="2400" spc="6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son</a:t>
            </a:r>
            <a:r>
              <a:rPr sz="2400" spc="-10" dirty="0">
                <a:latin typeface="Times New Roman"/>
                <a:cs typeface="Times New Roman"/>
              </a:rPr>
              <a:t> exécution.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19665" y="4824984"/>
            <a:ext cx="2127885" cy="1839595"/>
          </a:xfrm>
          <a:custGeom>
            <a:avLst/>
            <a:gdLst/>
            <a:ahLst/>
            <a:cxnLst/>
            <a:rect l="l" t="t" r="r" b="b"/>
            <a:pathLst>
              <a:path w="2127885" h="1839595">
                <a:moveTo>
                  <a:pt x="2127501" y="1836420"/>
                </a:moveTo>
                <a:lnTo>
                  <a:pt x="2127501" y="3048"/>
                </a:lnTo>
                <a:lnTo>
                  <a:pt x="2124453" y="0"/>
                </a:lnTo>
                <a:lnTo>
                  <a:pt x="1524" y="0"/>
                </a:lnTo>
                <a:lnTo>
                  <a:pt x="0" y="3048"/>
                </a:lnTo>
                <a:lnTo>
                  <a:pt x="0" y="1836420"/>
                </a:lnTo>
                <a:lnTo>
                  <a:pt x="1524" y="1839468"/>
                </a:lnTo>
                <a:lnTo>
                  <a:pt x="4572" y="1839468"/>
                </a:lnTo>
                <a:lnTo>
                  <a:pt x="4572" y="10668"/>
                </a:lnTo>
                <a:lnTo>
                  <a:pt x="9144" y="4572"/>
                </a:lnTo>
                <a:lnTo>
                  <a:pt x="9144" y="10668"/>
                </a:lnTo>
                <a:lnTo>
                  <a:pt x="2116833" y="10668"/>
                </a:lnTo>
                <a:lnTo>
                  <a:pt x="2116833" y="4572"/>
                </a:lnTo>
                <a:lnTo>
                  <a:pt x="2121405" y="10668"/>
                </a:lnTo>
                <a:lnTo>
                  <a:pt x="2121405" y="1839468"/>
                </a:lnTo>
                <a:lnTo>
                  <a:pt x="2124453" y="1839468"/>
                </a:lnTo>
                <a:lnTo>
                  <a:pt x="2127501" y="1836420"/>
                </a:lnTo>
                <a:close/>
              </a:path>
              <a:path w="2127885" h="1839595">
                <a:moveTo>
                  <a:pt x="9144" y="10668"/>
                </a:moveTo>
                <a:lnTo>
                  <a:pt x="9144" y="4572"/>
                </a:lnTo>
                <a:lnTo>
                  <a:pt x="4572" y="10668"/>
                </a:lnTo>
                <a:lnTo>
                  <a:pt x="9144" y="10668"/>
                </a:lnTo>
                <a:close/>
              </a:path>
              <a:path w="2127885" h="1839595">
                <a:moveTo>
                  <a:pt x="9144" y="1828800"/>
                </a:moveTo>
                <a:lnTo>
                  <a:pt x="9144" y="10668"/>
                </a:lnTo>
                <a:lnTo>
                  <a:pt x="4572" y="10668"/>
                </a:lnTo>
                <a:lnTo>
                  <a:pt x="4572" y="1828800"/>
                </a:lnTo>
                <a:lnTo>
                  <a:pt x="9144" y="1828800"/>
                </a:lnTo>
                <a:close/>
              </a:path>
              <a:path w="2127885" h="1839595">
                <a:moveTo>
                  <a:pt x="2121405" y="1828800"/>
                </a:moveTo>
                <a:lnTo>
                  <a:pt x="4572" y="1828800"/>
                </a:lnTo>
                <a:lnTo>
                  <a:pt x="9144" y="1833372"/>
                </a:lnTo>
                <a:lnTo>
                  <a:pt x="9144" y="1839468"/>
                </a:lnTo>
                <a:lnTo>
                  <a:pt x="2116833" y="1839468"/>
                </a:lnTo>
                <a:lnTo>
                  <a:pt x="2116833" y="1833372"/>
                </a:lnTo>
                <a:lnTo>
                  <a:pt x="2121405" y="1828800"/>
                </a:lnTo>
                <a:close/>
              </a:path>
              <a:path w="2127885" h="1839595">
                <a:moveTo>
                  <a:pt x="9144" y="1839468"/>
                </a:moveTo>
                <a:lnTo>
                  <a:pt x="9144" y="1833372"/>
                </a:lnTo>
                <a:lnTo>
                  <a:pt x="4572" y="1828800"/>
                </a:lnTo>
                <a:lnTo>
                  <a:pt x="4572" y="1839468"/>
                </a:lnTo>
                <a:lnTo>
                  <a:pt x="9144" y="1839468"/>
                </a:lnTo>
                <a:close/>
              </a:path>
              <a:path w="2127885" h="1839595">
                <a:moveTo>
                  <a:pt x="2121405" y="10668"/>
                </a:moveTo>
                <a:lnTo>
                  <a:pt x="2116833" y="4572"/>
                </a:lnTo>
                <a:lnTo>
                  <a:pt x="2116833" y="10668"/>
                </a:lnTo>
                <a:lnTo>
                  <a:pt x="2121405" y="10668"/>
                </a:lnTo>
                <a:close/>
              </a:path>
              <a:path w="2127885" h="1839595">
                <a:moveTo>
                  <a:pt x="2121405" y="1828800"/>
                </a:moveTo>
                <a:lnTo>
                  <a:pt x="2121405" y="10668"/>
                </a:lnTo>
                <a:lnTo>
                  <a:pt x="2116833" y="10668"/>
                </a:lnTo>
                <a:lnTo>
                  <a:pt x="2116833" y="1828800"/>
                </a:lnTo>
                <a:lnTo>
                  <a:pt x="2121405" y="1828800"/>
                </a:lnTo>
                <a:close/>
              </a:path>
              <a:path w="2127885" h="1839595">
                <a:moveTo>
                  <a:pt x="2121405" y="1839468"/>
                </a:moveTo>
                <a:lnTo>
                  <a:pt x="2121405" y="1828800"/>
                </a:lnTo>
                <a:lnTo>
                  <a:pt x="2116833" y="1833372"/>
                </a:lnTo>
                <a:lnTo>
                  <a:pt x="2116833" y="1839468"/>
                </a:lnTo>
                <a:lnTo>
                  <a:pt x="2121405" y="1839468"/>
                </a:lnTo>
                <a:close/>
              </a:path>
            </a:pathLst>
          </a:custGeom>
          <a:solidFill>
            <a:srgbClr val="93B5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401457" y="4902198"/>
            <a:ext cx="1880235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void</a:t>
            </a:r>
            <a:r>
              <a:rPr sz="18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method1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(...)</a:t>
            </a:r>
            <a:r>
              <a:rPr sz="1800" spc="-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Arial MT"/>
                <a:cs typeface="Arial MT"/>
              </a:rPr>
              <a:t>{ </a:t>
            </a: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int</a:t>
            </a:r>
            <a:r>
              <a:rPr sz="18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i</a:t>
            </a:r>
            <a:r>
              <a:rPr sz="1800" spc="-25" dirty="0">
                <a:solidFill>
                  <a:srgbClr val="FF0000"/>
                </a:solidFill>
                <a:latin typeface="Arial MT"/>
                <a:cs typeface="Arial MT"/>
              </a:rPr>
              <a:t>;</a:t>
            </a:r>
            <a:endParaRPr sz="1800">
              <a:latin typeface="Arial MT"/>
              <a:cs typeface="Arial MT"/>
            </a:endParaRPr>
          </a:p>
          <a:p>
            <a:pPr marL="12700" marR="919480">
              <a:lnSpc>
                <a:spcPct val="100000"/>
              </a:lnSpc>
            </a:pP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double</a:t>
            </a:r>
            <a:r>
              <a:rPr sz="18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y</a:t>
            </a:r>
            <a:r>
              <a:rPr sz="1800" spc="-25" dirty="0">
                <a:solidFill>
                  <a:srgbClr val="FF0000"/>
                </a:solidFill>
                <a:latin typeface="Arial MT"/>
                <a:cs typeface="Arial MT"/>
              </a:rPr>
              <a:t>; </a:t>
            </a: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int</a:t>
            </a:r>
            <a:r>
              <a:rPr sz="18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tab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[</a:t>
            </a:r>
            <a:r>
              <a:rPr sz="1800" spc="-10" dirty="0">
                <a:solidFill>
                  <a:srgbClr val="FF32CC"/>
                </a:solidFill>
                <a:latin typeface="Arial MT"/>
                <a:cs typeface="Arial MT"/>
              </a:rPr>
              <a:t>5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];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25" dirty="0">
                <a:solidFill>
                  <a:srgbClr val="FF0000"/>
                </a:solidFill>
                <a:latin typeface="Arial MT"/>
                <a:cs typeface="Arial MT"/>
              </a:rPr>
              <a:t>...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solidFill>
                  <a:srgbClr val="FF0000"/>
                </a:solidFill>
                <a:latin typeface="Arial MT"/>
                <a:cs typeface="Arial MT"/>
              </a:rPr>
              <a:t>}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322697" y="4893564"/>
            <a:ext cx="2372995" cy="1914525"/>
          </a:xfrm>
          <a:custGeom>
            <a:avLst/>
            <a:gdLst/>
            <a:ahLst/>
            <a:cxnLst/>
            <a:rect l="l" t="t" r="r" b="b"/>
            <a:pathLst>
              <a:path w="2372995" h="1914525">
                <a:moveTo>
                  <a:pt x="2372868" y="1912620"/>
                </a:moveTo>
                <a:lnTo>
                  <a:pt x="2372868" y="1524"/>
                </a:lnTo>
                <a:lnTo>
                  <a:pt x="2369820" y="0"/>
                </a:lnTo>
                <a:lnTo>
                  <a:pt x="3048" y="0"/>
                </a:lnTo>
                <a:lnTo>
                  <a:pt x="0" y="1524"/>
                </a:lnTo>
                <a:lnTo>
                  <a:pt x="0" y="1912620"/>
                </a:lnTo>
                <a:lnTo>
                  <a:pt x="3048" y="1914144"/>
                </a:lnTo>
                <a:lnTo>
                  <a:pt x="4572" y="1914144"/>
                </a:lnTo>
                <a:lnTo>
                  <a:pt x="4572" y="9144"/>
                </a:lnTo>
                <a:lnTo>
                  <a:pt x="10668" y="4572"/>
                </a:lnTo>
                <a:lnTo>
                  <a:pt x="10668" y="9144"/>
                </a:lnTo>
                <a:lnTo>
                  <a:pt x="2362200" y="9144"/>
                </a:lnTo>
                <a:lnTo>
                  <a:pt x="2362200" y="4572"/>
                </a:lnTo>
                <a:lnTo>
                  <a:pt x="2366772" y="9144"/>
                </a:lnTo>
                <a:lnTo>
                  <a:pt x="2366772" y="1914144"/>
                </a:lnTo>
                <a:lnTo>
                  <a:pt x="2369820" y="1914144"/>
                </a:lnTo>
                <a:lnTo>
                  <a:pt x="2372868" y="1912620"/>
                </a:lnTo>
                <a:close/>
              </a:path>
              <a:path w="2372995" h="1914525">
                <a:moveTo>
                  <a:pt x="10668" y="9144"/>
                </a:moveTo>
                <a:lnTo>
                  <a:pt x="10668" y="4572"/>
                </a:lnTo>
                <a:lnTo>
                  <a:pt x="4572" y="9144"/>
                </a:lnTo>
                <a:lnTo>
                  <a:pt x="10668" y="9144"/>
                </a:lnTo>
                <a:close/>
              </a:path>
              <a:path w="2372995" h="1914525">
                <a:moveTo>
                  <a:pt x="10668" y="1905000"/>
                </a:moveTo>
                <a:lnTo>
                  <a:pt x="10668" y="9144"/>
                </a:lnTo>
                <a:lnTo>
                  <a:pt x="4572" y="9144"/>
                </a:lnTo>
                <a:lnTo>
                  <a:pt x="4572" y="1905000"/>
                </a:lnTo>
                <a:lnTo>
                  <a:pt x="10668" y="1905000"/>
                </a:lnTo>
                <a:close/>
              </a:path>
              <a:path w="2372995" h="1914525">
                <a:moveTo>
                  <a:pt x="2366772" y="1905000"/>
                </a:moveTo>
                <a:lnTo>
                  <a:pt x="4572" y="1905000"/>
                </a:lnTo>
                <a:lnTo>
                  <a:pt x="10668" y="1909572"/>
                </a:lnTo>
                <a:lnTo>
                  <a:pt x="10668" y="1914144"/>
                </a:lnTo>
                <a:lnTo>
                  <a:pt x="2362200" y="1914144"/>
                </a:lnTo>
                <a:lnTo>
                  <a:pt x="2362200" y="1909572"/>
                </a:lnTo>
                <a:lnTo>
                  <a:pt x="2366772" y="1905000"/>
                </a:lnTo>
                <a:close/>
              </a:path>
              <a:path w="2372995" h="1914525">
                <a:moveTo>
                  <a:pt x="10668" y="1914144"/>
                </a:moveTo>
                <a:lnTo>
                  <a:pt x="10668" y="1909572"/>
                </a:lnTo>
                <a:lnTo>
                  <a:pt x="4572" y="1905000"/>
                </a:lnTo>
                <a:lnTo>
                  <a:pt x="4572" y="1914144"/>
                </a:lnTo>
                <a:lnTo>
                  <a:pt x="10668" y="1914144"/>
                </a:lnTo>
                <a:close/>
              </a:path>
              <a:path w="2372995" h="1914525">
                <a:moveTo>
                  <a:pt x="2366772" y="9144"/>
                </a:moveTo>
                <a:lnTo>
                  <a:pt x="2362200" y="4572"/>
                </a:lnTo>
                <a:lnTo>
                  <a:pt x="2362200" y="9144"/>
                </a:lnTo>
                <a:lnTo>
                  <a:pt x="2366772" y="9144"/>
                </a:lnTo>
                <a:close/>
              </a:path>
              <a:path w="2372995" h="1914525">
                <a:moveTo>
                  <a:pt x="2366772" y="1905000"/>
                </a:moveTo>
                <a:lnTo>
                  <a:pt x="2366772" y="9144"/>
                </a:lnTo>
                <a:lnTo>
                  <a:pt x="2362200" y="9144"/>
                </a:lnTo>
                <a:lnTo>
                  <a:pt x="2362200" y="1905000"/>
                </a:lnTo>
                <a:lnTo>
                  <a:pt x="2366772" y="1905000"/>
                </a:lnTo>
                <a:close/>
              </a:path>
              <a:path w="2372995" h="1914525">
                <a:moveTo>
                  <a:pt x="2366772" y="1914144"/>
                </a:moveTo>
                <a:lnTo>
                  <a:pt x="2366772" y="1905000"/>
                </a:lnTo>
                <a:lnTo>
                  <a:pt x="2362200" y="1909572"/>
                </a:lnTo>
                <a:lnTo>
                  <a:pt x="2362200" y="1914144"/>
                </a:lnTo>
                <a:lnTo>
                  <a:pt x="2366772" y="1914144"/>
                </a:lnTo>
                <a:close/>
              </a:path>
            </a:pathLst>
          </a:custGeom>
          <a:solidFill>
            <a:srgbClr val="93B5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406014" y="5008877"/>
            <a:ext cx="2146935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double</a:t>
            </a:r>
            <a:r>
              <a:rPr sz="18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method2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(...)</a:t>
            </a:r>
            <a:r>
              <a:rPr sz="1800" spc="-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Arial MT"/>
                <a:cs typeface="Arial MT"/>
              </a:rPr>
              <a:t>{ </a:t>
            </a: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double</a:t>
            </a:r>
            <a:r>
              <a:rPr sz="18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x</a:t>
            </a:r>
            <a:r>
              <a:rPr sz="1800" spc="-25" dirty="0">
                <a:solidFill>
                  <a:srgbClr val="FF0000"/>
                </a:solidFill>
                <a:latin typeface="Arial MT"/>
                <a:cs typeface="Arial MT"/>
              </a:rPr>
              <a:t>;</a:t>
            </a:r>
            <a:endParaRPr sz="1800">
              <a:latin typeface="Arial MT"/>
              <a:cs typeface="Arial MT"/>
            </a:endParaRPr>
          </a:p>
          <a:p>
            <a:pPr marL="12700" marR="741680">
              <a:lnSpc>
                <a:spcPct val="100000"/>
              </a:lnSpc>
            </a:pP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double</a:t>
            </a:r>
            <a:r>
              <a:rPr sz="18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y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; </a:t>
            </a: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double</a:t>
            </a:r>
            <a:r>
              <a:rPr sz="18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tab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[</a:t>
            </a:r>
            <a:r>
              <a:rPr sz="1800" spc="-10" dirty="0">
                <a:solidFill>
                  <a:srgbClr val="FF32CC"/>
                </a:solidFill>
                <a:latin typeface="Arial MT"/>
                <a:cs typeface="Arial MT"/>
              </a:rPr>
              <a:t>5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];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25" dirty="0">
                <a:solidFill>
                  <a:srgbClr val="FF0000"/>
                </a:solidFill>
                <a:latin typeface="Arial MT"/>
                <a:cs typeface="Arial MT"/>
              </a:rPr>
              <a:t>...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solidFill>
                  <a:srgbClr val="FF0000"/>
                </a:solidFill>
                <a:latin typeface="Arial MT"/>
                <a:cs typeface="Arial MT"/>
              </a:rPr>
              <a:t>}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24972" y="5328917"/>
            <a:ext cx="3470275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imes New Roman"/>
                <a:cs typeface="Times New Roman"/>
              </a:rPr>
              <a:t>Possibilité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d’utiliser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le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même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identificateur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dans </a:t>
            </a:r>
            <a:r>
              <a:rPr sz="1400" dirty="0">
                <a:latin typeface="Times New Roman"/>
                <a:cs typeface="Times New Roman"/>
              </a:rPr>
              <a:t>deux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méthodes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distinctes</a:t>
            </a:r>
            <a:r>
              <a:rPr sz="1400" spc="3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pas de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conflit,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c’est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la </a:t>
            </a:r>
            <a:r>
              <a:rPr sz="1400" dirty="0">
                <a:latin typeface="Times New Roman"/>
                <a:cs typeface="Times New Roman"/>
              </a:rPr>
              <a:t>déclaration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locale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qui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est utilisée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dans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le</a:t>
            </a:r>
            <a:r>
              <a:rPr sz="1400" spc="-10" dirty="0">
                <a:latin typeface="Times New Roman"/>
                <a:cs typeface="Times New Roman"/>
              </a:rPr>
              <a:t> corps </a:t>
            </a:r>
            <a:r>
              <a:rPr sz="1400" dirty="0">
                <a:latin typeface="Times New Roman"/>
                <a:cs typeface="Times New Roman"/>
              </a:rPr>
              <a:t>de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la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méthode.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20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021976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20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3012" rIns="0" bIns="0" rtlCol="0">
            <a:spAutoFit/>
          </a:bodyPr>
          <a:lstStyle/>
          <a:p>
            <a:pPr marL="381000">
              <a:lnSpc>
                <a:spcPct val="100000"/>
              </a:lnSpc>
              <a:spcBef>
                <a:spcPts val="100"/>
              </a:spcBef>
            </a:pPr>
            <a:r>
              <a:rPr spc="-395" dirty="0"/>
              <a:t>La</a:t>
            </a:r>
            <a:r>
              <a:rPr b="0" spc="70" dirty="0">
                <a:latin typeface="Times New Roman"/>
                <a:cs typeface="Times New Roman"/>
              </a:rPr>
              <a:t> </a:t>
            </a:r>
            <a:r>
              <a:rPr spc="-275" dirty="0"/>
              <a:t>récursivité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spc="-360" dirty="0"/>
              <a:t>des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340" dirty="0"/>
              <a:t>méthodes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20685" y="1784095"/>
            <a:ext cx="6607175" cy="263398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795"/>
              </a:spcBef>
              <a:buClr>
                <a:srgbClr val="006FC0"/>
              </a:buClr>
              <a:buSzPct val="58333"/>
              <a:buFont typeface="Wingdings"/>
              <a:buChar char=""/>
              <a:tabLst>
                <a:tab pos="332105" algn="l"/>
              </a:tabLst>
            </a:pPr>
            <a:r>
              <a:rPr sz="2400" dirty="0">
                <a:solidFill>
                  <a:srgbClr val="0091FE"/>
                </a:solidFill>
                <a:latin typeface="Times New Roman"/>
                <a:cs typeface="Times New Roman"/>
              </a:rPr>
              <a:t>C++</a:t>
            </a:r>
            <a:r>
              <a:rPr sz="2400" spc="-25" dirty="0">
                <a:solidFill>
                  <a:srgbClr val="0091FE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autorise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récursivité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appels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méthodes.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Exemple:</a:t>
            </a:r>
            <a:endParaRPr sz="2400">
              <a:latin typeface="Times New Roman"/>
              <a:cs typeface="Times New Roman"/>
            </a:endParaRPr>
          </a:p>
          <a:p>
            <a:pPr marL="167640" marR="2138680" indent="-155575">
              <a:lnSpc>
                <a:spcPct val="126400"/>
              </a:lnSpc>
              <a:spcBef>
                <a:spcPts val="30"/>
              </a:spcBef>
            </a:pPr>
            <a:r>
              <a:rPr sz="2200" dirty="0">
                <a:solidFill>
                  <a:srgbClr val="001F5F"/>
                </a:solidFill>
                <a:latin typeface="Arial MT"/>
                <a:cs typeface="Arial MT"/>
              </a:rPr>
              <a:t>unsigned</a:t>
            </a:r>
            <a:r>
              <a:rPr sz="2200" spc="-7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1F5F"/>
                </a:solidFill>
                <a:latin typeface="Arial MT"/>
                <a:cs typeface="Arial MT"/>
              </a:rPr>
              <a:t>long</a:t>
            </a:r>
            <a:r>
              <a:rPr sz="2200" spc="-6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facto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(</a:t>
            </a:r>
            <a:r>
              <a:rPr sz="2200" dirty="0">
                <a:solidFill>
                  <a:srgbClr val="001F5F"/>
                </a:solidFill>
                <a:latin typeface="Arial MT"/>
                <a:cs typeface="Arial MT"/>
              </a:rPr>
              <a:t>unsigned</a:t>
            </a:r>
            <a:r>
              <a:rPr sz="2200" spc="-6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1F5F"/>
                </a:solidFill>
                <a:latin typeface="Arial MT"/>
                <a:cs typeface="Arial MT"/>
              </a:rPr>
              <a:t>int</a:t>
            </a:r>
            <a:r>
              <a:rPr sz="2200" spc="-6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n</a:t>
            </a:r>
            <a:r>
              <a:rPr sz="2200" spc="-25" dirty="0">
                <a:solidFill>
                  <a:srgbClr val="FF0000"/>
                </a:solidFill>
                <a:latin typeface="Arial MT"/>
                <a:cs typeface="Arial MT"/>
              </a:rPr>
              <a:t>){ </a:t>
            </a:r>
            <a:r>
              <a:rPr sz="2200" dirty="0">
                <a:solidFill>
                  <a:srgbClr val="001F5F"/>
                </a:solidFill>
                <a:latin typeface="Arial MT"/>
                <a:cs typeface="Arial MT"/>
              </a:rPr>
              <a:t>if</a:t>
            </a:r>
            <a:r>
              <a:rPr sz="22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(</a:t>
            </a:r>
            <a:r>
              <a:rPr sz="2200" dirty="0">
                <a:latin typeface="Arial MT"/>
                <a:cs typeface="Arial MT"/>
              </a:rPr>
              <a:t>n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==</a:t>
            </a:r>
            <a:r>
              <a:rPr sz="220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32CC"/>
                </a:solidFill>
                <a:latin typeface="Arial MT"/>
                <a:cs typeface="Arial MT"/>
              </a:rPr>
              <a:t>0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)</a:t>
            </a:r>
            <a:r>
              <a:rPr sz="220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1F5F"/>
                </a:solidFill>
                <a:latin typeface="Arial MT"/>
                <a:cs typeface="Arial MT"/>
              </a:rPr>
              <a:t>return</a:t>
            </a:r>
            <a:r>
              <a:rPr sz="22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FF32CC"/>
                </a:solidFill>
                <a:latin typeface="Arial MT"/>
                <a:cs typeface="Arial MT"/>
              </a:rPr>
              <a:t>1</a:t>
            </a:r>
            <a:r>
              <a:rPr sz="2200" spc="-25" dirty="0">
                <a:solidFill>
                  <a:srgbClr val="FF0000"/>
                </a:solidFill>
                <a:latin typeface="Arial MT"/>
                <a:cs typeface="Arial MT"/>
              </a:rPr>
              <a:t>;</a:t>
            </a:r>
            <a:endParaRPr sz="2200">
              <a:latin typeface="Arial MT"/>
              <a:cs typeface="Arial MT"/>
            </a:endParaRPr>
          </a:p>
          <a:p>
            <a:pPr marL="167640">
              <a:lnSpc>
                <a:spcPct val="100000"/>
              </a:lnSpc>
              <a:spcBef>
                <a:spcPts val="710"/>
              </a:spcBef>
            </a:pPr>
            <a:r>
              <a:rPr sz="2200" dirty="0">
                <a:solidFill>
                  <a:srgbClr val="001F5F"/>
                </a:solidFill>
                <a:latin typeface="Arial MT"/>
                <a:cs typeface="Arial MT"/>
              </a:rPr>
              <a:t>else</a:t>
            </a:r>
            <a:r>
              <a:rPr sz="22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1F5F"/>
                </a:solidFill>
                <a:latin typeface="Arial MT"/>
                <a:cs typeface="Arial MT"/>
              </a:rPr>
              <a:t>return</a:t>
            </a:r>
            <a:r>
              <a:rPr sz="22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facto</a:t>
            </a:r>
            <a:r>
              <a:rPr sz="2200" spc="-10" dirty="0">
                <a:solidFill>
                  <a:srgbClr val="FF0000"/>
                </a:solidFill>
                <a:latin typeface="Arial MT"/>
                <a:cs typeface="Arial MT"/>
              </a:rPr>
              <a:t>(</a:t>
            </a:r>
            <a:r>
              <a:rPr sz="2200" spc="-10" dirty="0">
                <a:latin typeface="Arial MT"/>
                <a:cs typeface="Arial MT"/>
              </a:rPr>
              <a:t>n</a:t>
            </a:r>
            <a:r>
              <a:rPr sz="2200" spc="-10" dirty="0">
                <a:solidFill>
                  <a:srgbClr val="FF0000"/>
                </a:solidFill>
                <a:latin typeface="Arial MT"/>
                <a:cs typeface="Arial MT"/>
              </a:rPr>
              <a:t>-</a:t>
            </a:r>
            <a:r>
              <a:rPr sz="2200" spc="-20" dirty="0">
                <a:solidFill>
                  <a:srgbClr val="FF32CC"/>
                </a:solidFill>
                <a:latin typeface="Arial MT"/>
                <a:cs typeface="Arial MT"/>
              </a:rPr>
              <a:t>1</a:t>
            </a:r>
            <a:r>
              <a:rPr sz="2200" spc="-20" dirty="0">
                <a:solidFill>
                  <a:srgbClr val="FF0000"/>
                </a:solidFill>
                <a:latin typeface="Arial MT"/>
                <a:cs typeface="Arial MT"/>
              </a:rPr>
              <a:t>)*</a:t>
            </a:r>
            <a:r>
              <a:rPr sz="2200" spc="-20" dirty="0">
                <a:latin typeface="Arial MT"/>
                <a:cs typeface="Arial MT"/>
              </a:rPr>
              <a:t>n</a:t>
            </a:r>
            <a:r>
              <a:rPr sz="2200" spc="-20" dirty="0">
                <a:solidFill>
                  <a:srgbClr val="FF0000"/>
                </a:solidFill>
                <a:latin typeface="Arial MT"/>
                <a:cs typeface="Arial MT"/>
              </a:rPr>
              <a:t>;</a:t>
            </a:r>
            <a:endParaRPr sz="2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2200" spc="-50" dirty="0">
                <a:solidFill>
                  <a:srgbClr val="FF0000"/>
                </a:solidFill>
                <a:latin typeface="Arial MT"/>
                <a:cs typeface="Arial MT"/>
              </a:rPr>
              <a:t>}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21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21976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21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4912" rIns="0" bIns="0" rtlCol="0">
            <a:spAutoFit/>
          </a:bodyPr>
          <a:lstStyle/>
          <a:p>
            <a:pPr marL="381000">
              <a:lnSpc>
                <a:spcPct val="100000"/>
              </a:lnSpc>
              <a:spcBef>
                <a:spcPts val="100"/>
              </a:spcBef>
            </a:pPr>
            <a:r>
              <a:rPr spc="-204" dirty="0"/>
              <a:t>Définition</a:t>
            </a:r>
            <a:r>
              <a:rPr b="0" spc="20" dirty="0">
                <a:latin typeface="Times New Roman"/>
                <a:cs typeface="Times New Roman"/>
              </a:rPr>
              <a:t> </a:t>
            </a:r>
            <a:r>
              <a:rPr spc="-360" dirty="0"/>
              <a:t>des</a:t>
            </a:r>
            <a:r>
              <a:rPr b="0" spc="55" dirty="0">
                <a:latin typeface="Times New Roman"/>
                <a:cs typeface="Times New Roman"/>
              </a:rPr>
              <a:t> </a:t>
            </a:r>
            <a:r>
              <a:rPr spc="-340" dirty="0"/>
              <a:t>méthodes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52812" y="1748676"/>
            <a:ext cx="8980805" cy="502602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335280">
              <a:lnSpc>
                <a:spcPct val="100000"/>
              </a:lnSpc>
              <a:spcBef>
                <a:spcPts val="590"/>
              </a:spcBef>
            </a:pP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Exemple</a:t>
            </a:r>
            <a:r>
              <a:rPr sz="28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1:</a:t>
            </a:r>
            <a:endParaRPr sz="2800">
              <a:latin typeface="Times New Roman"/>
              <a:cs typeface="Times New Roman"/>
            </a:endParaRPr>
          </a:p>
          <a:p>
            <a:pPr marL="332105" indent="-319405">
              <a:lnSpc>
                <a:spcPct val="100000"/>
              </a:lnSpc>
              <a:spcBef>
                <a:spcPts val="425"/>
              </a:spcBef>
              <a:buClr>
                <a:srgbClr val="006FC0"/>
              </a:buClr>
              <a:buSzPct val="58333"/>
              <a:buFont typeface="Wingdings"/>
              <a:buChar char=""/>
              <a:tabLst>
                <a:tab pos="332105" algn="l"/>
              </a:tabLst>
            </a:pP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méthode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surface()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classe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91FE"/>
                </a:solidFill>
                <a:latin typeface="Times New Roman"/>
                <a:cs typeface="Times New Roman"/>
              </a:rPr>
              <a:t>Rectangle</a:t>
            </a:r>
            <a:r>
              <a:rPr sz="2400" b="1" spc="-50" dirty="0">
                <a:solidFill>
                  <a:srgbClr val="0091FE"/>
                </a:solidFill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469900" marR="6297295" indent="-152400">
              <a:lnSpc>
                <a:spcPct val="114300"/>
              </a:lnSpc>
              <a:spcBef>
                <a:spcPts val="5"/>
              </a:spcBef>
            </a:pP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class</a:t>
            </a:r>
            <a:r>
              <a:rPr sz="2400" b="1" spc="-4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91FE"/>
                </a:solidFill>
                <a:latin typeface="Times New Roman"/>
                <a:cs typeface="Times New Roman"/>
              </a:rPr>
              <a:t>Rectangle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{ </a:t>
            </a:r>
            <a:r>
              <a:rPr sz="240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400" spc="-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hauteur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240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400" spc="-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largeur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240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400" spc="-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surface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(){</a:t>
            </a:r>
            <a:endParaRPr sz="24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409"/>
              </a:spcBef>
            </a:pPr>
            <a:r>
              <a:rPr sz="2400" dirty="0">
                <a:solidFill>
                  <a:srgbClr val="001F5F"/>
                </a:solidFill>
                <a:latin typeface="Times New Roman"/>
                <a:cs typeface="Times New Roman"/>
              </a:rPr>
              <a:t>return</a:t>
            </a:r>
            <a:r>
              <a:rPr sz="2400" spc="-4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hauteur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*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largeur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409"/>
              </a:spcBef>
            </a:pPr>
            <a:r>
              <a:rPr sz="2400" spc="-5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420"/>
              </a:spcBef>
            </a:pPr>
            <a:r>
              <a:rPr sz="2400" b="1" spc="-25" dirty="0">
                <a:solidFill>
                  <a:srgbClr val="00B04F"/>
                </a:solidFill>
                <a:latin typeface="Times New Roman"/>
                <a:cs typeface="Times New Roman"/>
              </a:rPr>
              <a:t>//…</a:t>
            </a:r>
            <a:endParaRPr sz="2400">
              <a:latin typeface="Times New Roman"/>
              <a:cs typeface="Times New Roman"/>
            </a:endParaRPr>
          </a:p>
          <a:p>
            <a:pPr marL="316865">
              <a:lnSpc>
                <a:spcPct val="100000"/>
              </a:lnSpc>
              <a:spcBef>
                <a:spcPts val="405"/>
              </a:spcBef>
            </a:pP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};</a:t>
            </a:r>
            <a:endParaRPr sz="2400">
              <a:latin typeface="Times New Roman"/>
              <a:cs typeface="Times New Roman"/>
            </a:endParaRPr>
          </a:p>
          <a:p>
            <a:pPr marL="332105" marR="5080" indent="-320040">
              <a:lnSpc>
                <a:spcPts val="2590"/>
              </a:lnSpc>
              <a:spcBef>
                <a:spcPts val="735"/>
              </a:spcBef>
              <a:buClr>
                <a:srgbClr val="006FC0"/>
              </a:buClr>
              <a:buSzPct val="58333"/>
              <a:buFont typeface="Wingdings"/>
              <a:buChar char=""/>
              <a:tabLst>
                <a:tab pos="332105" algn="l"/>
              </a:tabLst>
            </a:pPr>
            <a:r>
              <a:rPr sz="2400" dirty="0">
                <a:latin typeface="Times New Roman"/>
                <a:cs typeface="Times New Roman"/>
              </a:rPr>
              <a:t>Il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faut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passer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attributs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comme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arguments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aux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méthodes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la </a:t>
            </a:r>
            <a:r>
              <a:rPr sz="2400" spc="-10" dirty="0">
                <a:latin typeface="Times New Roman"/>
                <a:cs typeface="Times New Roman"/>
              </a:rPr>
              <a:t>classe.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22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21976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22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4912" rIns="0" bIns="0" rtlCol="0">
            <a:spAutoFit/>
          </a:bodyPr>
          <a:lstStyle/>
          <a:p>
            <a:pPr marL="381000">
              <a:lnSpc>
                <a:spcPct val="100000"/>
              </a:lnSpc>
              <a:spcBef>
                <a:spcPts val="100"/>
              </a:spcBef>
            </a:pPr>
            <a:r>
              <a:rPr spc="-204" dirty="0"/>
              <a:t>Définition</a:t>
            </a:r>
            <a:r>
              <a:rPr b="0" spc="20" dirty="0">
                <a:latin typeface="Times New Roman"/>
                <a:cs typeface="Times New Roman"/>
              </a:rPr>
              <a:t> </a:t>
            </a:r>
            <a:r>
              <a:rPr spc="-360" dirty="0"/>
              <a:t>des</a:t>
            </a:r>
            <a:r>
              <a:rPr b="0" spc="55" dirty="0">
                <a:latin typeface="Times New Roman"/>
                <a:cs typeface="Times New Roman"/>
              </a:rPr>
              <a:t> </a:t>
            </a:r>
            <a:r>
              <a:rPr spc="-340" dirty="0"/>
              <a:t>méthodes</a:t>
            </a:r>
          </a:p>
        </p:txBody>
      </p:sp>
      <p:sp>
        <p:nvSpPr>
          <p:cNvPr id="3" name="object 3"/>
          <p:cNvSpPr/>
          <p:nvPr/>
        </p:nvSpPr>
        <p:spPr>
          <a:xfrm>
            <a:off x="1380625" y="2909316"/>
            <a:ext cx="5195570" cy="4043679"/>
          </a:xfrm>
          <a:custGeom>
            <a:avLst/>
            <a:gdLst/>
            <a:ahLst/>
            <a:cxnLst/>
            <a:rect l="l" t="t" r="r" b="b"/>
            <a:pathLst>
              <a:path w="5195570" h="4043679">
                <a:moveTo>
                  <a:pt x="5195313" y="4040124"/>
                </a:moveTo>
                <a:lnTo>
                  <a:pt x="5195313" y="3048"/>
                </a:lnTo>
                <a:lnTo>
                  <a:pt x="5193789" y="0"/>
                </a:lnTo>
                <a:lnTo>
                  <a:pt x="3048" y="0"/>
                </a:lnTo>
                <a:lnTo>
                  <a:pt x="0" y="3048"/>
                </a:lnTo>
                <a:lnTo>
                  <a:pt x="0" y="4040124"/>
                </a:lnTo>
                <a:lnTo>
                  <a:pt x="3048" y="4043172"/>
                </a:lnTo>
                <a:lnTo>
                  <a:pt x="6096" y="4043172"/>
                </a:lnTo>
                <a:lnTo>
                  <a:pt x="6096" y="10668"/>
                </a:lnTo>
                <a:lnTo>
                  <a:pt x="10668" y="4572"/>
                </a:lnTo>
                <a:lnTo>
                  <a:pt x="10668" y="10668"/>
                </a:lnTo>
                <a:lnTo>
                  <a:pt x="5184645" y="10668"/>
                </a:lnTo>
                <a:lnTo>
                  <a:pt x="5184645" y="4572"/>
                </a:lnTo>
                <a:lnTo>
                  <a:pt x="5190741" y="10668"/>
                </a:lnTo>
                <a:lnTo>
                  <a:pt x="5190741" y="4043172"/>
                </a:lnTo>
                <a:lnTo>
                  <a:pt x="5193789" y="4043172"/>
                </a:lnTo>
                <a:lnTo>
                  <a:pt x="5195313" y="4040124"/>
                </a:lnTo>
                <a:close/>
              </a:path>
              <a:path w="5195570" h="4043679">
                <a:moveTo>
                  <a:pt x="10668" y="10668"/>
                </a:moveTo>
                <a:lnTo>
                  <a:pt x="10668" y="4572"/>
                </a:lnTo>
                <a:lnTo>
                  <a:pt x="6096" y="10668"/>
                </a:lnTo>
                <a:lnTo>
                  <a:pt x="10668" y="10668"/>
                </a:lnTo>
                <a:close/>
              </a:path>
              <a:path w="5195570" h="4043679">
                <a:moveTo>
                  <a:pt x="10668" y="4032504"/>
                </a:moveTo>
                <a:lnTo>
                  <a:pt x="10668" y="10668"/>
                </a:lnTo>
                <a:lnTo>
                  <a:pt x="6096" y="10668"/>
                </a:lnTo>
                <a:lnTo>
                  <a:pt x="6096" y="4032504"/>
                </a:lnTo>
                <a:lnTo>
                  <a:pt x="10668" y="4032504"/>
                </a:lnTo>
                <a:close/>
              </a:path>
              <a:path w="5195570" h="4043679">
                <a:moveTo>
                  <a:pt x="5190741" y="4032504"/>
                </a:moveTo>
                <a:lnTo>
                  <a:pt x="6096" y="4032504"/>
                </a:lnTo>
                <a:lnTo>
                  <a:pt x="10668" y="4037076"/>
                </a:lnTo>
                <a:lnTo>
                  <a:pt x="10668" y="4043172"/>
                </a:lnTo>
                <a:lnTo>
                  <a:pt x="5184645" y="4043172"/>
                </a:lnTo>
                <a:lnTo>
                  <a:pt x="5184645" y="4037076"/>
                </a:lnTo>
                <a:lnTo>
                  <a:pt x="5190741" y="4032504"/>
                </a:lnTo>
                <a:close/>
              </a:path>
              <a:path w="5195570" h="4043679">
                <a:moveTo>
                  <a:pt x="10668" y="4043172"/>
                </a:moveTo>
                <a:lnTo>
                  <a:pt x="10668" y="4037076"/>
                </a:lnTo>
                <a:lnTo>
                  <a:pt x="6096" y="4032504"/>
                </a:lnTo>
                <a:lnTo>
                  <a:pt x="6096" y="4043172"/>
                </a:lnTo>
                <a:lnTo>
                  <a:pt x="10668" y="4043172"/>
                </a:lnTo>
                <a:close/>
              </a:path>
              <a:path w="5195570" h="4043679">
                <a:moveTo>
                  <a:pt x="5190741" y="10668"/>
                </a:moveTo>
                <a:lnTo>
                  <a:pt x="5184645" y="4572"/>
                </a:lnTo>
                <a:lnTo>
                  <a:pt x="5184645" y="10668"/>
                </a:lnTo>
                <a:lnTo>
                  <a:pt x="5190741" y="10668"/>
                </a:lnTo>
                <a:close/>
              </a:path>
              <a:path w="5195570" h="4043679">
                <a:moveTo>
                  <a:pt x="5190741" y="4032504"/>
                </a:moveTo>
                <a:lnTo>
                  <a:pt x="5190741" y="10668"/>
                </a:lnTo>
                <a:lnTo>
                  <a:pt x="5184645" y="10668"/>
                </a:lnTo>
                <a:lnTo>
                  <a:pt x="5184645" y="4032504"/>
                </a:lnTo>
                <a:lnTo>
                  <a:pt x="5190741" y="4032504"/>
                </a:lnTo>
                <a:close/>
              </a:path>
              <a:path w="5195570" h="4043679">
                <a:moveTo>
                  <a:pt x="5190741" y="4043172"/>
                </a:moveTo>
                <a:lnTo>
                  <a:pt x="5190741" y="4032504"/>
                </a:lnTo>
                <a:lnTo>
                  <a:pt x="5184645" y="4037076"/>
                </a:lnTo>
                <a:lnTo>
                  <a:pt x="5184645" y="4043172"/>
                </a:lnTo>
                <a:lnTo>
                  <a:pt x="5190741" y="4043172"/>
                </a:lnTo>
                <a:close/>
              </a:path>
            </a:pathLst>
          </a:custGeom>
          <a:solidFill>
            <a:srgbClr val="93B5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32644" y="1748737"/>
            <a:ext cx="6105525" cy="5030470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335280">
              <a:lnSpc>
                <a:spcPct val="100000"/>
              </a:lnSpc>
              <a:spcBef>
                <a:spcPts val="925"/>
              </a:spcBef>
            </a:pP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Exemple</a:t>
            </a:r>
            <a:r>
              <a:rPr sz="28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r>
              <a:rPr sz="28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  <a:p>
            <a:pPr marL="332105" indent="-319405">
              <a:lnSpc>
                <a:spcPct val="100000"/>
              </a:lnSpc>
              <a:spcBef>
                <a:spcPts val="710"/>
              </a:spcBef>
              <a:buClr>
                <a:srgbClr val="006FC0"/>
              </a:buClr>
              <a:buSzPct val="58333"/>
              <a:buFont typeface="Wingdings"/>
              <a:buChar char=""/>
              <a:tabLst>
                <a:tab pos="332105" algn="l"/>
              </a:tabLst>
            </a:pPr>
            <a:r>
              <a:rPr sz="2400" dirty="0">
                <a:latin typeface="Times New Roman"/>
                <a:cs typeface="Times New Roman"/>
              </a:rPr>
              <a:t>Les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méthodes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peuvent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avoir</a:t>
            </a:r>
            <a:r>
              <a:rPr sz="2400" b="1" spc="-10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des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paramètres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443865">
              <a:lnSpc>
                <a:spcPct val="100000"/>
              </a:lnSpc>
              <a:spcBef>
                <a:spcPts val="2590"/>
              </a:spcBef>
            </a:pPr>
            <a:r>
              <a:rPr sz="2200" dirty="0">
                <a:solidFill>
                  <a:srgbClr val="001F5F"/>
                </a:solidFill>
                <a:latin typeface="Arial MT"/>
                <a:cs typeface="Arial MT"/>
              </a:rPr>
              <a:t>class</a:t>
            </a:r>
            <a:r>
              <a:rPr sz="2200" spc="-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0B0F0"/>
                </a:solidFill>
                <a:latin typeface="Arial MT"/>
                <a:cs typeface="Arial MT"/>
              </a:rPr>
              <a:t>Point</a:t>
            </a:r>
            <a:r>
              <a:rPr sz="2200" spc="-10" dirty="0">
                <a:solidFill>
                  <a:srgbClr val="FF0000"/>
                </a:solidFill>
                <a:latin typeface="Arial MT"/>
                <a:cs typeface="Arial MT"/>
              </a:rPr>
              <a:t>{</a:t>
            </a:r>
            <a:endParaRPr sz="2200">
              <a:latin typeface="Arial MT"/>
              <a:cs typeface="Arial MT"/>
            </a:endParaRPr>
          </a:p>
          <a:p>
            <a:pPr marL="443865" marR="4425950">
              <a:lnSpc>
                <a:spcPct val="100000"/>
              </a:lnSpc>
            </a:pPr>
            <a:r>
              <a:rPr sz="2200" dirty="0">
                <a:solidFill>
                  <a:srgbClr val="00B04F"/>
                </a:solidFill>
                <a:latin typeface="Arial MT"/>
                <a:cs typeface="Arial MT"/>
              </a:rPr>
              <a:t>//</a:t>
            </a:r>
            <a:r>
              <a:rPr sz="2200" spc="-15" dirty="0">
                <a:solidFill>
                  <a:srgbClr val="00B04F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0B04F"/>
                </a:solidFill>
                <a:latin typeface="Arial MT"/>
                <a:cs typeface="Arial MT"/>
              </a:rPr>
              <a:t>attributs </a:t>
            </a:r>
            <a:r>
              <a:rPr sz="2200" dirty="0">
                <a:solidFill>
                  <a:srgbClr val="001F5F"/>
                </a:solidFill>
                <a:latin typeface="Arial MT"/>
                <a:cs typeface="Arial MT"/>
              </a:rPr>
              <a:t>int</a:t>
            </a:r>
            <a:r>
              <a:rPr sz="22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x</a:t>
            </a:r>
            <a:r>
              <a:rPr sz="2200" spc="-25" dirty="0">
                <a:solidFill>
                  <a:srgbClr val="FF0000"/>
                </a:solidFill>
                <a:latin typeface="Arial MT"/>
                <a:cs typeface="Arial MT"/>
              </a:rPr>
              <a:t>;</a:t>
            </a:r>
            <a:endParaRPr sz="2200">
              <a:latin typeface="Arial MT"/>
              <a:cs typeface="Arial MT"/>
            </a:endParaRPr>
          </a:p>
          <a:p>
            <a:pPr marL="443865">
              <a:lnSpc>
                <a:spcPct val="100000"/>
              </a:lnSpc>
            </a:pPr>
            <a:r>
              <a:rPr sz="2200" dirty="0">
                <a:solidFill>
                  <a:srgbClr val="001F5F"/>
                </a:solidFill>
                <a:latin typeface="Arial MT"/>
                <a:cs typeface="Arial MT"/>
              </a:rPr>
              <a:t>int</a:t>
            </a:r>
            <a:r>
              <a:rPr sz="22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y</a:t>
            </a:r>
            <a:r>
              <a:rPr sz="2200" spc="-25" dirty="0">
                <a:solidFill>
                  <a:srgbClr val="FF0000"/>
                </a:solidFill>
                <a:latin typeface="Arial MT"/>
                <a:cs typeface="Arial MT"/>
              </a:rPr>
              <a:t>;</a:t>
            </a:r>
            <a:endParaRPr sz="2200">
              <a:latin typeface="Arial MT"/>
              <a:cs typeface="Arial MT"/>
            </a:endParaRPr>
          </a:p>
          <a:p>
            <a:pPr marL="443865">
              <a:lnSpc>
                <a:spcPct val="100000"/>
              </a:lnSpc>
            </a:pPr>
            <a:r>
              <a:rPr sz="2200" dirty="0">
                <a:solidFill>
                  <a:srgbClr val="00B04F"/>
                </a:solidFill>
                <a:latin typeface="Arial MT"/>
                <a:cs typeface="Arial MT"/>
              </a:rPr>
              <a:t>//</a:t>
            </a:r>
            <a:r>
              <a:rPr sz="2200" spc="-15" dirty="0">
                <a:solidFill>
                  <a:srgbClr val="00B04F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0B04F"/>
                </a:solidFill>
                <a:latin typeface="Arial MT"/>
                <a:cs typeface="Arial MT"/>
              </a:rPr>
              <a:t>méthodes</a:t>
            </a:r>
            <a:endParaRPr sz="2200">
              <a:latin typeface="Arial MT"/>
              <a:cs typeface="Arial MT"/>
            </a:endParaRPr>
          </a:p>
          <a:p>
            <a:pPr marL="988060" marR="2032635" indent="-544195">
              <a:lnSpc>
                <a:spcPct val="100000"/>
              </a:lnSpc>
            </a:pPr>
            <a:r>
              <a:rPr sz="2200" dirty="0">
                <a:solidFill>
                  <a:srgbClr val="001F5F"/>
                </a:solidFill>
                <a:latin typeface="Arial MT"/>
                <a:cs typeface="Arial MT"/>
              </a:rPr>
              <a:t>void</a:t>
            </a:r>
            <a:r>
              <a:rPr sz="22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initialise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(</a:t>
            </a:r>
            <a:r>
              <a:rPr sz="2200" dirty="0">
                <a:solidFill>
                  <a:srgbClr val="001F5F"/>
                </a:solidFill>
                <a:latin typeface="Arial MT"/>
                <a:cs typeface="Arial MT"/>
              </a:rPr>
              <a:t>int</a:t>
            </a:r>
            <a:r>
              <a:rPr sz="2200" spc="-6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abs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,</a:t>
            </a:r>
            <a:r>
              <a:rPr sz="2200" spc="-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1F5F"/>
                </a:solidFill>
                <a:latin typeface="Arial MT"/>
                <a:cs typeface="Arial MT"/>
              </a:rPr>
              <a:t>int</a:t>
            </a:r>
            <a:r>
              <a:rPr sz="22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ord</a:t>
            </a:r>
            <a:r>
              <a:rPr sz="2200" spc="-10" dirty="0">
                <a:solidFill>
                  <a:srgbClr val="FF0000"/>
                </a:solidFill>
                <a:latin typeface="Arial MT"/>
                <a:cs typeface="Arial MT"/>
              </a:rPr>
              <a:t>){ </a:t>
            </a:r>
            <a:r>
              <a:rPr sz="2200" dirty="0">
                <a:latin typeface="Arial MT"/>
                <a:cs typeface="Arial MT"/>
              </a:rPr>
              <a:t>x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=</a:t>
            </a:r>
            <a:r>
              <a:rPr sz="2200" spc="-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abs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50" dirty="0">
                <a:solidFill>
                  <a:srgbClr val="FF0000"/>
                </a:solidFill>
                <a:latin typeface="Arial MT"/>
                <a:cs typeface="Arial MT"/>
              </a:rPr>
              <a:t>;</a:t>
            </a:r>
            <a:endParaRPr sz="2200">
              <a:latin typeface="Arial MT"/>
              <a:cs typeface="Arial MT"/>
            </a:endParaRPr>
          </a:p>
          <a:p>
            <a:pPr marL="988060">
              <a:lnSpc>
                <a:spcPct val="100000"/>
              </a:lnSpc>
            </a:pPr>
            <a:r>
              <a:rPr sz="2200" dirty="0">
                <a:latin typeface="Arial MT"/>
                <a:cs typeface="Arial MT"/>
              </a:rPr>
              <a:t>y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=</a:t>
            </a:r>
            <a:r>
              <a:rPr sz="2200" spc="-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ord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spc="-50" dirty="0">
                <a:solidFill>
                  <a:srgbClr val="FF0000"/>
                </a:solidFill>
                <a:latin typeface="Arial MT"/>
                <a:cs typeface="Arial MT"/>
              </a:rPr>
              <a:t>;</a:t>
            </a:r>
            <a:endParaRPr sz="2200">
              <a:latin typeface="Arial MT"/>
              <a:cs typeface="Arial MT"/>
            </a:endParaRPr>
          </a:p>
          <a:p>
            <a:pPr marL="443865">
              <a:lnSpc>
                <a:spcPct val="100000"/>
              </a:lnSpc>
            </a:pPr>
            <a:r>
              <a:rPr sz="2200" spc="-50" dirty="0">
                <a:solidFill>
                  <a:srgbClr val="FF0000"/>
                </a:solidFill>
                <a:latin typeface="Arial MT"/>
                <a:cs typeface="Arial MT"/>
              </a:rPr>
              <a:t>}</a:t>
            </a:r>
            <a:endParaRPr sz="2200">
              <a:latin typeface="Arial MT"/>
              <a:cs typeface="Arial MT"/>
            </a:endParaRPr>
          </a:p>
          <a:p>
            <a:pPr marL="443865">
              <a:lnSpc>
                <a:spcPct val="100000"/>
              </a:lnSpc>
            </a:pPr>
            <a:r>
              <a:rPr sz="2200" spc="-25" dirty="0">
                <a:solidFill>
                  <a:srgbClr val="00B04F"/>
                </a:solidFill>
                <a:latin typeface="Arial MT"/>
                <a:cs typeface="Arial MT"/>
              </a:rPr>
              <a:t>//…</a:t>
            </a:r>
            <a:endParaRPr sz="2200">
              <a:latin typeface="Arial MT"/>
              <a:cs typeface="Arial MT"/>
            </a:endParaRPr>
          </a:p>
          <a:p>
            <a:pPr marL="443865">
              <a:lnSpc>
                <a:spcPct val="100000"/>
              </a:lnSpc>
            </a:pPr>
            <a:r>
              <a:rPr sz="2200" spc="-25" dirty="0">
                <a:solidFill>
                  <a:srgbClr val="FF0000"/>
                </a:solidFill>
                <a:latin typeface="Arial MT"/>
                <a:cs typeface="Arial MT"/>
              </a:rPr>
              <a:t>};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23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021976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23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4912" rIns="0" bIns="0" rtlCol="0">
            <a:spAutoFit/>
          </a:bodyPr>
          <a:lstStyle/>
          <a:p>
            <a:pPr marL="381000">
              <a:lnSpc>
                <a:spcPct val="100000"/>
              </a:lnSpc>
              <a:spcBef>
                <a:spcPts val="100"/>
              </a:spcBef>
            </a:pPr>
            <a:r>
              <a:rPr spc="-204" dirty="0"/>
              <a:t>Définition</a:t>
            </a:r>
            <a:r>
              <a:rPr b="0" spc="20" dirty="0">
                <a:latin typeface="Times New Roman"/>
                <a:cs typeface="Times New Roman"/>
              </a:rPr>
              <a:t> </a:t>
            </a:r>
            <a:r>
              <a:rPr spc="-360" dirty="0"/>
              <a:t>des</a:t>
            </a:r>
            <a:r>
              <a:rPr b="0" spc="55" dirty="0">
                <a:latin typeface="Times New Roman"/>
                <a:cs typeface="Times New Roman"/>
              </a:rPr>
              <a:t> </a:t>
            </a:r>
            <a:r>
              <a:rPr spc="-340" dirty="0"/>
              <a:t>méthodes</a:t>
            </a:r>
          </a:p>
        </p:txBody>
      </p:sp>
      <p:sp>
        <p:nvSpPr>
          <p:cNvPr id="3" name="object 3"/>
          <p:cNvSpPr/>
          <p:nvPr/>
        </p:nvSpPr>
        <p:spPr>
          <a:xfrm>
            <a:off x="1092589" y="3125724"/>
            <a:ext cx="5050790" cy="3106420"/>
          </a:xfrm>
          <a:custGeom>
            <a:avLst/>
            <a:gdLst/>
            <a:ahLst/>
            <a:cxnLst/>
            <a:rect l="l" t="t" r="r" b="b"/>
            <a:pathLst>
              <a:path w="5050790" h="3106420">
                <a:moveTo>
                  <a:pt x="5050533" y="3104388"/>
                </a:moveTo>
                <a:lnTo>
                  <a:pt x="5050533" y="1524"/>
                </a:lnTo>
                <a:lnTo>
                  <a:pt x="5049009" y="0"/>
                </a:lnTo>
                <a:lnTo>
                  <a:pt x="3048" y="0"/>
                </a:lnTo>
                <a:lnTo>
                  <a:pt x="0" y="1524"/>
                </a:lnTo>
                <a:lnTo>
                  <a:pt x="0" y="3104388"/>
                </a:lnTo>
                <a:lnTo>
                  <a:pt x="3048" y="3105912"/>
                </a:lnTo>
                <a:lnTo>
                  <a:pt x="6096" y="3105912"/>
                </a:lnTo>
                <a:lnTo>
                  <a:pt x="6096" y="10668"/>
                </a:lnTo>
                <a:lnTo>
                  <a:pt x="10668" y="4572"/>
                </a:lnTo>
                <a:lnTo>
                  <a:pt x="10668" y="10668"/>
                </a:lnTo>
                <a:lnTo>
                  <a:pt x="5041389" y="10668"/>
                </a:lnTo>
                <a:lnTo>
                  <a:pt x="5041389" y="4572"/>
                </a:lnTo>
                <a:lnTo>
                  <a:pt x="5045961" y="10668"/>
                </a:lnTo>
                <a:lnTo>
                  <a:pt x="5045961" y="3105912"/>
                </a:lnTo>
                <a:lnTo>
                  <a:pt x="5049009" y="3105912"/>
                </a:lnTo>
                <a:lnTo>
                  <a:pt x="5050533" y="3104388"/>
                </a:lnTo>
                <a:close/>
              </a:path>
              <a:path w="5050790" h="3106420">
                <a:moveTo>
                  <a:pt x="10668" y="10668"/>
                </a:moveTo>
                <a:lnTo>
                  <a:pt x="10668" y="4572"/>
                </a:lnTo>
                <a:lnTo>
                  <a:pt x="6096" y="10668"/>
                </a:lnTo>
                <a:lnTo>
                  <a:pt x="10668" y="10668"/>
                </a:lnTo>
                <a:close/>
              </a:path>
              <a:path w="5050790" h="3106420">
                <a:moveTo>
                  <a:pt x="10668" y="3096768"/>
                </a:moveTo>
                <a:lnTo>
                  <a:pt x="10668" y="10668"/>
                </a:lnTo>
                <a:lnTo>
                  <a:pt x="6096" y="10668"/>
                </a:lnTo>
                <a:lnTo>
                  <a:pt x="6096" y="3096768"/>
                </a:lnTo>
                <a:lnTo>
                  <a:pt x="10668" y="3096768"/>
                </a:lnTo>
                <a:close/>
              </a:path>
              <a:path w="5050790" h="3106420">
                <a:moveTo>
                  <a:pt x="5045961" y="3096768"/>
                </a:moveTo>
                <a:lnTo>
                  <a:pt x="6096" y="3096768"/>
                </a:lnTo>
                <a:lnTo>
                  <a:pt x="10668" y="3101340"/>
                </a:lnTo>
                <a:lnTo>
                  <a:pt x="10668" y="3105912"/>
                </a:lnTo>
                <a:lnTo>
                  <a:pt x="5041389" y="3105912"/>
                </a:lnTo>
                <a:lnTo>
                  <a:pt x="5041389" y="3101340"/>
                </a:lnTo>
                <a:lnTo>
                  <a:pt x="5045961" y="3096768"/>
                </a:lnTo>
                <a:close/>
              </a:path>
              <a:path w="5050790" h="3106420">
                <a:moveTo>
                  <a:pt x="10668" y="3105912"/>
                </a:moveTo>
                <a:lnTo>
                  <a:pt x="10668" y="3101340"/>
                </a:lnTo>
                <a:lnTo>
                  <a:pt x="6096" y="3096768"/>
                </a:lnTo>
                <a:lnTo>
                  <a:pt x="6096" y="3105912"/>
                </a:lnTo>
                <a:lnTo>
                  <a:pt x="10668" y="3105912"/>
                </a:lnTo>
                <a:close/>
              </a:path>
              <a:path w="5050790" h="3106420">
                <a:moveTo>
                  <a:pt x="5045961" y="10668"/>
                </a:moveTo>
                <a:lnTo>
                  <a:pt x="5041389" y="4572"/>
                </a:lnTo>
                <a:lnTo>
                  <a:pt x="5041389" y="10668"/>
                </a:lnTo>
                <a:lnTo>
                  <a:pt x="5045961" y="10668"/>
                </a:lnTo>
                <a:close/>
              </a:path>
              <a:path w="5050790" h="3106420">
                <a:moveTo>
                  <a:pt x="5045961" y="3096768"/>
                </a:moveTo>
                <a:lnTo>
                  <a:pt x="5045961" y="10668"/>
                </a:lnTo>
                <a:lnTo>
                  <a:pt x="5041389" y="10668"/>
                </a:lnTo>
                <a:lnTo>
                  <a:pt x="5041389" y="3096768"/>
                </a:lnTo>
                <a:lnTo>
                  <a:pt x="5045961" y="3096768"/>
                </a:lnTo>
                <a:close/>
              </a:path>
              <a:path w="5050790" h="3106420">
                <a:moveTo>
                  <a:pt x="5045961" y="3105912"/>
                </a:moveTo>
                <a:lnTo>
                  <a:pt x="5045961" y="3096768"/>
                </a:lnTo>
                <a:lnTo>
                  <a:pt x="5041389" y="3101340"/>
                </a:lnTo>
                <a:lnTo>
                  <a:pt x="5041389" y="3105912"/>
                </a:lnTo>
                <a:lnTo>
                  <a:pt x="5045961" y="3105912"/>
                </a:lnTo>
                <a:close/>
              </a:path>
            </a:pathLst>
          </a:custGeom>
          <a:solidFill>
            <a:srgbClr val="93B5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87864" y="1864560"/>
            <a:ext cx="6105525" cy="4159885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335280">
              <a:lnSpc>
                <a:spcPct val="100000"/>
              </a:lnSpc>
              <a:spcBef>
                <a:spcPts val="925"/>
              </a:spcBef>
            </a:pP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Exemple</a:t>
            </a:r>
            <a:r>
              <a:rPr sz="28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3</a:t>
            </a:r>
            <a:r>
              <a:rPr sz="28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  <a:p>
            <a:pPr marL="332105" indent="-319405">
              <a:lnSpc>
                <a:spcPct val="100000"/>
              </a:lnSpc>
              <a:spcBef>
                <a:spcPts val="710"/>
              </a:spcBef>
              <a:buClr>
                <a:srgbClr val="006FC0"/>
              </a:buClr>
              <a:buSzPct val="58333"/>
              <a:buFont typeface="Wingdings"/>
              <a:buChar char=""/>
              <a:tabLst>
                <a:tab pos="332105" algn="l"/>
              </a:tabLst>
            </a:pPr>
            <a:r>
              <a:rPr sz="2400" dirty="0">
                <a:latin typeface="Times New Roman"/>
                <a:cs typeface="Times New Roman"/>
              </a:rPr>
              <a:t>Les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méthodes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peuvent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avoir</a:t>
            </a:r>
            <a:r>
              <a:rPr sz="2400" b="1" spc="-10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des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paramètres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94"/>
              </a:spcBef>
            </a:pPr>
            <a:endParaRPr sz="2400">
              <a:latin typeface="Times New Roman"/>
              <a:cs typeface="Times New Roman"/>
            </a:endParaRPr>
          </a:p>
          <a:p>
            <a:pPr marL="300355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solidFill>
                  <a:srgbClr val="001F5F"/>
                </a:solidFill>
                <a:latin typeface="Arial MT"/>
                <a:cs typeface="Arial MT"/>
              </a:rPr>
              <a:t>class</a:t>
            </a:r>
            <a:r>
              <a:rPr sz="2200" spc="-9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00B0F0"/>
                </a:solidFill>
                <a:latin typeface="Arial MT"/>
                <a:cs typeface="Arial MT"/>
              </a:rPr>
              <a:t>Test</a:t>
            </a:r>
            <a:r>
              <a:rPr sz="2200" spc="-20" dirty="0">
                <a:solidFill>
                  <a:srgbClr val="FF0000"/>
                </a:solidFill>
                <a:latin typeface="Arial MT"/>
                <a:cs typeface="Arial MT"/>
              </a:rPr>
              <a:t>{</a:t>
            </a:r>
            <a:endParaRPr sz="2200">
              <a:latin typeface="Arial MT"/>
              <a:cs typeface="Arial MT"/>
            </a:endParaRPr>
          </a:p>
          <a:p>
            <a:pPr marL="300355">
              <a:lnSpc>
                <a:spcPct val="100000"/>
              </a:lnSpc>
            </a:pPr>
            <a:r>
              <a:rPr sz="2200" spc="-25" dirty="0">
                <a:solidFill>
                  <a:srgbClr val="00B04F"/>
                </a:solidFill>
                <a:latin typeface="Arial MT"/>
                <a:cs typeface="Arial MT"/>
              </a:rPr>
              <a:t>//…</a:t>
            </a:r>
            <a:endParaRPr sz="2200">
              <a:latin typeface="Arial MT"/>
              <a:cs typeface="Arial MT"/>
            </a:endParaRPr>
          </a:p>
          <a:p>
            <a:pPr marL="300355">
              <a:lnSpc>
                <a:spcPct val="100000"/>
              </a:lnSpc>
            </a:pPr>
            <a:r>
              <a:rPr sz="2200" spc="-25" dirty="0">
                <a:solidFill>
                  <a:srgbClr val="00B04F"/>
                </a:solidFill>
                <a:latin typeface="Arial MT"/>
                <a:cs typeface="Arial MT"/>
              </a:rPr>
              <a:t>//…</a:t>
            </a:r>
            <a:endParaRPr sz="2200">
              <a:latin typeface="Arial MT"/>
              <a:cs typeface="Arial MT"/>
            </a:endParaRPr>
          </a:p>
          <a:p>
            <a:pPr marL="455930" marR="1768475" indent="-155575">
              <a:lnSpc>
                <a:spcPct val="100000"/>
              </a:lnSpc>
            </a:pPr>
            <a:r>
              <a:rPr sz="2200" dirty="0">
                <a:solidFill>
                  <a:srgbClr val="001F5F"/>
                </a:solidFill>
                <a:latin typeface="Arial MT"/>
                <a:cs typeface="Arial MT"/>
              </a:rPr>
              <a:t>double</a:t>
            </a:r>
            <a:r>
              <a:rPr sz="2200" spc="-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min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(</a:t>
            </a:r>
            <a:r>
              <a:rPr sz="2200" dirty="0">
                <a:solidFill>
                  <a:srgbClr val="001F5F"/>
                </a:solidFill>
                <a:latin typeface="Arial MT"/>
                <a:cs typeface="Arial MT"/>
              </a:rPr>
              <a:t>double</a:t>
            </a:r>
            <a:r>
              <a:rPr sz="22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,</a:t>
            </a:r>
            <a:r>
              <a:rPr sz="2200" spc="-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1F5F"/>
                </a:solidFill>
                <a:latin typeface="Arial MT"/>
                <a:cs typeface="Arial MT"/>
              </a:rPr>
              <a:t>double</a:t>
            </a:r>
            <a:r>
              <a:rPr sz="2200" spc="-5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)</a:t>
            </a:r>
            <a:r>
              <a:rPr sz="2200" spc="-50" dirty="0">
                <a:solidFill>
                  <a:srgbClr val="FF0000"/>
                </a:solidFill>
                <a:latin typeface="Arial MT"/>
                <a:cs typeface="Arial MT"/>
              </a:rPr>
              <a:t> { </a:t>
            </a:r>
            <a:r>
              <a:rPr sz="2200" dirty="0">
                <a:solidFill>
                  <a:srgbClr val="001F5F"/>
                </a:solidFill>
                <a:latin typeface="Arial MT"/>
                <a:cs typeface="Arial MT"/>
              </a:rPr>
              <a:t>if</a:t>
            </a:r>
            <a:r>
              <a:rPr sz="22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(a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&lt;</a:t>
            </a:r>
            <a:r>
              <a:rPr sz="22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b)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1F5F"/>
                </a:solidFill>
                <a:latin typeface="Arial MT"/>
                <a:cs typeface="Arial MT"/>
              </a:rPr>
              <a:t>return </a:t>
            </a:r>
            <a:r>
              <a:rPr sz="2200" spc="-25" dirty="0">
                <a:latin typeface="Arial MT"/>
                <a:cs typeface="Arial MT"/>
              </a:rPr>
              <a:t>a</a:t>
            </a:r>
            <a:r>
              <a:rPr sz="2200" spc="-25" dirty="0">
                <a:solidFill>
                  <a:srgbClr val="FF0000"/>
                </a:solidFill>
                <a:latin typeface="Arial MT"/>
                <a:cs typeface="Arial MT"/>
              </a:rPr>
              <a:t>;</a:t>
            </a:r>
            <a:endParaRPr sz="2200">
              <a:latin typeface="Arial MT"/>
              <a:cs typeface="Arial MT"/>
            </a:endParaRPr>
          </a:p>
          <a:p>
            <a:pPr marL="455930">
              <a:lnSpc>
                <a:spcPct val="100000"/>
              </a:lnSpc>
              <a:tabLst>
                <a:tab pos="1125220" algn="l"/>
              </a:tabLst>
            </a:pPr>
            <a:r>
              <a:rPr sz="2200" spc="-20" dirty="0">
                <a:solidFill>
                  <a:srgbClr val="001F5F"/>
                </a:solidFill>
                <a:latin typeface="Arial MT"/>
                <a:cs typeface="Arial MT"/>
              </a:rPr>
              <a:t>else</a:t>
            </a:r>
            <a:r>
              <a:rPr sz="2200" dirty="0">
                <a:solidFill>
                  <a:srgbClr val="001F5F"/>
                </a:solidFill>
                <a:latin typeface="Arial MT"/>
                <a:cs typeface="Arial MT"/>
              </a:rPr>
              <a:t>	return</a:t>
            </a:r>
            <a:r>
              <a:rPr sz="2200" spc="-5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2200" spc="-35" dirty="0">
                <a:latin typeface="Arial MT"/>
                <a:cs typeface="Arial MT"/>
              </a:rPr>
              <a:t>b</a:t>
            </a:r>
            <a:r>
              <a:rPr sz="2200" spc="-35" dirty="0">
                <a:solidFill>
                  <a:srgbClr val="FF0000"/>
                </a:solidFill>
                <a:latin typeface="Arial MT"/>
                <a:cs typeface="Arial MT"/>
              </a:rPr>
              <a:t>;</a:t>
            </a:r>
            <a:endParaRPr sz="2200">
              <a:latin typeface="Arial MT"/>
              <a:cs typeface="Arial MT"/>
            </a:endParaRPr>
          </a:p>
          <a:p>
            <a:pPr marL="300355">
              <a:lnSpc>
                <a:spcPct val="100000"/>
              </a:lnSpc>
            </a:pPr>
            <a:r>
              <a:rPr sz="2200" spc="-50" dirty="0">
                <a:solidFill>
                  <a:srgbClr val="FF0000"/>
                </a:solidFill>
                <a:latin typeface="Arial MT"/>
                <a:cs typeface="Arial MT"/>
              </a:rPr>
              <a:t>}</a:t>
            </a:r>
            <a:endParaRPr sz="2200">
              <a:latin typeface="Arial MT"/>
              <a:cs typeface="Arial MT"/>
            </a:endParaRPr>
          </a:p>
          <a:p>
            <a:pPr marL="300355">
              <a:lnSpc>
                <a:spcPct val="100000"/>
              </a:lnSpc>
            </a:pPr>
            <a:r>
              <a:rPr sz="2200" spc="-25" dirty="0">
                <a:solidFill>
                  <a:srgbClr val="FF0000"/>
                </a:solidFill>
                <a:latin typeface="Arial MT"/>
                <a:cs typeface="Arial MT"/>
              </a:rPr>
              <a:t>};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24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021976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24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3012" rIns="0" bIns="0" rtlCol="0">
            <a:spAutoFit/>
          </a:bodyPr>
          <a:lstStyle/>
          <a:p>
            <a:pPr marL="381000">
              <a:lnSpc>
                <a:spcPct val="100000"/>
              </a:lnSpc>
              <a:spcBef>
                <a:spcPts val="100"/>
              </a:spcBef>
            </a:pPr>
            <a:r>
              <a:rPr spc="-330" dirty="0"/>
              <a:t>Portée</a:t>
            </a:r>
            <a:r>
              <a:rPr b="0" spc="70" dirty="0">
                <a:latin typeface="Times New Roman"/>
                <a:cs typeface="Times New Roman"/>
              </a:rPr>
              <a:t> </a:t>
            </a:r>
            <a:r>
              <a:rPr spc="-360" dirty="0"/>
              <a:t>des</a:t>
            </a:r>
            <a:r>
              <a:rPr b="0" spc="85" dirty="0">
                <a:latin typeface="Times New Roman"/>
                <a:cs typeface="Times New Roman"/>
              </a:rPr>
              <a:t> </a:t>
            </a:r>
            <a:r>
              <a:rPr spc="-185" dirty="0"/>
              <a:t>variables</a:t>
            </a:r>
          </a:p>
        </p:txBody>
      </p:sp>
      <p:sp>
        <p:nvSpPr>
          <p:cNvPr id="3" name="object 3"/>
          <p:cNvSpPr/>
          <p:nvPr/>
        </p:nvSpPr>
        <p:spPr>
          <a:xfrm>
            <a:off x="1074301" y="3197352"/>
            <a:ext cx="4521835" cy="3964304"/>
          </a:xfrm>
          <a:custGeom>
            <a:avLst/>
            <a:gdLst/>
            <a:ahLst/>
            <a:cxnLst/>
            <a:rect l="l" t="t" r="r" b="b"/>
            <a:pathLst>
              <a:path w="4521835" h="3964304">
                <a:moveTo>
                  <a:pt x="4521705" y="3962400"/>
                </a:moveTo>
                <a:lnTo>
                  <a:pt x="4521705" y="3048"/>
                </a:lnTo>
                <a:lnTo>
                  <a:pt x="4520181" y="0"/>
                </a:lnTo>
                <a:lnTo>
                  <a:pt x="3048" y="0"/>
                </a:lnTo>
                <a:lnTo>
                  <a:pt x="0" y="3048"/>
                </a:lnTo>
                <a:lnTo>
                  <a:pt x="0" y="3962400"/>
                </a:lnTo>
                <a:lnTo>
                  <a:pt x="3048" y="3963924"/>
                </a:lnTo>
                <a:lnTo>
                  <a:pt x="4572" y="3963924"/>
                </a:lnTo>
                <a:lnTo>
                  <a:pt x="4572" y="10668"/>
                </a:lnTo>
                <a:lnTo>
                  <a:pt x="10668" y="4572"/>
                </a:lnTo>
                <a:lnTo>
                  <a:pt x="10668" y="10668"/>
                </a:lnTo>
                <a:lnTo>
                  <a:pt x="4512561" y="10668"/>
                </a:lnTo>
                <a:lnTo>
                  <a:pt x="4512561" y="4572"/>
                </a:lnTo>
                <a:lnTo>
                  <a:pt x="4517133" y="10668"/>
                </a:lnTo>
                <a:lnTo>
                  <a:pt x="4517133" y="3963924"/>
                </a:lnTo>
                <a:lnTo>
                  <a:pt x="4520181" y="3963924"/>
                </a:lnTo>
                <a:lnTo>
                  <a:pt x="4521705" y="3962400"/>
                </a:lnTo>
                <a:close/>
              </a:path>
              <a:path w="4521835" h="3964304">
                <a:moveTo>
                  <a:pt x="10668" y="10668"/>
                </a:moveTo>
                <a:lnTo>
                  <a:pt x="10668" y="4572"/>
                </a:lnTo>
                <a:lnTo>
                  <a:pt x="4572" y="10668"/>
                </a:lnTo>
                <a:lnTo>
                  <a:pt x="10668" y="10668"/>
                </a:lnTo>
                <a:close/>
              </a:path>
              <a:path w="4521835" h="3964304">
                <a:moveTo>
                  <a:pt x="10668" y="3954780"/>
                </a:moveTo>
                <a:lnTo>
                  <a:pt x="10668" y="10668"/>
                </a:lnTo>
                <a:lnTo>
                  <a:pt x="4572" y="10668"/>
                </a:lnTo>
                <a:lnTo>
                  <a:pt x="4572" y="3954780"/>
                </a:lnTo>
                <a:lnTo>
                  <a:pt x="10668" y="3954780"/>
                </a:lnTo>
                <a:close/>
              </a:path>
              <a:path w="4521835" h="3964304">
                <a:moveTo>
                  <a:pt x="4517133" y="3954780"/>
                </a:moveTo>
                <a:lnTo>
                  <a:pt x="4572" y="3954780"/>
                </a:lnTo>
                <a:lnTo>
                  <a:pt x="10668" y="3959352"/>
                </a:lnTo>
                <a:lnTo>
                  <a:pt x="10668" y="3963924"/>
                </a:lnTo>
                <a:lnTo>
                  <a:pt x="4512561" y="3963924"/>
                </a:lnTo>
                <a:lnTo>
                  <a:pt x="4512561" y="3959352"/>
                </a:lnTo>
                <a:lnTo>
                  <a:pt x="4517133" y="3954780"/>
                </a:lnTo>
                <a:close/>
              </a:path>
              <a:path w="4521835" h="3964304">
                <a:moveTo>
                  <a:pt x="10668" y="3963924"/>
                </a:moveTo>
                <a:lnTo>
                  <a:pt x="10668" y="3959352"/>
                </a:lnTo>
                <a:lnTo>
                  <a:pt x="4572" y="3954780"/>
                </a:lnTo>
                <a:lnTo>
                  <a:pt x="4572" y="3963924"/>
                </a:lnTo>
                <a:lnTo>
                  <a:pt x="10668" y="3963924"/>
                </a:lnTo>
                <a:close/>
              </a:path>
              <a:path w="4521835" h="3964304">
                <a:moveTo>
                  <a:pt x="4517133" y="10668"/>
                </a:moveTo>
                <a:lnTo>
                  <a:pt x="4512561" y="4572"/>
                </a:lnTo>
                <a:lnTo>
                  <a:pt x="4512561" y="10668"/>
                </a:lnTo>
                <a:lnTo>
                  <a:pt x="4517133" y="10668"/>
                </a:lnTo>
                <a:close/>
              </a:path>
              <a:path w="4521835" h="3964304">
                <a:moveTo>
                  <a:pt x="4517133" y="3954780"/>
                </a:moveTo>
                <a:lnTo>
                  <a:pt x="4517133" y="10668"/>
                </a:lnTo>
                <a:lnTo>
                  <a:pt x="4512561" y="10668"/>
                </a:lnTo>
                <a:lnTo>
                  <a:pt x="4512561" y="3954780"/>
                </a:lnTo>
                <a:lnTo>
                  <a:pt x="4517133" y="3954780"/>
                </a:lnTo>
                <a:close/>
              </a:path>
              <a:path w="4521835" h="3964304">
                <a:moveTo>
                  <a:pt x="4517133" y="3963924"/>
                </a:moveTo>
                <a:lnTo>
                  <a:pt x="4517133" y="3954780"/>
                </a:lnTo>
                <a:lnTo>
                  <a:pt x="4512561" y="3959352"/>
                </a:lnTo>
                <a:lnTo>
                  <a:pt x="4512561" y="3963924"/>
                </a:lnTo>
                <a:lnTo>
                  <a:pt x="4517133" y="3963924"/>
                </a:lnTo>
                <a:close/>
              </a:path>
            </a:pathLst>
          </a:custGeom>
          <a:solidFill>
            <a:srgbClr val="93B5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52812" y="1732239"/>
            <a:ext cx="8799195" cy="2235200"/>
          </a:xfrm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 marL="431165" indent="-418465">
              <a:lnSpc>
                <a:spcPct val="100000"/>
              </a:lnSpc>
              <a:spcBef>
                <a:spcPts val="994"/>
              </a:spcBef>
              <a:buClr>
                <a:srgbClr val="006FC0"/>
              </a:buClr>
              <a:buSzPct val="58928"/>
              <a:buFont typeface="Wingdings"/>
              <a:buChar char=""/>
              <a:tabLst>
                <a:tab pos="431165" algn="l"/>
              </a:tabLst>
            </a:pPr>
            <a:r>
              <a:rPr sz="2800" b="1" spc="-254" dirty="0">
                <a:solidFill>
                  <a:srgbClr val="C00000"/>
                </a:solidFill>
                <a:latin typeface="Arial"/>
                <a:cs typeface="Arial"/>
              </a:rPr>
              <a:t>De</a:t>
            </a:r>
            <a:r>
              <a:rPr sz="2800" spc="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185" dirty="0">
                <a:solidFill>
                  <a:srgbClr val="C00000"/>
                </a:solidFill>
                <a:latin typeface="Arial"/>
                <a:cs typeface="Arial"/>
              </a:rPr>
              <a:t>manière</a:t>
            </a:r>
            <a:r>
              <a:rPr sz="2800" spc="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60" dirty="0">
                <a:solidFill>
                  <a:srgbClr val="C00000"/>
                </a:solidFill>
                <a:latin typeface="Arial"/>
                <a:cs typeface="Arial"/>
              </a:rPr>
              <a:t>générale</a:t>
            </a:r>
            <a:endParaRPr sz="2800">
              <a:latin typeface="Arial"/>
              <a:cs typeface="Arial"/>
            </a:endParaRPr>
          </a:p>
          <a:p>
            <a:pPr marL="332105" indent="-319405">
              <a:lnSpc>
                <a:spcPct val="100000"/>
              </a:lnSpc>
              <a:spcBef>
                <a:spcPts val="770"/>
              </a:spcBef>
              <a:buClr>
                <a:srgbClr val="006FC0"/>
              </a:buClr>
              <a:buSzPct val="58333"/>
              <a:buFont typeface="Wingdings"/>
              <a:buChar char=""/>
              <a:tabLst>
                <a:tab pos="332105" algn="l"/>
              </a:tabLst>
            </a:pPr>
            <a:r>
              <a:rPr sz="2400" spc="-30" dirty="0">
                <a:latin typeface="Times New Roman"/>
                <a:cs typeface="Times New Roman"/>
              </a:rPr>
              <a:t>Variable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visible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à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l'intérieur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du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bloc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(ensembles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instructions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entre</a:t>
            </a:r>
            <a:endParaRPr sz="2400">
              <a:latin typeface="Times New Roman"/>
              <a:cs typeface="Times New Roman"/>
            </a:endParaRPr>
          </a:p>
          <a:p>
            <a:pPr marL="332105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{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… })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où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elle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est</a:t>
            </a:r>
            <a:r>
              <a:rPr sz="2400" spc="-10" dirty="0">
                <a:latin typeface="Times New Roman"/>
                <a:cs typeface="Times New Roman"/>
              </a:rPr>
              <a:t> définie.</a:t>
            </a:r>
            <a:endParaRPr sz="2400">
              <a:latin typeface="Times New Roman"/>
              <a:cs typeface="Times New Roman"/>
            </a:endParaRPr>
          </a:p>
          <a:p>
            <a:pPr marL="316865" marR="6998334">
              <a:lnSpc>
                <a:spcPct val="100000"/>
              </a:lnSpc>
              <a:spcBef>
                <a:spcPts val="850"/>
              </a:spcBef>
            </a:pPr>
            <a:r>
              <a:rPr sz="1600" b="1" dirty="0">
                <a:solidFill>
                  <a:srgbClr val="001F5F"/>
                </a:solidFill>
                <a:latin typeface="Arial"/>
                <a:cs typeface="Arial"/>
              </a:rPr>
              <a:t>class </a:t>
            </a:r>
            <a:r>
              <a:rPr sz="1600" b="1" spc="-10" dirty="0">
                <a:solidFill>
                  <a:srgbClr val="008AF2"/>
                </a:solidFill>
                <a:latin typeface="Arial"/>
                <a:cs typeface="Arial"/>
              </a:rPr>
              <a:t>Visibilite</a:t>
            </a:r>
            <a:r>
              <a:rPr sz="1600" b="1" spc="-10" dirty="0">
                <a:solidFill>
                  <a:srgbClr val="FF0000"/>
                </a:solidFill>
                <a:latin typeface="Arial"/>
                <a:cs typeface="Arial"/>
              </a:rPr>
              <a:t>{ </a:t>
            </a:r>
            <a:r>
              <a:rPr sz="1600" b="1" dirty="0">
                <a:solidFill>
                  <a:srgbClr val="001F5F"/>
                </a:solidFill>
                <a:latin typeface="Arial"/>
                <a:cs typeface="Arial"/>
              </a:rPr>
              <a:t>int</a:t>
            </a:r>
            <a:r>
              <a:rPr sz="1600" b="1" spc="-1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600" b="1" spc="-25" dirty="0">
                <a:solidFill>
                  <a:srgbClr val="0000FF"/>
                </a:solidFill>
                <a:latin typeface="Arial"/>
                <a:cs typeface="Arial"/>
              </a:rPr>
              <a:t>x;</a:t>
            </a:r>
            <a:endParaRPr sz="1600">
              <a:latin typeface="Arial"/>
              <a:cs typeface="Arial"/>
            </a:endParaRPr>
          </a:p>
          <a:p>
            <a:pPr marL="316865">
              <a:lnSpc>
                <a:spcPct val="100000"/>
              </a:lnSpc>
            </a:pPr>
            <a:r>
              <a:rPr sz="1600" b="1" dirty="0">
                <a:solidFill>
                  <a:srgbClr val="001F5F"/>
                </a:solidFill>
                <a:latin typeface="Arial"/>
                <a:cs typeface="Arial"/>
              </a:rPr>
              <a:t>void</a:t>
            </a:r>
            <a:r>
              <a:rPr sz="1600" b="1" spc="-6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07F00"/>
                </a:solidFill>
                <a:latin typeface="Arial"/>
                <a:cs typeface="Arial"/>
              </a:rPr>
              <a:t>methodeA()</a:t>
            </a:r>
            <a:r>
              <a:rPr sz="1600" b="1" spc="-35" dirty="0">
                <a:solidFill>
                  <a:srgbClr val="007F00"/>
                </a:solidFill>
                <a:latin typeface="Arial"/>
                <a:cs typeface="Arial"/>
              </a:rPr>
              <a:t> </a:t>
            </a:r>
            <a:r>
              <a:rPr sz="1600" b="1" spc="-50" dirty="0">
                <a:solidFill>
                  <a:srgbClr val="007F00"/>
                </a:solidFill>
                <a:latin typeface="Arial"/>
                <a:cs typeface="Arial"/>
              </a:rPr>
              <a:t>{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57612" y="3942078"/>
            <a:ext cx="2364740" cy="3195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0" marR="107315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01F5F"/>
                </a:solidFill>
                <a:latin typeface="Arial"/>
                <a:cs typeface="Arial"/>
              </a:rPr>
              <a:t>float</a:t>
            </a:r>
            <a:r>
              <a:rPr sz="1600" b="1" spc="1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0000"/>
                </a:solidFill>
                <a:latin typeface="Arial"/>
                <a:cs typeface="Arial"/>
              </a:rPr>
              <a:t>z,</a:t>
            </a:r>
            <a:r>
              <a:rPr sz="16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0000"/>
                </a:solidFill>
                <a:latin typeface="Arial"/>
                <a:cs typeface="Arial"/>
              </a:rPr>
              <a:t>w;</a:t>
            </a:r>
            <a:r>
              <a:rPr sz="160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b="1" spc="-25" dirty="0">
                <a:solidFill>
                  <a:srgbClr val="FF0000"/>
                </a:solidFill>
                <a:latin typeface="Arial"/>
                <a:cs typeface="Arial"/>
              </a:rPr>
              <a:t>... </a:t>
            </a:r>
            <a:r>
              <a:rPr sz="1600" b="1" dirty="0">
                <a:solidFill>
                  <a:srgbClr val="007F00"/>
                </a:solidFill>
                <a:latin typeface="Arial"/>
                <a:cs typeface="Arial"/>
              </a:rPr>
              <a:t>i =</a:t>
            </a:r>
            <a:r>
              <a:rPr sz="1600" b="1" spc="5" dirty="0">
                <a:solidFill>
                  <a:srgbClr val="007F00"/>
                </a:solidFill>
                <a:latin typeface="Arial"/>
                <a:cs typeface="Arial"/>
              </a:rPr>
              <a:t> </a:t>
            </a:r>
            <a:r>
              <a:rPr sz="1600" b="1" spc="-25" dirty="0">
                <a:solidFill>
                  <a:srgbClr val="007F00"/>
                </a:solidFill>
                <a:latin typeface="Arial"/>
                <a:cs typeface="Arial"/>
              </a:rPr>
              <a:t>…;</a:t>
            </a:r>
            <a:endParaRPr sz="1600">
              <a:latin typeface="Arial"/>
              <a:cs typeface="Arial"/>
            </a:endParaRPr>
          </a:p>
          <a:p>
            <a:pPr marL="127000">
              <a:lnSpc>
                <a:spcPct val="100000"/>
              </a:lnSpc>
            </a:pPr>
            <a:r>
              <a:rPr sz="1600" b="1" spc="-50" dirty="0">
                <a:solidFill>
                  <a:srgbClr val="007F00"/>
                </a:solidFill>
                <a:latin typeface="Arial"/>
                <a:cs typeface="Arial"/>
              </a:rPr>
              <a:t>}</a:t>
            </a:r>
            <a:endParaRPr sz="1600">
              <a:latin typeface="Arial"/>
              <a:cs typeface="Arial"/>
            </a:endParaRPr>
          </a:p>
          <a:p>
            <a:pPr marL="127000" marR="5080" indent="-114300">
              <a:lnSpc>
                <a:spcPct val="100000"/>
              </a:lnSpc>
            </a:pPr>
            <a:r>
              <a:rPr sz="1600" b="1" dirty="0">
                <a:solidFill>
                  <a:srgbClr val="001F5F"/>
                </a:solidFill>
                <a:latin typeface="Arial"/>
                <a:cs typeface="Arial"/>
              </a:rPr>
              <a:t>void</a:t>
            </a:r>
            <a:r>
              <a:rPr sz="1600" b="1" spc="-5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07F00"/>
                </a:solidFill>
                <a:latin typeface="Arial"/>
                <a:cs typeface="Arial"/>
              </a:rPr>
              <a:t>methodeB</a:t>
            </a:r>
            <a:r>
              <a:rPr sz="1600" b="1" dirty="0">
                <a:solidFill>
                  <a:srgbClr val="FF0000"/>
                </a:solidFill>
                <a:latin typeface="Arial"/>
                <a:cs typeface="Arial"/>
              </a:rPr>
              <a:t>(</a:t>
            </a:r>
            <a:r>
              <a:rPr sz="1600" b="1" dirty="0">
                <a:solidFill>
                  <a:srgbClr val="001F5F"/>
                </a:solidFill>
                <a:latin typeface="Arial"/>
                <a:cs typeface="Arial"/>
              </a:rPr>
              <a:t>float</a:t>
            </a:r>
            <a:r>
              <a:rPr sz="1600" b="1" spc="-3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0000"/>
                </a:solidFill>
                <a:latin typeface="Arial"/>
                <a:cs typeface="Arial"/>
              </a:rPr>
              <a:t>y)</a:t>
            </a:r>
            <a:r>
              <a:rPr sz="1600" b="1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b="1" spc="-50" dirty="0">
                <a:solidFill>
                  <a:srgbClr val="007F00"/>
                </a:solidFill>
                <a:latin typeface="Arial"/>
                <a:cs typeface="Arial"/>
              </a:rPr>
              <a:t>{ </a:t>
            </a:r>
            <a:r>
              <a:rPr sz="1600" b="1" dirty="0">
                <a:solidFill>
                  <a:srgbClr val="001F5F"/>
                </a:solidFill>
                <a:latin typeface="Arial"/>
                <a:cs typeface="Arial"/>
              </a:rPr>
              <a:t>int</a:t>
            </a:r>
            <a:r>
              <a:rPr sz="1600" b="1" spc="-1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600" b="1" spc="-25" dirty="0">
                <a:solidFill>
                  <a:srgbClr val="FF0000"/>
                </a:solidFill>
                <a:latin typeface="Arial"/>
                <a:cs typeface="Arial"/>
              </a:rPr>
              <a:t>z;</a:t>
            </a:r>
            <a:endParaRPr sz="1600">
              <a:latin typeface="Arial"/>
              <a:cs typeface="Arial"/>
            </a:endParaRPr>
          </a:p>
          <a:p>
            <a:pPr marL="127000">
              <a:lnSpc>
                <a:spcPct val="100000"/>
              </a:lnSpc>
            </a:pPr>
            <a:r>
              <a:rPr sz="1600" b="1" dirty="0">
                <a:solidFill>
                  <a:srgbClr val="7F007F"/>
                </a:solidFill>
                <a:latin typeface="Arial"/>
                <a:cs typeface="Arial"/>
              </a:rPr>
              <a:t>do</a:t>
            </a:r>
            <a:r>
              <a:rPr sz="1600" b="1" spc="-20" dirty="0">
                <a:solidFill>
                  <a:srgbClr val="7F007F"/>
                </a:solidFill>
                <a:latin typeface="Arial"/>
                <a:cs typeface="Arial"/>
              </a:rPr>
              <a:t> </a:t>
            </a:r>
            <a:r>
              <a:rPr sz="1600" b="1" spc="-50" dirty="0">
                <a:solidFill>
                  <a:srgbClr val="7F007F"/>
                </a:solidFill>
                <a:latin typeface="Arial"/>
                <a:cs typeface="Arial"/>
              </a:rPr>
              <a:t>{</a:t>
            </a:r>
            <a:endParaRPr sz="1600">
              <a:latin typeface="Arial"/>
              <a:cs typeface="Arial"/>
            </a:endParaRPr>
          </a:p>
          <a:p>
            <a:pPr marL="127000">
              <a:lnSpc>
                <a:spcPct val="100000"/>
              </a:lnSpc>
            </a:pPr>
            <a:r>
              <a:rPr sz="1600" b="1" spc="-25" dirty="0">
                <a:solidFill>
                  <a:srgbClr val="7E7E7E"/>
                </a:solidFill>
                <a:latin typeface="Arial"/>
                <a:cs typeface="Arial"/>
              </a:rPr>
              <a:t>...</a:t>
            </a:r>
            <a:endParaRPr sz="1600">
              <a:latin typeface="Arial"/>
              <a:cs typeface="Arial"/>
            </a:endParaRPr>
          </a:p>
          <a:p>
            <a:pPr marL="127000" marR="1511300">
              <a:lnSpc>
                <a:spcPct val="100000"/>
              </a:lnSpc>
            </a:pPr>
            <a:r>
              <a:rPr sz="1600" b="1" dirty="0">
                <a:solidFill>
                  <a:srgbClr val="001F5F"/>
                </a:solidFill>
                <a:latin typeface="Arial"/>
                <a:cs typeface="Arial"/>
              </a:rPr>
              <a:t>float</a:t>
            </a:r>
            <a:r>
              <a:rPr sz="1600" b="1" spc="-2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600" b="1" spc="-25" dirty="0">
                <a:solidFill>
                  <a:srgbClr val="FF0000"/>
                </a:solidFill>
                <a:latin typeface="Arial"/>
                <a:cs typeface="Arial"/>
              </a:rPr>
              <a:t>w; </a:t>
            </a:r>
            <a:r>
              <a:rPr sz="1600" b="1" spc="-20" dirty="0">
                <a:solidFill>
                  <a:srgbClr val="FF0000"/>
                </a:solidFill>
                <a:latin typeface="Arial"/>
                <a:cs typeface="Arial"/>
              </a:rPr>
              <a:t>z++;</a:t>
            </a:r>
            <a:endParaRPr sz="1600">
              <a:latin typeface="Arial"/>
              <a:cs typeface="Arial"/>
            </a:endParaRPr>
          </a:p>
          <a:p>
            <a:pPr marL="127000" marR="932180">
              <a:lnSpc>
                <a:spcPct val="100000"/>
              </a:lnSpc>
            </a:pPr>
            <a:r>
              <a:rPr sz="1600" b="1" dirty="0">
                <a:solidFill>
                  <a:srgbClr val="7F007F"/>
                </a:solidFill>
                <a:latin typeface="Arial"/>
                <a:cs typeface="Arial"/>
              </a:rPr>
              <a:t>}</a:t>
            </a:r>
            <a:r>
              <a:rPr sz="1600" b="1" spc="-5" dirty="0">
                <a:solidFill>
                  <a:srgbClr val="7F007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7F007F"/>
                </a:solidFill>
                <a:latin typeface="Arial"/>
                <a:cs typeface="Arial"/>
              </a:rPr>
              <a:t>while</a:t>
            </a:r>
            <a:r>
              <a:rPr sz="1600" b="1" spc="-35" dirty="0">
                <a:solidFill>
                  <a:srgbClr val="7F007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7F007F"/>
                </a:solidFill>
                <a:latin typeface="Arial"/>
                <a:cs typeface="Arial"/>
              </a:rPr>
              <a:t>(z</a:t>
            </a:r>
            <a:r>
              <a:rPr sz="1600" b="1" spc="5" dirty="0">
                <a:solidFill>
                  <a:srgbClr val="7F007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7F007F"/>
                </a:solidFill>
                <a:latin typeface="Arial"/>
                <a:cs typeface="Arial"/>
              </a:rPr>
              <a:t>&lt;</a:t>
            </a:r>
            <a:r>
              <a:rPr sz="1600" b="1" spc="5" dirty="0">
                <a:solidFill>
                  <a:srgbClr val="7F007F"/>
                </a:solidFill>
                <a:latin typeface="Arial"/>
                <a:cs typeface="Arial"/>
              </a:rPr>
              <a:t> </a:t>
            </a:r>
            <a:r>
              <a:rPr sz="1600" b="1" spc="-25" dirty="0">
                <a:solidFill>
                  <a:srgbClr val="7F007F"/>
                </a:solidFill>
                <a:latin typeface="Arial"/>
                <a:cs typeface="Arial"/>
              </a:rPr>
              <a:t>i); </a:t>
            </a:r>
            <a:r>
              <a:rPr sz="1600" b="1" dirty="0">
                <a:solidFill>
                  <a:srgbClr val="007F00"/>
                </a:solidFill>
                <a:latin typeface="Arial"/>
                <a:cs typeface="Arial"/>
              </a:rPr>
              <a:t>x</a:t>
            </a:r>
            <a:r>
              <a:rPr sz="1600" b="1" spc="-15" dirty="0">
                <a:solidFill>
                  <a:srgbClr val="007F0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07F00"/>
                </a:solidFill>
                <a:latin typeface="Arial"/>
                <a:cs typeface="Arial"/>
              </a:rPr>
              <a:t>=</a:t>
            </a:r>
            <a:r>
              <a:rPr sz="1600" b="1" spc="10" dirty="0">
                <a:solidFill>
                  <a:srgbClr val="007F0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07F00"/>
                </a:solidFill>
                <a:latin typeface="Arial"/>
                <a:cs typeface="Arial"/>
              </a:rPr>
              <a:t>z </a:t>
            </a:r>
            <a:r>
              <a:rPr sz="1600" b="1" spc="-25" dirty="0">
                <a:solidFill>
                  <a:srgbClr val="007F00"/>
                </a:solidFill>
                <a:latin typeface="Arial"/>
                <a:cs typeface="Arial"/>
              </a:rPr>
              <a:t>+w;</a:t>
            </a:r>
            <a:endParaRPr sz="1600">
              <a:latin typeface="Arial"/>
              <a:cs typeface="Arial"/>
            </a:endParaRPr>
          </a:p>
          <a:p>
            <a:pPr marL="127000">
              <a:lnSpc>
                <a:spcPct val="100000"/>
              </a:lnSpc>
            </a:pPr>
            <a:r>
              <a:rPr sz="1600" b="1" spc="-50" dirty="0">
                <a:solidFill>
                  <a:srgbClr val="007F00"/>
                </a:solidFill>
                <a:latin typeface="Arial"/>
                <a:cs typeface="Arial"/>
              </a:rPr>
              <a:t>}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b="1" spc="-25" dirty="0">
                <a:solidFill>
                  <a:srgbClr val="FF0000"/>
                </a:solidFill>
                <a:latin typeface="Arial"/>
                <a:cs typeface="Arial"/>
              </a:rPr>
              <a:t>};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027297" y="3845052"/>
            <a:ext cx="3343910" cy="467995"/>
            <a:chOff x="6027297" y="3845052"/>
            <a:chExt cx="3343910" cy="467995"/>
          </a:xfrm>
        </p:grpSpPr>
        <p:sp>
          <p:nvSpPr>
            <p:cNvPr id="7" name="object 7"/>
            <p:cNvSpPr/>
            <p:nvPr/>
          </p:nvSpPr>
          <p:spPr>
            <a:xfrm>
              <a:off x="6027297" y="3845052"/>
              <a:ext cx="3343910" cy="467995"/>
            </a:xfrm>
            <a:custGeom>
              <a:avLst/>
              <a:gdLst/>
              <a:ahLst/>
              <a:cxnLst/>
              <a:rect l="l" t="t" r="r" b="b"/>
              <a:pathLst>
                <a:path w="3343909" h="467995">
                  <a:moveTo>
                    <a:pt x="3343655" y="6095"/>
                  </a:moveTo>
                  <a:lnTo>
                    <a:pt x="3343655" y="3047"/>
                  </a:lnTo>
                  <a:lnTo>
                    <a:pt x="3342131" y="0"/>
                  </a:lnTo>
                  <a:lnTo>
                    <a:pt x="3047" y="0"/>
                  </a:lnTo>
                  <a:lnTo>
                    <a:pt x="0" y="3047"/>
                  </a:lnTo>
                  <a:lnTo>
                    <a:pt x="0" y="466343"/>
                  </a:lnTo>
                  <a:lnTo>
                    <a:pt x="3047" y="467867"/>
                  </a:lnTo>
                  <a:lnTo>
                    <a:pt x="4571" y="467867"/>
                  </a:lnTo>
                  <a:lnTo>
                    <a:pt x="4571" y="6095"/>
                  </a:lnTo>
                  <a:lnTo>
                    <a:pt x="3343655" y="6095"/>
                  </a:lnTo>
                  <a:close/>
                </a:path>
                <a:path w="3343909" h="467995">
                  <a:moveTo>
                    <a:pt x="3343655" y="466343"/>
                  </a:moveTo>
                  <a:lnTo>
                    <a:pt x="3343655" y="463295"/>
                  </a:lnTo>
                  <a:lnTo>
                    <a:pt x="4571" y="463295"/>
                  </a:lnTo>
                  <a:lnTo>
                    <a:pt x="4571" y="467867"/>
                  </a:lnTo>
                  <a:lnTo>
                    <a:pt x="3342131" y="467867"/>
                  </a:lnTo>
                  <a:lnTo>
                    <a:pt x="3343655" y="466343"/>
                  </a:lnTo>
                  <a:close/>
                </a:path>
                <a:path w="3343909" h="467995">
                  <a:moveTo>
                    <a:pt x="3343655" y="463295"/>
                  </a:moveTo>
                  <a:lnTo>
                    <a:pt x="3343655" y="6095"/>
                  </a:lnTo>
                  <a:lnTo>
                    <a:pt x="3339083" y="6095"/>
                  </a:lnTo>
                  <a:lnTo>
                    <a:pt x="3339083" y="463295"/>
                  </a:lnTo>
                  <a:lnTo>
                    <a:pt x="3343655" y="463295"/>
                  </a:lnTo>
                  <a:close/>
                </a:path>
              </a:pathLst>
            </a:custGeom>
            <a:solidFill>
              <a:srgbClr val="93B5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031870" y="3851147"/>
              <a:ext cx="3335020" cy="457200"/>
            </a:xfrm>
            <a:custGeom>
              <a:avLst/>
              <a:gdLst/>
              <a:ahLst/>
              <a:cxnLst/>
              <a:rect l="l" t="t" r="r" b="b"/>
              <a:pathLst>
                <a:path w="3335020" h="457200">
                  <a:moveTo>
                    <a:pt x="3334511" y="457199"/>
                  </a:moveTo>
                  <a:lnTo>
                    <a:pt x="3334511" y="0"/>
                  </a:lnTo>
                  <a:lnTo>
                    <a:pt x="0" y="0"/>
                  </a:lnTo>
                  <a:lnTo>
                    <a:pt x="0" y="457199"/>
                  </a:lnTo>
                  <a:lnTo>
                    <a:pt x="3334511" y="457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27298" y="3845052"/>
              <a:ext cx="3343910" cy="467995"/>
            </a:xfrm>
            <a:custGeom>
              <a:avLst/>
              <a:gdLst/>
              <a:ahLst/>
              <a:cxnLst/>
              <a:rect l="l" t="t" r="r" b="b"/>
              <a:pathLst>
                <a:path w="3343909" h="467995">
                  <a:moveTo>
                    <a:pt x="3343656" y="466344"/>
                  </a:moveTo>
                  <a:lnTo>
                    <a:pt x="3343656" y="3048"/>
                  </a:lnTo>
                  <a:lnTo>
                    <a:pt x="3342132" y="0"/>
                  </a:lnTo>
                  <a:lnTo>
                    <a:pt x="3048" y="0"/>
                  </a:lnTo>
                  <a:lnTo>
                    <a:pt x="0" y="3048"/>
                  </a:lnTo>
                  <a:lnTo>
                    <a:pt x="0" y="466344"/>
                  </a:lnTo>
                  <a:lnTo>
                    <a:pt x="3048" y="467868"/>
                  </a:lnTo>
                  <a:lnTo>
                    <a:pt x="4572" y="467868"/>
                  </a:lnTo>
                  <a:lnTo>
                    <a:pt x="4572" y="10668"/>
                  </a:lnTo>
                  <a:lnTo>
                    <a:pt x="10668" y="6096"/>
                  </a:lnTo>
                  <a:lnTo>
                    <a:pt x="10668" y="10668"/>
                  </a:lnTo>
                  <a:lnTo>
                    <a:pt x="3334512" y="10668"/>
                  </a:lnTo>
                  <a:lnTo>
                    <a:pt x="3334512" y="6096"/>
                  </a:lnTo>
                  <a:lnTo>
                    <a:pt x="3339084" y="10668"/>
                  </a:lnTo>
                  <a:lnTo>
                    <a:pt x="3339084" y="467868"/>
                  </a:lnTo>
                  <a:lnTo>
                    <a:pt x="3342132" y="467868"/>
                  </a:lnTo>
                  <a:lnTo>
                    <a:pt x="3343656" y="466344"/>
                  </a:lnTo>
                  <a:close/>
                </a:path>
                <a:path w="3343909" h="467995">
                  <a:moveTo>
                    <a:pt x="10668" y="10668"/>
                  </a:moveTo>
                  <a:lnTo>
                    <a:pt x="10668" y="6096"/>
                  </a:lnTo>
                  <a:lnTo>
                    <a:pt x="4572" y="10668"/>
                  </a:lnTo>
                  <a:lnTo>
                    <a:pt x="10668" y="10668"/>
                  </a:lnTo>
                  <a:close/>
                </a:path>
                <a:path w="3343909" h="467995">
                  <a:moveTo>
                    <a:pt x="10668" y="457200"/>
                  </a:moveTo>
                  <a:lnTo>
                    <a:pt x="10668" y="10668"/>
                  </a:lnTo>
                  <a:lnTo>
                    <a:pt x="4572" y="10668"/>
                  </a:lnTo>
                  <a:lnTo>
                    <a:pt x="4572" y="457200"/>
                  </a:lnTo>
                  <a:lnTo>
                    <a:pt x="10668" y="457200"/>
                  </a:lnTo>
                  <a:close/>
                </a:path>
                <a:path w="3343909" h="467995">
                  <a:moveTo>
                    <a:pt x="3339084" y="457200"/>
                  </a:moveTo>
                  <a:lnTo>
                    <a:pt x="4572" y="457200"/>
                  </a:lnTo>
                  <a:lnTo>
                    <a:pt x="10668" y="463296"/>
                  </a:lnTo>
                  <a:lnTo>
                    <a:pt x="10668" y="467868"/>
                  </a:lnTo>
                  <a:lnTo>
                    <a:pt x="3334512" y="467868"/>
                  </a:lnTo>
                  <a:lnTo>
                    <a:pt x="3334512" y="463296"/>
                  </a:lnTo>
                  <a:lnTo>
                    <a:pt x="3339084" y="457200"/>
                  </a:lnTo>
                  <a:close/>
                </a:path>
                <a:path w="3343909" h="467995">
                  <a:moveTo>
                    <a:pt x="10668" y="467868"/>
                  </a:moveTo>
                  <a:lnTo>
                    <a:pt x="10668" y="463296"/>
                  </a:lnTo>
                  <a:lnTo>
                    <a:pt x="4572" y="457200"/>
                  </a:lnTo>
                  <a:lnTo>
                    <a:pt x="4572" y="467868"/>
                  </a:lnTo>
                  <a:lnTo>
                    <a:pt x="10668" y="467868"/>
                  </a:lnTo>
                  <a:close/>
                </a:path>
                <a:path w="3343909" h="467995">
                  <a:moveTo>
                    <a:pt x="3339084" y="10668"/>
                  </a:moveTo>
                  <a:lnTo>
                    <a:pt x="3334512" y="6096"/>
                  </a:lnTo>
                  <a:lnTo>
                    <a:pt x="3334512" y="10668"/>
                  </a:lnTo>
                  <a:lnTo>
                    <a:pt x="3339084" y="10668"/>
                  </a:lnTo>
                  <a:close/>
                </a:path>
                <a:path w="3343909" h="467995">
                  <a:moveTo>
                    <a:pt x="3339084" y="457200"/>
                  </a:moveTo>
                  <a:lnTo>
                    <a:pt x="3339084" y="10668"/>
                  </a:lnTo>
                  <a:lnTo>
                    <a:pt x="3334512" y="10668"/>
                  </a:lnTo>
                  <a:lnTo>
                    <a:pt x="3334512" y="457200"/>
                  </a:lnTo>
                  <a:lnTo>
                    <a:pt x="3339084" y="457200"/>
                  </a:lnTo>
                  <a:close/>
                </a:path>
                <a:path w="3343909" h="467995">
                  <a:moveTo>
                    <a:pt x="3339084" y="467868"/>
                  </a:moveTo>
                  <a:lnTo>
                    <a:pt x="3339084" y="457200"/>
                  </a:lnTo>
                  <a:lnTo>
                    <a:pt x="3334512" y="463296"/>
                  </a:lnTo>
                  <a:lnTo>
                    <a:pt x="3334512" y="467868"/>
                  </a:lnTo>
                  <a:lnTo>
                    <a:pt x="3339084" y="467868"/>
                  </a:lnTo>
                  <a:close/>
                </a:path>
              </a:pathLst>
            </a:custGeom>
            <a:solidFill>
              <a:srgbClr val="93B5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325499" y="3922266"/>
            <a:ext cx="2743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2165" algn="l"/>
                <a:tab pos="1864995" algn="l"/>
              </a:tabLst>
            </a:pPr>
            <a:r>
              <a:rPr sz="1800" b="1" dirty="0">
                <a:latin typeface="Arial"/>
                <a:cs typeface="Arial"/>
              </a:rPr>
              <a:t>x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: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int</a:t>
            </a:r>
            <a:r>
              <a:rPr sz="1800" b="1" dirty="0">
                <a:latin typeface="Arial"/>
                <a:cs typeface="Arial"/>
              </a:rPr>
              <a:t>	z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: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20" dirty="0">
                <a:latin typeface="Arial"/>
                <a:cs typeface="Arial"/>
              </a:rPr>
              <a:t>float</a:t>
            </a:r>
            <a:r>
              <a:rPr sz="1800" b="1" dirty="0">
                <a:latin typeface="Arial"/>
                <a:cs typeface="Arial"/>
              </a:rPr>
              <a:t>	w :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spc="-20" dirty="0">
                <a:latin typeface="Arial"/>
                <a:cs typeface="Arial"/>
              </a:rPr>
              <a:t>float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027298" y="4684776"/>
            <a:ext cx="3343910" cy="466725"/>
          </a:xfrm>
          <a:custGeom>
            <a:avLst/>
            <a:gdLst/>
            <a:ahLst/>
            <a:cxnLst/>
            <a:rect l="l" t="t" r="r" b="b"/>
            <a:pathLst>
              <a:path w="3343909" h="466725">
                <a:moveTo>
                  <a:pt x="3343656" y="464820"/>
                </a:moveTo>
                <a:lnTo>
                  <a:pt x="3343656" y="1524"/>
                </a:lnTo>
                <a:lnTo>
                  <a:pt x="3342132" y="0"/>
                </a:lnTo>
                <a:lnTo>
                  <a:pt x="3048" y="0"/>
                </a:lnTo>
                <a:lnTo>
                  <a:pt x="0" y="1524"/>
                </a:lnTo>
                <a:lnTo>
                  <a:pt x="0" y="464820"/>
                </a:lnTo>
                <a:lnTo>
                  <a:pt x="3048" y="466344"/>
                </a:lnTo>
                <a:lnTo>
                  <a:pt x="4572" y="466344"/>
                </a:lnTo>
                <a:lnTo>
                  <a:pt x="4572" y="9144"/>
                </a:lnTo>
                <a:lnTo>
                  <a:pt x="10668" y="4572"/>
                </a:lnTo>
                <a:lnTo>
                  <a:pt x="10668" y="9144"/>
                </a:lnTo>
                <a:lnTo>
                  <a:pt x="3334512" y="9144"/>
                </a:lnTo>
                <a:lnTo>
                  <a:pt x="3334512" y="4572"/>
                </a:lnTo>
                <a:lnTo>
                  <a:pt x="3339084" y="9144"/>
                </a:lnTo>
                <a:lnTo>
                  <a:pt x="3339084" y="466344"/>
                </a:lnTo>
                <a:lnTo>
                  <a:pt x="3342132" y="466344"/>
                </a:lnTo>
                <a:lnTo>
                  <a:pt x="3343656" y="464820"/>
                </a:lnTo>
                <a:close/>
              </a:path>
              <a:path w="3343909" h="466725">
                <a:moveTo>
                  <a:pt x="10668" y="9144"/>
                </a:moveTo>
                <a:lnTo>
                  <a:pt x="10668" y="4572"/>
                </a:lnTo>
                <a:lnTo>
                  <a:pt x="4572" y="9144"/>
                </a:lnTo>
                <a:lnTo>
                  <a:pt x="10668" y="9144"/>
                </a:lnTo>
                <a:close/>
              </a:path>
              <a:path w="3343909" h="466725">
                <a:moveTo>
                  <a:pt x="10668" y="457200"/>
                </a:moveTo>
                <a:lnTo>
                  <a:pt x="10668" y="9144"/>
                </a:lnTo>
                <a:lnTo>
                  <a:pt x="4572" y="9144"/>
                </a:lnTo>
                <a:lnTo>
                  <a:pt x="4572" y="457200"/>
                </a:lnTo>
                <a:lnTo>
                  <a:pt x="10668" y="457200"/>
                </a:lnTo>
                <a:close/>
              </a:path>
              <a:path w="3343909" h="466725">
                <a:moveTo>
                  <a:pt x="3339084" y="457200"/>
                </a:moveTo>
                <a:lnTo>
                  <a:pt x="4572" y="457200"/>
                </a:lnTo>
                <a:lnTo>
                  <a:pt x="10668" y="461772"/>
                </a:lnTo>
                <a:lnTo>
                  <a:pt x="10668" y="466344"/>
                </a:lnTo>
                <a:lnTo>
                  <a:pt x="3334512" y="466344"/>
                </a:lnTo>
                <a:lnTo>
                  <a:pt x="3334512" y="461772"/>
                </a:lnTo>
                <a:lnTo>
                  <a:pt x="3339084" y="457200"/>
                </a:lnTo>
                <a:close/>
              </a:path>
              <a:path w="3343909" h="466725">
                <a:moveTo>
                  <a:pt x="10668" y="466344"/>
                </a:moveTo>
                <a:lnTo>
                  <a:pt x="10668" y="461772"/>
                </a:lnTo>
                <a:lnTo>
                  <a:pt x="4572" y="457200"/>
                </a:lnTo>
                <a:lnTo>
                  <a:pt x="4572" y="466344"/>
                </a:lnTo>
                <a:lnTo>
                  <a:pt x="10668" y="466344"/>
                </a:lnTo>
                <a:close/>
              </a:path>
              <a:path w="3343909" h="466725">
                <a:moveTo>
                  <a:pt x="3339084" y="9144"/>
                </a:moveTo>
                <a:lnTo>
                  <a:pt x="3334512" y="4572"/>
                </a:lnTo>
                <a:lnTo>
                  <a:pt x="3334512" y="9144"/>
                </a:lnTo>
                <a:lnTo>
                  <a:pt x="3339084" y="9144"/>
                </a:lnTo>
                <a:close/>
              </a:path>
              <a:path w="3343909" h="466725">
                <a:moveTo>
                  <a:pt x="3339084" y="457200"/>
                </a:moveTo>
                <a:lnTo>
                  <a:pt x="3339084" y="9144"/>
                </a:lnTo>
                <a:lnTo>
                  <a:pt x="3334512" y="9144"/>
                </a:lnTo>
                <a:lnTo>
                  <a:pt x="3334512" y="457200"/>
                </a:lnTo>
                <a:lnTo>
                  <a:pt x="3339084" y="457200"/>
                </a:lnTo>
                <a:close/>
              </a:path>
              <a:path w="3343909" h="466725">
                <a:moveTo>
                  <a:pt x="3339084" y="466344"/>
                </a:moveTo>
                <a:lnTo>
                  <a:pt x="3339084" y="457200"/>
                </a:lnTo>
                <a:lnTo>
                  <a:pt x="3334512" y="461772"/>
                </a:lnTo>
                <a:lnTo>
                  <a:pt x="3334512" y="466344"/>
                </a:lnTo>
                <a:lnTo>
                  <a:pt x="3339084" y="466344"/>
                </a:lnTo>
                <a:close/>
              </a:path>
            </a:pathLst>
          </a:custGeom>
          <a:solidFill>
            <a:srgbClr val="93B5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483994" y="4761989"/>
            <a:ext cx="6369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x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: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int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283980" y="4761989"/>
            <a:ext cx="83946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y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: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float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286694" y="4761989"/>
            <a:ext cx="6242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z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: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int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798697" y="5501640"/>
            <a:ext cx="3896995" cy="467995"/>
            <a:chOff x="5798697" y="5501640"/>
            <a:chExt cx="3896995" cy="467995"/>
          </a:xfrm>
        </p:grpSpPr>
        <p:sp>
          <p:nvSpPr>
            <p:cNvPr id="16" name="object 16"/>
            <p:cNvSpPr/>
            <p:nvPr/>
          </p:nvSpPr>
          <p:spPr>
            <a:xfrm>
              <a:off x="5798697" y="5501640"/>
              <a:ext cx="3896995" cy="467995"/>
            </a:xfrm>
            <a:custGeom>
              <a:avLst/>
              <a:gdLst/>
              <a:ahLst/>
              <a:cxnLst/>
              <a:rect l="l" t="t" r="r" b="b"/>
              <a:pathLst>
                <a:path w="3896995" h="467995">
                  <a:moveTo>
                    <a:pt x="3896867" y="4571"/>
                  </a:moveTo>
                  <a:lnTo>
                    <a:pt x="3896867" y="3047"/>
                  </a:lnTo>
                  <a:lnTo>
                    <a:pt x="3893819" y="0"/>
                  </a:lnTo>
                  <a:lnTo>
                    <a:pt x="3047" y="0"/>
                  </a:lnTo>
                  <a:lnTo>
                    <a:pt x="0" y="3047"/>
                  </a:lnTo>
                  <a:lnTo>
                    <a:pt x="0" y="464819"/>
                  </a:lnTo>
                  <a:lnTo>
                    <a:pt x="3047" y="467867"/>
                  </a:lnTo>
                  <a:lnTo>
                    <a:pt x="4571" y="467867"/>
                  </a:lnTo>
                  <a:lnTo>
                    <a:pt x="4571" y="4571"/>
                  </a:lnTo>
                  <a:lnTo>
                    <a:pt x="3896867" y="4571"/>
                  </a:lnTo>
                  <a:close/>
                </a:path>
                <a:path w="3896995" h="467995">
                  <a:moveTo>
                    <a:pt x="3896867" y="464819"/>
                  </a:moveTo>
                  <a:lnTo>
                    <a:pt x="3896867" y="461771"/>
                  </a:lnTo>
                  <a:lnTo>
                    <a:pt x="4571" y="461771"/>
                  </a:lnTo>
                  <a:lnTo>
                    <a:pt x="4571" y="467867"/>
                  </a:lnTo>
                  <a:lnTo>
                    <a:pt x="3893819" y="467867"/>
                  </a:lnTo>
                  <a:lnTo>
                    <a:pt x="3896867" y="464819"/>
                  </a:lnTo>
                  <a:close/>
                </a:path>
                <a:path w="3896995" h="467995">
                  <a:moveTo>
                    <a:pt x="3896867" y="461771"/>
                  </a:moveTo>
                  <a:lnTo>
                    <a:pt x="3896867" y="4571"/>
                  </a:lnTo>
                  <a:lnTo>
                    <a:pt x="3890771" y="4571"/>
                  </a:lnTo>
                  <a:lnTo>
                    <a:pt x="3890771" y="461771"/>
                  </a:lnTo>
                  <a:lnTo>
                    <a:pt x="3896867" y="461771"/>
                  </a:lnTo>
                  <a:close/>
                </a:path>
              </a:pathLst>
            </a:custGeom>
            <a:solidFill>
              <a:srgbClr val="93B5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803270" y="5506211"/>
              <a:ext cx="3886200" cy="457200"/>
            </a:xfrm>
            <a:custGeom>
              <a:avLst/>
              <a:gdLst/>
              <a:ahLst/>
              <a:cxnLst/>
              <a:rect l="l" t="t" r="r" b="b"/>
              <a:pathLst>
                <a:path w="3886200" h="457200">
                  <a:moveTo>
                    <a:pt x="3886199" y="457199"/>
                  </a:moveTo>
                  <a:lnTo>
                    <a:pt x="3886199" y="0"/>
                  </a:lnTo>
                  <a:lnTo>
                    <a:pt x="0" y="0"/>
                  </a:lnTo>
                  <a:lnTo>
                    <a:pt x="0" y="457199"/>
                  </a:lnTo>
                  <a:lnTo>
                    <a:pt x="3886199" y="457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798698" y="5501640"/>
              <a:ext cx="3896995" cy="467995"/>
            </a:xfrm>
            <a:custGeom>
              <a:avLst/>
              <a:gdLst/>
              <a:ahLst/>
              <a:cxnLst/>
              <a:rect l="l" t="t" r="r" b="b"/>
              <a:pathLst>
                <a:path w="3896995" h="467995">
                  <a:moveTo>
                    <a:pt x="3896868" y="464820"/>
                  </a:moveTo>
                  <a:lnTo>
                    <a:pt x="3896868" y="3048"/>
                  </a:lnTo>
                  <a:lnTo>
                    <a:pt x="3893820" y="0"/>
                  </a:lnTo>
                  <a:lnTo>
                    <a:pt x="3048" y="0"/>
                  </a:lnTo>
                  <a:lnTo>
                    <a:pt x="0" y="3048"/>
                  </a:lnTo>
                  <a:lnTo>
                    <a:pt x="0" y="464820"/>
                  </a:lnTo>
                  <a:lnTo>
                    <a:pt x="3048" y="467868"/>
                  </a:lnTo>
                  <a:lnTo>
                    <a:pt x="4572" y="4678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10668" y="10668"/>
                  </a:lnTo>
                  <a:lnTo>
                    <a:pt x="3886200" y="10668"/>
                  </a:lnTo>
                  <a:lnTo>
                    <a:pt x="3886200" y="4572"/>
                  </a:lnTo>
                  <a:lnTo>
                    <a:pt x="3890772" y="10668"/>
                  </a:lnTo>
                  <a:lnTo>
                    <a:pt x="3890772" y="467868"/>
                  </a:lnTo>
                  <a:lnTo>
                    <a:pt x="3893820" y="467868"/>
                  </a:lnTo>
                  <a:lnTo>
                    <a:pt x="3896868" y="464820"/>
                  </a:lnTo>
                  <a:close/>
                </a:path>
                <a:path w="3896995" h="467995">
                  <a:moveTo>
                    <a:pt x="10668" y="10668"/>
                  </a:moveTo>
                  <a:lnTo>
                    <a:pt x="10668" y="4572"/>
                  </a:lnTo>
                  <a:lnTo>
                    <a:pt x="4572" y="10668"/>
                  </a:lnTo>
                  <a:lnTo>
                    <a:pt x="10668" y="10668"/>
                  </a:lnTo>
                  <a:close/>
                </a:path>
                <a:path w="3896995" h="467995">
                  <a:moveTo>
                    <a:pt x="10668" y="457200"/>
                  </a:moveTo>
                  <a:lnTo>
                    <a:pt x="10668" y="10668"/>
                  </a:lnTo>
                  <a:lnTo>
                    <a:pt x="4572" y="10668"/>
                  </a:lnTo>
                  <a:lnTo>
                    <a:pt x="4572" y="457200"/>
                  </a:lnTo>
                  <a:lnTo>
                    <a:pt x="10668" y="457200"/>
                  </a:lnTo>
                  <a:close/>
                </a:path>
                <a:path w="3896995" h="467995">
                  <a:moveTo>
                    <a:pt x="3890772" y="457200"/>
                  </a:moveTo>
                  <a:lnTo>
                    <a:pt x="4572" y="457200"/>
                  </a:lnTo>
                  <a:lnTo>
                    <a:pt x="10668" y="461772"/>
                  </a:lnTo>
                  <a:lnTo>
                    <a:pt x="10668" y="467868"/>
                  </a:lnTo>
                  <a:lnTo>
                    <a:pt x="3886200" y="467868"/>
                  </a:lnTo>
                  <a:lnTo>
                    <a:pt x="3886200" y="461772"/>
                  </a:lnTo>
                  <a:lnTo>
                    <a:pt x="3890772" y="457200"/>
                  </a:lnTo>
                  <a:close/>
                </a:path>
                <a:path w="3896995" h="467995">
                  <a:moveTo>
                    <a:pt x="10668" y="467868"/>
                  </a:moveTo>
                  <a:lnTo>
                    <a:pt x="10668" y="461772"/>
                  </a:lnTo>
                  <a:lnTo>
                    <a:pt x="4572" y="457200"/>
                  </a:lnTo>
                  <a:lnTo>
                    <a:pt x="4572" y="467868"/>
                  </a:lnTo>
                  <a:lnTo>
                    <a:pt x="10668" y="467868"/>
                  </a:lnTo>
                  <a:close/>
                </a:path>
                <a:path w="3896995" h="467995">
                  <a:moveTo>
                    <a:pt x="3890772" y="10668"/>
                  </a:moveTo>
                  <a:lnTo>
                    <a:pt x="3886200" y="4572"/>
                  </a:lnTo>
                  <a:lnTo>
                    <a:pt x="3886200" y="10668"/>
                  </a:lnTo>
                  <a:lnTo>
                    <a:pt x="3890772" y="10668"/>
                  </a:lnTo>
                  <a:close/>
                </a:path>
                <a:path w="3896995" h="467995">
                  <a:moveTo>
                    <a:pt x="3890772" y="457200"/>
                  </a:moveTo>
                  <a:lnTo>
                    <a:pt x="3890772" y="10668"/>
                  </a:lnTo>
                  <a:lnTo>
                    <a:pt x="3886200" y="10668"/>
                  </a:lnTo>
                  <a:lnTo>
                    <a:pt x="3886200" y="457200"/>
                  </a:lnTo>
                  <a:lnTo>
                    <a:pt x="3890772" y="457200"/>
                  </a:lnTo>
                  <a:close/>
                </a:path>
                <a:path w="3896995" h="467995">
                  <a:moveTo>
                    <a:pt x="3890772" y="467868"/>
                  </a:moveTo>
                  <a:lnTo>
                    <a:pt x="3890772" y="457200"/>
                  </a:lnTo>
                  <a:lnTo>
                    <a:pt x="3886200" y="461772"/>
                  </a:lnTo>
                  <a:lnTo>
                    <a:pt x="3886200" y="467868"/>
                  </a:lnTo>
                  <a:lnTo>
                    <a:pt x="3890772" y="467868"/>
                  </a:lnTo>
                  <a:close/>
                </a:path>
              </a:pathLst>
            </a:custGeom>
            <a:solidFill>
              <a:srgbClr val="93B5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037463" y="5578853"/>
            <a:ext cx="3416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2165" algn="l"/>
                <a:tab pos="1814830" algn="l"/>
                <a:tab pos="2602865" algn="l"/>
              </a:tabLst>
            </a:pPr>
            <a:r>
              <a:rPr sz="1800" b="1" dirty="0">
                <a:latin typeface="Arial"/>
                <a:cs typeface="Arial"/>
              </a:rPr>
              <a:t>x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: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int</a:t>
            </a:r>
            <a:r>
              <a:rPr sz="1800" b="1" dirty="0">
                <a:latin typeface="Arial"/>
                <a:cs typeface="Arial"/>
              </a:rPr>
              <a:t>	y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: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spc="-20" dirty="0">
                <a:latin typeface="Arial"/>
                <a:cs typeface="Arial"/>
              </a:rPr>
              <a:t>float</a:t>
            </a:r>
            <a:r>
              <a:rPr sz="1800" b="1" dirty="0">
                <a:latin typeface="Arial"/>
                <a:cs typeface="Arial"/>
              </a:rPr>
              <a:t>	z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: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int</a:t>
            </a:r>
            <a:r>
              <a:rPr sz="1800" b="1" dirty="0">
                <a:latin typeface="Arial"/>
                <a:cs typeface="Arial"/>
              </a:rPr>
              <a:t>	w: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float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179698" y="6222492"/>
            <a:ext cx="3343910" cy="466725"/>
          </a:xfrm>
          <a:custGeom>
            <a:avLst/>
            <a:gdLst/>
            <a:ahLst/>
            <a:cxnLst/>
            <a:rect l="l" t="t" r="r" b="b"/>
            <a:pathLst>
              <a:path w="3343909" h="466725">
                <a:moveTo>
                  <a:pt x="3343656" y="464820"/>
                </a:moveTo>
                <a:lnTo>
                  <a:pt x="3343656" y="1524"/>
                </a:lnTo>
                <a:lnTo>
                  <a:pt x="3342132" y="0"/>
                </a:lnTo>
                <a:lnTo>
                  <a:pt x="3048" y="0"/>
                </a:lnTo>
                <a:lnTo>
                  <a:pt x="0" y="1524"/>
                </a:lnTo>
                <a:lnTo>
                  <a:pt x="0" y="464820"/>
                </a:lnTo>
                <a:lnTo>
                  <a:pt x="3048" y="466344"/>
                </a:lnTo>
                <a:lnTo>
                  <a:pt x="4572" y="466344"/>
                </a:lnTo>
                <a:lnTo>
                  <a:pt x="4572" y="9144"/>
                </a:lnTo>
                <a:lnTo>
                  <a:pt x="10668" y="4572"/>
                </a:lnTo>
                <a:lnTo>
                  <a:pt x="10668" y="9144"/>
                </a:lnTo>
                <a:lnTo>
                  <a:pt x="3334512" y="9144"/>
                </a:lnTo>
                <a:lnTo>
                  <a:pt x="3334512" y="4572"/>
                </a:lnTo>
                <a:lnTo>
                  <a:pt x="3339084" y="9144"/>
                </a:lnTo>
                <a:lnTo>
                  <a:pt x="3339084" y="466344"/>
                </a:lnTo>
                <a:lnTo>
                  <a:pt x="3342132" y="466344"/>
                </a:lnTo>
                <a:lnTo>
                  <a:pt x="3343656" y="464820"/>
                </a:lnTo>
                <a:close/>
              </a:path>
              <a:path w="3343909" h="466725">
                <a:moveTo>
                  <a:pt x="10668" y="9144"/>
                </a:moveTo>
                <a:lnTo>
                  <a:pt x="10668" y="4572"/>
                </a:lnTo>
                <a:lnTo>
                  <a:pt x="4572" y="9144"/>
                </a:lnTo>
                <a:lnTo>
                  <a:pt x="10668" y="9144"/>
                </a:lnTo>
                <a:close/>
              </a:path>
              <a:path w="3343909" h="466725">
                <a:moveTo>
                  <a:pt x="10668" y="457200"/>
                </a:moveTo>
                <a:lnTo>
                  <a:pt x="10668" y="9144"/>
                </a:lnTo>
                <a:lnTo>
                  <a:pt x="4572" y="9144"/>
                </a:lnTo>
                <a:lnTo>
                  <a:pt x="4572" y="457200"/>
                </a:lnTo>
                <a:lnTo>
                  <a:pt x="10668" y="457200"/>
                </a:lnTo>
                <a:close/>
              </a:path>
              <a:path w="3343909" h="466725">
                <a:moveTo>
                  <a:pt x="3339084" y="457200"/>
                </a:moveTo>
                <a:lnTo>
                  <a:pt x="4572" y="457200"/>
                </a:lnTo>
                <a:lnTo>
                  <a:pt x="10668" y="461772"/>
                </a:lnTo>
                <a:lnTo>
                  <a:pt x="10668" y="466344"/>
                </a:lnTo>
                <a:lnTo>
                  <a:pt x="3334512" y="466344"/>
                </a:lnTo>
                <a:lnTo>
                  <a:pt x="3334512" y="461772"/>
                </a:lnTo>
                <a:lnTo>
                  <a:pt x="3339084" y="457200"/>
                </a:lnTo>
                <a:close/>
              </a:path>
              <a:path w="3343909" h="466725">
                <a:moveTo>
                  <a:pt x="10668" y="466344"/>
                </a:moveTo>
                <a:lnTo>
                  <a:pt x="10668" y="461772"/>
                </a:lnTo>
                <a:lnTo>
                  <a:pt x="4572" y="457200"/>
                </a:lnTo>
                <a:lnTo>
                  <a:pt x="4572" y="466344"/>
                </a:lnTo>
                <a:lnTo>
                  <a:pt x="10668" y="466344"/>
                </a:lnTo>
                <a:close/>
              </a:path>
              <a:path w="3343909" h="466725">
                <a:moveTo>
                  <a:pt x="3339084" y="9144"/>
                </a:moveTo>
                <a:lnTo>
                  <a:pt x="3334512" y="4572"/>
                </a:lnTo>
                <a:lnTo>
                  <a:pt x="3334512" y="9144"/>
                </a:lnTo>
                <a:lnTo>
                  <a:pt x="3339084" y="9144"/>
                </a:lnTo>
                <a:close/>
              </a:path>
              <a:path w="3343909" h="466725">
                <a:moveTo>
                  <a:pt x="3339084" y="457200"/>
                </a:moveTo>
                <a:lnTo>
                  <a:pt x="3339084" y="9144"/>
                </a:lnTo>
                <a:lnTo>
                  <a:pt x="3334512" y="9144"/>
                </a:lnTo>
                <a:lnTo>
                  <a:pt x="3334512" y="457200"/>
                </a:lnTo>
                <a:lnTo>
                  <a:pt x="3339084" y="457200"/>
                </a:lnTo>
                <a:close/>
              </a:path>
              <a:path w="3343909" h="466725">
                <a:moveTo>
                  <a:pt x="3339084" y="466344"/>
                </a:moveTo>
                <a:lnTo>
                  <a:pt x="3339084" y="457200"/>
                </a:lnTo>
                <a:lnTo>
                  <a:pt x="3334512" y="461772"/>
                </a:lnTo>
                <a:lnTo>
                  <a:pt x="3334512" y="466344"/>
                </a:lnTo>
                <a:lnTo>
                  <a:pt x="3339084" y="466344"/>
                </a:lnTo>
                <a:close/>
              </a:path>
            </a:pathLst>
          </a:custGeom>
          <a:solidFill>
            <a:srgbClr val="93B5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131694" y="6299705"/>
            <a:ext cx="14363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w: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non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défini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25</a:t>
            </a:r>
            <a:endParaRPr sz="12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021976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25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812" rIns="0" bIns="0" rtlCol="0">
            <a:spAutoFit/>
          </a:bodyPr>
          <a:lstStyle/>
          <a:p>
            <a:pPr marL="381000">
              <a:lnSpc>
                <a:spcPct val="100000"/>
              </a:lnSpc>
              <a:spcBef>
                <a:spcPts val="100"/>
              </a:spcBef>
            </a:pPr>
            <a:r>
              <a:rPr spc="-330" dirty="0"/>
              <a:t>Portée</a:t>
            </a:r>
            <a:r>
              <a:rPr b="0" spc="70" dirty="0">
                <a:latin typeface="Times New Roman"/>
                <a:cs typeface="Times New Roman"/>
              </a:rPr>
              <a:t> </a:t>
            </a:r>
            <a:r>
              <a:rPr spc="-360" dirty="0"/>
              <a:t>des</a:t>
            </a:r>
            <a:r>
              <a:rPr b="0" spc="85" dirty="0">
                <a:latin typeface="Times New Roman"/>
                <a:cs typeface="Times New Roman"/>
              </a:rPr>
              <a:t> </a:t>
            </a:r>
            <a:r>
              <a:rPr spc="-185" dirty="0"/>
              <a:t>variables</a:t>
            </a:r>
          </a:p>
        </p:txBody>
      </p:sp>
      <p:sp>
        <p:nvSpPr>
          <p:cNvPr id="3" name="object 3"/>
          <p:cNvSpPr/>
          <p:nvPr/>
        </p:nvSpPr>
        <p:spPr>
          <a:xfrm>
            <a:off x="1020961" y="3203448"/>
            <a:ext cx="3538854" cy="3820795"/>
          </a:xfrm>
          <a:custGeom>
            <a:avLst/>
            <a:gdLst/>
            <a:ahLst/>
            <a:cxnLst/>
            <a:rect l="l" t="t" r="r" b="b"/>
            <a:pathLst>
              <a:path w="3538854" h="3820795">
                <a:moveTo>
                  <a:pt x="3538725" y="3817620"/>
                </a:moveTo>
                <a:lnTo>
                  <a:pt x="3538725" y="3048"/>
                </a:lnTo>
                <a:lnTo>
                  <a:pt x="3537201" y="0"/>
                </a:lnTo>
                <a:lnTo>
                  <a:pt x="3048" y="0"/>
                </a:lnTo>
                <a:lnTo>
                  <a:pt x="0" y="3048"/>
                </a:lnTo>
                <a:lnTo>
                  <a:pt x="0" y="3817620"/>
                </a:lnTo>
                <a:lnTo>
                  <a:pt x="3048" y="3820668"/>
                </a:lnTo>
                <a:lnTo>
                  <a:pt x="6096" y="3820668"/>
                </a:lnTo>
                <a:lnTo>
                  <a:pt x="6096" y="10668"/>
                </a:lnTo>
                <a:lnTo>
                  <a:pt x="10668" y="6096"/>
                </a:lnTo>
                <a:lnTo>
                  <a:pt x="10668" y="10668"/>
                </a:lnTo>
                <a:lnTo>
                  <a:pt x="3528057" y="10668"/>
                </a:lnTo>
                <a:lnTo>
                  <a:pt x="3528057" y="6096"/>
                </a:lnTo>
                <a:lnTo>
                  <a:pt x="3534153" y="10668"/>
                </a:lnTo>
                <a:lnTo>
                  <a:pt x="3534153" y="3820668"/>
                </a:lnTo>
                <a:lnTo>
                  <a:pt x="3537201" y="3820668"/>
                </a:lnTo>
                <a:lnTo>
                  <a:pt x="3538725" y="3817620"/>
                </a:lnTo>
                <a:close/>
              </a:path>
              <a:path w="3538854" h="3820795">
                <a:moveTo>
                  <a:pt x="10668" y="10668"/>
                </a:moveTo>
                <a:lnTo>
                  <a:pt x="10668" y="6096"/>
                </a:lnTo>
                <a:lnTo>
                  <a:pt x="6096" y="10668"/>
                </a:lnTo>
                <a:lnTo>
                  <a:pt x="10668" y="10668"/>
                </a:lnTo>
                <a:close/>
              </a:path>
              <a:path w="3538854" h="3820795">
                <a:moveTo>
                  <a:pt x="10668" y="3810000"/>
                </a:moveTo>
                <a:lnTo>
                  <a:pt x="10668" y="10668"/>
                </a:lnTo>
                <a:lnTo>
                  <a:pt x="6096" y="10668"/>
                </a:lnTo>
                <a:lnTo>
                  <a:pt x="6096" y="3810000"/>
                </a:lnTo>
                <a:lnTo>
                  <a:pt x="10668" y="3810000"/>
                </a:lnTo>
                <a:close/>
              </a:path>
              <a:path w="3538854" h="3820795">
                <a:moveTo>
                  <a:pt x="3534153" y="3810000"/>
                </a:moveTo>
                <a:lnTo>
                  <a:pt x="6096" y="3810000"/>
                </a:lnTo>
                <a:lnTo>
                  <a:pt x="10668" y="3816096"/>
                </a:lnTo>
                <a:lnTo>
                  <a:pt x="10668" y="3820668"/>
                </a:lnTo>
                <a:lnTo>
                  <a:pt x="3528057" y="3820668"/>
                </a:lnTo>
                <a:lnTo>
                  <a:pt x="3528057" y="3816096"/>
                </a:lnTo>
                <a:lnTo>
                  <a:pt x="3534153" y="3810000"/>
                </a:lnTo>
                <a:close/>
              </a:path>
              <a:path w="3538854" h="3820795">
                <a:moveTo>
                  <a:pt x="10668" y="3820668"/>
                </a:moveTo>
                <a:lnTo>
                  <a:pt x="10668" y="3816096"/>
                </a:lnTo>
                <a:lnTo>
                  <a:pt x="6096" y="3810000"/>
                </a:lnTo>
                <a:lnTo>
                  <a:pt x="6096" y="3820668"/>
                </a:lnTo>
                <a:lnTo>
                  <a:pt x="10668" y="3820668"/>
                </a:lnTo>
                <a:close/>
              </a:path>
              <a:path w="3538854" h="3820795">
                <a:moveTo>
                  <a:pt x="3534153" y="10668"/>
                </a:moveTo>
                <a:lnTo>
                  <a:pt x="3528057" y="6096"/>
                </a:lnTo>
                <a:lnTo>
                  <a:pt x="3528057" y="10668"/>
                </a:lnTo>
                <a:lnTo>
                  <a:pt x="3534153" y="10668"/>
                </a:lnTo>
                <a:close/>
              </a:path>
              <a:path w="3538854" h="3820795">
                <a:moveTo>
                  <a:pt x="3534153" y="3810000"/>
                </a:moveTo>
                <a:lnTo>
                  <a:pt x="3534153" y="10668"/>
                </a:lnTo>
                <a:lnTo>
                  <a:pt x="3528057" y="10668"/>
                </a:lnTo>
                <a:lnTo>
                  <a:pt x="3528057" y="3810000"/>
                </a:lnTo>
                <a:lnTo>
                  <a:pt x="3534153" y="3810000"/>
                </a:lnTo>
                <a:close/>
              </a:path>
              <a:path w="3538854" h="3820795">
                <a:moveTo>
                  <a:pt x="3534153" y="3820668"/>
                </a:moveTo>
                <a:lnTo>
                  <a:pt x="3534153" y="3810000"/>
                </a:lnTo>
                <a:lnTo>
                  <a:pt x="3528057" y="3816096"/>
                </a:lnTo>
                <a:lnTo>
                  <a:pt x="3528057" y="3820668"/>
                </a:lnTo>
                <a:lnTo>
                  <a:pt x="3534153" y="3820668"/>
                </a:lnTo>
                <a:close/>
              </a:path>
            </a:pathLst>
          </a:custGeom>
          <a:solidFill>
            <a:srgbClr val="93B5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32644" y="1719677"/>
            <a:ext cx="7772400" cy="222758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2800" b="1" spc="-140" dirty="0">
                <a:solidFill>
                  <a:srgbClr val="FF0000"/>
                </a:solidFill>
                <a:latin typeface="Arial"/>
                <a:cs typeface="Arial"/>
              </a:rPr>
              <a:t>Remarque:</a:t>
            </a:r>
            <a:endParaRPr sz="2800">
              <a:latin typeface="Arial"/>
              <a:cs typeface="Arial"/>
            </a:endParaRPr>
          </a:p>
          <a:p>
            <a:pPr marL="12700" marR="5080">
              <a:lnSpc>
                <a:spcPct val="126800"/>
              </a:lnSpc>
              <a:spcBef>
                <a:spcPts val="70"/>
              </a:spcBef>
            </a:pPr>
            <a:r>
              <a:rPr sz="2200" dirty="0">
                <a:latin typeface="Times New Roman"/>
                <a:cs typeface="Times New Roman"/>
              </a:rPr>
              <a:t>La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redéfinition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d’une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variable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masque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la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définition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au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niveau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du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bloc </a:t>
            </a:r>
            <a:r>
              <a:rPr sz="2200" spc="-10" dirty="0">
                <a:latin typeface="Times New Roman"/>
                <a:cs typeface="Times New Roman"/>
              </a:rPr>
              <a:t>englobant.</a:t>
            </a:r>
            <a:endParaRPr sz="2200">
              <a:latin typeface="Times New Roman"/>
              <a:cs typeface="Times New Roman"/>
            </a:endParaRPr>
          </a:p>
          <a:p>
            <a:pPr marL="83820" marR="6343650">
              <a:lnSpc>
                <a:spcPct val="100000"/>
              </a:lnSpc>
              <a:spcBef>
                <a:spcPts val="1175"/>
              </a:spcBef>
            </a:pPr>
            <a:r>
              <a:rPr sz="1400" b="1" dirty="0">
                <a:solidFill>
                  <a:srgbClr val="001F5F"/>
                </a:solidFill>
                <a:latin typeface="Arial"/>
                <a:cs typeface="Arial"/>
              </a:rPr>
              <a:t>class</a:t>
            </a:r>
            <a:r>
              <a:rPr sz="1400" b="1" spc="-7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8AF2"/>
                </a:solidFill>
                <a:latin typeface="Arial"/>
                <a:cs typeface="Arial"/>
              </a:rPr>
              <a:t>Visibilite</a:t>
            </a:r>
            <a:r>
              <a:rPr sz="1400" b="1" spc="-70" dirty="0">
                <a:solidFill>
                  <a:srgbClr val="008AF2"/>
                </a:solidFill>
                <a:latin typeface="Arial"/>
                <a:cs typeface="Arial"/>
              </a:rPr>
              <a:t> </a:t>
            </a:r>
            <a:r>
              <a:rPr sz="1400" b="1" spc="-50" dirty="0">
                <a:solidFill>
                  <a:srgbClr val="FF0000"/>
                </a:solidFill>
                <a:latin typeface="Arial"/>
                <a:cs typeface="Arial"/>
              </a:rPr>
              <a:t>{ </a:t>
            </a:r>
            <a:r>
              <a:rPr sz="1400" b="1" dirty="0">
                <a:solidFill>
                  <a:srgbClr val="001F5F"/>
                </a:solidFill>
                <a:latin typeface="Arial"/>
                <a:cs typeface="Arial"/>
              </a:rPr>
              <a:t>int</a:t>
            </a:r>
            <a:r>
              <a:rPr sz="1400" b="1" spc="-2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0000FF"/>
                </a:solidFill>
                <a:latin typeface="Arial"/>
                <a:cs typeface="Arial"/>
              </a:rPr>
              <a:t>x</a:t>
            </a:r>
            <a:r>
              <a:rPr sz="1400" b="1" spc="-25" dirty="0">
                <a:solidFill>
                  <a:srgbClr val="FF0000"/>
                </a:solidFill>
                <a:latin typeface="Arial"/>
                <a:cs typeface="Arial"/>
              </a:rPr>
              <a:t>;</a:t>
            </a:r>
            <a:endParaRPr sz="1400">
              <a:latin typeface="Arial"/>
              <a:cs typeface="Arial"/>
            </a:endParaRPr>
          </a:p>
          <a:p>
            <a:pPr marL="83820">
              <a:lnSpc>
                <a:spcPct val="100000"/>
              </a:lnSpc>
            </a:pPr>
            <a:r>
              <a:rPr sz="1400" b="1" dirty="0">
                <a:solidFill>
                  <a:srgbClr val="001F5F"/>
                </a:solidFill>
                <a:latin typeface="Arial"/>
                <a:cs typeface="Arial"/>
              </a:rPr>
              <a:t>void</a:t>
            </a:r>
            <a:r>
              <a:rPr sz="1400" b="1" spc="-7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7F00"/>
                </a:solidFill>
                <a:latin typeface="Arial"/>
                <a:cs typeface="Arial"/>
              </a:rPr>
              <a:t>methodeA()</a:t>
            </a:r>
            <a:r>
              <a:rPr sz="1400" b="1" spc="-50" dirty="0">
                <a:solidFill>
                  <a:srgbClr val="007F00"/>
                </a:solidFill>
                <a:latin typeface="Arial"/>
                <a:cs typeface="Arial"/>
              </a:rPr>
              <a:t> {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4272" y="3920742"/>
            <a:ext cx="2062480" cy="3013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1125" marR="937894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001F5F"/>
                </a:solidFill>
                <a:latin typeface="Arial"/>
                <a:cs typeface="Arial"/>
              </a:rPr>
              <a:t>float</a:t>
            </a:r>
            <a:r>
              <a:rPr sz="1400" b="1" spc="-2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0000"/>
                </a:solidFill>
                <a:latin typeface="Arial"/>
                <a:cs typeface="Arial"/>
              </a:rPr>
              <a:t>z,</a:t>
            </a:r>
            <a:r>
              <a:rPr sz="1400" b="1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0000"/>
                </a:solidFill>
                <a:latin typeface="Arial"/>
                <a:cs typeface="Arial"/>
              </a:rPr>
              <a:t>w;</a:t>
            </a:r>
            <a:r>
              <a:rPr sz="140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FF0000"/>
                </a:solidFill>
                <a:latin typeface="Arial"/>
                <a:cs typeface="Arial"/>
              </a:rPr>
              <a:t>... </a:t>
            </a:r>
            <a:r>
              <a:rPr sz="1400" b="1" dirty="0">
                <a:solidFill>
                  <a:srgbClr val="007F00"/>
                </a:solidFill>
                <a:latin typeface="Arial"/>
                <a:cs typeface="Arial"/>
              </a:rPr>
              <a:t>i</a:t>
            </a:r>
            <a:r>
              <a:rPr sz="1400" b="1" spc="-15" dirty="0">
                <a:solidFill>
                  <a:srgbClr val="007F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7F00"/>
                </a:solidFill>
                <a:latin typeface="Arial"/>
                <a:cs typeface="Arial"/>
              </a:rPr>
              <a:t>=</a:t>
            </a:r>
            <a:r>
              <a:rPr sz="1400" b="1" spc="-10" dirty="0">
                <a:solidFill>
                  <a:srgbClr val="007F00"/>
                </a:solidFill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007F00"/>
                </a:solidFill>
                <a:latin typeface="Arial"/>
                <a:cs typeface="Arial"/>
              </a:rPr>
              <a:t>…;</a:t>
            </a:r>
            <a:endParaRPr sz="1400">
              <a:latin typeface="Arial"/>
              <a:cs typeface="Arial"/>
            </a:endParaRPr>
          </a:p>
          <a:p>
            <a:pPr marL="111125">
              <a:lnSpc>
                <a:spcPct val="100000"/>
              </a:lnSpc>
              <a:spcBef>
                <a:spcPts val="5"/>
              </a:spcBef>
            </a:pPr>
            <a:r>
              <a:rPr sz="1400" b="1" spc="-50" dirty="0">
                <a:solidFill>
                  <a:srgbClr val="007F00"/>
                </a:solidFill>
                <a:latin typeface="Arial"/>
                <a:cs typeface="Arial"/>
              </a:rPr>
              <a:t>}</a:t>
            </a:r>
            <a:endParaRPr sz="1400">
              <a:latin typeface="Arial"/>
              <a:cs typeface="Arial"/>
            </a:endParaRPr>
          </a:p>
          <a:p>
            <a:pPr marL="111125" marR="5080" indent="-99060">
              <a:lnSpc>
                <a:spcPct val="100000"/>
              </a:lnSpc>
            </a:pPr>
            <a:r>
              <a:rPr sz="1400" b="1" dirty="0">
                <a:solidFill>
                  <a:srgbClr val="001F5F"/>
                </a:solidFill>
                <a:latin typeface="Arial"/>
                <a:cs typeface="Arial"/>
              </a:rPr>
              <a:t>void</a:t>
            </a:r>
            <a:r>
              <a:rPr sz="1400" b="1" spc="-1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007F00"/>
                </a:solidFill>
                <a:latin typeface="Arial"/>
                <a:cs typeface="Arial"/>
              </a:rPr>
              <a:t>methodeB</a:t>
            </a:r>
            <a:r>
              <a:rPr sz="1400" b="1" spc="-10" dirty="0">
                <a:solidFill>
                  <a:srgbClr val="FF0000"/>
                </a:solidFill>
                <a:latin typeface="Arial"/>
                <a:cs typeface="Arial"/>
              </a:rPr>
              <a:t>(</a:t>
            </a:r>
            <a:r>
              <a:rPr sz="1400" b="1" spc="-10" dirty="0">
                <a:solidFill>
                  <a:srgbClr val="001F5F"/>
                </a:solidFill>
                <a:latin typeface="Arial"/>
                <a:cs typeface="Arial"/>
              </a:rPr>
              <a:t>float</a:t>
            </a:r>
            <a:r>
              <a:rPr sz="1400" b="1" spc="-4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0000"/>
                </a:solidFill>
                <a:latin typeface="Arial"/>
                <a:cs typeface="Arial"/>
              </a:rPr>
              <a:t>y)</a:t>
            </a:r>
            <a:r>
              <a:rPr sz="1400" b="1" spc="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b="1" spc="-50" dirty="0">
                <a:solidFill>
                  <a:srgbClr val="007F00"/>
                </a:solidFill>
                <a:latin typeface="Arial"/>
                <a:cs typeface="Arial"/>
              </a:rPr>
              <a:t>{ </a:t>
            </a:r>
            <a:r>
              <a:rPr sz="1400" b="1" dirty="0">
                <a:solidFill>
                  <a:srgbClr val="001F5F"/>
                </a:solidFill>
                <a:latin typeface="Arial"/>
                <a:cs typeface="Arial"/>
              </a:rPr>
              <a:t>int</a:t>
            </a:r>
            <a:r>
              <a:rPr sz="1400" b="1" spc="-2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FF0000"/>
                </a:solidFill>
                <a:latin typeface="Arial"/>
                <a:cs typeface="Arial"/>
              </a:rPr>
              <a:t>z;</a:t>
            </a:r>
            <a:endParaRPr sz="1400">
              <a:latin typeface="Arial"/>
              <a:cs typeface="Arial"/>
            </a:endParaRPr>
          </a:p>
          <a:p>
            <a:pPr marL="111125" marR="1362075">
              <a:lnSpc>
                <a:spcPct val="100000"/>
              </a:lnSpc>
            </a:pPr>
            <a:r>
              <a:rPr sz="1400" b="1" dirty="0">
                <a:solidFill>
                  <a:srgbClr val="001F5F"/>
                </a:solidFill>
                <a:latin typeface="Arial"/>
                <a:cs typeface="Arial"/>
              </a:rPr>
              <a:t>float</a:t>
            </a:r>
            <a:r>
              <a:rPr sz="1400" b="1" spc="-3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FF0000"/>
                </a:solidFill>
                <a:latin typeface="Arial"/>
                <a:cs typeface="Arial"/>
              </a:rPr>
              <a:t>x; </a:t>
            </a:r>
            <a:r>
              <a:rPr sz="1400" b="1" dirty="0">
                <a:solidFill>
                  <a:srgbClr val="6F2FA0"/>
                </a:solidFill>
                <a:latin typeface="Arial"/>
                <a:cs typeface="Arial"/>
              </a:rPr>
              <a:t>do</a:t>
            </a:r>
            <a:r>
              <a:rPr sz="1400" b="1" spc="-25" dirty="0">
                <a:solidFill>
                  <a:srgbClr val="6F2FA0"/>
                </a:solidFill>
                <a:latin typeface="Arial"/>
                <a:cs typeface="Arial"/>
              </a:rPr>
              <a:t> </a:t>
            </a:r>
            <a:r>
              <a:rPr sz="1400" b="1" spc="-50" dirty="0">
                <a:solidFill>
                  <a:srgbClr val="6F2FA0"/>
                </a:solidFill>
                <a:latin typeface="Arial"/>
                <a:cs typeface="Arial"/>
              </a:rPr>
              <a:t>{</a:t>
            </a:r>
            <a:endParaRPr sz="1400">
              <a:latin typeface="Arial"/>
              <a:cs typeface="Arial"/>
            </a:endParaRPr>
          </a:p>
          <a:p>
            <a:pPr marL="111125">
              <a:lnSpc>
                <a:spcPct val="100000"/>
              </a:lnSpc>
            </a:pPr>
            <a:r>
              <a:rPr sz="1400" b="1" spc="-25" dirty="0">
                <a:solidFill>
                  <a:srgbClr val="7E7E7E"/>
                </a:solidFill>
                <a:latin typeface="Arial"/>
                <a:cs typeface="Arial"/>
              </a:rPr>
              <a:t>...</a:t>
            </a:r>
            <a:endParaRPr sz="1400">
              <a:latin typeface="Arial"/>
              <a:cs typeface="Arial"/>
            </a:endParaRPr>
          </a:p>
          <a:p>
            <a:pPr marL="111760" marR="1319530">
              <a:lnSpc>
                <a:spcPct val="100000"/>
              </a:lnSpc>
            </a:pPr>
            <a:r>
              <a:rPr sz="1400" b="1" dirty="0">
                <a:solidFill>
                  <a:srgbClr val="001F5F"/>
                </a:solidFill>
                <a:latin typeface="Arial"/>
                <a:cs typeface="Arial"/>
              </a:rPr>
              <a:t>float</a:t>
            </a:r>
            <a:r>
              <a:rPr sz="1400" b="1" spc="-3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FF0000"/>
                </a:solidFill>
                <a:latin typeface="Arial"/>
                <a:cs typeface="Arial"/>
              </a:rPr>
              <a:t>w; </a:t>
            </a:r>
            <a:r>
              <a:rPr sz="1400" b="1" spc="-20" dirty="0">
                <a:solidFill>
                  <a:srgbClr val="FF0000"/>
                </a:solidFill>
                <a:latin typeface="Arial"/>
                <a:cs typeface="Arial"/>
              </a:rPr>
              <a:t>z++;</a:t>
            </a:r>
            <a:endParaRPr sz="1400">
              <a:latin typeface="Arial"/>
              <a:cs typeface="Arial"/>
            </a:endParaRPr>
          </a:p>
          <a:p>
            <a:pPr marL="111125" marR="813435">
              <a:lnSpc>
                <a:spcPct val="100000"/>
              </a:lnSpc>
            </a:pPr>
            <a:r>
              <a:rPr sz="1400" b="1" dirty="0">
                <a:solidFill>
                  <a:srgbClr val="6F2FA0"/>
                </a:solidFill>
                <a:latin typeface="Arial"/>
                <a:cs typeface="Arial"/>
              </a:rPr>
              <a:t>} while</a:t>
            </a:r>
            <a:r>
              <a:rPr sz="1400" b="1" spc="-45" dirty="0">
                <a:solidFill>
                  <a:srgbClr val="6F2FA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6F2FA0"/>
                </a:solidFill>
                <a:latin typeface="Arial"/>
                <a:cs typeface="Arial"/>
              </a:rPr>
              <a:t>(z</a:t>
            </a:r>
            <a:r>
              <a:rPr sz="1400" b="1" spc="-15" dirty="0">
                <a:solidFill>
                  <a:srgbClr val="6F2FA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6F2FA0"/>
                </a:solidFill>
                <a:latin typeface="Arial"/>
                <a:cs typeface="Arial"/>
              </a:rPr>
              <a:t>&lt;</a:t>
            </a:r>
            <a:r>
              <a:rPr sz="1400" b="1" spc="-10" dirty="0">
                <a:solidFill>
                  <a:srgbClr val="6F2FA0"/>
                </a:solidFill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6F2FA0"/>
                </a:solidFill>
                <a:latin typeface="Arial"/>
                <a:cs typeface="Arial"/>
              </a:rPr>
              <a:t>i); </a:t>
            </a:r>
            <a:r>
              <a:rPr sz="1400" b="1" dirty="0">
                <a:solidFill>
                  <a:srgbClr val="FF0000"/>
                </a:solidFill>
                <a:latin typeface="Arial"/>
                <a:cs typeface="Arial"/>
              </a:rPr>
              <a:t>x</a:t>
            </a:r>
            <a:r>
              <a:rPr sz="14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0000"/>
                </a:solidFill>
                <a:latin typeface="Arial"/>
                <a:cs typeface="Arial"/>
              </a:rPr>
              <a:t>=</a:t>
            </a:r>
            <a:r>
              <a:rPr sz="14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0000"/>
                </a:solidFill>
                <a:latin typeface="Arial"/>
                <a:cs typeface="Arial"/>
              </a:rPr>
              <a:t>z </a:t>
            </a:r>
            <a:r>
              <a:rPr sz="1400" b="1" spc="-25" dirty="0">
                <a:solidFill>
                  <a:srgbClr val="FF0000"/>
                </a:solidFill>
                <a:latin typeface="Arial"/>
                <a:cs typeface="Arial"/>
              </a:rPr>
              <a:t>+…;</a:t>
            </a:r>
            <a:endParaRPr sz="1400">
              <a:latin typeface="Arial"/>
              <a:cs typeface="Arial"/>
            </a:endParaRPr>
          </a:p>
          <a:p>
            <a:pPr marL="111125">
              <a:lnSpc>
                <a:spcPct val="100000"/>
              </a:lnSpc>
            </a:pPr>
            <a:r>
              <a:rPr sz="1400" b="1" spc="-50" dirty="0">
                <a:solidFill>
                  <a:srgbClr val="007F00"/>
                </a:solidFill>
                <a:latin typeface="Arial"/>
                <a:cs typeface="Arial"/>
              </a:rPr>
              <a:t>}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b="1" spc="-25" dirty="0">
                <a:solidFill>
                  <a:srgbClr val="FF0000"/>
                </a:solidFill>
                <a:latin typeface="Arial"/>
                <a:cs typeface="Arial"/>
              </a:rPr>
              <a:t>};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845942" y="3773423"/>
            <a:ext cx="3022600" cy="467995"/>
            <a:chOff x="5845942" y="3773423"/>
            <a:chExt cx="3022600" cy="467995"/>
          </a:xfrm>
        </p:grpSpPr>
        <p:sp>
          <p:nvSpPr>
            <p:cNvPr id="7" name="object 7"/>
            <p:cNvSpPr/>
            <p:nvPr/>
          </p:nvSpPr>
          <p:spPr>
            <a:xfrm>
              <a:off x="5845942" y="3773424"/>
              <a:ext cx="3022600" cy="467995"/>
            </a:xfrm>
            <a:custGeom>
              <a:avLst/>
              <a:gdLst/>
              <a:ahLst/>
              <a:cxnLst/>
              <a:rect l="l" t="t" r="r" b="b"/>
              <a:pathLst>
                <a:path w="3022600" h="467995">
                  <a:moveTo>
                    <a:pt x="3022091" y="4571"/>
                  </a:moveTo>
                  <a:lnTo>
                    <a:pt x="3022091" y="3047"/>
                  </a:lnTo>
                  <a:lnTo>
                    <a:pt x="3019043" y="0"/>
                  </a:lnTo>
                  <a:lnTo>
                    <a:pt x="1523" y="0"/>
                  </a:lnTo>
                  <a:lnTo>
                    <a:pt x="0" y="3047"/>
                  </a:lnTo>
                  <a:lnTo>
                    <a:pt x="0" y="464819"/>
                  </a:lnTo>
                  <a:lnTo>
                    <a:pt x="1523" y="467867"/>
                  </a:lnTo>
                  <a:lnTo>
                    <a:pt x="4571" y="467867"/>
                  </a:lnTo>
                  <a:lnTo>
                    <a:pt x="4571" y="4571"/>
                  </a:lnTo>
                  <a:lnTo>
                    <a:pt x="3022091" y="4571"/>
                  </a:lnTo>
                  <a:close/>
                </a:path>
                <a:path w="3022600" h="467995">
                  <a:moveTo>
                    <a:pt x="3022091" y="464819"/>
                  </a:moveTo>
                  <a:lnTo>
                    <a:pt x="3022091" y="461771"/>
                  </a:lnTo>
                  <a:lnTo>
                    <a:pt x="4571" y="461771"/>
                  </a:lnTo>
                  <a:lnTo>
                    <a:pt x="4571" y="467867"/>
                  </a:lnTo>
                  <a:lnTo>
                    <a:pt x="3019043" y="467867"/>
                  </a:lnTo>
                  <a:lnTo>
                    <a:pt x="3022091" y="464819"/>
                  </a:lnTo>
                  <a:close/>
                </a:path>
                <a:path w="3022600" h="467995">
                  <a:moveTo>
                    <a:pt x="3022091" y="461771"/>
                  </a:moveTo>
                  <a:lnTo>
                    <a:pt x="3022091" y="4571"/>
                  </a:lnTo>
                  <a:lnTo>
                    <a:pt x="3015995" y="4571"/>
                  </a:lnTo>
                  <a:lnTo>
                    <a:pt x="3015995" y="461771"/>
                  </a:lnTo>
                  <a:lnTo>
                    <a:pt x="3022091" y="461771"/>
                  </a:lnTo>
                  <a:close/>
                </a:path>
              </a:pathLst>
            </a:custGeom>
            <a:solidFill>
              <a:srgbClr val="93B5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850514" y="3777995"/>
              <a:ext cx="3011805" cy="457200"/>
            </a:xfrm>
            <a:custGeom>
              <a:avLst/>
              <a:gdLst/>
              <a:ahLst/>
              <a:cxnLst/>
              <a:rect l="l" t="t" r="r" b="b"/>
              <a:pathLst>
                <a:path w="3011804" h="457200">
                  <a:moveTo>
                    <a:pt x="3011423" y="457199"/>
                  </a:moveTo>
                  <a:lnTo>
                    <a:pt x="3011423" y="0"/>
                  </a:lnTo>
                  <a:lnTo>
                    <a:pt x="0" y="0"/>
                  </a:lnTo>
                  <a:lnTo>
                    <a:pt x="0" y="457199"/>
                  </a:lnTo>
                  <a:lnTo>
                    <a:pt x="3011423" y="457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845942" y="3773423"/>
              <a:ext cx="3022600" cy="467995"/>
            </a:xfrm>
            <a:custGeom>
              <a:avLst/>
              <a:gdLst/>
              <a:ahLst/>
              <a:cxnLst/>
              <a:rect l="l" t="t" r="r" b="b"/>
              <a:pathLst>
                <a:path w="3022600" h="467995">
                  <a:moveTo>
                    <a:pt x="3022092" y="464820"/>
                  </a:moveTo>
                  <a:lnTo>
                    <a:pt x="3022092" y="3048"/>
                  </a:lnTo>
                  <a:lnTo>
                    <a:pt x="3019044" y="0"/>
                  </a:lnTo>
                  <a:lnTo>
                    <a:pt x="1524" y="0"/>
                  </a:lnTo>
                  <a:lnTo>
                    <a:pt x="0" y="3048"/>
                  </a:lnTo>
                  <a:lnTo>
                    <a:pt x="0" y="464820"/>
                  </a:lnTo>
                  <a:lnTo>
                    <a:pt x="1524" y="467868"/>
                  </a:lnTo>
                  <a:lnTo>
                    <a:pt x="4572" y="467868"/>
                  </a:lnTo>
                  <a:lnTo>
                    <a:pt x="4572" y="10668"/>
                  </a:lnTo>
                  <a:lnTo>
                    <a:pt x="9144" y="4572"/>
                  </a:lnTo>
                  <a:lnTo>
                    <a:pt x="9144" y="10668"/>
                  </a:lnTo>
                  <a:lnTo>
                    <a:pt x="3011424" y="10668"/>
                  </a:lnTo>
                  <a:lnTo>
                    <a:pt x="3011424" y="4572"/>
                  </a:lnTo>
                  <a:lnTo>
                    <a:pt x="3015996" y="10668"/>
                  </a:lnTo>
                  <a:lnTo>
                    <a:pt x="3015996" y="467868"/>
                  </a:lnTo>
                  <a:lnTo>
                    <a:pt x="3019044" y="467868"/>
                  </a:lnTo>
                  <a:lnTo>
                    <a:pt x="3022092" y="464820"/>
                  </a:lnTo>
                  <a:close/>
                </a:path>
                <a:path w="3022600" h="467995">
                  <a:moveTo>
                    <a:pt x="9144" y="10668"/>
                  </a:moveTo>
                  <a:lnTo>
                    <a:pt x="9144" y="4572"/>
                  </a:lnTo>
                  <a:lnTo>
                    <a:pt x="4572" y="10668"/>
                  </a:lnTo>
                  <a:lnTo>
                    <a:pt x="9144" y="10668"/>
                  </a:lnTo>
                  <a:close/>
                </a:path>
                <a:path w="3022600" h="467995">
                  <a:moveTo>
                    <a:pt x="9144" y="457200"/>
                  </a:moveTo>
                  <a:lnTo>
                    <a:pt x="9144" y="10668"/>
                  </a:lnTo>
                  <a:lnTo>
                    <a:pt x="4572" y="10668"/>
                  </a:lnTo>
                  <a:lnTo>
                    <a:pt x="4572" y="457200"/>
                  </a:lnTo>
                  <a:lnTo>
                    <a:pt x="9144" y="457200"/>
                  </a:lnTo>
                  <a:close/>
                </a:path>
                <a:path w="3022600" h="467995">
                  <a:moveTo>
                    <a:pt x="3015996" y="457200"/>
                  </a:moveTo>
                  <a:lnTo>
                    <a:pt x="4572" y="457200"/>
                  </a:lnTo>
                  <a:lnTo>
                    <a:pt x="9144" y="461772"/>
                  </a:lnTo>
                  <a:lnTo>
                    <a:pt x="9144" y="467868"/>
                  </a:lnTo>
                  <a:lnTo>
                    <a:pt x="3011424" y="467868"/>
                  </a:lnTo>
                  <a:lnTo>
                    <a:pt x="3011424" y="461772"/>
                  </a:lnTo>
                  <a:lnTo>
                    <a:pt x="3015996" y="457200"/>
                  </a:lnTo>
                  <a:close/>
                </a:path>
                <a:path w="3022600" h="467995">
                  <a:moveTo>
                    <a:pt x="9144" y="467868"/>
                  </a:moveTo>
                  <a:lnTo>
                    <a:pt x="9144" y="461772"/>
                  </a:lnTo>
                  <a:lnTo>
                    <a:pt x="4572" y="457200"/>
                  </a:lnTo>
                  <a:lnTo>
                    <a:pt x="4572" y="467868"/>
                  </a:lnTo>
                  <a:lnTo>
                    <a:pt x="9144" y="467868"/>
                  </a:lnTo>
                  <a:close/>
                </a:path>
                <a:path w="3022600" h="467995">
                  <a:moveTo>
                    <a:pt x="3015996" y="10668"/>
                  </a:moveTo>
                  <a:lnTo>
                    <a:pt x="3011424" y="4572"/>
                  </a:lnTo>
                  <a:lnTo>
                    <a:pt x="3011424" y="10668"/>
                  </a:lnTo>
                  <a:lnTo>
                    <a:pt x="3015996" y="10668"/>
                  </a:lnTo>
                  <a:close/>
                </a:path>
                <a:path w="3022600" h="467995">
                  <a:moveTo>
                    <a:pt x="3015996" y="457200"/>
                  </a:moveTo>
                  <a:lnTo>
                    <a:pt x="3015996" y="10668"/>
                  </a:lnTo>
                  <a:lnTo>
                    <a:pt x="3011424" y="10668"/>
                  </a:lnTo>
                  <a:lnTo>
                    <a:pt x="3011424" y="457200"/>
                  </a:lnTo>
                  <a:lnTo>
                    <a:pt x="3015996" y="457200"/>
                  </a:lnTo>
                  <a:close/>
                </a:path>
                <a:path w="3022600" h="467995">
                  <a:moveTo>
                    <a:pt x="3015996" y="467868"/>
                  </a:moveTo>
                  <a:lnTo>
                    <a:pt x="3015996" y="457200"/>
                  </a:lnTo>
                  <a:lnTo>
                    <a:pt x="3011424" y="461772"/>
                  </a:lnTo>
                  <a:lnTo>
                    <a:pt x="3011424" y="467868"/>
                  </a:lnTo>
                  <a:lnTo>
                    <a:pt x="3015996" y="467868"/>
                  </a:lnTo>
                  <a:close/>
                </a:path>
              </a:pathLst>
            </a:custGeom>
            <a:solidFill>
              <a:srgbClr val="93B5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087755" y="3849114"/>
            <a:ext cx="25342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54380" algn="l"/>
                <a:tab pos="1720850" algn="l"/>
              </a:tabLst>
            </a:pPr>
            <a:r>
              <a:rPr sz="1800" b="1" dirty="0">
                <a:latin typeface="Times New Roman"/>
                <a:cs typeface="Times New Roman"/>
              </a:rPr>
              <a:t>x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: </a:t>
            </a:r>
            <a:r>
              <a:rPr sz="1800" b="1" spc="-25" dirty="0">
                <a:latin typeface="Times New Roman"/>
                <a:cs typeface="Times New Roman"/>
              </a:rPr>
              <a:t>int</a:t>
            </a:r>
            <a:r>
              <a:rPr sz="1800" b="1" dirty="0">
                <a:latin typeface="Times New Roman"/>
                <a:cs typeface="Times New Roman"/>
              </a:rPr>
              <a:t>	z :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Times New Roman"/>
                <a:cs typeface="Times New Roman"/>
              </a:rPr>
              <a:t>float</a:t>
            </a:r>
            <a:r>
              <a:rPr sz="1800" b="1" dirty="0">
                <a:latin typeface="Times New Roman"/>
                <a:cs typeface="Times New Roman"/>
              </a:rPr>
              <a:t>	w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: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float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845942" y="4709160"/>
            <a:ext cx="3022600" cy="467995"/>
            <a:chOff x="5845942" y="4709160"/>
            <a:chExt cx="3022600" cy="467995"/>
          </a:xfrm>
        </p:grpSpPr>
        <p:sp>
          <p:nvSpPr>
            <p:cNvPr id="12" name="object 12"/>
            <p:cNvSpPr/>
            <p:nvPr/>
          </p:nvSpPr>
          <p:spPr>
            <a:xfrm>
              <a:off x="5845942" y="4709160"/>
              <a:ext cx="3022600" cy="467995"/>
            </a:xfrm>
            <a:custGeom>
              <a:avLst/>
              <a:gdLst/>
              <a:ahLst/>
              <a:cxnLst/>
              <a:rect l="l" t="t" r="r" b="b"/>
              <a:pathLst>
                <a:path w="3022600" h="467995">
                  <a:moveTo>
                    <a:pt x="3022091" y="6095"/>
                  </a:moveTo>
                  <a:lnTo>
                    <a:pt x="3022091" y="3047"/>
                  </a:lnTo>
                  <a:lnTo>
                    <a:pt x="3019043" y="0"/>
                  </a:lnTo>
                  <a:lnTo>
                    <a:pt x="1523" y="0"/>
                  </a:lnTo>
                  <a:lnTo>
                    <a:pt x="0" y="3047"/>
                  </a:lnTo>
                  <a:lnTo>
                    <a:pt x="0" y="466343"/>
                  </a:lnTo>
                  <a:lnTo>
                    <a:pt x="1523" y="467867"/>
                  </a:lnTo>
                  <a:lnTo>
                    <a:pt x="4571" y="467867"/>
                  </a:lnTo>
                  <a:lnTo>
                    <a:pt x="4571" y="6095"/>
                  </a:lnTo>
                  <a:lnTo>
                    <a:pt x="3022091" y="6095"/>
                  </a:lnTo>
                  <a:close/>
                </a:path>
                <a:path w="3022600" h="467995">
                  <a:moveTo>
                    <a:pt x="3022091" y="466343"/>
                  </a:moveTo>
                  <a:lnTo>
                    <a:pt x="3022091" y="463295"/>
                  </a:lnTo>
                  <a:lnTo>
                    <a:pt x="4571" y="463295"/>
                  </a:lnTo>
                  <a:lnTo>
                    <a:pt x="4571" y="467867"/>
                  </a:lnTo>
                  <a:lnTo>
                    <a:pt x="3019043" y="467867"/>
                  </a:lnTo>
                  <a:lnTo>
                    <a:pt x="3022091" y="466343"/>
                  </a:lnTo>
                  <a:close/>
                </a:path>
                <a:path w="3022600" h="467995">
                  <a:moveTo>
                    <a:pt x="3022091" y="463295"/>
                  </a:moveTo>
                  <a:lnTo>
                    <a:pt x="3022091" y="6095"/>
                  </a:lnTo>
                  <a:lnTo>
                    <a:pt x="3015995" y="6095"/>
                  </a:lnTo>
                  <a:lnTo>
                    <a:pt x="3015995" y="463295"/>
                  </a:lnTo>
                  <a:lnTo>
                    <a:pt x="3022091" y="463295"/>
                  </a:lnTo>
                  <a:close/>
                </a:path>
              </a:pathLst>
            </a:custGeom>
            <a:solidFill>
              <a:srgbClr val="93B5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850514" y="4715255"/>
              <a:ext cx="3011805" cy="457200"/>
            </a:xfrm>
            <a:custGeom>
              <a:avLst/>
              <a:gdLst/>
              <a:ahLst/>
              <a:cxnLst/>
              <a:rect l="l" t="t" r="r" b="b"/>
              <a:pathLst>
                <a:path w="3011804" h="457200">
                  <a:moveTo>
                    <a:pt x="3011423" y="457199"/>
                  </a:moveTo>
                  <a:lnTo>
                    <a:pt x="3011423" y="0"/>
                  </a:lnTo>
                  <a:lnTo>
                    <a:pt x="0" y="0"/>
                  </a:lnTo>
                  <a:lnTo>
                    <a:pt x="0" y="457199"/>
                  </a:lnTo>
                  <a:lnTo>
                    <a:pt x="3011423" y="457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845942" y="4709160"/>
              <a:ext cx="3022600" cy="467995"/>
            </a:xfrm>
            <a:custGeom>
              <a:avLst/>
              <a:gdLst/>
              <a:ahLst/>
              <a:cxnLst/>
              <a:rect l="l" t="t" r="r" b="b"/>
              <a:pathLst>
                <a:path w="3022600" h="467995">
                  <a:moveTo>
                    <a:pt x="3022092" y="466344"/>
                  </a:moveTo>
                  <a:lnTo>
                    <a:pt x="3022092" y="3048"/>
                  </a:lnTo>
                  <a:lnTo>
                    <a:pt x="3019044" y="0"/>
                  </a:lnTo>
                  <a:lnTo>
                    <a:pt x="1524" y="0"/>
                  </a:lnTo>
                  <a:lnTo>
                    <a:pt x="0" y="3048"/>
                  </a:lnTo>
                  <a:lnTo>
                    <a:pt x="0" y="466344"/>
                  </a:lnTo>
                  <a:lnTo>
                    <a:pt x="1524" y="467868"/>
                  </a:lnTo>
                  <a:lnTo>
                    <a:pt x="4572" y="467868"/>
                  </a:lnTo>
                  <a:lnTo>
                    <a:pt x="4572" y="10668"/>
                  </a:lnTo>
                  <a:lnTo>
                    <a:pt x="9144" y="6096"/>
                  </a:lnTo>
                  <a:lnTo>
                    <a:pt x="9144" y="10668"/>
                  </a:lnTo>
                  <a:lnTo>
                    <a:pt x="3011424" y="10668"/>
                  </a:lnTo>
                  <a:lnTo>
                    <a:pt x="3011424" y="6096"/>
                  </a:lnTo>
                  <a:lnTo>
                    <a:pt x="3015996" y="10668"/>
                  </a:lnTo>
                  <a:lnTo>
                    <a:pt x="3015996" y="467868"/>
                  </a:lnTo>
                  <a:lnTo>
                    <a:pt x="3019044" y="467868"/>
                  </a:lnTo>
                  <a:lnTo>
                    <a:pt x="3022092" y="466344"/>
                  </a:lnTo>
                  <a:close/>
                </a:path>
                <a:path w="3022600" h="467995">
                  <a:moveTo>
                    <a:pt x="9144" y="10668"/>
                  </a:moveTo>
                  <a:lnTo>
                    <a:pt x="9144" y="6096"/>
                  </a:lnTo>
                  <a:lnTo>
                    <a:pt x="4572" y="10668"/>
                  </a:lnTo>
                  <a:lnTo>
                    <a:pt x="9144" y="10668"/>
                  </a:lnTo>
                  <a:close/>
                </a:path>
                <a:path w="3022600" h="467995">
                  <a:moveTo>
                    <a:pt x="9144" y="457200"/>
                  </a:moveTo>
                  <a:lnTo>
                    <a:pt x="9144" y="10668"/>
                  </a:lnTo>
                  <a:lnTo>
                    <a:pt x="4572" y="10668"/>
                  </a:lnTo>
                  <a:lnTo>
                    <a:pt x="4572" y="457200"/>
                  </a:lnTo>
                  <a:lnTo>
                    <a:pt x="9144" y="457200"/>
                  </a:lnTo>
                  <a:close/>
                </a:path>
                <a:path w="3022600" h="467995">
                  <a:moveTo>
                    <a:pt x="3015996" y="457200"/>
                  </a:moveTo>
                  <a:lnTo>
                    <a:pt x="4572" y="457200"/>
                  </a:lnTo>
                  <a:lnTo>
                    <a:pt x="9144" y="463296"/>
                  </a:lnTo>
                  <a:lnTo>
                    <a:pt x="9144" y="467868"/>
                  </a:lnTo>
                  <a:lnTo>
                    <a:pt x="3011424" y="467868"/>
                  </a:lnTo>
                  <a:lnTo>
                    <a:pt x="3011424" y="463296"/>
                  </a:lnTo>
                  <a:lnTo>
                    <a:pt x="3015996" y="457200"/>
                  </a:lnTo>
                  <a:close/>
                </a:path>
                <a:path w="3022600" h="467995">
                  <a:moveTo>
                    <a:pt x="9144" y="467868"/>
                  </a:moveTo>
                  <a:lnTo>
                    <a:pt x="9144" y="463296"/>
                  </a:lnTo>
                  <a:lnTo>
                    <a:pt x="4572" y="457200"/>
                  </a:lnTo>
                  <a:lnTo>
                    <a:pt x="4572" y="467868"/>
                  </a:lnTo>
                  <a:lnTo>
                    <a:pt x="9144" y="467868"/>
                  </a:lnTo>
                  <a:close/>
                </a:path>
                <a:path w="3022600" h="467995">
                  <a:moveTo>
                    <a:pt x="3015996" y="10668"/>
                  </a:moveTo>
                  <a:lnTo>
                    <a:pt x="3011424" y="6096"/>
                  </a:lnTo>
                  <a:lnTo>
                    <a:pt x="3011424" y="10668"/>
                  </a:lnTo>
                  <a:lnTo>
                    <a:pt x="3015996" y="10668"/>
                  </a:lnTo>
                  <a:close/>
                </a:path>
                <a:path w="3022600" h="467995">
                  <a:moveTo>
                    <a:pt x="3015996" y="457200"/>
                  </a:moveTo>
                  <a:lnTo>
                    <a:pt x="3015996" y="10668"/>
                  </a:lnTo>
                  <a:lnTo>
                    <a:pt x="3011424" y="10668"/>
                  </a:lnTo>
                  <a:lnTo>
                    <a:pt x="3011424" y="457200"/>
                  </a:lnTo>
                  <a:lnTo>
                    <a:pt x="3015996" y="457200"/>
                  </a:lnTo>
                  <a:close/>
                </a:path>
                <a:path w="3022600" h="467995">
                  <a:moveTo>
                    <a:pt x="3015996" y="467868"/>
                  </a:moveTo>
                  <a:lnTo>
                    <a:pt x="3015996" y="457200"/>
                  </a:lnTo>
                  <a:lnTo>
                    <a:pt x="3011424" y="463296"/>
                  </a:lnTo>
                  <a:lnTo>
                    <a:pt x="3011424" y="467868"/>
                  </a:lnTo>
                  <a:lnTo>
                    <a:pt x="3015996" y="467868"/>
                  </a:lnTo>
                  <a:close/>
                </a:path>
              </a:pathLst>
            </a:custGeom>
            <a:solidFill>
              <a:srgbClr val="93B5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142619" y="4784850"/>
            <a:ext cx="2425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32815" algn="l"/>
                <a:tab pos="1853564" algn="l"/>
              </a:tabLst>
            </a:pPr>
            <a:r>
              <a:rPr sz="1800" b="1" dirty="0">
                <a:latin typeface="Times New Roman"/>
                <a:cs typeface="Times New Roman"/>
              </a:rPr>
              <a:t>x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: </a:t>
            </a:r>
            <a:r>
              <a:rPr sz="1800" b="1" spc="-10" dirty="0">
                <a:latin typeface="Times New Roman"/>
                <a:cs typeface="Times New Roman"/>
              </a:rPr>
              <a:t>float</a:t>
            </a:r>
            <a:r>
              <a:rPr sz="1800" b="1" dirty="0">
                <a:latin typeface="Times New Roman"/>
                <a:cs typeface="Times New Roman"/>
              </a:rPr>
              <a:t>	y :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float</a:t>
            </a:r>
            <a:r>
              <a:rPr sz="1800" b="1" dirty="0">
                <a:latin typeface="Times New Roman"/>
                <a:cs typeface="Times New Roman"/>
              </a:rPr>
              <a:t>	z :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Times New Roman"/>
                <a:cs typeface="Times New Roman"/>
              </a:rPr>
              <a:t>int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845942" y="5573268"/>
            <a:ext cx="3850004" cy="467995"/>
            <a:chOff x="5845942" y="5573268"/>
            <a:chExt cx="3850004" cy="467995"/>
          </a:xfrm>
        </p:grpSpPr>
        <p:sp>
          <p:nvSpPr>
            <p:cNvPr id="17" name="object 17"/>
            <p:cNvSpPr/>
            <p:nvPr/>
          </p:nvSpPr>
          <p:spPr>
            <a:xfrm>
              <a:off x="5845942" y="5573268"/>
              <a:ext cx="3850004" cy="467995"/>
            </a:xfrm>
            <a:custGeom>
              <a:avLst/>
              <a:gdLst/>
              <a:ahLst/>
              <a:cxnLst/>
              <a:rect l="l" t="t" r="r" b="b"/>
              <a:pathLst>
                <a:path w="3850004" h="467995">
                  <a:moveTo>
                    <a:pt x="3849623" y="6095"/>
                  </a:moveTo>
                  <a:lnTo>
                    <a:pt x="3849623" y="3047"/>
                  </a:lnTo>
                  <a:lnTo>
                    <a:pt x="3846575" y="0"/>
                  </a:lnTo>
                  <a:lnTo>
                    <a:pt x="1523" y="0"/>
                  </a:lnTo>
                  <a:lnTo>
                    <a:pt x="0" y="3047"/>
                  </a:lnTo>
                  <a:lnTo>
                    <a:pt x="0" y="466343"/>
                  </a:lnTo>
                  <a:lnTo>
                    <a:pt x="1523" y="467867"/>
                  </a:lnTo>
                  <a:lnTo>
                    <a:pt x="4571" y="467867"/>
                  </a:lnTo>
                  <a:lnTo>
                    <a:pt x="4571" y="6095"/>
                  </a:lnTo>
                  <a:lnTo>
                    <a:pt x="3849623" y="6095"/>
                  </a:lnTo>
                  <a:close/>
                </a:path>
                <a:path w="3850004" h="467995">
                  <a:moveTo>
                    <a:pt x="3849623" y="466343"/>
                  </a:moveTo>
                  <a:lnTo>
                    <a:pt x="3849623" y="463295"/>
                  </a:lnTo>
                  <a:lnTo>
                    <a:pt x="4571" y="463295"/>
                  </a:lnTo>
                  <a:lnTo>
                    <a:pt x="4571" y="467867"/>
                  </a:lnTo>
                  <a:lnTo>
                    <a:pt x="3846575" y="467867"/>
                  </a:lnTo>
                  <a:lnTo>
                    <a:pt x="3849623" y="466343"/>
                  </a:lnTo>
                  <a:close/>
                </a:path>
                <a:path w="3850004" h="467995">
                  <a:moveTo>
                    <a:pt x="3849623" y="463295"/>
                  </a:moveTo>
                  <a:lnTo>
                    <a:pt x="3849623" y="6095"/>
                  </a:lnTo>
                  <a:lnTo>
                    <a:pt x="3843527" y="6095"/>
                  </a:lnTo>
                  <a:lnTo>
                    <a:pt x="3843527" y="463295"/>
                  </a:lnTo>
                  <a:lnTo>
                    <a:pt x="3849623" y="463295"/>
                  </a:lnTo>
                  <a:close/>
                </a:path>
              </a:pathLst>
            </a:custGeom>
            <a:solidFill>
              <a:srgbClr val="93B5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850514" y="5579364"/>
              <a:ext cx="3839210" cy="457200"/>
            </a:xfrm>
            <a:custGeom>
              <a:avLst/>
              <a:gdLst/>
              <a:ahLst/>
              <a:cxnLst/>
              <a:rect l="l" t="t" r="r" b="b"/>
              <a:pathLst>
                <a:path w="3839209" h="457200">
                  <a:moveTo>
                    <a:pt x="3838955" y="457199"/>
                  </a:moveTo>
                  <a:lnTo>
                    <a:pt x="3838955" y="0"/>
                  </a:lnTo>
                  <a:lnTo>
                    <a:pt x="0" y="0"/>
                  </a:lnTo>
                  <a:lnTo>
                    <a:pt x="0" y="457199"/>
                  </a:lnTo>
                  <a:lnTo>
                    <a:pt x="3838955" y="457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845942" y="5573268"/>
              <a:ext cx="3850004" cy="467995"/>
            </a:xfrm>
            <a:custGeom>
              <a:avLst/>
              <a:gdLst/>
              <a:ahLst/>
              <a:cxnLst/>
              <a:rect l="l" t="t" r="r" b="b"/>
              <a:pathLst>
                <a:path w="3850004" h="467995">
                  <a:moveTo>
                    <a:pt x="3849624" y="466344"/>
                  </a:moveTo>
                  <a:lnTo>
                    <a:pt x="3849624" y="3048"/>
                  </a:lnTo>
                  <a:lnTo>
                    <a:pt x="3846576" y="0"/>
                  </a:lnTo>
                  <a:lnTo>
                    <a:pt x="1524" y="0"/>
                  </a:lnTo>
                  <a:lnTo>
                    <a:pt x="0" y="3048"/>
                  </a:lnTo>
                  <a:lnTo>
                    <a:pt x="0" y="466344"/>
                  </a:lnTo>
                  <a:lnTo>
                    <a:pt x="1524" y="467868"/>
                  </a:lnTo>
                  <a:lnTo>
                    <a:pt x="4572" y="467868"/>
                  </a:lnTo>
                  <a:lnTo>
                    <a:pt x="4572" y="10668"/>
                  </a:lnTo>
                  <a:lnTo>
                    <a:pt x="9144" y="6096"/>
                  </a:lnTo>
                  <a:lnTo>
                    <a:pt x="9144" y="10668"/>
                  </a:lnTo>
                  <a:lnTo>
                    <a:pt x="3838956" y="10668"/>
                  </a:lnTo>
                  <a:lnTo>
                    <a:pt x="3838956" y="6096"/>
                  </a:lnTo>
                  <a:lnTo>
                    <a:pt x="3843528" y="10668"/>
                  </a:lnTo>
                  <a:lnTo>
                    <a:pt x="3843528" y="467868"/>
                  </a:lnTo>
                  <a:lnTo>
                    <a:pt x="3846576" y="467868"/>
                  </a:lnTo>
                  <a:lnTo>
                    <a:pt x="3849624" y="466344"/>
                  </a:lnTo>
                  <a:close/>
                </a:path>
                <a:path w="3850004" h="467995">
                  <a:moveTo>
                    <a:pt x="9144" y="10668"/>
                  </a:moveTo>
                  <a:lnTo>
                    <a:pt x="9144" y="6096"/>
                  </a:lnTo>
                  <a:lnTo>
                    <a:pt x="4572" y="10668"/>
                  </a:lnTo>
                  <a:lnTo>
                    <a:pt x="9144" y="10668"/>
                  </a:lnTo>
                  <a:close/>
                </a:path>
                <a:path w="3850004" h="467995">
                  <a:moveTo>
                    <a:pt x="9144" y="457200"/>
                  </a:moveTo>
                  <a:lnTo>
                    <a:pt x="9144" y="10668"/>
                  </a:lnTo>
                  <a:lnTo>
                    <a:pt x="4572" y="10668"/>
                  </a:lnTo>
                  <a:lnTo>
                    <a:pt x="4572" y="457200"/>
                  </a:lnTo>
                  <a:lnTo>
                    <a:pt x="9144" y="457200"/>
                  </a:lnTo>
                  <a:close/>
                </a:path>
                <a:path w="3850004" h="467995">
                  <a:moveTo>
                    <a:pt x="3843528" y="457200"/>
                  </a:moveTo>
                  <a:lnTo>
                    <a:pt x="4572" y="457200"/>
                  </a:lnTo>
                  <a:lnTo>
                    <a:pt x="9144" y="463296"/>
                  </a:lnTo>
                  <a:lnTo>
                    <a:pt x="9144" y="467868"/>
                  </a:lnTo>
                  <a:lnTo>
                    <a:pt x="3838956" y="467868"/>
                  </a:lnTo>
                  <a:lnTo>
                    <a:pt x="3838956" y="463296"/>
                  </a:lnTo>
                  <a:lnTo>
                    <a:pt x="3843528" y="457200"/>
                  </a:lnTo>
                  <a:close/>
                </a:path>
                <a:path w="3850004" h="467995">
                  <a:moveTo>
                    <a:pt x="9144" y="467868"/>
                  </a:moveTo>
                  <a:lnTo>
                    <a:pt x="9144" y="463296"/>
                  </a:lnTo>
                  <a:lnTo>
                    <a:pt x="4572" y="457200"/>
                  </a:lnTo>
                  <a:lnTo>
                    <a:pt x="4572" y="467868"/>
                  </a:lnTo>
                  <a:lnTo>
                    <a:pt x="9144" y="467868"/>
                  </a:lnTo>
                  <a:close/>
                </a:path>
                <a:path w="3850004" h="467995">
                  <a:moveTo>
                    <a:pt x="3843528" y="10668"/>
                  </a:moveTo>
                  <a:lnTo>
                    <a:pt x="3838956" y="6096"/>
                  </a:lnTo>
                  <a:lnTo>
                    <a:pt x="3838956" y="10668"/>
                  </a:lnTo>
                  <a:lnTo>
                    <a:pt x="3843528" y="10668"/>
                  </a:lnTo>
                  <a:close/>
                </a:path>
                <a:path w="3850004" h="467995">
                  <a:moveTo>
                    <a:pt x="3843528" y="457200"/>
                  </a:moveTo>
                  <a:lnTo>
                    <a:pt x="3843528" y="10668"/>
                  </a:lnTo>
                  <a:lnTo>
                    <a:pt x="3838956" y="10668"/>
                  </a:lnTo>
                  <a:lnTo>
                    <a:pt x="3838956" y="457200"/>
                  </a:lnTo>
                  <a:lnTo>
                    <a:pt x="3843528" y="457200"/>
                  </a:lnTo>
                  <a:close/>
                </a:path>
                <a:path w="3850004" h="467995">
                  <a:moveTo>
                    <a:pt x="3843528" y="467868"/>
                  </a:moveTo>
                  <a:lnTo>
                    <a:pt x="3843528" y="457200"/>
                  </a:lnTo>
                  <a:lnTo>
                    <a:pt x="3838956" y="463296"/>
                  </a:lnTo>
                  <a:lnTo>
                    <a:pt x="3838956" y="467868"/>
                  </a:lnTo>
                  <a:lnTo>
                    <a:pt x="3843528" y="467868"/>
                  </a:lnTo>
                  <a:close/>
                </a:path>
              </a:pathLst>
            </a:custGeom>
            <a:solidFill>
              <a:srgbClr val="93B5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099947" y="5648957"/>
            <a:ext cx="775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x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: </a:t>
            </a:r>
            <a:r>
              <a:rPr sz="1800" b="1" spc="-10" dirty="0">
                <a:latin typeface="Times New Roman"/>
                <a:cs typeface="Times New Roman"/>
              </a:rPr>
              <a:t>float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020408" y="5648957"/>
            <a:ext cx="775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y :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float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940870" y="5648957"/>
            <a:ext cx="584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z :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Times New Roman"/>
                <a:cs typeface="Times New Roman"/>
              </a:rPr>
              <a:t>int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672354" y="5648957"/>
            <a:ext cx="7677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w: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float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26</a:t>
            </a:r>
            <a:endParaRPr sz="12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1021976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26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1404" rIns="0" bIns="0" rtlCol="0">
            <a:spAutoFit/>
          </a:bodyPr>
          <a:lstStyle/>
          <a:p>
            <a:pPr marL="381000">
              <a:lnSpc>
                <a:spcPct val="100000"/>
              </a:lnSpc>
              <a:spcBef>
                <a:spcPts val="100"/>
              </a:spcBef>
            </a:pPr>
            <a:r>
              <a:rPr spc="-204" dirty="0"/>
              <a:t>Définition</a:t>
            </a:r>
            <a:r>
              <a:rPr b="0" spc="50" dirty="0">
                <a:latin typeface="Times New Roman"/>
                <a:cs typeface="Times New Roman"/>
              </a:rPr>
              <a:t> </a:t>
            </a:r>
            <a:r>
              <a:rPr spc="-265" dirty="0"/>
              <a:t>externe</a:t>
            </a:r>
            <a:r>
              <a:rPr b="0" spc="45" dirty="0">
                <a:latin typeface="Times New Roman"/>
                <a:cs typeface="Times New Roman"/>
              </a:rPr>
              <a:t> </a:t>
            </a:r>
            <a:r>
              <a:rPr spc="-360" dirty="0"/>
              <a:t>des</a:t>
            </a:r>
            <a:r>
              <a:rPr b="0" spc="55" dirty="0">
                <a:latin typeface="Times New Roman"/>
                <a:cs typeface="Times New Roman"/>
              </a:rPr>
              <a:t> </a:t>
            </a:r>
            <a:r>
              <a:rPr spc="-340" dirty="0"/>
              <a:t>méthodes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5900" y="1855723"/>
            <a:ext cx="8587105" cy="5033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740" marR="113030" indent="-320040">
              <a:lnSpc>
                <a:spcPct val="100000"/>
              </a:lnSpc>
              <a:spcBef>
                <a:spcPts val="100"/>
              </a:spcBef>
              <a:buClr>
                <a:srgbClr val="006FC0"/>
              </a:buClr>
              <a:buSzPct val="58333"/>
              <a:buFont typeface="Wingdings"/>
              <a:buChar char=""/>
              <a:tabLst>
                <a:tab pos="332740" algn="l"/>
              </a:tabLst>
            </a:pPr>
            <a:r>
              <a:rPr sz="2400" dirty="0">
                <a:latin typeface="Times New Roman"/>
                <a:cs typeface="Times New Roman"/>
              </a:rPr>
              <a:t>Il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possible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d’écrire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définitions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méthodes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à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l’extérieur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de </a:t>
            </a: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déclaration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classe.</a:t>
            </a:r>
            <a:endParaRPr sz="2400">
              <a:latin typeface="Times New Roman"/>
              <a:cs typeface="Times New Roman"/>
            </a:endParaRPr>
          </a:p>
          <a:p>
            <a:pPr marL="675005" lvl="1" indent="-342265">
              <a:lnSpc>
                <a:spcPct val="100000"/>
              </a:lnSpc>
              <a:spcBef>
                <a:spcPts val="700"/>
              </a:spcBef>
              <a:buClr>
                <a:srgbClr val="006FC0"/>
              </a:buClr>
              <a:buSzPct val="58695"/>
              <a:buFont typeface="Wingdings"/>
              <a:buChar char=""/>
              <a:tabLst>
                <a:tab pos="675005" algn="l"/>
              </a:tabLst>
            </a:pPr>
            <a:r>
              <a:rPr sz="2300" b="1" dirty="0">
                <a:latin typeface="Times New Roman"/>
                <a:cs typeface="Times New Roman"/>
              </a:rPr>
              <a:t>Meilleure</a:t>
            </a:r>
            <a:r>
              <a:rPr sz="2300" b="1" spc="-45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lisibilité</a:t>
            </a:r>
            <a:r>
              <a:rPr sz="2300" b="1" spc="-55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du</a:t>
            </a:r>
            <a:r>
              <a:rPr sz="2300" b="1" spc="-75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code</a:t>
            </a:r>
            <a:r>
              <a:rPr sz="2300" dirty="0">
                <a:latin typeface="Times New Roman"/>
                <a:cs typeface="Times New Roman"/>
              </a:rPr>
              <a:t>,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b="1" spc="-10" dirty="0">
                <a:latin typeface="Times New Roman"/>
                <a:cs typeface="Times New Roman"/>
              </a:rPr>
              <a:t>modularisation</a:t>
            </a:r>
            <a:endParaRPr sz="2300">
              <a:latin typeface="Times New Roman"/>
              <a:cs typeface="Times New Roman"/>
            </a:endParaRPr>
          </a:p>
          <a:p>
            <a:pPr marL="332740" marR="5080" indent="-320040">
              <a:lnSpc>
                <a:spcPct val="100000"/>
              </a:lnSpc>
              <a:spcBef>
                <a:spcPts val="700"/>
              </a:spcBef>
              <a:buClr>
                <a:srgbClr val="006FC0"/>
              </a:buClr>
              <a:buSzPct val="58333"/>
              <a:buFont typeface="Wingdings"/>
              <a:buChar char=""/>
              <a:tabLst>
                <a:tab pos="332740" algn="l"/>
              </a:tabLst>
            </a:pPr>
            <a:r>
              <a:rPr sz="2400" dirty="0">
                <a:latin typeface="Times New Roman"/>
                <a:cs typeface="Times New Roman"/>
              </a:rPr>
              <a:t>Pour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relier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définition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d’une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méthode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à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classe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pour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laquelle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elle </a:t>
            </a:r>
            <a:r>
              <a:rPr sz="2400" dirty="0">
                <a:latin typeface="Times New Roman"/>
                <a:cs typeface="Times New Roman"/>
              </a:rPr>
              <a:t>est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définie,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il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suffit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d’utiliser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l’opérateur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::</a:t>
            </a:r>
            <a:r>
              <a:rPr sz="24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résolution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portée</a:t>
            </a:r>
            <a:r>
              <a:rPr sz="2400" spc="-50" dirty="0">
                <a:latin typeface="Times New Roman"/>
                <a:cs typeface="Times New Roman"/>
              </a:rPr>
              <a:t> :</a:t>
            </a:r>
            <a:endParaRPr sz="2400">
              <a:latin typeface="Times New Roman"/>
              <a:cs typeface="Times New Roman"/>
            </a:endParaRPr>
          </a:p>
          <a:p>
            <a:pPr marL="634365" lvl="1" indent="-301625">
              <a:lnSpc>
                <a:spcPct val="100000"/>
              </a:lnSpc>
              <a:spcBef>
                <a:spcPts val="700"/>
              </a:spcBef>
              <a:buClr>
                <a:srgbClr val="006FC0"/>
              </a:buClr>
              <a:buSzPct val="58695"/>
              <a:buFont typeface="Wingdings"/>
              <a:buChar char=""/>
              <a:tabLst>
                <a:tab pos="634365" algn="l"/>
              </a:tabLst>
            </a:pPr>
            <a:r>
              <a:rPr sz="2300" dirty="0">
                <a:latin typeface="Times New Roman"/>
                <a:cs typeface="Times New Roman"/>
              </a:rPr>
              <a:t>La</a:t>
            </a:r>
            <a:r>
              <a:rPr sz="2300" spc="-45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déclaration</a:t>
            </a:r>
            <a:r>
              <a:rPr sz="2300" b="1" spc="-45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de</a:t>
            </a:r>
            <a:r>
              <a:rPr sz="2300" b="1" spc="-50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la</a:t>
            </a:r>
            <a:r>
              <a:rPr sz="2300" b="1" spc="-35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classe</a:t>
            </a:r>
            <a:r>
              <a:rPr sz="2300" b="1" spc="-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contient</a:t>
            </a:r>
            <a:r>
              <a:rPr sz="2300" spc="-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les</a:t>
            </a:r>
            <a:r>
              <a:rPr sz="2300" spc="-35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prototypes</a:t>
            </a:r>
            <a:r>
              <a:rPr sz="2300" b="1" spc="-65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des</a:t>
            </a:r>
            <a:r>
              <a:rPr sz="2300" b="1" spc="-40" dirty="0">
                <a:latin typeface="Times New Roman"/>
                <a:cs typeface="Times New Roman"/>
              </a:rPr>
              <a:t> </a:t>
            </a:r>
            <a:r>
              <a:rPr sz="2300" b="1" spc="-10" dirty="0">
                <a:latin typeface="Times New Roman"/>
                <a:cs typeface="Times New Roman"/>
              </a:rPr>
              <a:t>méthodes</a:t>
            </a:r>
            <a:endParaRPr sz="2300">
              <a:latin typeface="Times New Roman"/>
              <a:cs typeface="Times New Roman"/>
            </a:endParaRPr>
          </a:p>
          <a:p>
            <a:pPr marL="624840" marR="685800" lvl="1" indent="-292735">
              <a:lnSpc>
                <a:spcPts val="3470"/>
              </a:lnSpc>
              <a:spcBef>
                <a:spcPts val="220"/>
              </a:spcBef>
              <a:buFont typeface="Wingdings"/>
              <a:buChar char=""/>
              <a:tabLst>
                <a:tab pos="624840" algn="l"/>
                <a:tab pos="634365" algn="l"/>
              </a:tabLst>
            </a:pPr>
            <a:r>
              <a:rPr sz="1350" dirty="0">
                <a:solidFill>
                  <a:srgbClr val="006FC0"/>
                </a:solidFill>
                <a:latin typeface="Times New Roman"/>
                <a:cs typeface="Times New Roman"/>
              </a:rPr>
              <a:t>	</a:t>
            </a:r>
            <a:r>
              <a:rPr sz="2300" dirty="0">
                <a:latin typeface="Times New Roman"/>
                <a:cs typeface="Times New Roman"/>
              </a:rPr>
              <a:t>Les</a:t>
            </a:r>
            <a:r>
              <a:rPr sz="2300" spc="-45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définitions</a:t>
            </a:r>
            <a:r>
              <a:rPr sz="2300" b="1" spc="-8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correspondantes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spécifiées</a:t>
            </a:r>
            <a:r>
              <a:rPr sz="2300" spc="-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à</a:t>
            </a:r>
            <a:r>
              <a:rPr sz="2300" spc="-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l’</a:t>
            </a:r>
            <a:r>
              <a:rPr sz="2300" b="1" dirty="0">
                <a:latin typeface="Times New Roman"/>
                <a:cs typeface="Times New Roman"/>
              </a:rPr>
              <a:t>extérieur</a:t>
            </a:r>
            <a:r>
              <a:rPr sz="2300" b="1" spc="-95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de</a:t>
            </a:r>
            <a:r>
              <a:rPr sz="2300" b="1" spc="-60" dirty="0">
                <a:latin typeface="Times New Roman"/>
                <a:cs typeface="Times New Roman"/>
              </a:rPr>
              <a:t> </a:t>
            </a:r>
            <a:r>
              <a:rPr sz="2300" b="1" spc="-25" dirty="0">
                <a:latin typeface="Times New Roman"/>
                <a:cs typeface="Times New Roman"/>
              </a:rPr>
              <a:t>la </a:t>
            </a:r>
            <a:r>
              <a:rPr sz="2300" b="1" dirty="0">
                <a:latin typeface="Times New Roman"/>
                <a:cs typeface="Times New Roman"/>
              </a:rPr>
              <a:t>déclaration</a:t>
            </a:r>
            <a:r>
              <a:rPr sz="2300" b="1" spc="-35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de</a:t>
            </a:r>
            <a:r>
              <a:rPr sz="2300" b="1" spc="-40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la</a:t>
            </a:r>
            <a:r>
              <a:rPr sz="2300" b="1" spc="-25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classe</a:t>
            </a:r>
            <a:r>
              <a:rPr sz="2300" b="1" spc="-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se</a:t>
            </a:r>
            <a:r>
              <a:rPr sz="2300" spc="-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font</a:t>
            </a:r>
            <a:r>
              <a:rPr sz="2300" spc="-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sous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la</a:t>
            </a:r>
            <a:r>
              <a:rPr sz="2300" spc="-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forme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spc="-50" dirty="0">
                <a:latin typeface="Times New Roman"/>
                <a:cs typeface="Times New Roman"/>
              </a:rPr>
              <a:t>:</a:t>
            </a: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22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typeDeRetour</a:t>
            </a:r>
            <a:r>
              <a:rPr sz="2200" b="1" spc="-4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0091FE"/>
                </a:solidFill>
                <a:latin typeface="Times New Roman"/>
                <a:cs typeface="Times New Roman"/>
              </a:rPr>
              <a:t>NomDeLaClasse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::</a:t>
            </a:r>
            <a:r>
              <a:rPr sz="2200" b="1" spc="-10" dirty="0">
                <a:latin typeface="Times New Roman"/>
                <a:cs typeface="Times New Roman"/>
              </a:rPr>
              <a:t>nomMethode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200" b="1" spc="-10" dirty="0">
                <a:solidFill>
                  <a:srgbClr val="FF32CC"/>
                </a:solidFill>
                <a:latin typeface="Times New Roman"/>
                <a:cs typeface="Times New Roman"/>
              </a:rPr>
              <a:t>&lt;liste_des_paramètres&gt;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22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endParaRPr sz="2200">
              <a:latin typeface="Times New Roman"/>
              <a:cs typeface="Times New Roman"/>
            </a:endParaRPr>
          </a:p>
          <a:p>
            <a:pPr marL="152400">
              <a:lnSpc>
                <a:spcPct val="100000"/>
              </a:lnSpc>
              <a:spcBef>
                <a:spcPts val="710"/>
              </a:spcBef>
            </a:pPr>
            <a:r>
              <a:rPr sz="2200" b="1" dirty="0">
                <a:solidFill>
                  <a:srgbClr val="00B04F"/>
                </a:solidFill>
                <a:latin typeface="Times New Roman"/>
                <a:cs typeface="Times New Roman"/>
              </a:rPr>
              <a:t>&lt;corps</a:t>
            </a:r>
            <a:r>
              <a:rPr sz="2200" b="1" spc="-4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2200" b="1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B04F"/>
                </a:solidFill>
                <a:latin typeface="Times New Roman"/>
                <a:cs typeface="Times New Roman"/>
              </a:rPr>
              <a:t>la</a:t>
            </a:r>
            <a:r>
              <a:rPr sz="2200" b="1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00B04F"/>
                </a:solidFill>
                <a:latin typeface="Times New Roman"/>
                <a:cs typeface="Times New Roman"/>
              </a:rPr>
              <a:t>méthode&gt;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22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27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21976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27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4912" rIns="0" bIns="0" rtlCol="0">
            <a:spAutoFit/>
          </a:bodyPr>
          <a:lstStyle/>
          <a:p>
            <a:pPr marL="381000">
              <a:lnSpc>
                <a:spcPct val="100000"/>
              </a:lnSpc>
              <a:spcBef>
                <a:spcPts val="100"/>
              </a:spcBef>
            </a:pPr>
            <a:r>
              <a:rPr spc="-204" dirty="0"/>
              <a:t>Définition</a:t>
            </a:r>
            <a:r>
              <a:rPr b="0" spc="50" dirty="0">
                <a:latin typeface="Times New Roman"/>
                <a:cs typeface="Times New Roman"/>
              </a:rPr>
              <a:t> </a:t>
            </a:r>
            <a:r>
              <a:rPr spc="-265" dirty="0"/>
              <a:t>externe</a:t>
            </a:r>
            <a:r>
              <a:rPr b="0" spc="45" dirty="0">
                <a:latin typeface="Times New Roman"/>
                <a:cs typeface="Times New Roman"/>
              </a:rPr>
              <a:t> </a:t>
            </a:r>
            <a:r>
              <a:rPr spc="-360" dirty="0"/>
              <a:t>des</a:t>
            </a:r>
            <a:r>
              <a:rPr b="0" spc="55" dirty="0">
                <a:latin typeface="Times New Roman"/>
                <a:cs typeface="Times New Roman"/>
              </a:rPr>
              <a:t> </a:t>
            </a:r>
            <a:r>
              <a:rPr spc="-340" dirty="0"/>
              <a:t>méthodes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28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69220" y="1748676"/>
            <a:ext cx="7824470" cy="511619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335280">
              <a:lnSpc>
                <a:spcPct val="100000"/>
              </a:lnSpc>
              <a:spcBef>
                <a:spcPts val="590"/>
              </a:spcBef>
            </a:pP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Exemple</a:t>
            </a:r>
            <a:r>
              <a:rPr sz="28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1:</a:t>
            </a:r>
            <a:endParaRPr sz="2800">
              <a:latin typeface="Times New Roman"/>
              <a:cs typeface="Times New Roman"/>
            </a:endParaRPr>
          </a:p>
          <a:p>
            <a:pPr marL="317500" marR="5080" indent="-304800">
              <a:lnSpc>
                <a:spcPct val="114599"/>
              </a:lnSpc>
              <a:spcBef>
                <a:spcPts val="5"/>
              </a:spcBef>
              <a:buFont typeface="Wingdings"/>
              <a:buChar char=""/>
              <a:tabLst>
                <a:tab pos="317500" algn="l"/>
                <a:tab pos="332105" algn="l"/>
              </a:tabLst>
            </a:pPr>
            <a:r>
              <a:rPr sz="1400" dirty="0">
                <a:solidFill>
                  <a:srgbClr val="006FC0"/>
                </a:solidFill>
                <a:latin typeface="Times New Roman"/>
                <a:cs typeface="Times New Roman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méthode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surface()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classe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91FE"/>
                </a:solidFill>
                <a:latin typeface="Times New Roman"/>
                <a:cs typeface="Times New Roman"/>
              </a:rPr>
              <a:t>Rectangle</a:t>
            </a:r>
            <a:r>
              <a:rPr sz="2400" spc="-55" dirty="0">
                <a:solidFill>
                  <a:srgbClr val="0091FE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définie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externe</a:t>
            </a:r>
            <a:r>
              <a:rPr sz="2400" spc="-50" dirty="0">
                <a:latin typeface="Times New Roman"/>
                <a:cs typeface="Times New Roman"/>
              </a:rPr>
              <a:t> : </a:t>
            </a:r>
            <a:r>
              <a:rPr sz="2400" dirty="0">
                <a:solidFill>
                  <a:srgbClr val="001F5F"/>
                </a:solidFill>
                <a:latin typeface="Times New Roman"/>
                <a:cs typeface="Times New Roman"/>
              </a:rPr>
              <a:t>class</a:t>
            </a:r>
            <a:r>
              <a:rPr sz="2400" spc="-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B0F0"/>
                </a:solidFill>
                <a:latin typeface="Times New Roman"/>
                <a:cs typeface="Times New Roman"/>
              </a:rPr>
              <a:t>Rectangle</a:t>
            </a:r>
            <a:r>
              <a:rPr sz="2400" spc="-55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400" spc="-50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317500" marR="5593080">
              <a:lnSpc>
                <a:spcPct val="114199"/>
              </a:lnSpc>
            </a:pPr>
            <a:r>
              <a:rPr sz="240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400" spc="-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hauteur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240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400" spc="-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largeur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  <a:p>
            <a:pPr marL="317500">
              <a:lnSpc>
                <a:spcPct val="100000"/>
              </a:lnSpc>
              <a:spcBef>
                <a:spcPts val="415"/>
              </a:spcBef>
            </a:pPr>
            <a:r>
              <a:rPr sz="240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400" spc="-3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surface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();</a:t>
            </a:r>
            <a:r>
              <a:rPr sz="24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400" spc="-3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00B04F"/>
                </a:solidFill>
                <a:latin typeface="Times New Roman"/>
                <a:cs typeface="Times New Roman"/>
              </a:rPr>
              <a:t>prototype</a:t>
            </a:r>
            <a:endParaRPr sz="2400">
              <a:latin typeface="Times New Roman"/>
              <a:cs typeface="Times New Roman"/>
            </a:endParaRPr>
          </a:p>
          <a:p>
            <a:pPr marL="317500">
              <a:lnSpc>
                <a:spcPct val="100000"/>
              </a:lnSpc>
              <a:spcBef>
                <a:spcPts val="409"/>
              </a:spcBef>
            </a:pPr>
            <a:r>
              <a:rPr sz="2400" spc="-20" dirty="0">
                <a:solidFill>
                  <a:srgbClr val="00B04F"/>
                </a:solidFill>
                <a:latin typeface="Times New Roman"/>
                <a:cs typeface="Times New Roman"/>
              </a:rPr>
              <a:t>//...</a:t>
            </a:r>
            <a:endParaRPr sz="2400">
              <a:latin typeface="Times New Roman"/>
              <a:cs typeface="Times New Roman"/>
            </a:endParaRPr>
          </a:p>
          <a:p>
            <a:pPr marL="317500">
              <a:lnSpc>
                <a:spcPct val="100000"/>
              </a:lnSpc>
              <a:spcBef>
                <a:spcPts val="409"/>
              </a:spcBef>
            </a:pP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};</a:t>
            </a:r>
            <a:endParaRPr sz="2400">
              <a:latin typeface="Times New Roman"/>
              <a:cs typeface="Times New Roman"/>
            </a:endParaRPr>
          </a:p>
          <a:p>
            <a:pPr marL="317500" marR="3941445">
              <a:lnSpc>
                <a:spcPct val="114199"/>
              </a:lnSpc>
              <a:spcBef>
                <a:spcPts val="10"/>
              </a:spcBef>
            </a:pPr>
            <a:r>
              <a:rPr sz="2400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400" spc="-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B04F"/>
                </a:solidFill>
                <a:latin typeface="Times New Roman"/>
                <a:cs typeface="Times New Roman"/>
              </a:rPr>
              <a:t>définition</a:t>
            </a:r>
            <a:r>
              <a:rPr sz="2400" spc="-4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2400" spc="-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B04F"/>
                </a:solidFill>
                <a:latin typeface="Times New Roman"/>
                <a:cs typeface="Times New Roman"/>
              </a:rPr>
              <a:t>la</a:t>
            </a:r>
            <a:r>
              <a:rPr sz="2400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00B04F"/>
                </a:solidFill>
                <a:latin typeface="Times New Roman"/>
                <a:cs typeface="Times New Roman"/>
              </a:rPr>
              <a:t>méthode </a:t>
            </a:r>
            <a:r>
              <a:rPr sz="240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400" spc="-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0091FE"/>
                </a:solidFill>
                <a:latin typeface="Times New Roman"/>
                <a:cs typeface="Times New Roman"/>
              </a:rPr>
              <a:t>Rectangle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::</a:t>
            </a:r>
            <a:r>
              <a:rPr sz="2400" spc="-10" dirty="0">
                <a:latin typeface="Times New Roman"/>
                <a:cs typeface="Times New Roman"/>
              </a:rPr>
              <a:t>surface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(){</a:t>
            </a:r>
            <a:endParaRPr sz="24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405"/>
              </a:spcBef>
            </a:pPr>
            <a:r>
              <a:rPr sz="2400" dirty="0">
                <a:solidFill>
                  <a:srgbClr val="001F5F"/>
                </a:solidFill>
                <a:latin typeface="Times New Roman"/>
                <a:cs typeface="Times New Roman"/>
              </a:rPr>
              <a:t>return</a:t>
            </a:r>
            <a:r>
              <a:rPr sz="2400" spc="-4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hauteur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*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largeur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  <a:p>
            <a:pPr marL="393700">
              <a:lnSpc>
                <a:spcPct val="100000"/>
              </a:lnSpc>
              <a:spcBef>
                <a:spcPts val="420"/>
              </a:spcBef>
            </a:pPr>
            <a:r>
              <a:rPr sz="2400" spc="-5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21976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28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1404" rIns="0" bIns="0" rtlCol="0">
            <a:spAutoFit/>
          </a:bodyPr>
          <a:lstStyle/>
          <a:p>
            <a:pPr marL="381000">
              <a:lnSpc>
                <a:spcPct val="100000"/>
              </a:lnSpc>
              <a:spcBef>
                <a:spcPts val="100"/>
              </a:spcBef>
            </a:pPr>
            <a:r>
              <a:rPr spc="-310" dirty="0"/>
              <a:t>Actions</a:t>
            </a:r>
            <a:r>
              <a:rPr b="0" spc="75" dirty="0">
                <a:latin typeface="Times New Roman"/>
                <a:cs typeface="Times New Roman"/>
              </a:rPr>
              <a:t> </a:t>
            </a:r>
            <a:r>
              <a:rPr spc="-280" dirty="0"/>
              <a:t>et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spc="-320" dirty="0"/>
              <a:t>Prédicats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29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0423" rIns="0" bIns="0" rtlCol="0">
            <a:spAutoFit/>
          </a:bodyPr>
          <a:lstStyle/>
          <a:p>
            <a:pPr marL="300990" marR="5080" indent="-320040">
              <a:lnSpc>
                <a:spcPct val="100000"/>
              </a:lnSpc>
              <a:spcBef>
                <a:spcPts val="100"/>
              </a:spcBef>
              <a:buClr>
                <a:srgbClr val="006FC0"/>
              </a:buClr>
              <a:buSzPct val="58333"/>
              <a:buFont typeface="Wingdings"/>
              <a:buChar char=""/>
              <a:tabLst>
                <a:tab pos="300990" algn="l"/>
              </a:tabLst>
            </a:pPr>
            <a:r>
              <a:rPr dirty="0"/>
              <a:t>En</a:t>
            </a:r>
            <a:r>
              <a:rPr spc="-15" dirty="0"/>
              <a:t> </a:t>
            </a:r>
            <a:r>
              <a:rPr dirty="0">
                <a:solidFill>
                  <a:srgbClr val="0091FE"/>
                </a:solidFill>
              </a:rPr>
              <a:t>C++</a:t>
            </a:r>
            <a:r>
              <a:rPr dirty="0"/>
              <a:t>,</a:t>
            </a:r>
            <a:r>
              <a:rPr spc="-25" dirty="0"/>
              <a:t> </a:t>
            </a:r>
            <a:r>
              <a:rPr dirty="0"/>
              <a:t>on</a:t>
            </a:r>
            <a:r>
              <a:rPr spc="-10" dirty="0"/>
              <a:t> </a:t>
            </a:r>
            <a:r>
              <a:rPr dirty="0"/>
              <a:t>peut</a:t>
            </a:r>
            <a:r>
              <a:rPr spc="-20" dirty="0"/>
              <a:t> </a:t>
            </a:r>
            <a:r>
              <a:rPr dirty="0"/>
              <a:t>distinguer</a:t>
            </a:r>
            <a:r>
              <a:rPr spc="-45" dirty="0"/>
              <a:t> </a:t>
            </a:r>
            <a:r>
              <a:rPr dirty="0"/>
              <a:t>les</a:t>
            </a:r>
            <a:r>
              <a:rPr spc="-20" dirty="0"/>
              <a:t> </a:t>
            </a:r>
            <a:r>
              <a:rPr dirty="0"/>
              <a:t>méthodes</a:t>
            </a:r>
            <a:r>
              <a:rPr spc="-20" dirty="0"/>
              <a:t> </a:t>
            </a:r>
            <a:r>
              <a:rPr dirty="0"/>
              <a:t>qui</a:t>
            </a:r>
            <a:r>
              <a:rPr spc="-10" dirty="0"/>
              <a:t> </a:t>
            </a:r>
            <a:r>
              <a:rPr dirty="0"/>
              <a:t>modifient</a:t>
            </a:r>
            <a:r>
              <a:rPr spc="-20" dirty="0"/>
              <a:t> </a:t>
            </a:r>
            <a:r>
              <a:rPr dirty="0"/>
              <a:t>l’état</a:t>
            </a:r>
            <a:r>
              <a:rPr spc="-55" dirty="0"/>
              <a:t> </a:t>
            </a:r>
            <a:r>
              <a:rPr dirty="0"/>
              <a:t>de</a:t>
            </a:r>
            <a:r>
              <a:rPr spc="-10" dirty="0"/>
              <a:t> l’objet </a:t>
            </a:r>
            <a:r>
              <a:rPr dirty="0"/>
              <a:t>(«</a:t>
            </a:r>
            <a:r>
              <a:rPr spc="-15" dirty="0"/>
              <a:t> </a:t>
            </a:r>
            <a:r>
              <a:rPr dirty="0">
                <a:solidFill>
                  <a:srgbClr val="FF0065"/>
                </a:solidFill>
              </a:rPr>
              <a:t>actions</a:t>
            </a:r>
            <a:r>
              <a:rPr spc="-45" dirty="0">
                <a:solidFill>
                  <a:srgbClr val="FF0065"/>
                </a:solidFill>
              </a:rPr>
              <a:t> </a:t>
            </a:r>
            <a:r>
              <a:rPr dirty="0"/>
              <a:t>»)</a:t>
            </a:r>
            <a:r>
              <a:rPr spc="-10" dirty="0"/>
              <a:t> </a:t>
            </a:r>
            <a:r>
              <a:rPr dirty="0"/>
              <a:t>de</a:t>
            </a:r>
            <a:r>
              <a:rPr spc="-10" dirty="0"/>
              <a:t> </a:t>
            </a:r>
            <a:r>
              <a:rPr dirty="0"/>
              <a:t>celles</a:t>
            </a:r>
            <a:r>
              <a:rPr spc="-45" dirty="0"/>
              <a:t> </a:t>
            </a:r>
            <a:r>
              <a:rPr dirty="0"/>
              <a:t>qui</a:t>
            </a:r>
            <a:r>
              <a:rPr spc="-20" dirty="0"/>
              <a:t> </a:t>
            </a:r>
            <a:r>
              <a:rPr dirty="0"/>
              <a:t>ne</a:t>
            </a:r>
            <a:r>
              <a:rPr spc="-20" dirty="0"/>
              <a:t> </a:t>
            </a:r>
            <a:r>
              <a:rPr dirty="0"/>
              <a:t>changent</a:t>
            </a:r>
            <a:r>
              <a:rPr spc="-30" dirty="0"/>
              <a:t> </a:t>
            </a:r>
            <a:r>
              <a:rPr dirty="0"/>
              <a:t>rien</a:t>
            </a:r>
            <a:r>
              <a:rPr spc="-25" dirty="0"/>
              <a:t> </a:t>
            </a:r>
            <a:r>
              <a:rPr dirty="0"/>
              <a:t>à</a:t>
            </a:r>
            <a:r>
              <a:rPr spc="-20" dirty="0"/>
              <a:t> </a:t>
            </a:r>
            <a:r>
              <a:rPr dirty="0"/>
              <a:t>l’objet</a:t>
            </a:r>
            <a:r>
              <a:rPr spc="-45" dirty="0"/>
              <a:t> </a:t>
            </a:r>
            <a:r>
              <a:rPr dirty="0"/>
              <a:t>(«</a:t>
            </a:r>
            <a:r>
              <a:rPr spc="-5" dirty="0"/>
              <a:t> </a:t>
            </a:r>
            <a:r>
              <a:rPr dirty="0">
                <a:solidFill>
                  <a:srgbClr val="FF0065"/>
                </a:solidFill>
              </a:rPr>
              <a:t>prédicats</a:t>
            </a:r>
            <a:r>
              <a:rPr spc="-35" dirty="0">
                <a:solidFill>
                  <a:srgbClr val="FF0065"/>
                </a:solidFill>
              </a:rPr>
              <a:t> </a:t>
            </a:r>
            <a:r>
              <a:rPr spc="-25" dirty="0"/>
              <a:t>»).</a:t>
            </a:r>
          </a:p>
          <a:p>
            <a:pPr marL="300990" marR="87630" indent="-320040">
              <a:lnSpc>
                <a:spcPct val="100000"/>
              </a:lnSpc>
              <a:spcBef>
                <a:spcPts val="695"/>
              </a:spcBef>
              <a:buClr>
                <a:srgbClr val="006FC0"/>
              </a:buClr>
              <a:buSzPct val="58333"/>
              <a:buFont typeface="Wingdings"/>
              <a:buChar char=""/>
              <a:tabLst>
                <a:tab pos="300990" algn="l"/>
              </a:tabLst>
            </a:pPr>
            <a:r>
              <a:rPr dirty="0"/>
              <a:t>On</a:t>
            </a:r>
            <a:r>
              <a:rPr spc="-10" dirty="0"/>
              <a:t> </a:t>
            </a:r>
            <a:r>
              <a:rPr dirty="0"/>
              <a:t>peut</a:t>
            </a:r>
            <a:r>
              <a:rPr spc="-30" dirty="0"/>
              <a:t> </a:t>
            </a:r>
            <a:r>
              <a:rPr dirty="0"/>
              <a:t>pour</a:t>
            </a:r>
            <a:r>
              <a:rPr spc="-30" dirty="0"/>
              <a:t> </a:t>
            </a:r>
            <a:r>
              <a:rPr dirty="0"/>
              <a:t>cela</a:t>
            </a:r>
            <a:r>
              <a:rPr spc="-40" dirty="0"/>
              <a:t> </a:t>
            </a:r>
            <a:r>
              <a:rPr dirty="0"/>
              <a:t>ajouter</a:t>
            </a:r>
            <a:r>
              <a:rPr spc="-55" dirty="0"/>
              <a:t> </a:t>
            </a:r>
            <a:r>
              <a:rPr dirty="0"/>
              <a:t>le</a:t>
            </a:r>
            <a:r>
              <a:rPr spc="-25" dirty="0"/>
              <a:t> </a:t>
            </a:r>
            <a:r>
              <a:rPr dirty="0"/>
              <a:t>mot</a:t>
            </a:r>
            <a:r>
              <a:rPr spc="-15" dirty="0"/>
              <a:t> </a:t>
            </a:r>
            <a:r>
              <a:rPr b="1" dirty="0">
                <a:solidFill>
                  <a:srgbClr val="001F5F"/>
                </a:solidFill>
                <a:latin typeface="Times New Roman"/>
                <a:cs typeface="Times New Roman"/>
              </a:rPr>
              <a:t>const</a:t>
            </a:r>
            <a:r>
              <a:rPr b="1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/>
              <a:t>après</a:t>
            </a:r>
            <a:r>
              <a:rPr spc="-25" dirty="0"/>
              <a:t> </a:t>
            </a:r>
            <a:r>
              <a:rPr dirty="0"/>
              <a:t>la</a:t>
            </a:r>
            <a:r>
              <a:rPr spc="-30" dirty="0"/>
              <a:t> </a:t>
            </a:r>
            <a:r>
              <a:rPr dirty="0"/>
              <a:t>liste</a:t>
            </a:r>
            <a:r>
              <a:rPr spc="-50" dirty="0"/>
              <a:t> </a:t>
            </a:r>
            <a:r>
              <a:rPr dirty="0"/>
              <a:t>des</a:t>
            </a:r>
            <a:r>
              <a:rPr spc="-20" dirty="0"/>
              <a:t> </a:t>
            </a:r>
            <a:r>
              <a:rPr dirty="0"/>
              <a:t>paramètres</a:t>
            </a:r>
            <a:r>
              <a:rPr spc="-45" dirty="0"/>
              <a:t> </a:t>
            </a:r>
            <a:r>
              <a:rPr spc="-25" dirty="0"/>
              <a:t>de </a:t>
            </a:r>
            <a:r>
              <a:rPr dirty="0"/>
              <a:t>la</a:t>
            </a:r>
            <a:r>
              <a:rPr spc="-20" dirty="0"/>
              <a:t> </a:t>
            </a:r>
            <a:r>
              <a:rPr dirty="0"/>
              <a:t>méthode</a:t>
            </a:r>
            <a:r>
              <a:rPr spc="-20" dirty="0"/>
              <a:t> </a:t>
            </a:r>
            <a:r>
              <a:rPr spc="-50" dirty="0"/>
              <a:t>:</a:t>
            </a:r>
          </a:p>
          <a:p>
            <a:pPr marL="285115">
              <a:lnSpc>
                <a:spcPct val="100000"/>
              </a:lnSpc>
              <a:spcBef>
                <a:spcPts val="705"/>
              </a:spcBef>
            </a:pPr>
            <a:r>
              <a:rPr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typeDeRetour</a:t>
            </a:r>
            <a:r>
              <a:rPr b="1" spc="-4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nomDeLaMethode</a:t>
            </a:r>
            <a:r>
              <a:rPr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b="1" spc="-10" dirty="0">
                <a:solidFill>
                  <a:srgbClr val="FF32CC"/>
                </a:solidFill>
                <a:latin typeface="Times New Roman"/>
                <a:cs typeface="Times New Roman"/>
              </a:rPr>
              <a:t>liste_des_paramètres</a:t>
            </a:r>
            <a:r>
              <a:rPr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const</a:t>
            </a:r>
          </a:p>
        </p:txBody>
      </p:sp>
      <p:sp>
        <p:nvSpPr>
          <p:cNvPr id="6" name="object 6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21976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29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4912" rIns="0" bIns="0" rtlCol="0">
            <a:spAutoFit/>
          </a:bodyPr>
          <a:lstStyle/>
          <a:p>
            <a:pPr marL="381000">
              <a:lnSpc>
                <a:spcPct val="100000"/>
              </a:lnSpc>
              <a:spcBef>
                <a:spcPts val="100"/>
              </a:spcBef>
            </a:pPr>
            <a:r>
              <a:rPr spc="-310" dirty="0"/>
              <a:t>Actions</a:t>
            </a:r>
            <a:r>
              <a:rPr b="0" spc="75" dirty="0">
                <a:latin typeface="Times New Roman"/>
                <a:cs typeface="Times New Roman"/>
              </a:rPr>
              <a:t> </a:t>
            </a:r>
            <a:r>
              <a:rPr spc="-280" dirty="0"/>
              <a:t>et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spc="-320" dirty="0"/>
              <a:t>Prédicats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30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57612" y="1820303"/>
            <a:ext cx="4418965" cy="511619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590"/>
              </a:spcBef>
            </a:pPr>
            <a:r>
              <a:rPr sz="2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Exemple:</a:t>
            </a:r>
            <a:endParaRPr sz="2800">
              <a:latin typeface="Times New Roman"/>
              <a:cs typeface="Times New Roman"/>
            </a:endParaRPr>
          </a:p>
          <a:p>
            <a:pPr marL="88265" marR="2215515">
              <a:lnSpc>
                <a:spcPct val="114399"/>
              </a:lnSpc>
              <a:spcBef>
                <a:spcPts val="10"/>
              </a:spcBef>
            </a:pPr>
            <a:r>
              <a:rPr sz="2400" dirty="0">
                <a:latin typeface="Times New Roman"/>
                <a:cs typeface="Times New Roman"/>
              </a:rPr>
              <a:t>class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B0F0"/>
                </a:solidFill>
                <a:latin typeface="Times New Roman"/>
                <a:cs typeface="Times New Roman"/>
              </a:rPr>
              <a:t>Rectangle</a:t>
            </a:r>
            <a:r>
              <a:rPr sz="2400" spc="-55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400" spc="-50" dirty="0">
                <a:solidFill>
                  <a:srgbClr val="FF0000"/>
                </a:solidFill>
                <a:latin typeface="Times New Roman"/>
                <a:cs typeface="Times New Roman"/>
              </a:rPr>
              <a:t>{ </a:t>
            </a:r>
            <a:r>
              <a:rPr sz="240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400" spc="-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hauteur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240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400" spc="-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largeur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  <a:p>
            <a:pPr marL="88265">
              <a:lnSpc>
                <a:spcPct val="100000"/>
              </a:lnSpc>
              <a:spcBef>
                <a:spcPts val="405"/>
              </a:spcBef>
            </a:pPr>
            <a:r>
              <a:rPr sz="240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400" spc="-4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surface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()</a:t>
            </a:r>
            <a:r>
              <a:rPr sz="24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const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r>
              <a:rPr sz="24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400" spc="-4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00B04F"/>
                </a:solidFill>
                <a:latin typeface="Times New Roman"/>
                <a:cs typeface="Times New Roman"/>
              </a:rPr>
              <a:t>prototype</a:t>
            </a:r>
            <a:endParaRPr sz="240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  <a:spcBef>
                <a:spcPts val="420"/>
              </a:spcBef>
            </a:pPr>
            <a:r>
              <a:rPr sz="2400" spc="-20" dirty="0">
                <a:solidFill>
                  <a:srgbClr val="00B04F"/>
                </a:solidFill>
                <a:latin typeface="Times New Roman"/>
                <a:cs typeface="Times New Roman"/>
              </a:rPr>
              <a:t>//...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};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400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400" spc="-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B04F"/>
                </a:solidFill>
                <a:latin typeface="Times New Roman"/>
                <a:cs typeface="Times New Roman"/>
              </a:rPr>
              <a:t>définition</a:t>
            </a:r>
            <a:r>
              <a:rPr sz="2400" spc="-4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2400" spc="-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B04F"/>
                </a:solidFill>
                <a:latin typeface="Times New Roman"/>
                <a:cs typeface="Times New Roman"/>
              </a:rPr>
              <a:t>la</a:t>
            </a:r>
            <a:r>
              <a:rPr sz="2400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00B04F"/>
                </a:solidFill>
                <a:latin typeface="Times New Roman"/>
                <a:cs typeface="Times New Roman"/>
              </a:rPr>
              <a:t>méthode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240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400" spc="-6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91FE"/>
                </a:solidFill>
                <a:latin typeface="Times New Roman"/>
                <a:cs typeface="Times New Roman"/>
              </a:rPr>
              <a:t>Rectangle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::</a:t>
            </a:r>
            <a:r>
              <a:rPr sz="2400" dirty="0">
                <a:latin typeface="Times New Roman"/>
                <a:cs typeface="Times New Roman"/>
              </a:rPr>
              <a:t>surface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()</a:t>
            </a:r>
            <a:r>
              <a:rPr sz="2400" spc="-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const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2400" spc="-50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622300">
              <a:lnSpc>
                <a:spcPct val="100000"/>
              </a:lnSpc>
              <a:spcBef>
                <a:spcPts val="409"/>
              </a:spcBef>
            </a:pPr>
            <a:r>
              <a:rPr sz="2400" dirty="0">
                <a:solidFill>
                  <a:srgbClr val="001F5F"/>
                </a:solidFill>
                <a:latin typeface="Times New Roman"/>
                <a:cs typeface="Times New Roman"/>
              </a:rPr>
              <a:t>return</a:t>
            </a:r>
            <a:r>
              <a:rPr sz="2400" spc="-4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hauteur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*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largeur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  <a:spcBef>
                <a:spcPts val="420"/>
              </a:spcBef>
            </a:pPr>
            <a:r>
              <a:rPr sz="2400" spc="-5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21976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30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3012" rIns="0" bIns="0" rtlCol="0">
            <a:spAutoFit/>
          </a:bodyPr>
          <a:lstStyle/>
          <a:p>
            <a:pPr marL="381000">
              <a:lnSpc>
                <a:spcPct val="100000"/>
              </a:lnSpc>
              <a:spcBef>
                <a:spcPts val="100"/>
              </a:spcBef>
            </a:pPr>
            <a:r>
              <a:rPr spc="-240" dirty="0"/>
              <a:t>Déclaration</a:t>
            </a:r>
            <a:r>
              <a:rPr b="0" spc="85" dirty="0">
                <a:latin typeface="Times New Roman"/>
                <a:cs typeface="Times New Roman"/>
              </a:rPr>
              <a:t> </a:t>
            </a:r>
            <a:r>
              <a:rPr spc="-275" dirty="0"/>
              <a:t>d’objets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31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5900" y="1960879"/>
            <a:ext cx="8028305" cy="2585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006FC0"/>
              </a:buClr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Déclaration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d’un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objet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(ou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instance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d’une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classe)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fait</a:t>
            </a:r>
            <a:r>
              <a:rPr sz="2400" spc="-25" dirty="0">
                <a:latin typeface="Times New Roman"/>
                <a:cs typeface="Times New Roman"/>
              </a:rPr>
              <a:t> de </a:t>
            </a:r>
            <a:r>
              <a:rPr sz="2400" dirty="0">
                <a:latin typeface="Times New Roman"/>
                <a:cs typeface="Times New Roman"/>
              </a:rPr>
              <a:t>façon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similaire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à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déclaration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d’une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variable: </a:t>
            </a:r>
            <a:r>
              <a:rPr sz="2400" b="1" dirty="0">
                <a:solidFill>
                  <a:srgbClr val="00B0F0"/>
                </a:solidFill>
                <a:latin typeface="Times New Roman"/>
                <a:cs typeface="Times New Roman"/>
              </a:rPr>
              <a:t>NomDeLaClasse</a:t>
            </a:r>
            <a:r>
              <a:rPr sz="2400" b="1" spc="-140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6F2FA0"/>
                </a:solidFill>
                <a:latin typeface="Times New Roman"/>
                <a:cs typeface="Times New Roman"/>
              </a:rPr>
              <a:t>nom_instance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Times New Roman"/>
              <a:cs typeface="Times New Roman"/>
            </a:endParaRPr>
          </a:p>
          <a:p>
            <a:pPr marL="317500">
              <a:lnSpc>
                <a:spcPct val="100000"/>
              </a:lnSpc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Exemple</a:t>
            </a:r>
            <a:r>
              <a:rPr sz="24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1:</a:t>
            </a:r>
            <a:endParaRPr sz="2400">
              <a:latin typeface="Times New Roman"/>
              <a:cs typeface="Times New Roman"/>
            </a:endParaRPr>
          </a:p>
          <a:p>
            <a:pPr marL="317500">
              <a:lnSpc>
                <a:spcPct val="100000"/>
              </a:lnSpc>
              <a:tabLst>
                <a:tab pos="2388235" algn="l"/>
              </a:tabLst>
            </a:pPr>
            <a:r>
              <a:rPr sz="2400" b="1" dirty="0">
                <a:solidFill>
                  <a:srgbClr val="00B0F0"/>
                </a:solidFill>
                <a:latin typeface="Times New Roman"/>
                <a:cs typeface="Times New Roman"/>
              </a:rPr>
              <a:t>Rectangle</a:t>
            </a:r>
            <a:r>
              <a:rPr sz="2400" b="1" spc="-75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rect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//déclare</a:t>
            </a:r>
            <a:r>
              <a:rPr sz="2200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une</a:t>
            </a:r>
            <a:r>
              <a:rPr sz="2200" spc="-5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instance</a:t>
            </a:r>
            <a:r>
              <a:rPr sz="2200" spc="-5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rect</a:t>
            </a:r>
            <a:r>
              <a:rPr sz="2200" spc="-3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2200" spc="-5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la</a:t>
            </a:r>
            <a:r>
              <a:rPr sz="2200" spc="-5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classe</a:t>
            </a:r>
            <a:r>
              <a:rPr sz="2200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00B04F"/>
                </a:solidFill>
                <a:latin typeface="Times New Roman"/>
                <a:cs typeface="Times New Roman"/>
              </a:rPr>
              <a:t>Rectangle.</a:t>
            </a:r>
            <a:endParaRPr sz="2200">
              <a:latin typeface="Times New Roman"/>
              <a:cs typeface="Times New Roman"/>
            </a:endParaRPr>
          </a:p>
          <a:p>
            <a:pPr marL="367665">
              <a:lnSpc>
                <a:spcPct val="100000"/>
              </a:lnSpc>
              <a:tabLst>
                <a:tab pos="1543685" algn="l"/>
              </a:tabLst>
            </a:pPr>
            <a:r>
              <a:rPr sz="2400" b="1" dirty="0">
                <a:solidFill>
                  <a:srgbClr val="00B0F0"/>
                </a:solidFill>
                <a:latin typeface="Times New Roman"/>
                <a:cs typeface="Times New Roman"/>
              </a:rPr>
              <a:t>Point</a:t>
            </a:r>
            <a:r>
              <a:rPr sz="2400" b="1" spc="-30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p</a:t>
            </a:r>
            <a:r>
              <a:rPr sz="24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//déclare</a:t>
            </a:r>
            <a:r>
              <a:rPr sz="2200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une</a:t>
            </a:r>
            <a:r>
              <a:rPr sz="2200" spc="-4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instance</a:t>
            </a:r>
            <a:r>
              <a:rPr sz="2200" spc="-4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p</a:t>
            </a:r>
            <a:r>
              <a:rPr sz="2200" spc="-4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2200" spc="-4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la</a:t>
            </a:r>
            <a:r>
              <a:rPr sz="2200" spc="-4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classe</a:t>
            </a:r>
            <a:r>
              <a:rPr sz="2200" spc="-4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00B04F"/>
                </a:solidFill>
                <a:latin typeface="Times New Roman"/>
                <a:cs typeface="Times New Roman"/>
              </a:rPr>
              <a:t>Point.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21976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31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972" rIns="0" bIns="0" rtlCol="0">
            <a:spAutoFit/>
          </a:bodyPr>
          <a:lstStyle/>
          <a:p>
            <a:pPr marL="445134">
              <a:lnSpc>
                <a:spcPct val="100000"/>
              </a:lnSpc>
              <a:spcBef>
                <a:spcPts val="100"/>
              </a:spcBef>
            </a:pPr>
            <a:r>
              <a:rPr spc="-204" dirty="0"/>
              <a:t>Utilisation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360" dirty="0"/>
              <a:t>des</a:t>
            </a:r>
            <a:r>
              <a:rPr b="0" spc="55" dirty="0">
                <a:latin typeface="Times New Roman"/>
                <a:cs typeface="Times New Roman"/>
              </a:rPr>
              <a:t> </a:t>
            </a:r>
            <a:r>
              <a:rPr spc="-300" dirty="0"/>
              <a:t>objets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01457" y="1913635"/>
            <a:ext cx="7801609" cy="2343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065" marR="5080" indent="-381000">
              <a:lnSpc>
                <a:spcPct val="130400"/>
              </a:lnSpc>
              <a:spcBef>
                <a:spcPts val="100"/>
              </a:spcBef>
              <a:buFont typeface="Wingdings"/>
              <a:buChar char=""/>
              <a:tabLst>
                <a:tab pos="393065" algn="l"/>
                <a:tab pos="434340" algn="l"/>
              </a:tabLst>
            </a:pPr>
            <a:r>
              <a:rPr sz="1700" dirty="0">
                <a:solidFill>
                  <a:srgbClr val="006FC0"/>
                </a:solidFill>
                <a:latin typeface="Times New Roman"/>
                <a:cs typeface="Times New Roman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Pour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accéder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aux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membres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d'un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objet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utilise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notation </a:t>
            </a:r>
            <a:r>
              <a:rPr sz="2400" dirty="0">
                <a:latin typeface="Times New Roman"/>
                <a:cs typeface="Times New Roman"/>
              </a:rPr>
              <a:t>pointée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(</a:t>
            </a:r>
            <a:r>
              <a:rPr sz="24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.</a:t>
            </a:r>
            <a:r>
              <a:rPr sz="2400" spc="-20" dirty="0">
                <a:latin typeface="Times New Roman"/>
                <a:cs typeface="Times New Roman"/>
              </a:rPr>
              <a:t>):</a:t>
            </a:r>
            <a:endParaRPr sz="2400">
              <a:latin typeface="Times New Roman"/>
              <a:cs typeface="Times New Roman"/>
            </a:endParaRPr>
          </a:p>
          <a:p>
            <a:pPr marL="393065">
              <a:lnSpc>
                <a:spcPct val="100000"/>
              </a:lnSpc>
              <a:spcBef>
                <a:spcPts val="705"/>
              </a:spcBef>
            </a:pPr>
            <a:r>
              <a:rPr sz="2400" b="1" spc="-10" dirty="0">
                <a:solidFill>
                  <a:srgbClr val="6F2FA0"/>
                </a:solidFill>
                <a:latin typeface="Times New Roman"/>
                <a:cs typeface="Times New Roman"/>
              </a:rPr>
              <a:t>nom_instance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.</a:t>
            </a:r>
            <a:r>
              <a:rPr sz="2400" spc="-10" dirty="0">
                <a:latin typeface="Times New Roman"/>
                <a:cs typeface="Times New Roman"/>
              </a:rPr>
              <a:t>nom_du_membre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15"/>
              </a:spcBef>
            </a:pPr>
            <a:endParaRPr sz="2400">
              <a:latin typeface="Times New Roman"/>
              <a:cs typeface="Times New Roman"/>
            </a:endParaRPr>
          </a:p>
          <a:p>
            <a:pPr marL="332105" indent="-319405">
              <a:lnSpc>
                <a:spcPct val="100000"/>
              </a:lnSpc>
              <a:buClr>
                <a:srgbClr val="006FC0"/>
              </a:buClr>
              <a:buSzPct val="58333"/>
              <a:buFont typeface="Wingdings"/>
              <a:buChar char=""/>
              <a:tabLst>
                <a:tab pos="332105" algn="l"/>
              </a:tabLst>
            </a:pPr>
            <a:r>
              <a:rPr sz="2400" dirty="0">
                <a:latin typeface="Times New Roman"/>
                <a:cs typeface="Times New Roman"/>
              </a:rPr>
              <a:t>Le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membre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pouvant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être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soit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attribut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soit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méthode.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32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21976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32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3304" rIns="0" bIns="0" rtlCol="0">
            <a:spAutoFit/>
          </a:bodyPr>
          <a:lstStyle/>
          <a:p>
            <a:pPr marL="381000">
              <a:lnSpc>
                <a:spcPct val="100000"/>
              </a:lnSpc>
              <a:spcBef>
                <a:spcPts val="100"/>
              </a:spcBef>
            </a:pPr>
            <a:r>
              <a:rPr spc="-405" dirty="0"/>
              <a:t>Accès</a:t>
            </a:r>
            <a:r>
              <a:rPr b="0" spc="55" dirty="0">
                <a:latin typeface="Times New Roman"/>
                <a:cs typeface="Times New Roman"/>
              </a:rPr>
              <a:t> </a:t>
            </a:r>
            <a:r>
              <a:rPr spc="-120" dirty="0"/>
              <a:t>aux</a:t>
            </a:r>
            <a:r>
              <a:rPr b="0" spc="-95" dirty="0">
                <a:latin typeface="Times New Roman"/>
                <a:cs typeface="Times New Roman"/>
              </a:rPr>
              <a:t> </a:t>
            </a:r>
            <a:r>
              <a:rPr spc="-275" dirty="0"/>
              <a:t>attributs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33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5900" y="1960879"/>
            <a:ext cx="7894955" cy="3683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20320" indent="-342900">
              <a:lnSpc>
                <a:spcPct val="100000"/>
              </a:lnSpc>
              <a:spcBef>
                <a:spcPts val="100"/>
              </a:spcBef>
              <a:buClr>
                <a:srgbClr val="006FC0"/>
              </a:buClr>
              <a:buFont typeface="Wingdings"/>
              <a:buChar char=""/>
              <a:tabLst>
                <a:tab pos="355600" algn="l"/>
              </a:tabLst>
            </a:pPr>
            <a:r>
              <a:rPr sz="2400" spc="-25" dirty="0">
                <a:latin typeface="Times New Roman"/>
                <a:cs typeface="Times New Roman"/>
              </a:rPr>
              <a:t>L’accès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aux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valeurs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attributs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d’une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instance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nom </a:t>
            </a:r>
            <a:r>
              <a:rPr sz="2400" b="1" dirty="0">
                <a:solidFill>
                  <a:srgbClr val="6F2FA0"/>
                </a:solidFill>
                <a:latin typeface="Times New Roman"/>
                <a:cs typeface="Times New Roman"/>
              </a:rPr>
              <a:t>nom_instance</a:t>
            </a:r>
            <a:r>
              <a:rPr sz="2400" b="1" spc="-45" dirty="0">
                <a:solidFill>
                  <a:srgbClr val="6F2FA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fait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comme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pour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accéder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aux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champs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d’une </a:t>
            </a:r>
            <a:r>
              <a:rPr sz="2400" b="1" dirty="0">
                <a:solidFill>
                  <a:srgbClr val="0091FE"/>
                </a:solidFill>
                <a:latin typeface="Times New Roman"/>
                <a:cs typeface="Times New Roman"/>
              </a:rPr>
              <a:t>structure</a:t>
            </a:r>
            <a:r>
              <a:rPr sz="2400" b="1" spc="-125" dirty="0">
                <a:solidFill>
                  <a:srgbClr val="0091FE"/>
                </a:solidFill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006FC0"/>
              </a:buClr>
              <a:buFont typeface="Wingdings"/>
              <a:buChar char=""/>
            </a:pPr>
            <a:endParaRPr sz="2400">
              <a:latin typeface="Times New Roman"/>
              <a:cs typeface="Times New Roman"/>
            </a:endParaRPr>
          </a:p>
          <a:p>
            <a:pPr marL="317500">
              <a:lnSpc>
                <a:spcPct val="100000"/>
              </a:lnSpc>
            </a:pPr>
            <a:r>
              <a:rPr sz="2400" b="1" spc="-10" dirty="0">
                <a:solidFill>
                  <a:srgbClr val="6F2FA0"/>
                </a:solidFill>
                <a:latin typeface="Times New Roman"/>
                <a:cs typeface="Times New Roman"/>
              </a:rPr>
              <a:t>nom_instance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.</a:t>
            </a:r>
            <a:r>
              <a:rPr sz="2400" spc="-10" dirty="0">
                <a:latin typeface="Times New Roman"/>
                <a:cs typeface="Times New Roman"/>
              </a:rPr>
              <a:t>nom_attribut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Clr>
                <a:srgbClr val="006FC0"/>
              </a:buClr>
              <a:buFont typeface="Wingdings"/>
              <a:buChar char=""/>
              <a:tabLst>
                <a:tab pos="354965" algn="l"/>
              </a:tabLst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Exemple</a:t>
            </a:r>
            <a:r>
              <a:rPr sz="24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393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valeur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l’attribut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hauteur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d’une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instance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6F2FA0"/>
                </a:solidFill>
                <a:latin typeface="Times New Roman"/>
                <a:cs typeface="Times New Roman"/>
              </a:rPr>
              <a:t>rect</a:t>
            </a:r>
            <a:r>
              <a:rPr sz="2400" spc="-35" dirty="0">
                <a:solidFill>
                  <a:srgbClr val="6F2FA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classe</a:t>
            </a:r>
            <a:endParaRPr sz="2400">
              <a:latin typeface="Times New Roman"/>
              <a:cs typeface="Times New Roman"/>
            </a:endParaRPr>
          </a:p>
          <a:p>
            <a:pPr marL="393700">
              <a:lnSpc>
                <a:spcPct val="100000"/>
              </a:lnSpc>
            </a:pPr>
            <a:r>
              <a:rPr sz="2400" b="1" dirty="0">
                <a:solidFill>
                  <a:srgbClr val="00B0F0"/>
                </a:solidFill>
                <a:latin typeface="Times New Roman"/>
                <a:cs typeface="Times New Roman"/>
              </a:rPr>
              <a:t>Rectangle</a:t>
            </a:r>
            <a:r>
              <a:rPr sz="2400" b="1" spc="-50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sera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référencée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l’expression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393700">
              <a:lnSpc>
                <a:spcPct val="100000"/>
              </a:lnSpc>
            </a:pPr>
            <a:r>
              <a:rPr sz="2400" b="1" spc="-10" dirty="0">
                <a:solidFill>
                  <a:srgbClr val="6F2FA0"/>
                </a:solidFill>
                <a:latin typeface="Times New Roman"/>
                <a:cs typeface="Times New Roman"/>
              </a:rPr>
              <a:t>rect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.</a:t>
            </a:r>
            <a:r>
              <a:rPr sz="2400" spc="-10" dirty="0">
                <a:latin typeface="Times New Roman"/>
                <a:cs typeface="Times New Roman"/>
              </a:rPr>
              <a:t>hauteur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21976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33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3304" rIns="0" bIns="0" rtlCol="0">
            <a:spAutoFit/>
          </a:bodyPr>
          <a:lstStyle/>
          <a:p>
            <a:pPr marL="381000">
              <a:lnSpc>
                <a:spcPct val="100000"/>
              </a:lnSpc>
              <a:spcBef>
                <a:spcPts val="100"/>
              </a:spcBef>
            </a:pPr>
            <a:r>
              <a:rPr spc="-405" dirty="0"/>
              <a:t>Accès</a:t>
            </a:r>
            <a:r>
              <a:rPr b="0" spc="55" dirty="0">
                <a:latin typeface="Times New Roman"/>
                <a:cs typeface="Times New Roman"/>
              </a:rPr>
              <a:t> </a:t>
            </a:r>
            <a:r>
              <a:rPr spc="-120" dirty="0"/>
              <a:t>aux</a:t>
            </a:r>
            <a:r>
              <a:rPr b="0" spc="-95" dirty="0">
                <a:latin typeface="Times New Roman"/>
                <a:cs typeface="Times New Roman"/>
              </a:rPr>
              <a:t> </a:t>
            </a:r>
            <a:r>
              <a:rPr spc="-275" dirty="0"/>
              <a:t>attributs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34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20685" y="1768855"/>
            <a:ext cx="5453380" cy="5405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Exemple</a:t>
            </a:r>
            <a:r>
              <a:rPr sz="24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12700" marR="2901950">
              <a:lnSpc>
                <a:spcPct val="100000"/>
              </a:lnSpc>
            </a:pPr>
            <a:r>
              <a:rPr sz="2350" dirty="0">
                <a:solidFill>
                  <a:srgbClr val="00863C"/>
                </a:solidFill>
                <a:latin typeface="Times New Roman"/>
                <a:cs typeface="Times New Roman"/>
              </a:rPr>
              <a:t>#include</a:t>
            </a:r>
            <a:r>
              <a:rPr sz="2350" spc="-40" dirty="0">
                <a:solidFill>
                  <a:srgbClr val="00863C"/>
                </a:solidFill>
                <a:latin typeface="Times New Roman"/>
                <a:cs typeface="Times New Roman"/>
              </a:rPr>
              <a:t> </a:t>
            </a:r>
            <a:r>
              <a:rPr sz="2350" spc="-10" dirty="0">
                <a:solidFill>
                  <a:srgbClr val="00863C"/>
                </a:solidFill>
                <a:latin typeface="Times New Roman"/>
                <a:cs typeface="Times New Roman"/>
              </a:rPr>
              <a:t>&lt;iostream&gt; </a:t>
            </a:r>
            <a:r>
              <a:rPr sz="2350" dirty="0">
                <a:solidFill>
                  <a:srgbClr val="006FC0"/>
                </a:solidFill>
                <a:latin typeface="Times New Roman"/>
                <a:cs typeface="Times New Roman"/>
              </a:rPr>
              <a:t>using</a:t>
            </a:r>
            <a:r>
              <a:rPr sz="2350" spc="-4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006FC0"/>
                </a:solidFill>
                <a:latin typeface="Times New Roman"/>
                <a:cs typeface="Times New Roman"/>
              </a:rPr>
              <a:t>namespace</a:t>
            </a:r>
            <a:r>
              <a:rPr sz="2350" spc="-4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350" spc="-20" dirty="0">
                <a:solidFill>
                  <a:srgbClr val="00863C"/>
                </a:solidFill>
                <a:latin typeface="Times New Roman"/>
                <a:cs typeface="Times New Roman"/>
              </a:rPr>
              <a:t>std</a:t>
            </a:r>
            <a:r>
              <a:rPr sz="2350" spc="-20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2350" dirty="0">
                <a:solidFill>
                  <a:srgbClr val="0091FE"/>
                </a:solidFill>
                <a:latin typeface="Times New Roman"/>
                <a:cs typeface="Times New Roman"/>
              </a:rPr>
              <a:t>class</a:t>
            </a:r>
            <a:r>
              <a:rPr sz="2350" spc="-50" dirty="0">
                <a:solidFill>
                  <a:srgbClr val="0091FE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0091FE"/>
                </a:solidFill>
                <a:latin typeface="Times New Roman"/>
                <a:cs typeface="Times New Roman"/>
              </a:rPr>
              <a:t>Rectangle</a:t>
            </a:r>
            <a:r>
              <a:rPr sz="2350" spc="-60" dirty="0">
                <a:solidFill>
                  <a:srgbClr val="0091FE"/>
                </a:solidFill>
                <a:latin typeface="Times New Roman"/>
                <a:cs typeface="Times New Roman"/>
              </a:rPr>
              <a:t> </a:t>
            </a:r>
            <a:r>
              <a:rPr sz="2350" spc="-50" dirty="0">
                <a:solidFill>
                  <a:srgbClr val="FF0000"/>
                </a:solidFill>
                <a:latin typeface="Times New Roman"/>
                <a:cs typeface="Times New Roman"/>
              </a:rPr>
              <a:t>{ </a:t>
            </a:r>
            <a:r>
              <a:rPr sz="235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350" spc="-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hauteur</a:t>
            </a:r>
            <a:r>
              <a:rPr sz="2350" spc="-10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235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350" spc="-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largeur</a:t>
            </a:r>
            <a:r>
              <a:rPr sz="2350" spc="-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350" spc="-25" dirty="0">
                <a:solidFill>
                  <a:srgbClr val="FF0000"/>
                </a:solidFill>
                <a:latin typeface="Times New Roman"/>
                <a:cs typeface="Times New Roman"/>
              </a:rPr>
              <a:t>};</a:t>
            </a:r>
            <a:endParaRPr sz="2350">
              <a:latin typeface="Times New Roman"/>
              <a:cs typeface="Times New Roman"/>
            </a:endParaRPr>
          </a:p>
          <a:p>
            <a:pPr marL="12700" marR="3244850">
              <a:lnSpc>
                <a:spcPct val="100000"/>
              </a:lnSpc>
            </a:pPr>
            <a:r>
              <a:rPr sz="235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350" spc="-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main</a:t>
            </a:r>
            <a:r>
              <a:rPr sz="2350" spc="-10" dirty="0">
                <a:solidFill>
                  <a:srgbClr val="FF0000"/>
                </a:solidFill>
                <a:latin typeface="Times New Roman"/>
                <a:cs typeface="Times New Roman"/>
              </a:rPr>
              <a:t>(){ </a:t>
            </a:r>
            <a:r>
              <a:rPr sz="2350" dirty="0">
                <a:solidFill>
                  <a:srgbClr val="0091FE"/>
                </a:solidFill>
                <a:latin typeface="Times New Roman"/>
                <a:cs typeface="Times New Roman"/>
              </a:rPr>
              <a:t>Rectangle</a:t>
            </a:r>
            <a:r>
              <a:rPr sz="2350" spc="-70" dirty="0">
                <a:solidFill>
                  <a:srgbClr val="0091FE"/>
                </a:solidFill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rect</a:t>
            </a:r>
            <a:r>
              <a:rPr sz="2350" spc="-10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2350" dirty="0">
                <a:latin typeface="Times New Roman"/>
                <a:cs typeface="Times New Roman"/>
              </a:rPr>
              <a:t>rect</a:t>
            </a:r>
            <a:r>
              <a:rPr sz="2350" dirty="0">
                <a:solidFill>
                  <a:srgbClr val="FF0000"/>
                </a:solidFill>
                <a:latin typeface="Times New Roman"/>
                <a:cs typeface="Times New Roman"/>
              </a:rPr>
              <a:t>.</a:t>
            </a:r>
            <a:r>
              <a:rPr sz="2350" dirty="0">
                <a:latin typeface="Times New Roman"/>
                <a:cs typeface="Times New Roman"/>
              </a:rPr>
              <a:t>hauteur</a:t>
            </a:r>
            <a:r>
              <a:rPr sz="2350" spc="-50" dirty="0"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35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50" spc="-20" dirty="0">
                <a:solidFill>
                  <a:srgbClr val="FF32CC"/>
                </a:solidFill>
                <a:latin typeface="Times New Roman"/>
                <a:cs typeface="Times New Roman"/>
              </a:rPr>
              <a:t>5.0</a:t>
            </a:r>
            <a:r>
              <a:rPr sz="2350" spc="-2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350" dirty="0">
                <a:latin typeface="Times New Roman"/>
                <a:cs typeface="Times New Roman"/>
              </a:rPr>
              <a:t>rect</a:t>
            </a:r>
            <a:r>
              <a:rPr sz="2350" dirty="0">
                <a:solidFill>
                  <a:srgbClr val="FF0000"/>
                </a:solidFill>
                <a:latin typeface="Times New Roman"/>
                <a:cs typeface="Times New Roman"/>
              </a:rPr>
              <a:t>.</a:t>
            </a:r>
            <a:r>
              <a:rPr sz="2350" dirty="0">
                <a:latin typeface="Times New Roman"/>
                <a:cs typeface="Times New Roman"/>
              </a:rPr>
              <a:t>largeur</a:t>
            </a:r>
            <a:r>
              <a:rPr sz="2350" spc="-70" dirty="0"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35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50" spc="-20" dirty="0">
                <a:solidFill>
                  <a:srgbClr val="FF32CC"/>
                </a:solidFill>
                <a:latin typeface="Times New Roman"/>
                <a:cs typeface="Times New Roman"/>
              </a:rPr>
              <a:t>6.0</a:t>
            </a:r>
            <a:r>
              <a:rPr sz="2350" spc="-2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35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350" dirty="0">
                <a:solidFill>
                  <a:srgbClr val="009900"/>
                </a:solidFill>
                <a:latin typeface="Times New Roman"/>
                <a:cs typeface="Times New Roman"/>
              </a:rPr>
              <a:t>cout</a:t>
            </a:r>
            <a:r>
              <a:rPr sz="2350" spc="-40" dirty="0">
                <a:solidFill>
                  <a:srgbClr val="009900"/>
                </a:solidFill>
                <a:latin typeface="Times New Roman"/>
                <a:cs typeface="Times New Roman"/>
              </a:rPr>
              <a:t> </a:t>
            </a:r>
            <a:r>
              <a:rPr sz="2350" b="1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35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006FC0"/>
                </a:solidFill>
                <a:latin typeface="Times New Roman"/>
                <a:cs typeface="Times New Roman"/>
              </a:rPr>
              <a:t>"Hauteur</a:t>
            </a:r>
            <a:r>
              <a:rPr sz="2350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006FC0"/>
                </a:solidFill>
                <a:latin typeface="Times New Roman"/>
                <a:cs typeface="Times New Roman"/>
              </a:rPr>
              <a:t>:</a:t>
            </a:r>
            <a:r>
              <a:rPr sz="2350" spc="-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006FC0"/>
                </a:solidFill>
                <a:latin typeface="Times New Roman"/>
                <a:cs typeface="Times New Roman"/>
              </a:rPr>
              <a:t>"</a:t>
            </a:r>
            <a:r>
              <a:rPr sz="2350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350" b="1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35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rect</a:t>
            </a:r>
            <a:r>
              <a:rPr sz="2350" dirty="0">
                <a:solidFill>
                  <a:srgbClr val="FF0000"/>
                </a:solidFill>
                <a:latin typeface="Times New Roman"/>
                <a:cs typeface="Times New Roman"/>
              </a:rPr>
              <a:t>.</a:t>
            </a:r>
            <a:r>
              <a:rPr sz="2350" dirty="0">
                <a:latin typeface="Times New Roman"/>
                <a:cs typeface="Times New Roman"/>
              </a:rPr>
              <a:t>hauteur</a:t>
            </a:r>
            <a:r>
              <a:rPr sz="2350" spc="-35" dirty="0">
                <a:latin typeface="Times New Roman"/>
                <a:cs typeface="Times New Roman"/>
              </a:rPr>
              <a:t> </a:t>
            </a:r>
            <a:r>
              <a:rPr sz="2350" b="1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35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50" spc="-10" dirty="0">
                <a:solidFill>
                  <a:srgbClr val="009900"/>
                </a:solidFill>
                <a:latin typeface="Times New Roman"/>
                <a:cs typeface="Times New Roman"/>
              </a:rPr>
              <a:t>endl</a:t>
            </a:r>
            <a:r>
              <a:rPr sz="2350" spc="-10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2350" dirty="0">
                <a:solidFill>
                  <a:srgbClr val="009900"/>
                </a:solidFill>
                <a:latin typeface="Times New Roman"/>
                <a:cs typeface="Times New Roman"/>
              </a:rPr>
              <a:t>cout</a:t>
            </a:r>
            <a:r>
              <a:rPr sz="2350" spc="-55" dirty="0">
                <a:solidFill>
                  <a:srgbClr val="009900"/>
                </a:solidFill>
                <a:latin typeface="Times New Roman"/>
                <a:cs typeface="Times New Roman"/>
              </a:rPr>
              <a:t> </a:t>
            </a:r>
            <a:r>
              <a:rPr sz="2350" b="1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35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006FC0"/>
                </a:solidFill>
                <a:latin typeface="Times New Roman"/>
                <a:cs typeface="Times New Roman"/>
              </a:rPr>
              <a:t>"Largeur</a:t>
            </a:r>
            <a:r>
              <a:rPr sz="2350" spc="-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006FC0"/>
                </a:solidFill>
                <a:latin typeface="Times New Roman"/>
                <a:cs typeface="Times New Roman"/>
              </a:rPr>
              <a:t>:</a:t>
            </a:r>
            <a:r>
              <a:rPr sz="2350" spc="-4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006FC0"/>
                </a:solidFill>
                <a:latin typeface="Times New Roman"/>
                <a:cs typeface="Times New Roman"/>
              </a:rPr>
              <a:t>"</a:t>
            </a:r>
            <a:r>
              <a:rPr sz="2350" spc="-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350" b="1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35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rect</a:t>
            </a:r>
            <a:r>
              <a:rPr sz="2350" dirty="0">
                <a:solidFill>
                  <a:srgbClr val="FF0000"/>
                </a:solidFill>
                <a:latin typeface="Times New Roman"/>
                <a:cs typeface="Times New Roman"/>
              </a:rPr>
              <a:t>.</a:t>
            </a:r>
            <a:r>
              <a:rPr sz="2350" dirty="0">
                <a:latin typeface="Times New Roman"/>
                <a:cs typeface="Times New Roman"/>
              </a:rPr>
              <a:t>largeur</a:t>
            </a:r>
            <a:r>
              <a:rPr sz="2350" spc="-35" dirty="0">
                <a:latin typeface="Times New Roman"/>
                <a:cs typeface="Times New Roman"/>
              </a:rPr>
              <a:t> </a:t>
            </a:r>
            <a:r>
              <a:rPr sz="2350" b="1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35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50" spc="-10" dirty="0">
                <a:solidFill>
                  <a:srgbClr val="009900"/>
                </a:solidFill>
                <a:latin typeface="Times New Roman"/>
                <a:cs typeface="Times New Roman"/>
              </a:rPr>
              <a:t>endl</a:t>
            </a:r>
            <a:r>
              <a:rPr sz="2350" spc="-10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2350" dirty="0">
                <a:solidFill>
                  <a:srgbClr val="001F5F"/>
                </a:solidFill>
                <a:latin typeface="Times New Roman"/>
                <a:cs typeface="Times New Roman"/>
              </a:rPr>
              <a:t>return</a:t>
            </a:r>
            <a:r>
              <a:rPr sz="2350" spc="-4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350" spc="-25" dirty="0">
                <a:solidFill>
                  <a:srgbClr val="FF32CC"/>
                </a:solidFill>
                <a:latin typeface="Times New Roman"/>
                <a:cs typeface="Times New Roman"/>
              </a:rPr>
              <a:t>0</a:t>
            </a:r>
            <a:r>
              <a:rPr sz="2350" spc="-2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350" spc="-5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21976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34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3304" rIns="0" bIns="0" rtlCol="0">
            <a:spAutoFit/>
          </a:bodyPr>
          <a:lstStyle/>
          <a:p>
            <a:pPr marL="381000">
              <a:lnSpc>
                <a:spcPct val="100000"/>
              </a:lnSpc>
              <a:spcBef>
                <a:spcPts val="100"/>
              </a:spcBef>
            </a:pPr>
            <a:r>
              <a:rPr spc="-204" dirty="0"/>
              <a:t>Appel</a:t>
            </a:r>
            <a:r>
              <a:rPr b="0" spc="-20" dirty="0">
                <a:latin typeface="Times New Roman"/>
                <a:cs typeface="Times New Roman"/>
              </a:rPr>
              <a:t> </a:t>
            </a:r>
            <a:r>
              <a:rPr spc="-120" dirty="0"/>
              <a:t>aux</a:t>
            </a:r>
            <a:r>
              <a:rPr b="0" spc="-90" dirty="0">
                <a:latin typeface="Times New Roman"/>
                <a:cs typeface="Times New Roman"/>
              </a:rPr>
              <a:t> </a:t>
            </a:r>
            <a:r>
              <a:rPr spc="-340" dirty="0"/>
              <a:t>méthodes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35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20685" y="1840483"/>
            <a:ext cx="7929245" cy="2585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 marR="643255" indent="-304800" algn="just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16865" algn="l"/>
                <a:tab pos="354330" algn="l"/>
              </a:tabLst>
            </a:pP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L’appel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aux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méthodes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définies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pour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instance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25" dirty="0">
                <a:latin typeface="Times New Roman"/>
                <a:cs typeface="Times New Roman"/>
              </a:rPr>
              <a:t> nom </a:t>
            </a:r>
            <a:r>
              <a:rPr sz="2400" dirty="0">
                <a:solidFill>
                  <a:srgbClr val="6F2FA0"/>
                </a:solidFill>
                <a:latin typeface="Times New Roman"/>
                <a:cs typeface="Times New Roman"/>
              </a:rPr>
              <a:t>nom_instance</a:t>
            </a:r>
            <a:r>
              <a:rPr sz="2400" spc="-50" dirty="0">
                <a:solidFill>
                  <a:srgbClr val="6F2FA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fait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à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l’aide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d’expressions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forme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: </a:t>
            </a:r>
            <a:r>
              <a:rPr sz="2400" b="1" spc="-10" dirty="0">
                <a:solidFill>
                  <a:srgbClr val="6F2FA0"/>
                </a:solidFill>
                <a:latin typeface="Times New Roman"/>
                <a:cs typeface="Times New Roman"/>
              </a:rPr>
              <a:t>nom_instance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.</a:t>
            </a:r>
            <a:r>
              <a:rPr sz="2400" b="1" spc="-10" dirty="0">
                <a:latin typeface="Times New Roman"/>
                <a:cs typeface="Times New Roman"/>
              </a:rPr>
              <a:t>nom_methode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400" spc="-10" dirty="0">
                <a:solidFill>
                  <a:srgbClr val="FF32CC"/>
                </a:solidFill>
                <a:latin typeface="Times New Roman"/>
                <a:cs typeface="Times New Roman"/>
              </a:rPr>
              <a:t>arg1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,…)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006FC0"/>
              </a:buClr>
              <a:buFont typeface="Wingdings"/>
              <a:buChar char=""/>
            </a:pPr>
            <a:endParaRPr sz="2400">
              <a:latin typeface="Times New Roman"/>
              <a:cs typeface="Times New Roman"/>
            </a:endParaRPr>
          </a:p>
          <a:p>
            <a:pPr marL="583565" indent="-570865">
              <a:lnSpc>
                <a:spcPct val="100000"/>
              </a:lnSpc>
              <a:buClr>
                <a:srgbClr val="006FC0"/>
              </a:buClr>
              <a:buFont typeface="Wingdings"/>
              <a:buChar char=""/>
              <a:tabLst>
                <a:tab pos="583565" algn="l"/>
              </a:tabLst>
            </a:pP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Exemples:</a:t>
            </a:r>
            <a:endParaRPr sz="2400">
              <a:latin typeface="Times New Roman"/>
              <a:cs typeface="Times New Roman"/>
            </a:endParaRPr>
          </a:p>
          <a:p>
            <a:pPr marL="770890" lvl="1" indent="-215900">
              <a:lnSpc>
                <a:spcPct val="100000"/>
              </a:lnSpc>
              <a:buClr>
                <a:srgbClr val="006FC0"/>
              </a:buClr>
              <a:buFont typeface="Wingdings"/>
              <a:buChar char=""/>
              <a:tabLst>
                <a:tab pos="770890" algn="l"/>
              </a:tabLst>
            </a:pPr>
            <a:r>
              <a:rPr sz="2400" dirty="0">
                <a:solidFill>
                  <a:srgbClr val="6F2FA0"/>
                </a:solidFill>
                <a:latin typeface="Times New Roman"/>
                <a:cs typeface="Times New Roman"/>
              </a:rPr>
              <a:t>rect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.</a:t>
            </a:r>
            <a:r>
              <a:rPr sz="2400" b="1" dirty="0">
                <a:latin typeface="Times New Roman"/>
                <a:cs typeface="Times New Roman"/>
              </a:rPr>
              <a:t>surface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()</a:t>
            </a:r>
            <a:r>
              <a:rPr sz="24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B04F"/>
                </a:solidFill>
                <a:latin typeface="Times New Roman"/>
                <a:cs typeface="Times New Roman"/>
              </a:rPr>
              <a:t>//rect</a:t>
            </a:r>
            <a:r>
              <a:rPr sz="2400" spc="-5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B04F"/>
                </a:solidFill>
                <a:latin typeface="Times New Roman"/>
                <a:cs typeface="Times New Roman"/>
              </a:rPr>
              <a:t>est</a:t>
            </a:r>
            <a:r>
              <a:rPr sz="2400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B04F"/>
                </a:solidFill>
                <a:latin typeface="Times New Roman"/>
                <a:cs typeface="Times New Roman"/>
              </a:rPr>
              <a:t>une</a:t>
            </a:r>
            <a:r>
              <a:rPr sz="2400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B04F"/>
                </a:solidFill>
                <a:latin typeface="Times New Roman"/>
                <a:cs typeface="Times New Roman"/>
              </a:rPr>
              <a:t>instance</a:t>
            </a:r>
            <a:r>
              <a:rPr sz="2400" spc="-4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2400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B04F"/>
                </a:solidFill>
                <a:latin typeface="Times New Roman"/>
                <a:cs typeface="Times New Roman"/>
              </a:rPr>
              <a:t>la</a:t>
            </a:r>
            <a:r>
              <a:rPr sz="2400" spc="-4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B04F"/>
                </a:solidFill>
                <a:latin typeface="Times New Roman"/>
                <a:cs typeface="Times New Roman"/>
              </a:rPr>
              <a:t>classe</a:t>
            </a:r>
            <a:r>
              <a:rPr sz="2400" spc="-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00B04F"/>
                </a:solidFill>
                <a:latin typeface="Times New Roman"/>
                <a:cs typeface="Times New Roman"/>
              </a:rPr>
              <a:t>Rectangle</a:t>
            </a:r>
            <a:endParaRPr sz="2400">
              <a:latin typeface="Times New Roman"/>
              <a:cs typeface="Times New Roman"/>
            </a:endParaRPr>
          </a:p>
          <a:p>
            <a:pPr marL="770890" lvl="1" indent="-215900">
              <a:lnSpc>
                <a:spcPct val="100000"/>
              </a:lnSpc>
              <a:buClr>
                <a:srgbClr val="006FC0"/>
              </a:buClr>
              <a:buFont typeface="Wingdings"/>
              <a:buChar char=""/>
              <a:tabLst>
                <a:tab pos="770890" algn="l"/>
              </a:tabLst>
            </a:pPr>
            <a:r>
              <a:rPr sz="2400" spc="-10" dirty="0">
                <a:solidFill>
                  <a:srgbClr val="6F2FA0"/>
                </a:solidFill>
                <a:latin typeface="Times New Roman"/>
                <a:cs typeface="Times New Roman"/>
              </a:rPr>
              <a:t>tableau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.</a:t>
            </a:r>
            <a:r>
              <a:rPr sz="2400" b="1" spc="-10" dirty="0">
                <a:latin typeface="Times New Roman"/>
                <a:cs typeface="Times New Roman"/>
              </a:rPr>
              <a:t>size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()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21976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35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3304" rIns="0" bIns="0" rtlCol="0">
            <a:spAutoFit/>
          </a:bodyPr>
          <a:lstStyle/>
          <a:p>
            <a:pPr marL="381000">
              <a:lnSpc>
                <a:spcPct val="100000"/>
              </a:lnSpc>
              <a:spcBef>
                <a:spcPts val="100"/>
              </a:spcBef>
            </a:pPr>
            <a:r>
              <a:rPr spc="-204" dirty="0"/>
              <a:t>Appel</a:t>
            </a:r>
            <a:r>
              <a:rPr b="0" spc="-20" dirty="0">
                <a:latin typeface="Times New Roman"/>
                <a:cs typeface="Times New Roman"/>
              </a:rPr>
              <a:t> </a:t>
            </a:r>
            <a:r>
              <a:rPr spc="-120" dirty="0"/>
              <a:t>aux</a:t>
            </a:r>
            <a:r>
              <a:rPr b="0" spc="-90" dirty="0">
                <a:latin typeface="Times New Roman"/>
                <a:cs typeface="Times New Roman"/>
              </a:rPr>
              <a:t> </a:t>
            </a:r>
            <a:r>
              <a:rPr spc="-340" dirty="0"/>
              <a:t>méthodes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36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20685" y="1784095"/>
            <a:ext cx="7327900" cy="5398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5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Exemple:</a:t>
            </a:r>
            <a:endParaRPr sz="2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350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350" spc="-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350" spc="-25" dirty="0">
                <a:solidFill>
                  <a:srgbClr val="00B04F"/>
                </a:solidFill>
                <a:latin typeface="Times New Roman"/>
                <a:cs typeface="Times New Roman"/>
              </a:rPr>
              <a:t>...</a:t>
            </a:r>
            <a:endParaRPr sz="2350">
              <a:latin typeface="Times New Roman"/>
              <a:cs typeface="Times New Roman"/>
            </a:endParaRPr>
          </a:p>
          <a:p>
            <a:pPr marL="12700" marR="5247640">
              <a:lnSpc>
                <a:spcPct val="100000"/>
              </a:lnSpc>
            </a:pPr>
            <a:r>
              <a:rPr sz="2350" dirty="0">
                <a:solidFill>
                  <a:srgbClr val="001F5F"/>
                </a:solidFill>
                <a:latin typeface="Times New Roman"/>
                <a:cs typeface="Times New Roman"/>
              </a:rPr>
              <a:t>class</a:t>
            </a:r>
            <a:r>
              <a:rPr sz="2350" spc="-5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00B0F0"/>
                </a:solidFill>
                <a:latin typeface="Times New Roman"/>
                <a:cs typeface="Times New Roman"/>
              </a:rPr>
              <a:t>Rectangle</a:t>
            </a:r>
            <a:r>
              <a:rPr sz="2350" spc="-60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350" spc="-50" dirty="0">
                <a:solidFill>
                  <a:srgbClr val="FF0000"/>
                </a:solidFill>
                <a:latin typeface="Times New Roman"/>
                <a:cs typeface="Times New Roman"/>
              </a:rPr>
              <a:t>{ </a:t>
            </a:r>
            <a:r>
              <a:rPr sz="235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350" spc="-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hauteur</a:t>
            </a:r>
            <a:r>
              <a:rPr sz="2350" spc="-10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235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350" spc="-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largeur</a:t>
            </a:r>
            <a:r>
              <a:rPr sz="2350" spc="-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35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350" spc="-5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surface</a:t>
            </a:r>
            <a:r>
              <a:rPr sz="2350" dirty="0">
                <a:solidFill>
                  <a:srgbClr val="FF0000"/>
                </a:solidFill>
                <a:latin typeface="Times New Roman"/>
                <a:cs typeface="Times New Roman"/>
              </a:rPr>
              <a:t>()</a:t>
            </a:r>
            <a:r>
              <a:rPr sz="235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50" spc="-10" dirty="0">
                <a:solidFill>
                  <a:srgbClr val="001F5F"/>
                </a:solidFill>
                <a:latin typeface="Times New Roman"/>
                <a:cs typeface="Times New Roman"/>
              </a:rPr>
              <a:t>const</a:t>
            </a:r>
            <a:r>
              <a:rPr sz="2350" spc="-10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endParaRPr sz="2350">
              <a:latin typeface="Times New Roman"/>
              <a:cs typeface="Times New Roman"/>
            </a:endParaRPr>
          </a:p>
          <a:p>
            <a:pPr marL="906780">
              <a:lnSpc>
                <a:spcPct val="100000"/>
              </a:lnSpc>
            </a:pPr>
            <a:r>
              <a:rPr sz="2350" dirty="0">
                <a:solidFill>
                  <a:srgbClr val="001F5F"/>
                </a:solidFill>
                <a:latin typeface="Times New Roman"/>
                <a:cs typeface="Times New Roman"/>
              </a:rPr>
              <a:t>return</a:t>
            </a:r>
            <a:r>
              <a:rPr sz="2350" spc="-4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hauteur</a:t>
            </a:r>
            <a:r>
              <a:rPr sz="2350" spc="-55" dirty="0"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FF0000"/>
                </a:solidFill>
                <a:latin typeface="Times New Roman"/>
                <a:cs typeface="Times New Roman"/>
              </a:rPr>
              <a:t>*</a:t>
            </a:r>
            <a:r>
              <a:rPr sz="235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largeur</a:t>
            </a:r>
            <a:r>
              <a:rPr sz="235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r>
              <a:rPr sz="235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50" spc="-5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350" spc="-25" dirty="0">
                <a:solidFill>
                  <a:srgbClr val="FF0000"/>
                </a:solidFill>
                <a:latin typeface="Times New Roman"/>
                <a:cs typeface="Times New Roman"/>
              </a:rPr>
              <a:t>};</a:t>
            </a:r>
            <a:endParaRPr sz="2350">
              <a:latin typeface="Times New Roman"/>
              <a:cs typeface="Times New Roman"/>
            </a:endParaRPr>
          </a:p>
          <a:p>
            <a:pPr marL="12700" marR="5119370">
              <a:lnSpc>
                <a:spcPct val="100000"/>
              </a:lnSpc>
            </a:pPr>
            <a:r>
              <a:rPr sz="235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350" spc="-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main</a:t>
            </a:r>
            <a:r>
              <a:rPr sz="2350" spc="-10" dirty="0">
                <a:solidFill>
                  <a:srgbClr val="FF0000"/>
                </a:solidFill>
                <a:latin typeface="Times New Roman"/>
                <a:cs typeface="Times New Roman"/>
              </a:rPr>
              <a:t>(){ </a:t>
            </a:r>
            <a:r>
              <a:rPr sz="2350" dirty="0">
                <a:solidFill>
                  <a:srgbClr val="00B0F0"/>
                </a:solidFill>
                <a:latin typeface="Times New Roman"/>
                <a:cs typeface="Times New Roman"/>
              </a:rPr>
              <a:t>Rectangle</a:t>
            </a:r>
            <a:r>
              <a:rPr sz="2350" spc="-70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rect</a:t>
            </a:r>
            <a:r>
              <a:rPr sz="2350" spc="-10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2350" dirty="0">
                <a:latin typeface="Times New Roman"/>
                <a:cs typeface="Times New Roman"/>
              </a:rPr>
              <a:t>rect</a:t>
            </a:r>
            <a:r>
              <a:rPr sz="2350" dirty="0">
                <a:solidFill>
                  <a:srgbClr val="FF0000"/>
                </a:solidFill>
                <a:latin typeface="Times New Roman"/>
                <a:cs typeface="Times New Roman"/>
              </a:rPr>
              <a:t>.</a:t>
            </a:r>
            <a:r>
              <a:rPr sz="2350" dirty="0">
                <a:latin typeface="Times New Roman"/>
                <a:cs typeface="Times New Roman"/>
              </a:rPr>
              <a:t>hauteur</a:t>
            </a:r>
            <a:r>
              <a:rPr sz="2350" spc="-50" dirty="0"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35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50" spc="-20" dirty="0">
                <a:solidFill>
                  <a:srgbClr val="FF32CC"/>
                </a:solidFill>
                <a:latin typeface="Times New Roman"/>
                <a:cs typeface="Times New Roman"/>
              </a:rPr>
              <a:t>5.0</a:t>
            </a:r>
            <a:r>
              <a:rPr sz="2350" spc="-2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350" dirty="0">
                <a:latin typeface="Times New Roman"/>
                <a:cs typeface="Times New Roman"/>
              </a:rPr>
              <a:t>rect</a:t>
            </a:r>
            <a:r>
              <a:rPr sz="2350" dirty="0">
                <a:solidFill>
                  <a:srgbClr val="FF0000"/>
                </a:solidFill>
                <a:latin typeface="Times New Roman"/>
                <a:cs typeface="Times New Roman"/>
              </a:rPr>
              <a:t>.</a:t>
            </a:r>
            <a:r>
              <a:rPr sz="2350" dirty="0">
                <a:latin typeface="Times New Roman"/>
                <a:cs typeface="Times New Roman"/>
              </a:rPr>
              <a:t>largeur</a:t>
            </a:r>
            <a:r>
              <a:rPr sz="2350" spc="-70" dirty="0"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35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50" spc="-20" dirty="0">
                <a:solidFill>
                  <a:srgbClr val="FF32CC"/>
                </a:solidFill>
                <a:latin typeface="Times New Roman"/>
                <a:cs typeface="Times New Roman"/>
              </a:rPr>
              <a:t>6.0</a:t>
            </a:r>
            <a:r>
              <a:rPr sz="2350" spc="-2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350" b="1" dirty="0">
                <a:solidFill>
                  <a:srgbClr val="009900"/>
                </a:solidFill>
                <a:latin typeface="Times New Roman"/>
                <a:cs typeface="Times New Roman"/>
              </a:rPr>
              <a:t>cout</a:t>
            </a:r>
            <a:r>
              <a:rPr sz="2350" b="1" spc="-30" dirty="0">
                <a:solidFill>
                  <a:srgbClr val="00990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35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006FC0"/>
                </a:solidFill>
                <a:latin typeface="Times New Roman"/>
                <a:cs typeface="Times New Roman"/>
              </a:rPr>
              <a:t>"</a:t>
            </a:r>
            <a:r>
              <a:rPr sz="2350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006FC0"/>
                </a:solidFill>
                <a:latin typeface="Times New Roman"/>
                <a:cs typeface="Times New Roman"/>
              </a:rPr>
              <a:t>Surface</a:t>
            </a:r>
            <a:r>
              <a:rPr sz="2350" spc="-3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006FC0"/>
                </a:solidFill>
                <a:latin typeface="Times New Roman"/>
                <a:cs typeface="Times New Roman"/>
              </a:rPr>
              <a:t>du</a:t>
            </a:r>
            <a:r>
              <a:rPr sz="2350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006FC0"/>
                </a:solidFill>
                <a:latin typeface="Times New Roman"/>
                <a:cs typeface="Times New Roman"/>
              </a:rPr>
              <a:t>rectangle</a:t>
            </a:r>
            <a:r>
              <a:rPr sz="2350" spc="-3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006FC0"/>
                </a:solidFill>
                <a:latin typeface="Times New Roman"/>
                <a:cs typeface="Times New Roman"/>
              </a:rPr>
              <a:t>=</a:t>
            </a:r>
            <a:r>
              <a:rPr sz="2350" spc="-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006FC0"/>
                </a:solidFill>
                <a:latin typeface="Times New Roman"/>
                <a:cs typeface="Times New Roman"/>
              </a:rPr>
              <a:t>"</a:t>
            </a:r>
            <a:r>
              <a:rPr sz="2350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35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rect</a:t>
            </a:r>
            <a:r>
              <a:rPr sz="2350" dirty="0">
                <a:solidFill>
                  <a:srgbClr val="FF0000"/>
                </a:solidFill>
                <a:latin typeface="Times New Roman"/>
                <a:cs typeface="Times New Roman"/>
              </a:rPr>
              <a:t>.</a:t>
            </a:r>
            <a:r>
              <a:rPr sz="2350" dirty="0">
                <a:latin typeface="Times New Roman"/>
                <a:cs typeface="Times New Roman"/>
              </a:rPr>
              <a:t>surface</a:t>
            </a:r>
            <a:r>
              <a:rPr sz="2350" dirty="0">
                <a:solidFill>
                  <a:srgbClr val="FF0000"/>
                </a:solidFill>
                <a:latin typeface="Times New Roman"/>
                <a:cs typeface="Times New Roman"/>
              </a:rPr>
              <a:t>()</a:t>
            </a:r>
            <a:r>
              <a:rPr sz="235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35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50" b="1" spc="-10" dirty="0">
                <a:solidFill>
                  <a:srgbClr val="009900"/>
                </a:solidFill>
                <a:latin typeface="Times New Roman"/>
                <a:cs typeface="Times New Roman"/>
              </a:rPr>
              <a:t>endl</a:t>
            </a:r>
            <a:r>
              <a:rPr sz="2350" spc="-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350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350" spc="-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350" spc="-25" dirty="0">
                <a:solidFill>
                  <a:srgbClr val="00B04F"/>
                </a:solidFill>
                <a:latin typeface="Times New Roman"/>
                <a:cs typeface="Times New Roman"/>
              </a:rPr>
              <a:t>...</a:t>
            </a:r>
            <a:endParaRPr sz="2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350" spc="-5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21976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36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3304" rIns="0" bIns="0" rtlCol="0">
            <a:spAutoFit/>
          </a:bodyPr>
          <a:lstStyle/>
          <a:p>
            <a:pPr marL="381000">
              <a:lnSpc>
                <a:spcPct val="100000"/>
              </a:lnSpc>
              <a:spcBef>
                <a:spcPts val="100"/>
              </a:spcBef>
            </a:pPr>
            <a:r>
              <a:rPr spc="-405" dirty="0"/>
              <a:t>Accès</a:t>
            </a:r>
            <a:r>
              <a:rPr b="0" spc="55" dirty="0">
                <a:latin typeface="Times New Roman"/>
                <a:cs typeface="Times New Roman"/>
              </a:rPr>
              <a:t> </a:t>
            </a:r>
            <a:r>
              <a:rPr spc="-120" dirty="0"/>
              <a:t>aux</a:t>
            </a:r>
            <a:r>
              <a:rPr b="0" spc="-45" dirty="0">
                <a:latin typeface="Times New Roman"/>
                <a:cs typeface="Times New Roman"/>
              </a:rPr>
              <a:t> </a:t>
            </a:r>
            <a:r>
              <a:rPr spc="-265" dirty="0"/>
              <a:t>attributs</a:t>
            </a:r>
            <a:r>
              <a:rPr b="0" spc="45" dirty="0">
                <a:latin typeface="Times New Roman"/>
                <a:cs typeface="Times New Roman"/>
              </a:rPr>
              <a:t> </a:t>
            </a:r>
            <a:r>
              <a:rPr spc="-280" dirty="0"/>
              <a:t>et</a:t>
            </a:r>
            <a:r>
              <a:rPr b="0" spc="55" dirty="0">
                <a:latin typeface="Times New Roman"/>
                <a:cs typeface="Times New Roman"/>
              </a:rPr>
              <a:t> </a:t>
            </a:r>
            <a:r>
              <a:rPr spc="-340" dirty="0"/>
              <a:t>méthodes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37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61016" y="1842007"/>
            <a:ext cx="855281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006FC0"/>
              </a:buClr>
              <a:buFont typeface="Wingdings"/>
              <a:buChar char=""/>
              <a:tabLst>
                <a:tab pos="355600" algn="l"/>
              </a:tabLst>
            </a:pPr>
            <a:r>
              <a:rPr sz="2200" dirty="0">
                <a:latin typeface="Times New Roman"/>
                <a:cs typeface="Times New Roman"/>
              </a:rPr>
              <a:t>Chaque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instance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propres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attributs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: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aucun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risque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confusion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d’une </a:t>
            </a:r>
            <a:r>
              <a:rPr sz="2200" dirty="0">
                <a:latin typeface="Times New Roman"/>
                <a:cs typeface="Times New Roman"/>
              </a:rPr>
              <a:t>instance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à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une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autre.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61016" y="6170165"/>
            <a:ext cx="884428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006FC0"/>
              </a:buClr>
              <a:buFont typeface="Wingdings"/>
              <a:buChar char=""/>
              <a:tabLst>
                <a:tab pos="354965" algn="l"/>
              </a:tabLst>
            </a:pPr>
            <a:r>
              <a:rPr sz="2200" dirty="0">
                <a:latin typeface="Times New Roman"/>
                <a:cs typeface="Times New Roman"/>
              </a:rPr>
              <a:t>rect1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.</a:t>
            </a:r>
            <a:r>
              <a:rPr sz="2200" dirty="0">
                <a:latin typeface="Times New Roman"/>
                <a:cs typeface="Times New Roman"/>
              </a:rPr>
              <a:t>surface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()</a:t>
            </a:r>
            <a:r>
              <a:rPr sz="22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: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méthode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surface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la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classe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F0"/>
                </a:solidFill>
                <a:latin typeface="Times New Roman"/>
                <a:cs typeface="Times New Roman"/>
              </a:rPr>
              <a:t>Rectangle</a:t>
            </a:r>
            <a:r>
              <a:rPr sz="2200" spc="-55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s’appliquant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à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rect1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Clr>
                <a:srgbClr val="006FC0"/>
              </a:buClr>
              <a:buFont typeface="Wingdings"/>
              <a:buChar char=""/>
              <a:tabLst>
                <a:tab pos="354965" algn="l"/>
                <a:tab pos="3235325" algn="l"/>
              </a:tabLst>
            </a:pPr>
            <a:r>
              <a:rPr sz="2200" spc="-10" dirty="0">
                <a:latin typeface="Times New Roman"/>
                <a:cs typeface="Times New Roman"/>
              </a:rPr>
              <a:t>rect1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.</a:t>
            </a:r>
            <a:r>
              <a:rPr sz="2200" spc="-10" dirty="0">
                <a:latin typeface="Times New Roman"/>
                <a:cs typeface="Times New Roman"/>
              </a:rPr>
              <a:t>surface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()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200" spc="-10" dirty="0">
                <a:solidFill>
                  <a:srgbClr val="00B0F0"/>
                </a:solidFill>
                <a:latin typeface="Times New Roman"/>
                <a:cs typeface="Times New Roman"/>
              </a:rPr>
              <a:t>Rectangle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::</a:t>
            </a:r>
            <a:r>
              <a:rPr sz="2200" spc="-10" dirty="0">
                <a:latin typeface="Times New Roman"/>
                <a:cs typeface="Times New Roman"/>
              </a:rPr>
              <a:t>surface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200" spc="-10" dirty="0">
                <a:solidFill>
                  <a:srgbClr val="FF0065"/>
                </a:solidFill>
                <a:latin typeface="Times New Roman"/>
                <a:cs typeface="Times New Roman"/>
              </a:rPr>
              <a:t>&amp;</a:t>
            </a:r>
            <a:r>
              <a:rPr sz="2200" spc="-10" dirty="0">
                <a:latin typeface="Times New Roman"/>
                <a:cs typeface="Times New Roman"/>
              </a:rPr>
              <a:t>rect1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032638" y="6576059"/>
            <a:ext cx="1028700" cy="238125"/>
            <a:chOff x="3032638" y="6576059"/>
            <a:chExt cx="1028700" cy="238125"/>
          </a:xfrm>
        </p:grpSpPr>
        <p:sp>
          <p:nvSpPr>
            <p:cNvPr id="8" name="object 8"/>
            <p:cNvSpPr/>
            <p:nvPr/>
          </p:nvSpPr>
          <p:spPr>
            <a:xfrm>
              <a:off x="3041781" y="6586727"/>
              <a:ext cx="1009015" cy="216535"/>
            </a:xfrm>
            <a:custGeom>
              <a:avLst/>
              <a:gdLst/>
              <a:ahLst/>
              <a:cxnLst/>
              <a:rect l="l" t="t" r="r" b="b"/>
              <a:pathLst>
                <a:path w="1009014" h="216534">
                  <a:moveTo>
                    <a:pt x="1008887" y="108203"/>
                  </a:moveTo>
                  <a:lnTo>
                    <a:pt x="900683" y="0"/>
                  </a:lnTo>
                  <a:lnTo>
                    <a:pt x="900683" y="54863"/>
                  </a:lnTo>
                  <a:lnTo>
                    <a:pt x="108203" y="54863"/>
                  </a:lnTo>
                  <a:lnTo>
                    <a:pt x="108203" y="0"/>
                  </a:lnTo>
                  <a:lnTo>
                    <a:pt x="0" y="108203"/>
                  </a:lnTo>
                  <a:lnTo>
                    <a:pt x="108203" y="216407"/>
                  </a:lnTo>
                  <a:lnTo>
                    <a:pt x="108203" y="163067"/>
                  </a:lnTo>
                  <a:lnTo>
                    <a:pt x="900683" y="163067"/>
                  </a:lnTo>
                  <a:lnTo>
                    <a:pt x="900683" y="216407"/>
                  </a:lnTo>
                  <a:lnTo>
                    <a:pt x="1008887" y="108203"/>
                  </a:lnTo>
                  <a:close/>
                </a:path>
              </a:pathLst>
            </a:custGeom>
            <a:solidFill>
              <a:srgbClr val="93B5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32638" y="6576059"/>
              <a:ext cx="1028700" cy="238125"/>
            </a:xfrm>
            <a:custGeom>
              <a:avLst/>
              <a:gdLst/>
              <a:ahLst/>
              <a:cxnLst/>
              <a:rect l="l" t="t" r="r" b="b"/>
              <a:pathLst>
                <a:path w="1028700" h="238125">
                  <a:moveTo>
                    <a:pt x="128016" y="54864"/>
                  </a:moveTo>
                  <a:lnTo>
                    <a:pt x="128016" y="7620"/>
                  </a:lnTo>
                  <a:lnTo>
                    <a:pt x="124968" y="3048"/>
                  </a:lnTo>
                  <a:lnTo>
                    <a:pt x="121920" y="1524"/>
                  </a:lnTo>
                  <a:lnTo>
                    <a:pt x="117348" y="0"/>
                  </a:lnTo>
                  <a:lnTo>
                    <a:pt x="114300" y="1524"/>
                  </a:lnTo>
                  <a:lnTo>
                    <a:pt x="0" y="115824"/>
                  </a:lnTo>
                  <a:lnTo>
                    <a:pt x="0" y="121920"/>
                  </a:lnTo>
                  <a:lnTo>
                    <a:pt x="16764" y="138684"/>
                  </a:lnTo>
                  <a:lnTo>
                    <a:pt x="16764" y="112776"/>
                  </a:lnTo>
                  <a:lnTo>
                    <a:pt x="22903" y="118915"/>
                  </a:lnTo>
                  <a:lnTo>
                    <a:pt x="108204" y="34815"/>
                  </a:lnTo>
                  <a:lnTo>
                    <a:pt x="108204" y="10668"/>
                  </a:lnTo>
                  <a:lnTo>
                    <a:pt x="124968" y="18288"/>
                  </a:lnTo>
                  <a:lnTo>
                    <a:pt x="124968" y="54864"/>
                  </a:lnTo>
                  <a:lnTo>
                    <a:pt x="128016" y="54864"/>
                  </a:lnTo>
                  <a:close/>
                </a:path>
                <a:path w="1028700" h="238125">
                  <a:moveTo>
                    <a:pt x="22903" y="118915"/>
                  </a:moveTo>
                  <a:lnTo>
                    <a:pt x="16764" y="112776"/>
                  </a:lnTo>
                  <a:lnTo>
                    <a:pt x="16764" y="124968"/>
                  </a:lnTo>
                  <a:lnTo>
                    <a:pt x="22903" y="118915"/>
                  </a:lnTo>
                  <a:close/>
                </a:path>
                <a:path w="1028700" h="238125">
                  <a:moveTo>
                    <a:pt x="124968" y="220980"/>
                  </a:moveTo>
                  <a:lnTo>
                    <a:pt x="22903" y="118915"/>
                  </a:lnTo>
                  <a:lnTo>
                    <a:pt x="16764" y="124968"/>
                  </a:lnTo>
                  <a:lnTo>
                    <a:pt x="16764" y="138684"/>
                  </a:lnTo>
                  <a:lnTo>
                    <a:pt x="108204" y="230124"/>
                  </a:lnTo>
                  <a:lnTo>
                    <a:pt x="108204" y="227076"/>
                  </a:lnTo>
                  <a:lnTo>
                    <a:pt x="124968" y="220980"/>
                  </a:lnTo>
                  <a:close/>
                </a:path>
                <a:path w="1028700" h="238125">
                  <a:moveTo>
                    <a:pt x="124968" y="18288"/>
                  </a:moveTo>
                  <a:lnTo>
                    <a:pt x="108204" y="10668"/>
                  </a:lnTo>
                  <a:lnTo>
                    <a:pt x="108204" y="34815"/>
                  </a:lnTo>
                  <a:lnTo>
                    <a:pt x="124968" y="18288"/>
                  </a:lnTo>
                  <a:close/>
                </a:path>
                <a:path w="1028700" h="238125">
                  <a:moveTo>
                    <a:pt x="124968" y="54864"/>
                  </a:moveTo>
                  <a:lnTo>
                    <a:pt x="124968" y="18288"/>
                  </a:lnTo>
                  <a:lnTo>
                    <a:pt x="108204" y="34815"/>
                  </a:lnTo>
                  <a:lnTo>
                    <a:pt x="108204" y="70104"/>
                  </a:lnTo>
                  <a:lnTo>
                    <a:pt x="112776" y="74676"/>
                  </a:lnTo>
                  <a:lnTo>
                    <a:pt x="117348" y="74676"/>
                  </a:lnTo>
                  <a:lnTo>
                    <a:pt x="117348" y="54864"/>
                  </a:lnTo>
                  <a:lnTo>
                    <a:pt x="124968" y="54864"/>
                  </a:lnTo>
                  <a:close/>
                </a:path>
                <a:path w="1028700" h="238125">
                  <a:moveTo>
                    <a:pt x="918972" y="205740"/>
                  </a:moveTo>
                  <a:lnTo>
                    <a:pt x="918972" y="167640"/>
                  </a:lnTo>
                  <a:lnTo>
                    <a:pt x="915924" y="163068"/>
                  </a:lnTo>
                  <a:lnTo>
                    <a:pt x="112776" y="163068"/>
                  </a:lnTo>
                  <a:lnTo>
                    <a:pt x="108204" y="167640"/>
                  </a:lnTo>
                  <a:lnTo>
                    <a:pt x="108204" y="204216"/>
                  </a:lnTo>
                  <a:lnTo>
                    <a:pt x="117348" y="213360"/>
                  </a:lnTo>
                  <a:lnTo>
                    <a:pt x="117348" y="182880"/>
                  </a:lnTo>
                  <a:lnTo>
                    <a:pt x="128016" y="173736"/>
                  </a:lnTo>
                  <a:lnTo>
                    <a:pt x="128016" y="182880"/>
                  </a:lnTo>
                  <a:lnTo>
                    <a:pt x="900684" y="182880"/>
                  </a:lnTo>
                  <a:lnTo>
                    <a:pt x="900684" y="173736"/>
                  </a:lnTo>
                  <a:lnTo>
                    <a:pt x="909828" y="182880"/>
                  </a:lnTo>
                  <a:lnTo>
                    <a:pt x="909828" y="214884"/>
                  </a:lnTo>
                  <a:lnTo>
                    <a:pt x="918972" y="205740"/>
                  </a:lnTo>
                  <a:close/>
                </a:path>
                <a:path w="1028700" h="238125">
                  <a:moveTo>
                    <a:pt x="124968" y="234696"/>
                  </a:moveTo>
                  <a:lnTo>
                    <a:pt x="124968" y="220980"/>
                  </a:lnTo>
                  <a:lnTo>
                    <a:pt x="108204" y="227076"/>
                  </a:lnTo>
                  <a:lnTo>
                    <a:pt x="108204" y="230124"/>
                  </a:lnTo>
                  <a:lnTo>
                    <a:pt x="114300" y="236220"/>
                  </a:lnTo>
                  <a:lnTo>
                    <a:pt x="117348" y="237744"/>
                  </a:lnTo>
                  <a:lnTo>
                    <a:pt x="121920" y="236220"/>
                  </a:lnTo>
                  <a:lnTo>
                    <a:pt x="124968" y="234696"/>
                  </a:lnTo>
                  <a:close/>
                </a:path>
                <a:path w="1028700" h="238125">
                  <a:moveTo>
                    <a:pt x="909828" y="54864"/>
                  </a:moveTo>
                  <a:lnTo>
                    <a:pt x="117348" y="54864"/>
                  </a:lnTo>
                  <a:lnTo>
                    <a:pt x="128016" y="65532"/>
                  </a:lnTo>
                  <a:lnTo>
                    <a:pt x="128016" y="74676"/>
                  </a:lnTo>
                  <a:lnTo>
                    <a:pt x="900684" y="74676"/>
                  </a:lnTo>
                  <a:lnTo>
                    <a:pt x="900684" y="65532"/>
                  </a:lnTo>
                  <a:lnTo>
                    <a:pt x="909828" y="54864"/>
                  </a:lnTo>
                  <a:close/>
                </a:path>
                <a:path w="1028700" h="238125">
                  <a:moveTo>
                    <a:pt x="128016" y="74676"/>
                  </a:moveTo>
                  <a:lnTo>
                    <a:pt x="128016" y="65532"/>
                  </a:lnTo>
                  <a:lnTo>
                    <a:pt x="117348" y="54864"/>
                  </a:lnTo>
                  <a:lnTo>
                    <a:pt x="117348" y="74676"/>
                  </a:lnTo>
                  <a:lnTo>
                    <a:pt x="128016" y="74676"/>
                  </a:lnTo>
                  <a:close/>
                </a:path>
                <a:path w="1028700" h="238125">
                  <a:moveTo>
                    <a:pt x="128016" y="182880"/>
                  </a:moveTo>
                  <a:lnTo>
                    <a:pt x="128016" y="173736"/>
                  </a:lnTo>
                  <a:lnTo>
                    <a:pt x="117348" y="182880"/>
                  </a:lnTo>
                  <a:lnTo>
                    <a:pt x="128016" y="182880"/>
                  </a:lnTo>
                  <a:close/>
                </a:path>
                <a:path w="1028700" h="238125">
                  <a:moveTo>
                    <a:pt x="128016" y="230124"/>
                  </a:moveTo>
                  <a:lnTo>
                    <a:pt x="128016" y="182880"/>
                  </a:lnTo>
                  <a:lnTo>
                    <a:pt x="117348" y="182880"/>
                  </a:lnTo>
                  <a:lnTo>
                    <a:pt x="117348" y="213360"/>
                  </a:lnTo>
                  <a:lnTo>
                    <a:pt x="124968" y="220980"/>
                  </a:lnTo>
                  <a:lnTo>
                    <a:pt x="124968" y="234696"/>
                  </a:lnTo>
                  <a:lnTo>
                    <a:pt x="128016" y="230124"/>
                  </a:lnTo>
                  <a:close/>
                </a:path>
                <a:path w="1028700" h="238125">
                  <a:moveTo>
                    <a:pt x="1028700" y="121920"/>
                  </a:moveTo>
                  <a:lnTo>
                    <a:pt x="1028700" y="115824"/>
                  </a:lnTo>
                  <a:lnTo>
                    <a:pt x="1024128" y="112776"/>
                  </a:lnTo>
                  <a:lnTo>
                    <a:pt x="917448" y="4572"/>
                  </a:lnTo>
                  <a:lnTo>
                    <a:pt x="914400" y="1524"/>
                  </a:lnTo>
                  <a:lnTo>
                    <a:pt x="909828" y="0"/>
                  </a:lnTo>
                  <a:lnTo>
                    <a:pt x="906780" y="1524"/>
                  </a:lnTo>
                  <a:lnTo>
                    <a:pt x="902208" y="3048"/>
                  </a:lnTo>
                  <a:lnTo>
                    <a:pt x="900684" y="7620"/>
                  </a:lnTo>
                  <a:lnTo>
                    <a:pt x="900684" y="54864"/>
                  </a:lnTo>
                  <a:lnTo>
                    <a:pt x="903732" y="54864"/>
                  </a:lnTo>
                  <a:lnTo>
                    <a:pt x="903732" y="18288"/>
                  </a:lnTo>
                  <a:lnTo>
                    <a:pt x="918972" y="10668"/>
                  </a:lnTo>
                  <a:lnTo>
                    <a:pt x="918972" y="33313"/>
                  </a:lnTo>
                  <a:lnTo>
                    <a:pt x="1005796" y="118915"/>
                  </a:lnTo>
                  <a:lnTo>
                    <a:pt x="1011936" y="112776"/>
                  </a:lnTo>
                  <a:lnTo>
                    <a:pt x="1011936" y="137334"/>
                  </a:lnTo>
                  <a:lnTo>
                    <a:pt x="1024128" y="124968"/>
                  </a:lnTo>
                  <a:lnTo>
                    <a:pt x="1028700" y="121920"/>
                  </a:lnTo>
                  <a:close/>
                </a:path>
                <a:path w="1028700" h="238125">
                  <a:moveTo>
                    <a:pt x="909828" y="74676"/>
                  </a:moveTo>
                  <a:lnTo>
                    <a:pt x="909828" y="54864"/>
                  </a:lnTo>
                  <a:lnTo>
                    <a:pt x="900684" y="65532"/>
                  </a:lnTo>
                  <a:lnTo>
                    <a:pt x="900684" y="74676"/>
                  </a:lnTo>
                  <a:lnTo>
                    <a:pt x="909828" y="74676"/>
                  </a:lnTo>
                  <a:close/>
                </a:path>
                <a:path w="1028700" h="238125">
                  <a:moveTo>
                    <a:pt x="909828" y="182880"/>
                  </a:moveTo>
                  <a:lnTo>
                    <a:pt x="900684" y="173736"/>
                  </a:lnTo>
                  <a:lnTo>
                    <a:pt x="900684" y="182880"/>
                  </a:lnTo>
                  <a:lnTo>
                    <a:pt x="909828" y="182880"/>
                  </a:lnTo>
                  <a:close/>
                </a:path>
                <a:path w="1028700" h="238125">
                  <a:moveTo>
                    <a:pt x="909828" y="214884"/>
                  </a:moveTo>
                  <a:lnTo>
                    <a:pt x="909828" y="182880"/>
                  </a:lnTo>
                  <a:lnTo>
                    <a:pt x="900684" y="182880"/>
                  </a:lnTo>
                  <a:lnTo>
                    <a:pt x="900684" y="230124"/>
                  </a:lnTo>
                  <a:lnTo>
                    <a:pt x="902208" y="234696"/>
                  </a:lnTo>
                  <a:lnTo>
                    <a:pt x="903732" y="235204"/>
                  </a:lnTo>
                  <a:lnTo>
                    <a:pt x="903732" y="220980"/>
                  </a:lnTo>
                  <a:lnTo>
                    <a:pt x="909828" y="214884"/>
                  </a:lnTo>
                  <a:close/>
                </a:path>
                <a:path w="1028700" h="238125">
                  <a:moveTo>
                    <a:pt x="918972" y="33313"/>
                  </a:moveTo>
                  <a:lnTo>
                    <a:pt x="918972" y="10668"/>
                  </a:lnTo>
                  <a:lnTo>
                    <a:pt x="903732" y="18288"/>
                  </a:lnTo>
                  <a:lnTo>
                    <a:pt x="918972" y="33313"/>
                  </a:lnTo>
                  <a:close/>
                </a:path>
                <a:path w="1028700" h="238125">
                  <a:moveTo>
                    <a:pt x="918972" y="70104"/>
                  </a:moveTo>
                  <a:lnTo>
                    <a:pt x="918972" y="33313"/>
                  </a:lnTo>
                  <a:lnTo>
                    <a:pt x="903732" y="18288"/>
                  </a:lnTo>
                  <a:lnTo>
                    <a:pt x="903732" y="54864"/>
                  </a:lnTo>
                  <a:lnTo>
                    <a:pt x="909828" y="54864"/>
                  </a:lnTo>
                  <a:lnTo>
                    <a:pt x="909828" y="74676"/>
                  </a:lnTo>
                  <a:lnTo>
                    <a:pt x="915924" y="74676"/>
                  </a:lnTo>
                  <a:lnTo>
                    <a:pt x="918972" y="70104"/>
                  </a:lnTo>
                  <a:close/>
                </a:path>
                <a:path w="1028700" h="238125">
                  <a:moveTo>
                    <a:pt x="1011936" y="137334"/>
                  </a:moveTo>
                  <a:lnTo>
                    <a:pt x="1011936" y="124968"/>
                  </a:lnTo>
                  <a:lnTo>
                    <a:pt x="1005796" y="118915"/>
                  </a:lnTo>
                  <a:lnTo>
                    <a:pt x="903732" y="220980"/>
                  </a:lnTo>
                  <a:lnTo>
                    <a:pt x="918972" y="227076"/>
                  </a:lnTo>
                  <a:lnTo>
                    <a:pt x="918972" y="231626"/>
                  </a:lnTo>
                  <a:lnTo>
                    <a:pt x="1011936" y="137334"/>
                  </a:lnTo>
                  <a:close/>
                </a:path>
                <a:path w="1028700" h="238125">
                  <a:moveTo>
                    <a:pt x="918972" y="231626"/>
                  </a:moveTo>
                  <a:lnTo>
                    <a:pt x="918972" y="227076"/>
                  </a:lnTo>
                  <a:lnTo>
                    <a:pt x="903732" y="220980"/>
                  </a:lnTo>
                  <a:lnTo>
                    <a:pt x="903732" y="235204"/>
                  </a:lnTo>
                  <a:lnTo>
                    <a:pt x="906780" y="236220"/>
                  </a:lnTo>
                  <a:lnTo>
                    <a:pt x="909828" y="237744"/>
                  </a:lnTo>
                  <a:lnTo>
                    <a:pt x="914400" y="236220"/>
                  </a:lnTo>
                  <a:lnTo>
                    <a:pt x="918972" y="231626"/>
                  </a:lnTo>
                  <a:close/>
                </a:path>
                <a:path w="1028700" h="238125">
                  <a:moveTo>
                    <a:pt x="1011936" y="124968"/>
                  </a:moveTo>
                  <a:lnTo>
                    <a:pt x="1011936" y="112776"/>
                  </a:lnTo>
                  <a:lnTo>
                    <a:pt x="1005796" y="118915"/>
                  </a:lnTo>
                  <a:lnTo>
                    <a:pt x="1011936" y="124968"/>
                  </a:lnTo>
                  <a:close/>
                </a:path>
              </a:pathLst>
            </a:custGeom>
            <a:solidFill>
              <a:srgbClr val="6B84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2275" y="2502408"/>
            <a:ext cx="7126223" cy="3724655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021976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37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7500" rIns="0" bIns="0" rtlCol="0">
            <a:spAutoFit/>
          </a:bodyPr>
          <a:lstStyle/>
          <a:p>
            <a:pPr marL="445134">
              <a:lnSpc>
                <a:spcPct val="100000"/>
              </a:lnSpc>
              <a:spcBef>
                <a:spcPts val="100"/>
              </a:spcBef>
            </a:pPr>
            <a:r>
              <a:rPr sz="3200" spc="-265" dirty="0"/>
              <a:t>Encapsulation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8360" y="2071877"/>
            <a:ext cx="7653779" cy="444817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21976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3304" rIns="0" bIns="0" rtlCol="0">
            <a:spAutoFit/>
          </a:bodyPr>
          <a:lstStyle/>
          <a:p>
            <a:pPr marL="381000">
              <a:lnSpc>
                <a:spcPct val="100000"/>
              </a:lnSpc>
              <a:spcBef>
                <a:spcPts val="100"/>
              </a:spcBef>
            </a:pPr>
            <a:r>
              <a:rPr spc="-300" dirty="0"/>
              <a:t>Encapsulation</a:t>
            </a:r>
            <a:r>
              <a:rPr b="0" spc="100" dirty="0">
                <a:latin typeface="Times New Roman"/>
                <a:cs typeface="Times New Roman"/>
              </a:rPr>
              <a:t> </a:t>
            </a:r>
            <a:r>
              <a:rPr spc="-280" dirty="0"/>
              <a:t>et</a:t>
            </a:r>
            <a:r>
              <a:rPr b="0" spc="75" dirty="0">
                <a:latin typeface="Times New Roman"/>
                <a:cs typeface="Times New Roman"/>
              </a:rPr>
              <a:t> </a:t>
            </a:r>
            <a:r>
              <a:rPr spc="-215" dirty="0"/>
              <a:t>interface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39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49052" y="1902967"/>
            <a:ext cx="8373109" cy="4719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165735" indent="-342900" algn="just">
              <a:lnSpc>
                <a:spcPct val="100000"/>
              </a:lnSpc>
              <a:spcBef>
                <a:spcPts val="95"/>
              </a:spcBef>
              <a:buFont typeface="Wingdings"/>
              <a:buChar char=""/>
              <a:tabLst>
                <a:tab pos="355600" algn="l"/>
                <a:tab pos="420370" algn="l"/>
              </a:tabLst>
            </a:pP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	</a:t>
            </a:r>
            <a:r>
              <a:rPr sz="2200" spc="-20" dirty="0">
                <a:latin typeface="Times New Roman"/>
                <a:cs typeface="Times New Roman"/>
              </a:rPr>
              <a:t>Tout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qu’il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n’est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pas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nécessaire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connaître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à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l’extérieur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d’un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objet </a:t>
            </a:r>
            <a:r>
              <a:rPr sz="2200" dirty="0">
                <a:latin typeface="Times New Roman"/>
                <a:cs typeface="Times New Roman"/>
              </a:rPr>
              <a:t>devrait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être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dans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corps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l’objet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identifié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par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mot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clé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65"/>
                </a:solidFill>
                <a:latin typeface="Times New Roman"/>
                <a:cs typeface="Times New Roman"/>
              </a:rPr>
              <a:t>private</a:t>
            </a:r>
            <a:r>
              <a:rPr sz="2200" spc="-35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200" spc="-50" dirty="0">
                <a:latin typeface="Times New Roman"/>
                <a:cs typeface="Times New Roman"/>
              </a:rPr>
              <a:t>: </a:t>
            </a:r>
            <a:r>
              <a:rPr sz="2200" dirty="0">
                <a:solidFill>
                  <a:srgbClr val="001F5F"/>
                </a:solidFill>
                <a:latin typeface="Times New Roman"/>
                <a:cs typeface="Times New Roman"/>
              </a:rPr>
              <a:t>class</a:t>
            </a:r>
            <a:r>
              <a:rPr sz="2200" spc="-4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00B0F0"/>
                </a:solidFill>
                <a:latin typeface="Times New Roman"/>
                <a:cs typeface="Times New Roman"/>
              </a:rPr>
              <a:t>Rectangle</a:t>
            </a:r>
            <a:endParaRPr sz="2200">
              <a:latin typeface="Times New Roman"/>
              <a:cs typeface="Times New Roman"/>
            </a:endParaRPr>
          </a:p>
          <a:p>
            <a:pPr marL="291465">
              <a:lnSpc>
                <a:spcPct val="100000"/>
              </a:lnSpc>
            </a:pPr>
            <a:r>
              <a:rPr sz="2200" spc="-50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endParaRPr sz="2200">
              <a:latin typeface="Times New Roman"/>
              <a:cs typeface="Times New Roman"/>
            </a:endParaRPr>
          </a:p>
          <a:p>
            <a:pPr marL="361315">
              <a:lnSpc>
                <a:spcPct val="100000"/>
              </a:lnSpc>
            </a:pPr>
            <a:r>
              <a:rPr sz="220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200" spc="-8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surface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()</a:t>
            </a:r>
            <a:r>
              <a:rPr sz="22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001F5F"/>
                </a:solidFill>
                <a:latin typeface="Times New Roman"/>
                <a:cs typeface="Times New Roman"/>
              </a:rPr>
              <a:t>const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200">
              <a:latin typeface="Times New Roman"/>
              <a:cs typeface="Times New Roman"/>
            </a:endParaRPr>
          </a:p>
          <a:p>
            <a:pPr marL="291465">
              <a:lnSpc>
                <a:spcPct val="100000"/>
              </a:lnSpc>
              <a:spcBef>
                <a:spcPts val="200"/>
              </a:spcBef>
            </a:pP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000" spc="-5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00B04F"/>
                </a:solidFill>
                <a:latin typeface="Times New Roman"/>
                <a:cs typeface="Times New Roman"/>
              </a:rPr>
              <a:t>Tout</a:t>
            </a:r>
            <a:r>
              <a:rPr sz="2000" spc="-4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ce</a:t>
            </a: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qui</a:t>
            </a:r>
            <a:r>
              <a:rPr sz="2000" spc="-4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suit</a:t>
            </a:r>
            <a:r>
              <a:rPr sz="2000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est</a:t>
            </a:r>
            <a:r>
              <a:rPr sz="2000" spc="-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privé</a:t>
            </a:r>
            <a:r>
              <a:rPr sz="2000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(inaccessible</a:t>
            </a:r>
            <a:r>
              <a:rPr sz="2000" spc="-4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depuis</a:t>
            </a:r>
            <a:r>
              <a:rPr sz="2000" spc="-4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0B04F"/>
                </a:solidFill>
                <a:latin typeface="Times New Roman"/>
                <a:cs typeface="Times New Roman"/>
              </a:rPr>
              <a:t>l'extérieur)</a:t>
            </a:r>
            <a:endParaRPr sz="2000">
              <a:latin typeface="Times New Roman"/>
              <a:cs typeface="Times New Roman"/>
            </a:endParaRPr>
          </a:p>
          <a:p>
            <a:pPr marL="361315">
              <a:lnSpc>
                <a:spcPct val="100000"/>
              </a:lnSpc>
              <a:spcBef>
                <a:spcPts val="40"/>
              </a:spcBef>
            </a:pPr>
            <a:r>
              <a:rPr sz="2200" spc="-10" dirty="0">
                <a:solidFill>
                  <a:srgbClr val="FF0065"/>
                </a:solidFill>
                <a:latin typeface="Times New Roman"/>
                <a:cs typeface="Times New Roman"/>
              </a:rPr>
              <a:t>private:</a:t>
            </a:r>
            <a:endParaRPr sz="2200">
              <a:latin typeface="Times New Roman"/>
              <a:cs typeface="Times New Roman"/>
            </a:endParaRPr>
          </a:p>
          <a:p>
            <a:pPr marL="361315" marR="6256655">
              <a:lnSpc>
                <a:spcPct val="100000"/>
              </a:lnSpc>
            </a:pPr>
            <a:r>
              <a:rPr sz="220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200" spc="-5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hauteur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220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200" spc="-5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largeur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200">
              <a:latin typeface="Times New Roman"/>
              <a:cs typeface="Times New Roman"/>
            </a:endParaRPr>
          </a:p>
          <a:p>
            <a:pPr marL="431800">
              <a:lnSpc>
                <a:spcPct val="100000"/>
              </a:lnSpc>
            </a:pPr>
            <a:r>
              <a:rPr sz="2200" spc="-25" dirty="0">
                <a:solidFill>
                  <a:srgbClr val="FF0000"/>
                </a:solidFill>
                <a:latin typeface="Times New Roman"/>
                <a:cs typeface="Times New Roman"/>
              </a:rPr>
              <a:t>};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Clr>
                <a:srgbClr val="006FC0"/>
              </a:buClr>
              <a:buFont typeface="Wingdings"/>
              <a:buChar char=""/>
              <a:tabLst>
                <a:tab pos="354965" algn="l"/>
              </a:tabLst>
            </a:pPr>
            <a:r>
              <a:rPr sz="2200" dirty="0">
                <a:latin typeface="Times New Roman"/>
                <a:cs typeface="Times New Roman"/>
              </a:rPr>
              <a:t>Attribut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d’instance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privée</a:t>
            </a:r>
            <a:r>
              <a:rPr sz="22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=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inaccessible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depuis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l’extérieur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la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classe.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Clr>
                <a:srgbClr val="006FC0"/>
              </a:buClr>
              <a:buFont typeface="Wingdings"/>
              <a:buChar char=""/>
              <a:tabLst>
                <a:tab pos="354965" algn="l"/>
              </a:tabLst>
            </a:pPr>
            <a:r>
              <a:rPr sz="2200" b="1" dirty="0">
                <a:latin typeface="Times New Roman"/>
                <a:cs typeface="Times New Roman"/>
              </a:rPr>
              <a:t>C’est</a:t>
            </a:r>
            <a:r>
              <a:rPr sz="2200" b="1" spc="-5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également</a:t>
            </a:r>
            <a:r>
              <a:rPr sz="2200" b="1" spc="-3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valable</a:t>
            </a:r>
            <a:r>
              <a:rPr sz="2200" b="1" spc="-7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pour</a:t>
            </a:r>
            <a:r>
              <a:rPr sz="2200" b="1" spc="-9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les</a:t>
            </a:r>
            <a:r>
              <a:rPr sz="2200" b="1" spc="-60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méthodes.</a:t>
            </a:r>
            <a:endParaRPr sz="2200">
              <a:latin typeface="Times New Roman"/>
              <a:cs typeface="Times New Roman"/>
            </a:endParaRPr>
          </a:p>
          <a:p>
            <a:pPr marL="355600" marR="86995" indent="-342900">
              <a:lnSpc>
                <a:spcPct val="100000"/>
              </a:lnSpc>
              <a:buClr>
                <a:srgbClr val="006FC0"/>
              </a:buClr>
              <a:buFont typeface="Wingdings"/>
              <a:buChar char=""/>
              <a:tabLst>
                <a:tab pos="355600" algn="l"/>
              </a:tabLst>
            </a:pPr>
            <a:r>
              <a:rPr sz="2200" dirty="0">
                <a:latin typeface="Times New Roman"/>
                <a:cs typeface="Times New Roman"/>
              </a:rPr>
              <a:t>Si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aucun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droit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d’accès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n’est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précisé,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par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défaut,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tous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les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éléments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d'une </a:t>
            </a:r>
            <a:r>
              <a:rPr sz="2200" dirty="0">
                <a:latin typeface="Times New Roman"/>
                <a:cs typeface="Times New Roman"/>
              </a:rPr>
              <a:t>classe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sont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0065"/>
                </a:solidFill>
                <a:latin typeface="Times New Roman"/>
                <a:cs typeface="Times New Roman"/>
              </a:rPr>
              <a:t>private</a:t>
            </a:r>
            <a:r>
              <a:rPr sz="2200" spc="-10" dirty="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21976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39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3304" rIns="0" bIns="0" rtlCol="0">
            <a:spAutoFit/>
          </a:bodyPr>
          <a:lstStyle/>
          <a:p>
            <a:pPr marL="381000">
              <a:lnSpc>
                <a:spcPct val="100000"/>
              </a:lnSpc>
              <a:spcBef>
                <a:spcPts val="100"/>
              </a:spcBef>
            </a:pPr>
            <a:r>
              <a:rPr spc="-300" dirty="0"/>
              <a:t>Encapsulation</a:t>
            </a:r>
            <a:r>
              <a:rPr b="0" spc="100" dirty="0">
                <a:latin typeface="Times New Roman"/>
                <a:cs typeface="Times New Roman"/>
              </a:rPr>
              <a:t> </a:t>
            </a:r>
            <a:r>
              <a:rPr spc="-280" dirty="0"/>
              <a:t>et</a:t>
            </a:r>
            <a:r>
              <a:rPr b="0" spc="75" dirty="0">
                <a:latin typeface="Times New Roman"/>
                <a:cs typeface="Times New Roman"/>
              </a:rPr>
              <a:t> </a:t>
            </a:r>
            <a:r>
              <a:rPr spc="-215" dirty="0"/>
              <a:t>interface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40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7864" y="1842007"/>
            <a:ext cx="9013190" cy="3347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006FC0"/>
              </a:buClr>
              <a:buFont typeface="Wingdings"/>
              <a:buChar char=""/>
              <a:tabLst>
                <a:tab pos="354965" algn="l"/>
              </a:tabLst>
            </a:pPr>
            <a:r>
              <a:rPr sz="2200" spc="-20" dirty="0">
                <a:latin typeface="Times New Roman"/>
                <a:cs typeface="Times New Roman"/>
              </a:rPr>
              <a:t>L’interface,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qui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est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accessible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l’extérieur,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déclare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avec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mot-</a:t>
            </a:r>
            <a:r>
              <a:rPr sz="2200" dirty="0">
                <a:latin typeface="Times New Roman"/>
                <a:cs typeface="Times New Roman"/>
              </a:rPr>
              <a:t>clé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0065"/>
                </a:solidFill>
                <a:latin typeface="Times New Roman"/>
                <a:cs typeface="Times New Roman"/>
              </a:rPr>
              <a:t>public</a:t>
            </a:r>
            <a:endParaRPr sz="2200">
              <a:latin typeface="Times New Roman"/>
              <a:cs typeface="Times New Roman"/>
            </a:endParaRPr>
          </a:p>
          <a:p>
            <a:pPr marL="361315">
              <a:lnSpc>
                <a:spcPct val="100000"/>
              </a:lnSpc>
            </a:pPr>
            <a:r>
              <a:rPr sz="2200" b="1" dirty="0">
                <a:solidFill>
                  <a:srgbClr val="001F5F"/>
                </a:solidFill>
                <a:latin typeface="Times New Roman"/>
                <a:cs typeface="Times New Roman"/>
              </a:rPr>
              <a:t>class</a:t>
            </a:r>
            <a:r>
              <a:rPr sz="2200" b="1" spc="-4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00B0F0"/>
                </a:solidFill>
                <a:latin typeface="Times New Roman"/>
                <a:cs typeface="Times New Roman"/>
              </a:rPr>
              <a:t>Rectangle</a:t>
            </a:r>
            <a:endParaRPr sz="2200">
              <a:latin typeface="Times New Roman"/>
              <a:cs typeface="Times New Roman"/>
            </a:endParaRPr>
          </a:p>
          <a:p>
            <a:pPr marL="291465">
              <a:lnSpc>
                <a:spcPct val="100000"/>
              </a:lnSpc>
            </a:pPr>
            <a:r>
              <a:rPr sz="2200" spc="-50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endParaRPr sz="2200">
              <a:latin typeface="Times New Roman"/>
              <a:cs typeface="Times New Roman"/>
            </a:endParaRPr>
          </a:p>
          <a:p>
            <a:pPr marL="361315">
              <a:lnSpc>
                <a:spcPct val="100000"/>
              </a:lnSpc>
              <a:spcBef>
                <a:spcPts val="200"/>
              </a:spcBef>
            </a:pP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000" spc="-6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00B04F"/>
                </a:solidFill>
                <a:latin typeface="Times New Roman"/>
                <a:cs typeface="Times New Roman"/>
              </a:rPr>
              <a:t>Tout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ce</a:t>
            </a: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qui</a:t>
            </a:r>
            <a:r>
              <a:rPr sz="2000" spc="-4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suit</a:t>
            </a:r>
            <a:r>
              <a:rPr sz="2000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est</a:t>
            </a:r>
            <a:r>
              <a:rPr sz="2000" spc="-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public</a:t>
            </a:r>
            <a:r>
              <a:rPr sz="2000" spc="-4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(accessible</a:t>
            </a:r>
            <a:r>
              <a:rPr sz="2000" spc="-4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depuis</a:t>
            </a:r>
            <a:r>
              <a:rPr sz="2000" spc="-4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0B04F"/>
                </a:solidFill>
                <a:latin typeface="Times New Roman"/>
                <a:cs typeface="Times New Roman"/>
              </a:rPr>
              <a:t>l'extérieur)</a:t>
            </a:r>
            <a:endParaRPr sz="2000">
              <a:latin typeface="Times New Roman"/>
              <a:cs typeface="Times New Roman"/>
            </a:endParaRPr>
          </a:p>
          <a:p>
            <a:pPr marL="361315">
              <a:lnSpc>
                <a:spcPct val="100000"/>
              </a:lnSpc>
              <a:spcBef>
                <a:spcPts val="40"/>
              </a:spcBef>
            </a:pPr>
            <a:r>
              <a:rPr sz="2200" spc="-10" dirty="0">
                <a:solidFill>
                  <a:srgbClr val="FF0065"/>
                </a:solidFill>
                <a:latin typeface="Times New Roman"/>
                <a:cs typeface="Times New Roman"/>
              </a:rPr>
              <a:t>public:</a:t>
            </a:r>
            <a:endParaRPr sz="2200">
              <a:latin typeface="Times New Roman"/>
              <a:cs typeface="Times New Roman"/>
            </a:endParaRPr>
          </a:p>
          <a:p>
            <a:pPr marL="361315">
              <a:lnSpc>
                <a:spcPct val="100000"/>
              </a:lnSpc>
            </a:pPr>
            <a:r>
              <a:rPr sz="220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200" spc="-8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surface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()</a:t>
            </a:r>
            <a:r>
              <a:rPr sz="22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001F5F"/>
                </a:solidFill>
                <a:latin typeface="Times New Roman"/>
                <a:cs typeface="Times New Roman"/>
              </a:rPr>
              <a:t>const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200">
              <a:latin typeface="Times New Roman"/>
              <a:cs typeface="Times New Roman"/>
            </a:endParaRPr>
          </a:p>
          <a:p>
            <a:pPr marL="329565">
              <a:lnSpc>
                <a:spcPts val="2395"/>
              </a:lnSpc>
              <a:spcBef>
                <a:spcPts val="5"/>
              </a:spcBef>
            </a:pP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000" spc="-5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00B04F"/>
                </a:solidFill>
                <a:latin typeface="Times New Roman"/>
                <a:cs typeface="Times New Roman"/>
              </a:rPr>
              <a:t>Tout</a:t>
            </a:r>
            <a:r>
              <a:rPr sz="2000" spc="-4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ce</a:t>
            </a: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qui</a:t>
            </a:r>
            <a:r>
              <a:rPr sz="2000" spc="-4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suit</a:t>
            </a:r>
            <a:r>
              <a:rPr sz="2000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est</a:t>
            </a:r>
            <a:r>
              <a:rPr sz="2000" spc="-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privé</a:t>
            </a:r>
            <a:r>
              <a:rPr sz="2000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(inaccessible</a:t>
            </a:r>
            <a:r>
              <a:rPr sz="2000" spc="-4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depuis</a:t>
            </a:r>
            <a:r>
              <a:rPr sz="2000" spc="-4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0B04F"/>
                </a:solidFill>
                <a:latin typeface="Times New Roman"/>
                <a:cs typeface="Times New Roman"/>
              </a:rPr>
              <a:t>l'extérieur)</a:t>
            </a:r>
            <a:endParaRPr sz="2000">
              <a:latin typeface="Times New Roman"/>
              <a:cs typeface="Times New Roman"/>
            </a:endParaRPr>
          </a:p>
          <a:p>
            <a:pPr marL="361315">
              <a:lnSpc>
                <a:spcPts val="2635"/>
              </a:lnSpc>
            </a:pPr>
            <a:r>
              <a:rPr sz="2200" spc="-10" dirty="0">
                <a:solidFill>
                  <a:srgbClr val="FF0065"/>
                </a:solidFill>
                <a:latin typeface="Times New Roman"/>
                <a:cs typeface="Times New Roman"/>
              </a:rPr>
              <a:t>private:</a:t>
            </a:r>
            <a:endParaRPr sz="2200">
              <a:latin typeface="Times New Roman"/>
              <a:cs typeface="Times New Roman"/>
            </a:endParaRPr>
          </a:p>
          <a:p>
            <a:pPr marL="361315">
              <a:lnSpc>
                <a:spcPct val="100000"/>
              </a:lnSpc>
              <a:spcBef>
                <a:spcPts val="200"/>
              </a:spcBef>
            </a:pP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000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00B04F"/>
                </a:solidFill>
                <a:latin typeface="Times New Roman"/>
                <a:cs typeface="Times New Roman"/>
              </a:rPr>
              <a:t>...</a:t>
            </a:r>
            <a:endParaRPr sz="2000">
              <a:latin typeface="Times New Roman"/>
              <a:cs typeface="Times New Roman"/>
            </a:endParaRPr>
          </a:p>
          <a:p>
            <a:pPr marL="361315">
              <a:lnSpc>
                <a:spcPct val="100000"/>
              </a:lnSpc>
              <a:spcBef>
                <a:spcPts val="40"/>
              </a:spcBef>
            </a:pPr>
            <a:r>
              <a:rPr sz="2200" spc="-25" dirty="0">
                <a:solidFill>
                  <a:srgbClr val="FF0000"/>
                </a:solidFill>
                <a:latin typeface="Times New Roman"/>
                <a:cs typeface="Times New Roman"/>
              </a:rPr>
              <a:t>};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21976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40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3304" rIns="0" bIns="0" rtlCol="0">
            <a:spAutoFit/>
          </a:bodyPr>
          <a:lstStyle/>
          <a:p>
            <a:pPr marL="381000">
              <a:lnSpc>
                <a:spcPct val="100000"/>
              </a:lnSpc>
              <a:spcBef>
                <a:spcPts val="100"/>
              </a:spcBef>
            </a:pPr>
            <a:r>
              <a:rPr spc="-300" dirty="0"/>
              <a:t>Encapsulation</a:t>
            </a:r>
            <a:r>
              <a:rPr b="0" spc="100" dirty="0">
                <a:latin typeface="Times New Roman"/>
                <a:cs typeface="Times New Roman"/>
              </a:rPr>
              <a:t> </a:t>
            </a:r>
            <a:r>
              <a:rPr spc="-280" dirty="0"/>
              <a:t>et</a:t>
            </a:r>
            <a:r>
              <a:rPr b="0" spc="75" dirty="0">
                <a:latin typeface="Times New Roman"/>
                <a:cs typeface="Times New Roman"/>
              </a:rPr>
              <a:t> </a:t>
            </a:r>
            <a:r>
              <a:rPr spc="-215" dirty="0"/>
              <a:t>interface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41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4272" y="1840483"/>
            <a:ext cx="8589645" cy="3622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165" indent="-418465">
              <a:lnSpc>
                <a:spcPct val="100000"/>
              </a:lnSpc>
              <a:spcBef>
                <a:spcPts val="100"/>
              </a:spcBef>
              <a:buClr>
                <a:srgbClr val="006FC0"/>
              </a:buClr>
              <a:buFont typeface="Wingdings"/>
              <a:buChar char=""/>
              <a:tabLst>
                <a:tab pos="431165" algn="l"/>
              </a:tabLst>
            </a:pPr>
            <a:r>
              <a:rPr sz="2400" b="1" dirty="0">
                <a:solidFill>
                  <a:srgbClr val="FFC000"/>
                </a:solidFill>
                <a:latin typeface="Times New Roman"/>
                <a:cs typeface="Times New Roman"/>
              </a:rPr>
              <a:t>Best</a:t>
            </a:r>
            <a:r>
              <a:rPr sz="2400" b="1" spc="-20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C000"/>
                </a:solidFill>
                <a:latin typeface="Times New Roman"/>
                <a:cs typeface="Times New Roman"/>
              </a:rPr>
              <a:t>practice:</a:t>
            </a:r>
            <a:r>
              <a:rPr sz="2400" b="1" spc="-40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dans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plupart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ts val="2635"/>
              </a:lnSpc>
              <a:spcBef>
                <a:spcPts val="5"/>
              </a:spcBef>
              <a:buClr>
                <a:srgbClr val="006FC0"/>
              </a:buClr>
              <a:buFont typeface="Wingdings"/>
              <a:buChar char=""/>
              <a:tabLst>
                <a:tab pos="354965" algn="l"/>
              </a:tabLst>
            </a:pPr>
            <a:r>
              <a:rPr sz="2200" b="1" dirty="0">
                <a:solidFill>
                  <a:srgbClr val="FF0065"/>
                </a:solidFill>
                <a:latin typeface="Times New Roman"/>
                <a:cs typeface="Times New Roman"/>
              </a:rPr>
              <a:t>Privé</a:t>
            </a:r>
            <a:r>
              <a:rPr sz="2200" b="1" spc="-45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200" b="1" spc="-50" dirty="0">
                <a:solidFill>
                  <a:srgbClr val="FF0065"/>
                </a:solidFill>
                <a:latin typeface="Times New Roman"/>
                <a:cs typeface="Times New Roman"/>
              </a:rPr>
              <a:t>:</a:t>
            </a:r>
            <a:endParaRPr sz="2200">
              <a:latin typeface="Times New Roman"/>
              <a:cs typeface="Times New Roman"/>
            </a:endParaRPr>
          </a:p>
          <a:p>
            <a:pPr marL="488950" lvl="1" indent="-209550">
              <a:lnSpc>
                <a:spcPts val="2875"/>
              </a:lnSpc>
              <a:buClr>
                <a:srgbClr val="006FC0"/>
              </a:buClr>
              <a:buFont typeface="Wingdings"/>
              <a:buChar char=""/>
              <a:tabLst>
                <a:tab pos="488950" algn="l"/>
              </a:tabLst>
            </a:pPr>
            <a:r>
              <a:rPr sz="2400" spc="-20" dirty="0">
                <a:latin typeface="Times New Roman"/>
                <a:cs typeface="Times New Roman"/>
              </a:rPr>
              <a:t>Tous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les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attributs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(</a:t>
            </a:r>
            <a:r>
              <a:rPr sz="2400" b="1" spc="-10" dirty="0">
                <a:latin typeface="Times New Roman"/>
                <a:cs typeface="Times New Roman"/>
              </a:rPr>
              <a:t>encapsulation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 marL="495300" lvl="1" indent="-215900">
              <a:lnSpc>
                <a:spcPct val="100000"/>
              </a:lnSpc>
              <a:buClr>
                <a:srgbClr val="006FC0"/>
              </a:buClr>
              <a:buFont typeface="Wingdings"/>
              <a:buChar char=""/>
              <a:tabLst>
                <a:tab pos="495300" algn="l"/>
              </a:tabLst>
            </a:pP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plupart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</a:t>
            </a:r>
            <a:r>
              <a:rPr sz="2400" spc="-10" dirty="0">
                <a:latin typeface="Times New Roman"/>
                <a:cs typeface="Times New Roman"/>
              </a:rPr>
              <a:t> méthodes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ts val="2635"/>
              </a:lnSpc>
              <a:spcBef>
                <a:spcPts val="10"/>
              </a:spcBef>
              <a:buClr>
                <a:srgbClr val="006FC0"/>
              </a:buClr>
              <a:buFont typeface="Wingdings"/>
              <a:buChar char=""/>
              <a:tabLst>
                <a:tab pos="354965" algn="l"/>
              </a:tabLst>
            </a:pPr>
            <a:r>
              <a:rPr sz="2200" b="1" dirty="0">
                <a:solidFill>
                  <a:srgbClr val="FF0065"/>
                </a:solidFill>
                <a:latin typeface="Times New Roman"/>
                <a:cs typeface="Times New Roman"/>
              </a:rPr>
              <a:t>Public</a:t>
            </a:r>
            <a:r>
              <a:rPr sz="2200" b="1" spc="-60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200" b="1" spc="-50" dirty="0">
                <a:solidFill>
                  <a:srgbClr val="FF0065"/>
                </a:solidFill>
                <a:latin typeface="Times New Roman"/>
                <a:cs typeface="Times New Roman"/>
              </a:rPr>
              <a:t>:</a:t>
            </a:r>
            <a:endParaRPr sz="2200">
              <a:latin typeface="Times New Roman"/>
              <a:cs typeface="Times New Roman"/>
            </a:endParaRPr>
          </a:p>
          <a:p>
            <a:pPr marL="495300" lvl="1" indent="-215900">
              <a:lnSpc>
                <a:spcPts val="2875"/>
              </a:lnSpc>
              <a:buClr>
                <a:srgbClr val="006FC0"/>
              </a:buClr>
              <a:buFont typeface="Wingdings"/>
              <a:buChar char=""/>
              <a:tabLst>
                <a:tab pos="495300" algn="l"/>
              </a:tabLst>
            </a:pPr>
            <a:r>
              <a:rPr sz="2400" dirty="0">
                <a:latin typeface="Times New Roman"/>
                <a:cs typeface="Times New Roman"/>
              </a:rPr>
              <a:t>Quelques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méthodes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bien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choisies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(</a:t>
            </a:r>
            <a:r>
              <a:rPr sz="2400" b="1" spc="-10" dirty="0">
                <a:latin typeface="Times New Roman"/>
                <a:cs typeface="Times New Roman"/>
              </a:rPr>
              <a:t>interface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Clr>
                <a:srgbClr val="006FC0"/>
              </a:buClr>
              <a:buFont typeface="Wingdings"/>
              <a:buChar char=""/>
              <a:tabLst>
                <a:tab pos="354965" algn="l"/>
              </a:tabLst>
            </a:pPr>
            <a:r>
              <a:rPr sz="2400" b="1" dirty="0">
                <a:solidFill>
                  <a:srgbClr val="FFC000"/>
                </a:solidFill>
                <a:latin typeface="Times New Roman"/>
                <a:cs typeface="Times New Roman"/>
              </a:rPr>
              <a:t>Règle</a:t>
            </a:r>
            <a:r>
              <a:rPr sz="2400" b="1" spc="-30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C000"/>
                </a:solidFill>
                <a:latin typeface="Times New Roman"/>
                <a:cs typeface="Times New Roman"/>
              </a:rPr>
              <a:t>d'or</a:t>
            </a:r>
            <a:r>
              <a:rPr sz="2400" b="1" spc="-70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C000"/>
                </a:solidFill>
                <a:latin typeface="Times New Roman"/>
                <a:cs typeface="Times New Roman"/>
              </a:rPr>
              <a:t>en</a:t>
            </a:r>
            <a:r>
              <a:rPr sz="2400" b="1" spc="-20" dirty="0">
                <a:solidFill>
                  <a:srgbClr val="FFC000"/>
                </a:solidFill>
                <a:latin typeface="Times New Roman"/>
                <a:cs typeface="Times New Roman"/>
              </a:rPr>
              <a:t> POO: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buClr>
                <a:srgbClr val="006FC0"/>
              </a:buClr>
              <a:buFont typeface="Wingdings"/>
              <a:buChar char=""/>
              <a:tabLst>
                <a:tab pos="355600" algn="l"/>
              </a:tabLst>
            </a:pPr>
            <a:r>
              <a:rPr sz="2400" b="1" dirty="0">
                <a:latin typeface="Times New Roman"/>
                <a:cs typeface="Times New Roman"/>
              </a:rPr>
              <a:t>Encapsulation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tous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attributs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d'une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classe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doivent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toujours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être </a:t>
            </a:r>
            <a:r>
              <a:rPr sz="2400" spc="-10" dirty="0">
                <a:latin typeface="Times New Roman"/>
                <a:cs typeface="Times New Roman"/>
              </a:rPr>
              <a:t>privés.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21976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41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3304" rIns="0" bIns="0" rtlCol="0">
            <a:spAutoFit/>
          </a:bodyPr>
          <a:lstStyle/>
          <a:p>
            <a:pPr marL="381000">
              <a:lnSpc>
                <a:spcPct val="100000"/>
              </a:lnSpc>
              <a:spcBef>
                <a:spcPts val="100"/>
              </a:spcBef>
            </a:pPr>
            <a:r>
              <a:rPr spc="-300" dirty="0"/>
              <a:t>Encapsulation</a:t>
            </a:r>
            <a:r>
              <a:rPr b="0" spc="100" dirty="0">
                <a:latin typeface="Times New Roman"/>
                <a:cs typeface="Times New Roman"/>
              </a:rPr>
              <a:t> </a:t>
            </a:r>
            <a:r>
              <a:rPr spc="-280" dirty="0"/>
              <a:t>et</a:t>
            </a:r>
            <a:r>
              <a:rPr b="0" spc="75" dirty="0">
                <a:latin typeface="Times New Roman"/>
                <a:cs typeface="Times New Roman"/>
              </a:rPr>
              <a:t> </a:t>
            </a:r>
            <a:r>
              <a:rPr spc="-215" dirty="0"/>
              <a:t>interface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42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49052" y="1886203"/>
            <a:ext cx="8301990" cy="2951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006FC0"/>
              </a:buClr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En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règle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générale,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recommandé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masquer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attributs </a:t>
            </a:r>
            <a:r>
              <a:rPr sz="2400" dirty="0">
                <a:latin typeface="Times New Roman"/>
                <a:cs typeface="Times New Roman"/>
              </a:rPr>
              <a:t>(champs)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déclarant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65"/>
                </a:solidFill>
                <a:latin typeface="Times New Roman"/>
                <a:cs typeface="Times New Roman"/>
              </a:rPr>
              <a:t>private</a:t>
            </a:r>
            <a:r>
              <a:rPr sz="2400" spc="-55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et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-</a:t>
            </a:r>
            <a:r>
              <a:rPr sz="2400" b="1" dirty="0">
                <a:latin typeface="Times New Roman"/>
                <a:cs typeface="Times New Roman"/>
              </a:rPr>
              <a:t>seulement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si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nécessaire-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de </a:t>
            </a:r>
            <a:r>
              <a:rPr sz="2400" dirty="0">
                <a:latin typeface="Times New Roman"/>
                <a:cs typeface="Times New Roman"/>
              </a:rPr>
              <a:t>définir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méthodes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publiques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pour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accéder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à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attributs.</a:t>
            </a:r>
            <a:endParaRPr sz="2400">
              <a:latin typeface="Times New Roman"/>
              <a:cs typeface="Times New Roman"/>
            </a:endParaRPr>
          </a:p>
          <a:p>
            <a:pPr marL="355600" marR="675005" indent="-342900">
              <a:lnSpc>
                <a:spcPct val="100000"/>
              </a:lnSpc>
              <a:buClr>
                <a:srgbClr val="006FC0"/>
              </a:buClr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Ces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méthodes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sont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appelées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accesseurs/mutateurs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ou </a:t>
            </a:r>
            <a:r>
              <a:rPr sz="2400" dirty="0">
                <a:latin typeface="Times New Roman"/>
                <a:cs typeface="Times New Roman"/>
              </a:rPr>
              <a:t>getters/setters,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généralement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nommées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B04F"/>
                </a:solidFill>
                <a:latin typeface="Times New Roman"/>
                <a:cs typeface="Times New Roman"/>
              </a:rPr>
              <a:t>getxxx()</a:t>
            </a:r>
            <a:r>
              <a:rPr sz="2400" spc="-6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00B04F"/>
                </a:solidFill>
                <a:latin typeface="Times New Roman"/>
                <a:cs typeface="Times New Roman"/>
              </a:rPr>
              <a:t>setxxx()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Clr>
                <a:srgbClr val="006FC0"/>
              </a:buClr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Il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utile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proposer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méthodes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pour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accéder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aux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attributs:</a:t>
            </a:r>
            <a:endParaRPr sz="2400">
              <a:latin typeface="Times New Roman"/>
              <a:cs typeface="Times New Roman"/>
            </a:endParaRPr>
          </a:p>
          <a:p>
            <a:pPr marL="812165" lvl="1" indent="-342265">
              <a:lnSpc>
                <a:spcPct val="100000"/>
              </a:lnSpc>
              <a:buClr>
                <a:srgbClr val="006FC0"/>
              </a:buClr>
              <a:buFont typeface="Wingdings"/>
              <a:buChar char=""/>
              <a:tabLst>
                <a:tab pos="812165" algn="l"/>
              </a:tabLst>
            </a:pPr>
            <a:r>
              <a:rPr sz="2400" b="1" dirty="0">
                <a:latin typeface="Times New Roman"/>
                <a:cs typeface="Times New Roman"/>
              </a:rPr>
              <a:t>Lecture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=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getter</a:t>
            </a:r>
            <a:endParaRPr sz="2400">
              <a:latin typeface="Times New Roman"/>
              <a:cs typeface="Times New Roman"/>
            </a:endParaRPr>
          </a:p>
          <a:p>
            <a:pPr marL="812165" lvl="1" indent="-342265">
              <a:lnSpc>
                <a:spcPct val="100000"/>
              </a:lnSpc>
              <a:buClr>
                <a:srgbClr val="006FC0"/>
              </a:buClr>
              <a:buFont typeface="Wingdings"/>
              <a:buChar char=""/>
              <a:tabLst>
                <a:tab pos="812165" algn="l"/>
              </a:tabLst>
            </a:pPr>
            <a:r>
              <a:rPr sz="2400" b="1" dirty="0">
                <a:latin typeface="Times New Roman"/>
                <a:cs typeface="Times New Roman"/>
              </a:rPr>
              <a:t>Écriture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=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setter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21976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42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3304" rIns="0" bIns="0" rtlCol="0">
            <a:spAutoFit/>
          </a:bodyPr>
          <a:lstStyle/>
          <a:p>
            <a:pPr marL="381000">
              <a:lnSpc>
                <a:spcPct val="100000"/>
              </a:lnSpc>
              <a:spcBef>
                <a:spcPts val="100"/>
              </a:spcBef>
            </a:pPr>
            <a:r>
              <a:rPr spc="-300" dirty="0"/>
              <a:t>Encapsulation</a:t>
            </a:r>
            <a:r>
              <a:rPr b="0" spc="100" dirty="0">
                <a:latin typeface="Times New Roman"/>
                <a:cs typeface="Times New Roman"/>
              </a:rPr>
              <a:t> </a:t>
            </a:r>
            <a:r>
              <a:rPr spc="-280" dirty="0"/>
              <a:t>et</a:t>
            </a:r>
            <a:r>
              <a:rPr b="0" spc="75" dirty="0">
                <a:latin typeface="Times New Roman"/>
                <a:cs typeface="Times New Roman"/>
              </a:rPr>
              <a:t> </a:t>
            </a:r>
            <a:r>
              <a:rPr spc="-215" dirty="0"/>
              <a:t>interface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43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32644" y="1838959"/>
            <a:ext cx="8776970" cy="3045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Getters/Setters</a:t>
            </a:r>
            <a:endParaRPr sz="2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30"/>
              </a:spcBef>
              <a:buClr>
                <a:srgbClr val="006FC0"/>
              </a:buClr>
              <a:buFont typeface="Wingdings"/>
              <a:buChar char=""/>
              <a:tabLst>
                <a:tab pos="354965" algn="l"/>
              </a:tabLst>
            </a:pPr>
            <a:r>
              <a:rPr sz="2000" dirty="0">
                <a:latin typeface="Times New Roman"/>
                <a:cs typeface="Times New Roman"/>
              </a:rPr>
              <a:t>Donc,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programmeur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juge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utile,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il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F0"/>
                </a:solidFill>
                <a:latin typeface="Times New Roman"/>
                <a:cs typeface="Times New Roman"/>
              </a:rPr>
              <a:t>inclut</a:t>
            </a:r>
            <a:r>
              <a:rPr sz="2000" spc="-35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F0"/>
                </a:solidFill>
                <a:latin typeface="Times New Roman"/>
                <a:cs typeface="Times New Roman"/>
              </a:rPr>
              <a:t>les</a:t>
            </a:r>
            <a:r>
              <a:rPr sz="2000" spc="-15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F0"/>
                </a:solidFill>
                <a:latin typeface="Times New Roman"/>
                <a:cs typeface="Times New Roman"/>
              </a:rPr>
              <a:t>méthodes</a:t>
            </a:r>
            <a:r>
              <a:rPr sz="2000" spc="-25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F0"/>
                </a:solidFill>
                <a:latin typeface="Times New Roman"/>
                <a:cs typeface="Times New Roman"/>
              </a:rPr>
              <a:t>publiques</a:t>
            </a:r>
            <a:r>
              <a:rPr sz="2000" spc="-50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0B0F0"/>
                </a:solidFill>
                <a:latin typeface="Times New Roman"/>
                <a:cs typeface="Times New Roman"/>
              </a:rPr>
              <a:t>nécessaires</a:t>
            </a:r>
            <a:r>
              <a:rPr sz="2000" spc="-10" dirty="0"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Clr>
                <a:srgbClr val="006FC0"/>
              </a:buClr>
              <a:buFont typeface="Wingdings"/>
              <a:buChar char=""/>
              <a:tabLst>
                <a:tab pos="354965" algn="l"/>
              </a:tabLst>
            </a:pPr>
            <a:r>
              <a:rPr sz="2000" dirty="0">
                <a:latin typeface="Times New Roman"/>
                <a:cs typeface="Times New Roman"/>
              </a:rPr>
              <a:t>Accesseurs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(«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méthodes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get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»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ou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«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getters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»)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 marL="534670" lvl="1" indent="-179070">
              <a:lnSpc>
                <a:spcPct val="100000"/>
              </a:lnSpc>
              <a:buClr>
                <a:srgbClr val="006FC0"/>
              </a:buClr>
              <a:buFont typeface="Wingdings"/>
              <a:buChar char=""/>
              <a:tabLst>
                <a:tab pos="534670" algn="l"/>
              </a:tabLst>
            </a:pPr>
            <a:r>
              <a:rPr sz="2000" dirty="0">
                <a:latin typeface="Times New Roman"/>
                <a:cs typeface="Times New Roman"/>
              </a:rPr>
              <a:t>Consultation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(i.e.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«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prédicat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»)</a:t>
            </a:r>
            <a:endParaRPr sz="2000">
              <a:latin typeface="Times New Roman"/>
              <a:cs typeface="Times New Roman"/>
            </a:endParaRPr>
          </a:p>
          <a:p>
            <a:pPr marL="534670" lvl="1" indent="-179070">
              <a:lnSpc>
                <a:spcPct val="100000"/>
              </a:lnSpc>
              <a:buClr>
                <a:srgbClr val="006FC0"/>
              </a:buClr>
              <a:buFont typeface="Wingdings"/>
              <a:buChar char=""/>
              <a:tabLst>
                <a:tab pos="534670" algn="l"/>
              </a:tabLst>
            </a:pPr>
            <a:r>
              <a:rPr sz="2000" dirty="0">
                <a:latin typeface="Times New Roman"/>
                <a:cs typeface="Times New Roman"/>
              </a:rPr>
              <a:t>Retour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valeur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d’</a:t>
            </a:r>
            <a:r>
              <a:rPr sz="2000" b="1" dirty="0">
                <a:latin typeface="Times New Roman"/>
                <a:cs typeface="Times New Roman"/>
              </a:rPr>
              <a:t>une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variable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d’instance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précise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Exemple</a:t>
            </a:r>
            <a:r>
              <a:rPr sz="24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1:</a:t>
            </a:r>
            <a:endParaRPr sz="2400">
              <a:latin typeface="Times New Roman"/>
              <a:cs typeface="Times New Roman"/>
            </a:endParaRPr>
          </a:p>
          <a:p>
            <a:pPr marL="12700" marR="3707765">
              <a:lnSpc>
                <a:spcPct val="100000"/>
              </a:lnSpc>
              <a:spcBef>
                <a:spcPts val="10"/>
              </a:spcBef>
            </a:pPr>
            <a:r>
              <a:rPr sz="220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200" spc="-7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getHauteur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()</a:t>
            </a:r>
            <a:r>
              <a:rPr sz="22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1F5F"/>
                </a:solidFill>
                <a:latin typeface="Times New Roman"/>
                <a:cs typeface="Times New Roman"/>
              </a:rPr>
              <a:t>const</a:t>
            </a:r>
            <a:r>
              <a:rPr sz="2200" spc="-6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r>
              <a:rPr sz="22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1F5F"/>
                </a:solidFill>
                <a:latin typeface="Times New Roman"/>
                <a:cs typeface="Times New Roman"/>
              </a:rPr>
              <a:t>return</a:t>
            </a:r>
            <a:r>
              <a:rPr sz="2200" spc="-5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hauteur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r>
              <a:rPr sz="2200" spc="-50" dirty="0">
                <a:solidFill>
                  <a:srgbClr val="FF0000"/>
                </a:solidFill>
                <a:latin typeface="Times New Roman"/>
                <a:cs typeface="Times New Roman"/>
              </a:rPr>
              <a:t> } </a:t>
            </a:r>
            <a:r>
              <a:rPr sz="220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200" spc="-6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getLargeur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()</a:t>
            </a:r>
            <a:r>
              <a:rPr sz="22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1F5F"/>
                </a:solidFill>
                <a:latin typeface="Times New Roman"/>
                <a:cs typeface="Times New Roman"/>
              </a:rPr>
              <a:t>const</a:t>
            </a:r>
            <a:r>
              <a:rPr sz="2200" spc="-4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r>
              <a:rPr sz="22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1F5F"/>
                </a:solidFill>
                <a:latin typeface="Times New Roman"/>
                <a:cs typeface="Times New Roman"/>
              </a:rPr>
              <a:t>return</a:t>
            </a:r>
            <a:r>
              <a:rPr sz="2200" spc="-4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largeur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r>
              <a:rPr sz="22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5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21976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43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3304" rIns="0" bIns="0" rtlCol="0">
            <a:spAutoFit/>
          </a:bodyPr>
          <a:lstStyle/>
          <a:p>
            <a:pPr marL="381000">
              <a:lnSpc>
                <a:spcPct val="100000"/>
              </a:lnSpc>
              <a:spcBef>
                <a:spcPts val="100"/>
              </a:spcBef>
            </a:pPr>
            <a:r>
              <a:rPr spc="-390" dirty="0"/>
              <a:t>Accesseurs</a:t>
            </a:r>
            <a:r>
              <a:rPr b="0" spc="70" dirty="0">
                <a:latin typeface="Times New Roman"/>
                <a:cs typeface="Times New Roman"/>
              </a:rPr>
              <a:t> </a:t>
            </a:r>
            <a:r>
              <a:rPr spc="-280" dirty="0"/>
              <a:t>et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spc="-225" dirty="0"/>
              <a:t>manipulateurs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44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20685" y="1892299"/>
            <a:ext cx="7745730" cy="28016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Getters/Setters</a:t>
            </a:r>
            <a:endParaRPr sz="2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25"/>
              </a:spcBef>
              <a:buClr>
                <a:srgbClr val="006FC0"/>
              </a:buClr>
              <a:buFont typeface="Wingdings"/>
              <a:buChar char=""/>
              <a:tabLst>
                <a:tab pos="354965" algn="l"/>
              </a:tabLst>
            </a:pPr>
            <a:r>
              <a:rPr sz="2200" dirty="0">
                <a:latin typeface="Times New Roman"/>
                <a:cs typeface="Times New Roman"/>
              </a:rPr>
              <a:t>Manipulateurs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(«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mutateurs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»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ou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«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méthodes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»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ou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«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setters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»)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50" dirty="0">
                <a:latin typeface="Times New Roman"/>
                <a:cs typeface="Times New Roman"/>
              </a:rPr>
              <a:t>:</a:t>
            </a:r>
            <a:endParaRPr sz="2200">
              <a:latin typeface="Times New Roman"/>
              <a:cs typeface="Times New Roman"/>
            </a:endParaRPr>
          </a:p>
          <a:p>
            <a:pPr marL="552450" lvl="1" indent="-197485">
              <a:lnSpc>
                <a:spcPct val="100000"/>
              </a:lnSpc>
              <a:buClr>
                <a:srgbClr val="006FC0"/>
              </a:buClr>
              <a:buFont typeface="Wingdings"/>
              <a:buChar char=""/>
              <a:tabLst>
                <a:tab pos="552450" algn="l"/>
              </a:tabLst>
            </a:pPr>
            <a:r>
              <a:rPr sz="2200" dirty="0">
                <a:latin typeface="Times New Roman"/>
                <a:cs typeface="Times New Roman"/>
              </a:rPr>
              <a:t>Modification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(i.e.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«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action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»)</a:t>
            </a:r>
            <a:endParaRPr sz="2200">
              <a:latin typeface="Times New Roman"/>
              <a:cs typeface="Times New Roman"/>
            </a:endParaRPr>
          </a:p>
          <a:p>
            <a:pPr marL="537210" lvl="1" indent="-182245">
              <a:lnSpc>
                <a:spcPct val="100000"/>
              </a:lnSpc>
              <a:buClr>
                <a:srgbClr val="006FC0"/>
              </a:buClr>
              <a:buFont typeface="Wingdings"/>
              <a:buChar char=""/>
              <a:tabLst>
                <a:tab pos="537210" algn="l"/>
              </a:tabLst>
            </a:pPr>
            <a:r>
              <a:rPr sz="2200" dirty="0">
                <a:latin typeface="Times New Roman"/>
                <a:cs typeface="Times New Roman"/>
              </a:rPr>
              <a:t>Affectation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l’</a:t>
            </a:r>
            <a:r>
              <a:rPr sz="2200" b="1" dirty="0">
                <a:latin typeface="Times New Roman"/>
                <a:cs typeface="Times New Roman"/>
              </a:rPr>
              <a:t>argument</a:t>
            </a:r>
            <a:r>
              <a:rPr sz="2200" b="1" spc="-6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à</a:t>
            </a:r>
            <a:r>
              <a:rPr sz="2200" b="1" spc="-6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une</a:t>
            </a:r>
            <a:r>
              <a:rPr sz="2200" b="1" spc="-7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variable</a:t>
            </a:r>
            <a:r>
              <a:rPr sz="2200" b="1" spc="-7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d’instance</a:t>
            </a:r>
            <a:r>
              <a:rPr sz="2200" b="1" spc="-6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précise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Exemple:</a:t>
            </a:r>
            <a:endParaRPr sz="2200">
              <a:latin typeface="Times New Roman"/>
              <a:cs typeface="Times New Roman"/>
            </a:endParaRPr>
          </a:p>
          <a:p>
            <a:pPr marL="12700" marR="2961005">
              <a:lnSpc>
                <a:spcPct val="100000"/>
              </a:lnSpc>
            </a:pPr>
            <a:r>
              <a:rPr sz="2200" dirty="0">
                <a:solidFill>
                  <a:srgbClr val="001F5F"/>
                </a:solidFill>
                <a:latin typeface="Times New Roman"/>
                <a:cs typeface="Times New Roman"/>
              </a:rPr>
              <a:t>void</a:t>
            </a:r>
            <a:r>
              <a:rPr sz="2200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setHauteur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200" spc="-1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200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22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r>
              <a:rPr sz="22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hauteur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2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50" dirty="0">
                <a:solidFill>
                  <a:srgbClr val="FF0000"/>
                </a:solidFill>
                <a:latin typeface="Times New Roman"/>
                <a:cs typeface="Times New Roman"/>
              </a:rPr>
              <a:t>} </a:t>
            </a:r>
            <a:r>
              <a:rPr sz="2200" dirty="0">
                <a:solidFill>
                  <a:srgbClr val="001F5F"/>
                </a:solidFill>
                <a:latin typeface="Times New Roman"/>
                <a:cs typeface="Times New Roman"/>
              </a:rPr>
              <a:t>void</a:t>
            </a:r>
            <a:r>
              <a:rPr sz="2200" spc="-3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setLargeur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200" spc="-1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200" spc="-3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22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r>
              <a:rPr sz="22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largeur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2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r>
              <a:rPr sz="22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5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21976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44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3304" rIns="0" bIns="0" rtlCol="0">
            <a:spAutoFit/>
          </a:bodyPr>
          <a:lstStyle/>
          <a:p>
            <a:pPr marL="381000">
              <a:lnSpc>
                <a:spcPct val="100000"/>
              </a:lnSpc>
              <a:spcBef>
                <a:spcPts val="100"/>
              </a:spcBef>
            </a:pPr>
            <a:r>
              <a:rPr spc="-390" dirty="0"/>
              <a:t>Accesseurs</a:t>
            </a:r>
            <a:r>
              <a:rPr b="0" spc="70" dirty="0">
                <a:latin typeface="Times New Roman"/>
                <a:cs typeface="Times New Roman"/>
              </a:rPr>
              <a:t> </a:t>
            </a:r>
            <a:r>
              <a:rPr spc="-280" dirty="0"/>
              <a:t>et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spc="-225" dirty="0"/>
              <a:t>manipulateurs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45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20685" y="1838959"/>
            <a:ext cx="5636895" cy="51485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Getters/Setters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Exemple:</a:t>
            </a:r>
            <a:endParaRPr sz="2200">
              <a:latin typeface="Times New Roman"/>
              <a:cs typeface="Times New Roman"/>
            </a:endParaRPr>
          </a:p>
          <a:p>
            <a:pPr marL="12700" marR="3242945">
              <a:lnSpc>
                <a:spcPct val="100000"/>
              </a:lnSpc>
            </a:pPr>
            <a:r>
              <a:rPr sz="2200" dirty="0">
                <a:solidFill>
                  <a:srgbClr val="009900"/>
                </a:solidFill>
                <a:latin typeface="Times New Roman"/>
                <a:cs typeface="Times New Roman"/>
              </a:rPr>
              <a:t>#include</a:t>
            </a:r>
            <a:r>
              <a:rPr sz="2200" spc="-80" dirty="0">
                <a:solidFill>
                  <a:srgbClr val="0099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009900"/>
                </a:solidFill>
                <a:latin typeface="Times New Roman"/>
                <a:cs typeface="Times New Roman"/>
              </a:rPr>
              <a:t>&lt;iostream&gt;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using</a:t>
            </a:r>
            <a:r>
              <a:rPr sz="2200" spc="-8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namespace</a:t>
            </a:r>
            <a:r>
              <a:rPr sz="2200" spc="-6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009900"/>
                </a:solidFill>
                <a:latin typeface="Times New Roman"/>
                <a:cs typeface="Times New Roman"/>
              </a:rPr>
              <a:t>std</a:t>
            </a:r>
            <a:r>
              <a:rPr sz="2200" spc="-20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2200" dirty="0">
                <a:solidFill>
                  <a:srgbClr val="001F5F"/>
                </a:solidFill>
                <a:latin typeface="Times New Roman"/>
                <a:cs typeface="Times New Roman"/>
              </a:rPr>
              <a:t>class</a:t>
            </a:r>
            <a:r>
              <a:rPr sz="2200" spc="-4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00B0F0"/>
                </a:solidFill>
                <a:latin typeface="Times New Roman"/>
                <a:cs typeface="Times New Roman"/>
              </a:rPr>
              <a:t>Rectangle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{ </a:t>
            </a:r>
            <a:r>
              <a:rPr sz="2200" spc="-10" dirty="0">
                <a:solidFill>
                  <a:srgbClr val="FF0065"/>
                </a:solidFill>
                <a:latin typeface="Times New Roman"/>
                <a:cs typeface="Times New Roman"/>
              </a:rPr>
              <a:t>public:</a:t>
            </a:r>
            <a:endParaRPr sz="22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220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200" spc="-7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surface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()</a:t>
            </a:r>
            <a:r>
              <a:rPr sz="22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1F5F"/>
                </a:solidFill>
                <a:latin typeface="Times New Roman"/>
                <a:cs typeface="Times New Roman"/>
              </a:rPr>
              <a:t>const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r>
              <a:rPr sz="22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1F5F"/>
                </a:solidFill>
                <a:latin typeface="Times New Roman"/>
                <a:cs typeface="Times New Roman"/>
              </a:rPr>
              <a:t>return</a:t>
            </a:r>
            <a:r>
              <a:rPr sz="2200" spc="-5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hauteur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*</a:t>
            </a:r>
            <a:r>
              <a:rPr sz="22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largeur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r>
              <a:rPr sz="22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50" dirty="0">
                <a:solidFill>
                  <a:srgbClr val="FF0000"/>
                </a:solidFill>
                <a:latin typeface="Times New Roman"/>
                <a:cs typeface="Times New Roman"/>
              </a:rPr>
              <a:t>} </a:t>
            </a:r>
            <a:r>
              <a:rPr sz="220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200" spc="-8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getHauteur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()</a:t>
            </a:r>
            <a:r>
              <a:rPr sz="22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1F5F"/>
                </a:solidFill>
                <a:latin typeface="Times New Roman"/>
                <a:cs typeface="Times New Roman"/>
              </a:rPr>
              <a:t>const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r>
              <a:rPr sz="2200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1F5F"/>
                </a:solidFill>
                <a:latin typeface="Times New Roman"/>
                <a:cs typeface="Times New Roman"/>
              </a:rPr>
              <a:t>return</a:t>
            </a:r>
            <a:r>
              <a:rPr sz="2200" spc="-6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hauteur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r>
              <a:rPr sz="22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50" dirty="0">
                <a:solidFill>
                  <a:srgbClr val="FF0000"/>
                </a:solidFill>
                <a:latin typeface="Times New Roman"/>
                <a:cs typeface="Times New Roman"/>
              </a:rPr>
              <a:t>} </a:t>
            </a:r>
            <a:r>
              <a:rPr sz="220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200" spc="-7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getLargeur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()</a:t>
            </a:r>
            <a:r>
              <a:rPr sz="22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1F5F"/>
                </a:solidFill>
                <a:latin typeface="Times New Roman"/>
                <a:cs typeface="Times New Roman"/>
              </a:rPr>
              <a:t>const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r>
              <a:rPr sz="22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1F5F"/>
                </a:solidFill>
                <a:latin typeface="Times New Roman"/>
                <a:cs typeface="Times New Roman"/>
              </a:rPr>
              <a:t>return</a:t>
            </a:r>
            <a:r>
              <a:rPr sz="2200" spc="-3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largeur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r>
              <a:rPr sz="22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5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  <a:p>
            <a:pPr marL="12700" marR="922019">
              <a:lnSpc>
                <a:spcPct val="100000"/>
              </a:lnSpc>
            </a:pPr>
            <a:r>
              <a:rPr sz="2200" dirty="0">
                <a:solidFill>
                  <a:srgbClr val="001F5F"/>
                </a:solidFill>
                <a:latin typeface="Times New Roman"/>
                <a:cs typeface="Times New Roman"/>
              </a:rPr>
              <a:t>void</a:t>
            </a:r>
            <a:r>
              <a:rPr sz="2200" spc="-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setHauteur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200" spc="-1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200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){</a:t>
            </a:r>
            <a:r>
              <a:rPr sz="22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1F5F"/>
                </a:solidFill>
                <a:latin typeface="Times New Roman"/>
                <a:cs typeface="Times New Roman"/>
              </a:rPr>
              <a:t>hauteur</a:t>
            </a:r>
            <a:r>
              <a:rPr sz="2200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2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r>
              <a:rPr sz="22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50" dirty="0">
                <a:solidFill>
                  <a:srgbClr val="FF0000"/>
                </a:solidFill>
                <a:latin typeface="Times New Roman"/>
                <a:cs typeface="Times New Roman"/>
              </a:rPr>
              <a:t>} </a:t>
            </a:r>
            <a:r>
              <a:rPr sz="2200" dirty="0">
                <a:solidFill>
                  <a:srgbClr val="001F5F"/>
                </a:solidFill>
                <a:latin typeface="Times New Roman"/>
                <a:cs typeface="Times New Roman"/>
              </a:rPr>
              <a:t>void</a:t>
            </a:r>
            <a:r>
              <a:rPr sz="2200" spc="-3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setLargeur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200" spc="-1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200" spc="-3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){</a:t>
            </a:r>
            <a:r>
              <a:rPr sz="22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1F5F"/>
                </a:solidFill>
                <a:latin typeface="Times New Roman"/>
                <a:cs typeface="Times New Roman"/>
              </a:rPr>
              <a:t>largeur</a:t>
            </a:r>
            <a:r>
              <a:rPr sz="2200" spc="-3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=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r>
              <a:rPr sz="22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50" dirty="0">
                <a:solidFill>
                  <a:srgbClr val="FF0000"/>
                </a:solidFill>
                <a:latin typeface="Times New Roman"/>
                <a:cs typeface="Times New Roman"/>
              </a:rPr>
              <a:t>} </a:t>
            </a:r>
            <a:r>
              <a:rPr sz="2200" spc="-10" dirty="0">
                <a:solidFill>
                  <a:srgbClr val="FF0065"/>
                </a:solidFill>
                <a:latin typeface="Times New Roman"/>
                <a:cs typeface="Times New Roman"/>
              </a:rPr>
              <a:t>private:</a:t>
            </a:r>
            <a:endParaRPr sz="2200">
              <a:latin typeface="Times New Roman"/>
              <a:cs typeface="Times New Roman"/>
            </a:endParaRPr>
          </a:p>
          <a:p>
            <a:pPr marL="12700" marR="3869690">
              <a:lnSpc>
                <a:spcPct val="100000"/>
              </a:lnSpc>
            </a:pPr>
            <a:r>
              <a:rPr sz="220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200" spc="-5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hauteur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220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200" spc="-5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largeur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spc="-25" dirty="0">
                <a:solidFill>
                  <a:srgbClr val="FF0000"/>
                </a:solidFill>
                <a:latin typeface="Times New Roman"/>
                <a:cs typeface="Times New Roman"/>
              </a:rPr>
              <a:t>};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21976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45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3304" rIns="0" bIns="0" rtlCol="0">
            <a:spAutoFit/>
          </a:bodyPr>
          <a:lstStyle/>
          <a:p>
            <a:pPr marL="381000">
              <a:lnSpc>
                <a:spcPct val="100000"/>
              </a:lnSpc>
              <a:spcBef>
                <a:spcPts val="100"/>
              </a:spcBef>
            </a:pPr>
            <a:r>
              <a:rPr spc="-390" dirty="0"/>
              <a:t>Accesseurs</a:t>
            </a:r>
            <a:r>
              <a:rPr b="0" spc="70" dirty="0">
                <a:latin typeface="Times New Roman"/>
                <a:cs typeface="Times New Roman"/>
              </a:rPr>
              <a:t> </a:t>
            </a:r>
            <a:r>
              <a:rPr spc="-280" dirty="0"/>
              <a:t>et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spc="-225" dirty="0"/>
              <a:t>manipulateurs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46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20685" y="1907539"/>
            <a:ext cx="5691505" cy="4384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360420">
              <a:lnSpc>
                <a:spcPct val="100000"/>
              </a:lnSpc>
              <a:spcBef>
                <a:spcPts val="95"/>
              </a:spcBef>
            </a:pP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Exemple:</a:t>
            </a:r>
            <a:r>
              <a:rPr sz="2200" b="1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(suite)</a:t>
            </a:r>
            <a:r>
              <a:rPr sz="2200" b="1" spc="5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200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main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(){ </a:t>
            </a:r>
            <a:r>
              <a:rPr sz="2200" dirty="0">
                <a:solidFill>
                  <a:srgbClr val="00B0F0"/>
                </a:solidFill>
                <a:latin typeface="Times New Roman"/>
                <a:cs typeface="Times New Roman"/>
              </a:rPr>
              <a:t>Rectangle</a:t>
            </a:r>
            <a:r>
              <a:rPr sz="2200" spc="-85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rect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2200" spc="-10" dirty="0">
                <a:latin typeface="Times New Roman"/>
                <a:cs typeface="Times New Roman"/>
              </a:rPr>
              <a:t>rect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.</a:t>
            </a:r>
            <a:r>
              <a:rPr sz="2200" spc="-10" dirty="0">
                <a:latin typeface="Times New Roman"/>
                <a:cs typeface="Times New Roman"/>
              </a:rPr>
              <a:t>setHauteur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200" spc="-10" dirty="0">
                <a:solidFill>
                  <a:srgbClr val="FF32CC"/>
                </a:solidFill>
                <a:latin typeface="Times New Roman"/>
                <a:cs typeface="Times New Roman"/>
              </a:rPr>
              <a:t>3.0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); </a:t>
            </a:r>
            <a:r>
              <a:rPr sz="2200" spc="-10" dirty="0">
                <a:latin typeface="Times New Roman"/>
                <a:cs typeface="Times New Roman"/>
              </a:rPr>
              <a:t>rect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.</a:t>
            </a:r>
            <a:r>
              <a:rPr sz="2200" spc="-10" dirty="0">
                <a:latin typeface="Times New Roman"/>
                <a:cs typeface="Times New Roman"/>
              </a:rPr>
              <a:t>setLargeur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200" spc="-10" dirty="0">
                <a:solidFill>
                  <a:srgbClr val="FF32CC"/>
                </a:solidFill>
                <a:latin typeface="Times New Roman"/>
                <a:cs typeface="Times New Roman"/>
              </a:rPr>
              <a:t>4.0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);</a:t>
            </a:r>
            <a:endParaRPr sz="22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200" dirty="0">
                <a:solidFill>
                  <a:srgbClr val="009900"/>
                </a:solidFill>
                <a:latin typeface="Times New Roman"/>
                <a:cs typeface="Times New Roman"/>
              </a:rPr>
              <a:t>cout</a:t>
            </a:r>
            <a:r>
              <a:rPr sz="2200" spc="-30" dirty="0">
                <a:solidFill>
                  <a:srgbClr val="0099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"Hauteur</a:t>
            </a:r>
            <a:r>
              <a:rPr sz="2200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:</a:t>
            </a:r>
            <a:r>
              <a:rPr sz="2200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"</a:t>
            </a:r>
            <a:r>
              <a:rPr sz="2200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2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rect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.</a:t>
            </a:r>
            <a:r>
              <a:rPr sz="2200" spc="-10" dirty="0">
                <a:latin typeface="Times New Roman"/>
                <a:cs typeface="Times New Roman"/>
              </a:rPr>
              <a:t>getHauteur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()</a:t>
            </a:r>
            <a:r>
              <a:rPr sz="22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2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009900"/>
                </a:solidFill>
                <a:latin typeface="Times New Roman"/>
                <a:cs typeface="Times New Roman"/>
              </a:rPr>
              <a:t>endl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2200" dirty="0">
                <a:solidFill>
                  <a:srgbClr val="009900"/>
                </a:solidFill>
                <a:latin typeface="Times New Roman"/>
                <a:cs typeface="Times New Roman"/>
              </a:rPr>
              <a:t>cout</a:t>
            </a:r>
            <a:r>
              <a:rPr sz="2200" spc="-40" dirty="0">
                <a:solidFill>
                  <a:srgbClr val="0099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2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"Largeur</a:t>
            </a:r>
            <a:r>
              <a:rPr sz="2200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:</a:t>
            </a:r>
            <a:r>
              <a:rPr sz="2200" spc="-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"</a:t>
            </a:r>
            <a:r>
              <a:rPr sz="2200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2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rect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.</a:t>
            </a:r>
            <a:r>
              <a:rPr sz="2200" spc="-10" dirty="0">
                <a:latin typeface="Times New Roman"/>
                <a:cs typeface="Times New Roman"/>
              </a:rPr>
              <a:t>getLargeur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()</a:t>
            </a:r>
            <a:r>
              <a:rPr sz="22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2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009900"/>
                </a:solidFill>
                <a:latin typeface="Times New Roman"/>
                <a:cs typeface="Times New Roman"/>
              </a:rPr>
              <a:t>endl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2200" dirty="0">
                <a:solidFill>
                  <a:srgbClr val="001F5F"/>
                </a:solidFill>
                <a:latin typeface="Times New Roman"/>
                <a:cs typeface="Times New Roman"/>
              </a:rPr>
              <a:t>return</a:t>
            </a:r>
            <a:r>
              <a:rPr sz="2200" spc="-5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spc="-35" dirty="0">
                <a:solidFill>
                  <a:srgbClr val="FF32CC"/>
                </a:solidFill>
                <a:latin typeface="Times New Roman"/>
                <a:cs typeface="Times New Roman"/>
              </a:rPr>
              <a:t>0</a:t>
            </a:r>
            <a:r>
              <a:rPr sz="2200" spc="-3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spc="-5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Output: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dirty="0">
                <a:latin typeface="Times New Roman"/>
                <a:cs typeface="Times New Roman"/>
              </a:rPr>
              <a:t>Hauteur: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spc="-50" dirty="0">
                <a:latin typeface="Times New Roman"/>
                <a:cs typeface="Times New Roman"/>
              </a:rPr>
              <a:t>3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dirty="0">
                <a:latin typeface="Times New Roman"/>
                <a:cs typeface="Times New Roman"/>
              </a:rPr>
              <a:t>Largeur:</a:t>
            </a:r>
            <a:r>
              <a:rPr sz="2200" spc="-105" dirty="0">
                <a:latin typeface="Times New Roman"/>
                <a:cs typeface="Times New Roman"/>
              </a:rPr>
              <a:t> </a:t>
            </a:r>
            <a:r>
              <a:rPr sz="2200" spc="-50" dirty="0">
                <a:latin typeface="Times New Roman"/>
                <a:cs typeface="Times New Roman"/>
              </a:rPr>
              <a:t>4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21976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46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3304" rIns="0" bIns="0" rtlCol="0">
            <a:spAutoFit/>
          </a:bodyPr>
          <a:lstStyle/>
          <a:p>
            <a:pPr marL="381000">
              <a:lnSpc>
                <a:spcPct val="100000"/>
              </a:lnSpc>
              <a:spcBef>
                <a:spcPts val="100"/>
              </a:spcBef>
            </a:pPr>
            <a:r>
              <a:rPr spc="-245" dirty="0"/>
              <a:t>Masquage</a:t>
            </a:r>
            <a:r>
              <a:rPr b="0" spc="50" dirty="0">
                <a:latin typeface="Times New Roman"/>
                <a:cs typeface="Times New Roman"/>
              </a:rPr>
              <a:t> </a:t>
            </a:r>
            <a:r>
              <a:rPr spc="-280" dirty="0"/>
              <a:t>et</a:t>
            </a:r>
            <a:r>
              <a:rPr b="0" spc="55" dirty="0">
                <a:latin typeface="Times New Roman"/>
                <a:cs typeface="Times New Roman"/>
              </a:rPr>
              <a:t> </a:t>
            </a:r>
            <a:r>
              <a:rPr spc="-270" dirty="0"/>
              <a:t>pointeur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b="0" i="1" spc="-300" dirty="0">
                <a:latin typeface="Arial"/>
                <a:cs typeface="Arial"/>
              </a:rPr>
              <a:t>this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49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5900" y="1849627"/>
            <a:ext cx="8556625" cy="4780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47320" indent="-342900">
              <a:lnSpc>
                <a:spcPct val="100000"/>
              </a:lnSpc>
              <a:spcBef>
                <a:spcPts val="100"/>
              </a:spcBef>
              <a:buClr>
                <a:srgbClr val="006FC0"/>
              </a:buClr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Si,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dans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méthode,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attribut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masqué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alors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valeur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de </a:t>
            </a:r>
            <a:r>
              <a:rPr sz="2400" dirty="0">
                <a:latin typeface="Times New Roman"/>
                <a:cs typeface="Times New Roman"/>
              </a:rPr>
              <a:t>l’attribut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peut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quand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même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être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référencée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à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l’aide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du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réservé </a:t>
            </a:r>
            <a:r>
              <a:rPr sz="2400" spc="-10" dirty="0">
                <a:solidFill>
                  <a:srgbClr val="6F2FA0"/>
                </a:solidFill>
                <a:latin typeface="Times New Roman"/>
                <a:cs typeface="Times New Roman"/>
              </a:rPr>
              <a:t>this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393700" marR="2955290" indent="-381000">
              <a:lnSpc>
                <a:spcPct val="100000"/>
              </a:lnSpc>
              <a:buFont typeface="Wingdings"/>
              <a:buChar char=""/>
              <a:tabLst>
                <a:tab pos="393700" algn="l"/>
                <a:tab pos="431165" algn="l"/>
                <a:tab pos="1900555" algn="l"/>
              </a:tabLst>
            </a:pP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	</a:t>
            </a:r>
            <a:r>
              <a:rPr sz="2400" dirty="0">
                <a:solidFill>
                  <a:srgbClr val="6F2FA0"/>
                </a:solidFill>
                <a:latin typeface="Times New Roman"/>
                <a:cs typeface="Times New Roman"/>
              </a:rPr>
              <a:t>this</a:t>
            </a:r>
            <a:r>
              <a:rPr sz="2400" spc="-30" dirty="0">
                <a:solidFill>
                  <a:srgbClr val="6F2FA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pointeur</a:t>
            </a:r>
            <a:r>
              <a:rPr sz="24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sur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l’instance</a:t>
            </a:r>
            <a:r>
              <a:rPr sz="24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courante </a:t>
            </a:r>
            <a:r>
              <a:rPr sz="2400" spc="-20" dirty="0">
                <a:solidFill>
                  <a:srgbClr val="6F2FA0"/>
                </a:solidFill>
                <a:latin typeface="Times New Roman"/>
                <a:cs typeface="Times New Roman"/>
              </a:rPr>
              <a:t>this</a:t>
            </a:r>
            <a:r>
              <a:rPr sz="2400" dirty="0">
                <a:solidFill>
                  <a:srgbClr val="6F2FA0"/>
                </a:solidFill>
                <a:latin typeface="Times New Roman"/>
                <a:cs typeface="Times New Roman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«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adresse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l’objet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courant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»</a:t>
            </a:r>
            <a:endParaRPr sz="2400">
              <a:latin typeface="Times New Roman"/>
              <a:cs typeface="Times New Roman"/>
            </a:endParaRPr>
          </a:p>
          <a:p>
            <a:pPr marL="431165" marR="1506855" indent="-418465">
              <a:lnSpc>
                <a:spcPct val="100000"/>
              </a:lnSpc>
              <a:buClr>
                <a:srgbClr val="006FC0"/>
              </a:buClr>
              <a:buFont typeface="Wingdings"/>
              <a:buChar char=""/>
              <a:tabLst>
                <a:tab pos="469900" algn="l"/>
              </a:tabLst>
            </a:pPr>
            <a:r>
              <a:rPr sz="2400" dirty="0">
                <a:latin typeface="Times New Roman"/>
                <a:cs typeface="Times New Roman"/>
              </a:rPr>
              <a:t>Syntaxe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pour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spécifier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attribut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d’ambiguïté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: 	</a:t>
            </a:r>
            <a:r>
              <a:rPr sz="2400" dirty="0">
                <a:solidFill>
                  <a:srgbClr val="6F2FA0"/>
                </a:solidFill>
                <a:latin typeface="Times New Roman"/>
                <a:cs typeface="Times New Roman"/>
              </a:rPr>
              <a:t>this</a:t>
            </a:r>
            <a:r>
              <a:rPr sz="2400" spc="-15" dirty="0">
                <a:solidFill>
                  <a:srgbClr val="6F2FA0"/>
                </a:solidFill>
                <a:latin typeface="Times New Roman"/>
                <a:cs typeface="Times New Roman"/>
              </a:rPr>
              <a:t> </a:t>
            </a:r>
            <a:r>
              <a:rPr sz="2400" b="1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-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&gt;</a:t>
            </a:r>
            <a:r>
              <a:rPr sz="2400" b="1" i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nom_attribut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006FC0"/>
              </a:buClr>
              <a:buFont typeface="Wingdings"/>
              <a:buChar char=""/>
            </a:pPr>
            <a:endParaRPr sz="2400">
              <a:latin typeface="Times New Roman"/>
              <a:cs typeface="Times New Roman"/>
            </a:endParaRPr>
          </a:p>
          <a:p>
            <a:pPr marL="431165" indent="-418465">
              <a:lnSpc>
                <a:spcPct val="100000"/>
              </a:lnSpc>
              <a:buClr>
                <a:srgbClr val="006FC0"/>
              </a:buClr>
              <a:buFont typeface="Wingdings"/>
              <a:buChar char=""/>
              <a:tabLst>
                <a:tab pos="431165" algn="l"/>
              </a:tabLst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Exemple</a:t>
            </a:r>
            <a:r>
              <a:rPr sz="24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546100" marR="3897629" indent="-76200">
              <a:lnSpc>
                <a:spcPct val="100000"/>
              </a:lnSpc>
            </a:pPr>
            <a:r>
              <a:rPr sz="2400" dirty="0">
                <a:solidFill>
                  <a:srgbClr val="001F5F"/>
                </a:solidFill>
                <a:latin typeface="Times New Roman"/>
                <a:cs typeface="Times New Roman"/>
              </a:rPr>
              <a:t>void</a:t>
            </a:r>
            <a:r>
              <a:rPr sz="2400" spc="-4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setHauteur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40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400" spc="-7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hauteur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24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50" dirty="0">
                <a:solidFill>
                  <a:srgbClr val="FF0000"/>
                </a:solidFill>
                <a:latin typeface="Times New Roman"/>
                <a:cs typeface="Times New Roman"/>
              </a:rPr>
              <a:t>{ </a:t>
            </a:r>
            <a:r>
              <a:rPr sz="2400" spc="-10" dirty="0">
                <a:solidFill>
                  <a:srgbClr val="6F2FA0"/>
                </a:solidFill>
                <a:latin typeface="Times New Roman"/>
                <a:cs typeface="Times New Roman"/>
              </a:rPr>
              <a:t>this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-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&gt;</a:t>
            </a:r>
            <a:r>
              <a:rPr sz="2400" dirty="0">
                <a:latin typeface="Times New Roman"/>
                <a:cs typeface="Times New Roman"/>
              </a:rPr>
              <a:t>hauteur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hauteur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sz="2400" spc="-5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Clr>
                <a:srgbClr val="006FC0"/>
              </a:buClr>
              <a:buFont typeface="Wingdings"/>
              <a:buChar char=""/>
              <a:tabLst>
                <a:tab pos="354965" algn="l"/>
              </a:tabLst>
            </a:pPr>
            <a:r>
              <a:rPr sz="2400" spc="-20" dirty="0">
                <a:latin typeface="Times New Roman"/>
                <a:cs typeface="Times New Roman"/>
              </a:rPr>
              <a:t>L’utilisation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6F2FA0"/>
                </a:solidFill>
                <a:latin typeface="Times New Roman"/>
                <a:cs typeface="Times New Roman"/>
              </a:rPr>
              <a:t>this</a:t>
            </a:r>
            <a:r>
              <a:rPr sz="2400" spc="-35" dirty="0">
                <a:solidFill>
                  <a:srgbClr val="6F2FA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obligatoire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dans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situations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masquage.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095378" y="3480816"/>
            <a:ext cx="814069" cy="165100"/>
            <a:chOff x="2095378" y="3480816"/>
            <a:chExt cx="814069" cy="165100"/>
          </a:xfrm>
        </p:grpSpPr>
        <p:sp>
          <p:nvSpPr>
            <p:cNvPr id="7" name="object 7"/>
            <p:cNvSpPr/>
            <p:nvPr/>
          </p:nvSpPr>
          <p:spPr>
            <a:xfrm>
              <a:off x="2106045" y="3489960"/>
              <a:ext cx="792480" cy="144780"/>
            </a:xfrm>
            <a:custGeom>
              <a:avLst/>
              <a:gdLst/>
              <a:ahLst/>
              <a:cxnLst/>
              <a:rect l="l" t="t" r="r" b="b"/>
              <a:pathLst>
                <a:path w="792480" h="144779">
                  <a:moveTo>
                    <a:pt x="792479" y="73151"/>
                  </a:moveTo>
                  <a:lnTo>
                    <a:pt x="720851" y="0"/>
                  </a:lnTo>
                  <a:lnTo>
                    <a:pt x="720851" y="36575"/>
                  </a:lnTo>
                  <a:lnTo>
                    <a:pt x="71627" y="36575"/>
                  </a:lnTo>
                  <a:lnTo>
                    <a:pt x="71627" y="0"/>
                  </a:lnTo>
                  <a:lnTo>
                    <a:pt x="0" y="73151"/>
                  </a:lnTo>
                  <a:lnTo>
                    <a:pt x="71627" y="144779"/>
                  </a:lnTo>
                  <a:lnTo>
                    <a:pt x="71627" y="108203"/>
                  </a:lnTo>
                  <a:lnTo>
                    <a:pt x="720851" y="108203"/>
                  </a:lnTo>
                  <a:lnTo>
                    <a:pt x="720851" y="144779"/>
                  </a:lnTo>
                  <a:lnTo>
                    <a:pt x="792479" y="73151"/>
                  </a:lnTo>
                  <a:close/>
                </a:path>
              </a:pathLst>
            </a:custGeom>
            <a:solidFill>
              <a:srgbClr val="93B5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095378" y="3480816"/>
              <a:ext cx="814069" cy="165100"/>
            </a:xfrm>
            <a:custGeom>
              <a:avLst/>
              <a:gdLst/>
              <a:ahLst/>
              <a:cxnLst/>
              <a:rect l="l" t="t" r="r" b="b"/>
              <a:pathLst>
                <a:path w="814069" h="165100">
                  <a:moveTo>
                    <a:pt x="92964" y="36576"/>
                  </a:moveTo>
                  <a:lnTo>
                    <a:pt x="92964" y="6096"/>
                  </a:lnTo>
                  <a:lnTo>
                    <a:pt x="89916" y="3048"/>
                  </a:lnTo>
                  <a:lnTo>
                    <a:pt x="83820" y="0"/>
                  </a:lnTo>
                  <a:lnTo>
                    <a:pt x="79248" y="0"/>
                  </a:lnTo>
                  <a:lnTo>
                    <a:pt x="0" y="79248"/>
                  </a:lnTo>
                  <a:lnTo>
                    <a:pt x="0" y="85344"/>
                  </a:lnTo>
                  <a:lnTo>
                    <a:pt x="4572" y="88392"/>
                  </a:lnTo>
                  <a:lnTo>
                    <a:pt x="18288" y="102108"/>
                  </a:lnTo>
                  <a:lnTo>
                    <a:pt x="18288" y="74676"/>
                  </a:lnTo>
                  <a:lnTo>
                    <a:pt x="25073" y="81606"/>
                  </a:lnTo>
                  <a:lnTo>
                    <a:pt x="73152" y="33528"/>
                  </a:lnTo>
                  <a:lnTo>
                    <a:pt x="73152" y="9144"/>
                  </a:lnTo>
                  <a:lnTo>
                    <a:pt x="89916" y="16764"/>
                  </a:lnTo>
                  <a:lnTo>
                    <a:pt x="89916" y="36576"/>
                  </a:lnTo>
                  <a:lnTo>
                    <a:pt x="92964" y="36576"/>
                  </a:lnTo>
                  <a:close/>
                </a:path>
                <a:path w="814069" h="165100">
                  <a:moveTo>
                    <a:pt x="25073" y="81606"/>
                  </a:moveTo>
                  <a:lnTo>
                    <a:pt x="18288" y="74676"/>
                  </a:lnTo>
                  <a:lnTo>
                    <a:pt x="18288" y="88392"/>
                  </a:lnTo>
                  <a:lnTo>
                    <a:pt x="25073" y="81606"/>
                  </a:lnTo>
                  <a:close/>
                </a:path>
                <a:path w="814069" h="165100">
                  <a:moveTo>
                    <a:pt x="89916" y="147828"/>
                  </a:moveTo>
                  <a:lnTo>
                    <a:pt x="25073" y="81606"/>
                  </a:lnTo>
                  <a:lnTo>
                    <a:pt x="18288" y="88392"/>
                  </a:lnTo>
                  <a:lnTo>
                    <a:pt x="18288" y="102108"/>
                  </a:lnTo>
                  <a:lnTo>
                    <a:pt x="73152" y="156972"/>
                  </a:lnTo>
                  <a:lnTo>
                    <a:pt x="73152" y="153924"/>
                  </a:lnTo>
                  <a:lnTo>
                    <a:pt x="89916" y="147828"/>
                  </a:lnTo>
                  <a:close/>
                </a:path>
                <a:path w="814069" h="165100">
                  <a:moveTo>
                    <a:pt x="89916" y="16764"/>
                  </a:moveTo>
                  <a:lnTo>
                    <a:pt x="73152" y="9144"/>
                  </a:lnTo>
                  <a:lnTo>
                    <a:pt x="73152" y="33528"/>
                  </a:lnTo>
                  <a:lnTo>
                    <a:pt x="89916" y="16764"/>
                  </a:lnTo>
                  <a:close/>
                </a:path>
                <a:path w="814069" h="165100">
                  <a:moveTo>
                    <a:pt x="89916" y="36576"/>
                  </a:moveTo>
                  <a:lnTo>
                    <a:pt x="89916" y="16764"/>
                  </a:lnTo>
                  <a:lnTo>
                    <a:pt x="73152" y="33528"/>
                  </a:lnTo>
                  <a:lnTo>
                    <a:pt x="73152" y="51816"/>
                  </a:lnTo>
                  <a:lnTo>
                    <a:pt x="77724" y="54864"/>
                  </a:lnTo>
                  <a:lnTo>
                    <a:pt x="82296" y="54864"/>
                  </a:lnTo>
                  <a:lnTo>
                    <a:pt x="82296" y="36576"/>
                  </a:lnTo>
                  <a:lnTo>
                    <a:pt x="89916" y="36576"/>
                  </a:lnTo>
                  <a:close/>
                </a:path>
                <a:path w="814069" h="165100">
                  <a:moveTo>
                    <a:pt x="740664" y="131064"/>
                  </a:moveTo>
                  <a:lnTo>
                    <a:pt x="740664" y="112776"/>
                  </a:lnTo>
                  <a:lnTo>
                    <a:pt x="736092" y="108204"/>
                  </a:lnTo>
                  <a:lnTo>
                    <a:pt x="77724" y="108204"/>
                  </a:lnTo>
                  <a:lnTo>
                    <a:pt x="73152" y="112776"/>
                  </a:lnTo>
                  <a:lnTo>
                    <a:pt x="73152" y="130707"/>
                  </a:lnTo>
                  <a:lnTo>
                    <a:pt x="82296" y="140045"/>
                  </a:lnTo>
                  <a:lnTo>
                    <a:pt x="82296" y="128016"/>
                  </a:lnTo>
                  <a:lnTo>
                    <a:pt x="92964" y="117348"/>
                  </a:lnTo>
                  <a:lnTo>
                    <a:pt x="92964" y="128016"/>
                  </a:lnTo>
                  <a:lnTo>
                    <a:pt x="720852" y="128016"/>
                  </a:lnTo>
                  <a:lnTo>
                    <a:pt x="720852" y="117348"/>
                  </a:lnTo>
                  <a:lnTo>
                    <a:pt x="731520" y="128016"/>
                  </a:lnTo>
                  <a:lnTo>
                    <a:pt x="731520" y="140208"/>
                  </a:lnTo>
                  <a:lnTo>
                    <a:pt x="740664" y="131064"/>
                  </a:lnTo>
                  <a:close/>
                </a:path>
                <a:path w="814069" h="165100">
                  <a:moveTo>
                    <a:pt x="89916" y="161544"/>
                  </a:moveTo>
                  <a:lnTo>
                    <a:pt x="89916" y="147828"/>
                  </a:lnTo>
                  <a:lnTo>
                    <a:pt x="73152" y="153924"/>
                  </a:lnTo>
                  <a:lnTo>
                    <a:pt x="73152" y="156972"/>
                  </a:lnTo>
                  <a:lnTo>
                    <a:pt x="79248" y="163068"/>
                  </a:lnTo>
                  <a:lnTo>
                    <a:pt x="83820" y="164592"/>
                  </a:lnTo>
                  <a:lnTo>
                    <a:pt x="89916" y="161544"/>
                  </a:lnTo>
                  <a:close/>
                </a:path>
                <a:path w="814069" h="165100">
                  <a:moveTo>
                    <a:pt x="731520" y="36576"/>
                  </a:moveTo>
                  <a:lnTo>
                    <a:pt x="82296" y="36576"/>
                  </a:lnTo>
                  <a:lnTo>
                    <a:pt x="92964" y="45720"/>
                  </a:lnTo>
                  <a:lnTo>
                    <a:pt x="92964" y="54864"/>
                  </a:lnTo>
                  <a:lnTo>
                    <a:pt x="720852" y="54864"/>
                  </a:lnTo>
                  <a:lnTo>
                    <a:pt x="720852" y="45720"/>
                  </a:lnTo>
                  <a:lnTo>
                    <a:pt x="731520" y="36576"/>
                  </a:lnTo>
                  <a:close/>
                </a:path>
                <a:path w="814069" h="165100">
                  <a:moveTo>
                    <a:pt x="92964" y="54864"/>
                  </a:moveTo>
                  <a:lnTo>
                    <a:pt x="92964" y="45720"/>
                  </a:lnTo>
                  <a:lnTo>
                    <a:pt x="82296" y="36576"/>
                  </a:lnTo>
                  <a:lnTo>
                    <a:pt x="82296" y="54864"/>
                  </a:lnTo>
                  <a:lnTo>
                    <a:pt x="92964" y="54864"/>
                  </a:lnTo>
                  <a:close/>
                </a:path>
                <a:path w="814069" h="165100">
                  <a:moveTo>
                    <a:pt x="92964" y="128016"/>
                  </a:moveTo>
                  <a:lnTo>
                    <a:pt x="92964" y="117348"/>
                  </a:lnTo>
                  <a:lnTo>
                    <a:pt x="82296" y="128016"/>
                  </a:lnTo>
                  <a:lnTo>
                    <a:pt x="92964" y="128016"/>
                  </a:lnTo>
                  <a:close/>
                </a:path>
                <a:path w="814069" h="165100">
                  <a:moveTo>
                    <a:pt x="92964" y="156972"/>
                  </a:moveTo>
                  <a:lnTo>
                    <a:pt x="92964" y="128016"/>
                  </a:lnTo>
                  <a:lnTo>
                    <a:pt x="82296" y="128016"/>
                  </a:lnTo>
                  <a:lnTo>
                    <a:pt x="82296" y="140045"/>
                  </a:lnTo>
                  <a:lnTo>
                    <a:pt x="89916" y="147828"/>
                  </a:lnTo>
                  <a:lnTo>
                    <a:pt x="89916" y="161544"/>
                  </a:lnTo>
                  <a:lnTo>
                    <a:pt x="92964" y="156972"/>
                  </a:lnTo>
                  <a:close/>
                </a:path>
                <a:path w="814069" h="165100">
                  <a:moveTo>
                    <a:pt x="813816" y="85344"/>
                  </a:moveTo>
                  <a:lnTo>
                    <a:pt x="813816" y="79248"/>
                  </a:lnTo>
                  <a:lnTo>
                    <a:pt x="734568" y="0"/>
                  </a:lnTo>
                  <a:lnTo>
                    <a:pt x="731520" y="0"/>
                  </a:lnTo>
                  <a:lnTo>
                    <a:pt x="726948" y="1524"/>
                  </a:lnTo>
                  <a:lnTo>
                    <a:pt x="723900" y="3048"/>
                  </a:lnTo>
                  <a:lnTo>
                    <a:pt x="720852" y="6096"/>
                  </a:lnTo>
                  <a:lnTo>
                    <a:pt x="720852" y="36576"/>
                  </a:lnTo>
                  <a:lnTo>
                    <a:pt x="723900" y="36576"/>
                  </a:lnTo>
                  <a:lnTo>
                    <a:pt x="723900" y="16764"/>
                  </a:lnTo>
                  <a:lnTo>
                    <a:pt x="740664" y="9144"/>
                  </a:lnTo>
                  <a:lnTo>
                    <a:pt x="740664" y="33178"/>
                  </a:lnTo>
                  <a:lnTo>
                    <a:pt x="790121" y="81606"/>
                  </a:lnTo>
                  <a:lnTo>
                    <a:pt x="797052" y="74676"/>
                  </a:lnTo>
                  <a:lnTo>
                    <a:pt x="797052" y="100584"/>
                  </a:lnTo>
                  <a:lnTo>
                    <a:pt x="809244" y="88392"/>
                  </a:lnTo>
                  <a:lnTo>
                    <a:pt x="813816" y="85344"/>
                  </a:lnTo>
                  <a:close/>
                </a:path>
                <a:path w="814069" h="165100">
                  <a:moveTo>
                    <a:pt x="731520" y="54864"/>
                  </a:moveTo>
                  <a:lnTo>
                    <a:pt x="731520" y="36576"/>
                  </a:lnTo>
                  <a:lnTo>
                    <a:pt x="720852" y="45720"/>
                  </a:lnTo>
                  <a:lnTo>
                    <a:pt x="720852" y="54864"/>
                  </a:lnTo>
                  <a:lnTo>
                    <a:pt x="731520" y="54864"/>
                  </a:lnTo>
                  <a:close/>
                </a:path>
                <a:path w="814069" h="165100">
                  <a:moveTo>
                    <a:pt x="731520" y="128016"/>
                  </a:moveTo>
                  <a:lnTo>
                    <a:pt x="720852" y="117348"/>
                  </a:lnTo>
                  <a:lnTo>
                    <a:pt x="720852" y="128016"/>
                  </a:lnTo>
                  <a:lnTo>
                    <a:pt x="731520" y="128016"/>
                  </a:lnTo>
                  <a:close/>
                </a:path>
                <a:path w="814069" h="165100">
                  <a:moveTo>
                    <a:pt x="731520" y="140208"/>
                  </a:moveTo>
                  <a:lnTo>
                    <a:pt x="731520" y="128016"/>
                  </a:lnTo>
                  <a:lnTo>
                    <a:pt x="720852" y="128016"/>
                  </a:lnTo>
                  <a:lnTo>
                    <a:pt x="720852" y="156972"/>
                  </a:lnTo>
                  <a:lnTo>
                    <a:pt x="723900" y="161544"/>
                  </a:lnTo>
                  <a:lnTo>
                    <a:pt x="723900" y="147828"/>
                  </a:lnTo>
                  <a:lnTo>
                    <a:pt x="731520" y="140208"/>
                  </a:lnTo>
                  <a:close/>
                </a:path>
                <a:path w="814069" h="165100">
                  <a:moveTo>
                    <a:pt x="740664" y="33178"/>
                  </a:moveTo>
                  <a:lnTo>
                    <a:pt x="740664" y="9144"/>
                  </a:lnTo>
                  <a:lnTo>
                    <a:pt x="723900" y="16764"/>
                  </a:lnTo>
                  <a:lnTo>
                    <a:pt x="740664" y="33178"/>
                  </a:lnTo>
                  <a:close/>
                </a:path>
                <a:path w="814069" h="165100">
                  <a:moveTo>
                    <a:pt x="740664" y="51816"/>
                  </a:moveTo>
                  <a:lnTo>
                    <a:pt x="740664" y="33178"/>
                  </a:lnTo>
                  <a:lnTo>
                    <a:pt x="723900" y="16764"/>
                  </a:lnTo>
                  <a:lnTo>
                    <a:pt x="723900" y="36576"/>
                  </a:lnTo>
                  <a:lnTo>
                    <a:pt x="731520" y="36576"/>
                  </a:lnTo>
                  <a:lnTo>
                    <a:pt x="731520" y="54864"/>
                  </a:lnTo>
                  <a:lnTo>
                    <a:pt x="736092" y="54864"/>
                  </a:lnTo>
                  <a:lnTo>
                    <a:pt x="740664" y="51816"/>
                  </a:lnTo>
                  <a:close/>
                </a:path>
                <a:path w="814069" h="165100">
                  <a:moveTo>
                    <a:pt x="797052" y="100584"/>
                  </a:moveTo>
                  <a:lnTo>
                    <a:pt x="797052" y="88392"/>
                  </a:lnTo>
                  <a:lnTo>
                    <a:pt x="790121" y="81606"/>
                  </a:lnTo>
                  <a:lnTo>
                    <a:pt x="723900" y="147828"/>
                  </a:lnTo>
                  <a:lnTo>
                    <a:pt x="740664" y="153924"/>
                  </a:lnTo>
                  <a:lnTo>
                    <a:pt x="740664" y="156972"/>
                  </a:lnTo>
                  <a:lnTo>
                    <a:pt x="797052" y="100584"/>
                  </a:lnTo>
                  <a:close/>
                </a:path>
                <a:path w="814069" h="165100">
                  <a:moveTo>
                    <a:pt x="740664" y="156972"/>
                  </a:moveTo>
                  <a:lnTo>
                    <a:pt x="740664" y="153924"/>
                  </a:lnTo>
                  <a:lnTo>
                    <a:pt x="723900" y="147828"/>
                  </a:lnTo>
                  <a:lnTo>
                    <a:pt x="723900" y="161544"/>
                  </a:lnTo>
                  <a:lnTo>
                    <a:pt x="726948" y="163068"/>
                  </a:lnTo>
                  <a:lnTo>
                    <a:pt x="731520" y="164592"/>
                  </a:lnTo>
                  <a:lnTo>
                    <a:pt x="734568" y="163068"/>
                  </a:lnTo>
                  <a:lnTo>
                    <a:pt x="740664" y="156972"/>
                  </a:lnTo>
                  <a:close/>
                </a:path>
                <a:path w="814069" h="165100">
                  <a:moveTo>
                    <a:pt x="797052" y="88392"/>
                  </a:moveTo>
                  <a:lnTo>
                    <a:pt x="797052" y="74676"/>
                  </a:lnTo>
                  <a:lnTo>
                    <a:pt x="790121" y="81606"/>
                  </a:lnTo>
                  <a:lnTo>
                    <a:pt x="797052" y="88392"/>
                  </a:lnTo>
                  <a:close/>
                </a:path>
              </a:pathLst>
            </a:custGeom>
            <a:solidFill>
              <a:srgbClr val="6B84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021976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49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972" rIns="0" bIns="0" rtlCol="0">
            <a:spAutoFit/>
          </a:bodyPr>
          <a:lstStyle/>
          <a:p>
            <a:pPr marL="445134">
              <a:lnSpc>
                <a:spcPct val="100000"/>
              </a:lnSpc>
              <a:spcBef>
                <a:spcPts val="100"/>
              </a:spcBef>
            </a:pPr>
            <a:r>
              <a:rPr spc="-325" dirty="0"/>
              <a:t>Pointeur</a:t>
            </a:r>
            <a:r>
              <a:rPr b="0" spc="70" dirty="0">
                <a:latin typeface="Times New Roman"/>
                <a:cs typeface="Times New Roman"/>
              </a:rPr>
              <a:t> </a:t>
            </a:r>
            <a:r>
              <a:rPr spc="-360" dirty="0"/>
              <a:t>sur</a:t>
            </a:r>
            <a:r>
              <a:rPr b="0" spc="70" dirty="0">
                <a:latin typeface="Times New Roman"/>
                <a:cs typeface="Times New Roman"/>
              </a:rPr>
              <a:t> </a:t>
            </a:r>
            <a:r>
              <a:rPr spc="-185" dirty="0"/>
              <a:t>l’objet</a:t>
            </a:r>
            <a:r>
              <a:rPr b="0" spc="45" dirty="0">
                <a:latin typeface="Times New Roman"/>
                <a:cs typeface="Times New Roman"/>
              </a:rPr>
              <a:t> </a:t>
            </a:r>
            <a:r>
              <a:rPr spc="-305" dirty="0"/>
              <a:t>courant</a:t>
            </a:r>
            <a:r>
              <a:rPr b="0" spc="70" dirty="0">
                <a:latin typeface="Times New Roman"/>
                <a:cs typeface="Times New Roman"/>
              </a:rPr>
              <a:t> </a:t>
            </a:r>
            <a:r>
              <a:rPr spc="-280" dirty="0"/>
              <a:t>: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305" dirty="0"/>
              <a:t>this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45667" y="2747262"/>
            <a:ext cx="366649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marR="5080" indent="-285750">
              <a:lnSpc>
                <a:spcPct val="100000"/>
              </a:lnSpc>
              <a:spcBef>
                <a:spcPts val="100"/>
              </a:spcBef>
              <a:buClr>
                <a:srgbClr val="006FC0"/>
              </a:buClr>
              <a:buFont typeface="Wingdings"/>
              <a:buChar char=""/>
              <a:tabLst>
                <a:tab pos="299085" algn="l"/>
              </a:tabLst>
            </a:pPr>
            <a:r>
              <a:rPr sz="1800" dirty="0">
                <a:latin typeface="Times New Roman"/>
                <a:cs typeface="Times New Roman"/>
              </a:rPr>
              <a:t>Implicitement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quand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dans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corps 	</a:t>
            </a:r>
            <a:r>
              <a:rPr sz="1800" dirty="0">
                <a:latin typeface="Times New Roman"/>
                <a:cs typeface="Times New Roman"/>
              </a:rPr>
              <a:t>d’une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méthode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un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attribut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est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utilisé, 	</a:t>
            </a:r>
            <a:r>
              <a:rPr sz="1800" dirty="0">
                <a:latin typeface="Times New Roman"/>
                <a:cs typeface="Times New Roman"/>
              </a:rPr>
              <a:t>c’est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attribut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l’objet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courant.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63014" y="5318249"/>
            <a:ext cx="32270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marR="5080" indent="-285750">
              <a:lnSpc>
                <a:spcPct val="100000"/>
              </a:lnSpc>
              <a:spcBef>
                <a:spcPts val="100"/>
              </a:spcBef>
              <a:buClr>
                <a:srgbClr val="006FC0"/>
              </a:buClr>
              <a:buFont typeface="Wingdings"/>
              <a:buChar char=""/>
              <a:tabLst>
                <a:tab pos="299085" algn="l"/>
              </a:tabLst>
            </a:pPr>
            <a:r>
              <a:rPr sz="1800" b="1" dirty="0">
                <a:solidFill>
                  <a:srgbClr val="6F2FA0"/>
                </a:solidFill>
                <a:latin typeface="Times New Roman"/>
                <a:cs typeface="Times New Roman"/>
              </a:rPr>
              <a:t>this</a:t>
            </a:r>
            <a:r>
              <a:rPr sz="1800" b="1" spc="-30" dirty="0">
                <a:solidFill>
                  <a:srgbClr val="6F2FA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essentiellement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utilisé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pour 	</a:t>
            </a:r>
            <a:r>
              <a:rPr sz="1800" dirty="0">
                <a:latin typeface="Times New Roman"/>
                <a:cs typeface="Times New Roman"/>
              </a:rPr>
              <a:t>lever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les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ambiguïtés.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50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377577" y="2328672"/>
            <a:ext cx="4627245" cy="4700270"/>
          </a:xfrm>
          <a:custGeom>
            <a:avLst/>
            <a:gdLst/>
            <a:ahLst/>
            <a:cxnLst/>
            <a:rect l="l" t="t" r="r" b="b"/>
            <a:pathLst>
              <a:path w="4627245" h="4700270">
                <a:moveTo>
                  <a:pt x="4626861" y="4695444"/>
                </a:moveTo>
                <a:lnTo>
                  <a:pt x="4626861" y="4572"/>
                </a:lnTo>
                <a:lnTo>
                  <a:pt x="4622289" y="0"/>
                </a:lnTo>
                <a:lnTo>
                  <a:pt x="3048" y="0"/>
                </a:lnTo>
                <a:lnTo>
                  <a:pt x="0" y="4572"/>
                </a:lnTo>
                <a:lnTo>
                  <a:pt x="0" y="4695444"/>
                </a:lnTo>
                <a:lnTo>
                  <a:pt x="3048" y="4700016"/>
                </a:lnTo>
                <a:lnTo>
                  <a:pt x="9144" y="4700016"/>
                </a:lnTo>
                <a:lnTo>
                  <a:pt x="9144" y="19812"/>
                </a:lnTo>
                <a:lnTo>
                  <a:pt x="18288" y="9144"/>
                </a:lnTo>
                <a:lnTo>
                  <a:pt x="18288" y="19812"/>
                </a:lnTo>
                <a:lnTo>
                  <a:pt x="4607049" y="19812"/>
                </a:lnTo>
                <a:lnTo>
                  <a:pt x="4607049" y="9144"/>
                </a:lnTo>
                <a:lnTo>
                  <a:pt x="4617717" y="19812"/>
                </a:lnTo>
                <a:lnTo>
                  <a:pt x="4617717" y="4700016"/>
                </a:lnTo>
                <a:lnTo>
                  <a:pt x="4622289" y="4700016"/>
                </a:lnTo>
                <a:lnTo>
                  <a:pt x="4626861" y="4695444"/>
                </a:lnTo>
                <a:close/>
              </a:path>
              <a:path w="4627245" h="4700270">
                <a:moveTo>
                  <a:pt x="18288" y="19812"/>
                </a:moveTo>
                <a:lnTo>
                  <a:pt x="18288" y="9144"/>
                </a:lnTo>
                <a:lnTo>
                  <a:pt x="9144" y="19812"/>
                </a:lnTo>
                <a:lnTo>
                  <a:pt x="18288" y="19812"/>
                </a:lnTo>
                <a:close/>
              </a:path>
              <a:path w="4627245" h="4700270">
                <a:moveTo>
                  <a:pt x="18288" y="4680204"/>
                </a:moveTo>
                <a:lnTo>
                  <a:pt x="18288" y="19812"/>
                </a:lnTo>
                <a:lnTo>
                  <a:pt x="9144" y="19812"/>
                </a:lnTo>
                <a:lnTo>
                  <a:pt x="9144" y="4680204"/>
                </a:lnTo>
                <a:lnTo>
                  <a:pt x="18288" y="4680204"/>
                </a:lnTo>
                <a:close/>
              </a:path>
              <a:path w="4627245" h="4700270">
                <a:moveTo>
                  <a:pt x="4617717" y="4680204"/>
                </a:moveTo>
                <a:lnTo>
                  <a:pt x="9144" y="4680204"/>
                </a:lnTo>
                <a:lnTo>
                  <a:pt x="18288" y="4690872"/>
                </a:lnTo>
                <a:lnTo>
                  <a:pt x="18288" y="4700016"/>
                </a:lnTo>
                <a:lnTo>
                  <a:pt x="4607049" y="4700016"/>
                </a:lnTo>
                <a:lnTo>
                  <a:pt x="4607049" y="4690872"/>
                </a:lnTo>
                <a:lnTo>
                  <a:pt x="4617717" y="4680204"/>
                </a:lnTo>
                <a:close/>
              </a:path>
              <a:path w="4627245" h="4700270">
                <a:moveTo>
                  <a:pt x="18288" y="4700016"/>
                </a:moveTo>
                <a:lnTo>
                  <a:pt x="18288" y="4690872"/>
                </a:lnTo>
                <a:lnTo>
                  <a:pt x="9144" y="4680204"/>
                </a:lnTo>
                <a:lnTo>
                  <a:pt x="9144" y="4700016"/>
                </a:lnTo>
                <a:lnTo>
                  <a:pt x="18288" y="4700016"/>
                </a:lnTo>
                <a:close/>
              </a:path>
              <a:path w="4627245" h="4700270">
                <a:moveTo>
                  <a:pt x="4617717" y="19812"/>
                </a:moveTo>
                <a:lnTo>
                  <a:pt x="4607049" y="9144"/>
                </a:lnTo>
                <a:lnTo>
                  <a:pt x="4607049" y="19812"/>
                </a:lnTo>
                <a:lnTo>
                  <a:pt x="4617717" y="19812"/>
                </a:lnTo>
                <a:close/>
              </a:path>
              <a:path w="4627245" h="4700270">
                <a:moveTo>
                  <a:pt x="4617717" y="4680204"/>
                </a:moveTo>
                <a:lnTo>
                  <a:pt x="4617717" y="19812"/>
                </a:lnTo>
                <a:lnTo>
                  <a:pt x="4607049" y="19812"/>
                </a:lnTo>
                <a:lnTo>
                  <a:pt x="4607049" y="4680204"/>
                </a:lnTo>
                <a:lnTo>
                  <a:pt x="4617717" y="4680204"/>
                </a:lnTo>
                <a:close/>
              </a:path>
              <a:path w="4627245" h="4700270">
                <a:moveTo>
                  <a:pt x="4617717" y="4700016"/>
                </a:moveTo>
                <a:lnTo>
                  <a:pt x="4617717" y="4680204"/>
                </a:lnTo>
                <a:lnTo>
                  <a:pt x="4607049" y="4690872"/>
                </a:lnTo>
                <a:lnTo>
                  <a:pt x="4607049" y="4700016"/>
                </a:lnTo>
                <a:lnTo>
                  <a:pt x="4617717" y="4700016"/>
                </a:lnTo>
                <a:close/>
              </a:path>
            </a:pathLst>
          </a:custGeom>
          <a:solidFill>
            <a:srgbClr val="6B84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328305" y="1577878"/>
            <a:ext cx="5864860" cy="1097915"/>
          </a:xfrm>
          <a:prstGeom prst="rect">
            <a:avLst/>
          </a:prstGeom>
        </p:spPr>
        <p:txBody>
          <a:bodyPr vert="horz" wrap="square" lIns="0" tIns="2108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60"/>
              </a:spcBef>
            </a:pP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Exemple</a:t>
            </a:r>
            <a:r>
              <a:rPr sz="28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1:</a:t>
            </a:r>
            <a:r>
              <a:rPr sz="28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this</a:t>
            </a:r>
            <a:r>
              <a:rPr sz="28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et</a:t>
            </a:r>
            <a:r>
              <a:rPr sz="28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variables</a:t>
            </a:r>
            <a:r>
              <a:rPr sz="28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d’instance</a:t>
            </a:r>
            <a:endParaRPr sz="2800">
              <a:latin typeface="Times New Roman"/>
              <a:cs typeface="Times New Roman"/>
            </a:endParaRPr>
          </a:p>
          <a:p>
            <a:pPr marL="147955">
              <a:lnSpc>
                <a:spcPct val="100000"/>
              </a:lnSpc>
              <a:spcBef>
                <a:spcPts val="1120"/>
              </a:spcBef>
            </a:pPr>
            <a:r>
              <a:rPr sz="2000" dirty="0">
                <a:solidFill>
                  <a:srgbClr val="001F5F"/>
                </a:solidFill>
                <a:latin typeface="Times New Roman"/>
                <a:cs typeface="Times New Roman"/>
              </a:rPr>
              <a:t>class</a:t>
            </a:r>
            <a:r>
              <a:rPr sz="2000" spc="-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0B0F0"/>
                </a:solidFill>
                <a:latin typeface="Times New Roman"/>
                <a:cs typeface="Times New Roman"/>
              </a:rPr>
              <a:t>Point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63941" y="2649726"/>
            <a:ext cx="4312920" cy="4293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338829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000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x</a:t>
            </a:r>
            <a:r>
              <a:rPr sz="2000" spc="-25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200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000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y</a:t>
            </a:r>
            <a:r>
              <a:rPr sz="2000" spc="-2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000">
              <a:latin typeface="Times New Roman"/>
              <a:cs typeface="Times New Roman"/>
            </a:endParaRPr>
          </a:p>
          <a:p>
            <a:pPr marL="520065" marR="1187450" indent="-508000">
              <a:lnSpc>
                <a:spcPct val="100000"/>
              </a:lnSpc>
            </a:pPr>
            <a:r>
              <a:rPr sz="2000" dirty="0">
                <a:solidFill>
                  <a:srgbClr val="001F5F"/>
                </a:solidFill>
                <a:latin typeface="Times New Roman"/>
                <a:cs typeface="Times New Roman"/>
              </a:rPr>
              <a:t>void</a:t>
            </a:r>
            <a:r>
              <a:rPr sz="2000" spc="-3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translater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00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000" spc="-5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dx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0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000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dy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20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50" dirty="0">
                <a:solidFill>
                  <a:srgbClr val="FF0000"/>
                </a:solidFill>
                <a:latin typeface="Times New Roman"/>
                <a:cs typeface="Times New Roman"/>
              </a:rPr>
              <a:t>{ </a:t>
            </a:r>
            <a:r>
              <a:rPr sz="2000" dirty="0">
                <a:latin typeface="Times New Roman"/>
                <a:cs typeface="Times New Roman"/>
              </a:rPr>
              <a:t>x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+=</a:t>
            </a:r>
            <a:r>
              <a:rPr sz="20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dx</a:t>
            </a:r>
            <a:r>
              <a:rPr sz="2000" spc="-2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000">
              <a:latin typeface="Times New Roman"/>
              <a:cs typeface="Times New Roman"/>
            </a:endParaRPr>
          </a:p>
          <a:p>
            <a:pPr marL="520065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y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+=</a:t>
            </a:r>
            <a:r>
              <a:rPr sz="20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dy</a:t>
            </a:r>
            <a:r>
              <a:rPr sz="2000" spc="-2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5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000" spc="-3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distance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()</a:t>
            </a:r>
            <a:r>
              <a:rPr sz="20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50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endParaRPr sz="2000">
              <a:latin typeface="Times New Roman"/>
              <a:cs typeface="Times New Roman"/>
            </a:endParaRPr>
          </a:p>
          <a:p>
            <a:pPr marL="774065">
              <a:lnSpc>
                <a:spcPct val="100000"/>
              </a:lnSpc>
            </a:pPr>
            <a:r>
              <a:rPr sz="2000" dirty="0">
                <a:solidFill>
                  <a:srgbClr val="001F5F"/>
                </a:solidFill>
                <a:latin typeface="Times New Roman"/>
                <a:cs typeface="Times New Roman"/>
              </a:rPr>
              <a:t>return</a:t>
            </a:r>
            <a:r>
              <a:rPr sz="2000" spc="-3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01F5F"/>
                </a:solidFill>
                <a:latin typeface="Times New Roman"/>
                <a:cs typeface="Times New Roman"/>
              </a:rPr>
              <a:t>sqrt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000" spc="-10" dirty="0">
                <a:latin typeface="Times New Roman"/>
                <a:cs typeface="Times New Roman"/>
              </a:rPr>
              <a:t>x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*</a:t>
            </a:r>
            <a:r>
              <a:rPr sz="2000" spc="-10" dirty="0">
                <a:latin typeface="Times New Roman"/>
                <a:cs typeface="Times New Roman"/>
              </a:rPr>
              <a:t>x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+</a:t>
            </a:r>
            <a:r>
              <a:rPr sz="2000" spc="-10" dirty="0">
                <a:latin typeface="Times New Roman"/>
                <a:cs typeface="Times New Roman"/>
              </a:rPr>
              <a:t>y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*</a:t>
            </a:r>
            <a:r>
              <a:rPr sz="2000" spc="-10" dirty="0">
                <a:latin typeface="Times New Roman"/>
                <a:cs typeface="Times New Roman"/>
              </a:rPr>
              <a:t>y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);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5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001F5F"/>
                </a:solidFill>
                <a:latin typeface="Times New Roman"/>
                <a:cs typeface="Times New Roman"/>
              </a:rPr>
              <a:t>void</a:t>
            </a:r>
            <a:r>
              <a:rPr sz="2000" spc="-4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placerAuPoint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00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000" spc="-4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x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0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000" spc="-6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y1</a:t>
            </a:r>
            <a:r>
              <a:rPr sz="2000" spc="-20" dirty="0">
                <a:solidFill>
                  <a:srgbClr val="FF0000"/>
                </a:solidFill>
                <a:latin typeface="Times New Roman"/>
                <a:cs typeface="Times New Roman"/>
              </a:rPr>
              <a:t>){</a:t>
            </a:r>
            <a:endParaRPr sz="2000">
              <a:latin typeface="Times New Roman"/>
              <a:cs typeface="Times New Roman"/>
            </a:endParaRPr>
          </a:p>
          <a:p>
            <a:pPr marL="520065" marR="2567940">
              <a:lnSpc>
                <a:spcPct val="100000"/>
              </a:lnSpc>
            </a:pPr>
            <a:r>
              <a:rPr sz="2000" b="1" spc="-10" dirty="0">
                <a:solidFill>
                  <a:srgbClr val="6F2FA0"/>
                </a:solidFill>
                <a:latin typeface="Times New Roman"/>
                <a:cs typeface="Times New Roman"/>
              </a:rPr>
              <a:t>this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-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&gt;</a:t>
            </a:r>
            <a:r>
              <a:rPr sz="2000" dirty="0">
                <a:latin typeface="Times New Roman"/>
                <a:cs typeface="Times New Roman"/>
              </a:rPr>
              <a:t>x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000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x</a:t>
            </a:r>
            <a:r>
              <a:rPr sz="2000" spc="-25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2000" dirty="0">
                <a:latin typeface="Times New Roman"/>
                <a:cs typeface="Times New Roman"/>
              </a:rPr>
              <a:t>y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= </a:t>
            </a:r>
            <a:r>
              <a:rPr sz="2000" spc="-25" dirty="0">
                <a:latin typeface="Times New Roman"/>
                <a:cs typeface="Times New Roman"/>
              </a:rPr>
              <a:t>y1</a:t>
            </a:r>
            <a:r>
              <a:rPr sz="2000" spc="-2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5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25" dirty="0">
                <a:solidFill>
                  <a:srgbClr val="FF0000"/>
                </a:solidFill>
                <a:latin typeface="Times New Roman"/>
                <a:cs typeface="Times New Roman"/>
              </a:rPr>
              <a:t>};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021976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50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972" rIns="0" bIns="0" rtlCol="0">
            <a:spAutoFit/>
          </a:bodyPr>
          <a:lstStyle/>
          <a:p>
            <a:pPr marL="445134">
              <a:lnSpc>
                <a:spcPct val="100000"/>
              </a:lnSpc>
              <a:spcBef>
                <a:spcPts val="100"/>
              </a:spcBef>
            </a:pPr>
            <a:r>
              <a:rPr spc="-325" dirty="0"/>
              <a:t>Pointeur</a:t>
            </a:r>
            <a:r>
              <a:rPr b="0" spc="70" dirty="0">
                <a:latin typeface="Times New Roman"/>
                <a:cs typeface="Times New Roman"/>
              </a:rPr>
              <a:t> </a:t>
            </a:r>
            <a:r>
              <a:rPr spc="-360" dirty="0"/>
              <a:t>sur</a:t>
            </a:r>
            <a:r>
              <a:rPr b="0" spc="70" dirty="0">
                <a:latin typeface="Times New Roman"/>
                <a:cs typeface="Times New Roman"/>
              </a:rPr>
              <a:t> </a:t>
            </a:r>
            <a:r>
              <a:rPr spc="-185" dirty="0"/>
              <a:t>l’objet</a:t>
            </a:r>
            <a:r>
              <a:rPr b="0" spc="45" dirty="0">
                <a:latin typeface="Times New Roman"/>
                <a:cs typeface="Times New Roman"/>
              </a:rPr>
              <a:t> </a:t>
            </a:r>
            <a:r>
              <a:rPr spc="-305" dirty="0"/>
              <a:t>courant</a:t>
            </a:r>
            <a:r>
              <a:rPr b="0" spc="70" dirty="0">
                <a:latin typeface="Times New Roman"/>
                <a:cs typeface="Times New Roman"/>
              </a:rPr>
              <a:t> </a:t>
            </a:r>
            <a:r>
              <a:rPr spc="-280" dirty="0"/>
              <a:t>: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305" dirty="0"/>
              <a:t>this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45069" y="1974595"/>
            <a:ext cx="58629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Exemple</a:t>
            </a:r>
            <a:r>
              <a:rPr sz="28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2:</a:t>
            </a:r>
            <a:r>
              <a:rPr sz="28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this</a:t>
            </a:r>
            <a:r>
              <a:rPr sz="28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et</a:t>
            </a:r>
            <a:r>
              <a:rPr sz="28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variables</a:t>
            </a:r>
            <a:r>
              <a:rPr sz="280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d’instance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04553" y="2621280"/>
            <a:ext cx="4836160" cy="3827145"/>
          </a:xfrm>
          <a:custGeom>
            <a:avLst/>
            <a:gdLst/>
            <a:ahLst/>
            <a:cxnLst/>
            <a:rect l="l" t="t" r="r" b="b"/>
            <a:pathLst>
              <a:path w="4836160" h="3827145">
                <a:moveTo>
                  <a:pt x="4835649" y="3825240"/>
                </a:moveTo>
                <a:lnTo>
                  <a:pt x="4835649" y="3048"/>
                </a:lnTo>
                <a:lnTo>
                  <a:pt x="4832601" y="0"/>
                </a:lnTo>
                <a:lnTo>
                  <a:pt x="3048" y="0"/>
                </a:lnTo>
                <a:lnTo>
                  <a:pt x="0" y="3048"/>
                </a:lnTo>
                <a:lnTo>
                  <a:pt x="0" y="3825240"/>
                </a:lnTo>
                <a:lnTo>
                  <a:pt x="3048" y="3826764"/>
                </a:lnTo>
                <a:lnTo>
                  <a:pt x="6096" y="3826764"/>
                </a:lnTo>
                <a:lnTo>
                  <a:pt x="6096" y="10668"/>
                </a:lnTo>
                <a:lnTo>
                  <a:pt x="10668" y="4572"/>
                </a:lnTo>
                <a:lnTo>
                  <a:pt x="10668" y="10668"/>
                </a:lnTo>
                <a:lnTo>
                  <a:pt x="4824981" y="10668"/>
                </a:lnTo>
                <a:lnTo>
                  <a:pt x="4824981" y="4572"/>
                </a:lnTo>
                <a:lnTo>
                  <a:pt x="4829553" y="10668"/>
                </a:lnTo>
                <a:lnTo>
                  <a:pt x="4829553" y="3826764"/>
                </a:lnTo>
                <a:lnTo>
                  <a:pt x="4832601" y="3826764"/>
                </a:lnTo>
                <a:lnTo>
                  <a:pt x="4835649" y="3825240"/>
                </a:lnTo>
                <a:close/>
              </a:path>
              <a:path w="4836160" h="3827145">
                <a:moveTo>
                  <a:pt x="10668" y="10668"/>
                </a:moveTo>
                <a:lnTo>
                  <a:pt x="10668" y="4572"/>
                </a:lnTo>
                <a:lnTo>
                  <a:pt x="6096" y="10668"/>
                </a:lnTo>
                <a:lnTo>
                  <a:pt x="10668" y="10668"/>
                </a:lnTo>
                <a:close/>
              </a:path>
              <a:path w="4836160" h="3827145">
                <a:moveTo>
                  <a:pt x="10668" y="3816096"/>
                </a:moveTo>
                <a:lnTo>
                  <a:pt x="10668" y="10668"/>
                </a:lnTo>
                <a:lnTo>
                  <a:pt x="6096" y="10668"/>
                </a:lnTo>
                <a:lnTo>
                  <a:pt x="6096" y="3816096"/>
                </a:lnTo>
                <a:lnTo>
                  <a:pt x="10668" y="3816096"/>
                </a:lnTo>
                <a:close/>
              </a:path>
              <a:path w="4836160" h="3827145">
                <a:moveTo>
                  <a:pt x="4829553" y="3816096"/>
                </a:moveTo>
                <a:lnTo>
                  <a:pt x="6096" y="3816096"/>
                </a:lnTo>
                <a:lnTo>
                  <a:pt x="10668" y="3822192"/>
                </a:lnTo>
                <a:lnTo>
                  <a:pt x="10668" y="3826764"/>
                </a:lnTo>
                <a:lnTo>
                  <a:pt x="4824981" y="3826764"/>
                </a:lnTo>
                <a:lnTo>
                  <a:pt x="4824981" y="3822192"/>
                </a:lnTo>
                <a:lnTo>
                  <a:pt x="4829553" y="3816096"/>
                </a:lnTo>
                <a:close/>
              </a:path>
              <a:path w="4836160" h="3827145">
                <a:moveTo>
                  <a:pt x="10668" y="3826764"/>
                </a:moveTo>
                <a:lnTo>
                  <a:pt x="10668" y="3822192"/>
                </a:lnTo>
                <a:lnTo>
                  <a:pt x="6096" y="3816096"/>
                </a:lnTo>
                <a:lnTo>
                  <a:pt x="6096" y="3826764"/>
                </a:lnTo>
                <a:lnTo>
                  <a:pt x="10668" y="3826764"/>
                </a:lnTo>
                <a:close/>
              </a:path>
              <a:path w="4836160" h="3827145">
                <a:moveTo>
                  <a:pt x="4829553" y="10668"/>
                </a:moveTo>
                <a:lnTo>
                  <a:pt x="4824981" y="4572"/>
                </a:lnTo>
                <a:lnTo>
                  <a:pt x="4824981" y="10668"/>
                </a:lnTo>
                <a:lnTo>
                  <a:pt x="4829553" y="10668"/>
                </a:lnTo>
                <a:close/>
              </a:path>
              <a:path w="4836160" h="3827145">
                <a:moveTo>
                  <a:pt x="4829553" y="3816096"/>
                </a:moveTo>
                <a:lnTo>
                  <a:pt x="4829553" y="10668"/>
                </a:lnTo>
                <a:lnTo>
                  <a:pt x="4824981" y="10668"/>
                </a:lnTo>
                <a:lnTo>
                  <a:pt x="4824981" y="3816096"/>
                </a:lnTo>
                <a:lnTo>
                  <a:pt x="4829553" y="3816096"/>
                </a:lnTo>
                <a:close/>
              </a:path>
              <a:path w="4836160" h="3827145">
                <a:moveTo>
                  <a:pt x="4829553" y="3826764"/>
                </a:moveTo>
                <a:lnTo>
                  <a:pt x="4829553" y="3816096"/>
                </a:lnTo>
                <a:lnTo>
                  <a:pt x="4824981" y="3822192"/>
                </a:lnTo>
                <a:lnTo>
                  <a:pt x="4824981" y="3826764"/>
                </a:lnTo>
                <a:lnTo>
                  <a:pt x="4829553" y="3826764"/>
                </a:lnTo>
                <a:close/>
              </a:path>
            </a:pathLst>
          </a:custGeom>
          <a:solidFill>
            <a:srgbClr val="93B5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4356" y="2850894"/>
            <a:ext cx="1410335" cy="1245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1900" spc="-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main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(){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900" dirty="0">
                <a:solidFill>
                  <a:srgbClr val="00B0F0"/>
                </a:solidFill>
                <a:latin typeface="Times New Roman"/>
                <a:cs typeface="Times New Roman"/>
              </a:rPr>
              <a:t>Point</a:t>
            </a:r>
            <a:r>
              <a:rPr sz="1900" spc="15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000" dirty="0">
                <a:solidFill>
                  <a:srgbClr val="FF32CC"/>
                </a:solidFill>
                <a:latin typeface="Times New Roman"/>
                <a:cs typeface="Times New Roman"/>
              </a:rPr>
              <a:t>1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0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32CC"/>
                </a:solidFill>
                <a:latin typeface="Times New Roman"/>
                <a:cs typeface="Times New Roman"/>
              </a:rPr>
              <a:t>3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20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5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900" dirty="0">
                <a:solidFill>
                  <a:srgbClr val="00B0F0"/>
                </a:solidFill>
                <a:latin typeface="Times New Roman"/>
                <a:cs typeface="Times New Roman"/>
              </a:rPr>
              <a:t>Point</a:t>
            </a:r>
            <a:r>
              <a:rPr sz="1900" spc="20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000" dirty="0">
                <a:solidFill>
                  <a:srgbClr val="FF32CC"/>
                </a:solidFill>
                <a:latin typeface="Times New Roman"/>
                <a:cs typeface="Times New Roman"/>
              </a:rPr>
              <a:t>2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0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32CC"/>
                </a:solidFill>
                <a:latin typeface="Times New Roman"/>
                <a:cs typeface="Times New Roman"/>
              </a:rPr>
              <a:t>5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20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5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900" dirty="0">
                <a:solidFill>
                  <a:srgbClr val="00B0F0"/>
                </a:solidFill>
                <a:latin typeface="Times New Roman"/>
                <a:cs typeface="Times New Roman"/>
              </a:rPr>
              <a:t>Point</a:t>
            </a:r>
            <a:r>
              <a:rPr sz="1900" spc="15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000" dirty="0">
                <a:solidFill>
                  <a:srgbClr val="FF32CC"/>
                </a:solidFill>
                <a:latin typeface="Times New Roman"/>
                <a:cs typeface="Times New Roman"/>
              </a:rPr>
              <a:t>1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0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32CC"/>
                </a:solidFill>
                <a:latin typeface="Times New Roman"/>
                <a:cs typeface="Times New Roman"/>
              </a:rPr>
              <a:t>3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20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5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51877" y="4374894"/>
            <a:ext cx="449326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930" marR="508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9900"/>
                </a:solidFill>
                <a:latin typeface="Times New Roman"/>
                <a:cs typeface="Times New Roman"/>
              </a:rPr>
              <a:t>cout</a:t>
            </a:r>
            <a:r>
              <a:rPr sz="2000" spc="-30" dirty="0">
                <a:solidFill>
                  <a:srgbClr val="0099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&lt;&lt; </a:t>
            </a:r>
            <a:r>
              <a:rPr sz="2000" dirty="0">
                <a:solidFill>
                  <a:srgbClr val="006FC0"/>
                </a:solidFill>
                <a:latin typeface="Times New Roman"/>
                <a:cs typeface="Times New Roman"/>
              </a:rPr>
              <a:t>"a</a:t>
            </a:r>
            <a:r>
              <a:rPr sz="2000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Times New Roman"/>
                <a:cs typeface="Times New Roman"/>
              </a:rPr>
              <a:t>et</a:t>
            </a:r>
            <a:r>
              <a:rPr sz="2000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Times New Roman"/>
                <a:cs typeface="Times New Roman"/>
              </a:rPr>
              <a:t>b</a:t>
            </a:r>
            <a:r>
              <a:rPr sz="2000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Times New Roman"/>
                <a:cs typeface="Times New Roman"/>
              </a:rPr>
              <a:t>:</a:t>
            </a:r>
            <a:r>
              <a:rPr sz="2000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Times New Roman"/>
                <a:cs typeface="Times New Roman"/>
              </a:rPr>
              <a:t>"</a:t>
            </a:r>
            <a:r>
              <a:rPr sz="2000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0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.</a:t>
            </a:r>
            <a:r>
              <a:rPr sz="2000" dirty="0">
                <a:latin typeface="Times New Roman"/>
                <a:cs typeface="Times New Roman"/>
              </a:rPr>
              <a:t>coincide(b)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000" spc="-10" dirty="0">
                <a:solidFill>
                  <a:srgbClr val="009900"/>
                </a:solidFill>
                <a:latin typeface="Times New Roman"/>
                <a:cs typeface="Times New Roman"/>
              </a:rPr>
              <a:t>endl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2000" dirty="0">
                <a:solidFill>
                  <a:srgbClr val="009900"/>
                </a:solidFill>
                <a:latin typeface="Times New Roman"/>
                <a:cs typeface="Times New Roman"/>
              </a:rPr>
              <a:t>cout</a:t>
            </a:r>
            <a:r>
              <a:rPr sz="2000" spc="-30" dirty="0">
                <a:solidFill>
                  <a:srgbClr val="0099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0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Times New Roman"/>
                <a:cs typeface="Times New Roman"/>
              </a:rPr>
              <a:t>"a</a:t>
            </a:r>
            <a:r>
              <a:rPr sz="2000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Times New Roman"/>
                <a:cs typeface="Times New Roman"/>
              </a:rPr>
              <a:t>et</a:t>
            </a:r>
            <a:r>
              <a:rPr sz="2000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Times New Roman"/>
                <a:cs typeface="Times New Roman"/>
              </a:rPr>
              <a:t>c</a:t>
            </a:r>
            <a:r>
              <a:rPr sz="2000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Times New Roman"/>
                <a:cs typeface="Times New Roman"/>
              </a:rPr>
              <a:t>:</a:t>
            </a:r>
            <a:r>
              <a:rPr sz="2000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Times New Roman"/>
                <a:cs typeface="Times New Roman"/>
              </a:rPr>
              <a:t>"</a:t>
            </a:r>
            <a:r>
              <a:rPr sz="2000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0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.</a:t>
            </a:r>
            <a:r>
              <a:rPr sz="2000" dirty="0">
                <a:latin typeface="Times New Roman"/>
                <a:cs typeface="Times New Roman"/>
              </a:rPr>
              <a:t>coincide(c)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000" spc="-10" dirty="0">
                <a:solidFill>
                  <a:srgbClr val="009900"/>
                </a:solidFill>
                <a:latin typeface="Times New Roman"/>
                <a:cs typeface="Times New Roman"/>
              </a:rPr>
              <a:t>endl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5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51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701162" y="2621280"/>
            <a:ext cx="4114800" cy="4258310"/>
          </a:xfrm>
          <a:custGeom>
            <a:avLst/>
            <a:gdLst/>
            <a:ahLst/>
            <a:cxnLst/>
            <a:rect l="l" t="t" r="r" b="b"/>
            <a:pathLst>
              <a:path w="4114800" h="4258309">
                <a:moveTo>
                  <a:pt x="4114800" y="4256532"/>
                </a:moveTo>
                <a:lnTo>
                  <a:pt x="4114800" y="3048"/>
                </a:lnTo>
                <a:lnTo>
                  <a:pt x="4113276" y="0"/>
                </a:lnTo>
                <a:lnTo>
                  <a:pt x="3048" y="0"/>
                </a:lnTo>
                <a:lnTo>
                  <a:pt x="0" y="3048"/>
                </a:lnTo>
                <a:lnTo>
                  <a:pt x="0" y="4256532"/>
                </a:lnTo>
                <a:lnTo>
                  <a:pt x="3048" y="4258056"/>
                </a:lnTo>
                <a:lnTo>
                  <a:pt x="6096" y="4258056"/>
                </a:lnTo>
                <a:lnTo>
                  <a:pt x="6096" y="10668"/>
                </a:lnTo>
                <a:lnTo>
                  <a:pt x="10668" y="4572"/>
                </a:lnTo>
                <a:lnTo>
                  <a:pt x="10668" y="10668"/>
                </a:lnTo>
                <a:lnTo>
                  <a:pt x="4105656" y="10668"/>
                </a:lnTo>
                <a:lnTo>
                  <a:pt x="4105656" y="4572"/>
                </a:lnTo>
                <a:lnTo>
                  <a:pt x="4110228" y="10668"/>
                </a:lnTo>
                <a:lnTo>
                  <a:pt x="4110228" y="4258056"/>
                </a:lnTo>
                <a:lnTo>
                  <a:pt x="4113276" y="4258056"/>
                </a:lnTo>
                <a:lnTo>
                  <a:pt x="4114800" y="4256532"/>
                </a:lnTo>
                <a:close/>
              </a:path>
              <a:path w="4114800" h="4258309">
                <a:moveTo>
                  <a:pt x="10668" y="10668"/>
                </a:moveTo>
                <a:lnTo>
                  <a:pt x="10668" y="4572"/>
                </a:lnTo>
                <a:lnTo>
                  <a:pt x="6096" y="10668"/>
                </a:lnTo>
                <a:lnTo>
                  <a:pt x="10668" y="10668"/>
                </a:lnTo>
                <a:close/>
              </a:path>
              <a:path w="4114800" h="4258309">
                <a:moveTo>
                  <a:pt x="10668" y="4248912"/>
                </a:moveTo>
                <a:lnTo>
                  <a:pt x="10668" y="10668"/>
                </a:lnTo>
                <a:lnTo>
                  <a:pt x="6096" y="10668"/>
                </a:lnTo>
                <a:lnTo>
                  <a:pt x="6096" y="4248912"/>
                </a:lnTo>
                <a:lnTo>
                  <a:pt x="10668" y="4248912"/>
                </a:lnTo>
                <a:close/>
              </a:path>
              <a:path w="4114800" h="4258309">
                <a:moveTo>
                  <a:pt x="4110228" y="4248912"/>
                </a:moveTo>
                <a:lnTo>
                  <a:pt x="6096" y="4248912"/>
                </a:lnTo>
                <a:lnTo>
                  <a:pt x="10668" y="4253484"/>
                </a:lnTo>
                <a:lnTo>
                  <a:pt x="10668" y="4258056"/>
                </a:lnTo>
                <a:lnTo>
                  <a:pt x="4105656" y="4258056"/>
                </a:lnTo>
                <a:lnTo>
                  <a:pt x="4105656" y="4253484"/>
                </a:lnTo>
                <a:lnTo>
                  <a:pt x="4110228" y="4248912"/>
                </a:lnTo>
                <a:close/>
              </a:path>
              <a:path w="4114800" h="4258309">
                <a:moveTo>
                  <a:pt x="10668" y="4258056"/>
                </a:moveTo>
                <a:lnTo>
                  <a:pt x="10668" y="4253484"/>
                </a:lnTo>
                <a:lnTo>
                  <a:pt x="6096" y="4248912"/>
                </a:lnTo>
                <a:lnTo>
                  <a:pt x="6096" y="4258056"/>
                </a:lnTo>
                <a:lnTo>
                  <a:pt x="10668" y="4258056"/>
                </a:lnTo>
                <a:close/>
              </a:path>
              <a:path w="4114800" h="4258309">
                <a:moveTo>
                  <a:pt x="4110228" y="10668"/>
                </a:moveTo>
                <a:lnTo>
                  <a:pt x="4105656" y="4572"/>
                </a:lnTo>
                <a:lnTo>
                  <a:pt x="4105656" y="10668"/>
                </a:lnTo>
                <a:lnTo>
                  <a:pt x="4110228" y="10668"/>
                </a:lnTo>
                <a:close/>
              </a:path>
              <a:path w="4114800" h="4258309">
                <a:moveTo>
                  <a:pt x="4110228" y="4248912"/>
                </a:moveTo>
                <a:lnTo>
                  <a:pt x="4110228" y="10668"/>
                </a:lnTo>
                <a:lnTo>
                  <a:pt x="4105656" y="10668"/>
                </a:lnTo>
                <a:lnTo>
                  <a:pt x="4105656" y="4248912"/>
                </a:lnTo>
                <a:lnTo>
                  <a:pt x="4110228" y="4248912"/>
                </a:lnTo>
                <a:close/>
              </a:path>
              <a:path w="4114800" h="4258309">
                <a:moveTo>
                  <a:pt x="4110228" y="4258056"/>
                </a:moveTo>
                <a:lnTo>
                  <a:pt x="4110228" y="4248912"/>
                </a:lnTo>
                <a:lnTo>
                  <a:pt x="4105656" y="4253484"/>
                </a:lnTo>
                <a:lnTo>
                  <a:pt x="4105656" y="4258056"/>
                </a:lnTo>
                <a:lnTo>
                  <a:pt x="4110228" y="4258056"/>
                </a:lnTo>
                <a:close/>
              </a:path>
            </a:pathLst>
          </a:custGeom>
          <a:solidFill>
            <a:srgbClr val="93B5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784479" y="2847846"/>
            <a:ext cx="1177290" cy="894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3675" marR="5080" indent="-181610">
              <a:lnSpc>
                <a:spcPct val="100000"/>
              </a:lnSpc>
              <a:spcBef>
                <a:spcPts val="95"/>
              </a:spcBef>
            </a:pPr>
            <a:r>
              <a:rPr sz="1900" dirty="0">
                <a:solidFill>
                  <a:srgbClr val="001F5F"/>
                </a:solidFill>
                <a:latin typeface="Times New Roman"/>
                <a:cs typeface="Times New Roman"/>
              </a:rPr>
              <a:t>class</a:t>
            </a:r>
            <a:r>
              <a:rPr sz="1900" spc="-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00" spc="-10" dirty="0">
                <a:solidFill>
                  <a:srgbClr val="00B0F0"/>
                </a:solidFill>
                <a:latin typeface="Times New Roman"/>
                <a:cs typeface="Times New Roman"/>
              </a:rPr>
              <a:t>Point</a:t>
            </a:r>
            <a:r>
              <a:rPr sz="1900" spc="-10" dirty="0">
                <a:solidFill>
                  <a:srgbClr val="FF0000"/>
                </a:solidFill>
                <a:latin typeface="Times New Roman"/>
                <a:cs typeface="Times New Roman"/>
              </a:rPr>
              <a:t>{ </a:t>
            </a:r>
            <a:r>
              <a:rPr sz="1900" spc="-10" dirty="0">
                <a:solidFill>
                  <a:srgbClr val="FF0065"/>
                </a:solidFill>
                <a:latin typeface="Times New Roman"/>
                <a:cs typeface="Times New Roman"/>
              </a:rPr>
              <a:t>private: </a:t>
            </a:r>
            <a:r>
              <a:rPr sz="190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1900" spc="-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x</a:t>
            </a:r>
            <a:r>
              <a:rPr sz="19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19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y</a:t>
            </a:r>
            <a:r>
              <a:rPr sz="1900" spc="-2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04875" y="4006086"/>
            <a:ext cx="3777615" cy="2631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3675" marR="855344" indent="-120650">
              <a:lnSpc>
                <a:spcPct val="100000"/>
              </a:lnSpc>
              <a:spcBef>
                <a:spcPts val="95"/>
              </a:spcBef>
            </a:pPr>
            <a:r>
              <a:rPr sz="1900" dirty="0">
                <a:solidFill>
                  <a:srgbClr val="001F5F"/>
                </a:solidFill>
                <a:latin typeface="Times New Roman"/>
                <a:cs typeface="Times New Roman"/>
              </a:rPr>
              <a:t>public</a:t>
            </a:r>
            <a:r>
              <a:rPr sz="1900" spc="-5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00B0F0"/>
                </a:solidFill>
                <a:latin typeface="Times New Roman"/>
                <a:cs typeface="Times New Roman"/>
              </a:rPr>
              <a:t>Point</a:t>
            </a:r>
            <a:r>
              <a:rPr sz="190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190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1900" spc="-3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abs</a:t>
            </a:r>
            <a:r>
              <a:rPr sz="19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19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1900" spc="-3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Times New Roman"/>
                <a:cs typeface="Times New Roman"/>
              </a:rPr>
              <a:t>ord</a:t>
            </a:r>
            <a:r>
              <a:rPr sz="1900" spc="-20" dirty="0">
                <a:solidFill>
                  <a:srgbClr val="FF0000"/>
                </a:solidFill>
                <a:latin typeface="Times New Roman"/>
                <a:cs typeface="Times New Roman"/>
              </a:rPr>
              <a:t>){ </a:t>
            </a:r>
            <a:r>
              <a:rPr sz="1900" dirty="0">
                <a:latin typeface="Times New Roman"/>
                <a:cs typeface="Times New Roman"/>
              </a:rPr>
              <a:t>x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19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abs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-5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1900">
              <a:latin typeface="Times New Roman"/>
              <a:cs typeface="Times New Roman"/>
            </a:endParaRPr>
          </a:p>
          <a:p>
            <a:pPr marL="193675">
              <a:lnSpc>
                <a:spcPct val="100000"/>
              </a:lnSpc>
            </a:pPr>
            <a:r>
              <a:rPr sz="1900" dirty="0">
                <a:latin typeface="Times New Roman"/>
                <a:cs typeface="Times New Roman"/>
              </a:rPr>
              <a:t>y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19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ord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spc="-5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1900">
              <a:latin typeface="Times New Roman"/>
              <a:cs typeface="Times New Roman"/>
            </a:endParaRPr>
          </a:p>
          <a:p>
            <a:pPr marL="73025">
              <a:lnSpc>
                <a:spcPct val="100000"/>
              </a:lnSpc>
            </a:pPr>
            <a:r>
              <a:rPr sz="1900" spc="-5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1900">
              <a:latin typeface="Times New Roman"/>
              <a:cs typeface="Times New Roman"/>
            </a:endParaRPr>
          </a:p>
          <a:p>
            <a:pPr marL="73025">
              <a:lnSpc>
                <a:spcPct val="100000"/>
              </a:lnSpc>
            </a:pPr>
            <a:r>
              <a:rPr sz="1900" spc="-10" dirty="0">
                <a:solidFill>
                  <a:srgbClr val="FF0065"/>
                </a:solidFill>
                <a:latin typeface="Times New Roman"/>
                <a:cs typeface="Times New Roman"/>
              </a:rPr>
              <a:t>public:</a:t>
            </a:r>
            <a:endParaRPr sz="1900">
              <a:latin typeface="Times New Roman"/>
              <a:cs typeface="Times New Roman"/>
            </a:endParaRPr>
          </a:p>
          <a:p>
            <a:pPr marL="73025">
              <a:lnSpc>
                <a:spcPct val="100000"/>
              </a:lnSpc>
            </a:pPr>
            <a:r>
              <a:rPr sz="1900" dirty="0">
                <a:solidFill>
                  <a:srgbClr val="001F5F"/>
                </a:solidFill>
                <a:latin typeface="Times New Roman"/>
                <a:cs typeface="Times New Roman"/>
              </a:rPr>
              <a:t>bool</a:t>
            </a:r>
            <a:r>
              <a:rPr sz="1900" spc="-5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coincide</a:t>
            </a:r>
            <a:r>
              <a:rPr sz="190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1900" dirty="0">
                <a:solidFill>
                  <a:srgbClr val="00B0F0"/>
                </a:solidFill>
                <a:latin typeface="Times New Roman"/>
                <a:cs typeface="Times New Roman"/>
              </a:rPr>
              <a:t>Point</a:t>
            </a:r>
            <a:r>
              <a:rPr sz="1900" spc="-60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Times New Roman"/>
                <a:cs typeface="Times New Roman"/>
              </a:rPr>
              <a:t>pt</a:t>
            </a:r>
            <a:r>
              <a:rPr sz="1900" spc="-20" dirty="0">
                <a:solidFill>
                  <a:srgbClr val="FF0000"/>
                </a:solidFill>
                <a:latin typeface="Times New Roman"/>
                <a:cs typeface="Times New Roman"/>
              </a:rPr>
              <a:t>){</a:t>
            </a:r>
            <a:endParaRPr sz="1900">
              <a:latin typeface="Times New Roman"/>
              <a:cs typeface="Times New Roman"/>
            </a:endParaRPr>
          </a:p>
          <a:p>
            <a:pPr marL="253365">
              <a:lnSpc>
                <a:spcPct val="100000"/>
              </a:lnSpc>
            </a:pPr>
            <a:r>
              <a:rPr sz="1900" dirty="0">
                <a:solidFill>
                  <a:srgbClr val="001F5F"/>
                </a:solidFill>
                <a:latin typeface="Times New Roman"/>
                <a:cs typeface="Times New Roman"/>
              </a:rPr>
              <a:t>return</a:t>
            </a:r>
            <a:r>
              <a:rPr sz="1900" spc="-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0000"/>
                </a:solidFill>
                <a:latin typeface="Times New Roman"/>
                <a:cs typeface="Times New Roman"/>
              </a:rPr>
              <a:t>((</a:t>
            </a:r>
            <a:r>
              <a:rPr sz="1900" dirty="0">
                <a:latin typeface="Times New Roman"/>
                <a:cs typeface="Times New Roman"/>
              </a:rPr>
              <a:t>pt</a:t>
            </a:r>
            <a:r>
              <a:rPr sz="1900" dirty="0">
                <a:solidFill>
                  <a:srgbClr val="FF0000"/>
                </a:solidFill>
                <a:latin typeface="Times New Roman"/>
                <a:cs typeface="Times New Roman"/>
              </a:rPr>
              <a:t>.</a:t>
            </a:r>
            <a:r>
              <a:rPr sz="1900" dirty="0">
                <a:latin typeface="Times New Roman"/>
                <a:cs typeface="Times New Roman"/>
              </a:rPr>
              <a:t>x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0000"/>
                </a:solidFill>
                <a:latin typeface="Times New Roman"/>
                <a:cs typeface="Times New Roman"/>
              </a:rPr>
              <a:t>==</a:t>
            </a:r>
            <a:r>
              <a:rPr sz="19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x</a:t>
            </a:r>
            <a:r>
              <a:rPr sz="190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19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0065"/>
                </a:solidFill>
                <a:latin typeface="Times New Roman"/>
                <a:cs typeface="Times New Roman"/>
              </a:rPr>
              <a:t>&amp;&amp;</a:t>
            </a:r>
            <a:r>
              <a:rPr sz="1900" spc="-20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1900" dirty="0">
                <a:latin typeface="Times New Roman"/>
                <a:cs typeface="Times New Roman"/>
              </a:rPr>
              <a:t>pt</a:t>
            </a:r>
            <a:r>
              <a:rPr sz="1900" dirty="0">
                <a:solidFill>
                  <a:srgbClr val="FF0000"/>
                </a:solidFill>
                <a:latin typeface="Times New Roman"/>
                <a:cs typeface="Times New Roman"/>
              </a:rPr>
              <a:t>.</a:t>
            </a:r>
            <a:r>
              <a:rPr sz="1900" dirty="0">
                <a:latin typeface="Times New Roman"/>
                <a:cs typeface="Times New Roman"/>
              </a:rPr>
              <a:t>y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0000"/>
                </a:solidFill>
                <a:latin typeface="Times New Roman"/>
                <a:cs typeface="Times New Roman"/>
              </a:rPr>
              <a:t>==</a:t>
            </a:r>
            <a:r>
              <a:rPr sz="19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y</a:t>
            </a:r>
            <a:r>
              <a:rPr sz="1900" dirty="0">
                <a:solidFill>
                  <a:srgbClr val="FF0000"/>
                </a:solidFill>
                <a:latin typeface="Times New Roman"/>
                <a:cs typeface="Times New Roman"/>
              </a:rPr>
              <a:t>))</a:t>
            </a:r>
            <a:r>
              <a:rPr sz="19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spc="-5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1900">
              <a:latin typeface="Times New Roman"/>
              <a:cs typeface="Times New Roman"/>
            </a:endParaRPr>
          </a:p>
          <a:p>
            <a:pPr marL="73025">
              <a:lnSpc>
                <a:spcPct val="100000"/>
              </a:lnSpc>
            </a:pPr>
            <a:r>
              <a:rPr sz="1900" spc="-5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900" spc="-25" dirty="0">
                <a:solidFill>
                  <a:srgbClr val="FF0000"/>
                </a:solidFill>
                <a:latin typeface="Times New Roman"/>
                <a:cs typeface="Times New Roman"/>
              </a:rPr>
              <a:t>};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021976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51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3304" rIns="0" bIns="0" rtlCol="0">
            <a:spAutoFit/>
          </a:bodyPr>
          <a:lstStyle/>
          <a:p>
            <a:pPr marL="381000">
              <a:lnSpc>
                <a:spcPct val="100000"/>
              </a:lnSpc>
              <a:spcBef>
                <a:spcPts val="100"/>
              </a:spcBef>
            </a:pPr>
            <a:r>
              <a:rPr spc="-350" dirty="0"/>
              <a:t>Classes</a:t>
            </a:r>
            <a:r>
              <a:rPr b="0" spc="75" dirty="0">
                <a:latin typeface="Times New Roman"/>
                <a:cs typeface="Times New Roman"/>
              </a:rPr>
              <a:t> </a:t>
            </a:r>
            <a:r>
              <a:rPr spc="-280" dirty="0"/>
              <a:t>et</a:t>
            </a:r>
            <a:r>
              <a:rPr b="0" spc="70" dirty="0">
                <a:latin typeface="Times New Roman"/>
                <a:cs typeface="Times New Roman"/>
              </a:rPr>
              <a:t> </a:t>
            </a:r>
            <a:r>
              <a:rPr spc="-270" dirty="0"/>
              <a:t>Objets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53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5900" y="1838959"/>
            <a:ext cx="8406765" cy="5302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rgbClr val="FF0000"/>
                </a:solidFill>
                <a:latin typeface="Times New Roman"/>
                <a:cs typeface="Times New Roman"/>
              </a:rPr>
              <a:t>Exemple</a:t>
            </a:r>
            <a:r>
              <a:rPr sz="2600" b="1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1:</a:t>
            </a:r>
            <a:endParaRPr sz="2600">
              <a:latin typeface="Times New Roman"/>
              <a:cs typeface="Times New Roman"/>
            </a:endParaRPr>
          </a:p>
          <a:p>
            <a:pPr marL="12700" marR="6228715">
              <a:lnSpc>
                <a:spcPct val="100000"/>
              </a:lnSpc>
              <a:spcBef>
                <a:spcPts val="25"/>
              </a:spcBef>
            </a:pPr>
            <a:r>
              <a:rPr sz="2000" dirty="0">
                <a:solidFill>
                  <a:srgbClr val="009900"/>
                </a:solidFill>
                <a:latin typeface="Times New Roman"/>
                <a:cs typeface="Times New Roman"/>
              </a:rPr>
              <a:t>#include</a:t>
            </a:r>
            <a:r>
              <a:rPr sz="2000" spc="-30" dirty="0">
                <a:solidFill>
                  <a:srgbClr val="00990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09900"/>
                </a:solidFill>
                <a:latin typeface="Times New Roman"/>
                <a:cs typeface="Times New Roman"/>
              </a:rPr>
              <a:t>&lt;iostream&gt; </a:t>
            </a:r>
            <a:r>
              <a:rPr sz="2000" dirty="0">
                <a:solidFill>
                  <a:srgbClr val="006FC0"/>
                </a:solidFill>
                <a:latin typeface="Times New Roman"/>
                <a:cs typeface="Times New Roman"/>
              </a:rPr>
              <a:t>using</a:t>
            </a:r>
            <a:r>
              <a:rPr sz="2000" spc="-4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Times New Roman"/>
                <a:cs typeface="Times New Roman"/>
              </a:rPr>
              <a:t>namespace</a:t>
            </a:r>
            <a:r>
              <a:rPr sz="2000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009900"/>
                </a:solidFill>
                <a:latin typeface="Times New Roman"/>
                <a:cs typeface="Times New Roman"/>
              </a:rPr>
              <a:t>std</a:t>
            </a:r>
            <a:r>
              <a:rPr sz="2000" spc="-20" dirty="0">
                <a:latin typeface="Times New Roman"/>
                <a:cs typeface="Times New Roman"/>
              </a:rPr>
              <a:t>;</a:t>
            </a:r>
            <a:endParaRPr sz="2000">
              <a:latin typeface="Times New Roman"/>
              <a:cs typeface="Times New Roman"/>
            </a:endParaRPr>
          </a:p>
          <a:p>
            <a:pPr marL="12700" marR="5979795">
              <a:lnSpc>
                <a:spcPct val="100000"/>
              </a:lnSpc>
            </a:pP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000" spc="-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définition</a:t>
            </a:r>
            <a:r>
              <a:rPr sz="2000" spc="-4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200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la</a:t>
            </a:r>
            <a:r>
              <a:rPr sz="2000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0B04F"/>
                </a:solidFill>
                <a:latin typeface="Times New Roman"/>
                <a:cs typeface="Times New Roman"/>
              </a:rPr>
              <a:t>classe </a:t>
            </a:r>
            <a:r>
              <a:rPr sz="2000" dirty="0">
                <a:latin typeface="Times New Roman"/>
                <a:cs typeface="Times New Roman"/>
              </a:rPr>
              <a:t>class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0B0F0"/>
                </a:solidFill>
                <a:latin typeface="Times New Roman"/>
                <a:cs typeface="Times New Roman"/>
              </a:rPr>
              <a:t>Rectangle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endParaRPr sz="2000">
              <a:latin typeface="Times New Roman"/>
              <a:cs typeface="Times New Roman"/>
            </a:endParaRPr>
          </a:p>
          <a:p>
            <a:pPr marL="12700" marR="5760720">
              <a:lnSpc>
                <a:spcPct val="100000"/>
              </a:lnSpc>
            </a:pP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000" spc="-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définition</a:t>
            </a:r>
            <a:r>
              <a:rPr sz="2000" spc="-4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des</a:t>
            </a:r>
            <a:r>
              <a:rPr sz="2000" spc="-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0B04F"/>
                </a:solidFill>
                <a:latin typeface="Times New Roman"/>
                <a:cs typeface="Times New Roman"/>
              </a:rPr>
              <a:t>méthodes </a:t>
            </a:r>
            <a:r>
              <a:rPr sz="2000" spc="-10" dirty="0">
                <a:solidFill>
                  <a:srgbClr val="FF0065"/>
                </a:solidFill>
                <a:latin typeface="Times New Roman"/>
                <a:cs typeface="Times New Roman"/>
              </a:rPr>
              <a:t>public: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000" spc="-4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surface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()</a:t>
            </a:r>
            <a:r>
              <a:rPr sz="20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1F5F"/>
                </a:solidFill>
                <a:latin typeface="Times New Roman"/>
                <a:cs typeface="Times New Roman"/>
              </a:rPr>
              <a:t>const</a:t>
            </a:r>
            <a:r>
              <a:rPr sz="2000" spc="-3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r>
              <a:rPr sz="20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1F5F"/>
                </a:solidFill>
                <a:latin typeface="Times New Roman"/>
                <a:cs typeface="Times New Roman"/>
              </a:rPr>
              <a:t>return</a:t>
            </a:r>
            <a:r>
              <a:rPr sz="2000" spc="-4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hauteur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*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largeur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r>
              <a:rPr sz="20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5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200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000" spc="-4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getHauteur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()</a:t>
            </a:r>
            <a:r>
              <a:rPr sz="20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1F5F"/>
                </a:solidFill>
                <a:latin typeface="Times New Roman"/>
                <a:cs typeface="Times New Roman"/>
              </a:rPr>
              <a:t>const</a:t>
            </a:r>
            <a:r>
              <a:rPr sz="2000" spc="-3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r>
              <a:rPr sz="20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1F5F"/>
                </a:solidFill>
                <a:latin typeface="Times New Roman"/>
                <a:cs typeface="Times New Roman"/>
              </a:rPr>
              <a:t>return</a:t>
            </a:r>
            <a:r>
              <a:rPr sz="2000" spc="-4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hauteur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r>
              <a:rPr sz="20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//Accesseur</a:t>
            </a:r>
            <a:r>
              <a:rPr sz="2000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correspondant</a:t>
            </a:r>
            <a:r>
              <a:rPr sz="2000" spc="-6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à</a:t>
            </a: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0B04F"/>
                </a:solidFill>
                <a:latin typeface="Times New Roman"/>
                <a:cs typeface="Times New Roman"/>
              </a:rPr>
              <a:t>hauteur. </a:t>
            </a:r>
            <a:r>
              <a:rPr sz="200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000" spc="-5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getLargeur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()</a:t>
            </a:r>
            <a:r>
              <a:rPr sz="20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1F5F"/>
                </a:solidFill>
                <a:latin typeface="Times New Roman"/>
                <a:cs typeface="Times New Roman"/>
              </a:rPr>
              <a:t>const</a:t>
            </a:r>
            <a:r>
              <a:rPr sz="2000" spc="-4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r>
              <a:rPr sz="20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1F5F"/>
                </a:solidFill>
                <a:latin typeface="Times New Roman"/>
                <a:cs typeface="Times New Roman"/>
              </a:rPr>
              <a:t>return</a:t>
            </a:r>
            <a:r>
              <a:rPr sz="2000" spc="-6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largeur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r>
              <a:rPr sz="20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r>
              <a:rPr sz="20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//Accesseur</a:t>
            </a:r>
            <a:r>
              <a:rPr sz="2000" spc="-4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correspondant</a:t>
            </a:r>
            <a:r>
              <a:rPr sz="2000" spc="-5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à</a:t>
            </a:r>
            <a:r>
              <a:rPr sz="2000" spc="-3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0B04F"/>
                </a:solidFill>
                <a:latin typeface="Times New Roman"/>
                <a:cs typeface="Times New Roman"/>
              </a:rPr>
              <a:t>largeur. </a:t>
            </a:r>
            <a:r>
              <a:rPr sz="2000" dirty="0">
                <a:solidFill>
                  <a:srgbClr val="001F5F"/>
                </a:solidFill>
                <a:latin typeface="Times New Roman"/>
                <a:cs typeface="Times New Roman"/>
              </a:rPr>
              <a:t>void</a:t>
            </a:r>
            <a:r>
              <a:rPr sz="2000" spc="-4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setHauteur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00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000" spc="-5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20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r>
              <a:rPr sz="20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hauteur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0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r>
              <a:rPr sz="20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r>
              <a:rPr sz="20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//Manipulateur</a:t>
            </a:r>
            <a:r>
              <a:rPr sz="2000" spc="-5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pour</a:t>
            </a:r>
            <a:r>
              <a:rPr sz="2000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0B04F"/>
                </a:solidFill>
                <a:latin typeface="Times New Roman"/>
                <a:cs typeface="Times New Roman"/>
              </a:rPr>
              <a:t>hauteur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001F5F"/>
                </a:solidFill>
                <a:latin typeface="Times New Roman"/>
                <a:cs typeface="Times New Roman"/>
              </a:rPr>
              <a:t>void</a:t>
            </a:r>
            <a:r>
              <a:rPr sz="2000" spc="-3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setLargeur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000" spc="-1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000" spc="-3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20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{ </a:t>
            </a:r>
            <a:r>
              <a:rPr sz="2000" dirty="0">
                <a:latin typeface="Times New Roman"/>
                <a:cs typeface="Times New Roman"/>
              </a:rPr>
              <a:t>largeur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0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r>
              <a:rPr sz="20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}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//Manipulateur</a:t>
            </a:r>
            <a:r>
              <a:rPr sz="2000" spc="-4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pour</a:t>
            </a:r>
            <a:r>
              <a:rPr sz="2000" spc="-3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0B04F"/>
                </a:solidFill>
                <a:latin typeface="Times New Roman"/>
                <a:cs typeface="Times New Roman"/>
              </a:rPr>
              <a:t>hauteur</a:t>
            </a:r>
            <a:endParaRPr sz="2000">
              <a:latin typeface="Times New Roman"/>
              <a:cs typeface="Times New Roman"/>
            </a:endParaRPr>
          </a:p>
          <a:p>
            <a:pPr marL="12700" marR="5759450">
              <a:lnSpc>
                <a:spcPct val="100000"/>
              </a:lnSpc>
            </a:pP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000" spc="-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déclaration</a:t>
            </a:r>
            <a:r>
              <a:rPr sz="2000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des</a:t>
            </a:r>
            <a:r>
              <a:rPr sz="2000" spc="-3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0B04F"/>
                </a:solidFill>
                <a:latin typeface="Times New Roman"/>
                <a:cs typeface="Times New Roman"/>
              </a:rPr>
              <a:t>attributs </a:t>
            </a:r>
            <a:r>
              <a:rPr sz="2000" spc="-10" dirty="0">
                <a:solidFill>
                  <a:srgbClr val="FF0065"/>
                </a:solidFill>
                <a:latin typeface="Times New Roman"/>
                <a:cs typeface="Times New Roman"/>
              </a:rPr>
              <a:t>private:</a:t>
            </a:r>
            <a:endParaRPr sz="2000">
              <a:latin typeface="Times New Roman"/>
              <a:cs typeface="Times New Roman"/>
            </a:endParaRPr>
          </a:p>
          <a:p>
            <a:pPr marL="12700" marR="6795770">
              <a:lnSpc>
                <a:spcPct val="100000"/>
              </a:lnSpc>
            </a:pPr>
            <a:r>
              <a:rPr sz="200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000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hauteur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200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000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largeur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25" dirty="0">
                <a:solidFill>
                  <a:srgbClr val="FF0000"/>
                </a:solidFill>
                <a:latin typeface="Times New Roman"/>
                <a:cs typeface="Times New Roman"/>
              </a:rPr>
              <a:t>};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21976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53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3304" rIns="0" bIns="0" rtlCol="0">
            <a:spAutoFit/>
          </a:bodyPr>
          <a:lstStyle/>
          <a:p>
            <a:pPr marL="381000">
              <a:lnSpc>
                <a:spcPct val="100000"/>
              </a:lnSpc>
              <a:spcBef>
                <a:spcPts val="100"/>
              </a:spcBef>
            </a:pPr>
            <a:r>
              <a:rPr spc="-350" dirty="0"/>
              <a:t>Classes</a:t>
            </a:r>
            <a:r>
              <a:rPr b="0" spc="75" dirty="0">
                <a:latin typeface="Times New Roman"/>
                <a:cs typeface="Times New Roman"/>
              </a:rPr>
              <a:t> </a:t>
            </a:r>
            <a:r>
              <a:rPr spc="-280" dirty="0"/>
              <a:t>et</a:t>
            </a:r>
            <a:r>
              <a:rPr b="0" spc="70" dirty="0">
                <a:latin typeface="Times New Roman"/>
                <a:cs typeface="Times New Roman"/>
              </a:rPr>
              <a:t> </a:t>
            </a:r>
            <a:r>
              <a:rPr spc="-270" dirty="0"/>
              <a:t>Objets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54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5900" y="1838959"/>
            <a:ext cx="6732905" cy="4782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rgbClr val="FF0000"/>
                </a:solidFill>
                <a:latin typeface="Times New Roman"/>
                <a:cs typeface="Times New Roman"/>
              </a:rPr>
              <a:t>Exemple</a:t>
            </a:r>
            <a:r>
              <a:rPr sz="26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r>
              <a:rPr sz="26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  <a:r>
              <a:rPr sz="26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(suite)</a:t>
            </a:r>
            <a:endParaRPr sz="2600">
              <a:latin typeface="Times New Roman"/>
              <a:cs typeface="Times New Roman"/>
            </a:endParaRPr>
          </a:p>
          <a:p>
            <a:pPr marL="12700" marR="4099560">
              <a:lnSpc>
                <a:spcPct val="100000"/>
              </a:lnSpc>
              <a:spcBef>
                <a:spcPts val="20"/>
              </a:spcBef>
            </a:pP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//utilisation</a:t>
            </a:r>
            <a:r>
              <a:rPr sz="2200" spc="-5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2200" spc="-4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la</a:t>
            </a:r>
            <a:r>
              <a:rPr sz="2200" spc="-4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00B04F"/>
                </a:solidFill>
                <a:latin typeface="Times New Roman"/>
                <a:cs typeface="Times New Roman"/>
              </a:rPr>
              <a:t>classe </a:t>
            </a:r>
            <a:r>
              <a:rPr sz="220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200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main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(){</a:t>
            </a:r>
            <a:endParaRPr sz="2200">
              <a:latin typeface="Times New Roman"/>
              <a:cs typeface="Times New Roman"/>
            </a:endParaRPr>
          </a:p>
          <a:p>
            <a:pPr marL="12700" marR="5031105">
              <a:lnSpc>
                <a:spcPct val="100000"/>
              </a:lnSpc>
            </a:pPr>
            <a:r>
              <a:rPr sz="2200" dirty="0">
                <a:solidFill>
                  <a:srgbClr val="00B0F0"/>
                </a:solidFill>
                <a:latin typeface="Times New Roman"/>
                <a:cs typeface="Times New Roman"/>
              </a:rPr>
              <a:t>Rectangle</a:t>
            </a:r>
            <a:r>
              <a:rPr sz="2200" spc="-85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rect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220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200" spc="-4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2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l</a:t>
            </a:r>
            <a:r>
              <a:rPr sz="2200" spc="-2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200">
              <a:latin typeface="Times New Roman"/>
              <a:cs typeface="Times New Roman"/>
            </a:endParaRPr>
          </a:p>
          <a:p>
            <a:pPr marL="12700" marR="1012190">
              <a:lnSpc>
                <a:spcPct val="100000"/>
              </a:lnSpc>
            </a:pPr>
            <a:r>
              <a:rPr sz="2200" dirty="0">
                <a:solidFill>
                  <a:srgbClr val="009900"/>
                </a:solidFill>
                <a:latin typeface="Times New Roman"/>
                <a:cs typeface="Times New Roman"/>
              </a:rPr>
              <a:t>cout</a:t>
            </a:r>
            <a:r>
              <a:rPr sz="2200" spc="-40" dirty="0">
                <a:solidFill>
                  <a:srgbClr val="0099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2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"Saisir</a:t>
            </a:r>
            <a:r>
              <a:rPr sz="2200" spc="-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la</a:t>
            </a:r>
            <a:r>
              <a:rPr sz="2200" spc="-3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hauteur</a:t>
            </a:r>
            <a:r>
              <a:rPr sz="2200" spc="-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du</a:t>
            </a:r>
            <a:r>
              <a:rPr sz="2200" spc="-3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rectangle</a:t>
            </a:r>
            <a:r>
              <a:rPr sz="2200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?</a:t>
            </a:r>
            <a:r>
              <a:rPr sz="2200" spc="-3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"</a:t>
            </a:r>
            <a:r>
              <a:rPr sz="2200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2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009900"/>
                </a:solidFill>
                <a:latin typeface="Times New Roman"/>
                <a:cs typeface="Times New Roman"/>
              </a:rPr>
              <a:t>endl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2200" dirty="0">
                <a:solidFill>
                  <a:srgbClr val="009900"/>
                </a:solidFill>
                <a:latin typeface="Times New Roman"/>
                <a:cs typeface="Times New Roman"/>
              </a:rPr>
              <a:t>cin</a:t>
            </a:r>
            <a:r>
              <a:rPr sz="2200" spc="-15" dirty="0">
                <a:solidFill>
                  <a:srgbClr val="0099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&gt;&gt;</a:t>
            </a:r>
            <a:r>
              <a:rPr sz="22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h</a:t>
            </a:r>
            <a:r>
              <a:rPr sz="2200" spc="-2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spc="-10" dirty="0">
                <a:latin typeface="Times New Roman"/>
                <a:cs typeface="Times New Roman"/>
              </a:rPr>
              <a:t>rect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.</a:t>
            </a:r>
            <a:r>
              <a:rPr sz="2200" spc="-10" dirty="0">
                <a:latin typeface="Times New Roman"/>
                <a:cs typeface="Times New Roman"/>
              </a:rPr>
              <a:t>setHauteur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200" spc="-10" dirty="0">
                <a:latin typeface="Times New Roman"/>
                <a:cs typeface="Times New Roman"/>
              </a:rPr>
              <a:t>h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);</a:t>
            </a:r>
            <a:endParaRPr sz="2200">
              <a:latin typeface="Times New Roman"/>
              <a:cs typeface="Times New Roman"/>
            </a:endParaRPr>
          </a:p>
          <a:p>
            <a:pPr marL="12700" marR="1064895">
              <a:lnSpc>
                <a:spcPct val="100000"/>
              </a:lnSpc>
            </a:pPr>
            <a:r>
              <a:rPr sz="2200" dirty="0">
                <a:solidFill>
                  <a:srgbClr val="009900"/>
                </a:solidFill>
                <a:latin typeface="Times New Roman"/>
                <a:cs typeface="Times New Roman"/>
              </a:rPr>
              <a:t>cout</a:t>
            </a:r>
            <a:r>
              <a:rPr sz="2200" spc="-45" dirty="0">
                <a:solidFill>
                  <a:srgbClr val="0099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2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"Saisir</a:t>
            </a:r>
            <a:r>
              <a:rPr sz="2200" spc="-3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la</a:t>
            </a:r>
            <a:r>
              <a:rPr sz="2200" spc="-4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largeur</a:t>
            </a:r>
            <a:r>
              <a:rPr sz="2200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du</a:t>
            </a:r>
            <a:r>
              <a:rPr sz="2200" spc="-4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rectangle</a:t>
            </a:r>
            <a:r>
              <a:rPr sz="2200" spc="-4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?</a:t>
            </a:r>
            <a:r>
              <a:rPr sz="2200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"</a:t>
            </a:r>
            <a:r>
              <a:rPr sz="2200" spc="-3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2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009900"/>
                </a:solidFill>
                <a:latin typeface="Times New Roman"/>
                <a:cs typeface="Times New Roman"/>
              </a:rPr>
              <a:t>endl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2200" dirty="0">
                <a:solidFill>
                  <a:srgbClr val="009900"/>
                </a:solidFill>
                <a:latin typeface="Times New Roman"/>
                <a:cs typeface="Times New Roman"/>
              </a:rPr>
              <a:t>cin</a:t>
            </a:r>
            <a:r>
              <a:rPr sz="2200" spc="-15" dirty="0">
                <a:solidFill>
                  <a:srgbClr val="0099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&gt;&gt;</a:t>
            </a:r>
            <a:r>
              <a:rPr sz="22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l</a:t>
            </a:r>
            <a:r>
              <a:rPr sz="2200" spc="-2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spc="-10" dirty="0">
                <a:latin typeface="Times New Roman"/>
                <a:cs typeface="Times New Roman"/>
              </a:rPr>
              <a:t>rect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.</a:t>
            </a:r>
            <a:r>
              <a:rPr sz="2200" spc="-10" dirty="0">
                <a:latin typeface="Times New Roman"/>
                <a:cs typeface="Times New Roman"/>
              </a:rPr>
              <a:t>setLargeur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200" spc="-10" dirty="0">
                <a:latin typeface="Times New Roman"/>
                <a:cs typeface="Times New Roman"/>
              </a:rPr>
              <a:t>l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);</a:t>
            </a:r>
            <a:endParaRPr sz="22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2200" dirty="0">
                <a:solidFill>
                  <a:srgbClr val="009900"/>
                </a:solidFill>
                <a:latin typeface="Times New Roman"/>
                <a:cs typeface="Times New Roman"/>
              </a:rPr>
              <a:t>cout</a:t>
            </a:r>
            <a:r>
              <a:rPr sz="2200" spc="-50" dirty="0">
                <a:solidFill>
                  <a:srgbClr val="0099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2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"Surface</a:t>
            </a:r>
            <a:r>
              <a:rPr sz="2200" spc="-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du</a:t>
            </a:r>
            <a:r>
              <a:rPr sz="2200" spc="-4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rectangle</a:t>
            </a:r>
            <a:r>
              <a:rPr sz="2200" spc="-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=</a:t>
            </a:r>
            <a:r>
              <a:rPr sz="2200" spc="-4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"</a:t>
            </a:r>
            <a:r>
              <a:rPr sz="2200" spc="-4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2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rect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.</a:t>
            </a:r>
            <a:r>
              <a:rPr sz="2200" dirty="0">
                <a:latin typeface="Times New Roman"/>
                <a:cs typeface="Times New Roman"/>
              </a:rPr>
              <a:t>surface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()</a:t>
            </a:r>
            <a:r>
              <a:rPr sz="22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2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009900"/>
                </a:solidFill>
                <a:latin typeface="Times New Roman"/>
                <a:cs typeface="Times New Roman"/>
              </a:rPr>
              <a:t>endl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2200" dirty="0">
                <a:solidFill>
                  <a:srgbClr val="001F5F"/>
                </a:solidFill>
                <a:latin typeface="Times New Roman"/>
                <a:cs typeface="Times New Roman"/>
              </a:rPr>
              <a:t>return</a:t>
            </a:r>
            <a:r>
              <a:rPr sz="2200" spc="-5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spc="-35" dirty="0">
                <a:solidFill>
                  <a:srgbClr val="FF32CC"/>
                </a:solidFill>
                <a:latin typeface="Times New Roman"/>
                <a:cs typeface="Times New Roman"/>
              </a:rPr>
              <a:t>0</a:t>
            </a:r>
            <a:r>
              <a:rPr sz="2200" spc="-3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spc="-5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21976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54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55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46004" y="1785053"/>
            <a:ext cx="3477260" cy="258127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2600" b="1" dirty="0">
                <a:solidFill>
                  <a:srgbClr val="FF0000"/>
                </a:solidFill>
                <a:latin typeface="Times New Roman"/>
                <a:cs typeface="Times New Roman"/>
              </a:rPr>
              <a:t>Exemple</a:t>
            </a:r>
            <a:r>
              <a:rPr sz="2600" b="1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r>
              <a:rPr sz="2600" spc="-25" dirty="0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  <a:endParaRPr sz="2600">
              <a:latin typeface="Times New Roman"/>
              <a:cs typeface="Times New Roman"/>
            </a:endParaRPr>
          </a:p>
          <a:p>
            <a:pPr marL="30480">
              <a:lnSpc>
                <a:spcPct val="100000"/>
              </a:lnSpc>
              <a:spcBef>
                <a:spcPts val="395"/>
              </a:spcBef>
            </a:pPr>
            <a:r>
              <a:rPr sz="2400" b="1" u="sng" spc="-10" dirty="0">
                <a:solidFill>
                  <a:srgbClr val="C00000"/>
                </a:solidFill>
                <a:uFill>
                  <a:solidFill>
                    <a:srgbClr val="BF0000"/>
                  </a:solidFill>
                </a:uFill>
                <a:latin typeface="Times New Roman"/>
                <a:cs typeface="Times New Roman"/>
              </a:rPr>
              <a:t>Output:</a:t>
            </a:r>
            <a:endParaRPr sz="24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200" dirty="0">
                <a:latin typeface="Times New Roman"/>
                <a:cs typeface="Times New Roman"/>
              </a:rPr>
              <a:t>Saisir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la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hauteur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du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rectangle</a:t>
            </a:r>
            <a:r>
              <a:rPr sz="2200" spc="-50" dirty="0">
                <a:latin typeface="Times New Roman"/>
                <a:cs typeface="Times New Roman"/>
              </a:rPr>
              <a:t> ? 6</a:t>
            </a:r>
            <a:endParaRPr sz="2200">
              <a:latin typeface="Times New Roman"/>
              <a:cs typeface="Times New Roman"/>
            </a:endParaRPr>
          </a:p>
          <a:p>
            <a:pPr marL="12700" marR="55244">
              <a:lnSpc>
                <a:spcPct val="100000"/>
              </a:lnSpc>
            </a:pPr>
            <a:r>
              <a:rPr sz="2200" dirty="0">
                <a:latin typeface="Times New Roman"/>
                <a:cs typeface="Times New Roman"/>
              </a:rPr>
              <a:t>Saisir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la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largeur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du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rectangle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50" dirty="0">
                <a:latin typeface="Times New Roman"/>
                <a:cs typeface="Times New Roman"/>
              </a:rPr>
              <a:t>? 7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dirty="0">
                <a:latin typeface="Times New Roman"/>
                <a:cs typeface="Times New Roman"/>
              </a:rPr>
              <a:t>Surface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du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rectangle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=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42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3304" rIns="0" bIns="0" rtlCol="0">
            <a:spAutoFit/>
          </a:bodyPr>
          <a:lstStyle/>
          <a:p>
            <a:pPr marL="381000">
              <a:lnSpc>
                <a:spcPct val="100000"/>
              </a:lnSpc>
              <a:spcBef>
                <a:spcPts val="100"/>
              </a:spcBef>
            </a:pPr>
            <a:r>
              <a:rPr spc="-350" dirty="0"/>
              <a:t>Classes</a:t>
            </a:r>
            <a:r>
              <a:rPr b="0" spc="75" dirty="0">
                <a:latin typeface="Times New Roman"/>
                <a:cs typeface="Times New Roman"/>
              </a:rPr>
              <a:t> </a:t>
            </a:r>
            <a:r>
              <a:rPr spc="-280" dirty="0"/>
              <a:t>et</a:t>
            </a:r>
            <a:r>
              <a:rPr b="0" spc="70" dirty="0">
                <a:latin typeface="Times New Roman"/>
                <a:cs typeface="Times New Roman"/>
              </a:rPr>
              <a:t> </a:t>
            </a:r>
            <a:r>
              <a:rPr spc="-270" dirty="0"/>
              <a:t>Objets</a:t>
            </a:r>
          </a:p>
        </p:txBody>
      </p:sp>
      <p:sp>
        <p:nvSpPr>
          <p:cNvPr id="6" name="object 6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21976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55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56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20685" y="1802383"/>
            <a:ext cx="4601845" cy="5400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90" dirty="0">
                <a:solidFill>
                  <a:srgbClr val="C00000"/>
                </a:solidFill>
                <a:latin typeface="Arial"/>
                <a:cs typeface="Arial"/>
              </a:rPr>
              <a:t>Définitions</a:t>
            </a:r>
            <a:r>
              <a:rPr sz="2800" spc="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240" dirty="0">
                <a:solidFill>
                  <a:srgbClr val="C00000"/>
                </a:solidFill>
                <a:latin typeface="Arial"/>
                <a:cs typeface="Arial"/>
              </a:rPr>
              <a:t>externes</a:t>
            </a:r>
            <a:r>
              <a:rPr sz="2800" spc="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00000"/>
                </a:solidFill>
                <a:latin typeface="Arial"/>
                <a:cs typeface="Arial"/>
              </a:rPr>
              <a:t>à</a:t>
            </a:r>
            <a:r>
              <a:rPr sz="28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00000"/>
                </a:solidFill>
                <a:latin typeface="Arial"/>
                <a:cs typeface="Arial"/>
              </a:rPr>
              <a:t>la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275" dirty="0">
                <a:solidFill>
                  <a:srgbClr val="C00000"/>
                </a:solidFill>
                <a:latin typeface="Arial"/>
                <a:cs typeface="Arial"/>
              </a:rPr>
              <a:t>classe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Exemple</a:t>
            </a:r>
            <a:r>
              <a:rPr sz="24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2:</a:t>
            </a:r>
            <a:endParaRPr sz="2400">
              <a:latin typeface="Times New Roman"/>
              <a:cs typeface="Times New Roman"/>
            </a:endParaRPr>
          </a:p>
          <a:p>
            <a:pPr marL="12700" marR="2235200">
              <a:lnSpc>
                <a:spcPct val="100000"/>
              </a:lnSpc>
              <a:spcBef>
                <a:spcPts val="15"/>
              </a:spcBef>
            </a:pP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//Prototype</a:t>
            </a:r>
            <a:r>
              <a:rPr sz="2000" spc="-5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2000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la</a:t>
            </a: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0B04F"/>
                </a:solidFill>
                <a:latin typeface="Times New Roman"/>
                <a:cs typeface="Times New Roman"/>
              </a:rPr>
              <a:t>classe </a:t>
            </a:r>
            <a:r>
              <a:rPr sz="2000" dirty="0">
                <a:solidFill>
                  <a:srgbClr val="001F5F"/>
                </a:solidFill>
                <a:latin typeface="Times New Roman"/>
                <a:cs typeface="Times New Roman"/>
              </a:rPr>
              <a:t>class</a:t>
            </a:r>
            <a:r>
              <a:rPr sz="2000" spc="-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0B0F0"/>
                </a:solidFill>
                <a:latin typeface="Times New Roman"/>
                <a:cs typeface="Times New Roman"/>
              </a:rPr>
              <a:t>Rectangle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{ </a:t>
            </a:r>
            <a:r>
              <a:rPr sz="2000" spc="-10" dirty="0">
                <a:solidFill>
                  <a:srgbClr val="FF0065"/>
                </a:solidFill>
                <a:latin typeface="Times New Roman"/>
                <a:cs typeface="Times New Roman"/>
              </a:rPr>
              <a:t>public:</a:t>
            </a:r>
            <a:endParaRPr sz="2000">
              <a:latin typeface="Times New Roman"/>
              <a:cs typeface="Times New Roman"/>
            </a:endParaRPr>
          </a:p>
          <a:p>
            <a:pPr marL="12700" marR="1868170">
              <a:lnSpc>
                <a:spcPct val="100000"/>
              </a:lnSpc>
            </a:pP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000" spc="-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prototypes</a:t>
            </a:r>
            <a:r>
              <a:rPr sz="2000" spc="-4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des</a:t>
            </a:r>
            <a:r>
              <a:rPr sz="2000" spc="-10" dirty="0">
                <a:solidFill>
                  <a:srgbClr val="00B04F"/>
                </a:solidFill>
                <a:latin typeface="Times New Roman"/>
                <a:cs typeface="Times New Roman"/>
              </a:rPr>
              <a:t> méthodes </a:t>
            </a:r>
            <a:r>
              <a:rPr sz="200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000" spc="-4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surface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()</a:t>
            </a:r>
            <a:r>
              <a:rPr sz="20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01F5F"/>
                </a:solidFill>
                <a:latin typeface="Times New Roman"/>
                <a:cs typeface="Times New Roman"/>
              </a:rPr>
              <a:t>const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000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0B04F"/>
                </a:solidFill>
                <a:latin typeface="Times New Roman"/>
                <a:cs typeface="Times New Roman"/>
              </a:rPr>
              <a:t>accesseurs</a:t>
            </a:r>
            <a:endParaRPr sz="2000">
              <a:latin typeface="Times New Roman"/>
              <a:cs typeface="Times New Roman"/>
            </a:endParaRPr>
          </a:p>
          <a:p>
            <a:pPr marL="12700" marR="1859914">
              <a:lnSpc>
                <a:spcPct val="100000"/>
              </a:lnSpc>
            </a:pPr>
            <a:r>
              <a:rPr sz="200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000" spc="-4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getHauteur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()</a:t>
            </a:r>
            <a:r>
              <a:rPr sz="20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01F5F"/>
                </a:solidFill>
                <a:latin typeface="Times New Roman"/>
                <a:cs typeface="Times New Roman"/>
              </a:rPr>
              <a:t>const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200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000" spc="-7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getLargeur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()</a:t>
            </a:r>
            <a:r>
              <a:rPr sz="2000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01F5F"/>
                </a:solidFill>
                <a:latin typeface="Times New Roman"/>
                <a:cs typeface="Times New Roman"/>
              </a:rPr>
              <a:t>const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000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0B04F"/>
                </a:solidFill>
                <a:latin typeface="Times New Roman"/>
                <a:cs typeface="Times New Roman"/>
              </a:rPr>
              <a:t>manipulateurs</a:t>
            </a:r>
            <a:endParaRPr sz="2000">
              <a:latin typeface="Times New Roman"/>
              <a:cs typeface="Times New Roman"/>
            </a:endParaRPr>
          </a:p>
          <a:p>
            <a:pPr marL="12700" marR="2033270" algn="just">
              <a:lnSpc>
                <a:spcPct val="100000"/>
              </a:lnSpc>
            </a:pPr>
            <a:r>
              <a:rPr sz="2000" dirty="0">
                <a:solidFill>
                  <a:srgbClr val="001F5F"/>
                </a:solidFill>
                <a:latin typeface="Times New Roman"/>
                <a:cs typeface="Times New Roman"/>
              </a:rPr>
              <a:t>void</a:t>
            </a:r>
            <a:r>
              <a:rPr sz="2000" spc="-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setHauteur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000" spc="-1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); </a:t>
            </a:r>
            <a:r>
              <a:rPr sz="2000" dirty="0">
                <a:solidFill>
                  <a:srgbClr val="001F5F"/>
                </a:solidFill>
                <a:latin typeface="Times New Roman"/>
                <a:cs typeface="Times New Roman"/>
              </a:rPr>
              <a:t>void</a:t>
            </a:r>
            <a:r>
              <a:rPr sz="2000" spc="-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setLargeur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000" spc="-1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); </a:t>
            </a:r>
            <a:r>
              <a:rPr sz="2000" spc="-10" dirty="0">
                <a:solidFill>
                  <a:srgbClr val="FF0065"/>
                </a:solidFill>
                <a:latin typeface="Times New Roman"/>
                <a:cs typeface="Times New Roman"/>
              </a:rPr>
              <a:t>private:</a:t>
            </a:r>
            <a:endParaRPr sz="2000">
              <a:latin typeface="Times New Roman"/>
              <a:cs typeface="Times New Roman"/>
            </a:endParaRPr>
          </a:p>
          <a:p>
            <a:pPr marL="12700" marR="1953895" algn="just">
              <a:lnSpc>
                <a:spcPct val="100000"/>
              </a:lnSpc>
            </a:pP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000" spc="-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déclaration</a:t>
            </a:r>
            <a:r>
              <a:rPr sz="2000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des</a:t>
            </a:r>
            <a:r>
              <a:rPr sz="2000" spc="-3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0B04F"/>
                </a:solidFill>
                <a:latin typeface="Times New Roman"/>
                <a:cs typeface="Times New Roman"/>
              </a:rPr>
              <a:t>attributs </a:t>
            </a:r>
            <a:r>
              <a:rPr sz="200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000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hauteur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200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000" spc="-4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largeur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r>
              <a:rPr sz="20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0000"/>
                </a:solidFill>
                <a:latin typeface="Times New Roman"/>
                <a:cs typeface="Times New Roman"/>
              </a:rPr>
              <a:t>};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3304" rIns="0" bIns="0" rtlCol="0">
            <a:spAutoFit/>
          </a:bodyPr>
          <a:lstStyle/>
          <a:p>
            <a:pPr marL="381000">
              <a:lnSpc>
                <a:spcPct val="100000"/>
              </a:lnSpc>
              <a:spcBef>
                <a:spcPts val="100"/>
              </a:spcBef>
            </a:pPr>
            <a:r>
              <a:rPr spc="-350" dirty="0"/>
              <a:t>Classes</a:t>
            </a:r>
            <a:r>
              <a:rPr b="0" spc="75" dirty="0">
                <a:latin typeface="Times New Roman"/>
                <a:cs typeface="Times New Roman"/>
              </a:rPr>
              <a:t> </a:t>
            </a:r>
            <a:r>
              <a:rPr spc="-280" dirty="0"/>
              <a:t>et</a:t>
            </a:r>
            <a:r>
              <a:rPr b="0" spc="70" dirty="0">
                <a:latin typeface="Times New Roman"/>
                <a:cs typeface="Times New Roman"/>
              </a:rPr>
              <a:t> </a:t>
            </a:r>
            <a:r>
              <a:rPr spc="-270" dirty="0"/>
              <a:t>Objets</a:t>
            </a:r>
          </a:p>
        </p:txBody>
      </p:sp>
      <p:sp>
        <p:nvSpPr>
          <p:cNvPr id="6" name="object 6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21976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56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57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20685" y="1790191"/>
            <a:ext cx="4601845" cy="54781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90" dirty="0">
                <a:solidFill>
                  <a:srgbClr val="C00000"/>
                </a:solidFill>
                <a:latin typeface="Arial"/>
                <a:cs typeface="Arial"/>
              </a:rPr>
              <a:t>Définitions</a:t>
            </a:r>
            <a:r>
              <a:rPr sz="2800" spc="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240" dirty="0">
                <a:solidFill>
                  <a:srgbClr val="C00000"/>
                </a:solidFill>
                <a:latin typeface="Arial"/>
                <a:cs typeface="Arial"/>
              </a:rPr>
              <a:t>externes</a:t>
            </a:r>
            <a:r>
              <a:rPr sz="2800" spc="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00000"/>
                </a:solidFill>
                <a:latin typeface="Arial"/>
                <a:cs typeface="Arial"/>
              </a:rPr>
              <a:t>à</a:t>
            </a:r>
            <a:r>
              <a:rPr sz="28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00000"/>
                </a:solidFill>
                <a:latin typeface="Arial"/>
                <a:cs typeface="Arial"/>
              </a:rPr>
              <a:t>la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275" dirty="0">
                <a:solidFill>
                  <a:srgbClr val="C00000"/>
                </a:solidFill>
                <a:latin typeface="Arial"/>
                <a:cs typeface="Arial"/>
              </a:rPr>
              <a:t>classe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2600" b="1" dirty="0">
                <a:solidFill>
                  <a:srgbClr val="FF0000"/>
                </a:solidFill>
                <a:latin typeface="Times New Roman"/>
                <a:cs typeface="Times New Roman"/>
              </a:rPr>
              <a:t>Exemple</a:t>
            </a:r>
            <a:r>
              <a:rPr sz="26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FF0000"/>
                </a:solidFill>
                <a:latin typeface="Times New Roman"/>
                <a:cs typeface="Times New Roman"/>
              </a:rPr>
              <a:t>2:</a:t>
            </a:r>
            <a:r>
              <a:rPr sz="26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(suite)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ts val="2160"/>
              </a:lnSpc>
              <a:spcBef>
                <a:spcPts val="35"/>
              </a:spcBef>
            </a:pPr>
            <a:r>
              <a:rPr sz="1800" dirty="0">
                <a:solidFill>
                  <a:srgbClr val="00B04F"/>
                </a:solidFill>
                <a:latin typeface="Times New Roman"/>
                <a:cs typeface="Times New Roman"/>
              </a:rPr>
              <a:t>//Définition</a:t>
            </a:r>
            <a:r>
              <a:rPr sz="1800" spc="-5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180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B04F"/>
                </a:solidFill>
                <a:latin typeface="Times New Roman"/>
                <a:cs typeface="Times New Roman"/>
              </a:rPr>
              <a:t>la</a:t>
            </a:r>
            <a:r>
              <a:rPr sz="1800" spc="-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0B04F"/>
                </a:solidFill>
                <a:latin typeface="Times New Roman"/>
                <a:cs typeface="Times New Roman"/>
              </a:rPr>
              <a:t>classe</a:t>
            </a:r>
            <a:endParaRPr sz="1800">
              <a:latin typeface="Times New Roman"/>
              <a:cs typeface="Times New Roman"/>
            </a:endParaRPr>
          </a:p>
          <a:p>
            <a:pPr marL="12700" marR="1169035">
              <a:lnSpc>
                <a:spcPts val="2280"/>
              </a:lnSpc>
              <a:spcBef>
                <a:spcPts val="75"/>
              </a:spcBef>
            </a:pPr>
            <a:r>
              <a:rPr sz="190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1900" spc="-6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00B0F0"/>
                </a:solidFill>
                <a:latin typeface="Times New Roman"/>
                <a:cs typeface="Times New Roman"/>
              </a:rPr>
              <a:t>Rectangle</a:t>
            </a:r>
            <a:r>
              <a:rPr sz="1900" dirty="0">
                <a:solidFill>
                  <a:srgbClr val="FF0000"/>
                </a:solidFill>
                <a:latin typeface="Times New Roman"/>
                <a:cs typeface="Times New Roman"/>
              </a:rPr>
              <a:t>::</a:t>
            </a:r>
            <a:r>
              <a:rPr sz="1900" dirty="0">
                <a:latin typeface="Times New Roman"/>
                <a:cs typeface="Times New Roman"/>
              </a:rPr>
              <a:t>surface</a:t>
            </a:r>
            <a:r>
              <a:rPr sz="1900" dirty="0">
                <a:solidFill>
                  <a:srgbClr val="FF0000"/>
                </a:solidFill>
                <a:latin typeface="Times New Roman"/>
                <a:cs typeface="Times New Roman"/>
              </a:rPr>
              <a:t>()</a:t>
            </a:r>
            <a:r>
              <a:rPr sz="1900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001F5F"/>
                </a:solidFill>
                <a:latin typeface="Times New Roman"/>
                <a:cs typeface="Times New Roman"/>
              </a:rPr>
              <a:t>const</a:t>
            </a:r>
            <a:r>
              <a:rPr sz="1900" spc="-5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00" spc="-50" dirty="0">
                <a:solidFill>
                  <a:srgbClr val="FF0000"/>
                </a:solidFill>
                <a:latin typeface="Times New Roman"/>
                <a:cs typeface="Times New Roman"/>
              </a:rPr>
              <a:t>{ </a:t>
            </a:r>
            <a:r>
              <a:rPr sz="1900" dirty="0">
                <a:solidFill>
                  <a:srgbClr val="001F5F"/>
                </a:solidFill>
                <a:latin typeface="Times New Roman"/>
                <a:cs typeface="Times New Roman"/>
              </a:rPr>
              <a:t>return</a:t>
            </a:r>
            <a:r>
              <a:rPr sz="1900" spc="-3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hauteur</a:t>
            </a:r>
            <a:r>
              <a:rPr sz="1900" spc="-10" dirty="0">
                <a:solidFill>
                  <a:srgbClr val="FF0000"/>
                </a:solidFill>
                <a:latin typeface="Times New Roman"/>
                <a:cs typeface="Times New Roman"/>
              </a:rPr>
              <a:t>*</a:t>
            </a:r>
            <a:r>
              <a:rPr sz="1900" spc="-10" dirty="0">
                <a:latin typeface="Times New Roman"/>
                <a:cs typeface="Times New Roman"/>
              </a:rPr>
              <a:t>largeur</a:t>
            </a:r>
            <a:r>
              <a:rPr sz="1900" spc="-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ts val="2205"/>
              </a:lnSpc>
            </a:pPr>
            <a:r>
              <a:rPr sz="1900" spc="-5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1900">
              <a:latin typeface="Times New Roman"/>
              <a:cs typeface="Times New Roman"/>
            </a:endParaRPr>
          </a:p>
          <a:p>
            <a:pPr marL="12700" marR="856615">
              <a:lnSpc>
                <a:spcPct val="100000"/>
              </a:lnSpc>
            </a:pPr>
            <a:r>
              <a:rPr sz="190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1900" spc="3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00" spc="-10" dirty="0">
                <a:solidFill>
                  <a:srgbClr val="00B0F0"/>
                </a:solidFill>
                <a:latin typeface="Times New Roman"/>
                <a:cs typeface="Times New Roman"/>
              </a:rPr>
              <a:t>Rectangle</a:t>
            </a:r>
            <a:r>
              <a:rPr sz="1900" spc="-10" dirty="0">
                <a:solidFill>
                  <a:srgbClr val="FF0000"/>
                </a:solidFill>
                <a:latin typeface="Times New Roman"/>
                <a:cs typeface="Times New Roman"/>
              </a:rPr>
              <a:t>::</a:t>
            </a:r>
            <a:r>
              <a:rPr sz="1900" spc="-10" dirty="0">
                <a:latin typeface="Times New Roman"/>
                <a:cs typeface="Times New Roman"/>
              </a:rPr>
              <a:t>getHauteur</a:t>
            </a:r>
            <a:r>
              <a:rPr sz="1900" spc="-10" dirty="0">
                <a:solidFill>
                  <a:srgbClr val="FF0000"/>
                </a:solidFill>
                <a:latin typeface="Times New Roman"/>
                <a:cs typeface="Times New Roman"/>
              </a:rPr>
              <a:t>()</a:t>
            </a:r>
            <a:r>
              <a:rPr sz="1900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spc="-10" dirty="0">
                <a:solidFill>
                  <a:srgbClr val="001F5F"/>
                </a:solidFill>
                <a:latin typeface="Times New Roman"/>
                <a:cs typeface="Times New Roman"/>
              </a:rPr>
              <a:t>const</a:t>
            </a:r>
            <a:r>
              <a:rPr sz="1900" spc="-10" dirty="0">
                <a:solidFill>
                  <a:srgbClr val="FF0000"/>
                </a:solidFill>
                <a:latin typeface="Times New Roman"/>
                <a:cs typeface="Times New Roman"/>
              </a:rPr>
              <a:t>{ </a:t>
            </a:r>
            <a:r>
              <a:rPr sz="1900" dirty="0">
                <a:solidFill>
                  <a:srgbClr val="001F5F"/>
                </a:solidFill>
                <a:latin typeface="Times New Roman"/>
                <a:cs typeface="Times New Roman"/>
              </a:rPr>
              <a:t>return</a:t>
            </a:r>
            <a:r>
              <a:rPr sz="1900" spc="-3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hauteur</a:t>
            </a:r>
            <a:r>
              <a:rPr sz="1900" spc="-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900" spc="-5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1900">
              <a:latin typeface="Times New Roman"/>
              <a:cs typeface="Times New Roman"/>
            </a:endParaRPr>
          </a:p>
          <a:p>
            <a:pPr marL="12700" marR="873125">
              <a:lnSpc>
                <a:spcPct val="100000"/>
              </a:lnSpc>
            </a:pPr>
            <a:r>
              <a:rPr sz="190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1900" spc="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00" spc="-10" dirty="0">
                <a:solidFill>
                  <a:srgbClr val="00B0F0"/>
                </a:solidFill>
                <a:latin typeface="Times New Roman"/>
                <a:cs typeface="Times New Roman"/>
              </a:rPr>
              <a:t>Rectangle</a:t>
            </a:r>
            <a:r>
              <a:rPr sz="1900" spc="-10" dirty="0">
                <a:solidFill>
                  <a:srgbClr val="FF0000"/>
                </a:solidFill>
                <a:latin typeface="Times New Roman"/>
                <a:cs typeface="Times New Roman"/>
              </a:rPr>
              <a:t>::</a:t>
            </a:r>
            <a:r>
              <a:rPr sz="1900" spc="-10" dirty="0">
                <a:latin typeface="Times New Roman"/>
                <a:cs typeface="Times New Roman"/>
              </a:rPr>
              <a:t>getLargeur</a:t>
            </a:r>
            <a:r>
              <a:rPr sz="1900" spc="-10" dirty="0">
                <a:solidFill>
                  <a:srgbClr val="FF0000"/>
                </a:solidFill>
                <a:latin typeface="Times New Roman"/>
                <a:cs typeface="Times New Roman"/>
              </a:rPr>
              <a:t>()</a:t>
            </a:r>
            <a:r>
              <a:rPr sz="190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spc="-10" dirty="0">
                <a:solidFill>
                  <a:srgbClr val="001F5F"/>
                </a:solidFill>
                <a:latin typeface="Times New Roman"/>
                <a:cs typeface="Times New Roman"/>
              </a:rPr>
              <a:t>const</a:t>
            </a:r>
            <a:r>
              <a:rPr sz="1900" spc="-10" dirty="0">
                <a:solidFill>
                  <a:srgbClr val="FF0000"/>
                </a:solidFill>
                <a:latin typeface="Times New Roman"/>
                <a:cs typeface="Times New Roman"/>
              </a:rPr>
              <a:t>{ </a:t>
            </a:r>
            <a:r>
              <a:rPr sz="1900" dirty="0">
                <a:solidFill>
                  <a:srgbClr val="001F5F"/>
                </a:solidFill>
                <a:latin typeface="Times New Roman"/>
                <a:cs typeface="Times New Roman"/>
              </a:rPr>
              <a:t>return</a:t>
            </a:r>
            <a:r>
              <a:rPr sz="1900" spc="-3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largeur</a:t>
            </a:r>
            <a:r>
              <a:rPr sz="1900" spc="-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900" spc="-5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1900">
              <a:latin typeface="Times New Roman"/>
              <a:cs typeface="Times New Roman"/>
            </a:endParaRPr>
          </a:p>
          <a:p>
            <a:pPr marL="12700" marR="841375">
              <a:lnSpc>
                <a:spcPct val="100000"/>
              </a:lnSpc>
            </a:pPr>
            <a:r>
              <a:rPr sz="1900" dirty="0">
                <a:solidFill>
                  <a:srgbClr val="001F5F"/>
                </a:solidFill>
                <a:latin typeface="Times New Roman"/>
                <a:cs typeface="Times New Roman"/>
              </a:rPr>
              <a:t>void</a:t>
            </a:r>
            <a:r>
              <a:rPr sz="1900" spc="4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00" spc="-10" dirty="0">
                <a:solidFill>
                  <a:srgbClr val="00B0F0"/>
                </a:solidFill>
                <a:latin typeface="Times New Roman"/>
                <a:cs typeface="Times New Roman"/>
              </a:rPr>
              <a:t>Rectangle</a:t>
            </a:r>
            <a:r>
              <a:rPr sz="1900" spc="-10" dirty="0">
                <a:solidFill>
                  <a:srgbClr val="FF0000"/>
                </a:solidFill>
                <a:latin typeface="Times New Roman"/>
                <a:cs typeface="Times New Roman"/>
              </a:rPr>
              <a:t>::</a:t>
            </a:r>
            <a:r>
              <a:rPr sz="1900" spc="-10" dirty="0">
                <a:latin typeface="Times New Roman"/>
                <a:cs typeface="Times New Roman"/>
              </a:rPr>
              <a:t>setHauteur</a:t>
            </a:r>
            <a:r>
              <a:rPr sz="1900" spc="-1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1900" spc="-1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1900" spc="3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h</a:t>
            </a:r>
            <a:r>
              <a:rPr sz="1900" spc="-25" dirty="0">
                <a:solidFill>
                  <a:srgbClr val="FF0000"/>
                </a:solidFill>
                <a:latin typeface="Times New Roman"/>
                <a:cs typeface="Times New Roman"/>
              </a:rPr>
              <a:t>){ </a:t>
            </a:r>
            <a:r>
              <a:rPr sz="1900" dirty="0">
                <a:latin typeface="Times New Roman"/>
                <a:cs typeface="Times New Roman"/>
              </a:rPr>
              <a:t>hauteur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19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h</a:t>
            </a:r>
            <a:r>
              <a:rPr sz="1900" spc="-2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900" spc="-5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1900">
              <a:latin typeface="Times New Roman"/>
              <a:cs typeface="Times New Roman"/>
            </a:endParaRPr>
          </a:p>
          <a:p>
            <a:pPr marL="12700" marR="911225">
              <a:lnSpc>
                <a:spcPct val="100000"/>
              </a:lnSpc>
            </a:pPr>
            <a:r>
              <a:rPr sz="1900" dirty="0">
                <a:solidFill>
                  <a:srgbClr val="001F5F"/>
                </a:solidFill>
                <a:latin typeface="Times New Roman"/>
                <a:cs typeface="Times New Roman"/>
              </a:rPr>
              <a:t>void</a:t>
            </a:r>
            <a:r>
              <a:rPr sz="1900" spc="3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00" spc="-10" dirty="0">
                <a:solidFill>
                  <a:srgbClr val="00B0F0"/>
                </a:solidFill>
                <a:latin typeface="Times New Roman"/>
                <a:cs typeface="Times New Roman"/>
              </a:rPr>
              <a:t>Rectangle</a:t>
            </a:r>
            <a:r>
              <a:rPr sz="1900" spc="-10" dirty="0">
                <a:solidFill>
                  <a:srgbClr val="FF0000"/>
                </a:solidFill>
                <a:latin typeface="Times New Roman"/>
                <a:cs typeface="Times New Roman"/>
              </a:rPr>
              <a:t>::</a:t>
            </a:r>
            <a:r>
              <a:rPr sz="1900" spc="-10" dirty="0">
                <a:latin typeface="Times New Roman"/>
                <a:cs typeface="Times New Roman"/>
              </a:rPr>
              <a:t>setLargeur</a:t>
            </a:r>
            <a:r>
              <a:rPr sz="1900" spc="-1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1900" spc="-1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1900" spc="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l</a:t>
            </a:r>
            <a:r>
              <a:rPr sz="1900" spc="-25" dirty="0">
                <a:solidFill>
                  <a:srgbClr val="FF0000"/>
                </a:solidFill>
                <a:latin typeface="Times New Roman"/>
                <a:cs typeface="Times New Roman"/>
              </a:rPr>
              <a:t>){ </a:t>
            </a:r>
            <a:r>
              <a:rPr sz="1900" dirty="0">
                <a:latin typeface="Times New Roman"/>
                <a:cs typeface="Times New Roman"/>
              </a:rPr>
              <a:t>largeur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19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l</a:t>
            </a:r>
            <a:r>
              <a:rPr sz="1900" spc="-2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900" spc="-5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3304" rIns="0" bIns="0" rtlCol="0">
            <a:spAutoFit/>
          </a:bodyPr>
          <a:lstStyle/>
          <a:p>
            <a:pPr marL="381000">
              <a:lnSpc>
                <a:spcPct val="100000"/>
              </a:lnSpc>
              <a:spcBef>
                <a:spcPts val="100"/>
              </a:spcBef>
            </a:pPr>
            <a:r>
              <a:rPr spc="-350" dirty="0"/>
              <a:t>Classes</a:t>
            </a:r>
            <a:r>
              <a:rPr b="0" spc="75" dirty="0">
                <a:latin typeface="Times New Roman"/>
                <a:cs typeface="Times New Roman"/>
              </a:rPr>
              <a:t> </a:t>
            </a:r>
            <a:r>
              <a:rPr spc="-280" dirty="0"/>
              <a:t>et</a:t>
            </a:r>
            <a:r>
              <a:rPr b="0" spc="70" dirty="0">
                <a:latin typeface="Times New Roman"/>
                <a:cs typeface="Times New Roman"/>
              </a:rPr>
              <a:t> </a:t>
            </a:r>
            <a:r>
              <a:rPr spc="-270" dirty="0"/>
              <a:t>Objets</a:t>
            </a:r>
          </a:p>
        </p:txBody>
      </p:sp>
      <p:sp>
        <p:nvSpPr>
          <p:cNvPr id="6" name="object 6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21976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57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3304" rIns="0" bIns="0" rtlCol="0">
            <a:spAutoFit/>
          </a:bodyPr>
          <a:lstStyle/>
          <a:p>
            <a:pPr marL="381000">
              <a:lnSpc>
                <a:spcPct val="100000"/>
              </a:lnSpc>
              <a:spcBef>
                <a:spcPts val="100"/>
              </a:spcBef>
            </a:pPr>
            <a:r>
              <a:rPr spc="-370" dirty="0"/>
              <a:t>Constructeurs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60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2410">
              <a:lnSpc>
                <a:spcPct val="100000"/>
              </a:lnSpc>
              <a:spcBef>
                <a:spcPts val="100"/>
              </a:spcBef>
            </a:pPr>
            <a:r>
              <a:rPr sz="2900" b="1" spc="-145" dirty="0">
                <a:solidFill>
                  <a:srgbClr val="C00000"/>
                </a:solidFill>
                <a:latin typeface="Arial"/>
                <a:cs typeface="Arial"/>
              </a:rPr>
              <a:t>Initialisation</a:t>
            </a:r>
            <a:r>
              <a:rPr sz="2900" spc="25" dirty="0">
                <a:solidFill>
                  <a:srgbClr val="C00000"/>
                </a:solidFill>
              </a:rPr>
              <a:t> </a:t>
            </a:r>
            <a:r>
              <a:rPr sz="2900" b="1" spc="-295" dirty="0">
                <a:solidFill>
                  <a:srgbClr val="C00000"/>
                </a:solidFill>
                <a:latin typeface="Arial"/>
                <a:cs typeface="Arial"/>
              </a:rPr>
              <a:t>des</a:t>
            </a:r>
            <a:r>
              <a:rPr sz="2900" spc="65" dirty="0">
                <a:solidFill>
                  <a:srgbClr val="C00000"/>
                </a:solidFill>
              </a:rPr>
              <a:t> </a:t>
            </a:r>
            <a:r>
              <a:rPr sz="2900" b="1" spc="-90" dirty="0">
                <a:solidFill>
                  <a:srgbClr val="C00000"/>
                </a:solidFill>
                <a:latin typeface="Arial"/>
                <a:cs typeface="Arial"/>
              </a:rPr>
              <a:t>attributs</a:t>
            </a:r>
            <a:endParaRPr sz="2900">
              <a:latin typeface="Arial"/>
              <a:cs typeface="Arial"/>
            </a:endParaRPr>
          </a:p>
          <a:p>
            <a:pPr marL="232410">
              <a:lnSpc>
                <a:spcPct val="100000"/>
              </a:lnSpc>
              <a:spcBef>
                <a:spcPts val="90"/>
              </a:spcBef>
            </a:pPr>
            <a:r>
              <a:rPr sz="2200" b="1" spc="-10" dirty="0">
                <a:solidFill>
                  <a:srgbClr val="926E00"/>
                </a:solidFill>
                <a:latin typeface="Times New Roman"/>
                <a:cs typeface="Times New Roman"/>
              </a:rPr>
              <a:t>Première</a:t>
            </a:r>
            <a:r>
              <a:rPr sz="2200" b="1" spc="-30" dirty="0">
                <a:solidFill>
                  <a:srgbClr val="926E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926E00"/>
                </a:solidFill>
                <a:latin typeface="Times New Roman"/>
                <a:cs typeface="Times New Roman"/>
              </a:rPr>
              <a:t>solution</a:t>
            </a:r>
            <a:r>
              <a:rPr sz="2200" b="1" spc="-45" dirty="0">
                <a:solidFill>
                  <a:srgbClr val="926E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926E00"/>
                </a:solidFill>
                <a:latin typeface="Times New Roman"/>
                <a:cs typeface="Times New Roman"/>
              </a:rPr>
              <a:t>:</a:t>
            </a:r>
            <a:r>
              <a:rPr sz="2200" b="1" spc="-50" dirty="0">
                <a:solidFill>
                  <a:srgbClr val="926E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affecter</a:t>
            </a:r>
            <a:r>
              <a:rPr sz="2200" b="1" spc="-60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individuellement</a:t>
            </a:r>
            <a:r>
              <a:rPr sz="2200" b="1" spc="-2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une</a:t>
            </a:r>
            <a:r>
              <a:rPr sz="2200" b="1" spc="-5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valeur</a:t>
            </a:r>
            <a:r>
              <a:rPr sz="2200" b="1" spc="-80" dirty="0">
                <a:latin typeface="Times New Roman"/>
                <a:cs typeface="Times New Roman"/>
              </a:rPr>
              <a:t> </a:t>
            </a:r>
            <a:r>
              <a:rPr sz="2200" dirty="0"/>
              <a:t>à</a:t>
            </a:r>
            <a:r>
              <a:rPr sz="2200" spc="-50" dirty="0"/>
              <a:t> </a:t>
            </a:r>
            <a:r>
              <a:rPr sz="2200" dirty="0"/>
              <a:t>chaque</a:t>
            </a:r>
            <a:r>
              <a:rPr sz="2200" spc="-55" dirty="0"/>
              <a:t> </a:t>
            </a:r>
            <a:r>
              <a:rPr sz="2200" spc="-10" dirty="0"/>
              <a:t>attribut.</a:t>
            </a:r>
            <a:endParaRPr sz="2200">
              <a:latin typeface="Times New Roman"/>
              <a:cs typeface="Times New Roman"/>
            </a:endParaRPr>
          </a:p>
          <a:p>
            <a:pPr marL="232410">
              <a:lnSpc>
                <a:spcPct val="100000"/>
              </a:lnSpc>
            </a:pP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Exemple:</a:t>
            </a:r>
            <a:endParaRPr sz="2200">
              <a:latin typeface="Times New Roman"/>
              <a:cs typeface="Times New Roman"/>
            </a:endParaRPr>
          </a:p>
          <a:p>
            <a:pPr marL="232410" marR="6908800">
              <a:lnSpc>
                <a:spcPct val="100000"/>
              </a:lnSpc>
              <a:spcBef>
                <a:spcPts val="10"/>
              </a:spcBef>
            </a:pPr>
            <a:r>
              <a:rPr sz="2000" dirty="0"/>
              <a:t>class</a:t>
            </a:r>
            <a:r>
              <a:rPr sz="2000" spc="-35" dirty="0"/>
              <a:t> </a:t>
            </a:r>
            <a:r>
              <a:rPr sz="2000" dirty="0">
                <a:solidFill>
                  <a:srgbClr val="00B0F0"/>
                </a:solidFill>
              </a:rPr>
              <a:t>Rectangle</a:t>
            </a:r>
            <a:r>
              <a:rPr sz="2000" spc="-45" dirty="0">
                <a:solidFill>
                  <a:srgbClr val="00B0F0"/>
                </a:solidFill>
              </a:rPr>
              <a:t> </a:t>
            </a:r>
            <a:r>
              <a:rPr sz="2000" spc="-50" dirty="0">
                <a:solidFill>
                  <a:srgbClr val="FF0000"/>
                </a:solidFill>
              </a:rPr>
              <a:t>{ </a:t>
            </a:r>
            <a:r>
              <a:rPr sz="2000" spc="-10" dirty="0">
                <a:solidFill>
                  <a:srgbClr val="FF0065"/>
                </a:solidFill>
              </a:rPr>
              <a:t>public:</a:t>
            </a:r>
            <a:endParaRPr sz="2000"/>
          </a:p>
          <a:p>
            <a:pPr marL="232410" marR="5930265">
              <a:lnSpc>
                <a:spcPct val="100000"/>
              </a:lnSpc>
            </a:pPr>
            <a:r>
              <a:rPr sz="2000" dirty="0">
                <a:solidFill>
                  <a:srgbClr val="001F5F"/>
                </a:solidFill>
              </a:rPr>
              <a:t>double</a:t>
            </a:r>
            <a:r>
              <a:rPr sz="2000" spc="-40" dirty="0">
                <a:solidFill>
                  <a:srgbClr val="001F5F"/>
                </a:solidFill>
              </a:rPr>
              <a:t> </a:t>
            </a:r>
            <a:r>
              <a:rPr sz="2000" dirty="0"/>
              <a:t>surface</a:t>
            </a:r>
            <a:r>
              <a:rPr sz="2000" dirty="0">
                <a:solidFill>
                  <a:srgbClr val="FF0000"/>
                </a:solidFill>
              </a:rPr>
              <a:t>()</a:t>
            </a:r>
            <a:r>
              <a:rPr sz="2000" spc="-40" dirty="0">
                <a:solidFill>
                  <a:srgbClr val="FF0000"/>
                </a:solidFill>
              </a:rPr>
              <a:t> </a:t>
            </a:r>
            <a:r>
              <a:rPr sz="2000" spc="-10" dirty="0">
                <a:solidFill>
                  <a:srgbClr val="001F5F"/>
                </a:solidFill>
              </a:rPr>
              <a:t>const</a:t>
            </a:r>
            <a:r>
              <a:rPr sz="2000" spc="-10" dirty="0">
                <a:solidFill>
                  <a:srgbClr val="FF0000"/>
                </a:solidFill>
              </a:rPr>
              <a:t>; </a:t>
            </a:r>
            <a:r>
              <a:rPr sz="2000" dirty="0">
                <a:solidFill>
                  <a:srgbClr val="001F5F"/>
                </a:solidFill>
              </a:rPr>
              <a:t>double</a:t>
            </a:r>
            <a:r>
              <a:rPr sz="2000" spc="-45" dirty="0">
                <a:solidFill>
                  <a:srgbClr val="001F5F"/>
                </a:solidFill>
              </a:rPr>
              <a:t> </a:t>
            </a:r>
            <a:r>
              <a:rPr sz="2000" dirty="0"/>
              <a:t>getHauteur</a:t>
            </a:r>
            <a:r>
              <a:rPr sz="2000" dirty="0">
                <a:solidFill>
                  <a:srgbClr val="FF0000"/>
                </a:solidFill>
              </a:rPr>
              <a:t>()</a:t>
            </a:r>
            <a:r>
              <a:rPr sz="2000" spc="-60" dirty="0">
                <a:solidFill>
                  <a:srgbClr val="FF0000"/>
                </a:solidFill>
              </a:rPr>
              <a:t> </a:t>
            </a:r>
            <a:r>
              <a:rPr sz="2000" spc="-10" dirty="0">
                <a:solidFill>
                  <a:srgbClr val="001F5F"/>
                </a:solidFill>
              </a:rPr>
              <a:t>const</a:t>
            </a:r>
            <a:r>
              <a:rPr sz="2000" spc="-10" dirty="0">
                <a:solidFill>
                  <a:srgbClr val="FF0000"/>
                </a:solidFill>
              </a:rPr>
              <a:t>; </a:t>
            </a:r>
            <a:r>
              <a:rPr sz="2000" dirty="0">
                <a:solidFill>
                  <a:srgbClr val="001F5F"/>
                </a:solidFill>
              </a:rPr>
              <a:t>double</a:t>
            </a:r>
            <a:r>
              <a:rPr sz="2000" spc="-70" dirty="0">
                <a:solidFill>
                  <a:srgbClr val="001F5F"/>
                </a:solidFill>
              </a:rPr>
              <a:t> </a:t>
            </a:r>
            <a:r>
              <a:rPr sz="2000" dirty="0"/>
              <a:t>getLargeur</a:t>
            </a:r>
            <a:r>
              <a:rPr sz="2000" dirty="0">
                <a:solidFill>
                  <a:srgbClr val="FF0000"/>
                </a:solidFill>
              </a:rPr>
              <a:t>()</a:t>
            </a:r>
            <a:r>
              <a:rPr sz="2000" spc="-70" dirty="0">
                <a:solidFill>
                  <a:srgbClr val="FF0000"/>
                </a:solidFill>
              </a:rPr>
              <a:t> </a:t>
            </a:r>
            <a:r>
              <a:rPr sz="2000" spc="-10" dirty="0">
                <a:solidFill>
                  <a:srgbClr val="001F5F"/>
                </a:solidFill>
              </a:rPr>
              <a:t>const</a:t>
            </a:r>
            <a:r>
              <a:rPr sz="2000" spc="-10" dirty="0">
                <a:solidFill>
                  <a:srgbClr val="FF0000"/>
                </a:solidFill>
              </a:rPr>
              <a:t>; </a:t>
            </a:r>
            <a:r>
              <a:rPr sz="2000" dirty="0">
                <a:solidFill>
                  <a:srgbClr val="001F5F"/>
                </a:solidFill>
              </a:rPr>
              <a:t>void</a:t>
            </a:r>
            <a:r>
              <a:rPr sz="2000" spc="-55" dirty="0">
                <a:solidFill>
                  <a:srgbClr val="001F5F"/>
                </a:solidFill>
              </a:rPr>
              <a:t> </a:t>
            </a:r>
            <a:r>
              <a:rPr sz="2000" dirty="0"/>
              <a:t>setHauteur</a:t>
            </a:r>
            <a:r>
              <a:rPr sz="2000" dirty="0">
                <a:solidFill>
                  <a:srgbClr val="FF0000"/>
                </a:solidFill>
              </a:rPr>
              <a:t>(</a:t>
            </a:r>
            <a:r>
              <a:rPr sz="2000" dirty="0">
                <a:solidFill>
                  <a:srgbClr val="001F5F"/>
                </a:solidFill>
              </a:rPr>
              <a:t>double</a:t>
            </a:r>
            <a:r>
              <a:rPr sz="2000" spc="-70" dirty="0">
                <a:solidFill>
                  <a:srgbClr val="001F5F"/>
                </a:solidFill>
              </a:rPr>
              <a:t> </a:t>
            </a:r>
            <a:r>
              <a:rPr sz="2000" spc="-25" dirty="0"/>
              <a:t>h</a:t>
            </a:r>
            <a:r>
              <a:rPr sz="2000" spc="-25" dirty="0">
                <a:solidFill>
                  <a:srgbClr val="FF0000"/>
                </a:solidFill>
              </a:rPr>
              <a:t>); </a:t>
            </a:r>
            <a:r>
              <a:rPr sz="2000" dirty="0">
                <a:solidFill>
                  <a:srgbClr val="001F5F"/>
                </a:solidFill>
              </a:rPr>
              <a:t>void</a:t>
            </a:r>
            <a:r>
              <a:rPr sz="2000" spc="10" dirty="0">
                <a:solidFill>
                  <a:srgbClr val="001F5F"/>
                </a:solidFill>
              </a:rPr>
              <a:t> </a:t>
            </a:r>
            <a:r>
              <a:rPr sz="2000" spc="-10" dirty="0"/>
              <a:t>setLargeur</a:t>
            </a:r>
            <a:r>
              <a:rPr sz="2000" spc="-10" dirty="0">
                <a:solidFill>
                  <a:srgbClr val="FF0000"/>
                </a:solidFill>
              </a:rPr>
              <a:t>(</a:t>
            </a:r>
            <a:r>
              <a:rPr sz="2000" spc="-10" dirty="0">
                <a:solidFill>
                  <a:srgbClr val="001F5F"/>
                </a:solidFill>
              </a:rPr>
              <a:t>double</a:t>
            </a:r>
            <a:r>
              <a:rPr sz="2000" spc="5" dirty="0">
                <a:solidFill>
                  <a:srgbClr val="001F5F"/>
                </a:solidFill>
              </a:rPr>
              <a:t> </a:t>
            </a:r>
            <a:r>
              <a:rPr sz="2000" spc="-25" dirty="0"/>
              <a:t>l</a:t>
            </a:r>
            <a:r>
              <a:rPr sz="2000" spc="-25" dirty="0">
                <a:solidFill>
                  <a:srgbClr val="FF0000"/>
                </a:solidFill>
              </a:rPr>
              <a:t>); </a:t>
            </a:r>
            <a:r>
              <a:rPr sz="2000" spc="-10" dirty="0">
                <a:solidFill>
                  <a:srgbClr val="FF0065"/>
                </a:solidFill>
              </a:rPr>
              <a:t>private:</a:t>
            </a:r>
            <a:endParaRPr sz="2000"/>
          </a:p>
          <a:p>
            <a:pPr marL="232410" marR="7074534">
              <a:lnSpc>
                <a:spcPct val="100000"/>
              </a:lnSpc>
            </a:pPr>
            <a:r>
              <a:rPr sz="2000" dirty="0">
                <a:solidFill>
                  <a:srgbClr val="001F5F"/>
                </a:solidFill>
              </a:rPr>
              <a:t>double</a:t>
            </a:r>
            <a:r>
              <a:rPr sz="2000" spc="-20" dirty="0">
                <a:solidFill>
                  <a:srgbClr val="001F5F"/>
                </a:solidFill>
              </a:rPr>
              <a:t> </a:t>
            </a:r>
            <a:r>
              <a:rPr sz="2000" spc="-10" dirty="0"/>
              <a:t>hauteur</a:t>
            </a:r>
            <a:r>
              <a:rPr sz="2000" spc="-10" dirty="0">
                <a:solidFill>
                  <a:srgbClr val="FF0000"/>
                </a:solidFill>
              </a:rPr>
              <a:t>; </a:t>
            </a:r>
            <a:r>
              <a:rPr sz="2000" dirty="0">
                <a:solidFill>
                  <a:srgbClr val="001F5F"/>
                </a:solidFill>
              </a:rPr>
              <a:t>double</a:t>
            </a:r>
            <a:r>
              <a:rPr sz="2000" spc="-20" dirty="0">
                <a:solidFill>
                  <a:srgbClr val="001F5F"/>
                </a:solidFill>
              </a:rPr>
              <a:t> </a:t>
            </a:r>
            <a:r>
              <a:rPr sz="2000" spc="-10" dirty="0"/>
              <a:t>largeur</a:t>
            </a:r>
            <a:r>
              <a:rPr sz="2000" spc="-10" dirty="0">
                <a:solidFill>
                  <a:srgbClr val="FF0000"/>
                </a:solidFill>
              </a:rPr>
              <a:t>;</a:t>
            </a:r>
            <a:endParaRPr sz="2000"/>
          </a:p>
          <a:p>
            <a:pPr marL="232410">
              <a:lnSpc>
                <a:spcPct val="100000"/>
              </a:lnSpc>
            </a:pPr>
            <a:r>
              <a:rPr sz="2000" spc="-25" dirty="0">
                <a:solidFill>
                  <a:srgbClr val="FF0000"/>
                </a:solidFill>
              </a:rPr>
              <a:t>};</a:t>
            </a:r>
            <a:endParaRPr sz="2000"/>
          </a:p>
        </p:txBody>
      </p:sp>
      <p:sp>
        <p:nvSpPr>
          <p:cNvPr id="6" name="object 6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21976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60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3304" rIns="0" bIns="0" rtlCol="0">
            <a:spAutoFit/>
          </a:bodyPr>
          <a:lstStyle/>
          <a:p>
            <a:pPr marL="381000">
              <a:lnSpc>
                <a:spcPct val="100000"/>
              </a:lnSpc>
              <a:spcBef>
                <a:spcPts val="100"/>
              </a:spcBef>
            </a:pPr>
            <a:r>
              <a:rPr spc="-370" dirty="0"/>
              <a:t>Constructeurs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61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4272" y="1819147"/>
            <a:ext cx="8685530" cy="35896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b="1" spc="-145" dirty="0">
                <a:solidFill>
                  <a:srgbClr val="C00000"/>
                </a:solidFill>
                <a:latin typeface="Arial"/>
                <a:cs typeface="Arial"/>
              </a:rPr>
              <a:t>Initialisation</a:t>
            </a:r>
            <a:r>
              <a:rPr sz="2900" spc="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900" b="1" spc="-295" dirty="0">
                <a:solidFill>
                  <a:srgbClr val="C00000"/>
                </a:solidFill>
                <a:latin typeface="Arial"/>
                <a:cs typeface="Arial"/>
              </a:rPr>
              <a:t>des</a:t>
            </a:r>
            <a:r>
              <a:rPr sz="2900" spc="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900" b="1" spc="-90" dirty="0">
                <a:solidFill>
                  <a:srgbClr val="C00000"/>
                </a:solidFill>
                <a:latin typeface="Arial"/>
                <a:cs typeface="Arial"/>
              </a:rPr>
              <a:t>attributs</a:t>
            </a:r>
            <a:endParaRPr sz="2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00" b="1" spc="-10" dirty="0">
                <a:solidFill>
                  <a:srgbClr val="926E00"/>
                </a:solidFill>
                <a:latin typeface="Times New Roman"/>
                <a:cs typeface="Times New Roman"/>
              </a:rPr>
              <a:t>Première</a:t>
            </a:r>
            <a:r>
              <a:rPr sz="2200" b="1" spc="-30" dirty="0">
                <a:solidFill>
                  <a:srgbClr val="926E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926E00"/>
                </a:solidFill>
                <a:latin typeface="Times New Roman"/>
                <a:cs typeface="Times New Roman"/>
              </a:rPr>
              <a:t>solution</a:t>
            </a:r>
            <a:r>
              <a:rPr sz="2200" b="1" spc="-45" dirty="0">
                <a:solidFill>
                  <a:srgbClr val="926E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926E00"/>
                </a:solidFill>
                <a:latin typeface="Times New Roman"/>
                <a:cs typeface="Times New Roman"/>
              </a:rPr>
              <a:t>:</a:t>
            </a:r>
            <a:r>
              <a:rPr sz="2200" b="1" spc="-50" dirty="0">
                <a:solidFill>
                  <a:srgbClr val="926E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affecter</a:t>
            </a:r>
            <a:r>
              <a:rPr sz="2200" b="1" spc="-60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individuellement</a:t>
            </a:r>
            <a:r>
              <a:rPr sz="2200" b="1" spc="-2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une</a:t>
            </a:r>
            <a:r>
              <a:rPr sz="2200" b="1" spc="-5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valeur</a:t>
            </a:r>
            <a:r>
              <a:rPr sz="2200" b="1" spc="-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à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chaque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attribut.</a:t>
            </a:r>
            <a:endParaRPr sz="2200">
              <a:latin typeface="Times New Roman"/>
              <a:cs typeface="Times New Roman"/>
            </a:endParaRPr>
          </a:p>
          <a:p>
            <a:pPr marL="12700" marR="6717665">
              <a:lnSpc>
                <a:spcPct val="100000"/>
              </a:lnSpc>
            </a:pP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Exemple:</a:t>
            </a:r>
            <a:r>
              <a:rPr sz="2200" b="1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(suite) </a:t>
            </a:r>
            <a:r>
              <a:rPr sz="2000" dirty="0">
                <a:solidFill>
                  <a:srgbClr val="00B0F0"/>
                </a:solidFill>
                <a:latin typeface="Times New Roman"/>
                <a:cs typeface="Times New Roman"/>
              </a:rPr>
              <a:t>Rectangle</a:t>
            </a:r>
            <a:r>
              <a:rPr sz="2000" spc="-55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rect</a:t>
            </a:r>
            <a:r>
              <a:rPr sz="2000" spc="-20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200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000" spc="-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l</a:t>
            </a:r>
            <a:r>
              <a:rPr sz="2000" spc="-2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000">
              <a:latin typeface="Times New Roman"/>
              <a:cs typeface="Times New Roman"/>
            </a:endParaRPr>
          </a:p>
          <a:p>
            <a:pPr marL="12700" marR="5797550">
              <a:lnSpc>
                <a:spcPct val="100000"/>
              </a:lnSpc>
              <a:spcBef>
                <a:spcPts val="10"/>
              </a:spcBef>
            </a:pPr>
            <a:r>
              <a:rPr sz="2000" dirty="0">
                <a:solidFill>
                  <a:srgbClr val="009900"/>
                </a:solidFill>
                <a:latin typeface="Times New Roman"/>
                <a:cs typeface="Times New Roman"/>
              </a:rPr>
              <a:t>cout</a:t>
            </a:r>
            <a:r>
              <a:rPr sz="2000" spc="-30" dirty="0">
                <a:solidFill>
                  <a:srgbClr val="0099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0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Times New Roman"/>
                <a:cs typeface="Times New Roman"/>
              </a:rPr>
              <a:t>"Quelle</a:t>
            </a:r>
            <a:r>
              <a:rPr sz="2000" spc="-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Times New Roman"/>
                <a:cs typeface="Times New Roman"/>
              </a:rPr>
              <a:t>hauteur</a:t>
            </a:r>
            <a:r>
              <a:rPr sz="2000" spc="-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Times New Roman"/>
                <a:cs typeface="Times New Roman"/>
              </a:rPr>
              <a:t>?</a:t>
            </a:r>
            <a:r>
              <a:rPr sz="2000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006FC0"/>
                </a:solidFill>
                <a:latin typeface="Times New Roman"/>
                <a:cs typeface="Times New Roman"/>
              </a:rPr>
              <a:t>"</a:t>
            </a:r>
            <a:r>
              <a:rPr sz="2000" spc="-25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2000" dirty="0">
                <a:solidFill>
                  <a:srgbClr val="009900"/>
                </a:solidFill>
                <a:latin typeface="Times New Roman"/>
                <a:cs typeface="Times New Roman"/>
              </a:rPr>
              <a:t>cin</a:t>
            </a:r>
            <a:r>
              <a:rPr sz="2000" spc="-15" dirty="0">
                <a:solidFill>
                  <a:srgbClr val="0099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&gt;&gt;</a:t>
            </a:r>
            <a:r>
              <a:rPr sz="20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h</a:t>
            </a:r>
            <a:r>
              <a:rPr sz="2000" spc="-2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r>
              <a:rPr sz="2000" spc="5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rect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.</a:t>
            </a:r>
            <a:r>
              <a:rPr sz="2000" spc="-10" dirty="0">
                <a:latin typeface="Times New Roman"/>
                <a:cs typeface="Times New Roman"/>
              </a:rPr>
              <a:t>setHauteur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000" spc="-10" dirty="0">
                <a:latin typeface="Times New Roman"/>
                <a:cs typeface="Times New Roman"/>
              </a:rPr>
              <a:t>h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);</a:t>
            </a:r>
            <a:endParaRPr sz="2000">
              <a:latin typeface="Times New Roman"/>
              <a:cs typeface="Times New Roman"/>
            </a:endParaRPr>
          </a:p>
          <a:p>
            <a:pPr marL="12700" marR="5845175">
              <a:lnSpc>
                <a:spcPct val="100000"/>
              </a:lnSpc>
            </a:pPr>
            <a:r>
              <a:rPr sz="2000" dirty="0">
                <a:solidFill>
                  <a:srgbClr val="009900"/>
                </a:solidFill>
                <a:latin typeface="Times New Roman"/>
                <a:cs typeface="Times New Roman"/>
              </a:rPr>
              <a:t>cout</a:t>
            </a:r>
            <a:r>
              <a:rPr sz="2000" spc="-40" dirty="0">
                <a:solidFill>
                  <a:srgbClr val="0099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0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Times New Roman"/>
                <a:cs typeface="Times New Roman"/>
              </a:rPr>
              <a:t>"Quelle</a:t>
            </a:r>
            <a:r>
              <a:rPr sz="2000" spc="-3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Times New Roman"/>
                <a:cs typeface="Times New Roman"/>
              </a:rPr>
              <a:t>largeur</a:t>
            </a:r>
            <a:r>
              <a:rPr sz="2000" spc="-4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Times New Roman"/>
                <a:cs typeface="Times New Roman"/>
              </a:rPr>
              <a:t>?</a:t>
            </a:r>
            <a:r>
              <a:rPr sz="2000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006FC0"/>
                </a:solidFill>
                <a:latin typeface="Times New Roman"/>
                <a:cs typeface="Times New Roman"/>
              </a:rPr>
              <a:t>"</a:t>
            </a:r>
            <a:r>
              <a:rPr sz="2000" spc="-25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2000" dirty="0">
                <a:solidFill>
                  <a:srgbClr val="009900"/>
                </a:solidFill>
                <a:latin typeface="Times New Roman"/>
                <a:cs typeface="Times New Roman"/>
              </a:rPr>
              <a:t>cin</a:t>
            </a:r>
            <a:r>
              <a:rPr sz="2000" spc="-15" dirty="0">
                <a:solidFill>
                  <a:srgbClr val="0099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&gt;&gt;</a:t>
            </a:r>
            <a:r>
              <a:rPr sz="20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l</a:t>
            </a:r>
            <a:r>
              <a:rPr sz="2000" spc="-2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latin typeface="Times New Roman"/>
                <a:cs typeface="Times New Roman"/>
              </a:rPr>
              <a:t>rect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.</a:t>
            </a:r>
            <a:r>
              <a:rPr sz="2000" spc="-10" dirty="0">
                <a:latin typeface="Times New Roman"/>
                <a:cs typeface="Times New Roman"/>
              </a:rPr>
              <a:t>setLargeur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000" spc="-10" dirty="0">
                <a:latin typeface="Times New Roman"/>
                <a:cs typeface="Times New Roman"/>
              </a:rPr>
              <a:t>l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);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21976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61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3304" rIns="0" bIns="0" rtlCol="0">
            <a:spAutoFit/>
          </a:bodyPr>
          <a:lstStyle/>
          <a:p>
            <a:pPr marL="381000">
              <a:lnSpc>
                <a:spcPct val="100000"/>
              </a:lnSpc>
              <a:spcBef>
                <a:spcPts val="100"/>
              </a:spcBef>
            </a:pPr>
            <a:r>
              <a:rPr spc="-370" dirty="0"/>
              <a:t>Constructeurs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62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4272" y="1819147"/>
            <a:ext cx="8685530" cy="2949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b="1" spc="-145" dirty="0">
                <a:solidFill>
                  <a:srgbClr val="C00000"/>
                </a:solidFill>
                <a:latin typeface="Arial"/>
                <a:cs typeface="Arial"/>
              </a:rPr>
              <a:t>Initialisation</a:t>
            </a:r>
            <a:r>
              <a:rPr sz="2900" spc="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900" b="1" spc="-295" dirty="0">
                <a:solidFill>
                  <a:srgbClr val="C00000"/>
                </a:solidFill>
                <a:latin typeface="Arial"/>
                <a:cs typeface="Arial"/>
              </a:rPr>
              <a:t>des</a:t>
            </a:r>
            <a:r>
              <a:rPr sz="2900" spc="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900" b="1" spc="-90" dirty="0">
                <a:solidFill>
                  <a:srgbClr val="C00000"/>
                </a:solidFill>
                <a:latin typeface="Arial"/>
                <a:cs typeface="Arial"/>
              </a:rPr>
              <a:t>attributs</a:t>
            </a:r>
            <a:endParaRPr sz="2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00" b="1" spc="-10" dirty="0">
                <a:solidFill>
                  <a:srgbClr val="926E00"/>
                </a:solidFill>
                <a:latin typeface="Times New Roman"/>
                <a:cs typeface="Times New Roman"/>
              </a:rPr>
              <a:t>Première</a:t>
            </a:r>
            <a:r>
              <a:rPr sz="2200" b="1" spc="-30" dirty="0">
                <a:solidFill>
                  <a:srgbClr val="926E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926E00"/>
                </a:solidFill>
                <a:latin typeface="Times New Roman"/>
                <a:cs typeface="Times New Roman"/>
              </a:rPr>
              <a:t>solution</a:t>
            </a:r>
            <a:r>
              <a:rPr sz="2200" b="1" spc="-45" dirty="0">
                <a:solidFill>
                  <a:srgbClr val="926E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926E00"/>
                </a:solidFill>
                <a:latin typeface="Times New Roman"/>
                <a:cs typeface="Times New Roman"/>
              </a:rPr>
              <a:t>:</a:t>
            </a:r>
            <a:r>
              <a:rPr sz="2200" b="1" spc="-50" dirty="0">
                <a:solidFill>
                  <a:srgbClr val="926E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affecter</a:t>
            </a:r>
            <a:r>
              <a:rPr sz="2200" b="1" spc="-60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individuellement</a:t>
            </a:r>
            <a:r>
              <a:rPr sz="2200" b="1" spc="-2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une</a:t>
            </a:r>
            <a:r>
              <a:rPr sz="2200" b="1" spc="-5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valeur</a:t>
            </a:r>
            <a:r>
              <a:rPr sz="2200" b="1" spc="-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à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chaque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attribut.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0"/>
              </a:spcBef>
              <a:buClr>
                <a:srgbClr val="006FC0"/>
              </a:buClr>
              <a:buFont typeface="Wingdings"/>
              <a:buChar char=""/>
              <a:tabLst>
                <a:tab pos="354965" algn="l"/>
              </a:tabLst>
            </a:pPr>
            <a:r>
              <a:rPr sz="2000" dirty="0">
                <a:latin typeface="Times New Roman"/>
                <a:cs typeface="Times New Roman"/>
              </a:rPr>
              <a:t>Ceci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est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mauvaise</a:t>
            </a:r>
            <a:r>
              <a:rPr sz="20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r>
              <a:rPr sz="20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dans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général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 marL="355600" marR="172720" indent="-342900">
              <a:lnSpc>
                <a:spcPct val="100000"/>
              </a:lnSpc>
              <a:buClr>
                <a:srgbClr val="006FC0"/>
              </a:buClr>
              <a:buFont typeface="Wingdings"/>
              <a:buChar char="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elle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implique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que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tous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attributs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fassent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partie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l’interface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(public)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ou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soient </a:t>
            </a:r>
            <a:r>
              <a:rPr sz="2000" dirty="0">
                <a:latin typeface="Times New Roman"/>
                <a:cs typeface="Times New Roman"/>
              </a:rPr>
              <a:t>assortis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d’un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manipulateur.</a:t>
            </a:r>
            <a:endParaRPr sz="2000">
              <a:latin typeface="Times New Roman"/>
              <a:cs typeface="Times New Roman"/>
            </a:endParaRPr>
          </a:p>
          <a:p>
            <a:pPr marL="7747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casse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l’encapsulation</a:t>
            </a:r>
            <a:endParaRPr sz="2000">
              <a:latin typeface="Times New Roman"/>
              <a:cs typeface="Times New Roman"/>
            </a:endParaRPr>
          </a:p>
          <a:p>
            <a:pPr marL="355600" marR="320675" indent="-342900">
              <a:lnSpc>
                <a:spcPct val="100000"/>
              </a:lnSpc>
              <a:buClr>
                <a:srgbClr val="006FC0"/>
              </a:buClr>
              <a:buFont typeface="Wingdings"/>
              <a:buChar char="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oblige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programmeur-</a:t>
            </a:r>
            <a:r>
              <a:rPr sz="2000" b="1" dirty="0">
                <a:latin typeface="Times New Roman"/>
                <a:cs typeface="Times New Roman"/>
              </a:rPr>
              <a:t>utilisateur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classe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à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initialiser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explicitement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tous </a:t>
            </a:r>
            <a:r>
              <a:rPr sz="2000" dirty="0">
                <a:latin typeface="Times New Roman"/>
                <a:cs typeface="Times New Roman"/>
              </a:rPr>
              <a:t>les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attributs.</a:t>
            </a:r>
            <a:endParaRPr sz="2000">
              <a:latin typeface="Times New Roman"/>
              <a:cs typeface="Times New Roman"/>
            </a:endParaRPr>
          </a:p>
          <a:p>
            <a:pPr marL="7747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risque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d’oubli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377577" y="3611879"/>
            <a:ext cx="382905" cy="190500"/>
            <a:chOff x="1377577" y="3611879"/>
            <a:chExt cx="382905" cy="190500"/>
          </a:xfrm>
        </p:grpSpPr>
        <p:sp>
          <p:nvSpPr>
            <p:cNvPr id="7" name="object 7"/>
            <p:cNvSpPr/>
            <p:nvPr/>
          </p:nvSpPr>
          <p:spPr>
            <a:xfrm>
              <a:off x="1386721" y="3634739"/>
              <a:ext cx="360045" cy="143510"/>
            </a:xfrm>
            <a:custGeom>
              <a:avLst/>
              <a:gdLst/>
              <a:ahLst/>
              <a:cxnLst/>
              <a:rect l="l" t="t" r="r" b="b"/>
              <a:pathLst>
                <a:path w="360044" h="143510">
                  <a:moveTo>
                    <a:pt x="359660" y="71627"/>
                  </a:moveTo>
                  <a:lnTo>
                    <a:pt x="288032" y="0"/>
                  </a:lnTo>
                  <a:lnTo>
                    <a:pt x="288032" y="36575"/>
                  </a:lnTo>
                  <a:lnTo>
                    <a:pt x="0" y="36575"/>
                  </a:lnTo>
                  <a:lnTo>
                    <a:pt x="0" y="108203"/>
                  </a:lnTo>
                  <a:lnTo>
                    <a:pt x="288032" y="108203"/>
                  </a:lnTo>
                  <a:lnTo>
                    <a:pt x="288032" y="143255"/>
                  </a:lnTo>
                  <a:lnTo>
                    <a:pt x="359660" y="71627"/>
                  </a:lnTo>
                  <a:close/>
                </a:path>
              </a:pathLst>
            </a:custGeom>
            <a:solidFill>
              <a:srgbClr val="93B5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77577" y="3611879"/>
              <a:ext cx="382905" cy="190500"/>
            </a:xfrm>
            <a:custGeom>
              <a:avLst/>
              <a:gdLst/>
              <a:ahLst/>
              <a:cxnLst/>
              <a:rect l="l" t="t" r="r" b="b"/>
              <a:pathLst>
                <a:path w="382905" h="190500">
                  <a:moveTo>
                    <a:pt x="297176" y="48768"/>
                  </a:moveTo>
                  <a:lnTo>
                    <a:pt x="0" y="48768"/>
                  </a:lnTo>
                  <a:lnTo>
                    <a:pt x="0" y="140208"/>
                  </a:lnTo>
                  <a:lnTo>
                    <a:pt x="9144" y="140208"/>
                  </a:lnTo>
                  <a:lnTo>
                    <a:pt x="9144" y="68580"/>
                  </a:lnTo>
                  <a:lnTo>
                    <a:pt x="18288" y="59436"/>
                  </a:lnTo>
                  <a:lnTo>
                    <a:pt x="18288" y="68580"/>
                  </a:lnTo>
                  <a:lnTo>
                    <a:pt x="288032" y="68580"/>
                  </a:lnTo>
                  <a:lnTo>
                    <a:pt x="288032" y="59436"/>
                  </a:lnTo>
                  <a:lnTo>
                    <a:pt x="297176" y="48768"/>
                  </a:lnTo>
                  <a:close/>
                </a:path>
                <a:path w="382905" h="190500">
                  <a:moveTo>
                    <a:pt x="18288" y="68580"/>
                  </a:moveTo>
                  <a:lnTo>
                    <a:pt x="18288" y="59436"/>
                  </a:lnTo>
                  <a:lnTo>
                    <a:pt x="9144" y="68580"/>
                  </a:lnTo>
                  <a:lnTo>
                    <a:pt x="18288" y="68580"/>
                  </a:lnTo>
                  <a:close/>
                </a:path>
                <a:path w="382905" h="190500">
                  <a:moveTo>
                    <a:pt x="18288" y="121920"/>
                  </a:moveTo>
                  <a:lnTo>
                    <a:pt x="18288" y="68580"/>
                  </a:lnTo>
                  <a:lnTo>
                    <a:pt x="9144" y="68580"/>
                  </a:lnTo>
                  <a:lnTo>
                    <a:pt x="9144" y="121920"/>
                  </a:lnTo>
                  <a:lnTo>
                    <a:pt x="18288" y="121920"/>
                  </a:lnTo>
                  <a:close/>
                </a:path>
                <a:path w="382905" h="190500">
                  <a:moveTo>
                    <a:pt x="306320" y="143605"/>
                  </a:moveTo>
                  <a:lnTo>
                    <a:pt x="306320" y="121920"/>
                  </a:lnTo>
                  <a:lnTo>
                    <a:pt x="9144" y="121920"/>
                  </a:lnTo>
                  <a:lnTo>
                    <a:pt x="18288" y="131064"/>
                  </a:lnTo>
                  <a:lnTo>
                    <a:pt x="18288" y="140208"/>
                  </a:lnTo>
                  <a:lnTo>
                    <a:pt x="288032" y="140208"/>
                  </a:lnTo>
                  <a:lnTo>
                    <a:pt x="288032" y="131064"/>
                  </a:lnTo>
                  <a:lnTo>
                    <a:pt x="297176" y="140208"/>
                  </a:lnTo>
                  <a:lnTo>
                    <a:pt x="297176" y="152558"/>
                  </a:lnTo>
                  <a:lnTo>
                    <a:pt x="306320" y="143605"/>
                  </a:lnTo>
                  <a:close/>
                </a:path>
                <a:path w="382905" h="190500">
                  <a:moveTo>
                    <a:pt x="18288" y="140208"/>
                  </a:moveTo>
                  <a:lnTo>
                    <a:pt x="18288" y="131064"/>
                  </a:lnTo>
                  <a:lnTo>
                    <a:pt x="9144" y="121920"/>
                  </a:lnTo>
                  <a:lnTo>
                    <a:pt x="9144" y="140208"/>
                  </a:lnTo>
                  <a:lnTo>
                    <a:pt x="18288" y="140208"/>
                  </a:lnTo>
                  <a:close/>
                </a:path>
                <a:path w="382905" h="190500">
                  <a:moveTo>
                    <a:pt x="382520" y="94488"/>
                  </a:moveTo>
                  <a:lnTo>
                    <a:pt x="288032" y="0"/>
                  </a:lnTo>
                  <a:lnTo>
                    <a:pt x="288032" y="48768"/>
                  </a:lnTo>
                  <a:lnTo>
                    <a:pt x="289556" y="48768"/>
                  </a:lnTo>
                  <a:lnTo>
                    <a:pt x="289556" y="28956"/>
                  </a:lnTo>
                  <a:lnTo>
                    <a:pt x="306320" y="22860"/>
                  </a:lnTo>
                  <a:lnTo>
                    <a:pt x="306320" y="45720"/>
                  </a:lnTo>
                  <a:lnTo>
                    <a:pt x="355778" y="95177"/>
                  </a:lnTo>
                  <a:lnTo>
                    <a:pt x="362708" y="88392"/>
                  </a:lnTo>
                  <a:lnTo>
                    <a:pt x="362708" y="114619"/>
                  </a:lnTo>
                  <a:lnTo>
                    <a:pt x="382520" y="94488"/>
                  </a:lnTo>
                  <a:close/>
                </a:path>
                <a:path w="382905" h="190500">
                  <a:moveTo>
                    <a:pt x="297176" y="68580"/>
                  </a:moveTo>
                  <a:lnTo>
                    <a:pt x="297176" y="48768"/>
                  </a:lnTo>
                  <a:lnTo>
                    <a:pt x="288032" y="59436"/>
                  </a:lnTo>
                  <a:lnTo>
                    <a:pt x="288032" y="68580"/>
                  </a:lnTo>
                  <a:lnTo>
                    <a:pt x="297176" y="68580"/>
                  </a:lnTo>
                  <a:close/>
                </a:path>
                <a:path w="382905" h="190500">
                  <a:moveTo>
                    <a:pt x="297176" y="140208"/>
                  </a:moveTo>
                  <a:lnTo>
                    <a:pt x="288032" y="131064"/>
                  </a:lnTo>
                  <a:lnTo>
                    <a:pt x="288032" y="140208"/>
                  </a:lnTo>
                  <a:lnTo>
                    <a:pt x="297176" y="140208"/>
                  </a:lnTo>
                  <a:close/>
                </a:path>
                <a:path w="382905" h="190500">
                  <a:moveTo>
                    <a:pt x="297176" y="152558"/>
                  </a:moveTo>
                  <a:lnTo>
                    <a:pt x="297176" y="140208"/>
                  </a:lnTo>
                  <a:lnTo>
                    <a:pt x="288032" y="140208"/>
                  </a:lnTo>
                  <a:lnTo>
                    <a:pt x="288032" y="190500"/>
                  </a:lnTo>
                  <a:lnTo>
                    <a:pt x="289556" y="188951"/>
                  </a:lnTo>
                  <a:lnTo>
                    <a:pt x="289556" y="160020"/>
                  </a:lnTo>
                  <a:lnTo>
                    <a:pt x="297176" y="152558"/>
                  </a:lnTo>
                  <a:close/>
                </a:path>
                <a:path w="382905" h="190500">
                  <a:moveTo>
                    <a:pt x="306320" y="45720"/>
                  </a:moveTo>
                  <a:lnTo>
                    <a:pt x="306320" y="22860"/>
                  </a:lnTo>
                  <a:lnTo>
                    <a:pt x="289556" y="28956"/>
                  </a:lnTo>
                  <a:lnTo>
                    <a:pt x="306320" y="45720"/>
                  </a:lnTo>
                  <a:close/>
                </a:path>
                <a:path w="382905" h="190500">
                  <a:moveTo>
                    <a:pt x="306320" y="68580"/>
                  </a:moveTo>
                  <a:lnTo>
                    <a:pt x="306320" y="45720"/>
                  </a:lnTo>
                  <a:lnTo>
                    <a:pt x="289556" y="28956"/>
                  </a:lnTo>
                  <a:lnTo>
                    <a:pt x="289556" y="48768"/>
                  </a:lnTo>
                  <a:lnTo>
                    <a:pt x="297176" y="48768"/>
                  </a:lnTo>
                  <a:lnTo>
                    <a:pt x="297176" y="68580"/>
                  </a:lnTo>
                  <a:lnTo>
                    <a:pt x="306320" y="68580"/>
                  </a:lnTo>
                  <a:close/>
                </a:path>
                <a:path w="382905" h="190500">
                  <a:moveTo>
                    <a:pt x="362708" y="114619"/>
                  </a:moveTo>
                  <a:lnTo>
                    <a:pt x="362708" y="102108"/>
                  </a:lnTo>
                  <a:lnTo>
                    <a:pt x="355778" y="95177"/>
                  </a:lnTo>
                  <a:lnTo>
                    <a:pt x="289556" y="160020"/>
                  </a:lnTo>
                  <a:lnTo>
                    <a:pt x="306320" y="166116"/>
                  </a:lnTo>
                  <a:lnTo>
                    <a:pt x="306320" y="171917"/>
                  </a:lnTo>
                  <a:lnTo>
                    <a:pt x="362708" y="114619"/>
                  </a:lnTo>
                  <a:close/>
                </a:path>
                <a:path w="382905" h="190500">
                  <a:moveTo>
                    <a:pt x="306320" y="171917"/>
                  </a:moveTo>
                  <a:lnTo>
                    <a:pt x="306320" y="166116"/>
                  </a:lnTo>
                  <a:lnTo>
                    <a:pt x="289556" y="160020"/>
                  </a:lnTo>
                  <a:lnTo>
                    <a:pt x="289556" y="188951"/>
                  </a:lnTo>
                  <a:lnTo>
                    <a:pt x="306320" y="171917"/>
                  </a:lnTo>
                  <a:close/>
                </a:path>
                <a:path w="382905" h="190500">
                  <a:moveTo>
                    <a:pt x="362708" y="102108"/>
                  </a:moveTo>
                  <a:lnTo>
                    <a:pt x="362708" y="88392"/>
                  </a:lnTo>
                  <a:lnTo>
                    <a:pt x="355778" y="95177"/>
                  </a:lnTo>
                  <a:lnTo>
                    <a:pt x="362708" y="102108"/>
                  </a:lnTo>
                  <a:close/>
                </a:path>
              </a:pathLst>
            </a:custGeom>
            <a:solidFill>
              <a:srgbClr val="6B84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1377577" y="4547616"/>
            <a:ext cx="382905" cy="190500"/>
            <a:chOff x="1377577" y="4547616"/>
            <a:chExt cx="382905" cy="190500"/>
          </a:xfrm>
        </p:grpSpPr>
        <p:sp>
          <p:nvSpPr>
            <p:cNvPr id="10" name="object 10"/>
            <p:cNvSpPr/>
            <p:nvPr/>
          </p:nvSpPr>
          <p:spPr>
            <a:xfrm>
              <a:off x="1386721" y="4570475"/>
              <a:ext cx="360045" cy="144780"/>
            </a:xfrm>
            <a:custGeom>
              <a:avLst/>
              <a:gdLst/>
              <a:ahLst/>
              <a:cxnLst/>
              <a:rect l="l" t="t" r="r" b="b"/>
              <a:pathLst>
                <a:path w="360044" h="144779">
                  <a:moveTo>
                    <a:pt x="359660" y="71627"/>
                  </a:moveTo>
                  <a:lnTo>
                    <a:pt x="288032" y="0"/>
                  </a:lnTo>
                  <a:lnTo>
                    <a:pt x="288032" y="36575"/>
                  </a:lnTo>
                  <a:lnTo>
                    <a:pt x="0" y="36575"/>
                  </a:lnTo>
                  <a:lnTo>
                    <a:pt x="0" y="108203"/>
                  </a:lnTo>
                  <a:lnTo>
                    <a:pt x="288032" y="108203"/>
                  </a:lnTo>
                  <a:lnTo>
                    <a:pt x="288032" y="144779"/>
                  </a:lnTo>
                  <a:lnTo>
                    <a:pt x="359660" y="71627"/>
                  </a:lnTo>
                  <a:close/>
                </a:path>
              </a:pathLst>
            </a:custGeom>
            <a:solidFill>
              <a:srgbClr val="93B5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377577" y="4547616"/>
              <a:ext cx="382905" cy="190500"/>
            </a:xfrm>
            <a:custGeom>
              <a:avLst/>
              <a:gdLst/>
              <a:ahLst/>
              <a:cxnLst/>
              <a:rect l="l" t="t" r="r" b="b"/>
              <a:pathLst>
                <a:path w="382905" h="190500">
                  <a:moveTo>
                    <a:pt x="297176" y="50292"/>
                  </a:moveTo>
                  <a:lnTo>
                    <a:pt x="0" y="50292"/>
                  </a:lnTo>
                  <a:lnTo>
                    <a:pt x="0" y="140208"/>
                  </a:lnTo>
                  <a:lnTo>
                    <a:pt x="9144" y="140208"/>
                  </a:lnTo>
                  <a:lnTo>
                    <a:pt x="9144" y="68580"/>
                  </a:lnTo>
                  <a:lnTo>
                    <a:pt x="18288" y="59436"/>
                  </a:lnTo>
                  <a:lnTo>
                    <a:pt x="18288" y="68580"/>
                  </a:lnTo>
                  <a:lnTo>
                    <a:pt x="288032" y="68580"/>
                  </a:lnTo>
                  <a:lnTo>
                    <a:pt x="288032" y="59436"/>
                  </a:lnTo>
                  <a:lnTo>
                    <a:pt x="297176" y="50292"/>
                  </a:lnTo>
                  <a:close/>
                </a:path>
                <a:path w="382905" h="190500">
                  <a:moveTo>
                    <a:pt x="18288" y="68580"/>
                  </a:moveTo>
                  <a:lnTo>
                    <a:pt x="18288" y="59436"/>
                  </a:lnTo>
                  <a:lnTo>
                    <a:pt x="9144" y="68580"/>
                  </a:lnTo>
                  <a:lnTo>
                    <a:pt x="18288" y="68580"/>
                  </a:lnTo>
                  <a:close/>
                </a:path>
                <a:path w="382905" h="190500">
                  <a:moveTo>
                    <a:pt x="18288" y="121920"/>
                  </a:moveTo>
                  <a:lnTo>
                    <a:pt x="18288" y="68580"/>
                  </a:lnTo>
                  <a:lnTo>
                    <a:pt x="9144" y="68580"/>
                  </a:lnTo>
                  <a:lnTo>
                    <a:pt x="9144" y="121920"/>
                  </a:lnTo>
                  <a:lnTo>
                    <a:pt x="18288" y="121920"/>
                  </a:lnTo>
                  <a:close/>
                </a:path>
                <a:path w="382905" h="190500">
                  <a:moveTo>
                    <a:pt x="306320" y="143605"/>
                  </a:moveTo>
                  <a:lnTo>
                    <a:pt x="306320" y="121920"/>
                  </a:lnTo>
                  <a:lnTo>
                    <a:pt x="9144" y="121920"/>
                  </a:lnTo>
                  <a:lnTo>
                    <a:pt x="18288" y="131064"/>
                  </a:lnTo>
                  <a:lnTo>
                    <a:pt x="18288" y="140208"/>
                  </a:lnTo>
                  <a:lnTo>
                    <a:pt x="288032" y="140208"/>
                  </a:lnTo>
                  <a:lnTo>
                    <a:pt x="288032" y="131064"/>
                  </a:lnTo>
                  <a:lnTo>
                    <a:pt x="297176" y="140208"/>
                  </a:lnTo>
                  <a:lnTo>
                    <a:pt x="297176" y="152558"/>
                  </a:lnTo>
                  <a:lnTo>
                    <a:pt x="306320" y="143605"/>
                  </a:lnTo>
                  <a:close/>
                </a:path>
                <a:path w="382905" h="190500">
                  <a:moveTo>
                    <a:pt x="18288" y="140208"/>
                  </a:moveTo>
                  <a:lnTo>
                    <a:pt x="18288" y="131064"/>
                  </a:lnTo>
                  <a:lnTo>
                    <a:pt x="9144" y="121920"/>
                  </a:lnTo>
                  <a:lnTo>
                    <a:pt x="9144" y="140208"/>
                  </a:lnTo>
                  <a:lnTo>
                    <a:pt x="18288" y="140208"/>
                  </a:lnTo>
                  <a:close/>
                </a:path>
                <a:path w="382905" h="190500">
                  <a:moveTo>
                    <a:pt x="382520" y="94488"/>
                  </a:moveTo>
                  <a:lnTo>
                    <a:pt x="288032" y="0"/>
                  </a:lnTo>
                  <a:lnTo>
                    <a:pt x="288032" y="50292"/>
                  </a:lnTo>
                  <a:lnTo>
                    <a:pt x="289556" y="50292"/>
                  </a:lnTo>
                  <a:lnTo>
                    <a:pt x="289556" y="30480"/>
                  </a:lnTo>
                  <a:lnTo>
                    <a:pt x="306320" y="22860"/>
                  </a:lnTo>
                  <a:lnTo>
                    <a:pt x="306320" y="46894"/>
                  </a:lnTo>
                  <a:lnTo>
                    <a:pt x="355705" y="95250"/>
                  </a:lnTo>
                  <a:lnTo>
                    <a:pt x="362708" y="88392"/>
                  </a:lnTo>
                  <a:lnTo>
                    <a:pt x="362708" y="114619"/>
                  </a:lnTo>
                  <a:lnTo>
                    <a:pt x="382520" y="94488"/>
                  </a:lnTo>
                  <a:close/>
                </a:path>
                <a:path w="382905" h="190500">
                  <a:moveTo>
                    <a:pt x="297176" y="68580"/>
                  </a:moveTo>
                  <a:lnTo>
                    <a:pt x="297176" y="50292"/>
                  </a:lnTo>
                  <a:lnTo>
                    <a:pt x="288032" y="59436"/>
                  </a:lnTo>
                  <a:lnTo>
                    <a:pt x="288032" y="68580"/>
                  </a:lnTo>
                  <a:lnTo>
                    <a:pt x="297176" y="68580"/>
                  </a:lnTo>
                  <a:close/>
                </a:path>
                <a:path w="382905" h="190500">
                  <a:moveTo>
                    <a:pt x="297176" y="140208"/>
                  </a:moveTo>
                  <a:lnTo>
                    <a:pt x="288032" y="131064"/>
                  </a:lnTo>
                  <a:lnTo>
                    <a:pt x="288032" y="140208"/>
                  </a:lnTo>
                  <a:lnTo>
                    <a:pt x="297176" y="140208"/>
                  </a:lnTo>
                  <a:close/>
                </a:path>
                <a:path w="382905" h="190500">
                  <a:moveTo>
                    <a:pt x="297176" y="152558"/>
                  </a:moveTo>
                  <a:lnTo>
                    <a:pt x="297176" y="140208"/>
                  </a:lnTo>
                  <a:lnTo>
                    <a:pt x="288032" y="140208"/>
                  </a:lnTo>
                  <a:lnTo>
                    <a:pt x="288032" y="190500"/>
                  </a:lnTo>
                  <a:lnTo>
                    <a:pt x="289556" y="188951"/>
                  </a:lnTo>
                  <a:lnTo>
                    <a:pt x="289556" y="160020"/>
                  </a:lnTo>
                  <a:lnTo>
                    <a:pt x="297176" y="152558"/>
                  </a:lnTo>
                  <a:close/>
                </a:path>
                <a:path w="382905" h="190500">
                  <a:moveTo>
                    <a:pt x="306320" y="46894"/>
                  </a:moveTo>
                  <a:lnTo>
                    <a:pt x="306320" y="22860"/>
                  </a:lnTo>
                  <a:lnTo>
                    <a:pt x="289556" y="30480"/>
                  </a:lnTo>
                  <a:lnTo>
                    <a:pt x="306320" y="46894"/>
                  </a:lnTo>
                  <a:close/>
                </a:path>
                <a:path w="382905" h="190500">
                  <a:moveTo>
                    <a:pt x="306320" y="68580"/>
                  </a:moveTo>
                  <a:lnTo>
                    <a:pt x="306320" y="46894"/>
                  </a:lnTo>
                  <a:lnTo>
                    <a:pt x="289556" y="30480"/>
                  </a:lnTo>
                  <a:lnTo>
                    <a:pt x="289556" y="50292"/>
                  </a:lnTo>
                  <a:lnTo>
                    <a:pt x="297176" y="50292"/>
                  </a:lnTo>
                  <a:lnTo>
                    <a:pt x="297176" y="68580"/>
                  </a:lnTo>
                  <a:lnTo>
                    <a:pt x="306320" y="68580"/>
                  </a:lnTo>
                  <a:close/>
                </a:path>
                <a:path w="382905" h="190500">
                  <a:moveTo>
                    <a:pt x="362708" y="114619"/>
                  </a:moveTo>
                  <a:lnTo>
                    <a:pt x="362708" y="102108"/>
                  </a:lnTo>
                  <a:lnTo>
                    <a:pt x="355705" y="95250"/>
                  </a:lnTo>
                  <a:lnTo>
                    <a:pt x="289556" y="160020"/>
                  </a:lnTo>
                  <a:lnTo>
                    <a:pt x="306320" y="167640"/>
                  </a:lnTo>
                  <a:lnTo>
                    <a:pt x="306320" y="171917"/>
                  </a:lnTo>
                  <a:lnTo>
                    <a:pt x="362708" y="114619"/>
                  </a:lnTo>
                  <a:close/>
                </a:path>
                <a:path w="382905" h="190500">
                  <a:moveTo>
                    <a:pt x="306320" y="171917"/>
                  </a:moveTo>
                  <a:lnTo>
                    <a:pt x="306320" y="167640"/>
                  </a:lnTo>
                  <a:lnTo>
                    <a:pt x="289556" y="160020"/>
                  </a:lnTo>
                  <a:lnTo>
                    <a:pt x="289556" y="188951"/>
                  </a:lnTo>
                  <a:lnTo>
                    <a:pt x="306320" y="171917"/>
                  </a:lnTo>
                  <a:close/>
                </a:path>
                <a:path w="382905" h="190500">
                  <a:moveTo>
                    <a:pt x="362708" y="102108"/>
                  </a:moveTo>
                  <a:lnTo>
                    <a:pt x="362708" y="88392"/>
                  </a:lnTo>
                  <a:lnTo>
                    <a:pt x="355705" y="95250"/>
                  </a:lnTo>
                  <a:lnTo>
                    <a:pt x="362708" y="102108"/>
                  </a:lnTo>
                  <a:close/>
                </a:path>
              </a:pathLst>
            </a:custGeom>
            <a:solidFill>
              <a:srgbClr val="6B84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021976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62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3304" rIns="0" bIns="0" rtlCol="0">
            <a:spAutoFit/>
          </a:bodyPr>
          <a:lstStyle/>
          <a:p>
            <a:pPr marL="381000">
              <a:lnSpc>
                <a:spcPct val="100000"/>
              </a:lnSpc>
              <a:spcBef>
                <a:spcPts val="100"/>
              </a:spcBef>
            </a:pPr>
            <a:r>
              <a:rPr spc="-370" dirty="0"/>
              <a:t>Constructeurs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63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49052" y="1845055"/>
            <a:ext cx="8074025" cy="5172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b="1" spc="-145" dirty="0">
                <a:solidFill>
                  <a:srgbClr val="C00000"/>
                </a:solidFill>
                <a:latin typeface="Arial"/>
                <a:cs typeface="Arial"/>
              </a:rPr>
              <a:t>Initialisation</a:t>
            </a:r>
            <a:r>
              <a:rPr sz="2900" spc="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900" b="1" spc="-295" dirty="0">
                <a:solidFill>
                  <a:srgbClr val="C00000"/>
                </a:solidFill>
                <a:latin typeface="Arial"/>
                <a:cs typeface="Arial"/>
              </a:rPr>
              <a:t>des</a:t>
            </a:r>
            <a:r>
              <a:rPr sz="2900" spc="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900" b="1" spc="-90" dirty="0">
                <a:solidFill>
                  <a:srgbClr val="C00000"/>
                </a:solidFill>
                <a:latin typeface="Arial"/>
                <a:cs typeface="Arial"/>
              </a:rPr>
              <a:t>attributs</a:t>
            </a:r>
            <a:endParaRPr sz="29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90"/>
              </a:spcBef>
            </a:pPr>
            <a:r>
              <a:rPr sz="2200" b="1" dirty="0">
                <a:solidFill>
                  <a:srgbClr val="926E00"/>
                </a:solidFill>
                <a:latin typeface="Times New Roman"/>
                <a:cs typeface="Times New Roman"/>
              </a:rPr>
              <a:t>Deuxième</a:t>
            </a:r>
            <a:r>
              <a:rPr sz="2200" b="1" spc="-50" dirty="0">
                <a:solidFill>
                  <a:srgbClr val="926E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926E00"/>
                </a:solidFill>
                <a:latin typeface="Times New Roman"/>
                <a:cs typeface="Times New Roman"/>
              </a:rPr>
              <a:t>solution</a:t>
            </a:r>
            <a:r>
              <a:rPr sz="2200" b="1" spc="-55" dirty="0">
                <a:solidFill>
                  <a:srgbClr val="926E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926E00"/>
                </a:solidFill>
                <a:latin typeface="Times New Roman"/>
                <a:cs typeface="Times New Roman"/>
              </a:rPr>
              <a:t>:</a:t>
            </a:r>
            <a:r>
              <a:rPr sz="2200" b="1" spc="-65" dirty="0">
                <a:solidFill>
                  <a:srgbClr val="926E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définir</a:t>
            </a:r>
            <a:r>
              <a:rPr sz="2200" b="1" spc="-8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une</a:t>
            </a:r>
            <a:r>
              <a:rPr sz="2200" b="1" spc="-6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méthode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dédiée</a:t>
            </a:r>
            <a:r>
              <a:rPr sz="2200" b="1" spc="-7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à</a:t>
            </a:r>
            <a:r>
              <a:rPr sz="2200" b="1" spc="-5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l’initialisation</a:t>
            </a:r>
            <a:r>
              <a:rPr sz="2200" b="1" spc="-6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des </a:t>
            </a:r>
            <a:r>
              <a:rPr sz="2200" spc="-10" dirty="0">
                <a:latin typeface="Times New Roman"/>
                <a:cs typeface="Times New Roman"/>
              </a:rPr>
              <a:t>attributs:</a:t>
            </a:r>
            <a:endParaRPr sz="2200">
              <a:latin typeface="Times New Roman"/>
              <a:cs typeface="Times New Roman"/>
            </a:endParaRPr>
          </a:p>
          <a:p>
            <a:pPr marL="317500" marR="5713730">
              <a:lnSpc>
                <a:spcPts val="2880"/>
              </a:lnSpc>
              <a:spcBef>
                <a:spcPts val="90"/>
              </a:spcBef>
            </a:pPr>
            <a:r>
              <a:rPr sz="2400" dirty="0">
                <a:solidFill>
                  <a:srgbClr val="001F5F"/>
                </a:solidFill>
                <a:latin typeface="Times New Roman"/>
                <a:cs typeface="Times New Roman"/>
              </a:rPr>
              <a:t>class</a:t>
            </a:r>
            <a:r>
              <a:rPr sz="2400" spc="-3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00B0F0"/>
                </a:solidFill>
                <a:latin typeface="Times New Roman"/>
                <a:cs typeface="Times New Roman"/>
              </a:rPr>
              <a:t>Rectangle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{ </a:t>
            </a:r>
            <a:r>
              <a:rPr sz="2400" spc="-10" dirty="0">
                <a:solidFill>
                  <a:srgbClr val="FF0065"/>
                </a:solidFill>
                <a:latin typeface="Times New Roman"/>
                <a:cs typeface="Times New Roman"/>
              </a:rPr>
              <a:t>public:</a:t>
            </a:r>
            <a:endParaRPr sz="2400">
              <a:latin typeface="Times New Roman"/>
              <a:cs typeface="Times New Roman"/>
            </a:endParaRPr>
          </a:p>
          <a:p>
            <a:pPr marL="927100" marR="4075429" indent="-609600">
              <a:lnSpc>
                <a:spcPts val="2880"/>
              </a:lnSpc>
            </a:pPr>
            <a:r>
              <a:rPr sz="2400" dirty="0">
                <a:solidFill>
                  <a:srgbClr val="001F5F"/>
                </a:solidFill>
                <a:latin typeface="Times New Roman"/>
                <a:cs typeface="Times New Roman"/>
              </a:rPr>
              <a:t>void</a:t>
            </a:r>
            <a:r>
              <a:rPr sz="2400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init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40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400" spc="-4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 </a:t>
            </a:r>
            <a:r>
              <a:rPr sz="240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400" spc="-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L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){ </a:t>
            </a:r>
            <a:r>
              <a:rPr sz="2400" dirty="0">
                <a:latin typeface="Times New Roman"/>
                <a:cs typeface="Times New Roman"/>
              </a:rPr>
              <a:t>hauteur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h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  <a:p>
            <a:pPr marL="927100">
              <a:lnSpc>
                <a:spcPts val="2785"/>
              </a:lnSpc>
            </a:pPr>
            <a:r>
              <a:rPr sz="2400" dirty="0">
                <a:latin typeface="Times New Roman"/>
                <a:cs typeface="Times New Roman"/>
              </a:rPr>
              <a:t>largeur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4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L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sz="2400" spc="-5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...</a:t>
            </a:r>
            <a:endParaRPr sz="2400">
              <a:latin typeface="Times New Roman"/>
              <a:cs typeface="Times New Roman"/>
            </a:endParaRPr>
          </a:p>
          <a:p>
            <a:pPr marL="165100">
              <a:lnSpc>
                <a:spcPct val="100000"/>
              </a:lnSpc>
            </a:pPr>
            <a:r>
              <a:rPr sz="2400" spc="-10" dirty="0">
                <a:solidFill>
                  <a:srgbClr val="FF0065"/>
                </a:solidFill>
                <a:latin typeface="Times New Roman"/>
                <a:cs typeface="Times New Roman"/>
              </a:rPr>
              <a:t>private:</a:t>
            </a:r>
            <a:endParaRPr sz="2400">
              <a:latin typeface="Times New Roman"/>
              <a:cs typeface="Times New Roman"/>
            </a:endParaRPr>
          </a:p>
          <a:p>
            <a:pPr marL="165100" marR="5995035">
              <a:lnSpc>
                <a:spcPct val="100000"/>
              </a:lnSpc>
            </a:pPr>
            <a:r>
              <a:rPr sz="240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400" spc="-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hauteur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240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400" spc="-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largeur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</a:pP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};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21976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63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3304" rIns="0" bIns="0" rtlCol="0">
            <a:spAutoFit/>
          </a:bodyPr>
          <a:lstStyle/>
          <a:p>
            <a:pPr marL="381000">
              <a:lnSpc>
                <a:spcPct val="100000"/>
              </a:lnSpc>
              <a:spcBef>
                <a:spcPts val="100"/>
              </a:spcBef>
            </a:pPr>
            <a:r>
              <a:rPr spc="-370" dirty="0"/>
              <a:t>Constructeurs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64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61016" y="1855723"/>
            <a:ext cx="8609330" cy="2190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017905" indent="-342900">
              <a:lnSpc>
                <a:spcPct val="100000"/>
              </a:lnSpc>
              <a:spcBef>
                <a:spcPts val="100"/>
              </a:spcBef>
              <a:buClr>
                <a:srgbClr val="006FC0"/>
              </a:buClr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Pour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faire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initialisations,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il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existe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B0F0"/>
                </a:solidFill>
                <a:latin typeface="Times New Roman"/>
                <a:cs typeface="Times New Roman"/>
              </a:rPr>
              <a:t>C++</a:t>
            </a:r>
            <a:r>
              <a:rPr sz="2400" b="1" spc="-40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méthodes </a:t>
            </a:r>
            <a:r>
              <a:rPr sz="2400" dirty="0">
                <a:latin typeface="Times New Roman"/>
                <a:cs typeface="Times New Roman"/>
              </a:rPr>
              <a:t>particulières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appelées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constructeurs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Clr>
                <a:srgbClr val="006FC0"/>
              </a:buClr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Un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constructeur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méthode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571500" lvl="1" indent="-215900">
              <a:lnSpc>
                <a:spcPct val="100000"/>
              </a:lnSpc>
              <a:spcBef>
                <a:spcPts val="100"/>
              </a:spcBef>
              <a:buClr>
                <a:srgbClr val="006FC0"/>
              </a:buClr>
              <a:buSzPct val="104347"/>
              <a:buFont typeface="Wingdings"/>
              <a:buChar char=""/>
              <a:tabLst>
                <a:tab pos="571500" algn="l"/>
              </a:tabLst>
            </a:pPr>
            <a:r>
              <a:rPr sz="2300" dirty="0">
                <a:latin typeface="Times New Roman"/>
                <a:cs typeface="Times New Roman"/>
              </a:rPr>
              <a:t>invoquée</a:t>
            </a:r>
            <a:r>
              <a:rPr sz="2300" spc="-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automatiquement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lors</a:t>
            </a:r>
            <a:r>
              <a:rPr sz="2300" spc="-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de</a:t>
            </a:r>
            <a:r>
              <a:rPr sz="2300" spc="-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la</a:t>
            </a:r>
            <a:r>
              <a:rPr sz="2300" spc="-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déclaration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d’un</a:t>
            </a:r>
            <a:r>
              <a:rPr sz="2300" spc="-6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objet;</a:t>
            </a:r>
            <a:endParaRPr sz="2300">
              <a:latin typeface="Times New Roman"/>
              <a:cs typeface="Times New Roman"/>
            </a:endParaRPr>
          </a:p>
          <a:p>
            <a:pPr marL="561340" marR="5080" lvl="1" indent="-206375">
              <a:lnSpc>
                <a:spcPct val="100000"/>
              </a:lnSpc>
              <a:spcBef>
                <a:spcPts val="20"/>
              </a:spcBef>
              <a:buClr>
                <a:srgbClr val="006FC0"/>
              </a:buClr>
              <a:buFont typeface="Wingdings"/>
              <a:buChar char=""/>
              <a:tabLst>
                <a:tab pos="574675" algn="l"/>
              </a:tabLst>
            </a:pPr>
            <a:r>
              <a:rPr sz="2300" dirty="0">
                <a:latin typeface="Times New Roman"/>
                <a:cs typeface="Times New Roman"/>
              </a:rPr>
              <a:t>chargée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d’effectuer</a:t>
            </a:r>
            <a:r>
              <a:rPr sz="2300" spc="-7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toutes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les</a:t>
            </a:r>
            <a:r>
              <a:rPr sz="2300" spc="-4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opérations</a:t>
            </a:r>
            <a:r>
              <a:rPr sz="2300" spc="-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requises</a:t>
            </a:r>
            <a:r>
              <a:rPr sz="2300" spc="-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en</a:t>
            </a:r>
            <a:r>
              <a:rPr sz="2300" spc="-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«</a:t>
            </a:r>
            <a:r>
              <a:rPr sz="2300" spc="-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début</a:t>
            </a:r>
            <a:r>
              <a:rPr sz="2300" spc="-4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de</a:t>
            </a:r>
            <a:r>
              <a:rPr sz="2300" spc="-4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vie</a:t>
            </a:r>
            <a:r>
              <a:rPr sz="2300" spc="-45" dirty="0">
                <a:latin typeface="Times New Roman"/>
                <a:cs typeface="Times New Roman"/>
              </a:rPr>
              <a:t> </a:t>
            </a:r>
            <a:r>
              <a:rPr sz="2300" spc="-50" dirty="0">
                <a:latin typeface="Times New Roman"/>
                <a:cs typeface="Times New Roman"/>
              </a:rPr>
              <a:t>» 	</a:t>
            </a:r>
            <a:r>
              <a:rPr sz="2300" dirty="0">
                <a:latin typeface="Times New Roman"/>
                <a:cs typeface="Times New Roman"/>
              </a:rPr>
              <a:t>de</a:t>
            </a:r>
            <a:r>
              <a:rPr sz="2300" spc="-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l’objet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(dont</a:t>
            </a:r>
            <a:r>
              <a:rPr sz="2300" spc="-4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l’initialisation</a:t>
            </a:r>
            <a:r>
              <a:rPr sz="2300" spc="-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des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attributs).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21976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64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3304" rIns="0" bIns="0" rtlCol="0">
            <a:spAutoFit/>
          </a:bodyPr>
          <a:lstStyle/>
          <a:p>
            <a:pPr marL="381000">
              <a:lnSpc>
                <a:spcPct val="100000"/>
              </a:lnSpc>
              <a:spcBef>
                <a:spcPts val="100"/>
              </a:spcBef>
            </a:pPr>
            <a:r>
              <a:rPr spc="-370" dirty="0"/>
              <a:t>Constructeurs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65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0848" y="1854199"/>
            <a:ext cx="7152005" cy="44773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006FC0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Syntaxe</a:t>
            </a:r>
            <a:r>
              <a:rPr sz="2800" b="1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de</a:t>
            </a:r>
            <a:r>
              <a:rPr sz="28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base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2400" b="1" spc="-10" dirty="0">
                <a:solidFill>
                  <a:srgbClr val="00B0F0"/>
                </a:solidFill>
                <a:latin typeface="Times New Roman"/>
                <a:cs typeface="Times New Roman"/>
              </a:rPr>
              <a:t>NomDeLaClasse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400" spc="-10" dirty="0">
                <a:latin typeface="Times New Roman"/>
                <a:cs typeface="Times New Roman"/>
              </a:rPr>
              <a:t>liste_des_paramètres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50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25" dirty="0">
                <a:solidFill>
                  <a:srgbClr val="00B04F"/>
                </a:solidFill>
                <a:latin typeface="Times New Roman"/>
                <a:cs typeface="Times New Roman"/>
              </a:rPr>
              <a:t>/*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00B04F"/>
                </a:solidFill>
                <a:latin typeface="Times New Roman"/>
                <a:cs typeface="Times New Roman"/>
              </a:rPr>
              <a:t>initialisation</a:t>
            </a:r>
            <a:r>
              <a:rPr sz="2400" spc="-6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B04F"/>
                </a:solidFill>
                <a:latin typeface="Times New Roman"/>
                <a:cs typeface="Times New Roman"/>
              </a:rPr>
              <a:t>des</a:t>
            </a:r>
            <a:r>
              <a:rPr sz="2400" spc="-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B04F"/>
                </a:solidFill>
                <a:latin typeface="Times New Roman"/>
                <a:cs typeface="Times New Roman"/>
              </a:rPr>
              <a:t>attributs</a:t>
            </a:r>
            <a:r>
              <a:rPr sz="2400" spc="-5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B04F"/>
                </a:solidFill>
                <a:latin typeface="Times New Roman"/>
                <a:cs typeface="Times New Roman"/>
              </a:rPr>
              <a:t>en</a:t>
            </a:r>
            <a:r>
              <a:rPr sz="2400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B04F"/>
                </a:solidFill>
                <a:latin typeface="Times New Roman"/>
                <a:cs typeface="Times New Roman"/>
              </a:rPr>
              <a:t>utilisant</a:t>
            </a:r>
            <a:r>
              <a:rPr sz="2400" spc="-6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00B04F"/>
                </a:solidFill>
                <a:latin typeface="Times New Roman"/>
                <a:cs typeface="Times New Roman"/>
              </a:rPr>
              <a:t>liste_des_paramètres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25" dirty="0">
                <a:solidFill>
                  <a:srgbClr val="00B04F"/>
                </a:solidFill>
                <a:latin typeface="Times New Roman"/>
                <a:cs typeface="Times New Roman"/>
              </a:rPr>
              <a:t>*/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5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Exemple:</a:t>
            </a:r>
            <a:endParaRPr sz="2400">
              <a:latin typeface="Times New Roman"/>
              <a:cs typeface="Times New Roman"/>
            </a:endParaRPr>
          </a:p>
          <a:p>
            <a:pPr marL="12700" marR="3264535">
              <a:lnSpc>
                <a:spcPct val="100000"/>
              </a:lnSpc>
            </a:pPr>
            <a:r>
              <a:rPr sz="2400" dirty="0">
                <a:solidFill>
                  <a:srgbClr val="00B0F0"/>
                </a:solidFill>
                <a:latin typeface="Times New Roman"/>
                <a:cs typeface="Times New Roman"/>
              </a:rPr>
              <a:t>Rectangle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40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400" spc="-5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400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L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){ </a:t>
            </a:r>
            <a:r>
              <a:rPr sz="2400" dirty="0">
                <a:latin typeface="Times New Roman"/>
                <a:cs typeface="Times New Roman"/>
              </a:rPr>
              <a:t>hauteur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h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largeur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4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L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5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21976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65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3304" rIns="0" bIns="0" rtlCol="0">
            <a:spAutoFit/>
          </a:bodyPr>
          <a:lstStyle/>
          <a:p>
            <a:pPr marL="381000">
              <a:lnSpc>
                <a:spcPct val="100000"/>
              </a:lnSpc>
              <a:spcBef>
                <a:spcPts val="100"/>
              </a:spcBef>
            </a:pPr>
            <a:r>
              <a:rPr spc="-370" dirty="0"/>
              <a:t>Constructeurs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66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4272" y="1855723"/>
            <a:ext cx="8828405" cy="2951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49225" indent="-342900">
              <a:lnSpc>
                <a:spcPct val="100000"/>
              </a:lnSpc>
              <a:spcBef>
                <a:spcPts val="100"/>
              </a:spcBef>
              <a:buClr>
                <a:srgbClr val="006FC0"/>
              </a:buClr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Un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constructeur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sorte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méthode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qui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sera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invoquée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lors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de </a:t>
            </a: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création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d’un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objet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cette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classe.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Clr>
                <a:srgbClr val="006FC0"/>
              </a:buClr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Un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constructeur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doit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porter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nom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de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la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classe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doit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pas</a:t>
            </a:r>
            <a:endParaRPr sz="24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comporter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de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type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de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retour</a:t>
            </a:r>
            <a:r>
              <a:rPr sz="2400" b="1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(pas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même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void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dans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déclaration.</a:t>
            </a:r>
            <a:endParaRPr sz="2400">
              <a:latin typeface="Times New Roman"/>
              <a:cs typeface="Times New Roman"/>
            </a:endParaRPr>
          </a:p>
          <a:p>
            <a:pPr marL="355600" marR="868680" indent="-342900">
              <a:lnSpc>
                <a:spcPct val="100000"/>
              </a:lnSpc>
              <a:buClr>
                <a:srgbClr val="006FC0"/>
              </a:buClr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Un </a:t>
            </a:r>
            <a:r>
              <a:rPr sz="2400" b="1" spc="-10" dirty="0">
                <a:latin typeface="Times New Roman"/>
                <a:cs typeface="Times New Roman"/>
              </a:rPr>
              <a:t>constructeur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sera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invoqué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automatiquement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à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chaque</a:t>
            </a:r>
            <a:r>
              <a:rPr sz="2400" spc="-20" dirty="0">
                <a:latin typeface="Times New Roman"/>
                <a:cs typeface="Times New Roman"/>
              </a:rPr>
              <a:t> fois </a:t>
            </a:r>
            <a:r>
              <a:rPr sz="2400" dirty="0">
                <a:latin typeface="Times New Roman"/>
                <a:cs typeface="Times New Roman"/>
              </a:rPr>
              <a:t>qu’une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instance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créée.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buClr>
                <a:srgbClr val="006FC0"/>
              </a:buClr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Le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constructeur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d’</a:t>
            </a:r>
            <a:r>
              <a:rPr sz="2400" b="1" spc="-10" dirty="0">
                <a:latin typeface="Times New Roman"/>
                <a:cs typeface="Times New Roman"/>
              </a:rPr>
              <a:t>initialiser</a:t>
            </a:r>
            <a:r>
              <a:rPr sz="2400" b="1" spc="-10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l’objet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(notamment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valeur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champs).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21976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66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3304" rIns="0" bIns="0" rtlCol="0">
            <a:spAutoFit/>
          </a:bodyPr>
          <a:lstStyle/>
          <a:p>
            <a:pPr marL="381000">
              <a:lnSpc>
                <a:spcPct val="100000"/>
              </a:lnSpc>
              <a:spcBef>
                <a:spcPts val="100"/>
              </a:spcBef>
            </a:pPr>
            <a:r>
              <a:rPr spc="-370" dirty="0"/>
              <a:t>Constructeurs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67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4272" y="1855723"/>
            <a:ext cx="8509635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006FC0"/>
              </a:buClr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Comme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autres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méthodes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626110" lvl="1" indent="-346710">
              <a:lnSpc>
                <a:spcPct val="100000"/>
              </a:lnSpc>
              <a:buClr>
                <a:srgbClr val="006FC0"/>
              </a:buClr>
              <a:buFont typeface="Wingdings"/>
              <a:buChar char=""/>
              <a:tabLst>
                <a:tab pos="626110" algn="l"/>
              </a:tabLst>
            </a:pPr>
            <a:r>
              <a:rPr sz="2400" dirty="0">
                <a:latin typeface="Times New Roman"/>
                <a:cs typeface="Times New Roman"/>
              </a:rPr>
              <a:t>les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constructeurs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peuvent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être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surchargés</a:t>
            </a:r>
            <a:endParaRPr sz="2400">
              <a:latin typeface="Times New Roman"/>
              <a:cs typeface="Times New Roman"/>
            </a:endParaRPr>
          </a:p>
          <a:p>
            <a:pPr marL="626110" lvl="1" indent="-346710">
              <a:lnSpc>
                <a:spcPct val="100000"/>
              </a:lnSpc>
              <a:buClr>
                <a:srgbClr val="006FC0"/>
              </a:buClr>
              <a:buFont typeface="Wingdings"/>
              <a:buChar char=""/>
              <a:tabLst>
                <a:tab pos="626110" algn="l"/>
              </a:tabLst>
            </a:pP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peut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donner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valeurs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par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défaut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à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leurs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paramètres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buClr>
                <a:srgbClr val="006FC0"/>
              </a:buClr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Une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classe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peut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donc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avoir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plusieurs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constructeurs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pour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peu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que </a:t>
            </a:r>
            <a:r>
              <a:rPr sz="2400" dirty="0">
                <a:latin typeface="Times New Roman"/>
                <a:cs typeface="Times New Roman"/>
              </a:rPr>
              <a:t>leur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liste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paramètres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soit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différente.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21976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67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4912" rIns="0" bIns="0" rtlCol="0">
            <a:spAutoFit/>
          </a:bodyPr>
          <a:lstStyle/>
          <a:p>
            <a:pPr marL="381000">
              <a:lnSpc>
                <a:spcPct val="100000"/>
              </a:lnSpc>
              <a:spcBef>
                <a:spcPts val="100"/>
              </a:spcBef>
            </a:pPr>
            <a:r>
              <a:rPr spc="-370" dirty="0"/>
              <a:t>Constructeurs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5900" y="1821889"/>
            <a:ext cx="8439785" cy="4107179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Initialisation</a:t>
            </a:r>
            <a:r>
              <a:rPr sz="2800" b="1" spc="-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par</a:t>
            </a:r>
            <a:r>
              <a:rPr sz="2800" b="1" spc="-10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constructeur</a:t>
            </a:r>
            <a:endParaRPr sz="2800">
              <a:latin typeface="Times New Roman"/>
              <a:cs typeface="Times New Roman"/>
            </a:endParaRPr>
          </a:p>
          <a:p>
            <a:pPr marL="332740" marR="5080" indent="-320040">
              <a:lnSpc>
                <a:spcPct val="100000"/>
              </a:lnSpc>
              <a:spcBef>
                <a:spcPts val="710"/>
              </a:spcBef>
              <a:buClr>
                <a:srgbClr val="006FC0"/>
              </a:buClr>
              <a:buSzPct val="58333"/>
              <a:buFont typeface="Wingdings"/>
              <a:buChar char=""/>
              <a:tabLst>
                <a:tab pos="332740" algn="l"/>
              </a:tabLst>
            </a:pP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création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d'une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instance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(objet)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simple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répond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à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syntaxe </a:t>
            </a:r>
            <a:r>
              <a:rPr sz="2400" dirty="0">
                <a:latin typeface="Times New Roman"/>
                <a:cs typeface="Times New Roman"/>
              </a:rPr>
              <a:t>suivante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Syntaxe</a:t>
            </a:r>
            <a:r>
              <a:rPr sz="240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2400" b="1" dirty="0">
                <a:solidFill>
                  <a:srgbClr val="0091FE"/>
                </a:solidFill>
                <a:latin typeface="Times New Roman"/>
                <a:cs typeface="Times New Roman"/>
              </a:rPr>
              <a:t>NomDeLaClasse</a:t>
            </a:r>
            <a:r>
              <a:rPr sz="2400" b="1" spc="-40" dirty="0">
                <a:solidFill>
                  <a:srgbClr val="0091FE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6F2FA0"/>
                </a:solidFill>
                <a:latin typeface="Times New Roman"/>
                <a:cs typeface="Times New Roman"/>
              </a:rPr>
              <a:t>nom_instance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400" spc="-10" dirty="0">
                <a:solidFill>
                  <a:srgbClr val="FF32CC"/>
                </a:solidFill>
                <a:latin typeface="Times New Roman"/>
                <a:cs typeface="Times New Roman"/>
              </a:rPr>
              <a:t>arg1,</a:t>
            </a:r>
            <a:r>
              <a:rPr sz="2400" spc="-75" dirty="0">
                <a:solidFill>
                  <a:srgbClr val="FF32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...,</a:t>
            </a:r>
            <a:r>
              <a:rPr sz="2400" spc="-45" dirty="0">
                <a:solidFill>
                  <a:srgbClr val="FF32CC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32CC"/>
                </a:solidFill>
                <a:latin typeface="Times New Roman"/>
                <a:cs typeface="Times New Roman"/>
              </a:rPr>
              <a:t>argN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);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2400" dirty="0">
                <a:latin typeface="Times New Roman"/>
                <a:cs typeface="Times New Roman"/>
              </a:rPr>
              <a:t>où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arg1,</a:t>
            </a:r>
            <a:r>
              <a:rPr sz="2400" spc="-30" dirty="0">
                <a:solidFill>
                  <a:srgbClr val="FF32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...,</a:t>
            </a:r>
            <a:r>
              <a:rPr sz="2400" spc="-25" dirty="0">
                <a:solidFill>
                  <a:srgbClr val="FF32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argN</a:t>
            </a:r>
            <a:r>
              <a:rPr sz="2400" spc="-35" dirty="0">
                <a:solidFill>
                  <a:srgbClr val="FF32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sont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valeurs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arguments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du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constructeur.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25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Exemple</a:t>
            </a:r>
            <a:r>
              <a:rPr sz="24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2400" b="1" dirty="0">
                <a:solidFill>
                  <a:srgbClr val="0091FE"/>
                </a:solidFill>
                <a:latin typeface="Times New Roman"/>
                <a:cs typeface="Times New Roman"/>
              </a:rPr>
              <a:t>Rectangle</a:t>
            </a:r>
            <a:r>
              <a:rPr sz="2400" b="1" spc="-30" dirty="0">
                <a:solidFill>
                  <a:srgbClr val="0091FE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6F2FA0"/>
                </a:solidFill>
                <a:latin typeface="Times New Roman"/>
                <a:cs typeface="Times New Roman"/>
              </a:rPr>
              <a:t>r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18.0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5.3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);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400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B04F"/>
                </a:solidFill>
                <a:latin typeface="Times New Roman"/>
                <a:cs typeface="Times New Roman"/>
              </a:rPr>
              <a:t>invocation</a:t>
            </a:r>
            <a:r>
              <a:rPr sz="2400" spc="-5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B04F"/>
                </a:solidFill>
                <a:latin typeface="Times New Roman"/>
                <a:cs typeface="Times New Roman"/>
              </a:rPr>
              <a:t>du</a:t>
            </a:r>
            <a:r>
              <a:rPr sz="2400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B04F"/>
                </a:solidFill>
                <a:latin typeface="Times New Roman"/>
                <a:cs typeface="Times New Roman"/>
              </a:rPr>
              <a:t>constructeur</a:t>
            </a:r>
            <a:r>
              <a:rPr sz="2400" spc="-6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B04F"/>
                </a:solidFill>
                <a:latin typeface="Times New Roman"/>
                <a:cs typeface="Times New Roman"/>
              </a:rPr>
              <a:t>à</a:t>
            </a:r>
            <a:r>
              <a:rPr sz="2400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B04F"/>
                </a:solidFill>
                <a:latin typeface="Times New Roman"/>
                <a:cs typeface="Times New Roman"/>
              </a:rPr>
              <a:t>2</a:t>
            </a:r>
            <a:r>
              <a:rPr sz="2400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00B04F"/>
                </a:solidFill>
                <a:latin typeface="Times New Roman"/>
                <a:cs typeface="Times New Roman"/>
              </a:rPr>
              <a:t>paramètres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68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21976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68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3304" rIns="0" bIns="0" rtlCol="0">
            <a:spAutoFit/>
          </a:bodyPr>
          <a:lstStyle/>
          <a:p>
            <a:pPr marL="381000">
              <a:lnSpc>
                <a:spcPct val="100000"/>
              </a:lnSpc>
              <a:spcBef>
                <a:spcPts val="100"/>
              </a:spcBef>
            </a:pPr>
            <a:r>
              <a:rPr spc="-250" dirty="0"/>
              <a:t>Instanciation</a:t>
            </a:r>
            <a:r>
              <a:rPr b="0" spc="100" dirty="0">
                <a:latin typeface="Times New Roman"/>
                <a:cs typeface="Times New Roman"/>
              </a:rPr>
              <a:t> </a:t>
            </a:r>
            <a:r>
              <a:rPr spc="-360" dirty="0"/>
              <a:t>des</a:t>
            </a:r>
            <a:r>
              <a:rPr b="0" spc="70" dirty="0">
                <a:latin typeface="Times New Roman"/>
                <a:cs typeface="Times New Roman"/>
              </a:rPr>
              <a:t> </a:t>
            </a:r>
            <a:r>
              <a:rPr spc="-300" dirty="0"/>
              <a:t>objets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69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50581" y="1840483"/>
            <a:ext cx="4799965" cy="529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Exemple</a:t>
            </a:r>
            <a:r>
              <a:rPr sz="24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(1/2):</a:t>
            </a:r>
            <a:endParaRPr sz="2400">
              <a:latin typeface="Times New Roman"/>
              <a:cs typeface="Times New Roman"/>
            </a:endParaRPr>
          </a:p>
          <a:p>
            <a:pPr marL="85725" marR="2680335">
              <a:lnSpc>
                <a:spcPct val="100000"/>
              </a:lnSpc>
            </a:pPr>
            <a:r>
              <a:rPr sz="2300" dirty="0">
                <a:solidFill>
                  <a:srgbClr val="001F5F"/>
                </a:solidFill>
                <a:latin typeface="Times New Roman"/>
                <a:cs typeface="Times New Roman"/>
              </a:rPr>
              <a:t>class</a:t>
            </a:r>
            <a:r>
              <a:rPr sz="2300" spc="-6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0B0F0"/>
                </a:solidFill>
                <a:latin typeface="Times New Roman"/>
                <a:cs typeface="Times New Roman"/>
              </a:rPr>
              <a:t>Rectangle</a:t>
            </a:r>
            <a:r>
              <a:rPr sz="2300" spc="-55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300" spc="-50" dirty="0">
                <a:solidFill>
                  <a:srgbClr val="FF0000"/>
                </a:solidFill>
                <a:latin typeface="Times New Roman"/>
                <a:cs typeface="Times New Roman"/>
              </a:rPr>
              <a:t>{ </a:t>
            </a:r>
            <a:r>
              <a:rPr sz="2300" spc="-10" dirty="0">
                <a:solidFill>
                  <a:srgbClr val="FF0065"/>
                </a:solidFill>
                <a:latin typeface="Times New Roman"/>
                <a:cs typeface="Times New Roman"/>
              </a:rPr>
              <a:t>public:</a:t>
            </a:r>
            <a:endParaRPr sz="2300">
              <a:latin typeface="Times New Roman"/>
              <a:cs typeface="Times New Roman"/>
            </a:endParaRPr>
          </a:p>
          <a:p>
            <a:pPr marL="85725" marR="995044">
              <a:lnSpc>
                <a:spcPct val="100000"/>
              </a:lnSpc>
            </a:pPr>
            <a:r>
              <a:rPr sz="2300" dirty="0">
                <a:solidFill>
                  <a:srgbClr val="00B0F0"/>
                </a:solidFill>
                <a:latin typeface="Times New Roman"/>
                <a:cs typeface="Times New Roman"/>
              </a:rPr>
              <a:t>Rectangle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30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300" spc="-3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h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3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300" spc="-4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300" spc="-25" dirty="0">
                <a:latin typeface="Times New Roman"/>
                <a:cs typeface="Times New Roman"/>
              </a:rPr>
              <a:t>L</a:t>
            </a:r>
            <a:r>
              <a:rPr sz="2300" spc="-25" dirty="0">
                <a:solidFill>
                  <a:srgbClr val="FF0000"/>
                </a:solidFill>
                <a:latin typeface="Times New Roman"/>
                <a:cs typeface="Times New Roman"/>
              </a:rPr>
              <a:t>){ </a:t>
            </a:r>
            <a:r>
              <a:rPr sz="2300" dirty="0">
                <a:latin typeface="Times New Roman"/>
                <a:cs typeface="Times New Roman"/>
              </a:rPr>
              <a:t>m_hauteur</a:t>
            </a:r>
            <a:r>
              <a:rPr sz="2300" spc="-30" dirty="0"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3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spc="-35" dirty="0">
                <a:latin typeface="Times New Roman"/>
                <a:cs typeface="Times New Roman"/>
              </a:rPr>
              <a:t>h</a:t>
            </a:r>
            <a:r>
              <a:rPr sz="2300" spc="-3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300">
              <a:latin typeface="Times New Roman"/>
              <a:cs typeface="Times New Roman"/>
            </a:endParaRPr>
          </a:p>
          <a:p>
            <a:pPr marL="85725">
              <a:lnSpc>
                <a:spcPct val="100000"/>
              </a:lnSpc>
            </a:pPr>
            <a:r>
              <a:rPr sz="2300" dirty="0">
                <a:latin typeface="Times New Roman"/>
                <a:cs typeface="Times New Roman"/>
              </a:rPr>
              <a:t>m_largeur</a:t>
            </a:r>
            <a:r>
              <a:rPr sz="2300" spc="-65" dirty="0"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3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spc="-25" dirty="0">
                <a:latin typeface="Times New Roman"/>
                <a:cs typeface="Times New Roman"/>
              </a:rPr>
              <a:t>L</a:t>
            </a:r>
            <a:r>
              <a:rPr sz="2300" spc="-2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300">
              <a:latin typeface="Times New Roman"/>
              <a:cs typeface="Times New Roman"/>
            </a:endParaRPr>
          </a:p>
          <a:p>
            <a:pPr marL="85725">
              <a:lnSpc>
                <a:spcPct val="100000"/>
              </a:lnSpc>
            </a:pPr>
            <a:r>
              <a:rPr sz="2300" spc="-5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300">
              <a:latin typeface="Times New Roman"/>
              <a:cs typeface="Times New Roman"/>
            </a:endParaRPr>
          </a:p>
          <a:p>
            <a:pPr marL="85725">
              <a:lnSpc>
                <a:spcPct val="100000"/>
              </a:lnSpc>
            </a:pPr>
            <a:r>
              <a:rPr sz="230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300" spc="-4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surface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()</a:t>
            </a:r>
            <a:r>
              <a:rPr sz="23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spc="-10" dirty="0">
                <a:solidFill>
                  <a:srgbClr val="001F5F"/>
                </a:solidFill>
                <a:latin typeface="Times New Roman"/>
                <a:cs typeface="Times New Roman"/>
              </a:rPr>
              <a:t>const</a:t>
            </a:r>
            <a:r>
              <a:rPr sz="2300" spc="-10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endParaRPr sz="2300">
              <a:latin typeface="Times New Roman"/>
              <a:cs typeface="Times New Roman"/>
            </a:endParaRPr>
          </a:p>
          <a:p>
            <a:pPr marL="85725">
              <a:lnSpc>
                <a:spcPct val="100000"/>
              </a:lnSpc>
            </a:pPr>
            <a:r>
              <a:rPr sz="2300" dirty="0">
                <a:solidFill>
                  <a:srgbClr val="001F5F"/>
                </a:solidFill>
                <a:latin typeface="Times New Roman"/>
                <a:cs typeface="Times New Roman"/>
              </a:rPr>
              <a:t>return</a:t>
            </a:r>
            <a:r>
              <a:rPr sz="2300" spc="-6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m_hauteur</a:t>
            </a:r>
            <a:r>
              <a:rPr sz="2300" spc="-30" dirty="0"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*</a:t>
            </a:r>
            <a:r>
              <a:rPr sz="23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m_largeur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r>
              <a:rPr sz="23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spc="-5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300">
              <a:latin typeface="Times New Roman"/>
              <a:cs typeface="Times New Roman"/>
            </a:endParaRPr>
          </a:p>
          <a:p>
            <a:pPr marL="85725">
              <a:lnSpc>
                <a:spcPct val="100000"/>
              </a:lnSpc>
            </a:pPr>
            <a:r>
              <a:rPr sz="2300" dirty="0">
                <a:solidFill>
                  <a:srgbClr val="00B04F"/>
                </a:solidFill>
                <a:latin typeface="Times New Roman"/>
                <a:cs typeface="Times New Roman"/>
              </a:rPr>
              <a:t>// </a:t>
            </a:r>
            <a:r>
              <a:rPr sz="2300" spc="-10" dirty="0">
                <a:solidFill>
                  <a:srgbClr val="00B04F"/>
                </a:solidFill>
                <a:latin typeface="Times New Roman"/>
                <a:cs typeface="Times New Roman"/>
              </a:rPr>
              <a:t>accesseurs/modificateurs</a:t>
            </a:r>
            <a:r>
              <a:rPr sz="2300" spc="5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0B04F"/>
                </a:solidFill>
                <a:latin typeface="Times New Roman"/>
                <a:cs typeface="Times New Roman"/>
              </a:rPr>
              <a:t>si</a:t>
            </a:r>
            <a:r>
              <a:rPr sz="2300" spc="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300" spc="-10" dirty="0">
                <a:solidFill>
                  <a:srgbClr val="00B04F"/>
                </a:solidFill>
                <a:latin typeface="Times New Roman"/>
                <a:cs typeface="Times New Roman"/>
              </a:rPr>
              <a:t>nécessaire</a:t>
            </a:r>
            <a:endParaRPr sz="2300">
              <a:latin typeface="Times New Roman"/>
              <a:cs typeface="Times New Roman"/>
            </a:endParaRPr>
          </a:p>
          <a:p>
            <a:pPr marL="85725" marR="3813810">
              <a:lnSpc>
                <a:spcPct val="100000"/>
              </a:lnSpc>
            </a:pPr>
            <a:r>
              <a:rPr sz="2300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30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300" spc="-25" dirty="0">
                <a:solidFill>
                  <a:srgbClr val="00B04F"/>
                </a:solidFill>
                <a:latin typeface="Times New Roman"/>
                <a:cs typeface="Times New Roman"/>
              </a:rPr>
              <a:t>... </a:t>
            </a:r>
            <a:r>
              <a:rPr sz="2300" spc="-10" dirty="0">
                <a:solidFill>
                  <a:srgbClr val="FF0065"/>
                </a:solidFill>
                <a:latin typeface="Times New Roman"/>
                <a:cs typeface="Times New Roman"/>
              </a:rPr>
              <a:t>private:</a:t>
            </a:r>
            <a:endParaRPr sz="2300">
              <a:latin typeface="Times New Roman"/>
              <a:cs typeface="Times New Roman"/>
            </a:endParaRPr>
          </a:p>
          <a:p>
            <a:pPr marL="85725" marR="2507615">
              <a:lnSpc>
                <a:spcPct val="100000"/>
              </a:lnSpc>
            </a:pPr>
            <a:r>
              <a:rPr sz="230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300" spc="-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m_hauteur</a:t>
            </a:r>
            <a:r>
              <a:rPr sz="2300" spc="-10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230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300" spc="-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m_largeur</a:t>
            </a:r>
            <a:r>
              <a:rPr sz="2300" spc="-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300" spc="-25" dirty="0">
                <a:solidFill>
                  <a:srgbClr val="FF0000"/>
                </a:solidFill>
                <a:latin typeface="Times New Roman"/>
                <a:cs typeface="Times New Roman"/>
              </a:rPr>
              <a:t>};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21976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69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3304" rIns="0" bIns="0" rtlCol="0">
            <a:spAutoFit/>
          </a:bodyPr>
          <a:lstStyle/>
          <a:p>
            <a:pPr marL="381000">
              <a:lnSpc>
                <a:spcPct val="100000"/>
              </a:lnSpc>
              <a:spcBef>
                <a:spcPts val="100"/>
              </a:spcBef>
            </a:pPr>
            <a:r>
              <a:rPr spc="-250" dirty="0"/>
              <a:t>Instanciation</a:t>
            </a:r>
            <a:r>
              <a:rPr b="0" spc="100" dirty="0">
                <a:latin typeface="Times New Roman"/>
                <a:cs typeface="Times New Roman"/>
              </a:rPr>
              <a:t> </a:t>
            </a:r>
            <a:r>
              <a:rPr spc="-360" dirty="0"/>
              <a:t>des</a:t>
            </a:r>
            <a:r>
              <a:rPr b="0" spc="70" dirty="0">
                <a:latin typeface="Times New Roman"/>
                <a:cs typeface="Times New Roman"/>
              </a:rPr>
              <a:t> </a:t>
            </a:r>
            <a:r>
              <a:rPr spc="-300" dirty="0"/>
              <a:t>objets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70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80477" y="1784095"/>
            <a:ext cx="8576945" cy="4734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4465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Exemple</a:t>
            </a:r>
            <a:r>
              <a:rPr sz="24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(2/2):</a:t>
            </a:r>
            <a:endParaRPr sz="2400">
              <a:latin typeface="Times New Roman"/>
              <a:cs typeface="Times New Roman"/>
            </a:endParaRPr>
          </a:p>
          <a:p>
            <a:pPr marL="217804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200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00B04F"/>
                </a:solidFill>
                <a:latin typeface="Times New Roman"/>
                <a:cs typeface="Times New Roman"/>
              </a:rPr>
              <a:t>...</a:t>
            </a:r>
            <a:endParaRPr sz="2200">
              <a:latin typeface="Times New Roman"/>
              <a:cs typeface="Times New Roman"/>
            </a:endParaRPr>
          </a:p>
          <a:p>
            <a:pPr marL="144780">
              <a:lnSpc>
                <a:spcPts val="2635"/>
              </a:lnSpc>
              <a:spcBef>
                <a:spcPts val="25"/>
              </a:spcBef>
            </a:pPr>
            <a:r>
              <a:rPr sz="220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200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main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(){</a:t>
            </a:r>
            <a:endParaRPr sz="2200">
              <a:latin typeface="Times New Roman"/>
              <a:cs typeface="Times New Roman"/>
            </a:endParaRPr>
          </a:p>
          <a:p>
            <a:pPr marL="164465">
              <a:lnSpc>
                <a:spcPts val="2875"/>
              </a:lnSpc>
            </a:pPr>
            <a:r>
              <a:rPr sz="240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400" spc="-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 </a:t>
            </a:r>
            <a:r>
              <a:rPr sz="2400" spc="-25" dirty="0">
                <a:latin typeface="Times New Roman"/>
                <a:cs typeface="Times New Roman"/>
              </a:rPr>
              <a:t>l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  <a:p>
            <a:pPr marL="164465" marR="4963160">
              <a:lnSpc>
                <a:spcPct val="100000"/>
              </a:lnSpc>
            </a:pPr>
            <a:r>
              <a:rPr sz="2400" dirty="0">
                <a:solidFill>
                  <a:srgbClr val="009900"/>
                </a:solidFill>
                <a:latin typeface="Times New Roman"/>
                <a:cs typeface="Times New Roman"/>
              </a:rPr>
              <a:t>cout</a:t>
            </a:r>
            <a:r>
              <a:rPr sz="2400" spc="-20" dirty="0">
                <a:solidFill>
                  <a:srgbClr val="0099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"Quelle</a:t>
            </a:r>
            <a:r>
              <a:rPr sz="2400" spc="-4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hauteur</a:t>
            </a:r>
            <a:r>
              <a:rPr sz="2400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?</a:t>
            </a:r>
            <a:r>
              <a:rPr sz="2400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006FC0"/>
                </a:solidFill>
                <a:latin typeface="Times New Roman"/>
                <a:cs typeface="Times New Roman"/>
              </a:rPr>
              <a:t>"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2400" dirty="0">
                <a:solidFill>
                  <a:srgbClr val="009900"/>
                </a:solidFill>
                <a:latin typeface="Times New Roman"/>
                <a:cs typeface="Times New Roman"/>
              </a:rPr>
              <a:t>cin</a:t>
            </a:r>
            <a:r>
              <a:rPr sz="2400" spc="-15" dirty="0">
                <a:solidFill>
                  <a:srgbClr val="0099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&gt;&gt;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h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  <a:p>
            <a:pPr marL="164465" marR="5019040">
              <a:lnSpc>
                <a:spcPct val="100000"/>
              </a:lnSpc>
            </a:pPr>
            <a:r>
              <a:rPr sz="2400" dirty="0">
                <a:solidFill>
                  <a:srgbClr val="009900"/>
                </a:solidFill>
                <a:latin typeface="Times New Roman"/>
                <a:cs typeface="Times New Roman"/>
              </a:rPr>
              <a:t>cout</a:t>
            </a:r>
            <a:r>
              <a:rPr sz="2400" spc="-30" dirty="0">
                <a:solidFill>
                  <a:srgbClr val="0099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4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"Quelle</a:t>
            </a:r>
            <a:r>
              <a:rPr sz="2400" spc="-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largeur</a:t>
            </a:r>
            <a:r>
              <a:rPr sz="2400" spc="-4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?</a:t>
            </a:r>
            <a:r>
              <a:rPr sz="2400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006FC0"/>
                </a:solidFill>
                <a:latin typeface="Times New Roman"/>
                <a:cs typeface="Times New Roman"/>
              </a:rPr>
              <a:t>"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2400" dirty="0">
                <a:solidFill>
                  <a:srgbClr val="009900"/>
                </a:solidFill>
                <a:latin typeface="Times New Roman"/>
                <a:cs typeface="Times New Roman"/>
              </a:rPr>
              <a:t>cin</a:t>
            </a:r>
            <a:r>
              <a:rPr sz="2400" spc="-15" dirty="0">
                <a:solidFill>
                  <a:srgbClr val="0099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&gt;&gt;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l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  <a:p>
            <a:pPr marL="164465" marR="5080">
              <a:lnSpc>
                <a:spcPct val="100000"/>
              </a:lnSpc>
            </a:pPr>
            <a:r>
              <a:rPr sz="2400" dirty="0">
                <a:solidFill>
                  <a:srgbClr val="00B0F0"/>
                </a:solidFill>
                <a:latin typeface="Times New Roman"/>
                <a:cs typeface="Times New Roman"/>
              </a:rPr>
              <a:t>Rectangle</a:t>
            </a:r>
            <a:r>
              <a:rPr sz="2400" spc="-45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rect1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400" dirty="0">
                <a:latin typeface="Times New Roman"/>
                <a:cs typeface="Times New Roman"/>
              </a:rPr>
              <a:t>h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dirty="0">
                <a:latin typeface="Times New Roman"/>
                <a:cs typeface="Times New Roman"/>
              </a:rPr>
              <a:t>l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);</a:t>
            </a:r>
            <a:r>
              <a:rPr sz="24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400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B04F"/>
                </a:solidFill>
                <a:latin typeface="Times New Roman"/>
                <a:cs typeface="Times New Roman"/>
              </a:rPr>
              <a:t>instanciation</a:t>
            </a:r>
            <a:r>
              <a:rPr sz="2400" spc="-4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2400" spc="-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B04F"/>
                </a:solidFill>
                <a:latin typeface="Times New Roman"/>
                <a:cs typeface="Times New Roman"/>
              </a:rPr>
              <a:t>l’objet</a:t>
            </a:r>
            <a:r>
              <a:rPr sz="2400" spc="-4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B04F"/>
                </a:solidFill>
                <a:latin typeface="Times New Roman"/>
                <a:cs typeface="Times New Roman"/>
              </a:rPr>
              <a:t>rect</a:t>
            </a:r>
            <a:r>
              <a:rPr sz="2400" spc="-3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240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B04F"/>
                </a:solidFill>
                <a:latin typeface="Times New Roman"/>
                <a:cs typeface="Times New Roman"/>
              </a:rPr>
              <a:t>type</a:t>
            </a:r>
            <a:r>
              <a:rPr sz="2400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00B04F"/>
                </a:solidFill>
                <a:latin typeface="Times New Roman"/>
                <a:cs typeface="Times New Roman"/>
              </a:rPr>
              <a:t>Rectangle </a:t>
            </a:r>
            <a:r>
              <a:rPr sz="2400" dirty="0">
                <a:solidFill>
                  <a:srgbClr val="009900"/>
                </a:solidFill>
                <a:latin typeface="Times New Roman"/>
                <a:cs typeface="Times New Roman"/>
              </a:rPr>
              <a:t>cout</a:t>
            </a:r>
            <a:r>
              <a:rPr sz="2400" spc="-20" dirty="0">
                <a:solidFill>
                  <a:srgbClr val="0099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"Surface</a:t>
            </a:r>
            <a:r>
              <a:rPr sz="2400" spc="-3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=</a:t>
            </a:r>
            <a:r>
              <a:rPr sz="2400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"</a:t>
            </a:r>
            <a:r>
              <a:rPr sz="2400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rect1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.</a:t>
            </a:r>
            <a:r>
              <a:rPr sz="2400" spc="-10" dirty="0">
                <a:latin typeface="Times New Roman"/>
                <a:cs typeface="Times New Roman"/>
              </a:rPr>
              <a:t>surface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();</a:t>
            </a:r>
            <a:endParaRPr sz="240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</a:pPr>
            <a:r>
              <a:rPr sz="2400" dirty="0">
                <a:solidFill>
                  <a:srgbClr val="00B0F0"/>
                </a:solidFill>
                <a:latin typeface="Times New Roman"/>
                <a:cs typeface="Times New Roman"/>
              </a:rPr>
              <a:t>Rectangle</a:t>
            </a:r>
            <a:r>
              <a:rPr sz="2400" spc="-50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rect2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4.0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32CC"/>
                </a:solidFill>
                <a:latin typeface="Times New Roman"/>
                <a:cs typeface="Times New Roman"/>
              </a:rPr>
              <a:t>5.0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);</a:t>
            </a:r>
            <a:endParaRPr sz="240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</a:pPr>
            <a:r>
              <a:rPr sz="2400" dirty="0">
                <a:solidFill>
                  <a:srgbClr val="009900"/>
                </a:solidFill>
                <a:latin typeface="Times New Roman"/>
                <a:cs typeface="Times New Roman"/>
              </a:rPr>
              <a:t>cout</a:t>
            </a:r>
            <a:r>
              <a:rPr sz="2400" spc="-20" dirty="0">
                <a:solidFill>
                  <a:srgbClr val="0099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"Surface</a:t>
            </a:r>
            <a:r>
              <a:rPr sz="2400" spc="-3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=</a:t>
            </a:r>
            <a:r>
              <a:rPr sz="2400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"</a:t>
            </a:r>
            <a:r>
              <a:rPr sz="2400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rect2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.</a:t>
            </a:r>
            <a:r>
              <a:rPr sz="2400" spc="-10" dirty="0">
                <a:latin typeface="Times New Roman"/>
                <a:cs typeface="Times New Roman"/>
              </a:rPr>
              <a:t>surface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();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5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21976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70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01457" y="749299"/>
            <a:ext cx="44691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0" dirty="0"/>
              <a:t>Constructeur</a:t>
            </a:r>
            <a:r>
              <a:rPr b="0" spc="70" dirty="0">
                <a:latin typeface="Times New Roman"/>
                <a:cs typeface="Times New Roman"/>
              </a:rPr>
              <a:t> </a:t>
            </a:r>
            <a:r>
              <a:rPr spc="-210" dirty="0"/>
              <a:t>par</a:t>
            </a:r>
            <a:r>
              <a:rPr b="0" spc="10" dirty="0">
                <a:latin typeface="Times New Roman"/>
                <a:cs typeface="Times New Roman"/>
              </a:rPr>
              <a:t> </a:t>
            </a:r>
            <a:r>
              <a:rPr spc="-175" dirty="0"/>
              <a:t>défaut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77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4272" y="1831339"/>
            <a:ext cx="8645525" cy="40831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3675" marR="5080" indent="-181610">
              <a:lnSpc>
                <a:spcPct val="100000"/>
              </a:lnSpc>
              <a:spcBef>
                <a:spcPts val="100"/>
              </a:spcBef>
              <a:buClr>
                <a:srgbClr val="006FC0"/>
              </a:buClr>
              <a:buFont typeface="Wingdings"/>
              <a:buChar char=""/>
              <a:tabLst>
                <a:tab pos="193675" algn="l"/>
                <a:tab pos="358775" algn="l"/>
              </a:tabLst>
            </a:pPr>
            <a:r>
              <a:rPr sz="2400" dirty="0">
                <a:latin typeface="Times New Roman"/>
                <a:cs typeface="Times New Roman"/>
              </a:rPr>
              <a:t>	Le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constructeur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par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défaut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constructeur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qui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n’a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pas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de </a:t>
            </a:r>
            <a:r>
              <a:rPr sz="2400" b="1" dirty="0">
                <a:latin typeface="Times New Roman"/>
                <a:cs typeface="Times New Roman"/>
              </a:rPr>
              <a:t>paramètre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ou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dont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tous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les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paramètres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valeurs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par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défaut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Clr>
                <a:srgbClr val="006FC0"/>
              </a:buClr>
              <a:buFont typeface="Wingdings"/>
              <a:buChar char=""/>
              <a:tabLst>
                <a:tab pos="354965" algn="l"/>
              </a:tabLst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Exemple</a:t>
            </a:r>
            <a:r>
              <a:rPr sz="24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1:</a:t>
            </a:r>
            <a:endParaRPr sz="2400" dirty="0">
              <a:latin typeface="Times New Roman"/>
              <a:cs typeface="Times New Roman"/>
            </a:endParaRPr>
          </a:p>
          <a:p>
            <a:pPr marL="12700" marR="6532880">
              <a:lnSpc>
                <a:spcPts val="2880"/>
              </a:lnSpc>
              <a:spcBef>
                <a:spcPts val="90"/>
              </a:spcBef>
            </a:pPr>
            <a:r>
              <a:rPr sz="2400" dirty="0" smtClean="0">
                <a:solidFill>
                  <a:srgbClr val="00B0F0"/>
                </a:solidFill>
                <a:latin typeface="Times New Roman"/>
                <a:cs typeface="Times New Roman"/>
              </a:rPr>
              <a:t>Rectangle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()</a:t>
            </a:r>
            <a:r>
              <a:rPr sz="2400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50" dirty="0">
                <a:solidFill>
                  <a:srgbClr val="FF0000"/>
                </a:solidFill>
                <a:latin typeface="Times New Roman"/>
                <a:cs typeface="Times New Roman"/>
              </a:rPr>
              <a:t>{ </a:t>
            </a:r>
            <a:r>
              <a:rPr sz="2400" dirty="0">
                <a:latin typeface="Times New Roman"/>
                <a:cs typeface="Times New Roman"/>
              </a:rPr>
              <a:t>m_hauteur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FF32CC"/>
                </a:solidFill>
                <a:latin typeface="Times New Roman"/>
                <a:cs typeface="Times New Roman"/>
              </a:rPr>
              <a:t>2.0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ts val="2785"/>
              </a:lnSpc>
            </a:pPr>
            <a:r>
              <a:rPr sz="2400" dirty="0">
                <a:latin typeface="Times New Roman"/>
                <a:cs typeface="Times New Roman"/>
              </a:rPr>
              <a:t>m_largeur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4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FF32CC"/>
                </a:solidFill>
                <a:latin typeface="Times New Roman"/>
                <a:cs typeface="Times New Roman"/>
              </a:rPr>
              <a:t>3.0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5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50" dirty="0">
                <a:solidFill>
                  <a:srgbClr val="FF0000"/>
                </a:solidFill>
                <a:latin typeface="Times New Roman"/>
                <a:cs typeface="Times New Roman"/>
              </a:rPr>
              <a:t>…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400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main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(){</a:t>
            </a:r>
            <a:endParaRPr sz="2400" dirty="0">
              <a:latin typeface="Times New Roman"/>
              <a:cs typeface="Times New Roman"/>
            </a:endParaRPr>
          </a:p>
          <a:p>
            <a:pPr marL="317500">
              <a:lnSpc>
                <a:spcPct val="100000"/>
              </a:lnSpc>
            </a:pPr>
            <a:r>
              <a:rPr sz="2400" dirty="0">
                <a:solidFill>
                  <a:srgbClr val="00B0F0"/>
                </a:solidFill>
                <a:latin typeface="Times New Roman"/>
                <a:cs typeface="Times New Roman"/>
              </a:rPr>
              <a:t>Rectangle</a:t>
            </a:r>
            <a:r>
              <a:rPr sz="2400" spc="-40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rect1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r>
              <a:rPr sz="24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000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sans</a:t>
            </a:r>
            <a:r>
              <a:rPr sz="2000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0B04F"/>
                </a:solidFill>
                <a:latin typeface="Times New Roman"/>
                <a:cs typeface="Times New Roman"/>
              </a:rPr>
              <a:t>parenthèses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5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21976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77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3304" rIns="0" bIns="0" rtlCol="0">
            <a:spAutoFit/>
          </a:bodyPr>
          <a:lstStyle/>
          <a:p>
            <a:pPr marL="379730">
              <a:lnSpc>
                <a:spcPct val="100000"/>
              </a:lnSpc>
              <a:spcBef>
                <a:spcPts val="100"/>
              </a:spcBef>
            </a:pPr>
            <a:r>
              <a:rPr spc="-240" dirty="0"/>
              <a:t>Chaînage</a:t>
            </a:r>
            <a:r>
              <a:rPr b="0" spc="35" dirty="0">
                <a:latin typeface="Times New Roman"/>
                <a:cs typeface="Times New Roman"/>
              </a:rPr>
              <a:t> </a:t>
            </a:r>
            <a:r>
              <a:rPr spc="-360" dirty="0"/>
              <a:t>des</a:t>
            </a:r>
            <a:r>
              <a:rPr b="0" spc="70" dirty="0">
                <a:latin typeface="Times New Roman"/>
                <a:cs typeface="Times New Roman"/>
              </a:rPr>
              <a:t> </a:t>
            </a:r>
            <a:r>
              <a:rPr spc="-375" dirty="0"/>
              <a:t>constructeurs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88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49052" y="1855723"/>
            <a:ext cx="8647430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241300" indent="-342900">
              <a:lnSpc>
                <a:spcPct val="100000"/>
              </a:lnSpc>
              <a:spcBef>
                <a:spcPts val="100"/>
              </a:spcBef>
              <a:buClr>
                <a:srgbClr val="006FC0"/>
              </a:buClr>
              <a:buFont typeface="Wingdings"/>
              <a:buChar char=""/>
              <a:tabLst>
                <a:tab pos="355600" algn="l"/>
              </a:tabLst>
            </a:pPr>
            <a:r>
              <a:rPr sz="2400" b="1" spc="-10" dirty="0">
                <a:solidFill>
                  <a:srgbClr val="00B0F0"/>
                </a:solidFill>
                <a:latin typeface="Times New Roman"/>
                <a:cs typeface="Times New Roman"/>
              </a:rPr>
              <a:t>C++11</a:t>
            </a:r>
            <a:r>
              <a:rPr sz="2400" b="1" spc="-35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autorise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constructeurs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d’une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classe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à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appeler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n’importe </a:t>
            </a:r>
            <a:r>
              <a:rPr sz="2400" dirty="0">
                <a:latin typeface="Times New Roman"/>
                <a:cs typeface="Times New Roman"/>
              </a:rPr>
              <a:t>quel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autre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constructeur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cette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même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classe.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buClr>
                <a:srgbClr val="006FC0"/>
              </a:buClr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Dans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classes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définissant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plusieurs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constructeurs,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constructeur </a:t>
            </a:r>
            <a:r>
              <a:rPr sz="2400" dirty="0">
                <a:latin typeface="Times New Roman"/>
                <a:cs typeface="Times New Roman"/>
              </a:rPr>
              <a:t>peut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invoquer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autre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constructeur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cette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classe.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21976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88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3304" rIns="0" bIns="0" rtlCol="0">
            <a:spAutoFit/>
          </a:bodyPr>
          <a:lstStyle/>
          <a:p>
            <a:pPr marL="256540">
              <a:lnSpc>
                <a:spcPct val="100000"/>
              </a:lnSpc>
              <a:spcBef>
                <a:spcPts val="100"/>
              </a:spcBef>
            </a:pPr>
            <a:r>
              <a:rPr spc="-175" dirty="0"/>
              <a:t>Initialisation</a:t>
            </a:r>
            <a:r>
              <a:rPr b="0" dirty="0">
                <a:latin typeface="Times New Roman"/>
                <a:cs typeface="Times New Roman"/>
              </a:rPr>
              <a:t> </a:t>
            </a:r>
            <a:r>
              <a:rPr spc="-215" dirty="0"/>
              <a:t>par</a:t>
            </a:r>
            <a:r>
              <a:rPr b="0" spc="15" dirty="0">
                <a:latin typeface="Times New Roman"/>
                <a:cs typeface="Times New Roman"/>
              </a:rPr>
              <a:t> </a:t>
            </a:r>
            <a:r>
              <a:rPr spc="-210" dirty="0"/>
              <a:t>défaut</a:t>
            </a:r>
            <a:r>
              <a:rPr b="0" spc="20" dirty="0">
                <a:latin typeface="Times New Roman"/>
                <a:cs typeface="Times New Roman"/>
              </a:rPr>
              <a:t> </a:t>
            </a:r>
            <a:r>
              <a:rPr spc="-360" dirty="0"/>
              <a:t>des</a:t>
            </a:r>
            <a:r>
              <a:rPr b="0" spc="70" dirty="0">
                <a:latin typeface="Times New Roman"/>
                <a:cs typeface="Times New Roman"/>
              </a:rPr>
              <a:t> </a:t>
            </a:r>
            <a:r>
              <a:rPr spc="-275" dirty="0"/>
              <a:t>attributs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90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5900" y="1886203"/>
            <a:ext cx="8272145" cy="441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65735" indent="-342900">
              <a:lnSpc>
                <a:spcPct val="100000"/>
              </a:lnSpc>
              <a:spcBef>
                <a:spcPts val="100"/>
              </a:spcBef>
              <a:buClr>
                <a:srgbClr val="006FC0"/>
              </a:buClr>
              <a:buFont typeface="Wingdings"/>
              <a:buChar char=""/>
              <a:tabLst>
                <a:tab pos="355600" algn="l"/>
              </a:tabLst>
            </a:pPr>
            <a:r>
              <a:rPr sz="2400" b="1" spc="-10" dirty="0">
                <a:solidFill>
                  <a:srgbClr val="00B0F0"/>
                </a:solidFill>
                <a:latin typeface="Times New Roman"/>
                <a:cs typeface="Times New Roman"/>
              </a:rPr>
              <a:t>C++11</a:t>
            </a:r>
            <a:r>
              <a:rPr sz="2400" b="1" spc="-30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permet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donner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directement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valeur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défaut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aux </a:t>
            </a:r>
            <a:r>
              <a:rPr sz="2400" spc="-10" dirty="0">
                <a:latin typeface="Times New Roman"/>
                <a:cs typeface="Times New Roman"/>
              </a:rPr>
              <a:t>attributs.</a:t>
            </a:r>
            <a:endParaRPr sz="2400">
              <a:latin typeface="Times New Roman"/>
              <a:cs typeface="Times New Roman"/>
            </a:endParaRPr>
          </a:p>
          <a:p>
            <a:pPr marL="431165" marR="5080" indent="-418465">
              <a:lnSpc>
                <a:spcPct val="100000"/>
              </a:lnSpc>
              <a:buClr>
                <a:srgbClr val="006FC0"/>
              </a:buClr>
              <a:buFont typeface="Wingdings"/>
              <a:buChar char=""/>
              <a:tabLst>
                <a:tab pos="469900" algn="l"/>
              </a:tabLst>
            </a:pPr>
            <a:r>
              <a:rPr sz="2400" dirty="0">
                <a:latin typeface="Times New Roman"/>
                <a:cs typeface="Times New Roman"/>
              </a:rPr>
              <a:t>Si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constructeur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appelé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modifie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valeur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cet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attribut, 	</a:t>
            </a:r>
            <a:r>
              <a:rPr sz="2400" dirty="0">
                <a:latin typeface="Times New Roman"/>
                <a:cs typeface="Times New Roman"/>
              </a:rPr>
              <a:t>ce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dernier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aura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alors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valeur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indiquée.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Clr>
                <a:srgbClr val="006FC0"/>
              </a:buClr>
              <a:buFont typeface="Wingdings"/>
              <a:buChar char=""/>
              <a:tabLst>
                <a:tab pos="354965" algn="l"/>
              </a:tabLst>
            </a:pP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Exemple:</a:t>
            </a:r>
            <a:endParaRPr sz="2400">
              <a:latin typeface="Times New Roman"/>
              <a:cs typeface="Times New Roman"/>
            </a:endParaRPr>
          </a:p>
          <a:p>
            <a:pPr marL="393700">
              <a:lnSpc>
                <a:spcPct val="100000"/>
              </a:lnSpc>
            </a:pPr>
            <a:r>
              <a:rPr sz="2400" dirty="0">
                <a:solidFill>
                  <a:srgbClr val="001F5F"/>
                </a:solidFill>
                <a:latin typeface="Times New Roman"/>
                <a:cs typeface="Times New Roman"/>
              </a:rPr>
              <a:t>class</a:t>
            </a:r>
            <a:r>
              <a:rPr sz="2400" spc="-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B0F0"/>
                </a:solidFill>
                <a:latin typeface="Times New Roman"/>
                <a:cs typeface="Times New Roman"/>
              </a:rPr>
              <a:t>Rectangle</a:t>
            </a:r>
            <a:r>
              <a:rPr sz="2400" spc="-55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400" spc="-50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393700" marR="6936740">
              <a:lnSpc>
                <a:spcPct val="100000"/>
              </a:lnSpc>
            </a:pPr>
            <a:r>
              <a:rPr sz="2400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400" spc="-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00B04F"/>
                </a:solidFill>
                <a:latin typeface="Times New Roman"/>
                <a:cs typeface="Times New Roman"/>
              </a:rPr>
              <a:t>... </a:t>
            </a:r>
            <a:r>
              <a:rPr sz="2400" spc="-10" dirty="0">
                <a:solidFill>
                  <a:srgbClr val="FF0065"/>
                </a:solidFill>
                <a:latin typeface="Times New Roman"/>
                <a:cs typeface="Times New Roman"/>
              </a:rPr>
              <a:t>private:</a:t>
            </a:r>
            <a:endParaRPr sz="2400">
              <a:latin typeface="Times New Roman"/>
              <a:cs typeface="Times New Roman"/>
            </a:endParaRPr>
          </a:p>
          <a:p>
            <a:pPr marL="393700" marR="5263515">
              <a:lnSpc>
                <a:spcPct val="100000"/>
              </a:lnSpc>
            </a:pPr>
            <a:r>
              <a:rPr sz="240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400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hauteur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FF32CC"/>
                </a:solidFill>
                <a:latin typeface="Times New Roman"/>
                <a:cs typeface="Times New Roman"/>
              </a:rPr>
              <a:t>0.0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240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400" spc="-3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largeur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4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FF32CC"/>
                </a:solidFill>
                <a:latin typeface="Times New Roman"/>
                <a:cs typeface="Times New Roman"/>
              </a:rPr>
              <a:t>0.0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  <a:p>
            <a:pPr marL="393700">
              <a:lnSpc>
                <a:spcPct val="100000"/>
              </a:lnSpc>
            </a:pPr>
            <a:r>
              <a:rPr sz="2400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400" spc="-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00B04F"/>
                </a:solidFill>
                <a:latin typeface="Times New Roman"/>
                <a:cs typeface="Times New Roman"/>
              </a:rPr>
              <a:t>...</a:t>
            </a:r>
            <a:endParaRPr sz="2400">
              <a:latin typeface="Times New Roman"/>
              <a:cs typeface="Times New Roman"/>
            </a:endParaRPr>
          </a:p>
          <a:p>
            <a:pPr marL="393700">
              <a:lnSpc>
                <a:spcPct val="100000"/>
              </a:lnSpc>
            </a:pP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};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21976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90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3304" rIns="0" bIns="0" rtlCol="0">
            <a:spAutoFit/>
          </a:bodyPr>
          <a:lstStyle/>
          <a:p>
            <a:pPr marL="372110">
              <a:lnSpc>
                <a:spcPct val="100000"/>
              </a:lnSpc>
              <a:spcBef>
                <a:spcPts val="100"/>
              </a:spcBef>
            </a:pPr>
            <a:r>
              <a:rPr spc="-350" dirty="0"/>
              <a:t>Constructeur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spc="-300" dirty="0"/>
              <a:t>de</a:t>
            </a:r>
            <a:r>
              <a:rPr b="0" spc="85" dirty="0">
                <a:latin typeface="Times New Roman"/>
                <a:cs typeface="Times New Roman"/>
              </a:rPr>
              <a:t> </a:t>
            </a:r>
            <a:r>
              <a:rPr spc="-325" dirty="0"/>
              <a:t>copie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91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8140" indent="-342265">
              <a:lnSpc>
                <a:spcPct val="100000"/>
              </a:lnSpc>
              <a:spcBef>
                <a:spcPts val="100"/>
              </a:spcBef>
              <a:buClr>
                <a:srgbClr val="006FC0"/>
              </a:buClr>
              <a:buFont typeface="Wingdings"/>
              <a:buChar char=""/>
              <a:tabLst>
                <a:tab pos="358775" algn="l"/>
              </a:tabLst>
            </a:pPr>
            <a:r>
              <a:rPr b="1" dirty="0">
                <a:solidFill>
                  <a:srgbClr val="00B0F0"/>
                </a:solidFill>
                <a:latin typeface="Times New Roman"/>
                <a:cs typeface="Times New Roman"/>
              </a:rPr>
              <a:t>C++</a:t>
            </a:r>
            <a:r>
              <a:rPr b="1" spc="-25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dirty="0"/>
              <a:t>offre</a:t>
            </a:r>
            <a:r>
              <a:rPr spc="-10" dirty="0"/>
              <a:t> </a:t>
            </a:r>
            <a:r>
              <a:rPr dirty="0"/>
              <a:t>un</a:t>
            </a:r>
            <a:r>
              <a:rPr spc="-20" dirty="0"/>
              <a:t> </a:t>
            </a:r>
            <a:r>
              <a:rPr dirty="0"/>
              <a:t>moyen</a:t>
            </a:r>
            <a:r>
              <a:rPr spc="-10" dirty="0"/>
              <a:t> </a:t>
            </a:r>
            <a:r>
              <a:rPr dirty="0"/>
              <a:t>de</a:t>
            </a:r>
            <a:r>
              <a:rPr spc="-30" dirty="0"/>
              <a:t> </a:t>
            </a:r>
            <a:r>
              <a:rPr dirty="0"/>
              <a:t>créer</a:t>
            </a:r>
            <a:r>
              <a:rPr spc="-40" dirty="0"/>
              <a:t> </a:t>
            </a:r>
            <a:r>
              <a:rPr dirty="0"/>
              <a:t>la</a:t>
            </a:r>
            <a:r>
              <a:rPr spc="-35" dirty="0"/>
              <a:t> </a:t>
            </a:r>
            <a:r>
              <a:rPr b="1" dirty="0">
                <a:latin typeface="Times New Roman"/>
                <a:cs typeface="Times New Roman"/>
              </a:rPr>
              <a:t>copie</a:t>
            </a:r>
            <a:r>
              <a:rPr b="1" spc="-30" dirty="0">
                <a:latin typeface="Times New Roman"/>
                <a:cs typeface="Times New Roman"/>
              </a:rPr>
              <a:t> </a:t>
            </a:r>
            <a:r>
              <a:rPr dirty="0"/>
              <a:t>d’une</a:t>
            </a:r>
            <a:r>
              <a:rPr spc="-30" dirty="0"/>
              <a:t> </a:t>
            </a:r>
            <a:r>
              <a:rPr dirty="0"/>
              <a:t>instance</a:t>
            </a:r>
            <a:r>
              <a:rPr spc="-55" dirty="0"/>
              <a:t> </a:t>
            </a:r>
            <a:r>
              <a:rPr dirty="0"/>
              <a:t>en</a:t>
            </a:r>
            <a:r>
              <a:rPr spc="-35" dirty="0"/>
              <a:t> </a:t>
            </a:r>
            <a:r>
              <a:rPr dirty="0"/>
              <a:t>utilisant</a:t>
            </a:r>
            <a:r>
              <a:rPr spc="-65" dirty="0"/>
              <a:t> </a:t>
            </a:r>
            <a:r>
              <a:rPr spc="-25" dirty="0"/>
              <a:t>le</a:t>
            </a:r>
          </a:p>
          <a:p>
            <a:pPr marL="358775">
              <a:lnSpc>
                <a:spcPct val="100000"/>
              </a:lnSpc>
            </a:pPr>
            <a:r>
              <a:rPr b="1" spc="-10" dirty="0">
                <a:latin typeface="Times New Roman"/>
                <a:cs typeface="Times New Roman"/>
              </a:rPr>
              <a:t>constructeur</a:t>
            </a:r>
            <a:r>
              <a:rPr b="1" spc="-7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de</a:t>
            </a:r>
            <a:r>
              <a:rPr b="1" spc="-1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copie</a:t>
            </a:r>
            <a:r>
              <a:rPr b="1" spc="-25" dirty="0">
                <a:latin typeface="Times New Roman"/>
                <a:cs typeface="Times New Roman"/>
              </a:rPr>
              <a:t> </a:t>
            </a:r>
            <a:r>
              <a:rPr dirty="0"/>
              <a:t>lors</a:t>
            </a:r>
            <a:r>
              <a:rPr spc="-20" dirty="0"/>
              <a:t> </a:t>
            </a:r>
            <a:r>
              <a:rPr dirty="0"/>
              <a:t>de</a:t>
            </a:r>
            <a:r>
              <a:rPr spc="-20" dirty="0"/>
              <a:t> </a:t>
            </a:r>
            <a:r>
              <a:rPr spc="-10" dirty="0"/>
              <a:t>l’initialisation:</a:t>
            </a:r>
          </a:p>
          <a:p>
            <a:pPr marL="320040">
              <a:lnSpc>
                <a:spcPct val="100000"/>
              </a:lnSpc>
            </a:pPr>
            <a:r>
              <a:rPr dirty="0">
                <a:solidFill>
                  <a:srgbClr val="00B0F0"/>
                </a:solidFill>
              </a:rPr>
              <a:t>Rectangle</a:t>
            </a:r>
            <a:r>
              <a:rPr spc="-90" dirty="0">
                <a:solidFill>
                  <a:srgbClr val="00B0F0"/>
                </a:solidFill>
              </a:rPr>
              <a:t> </a:t>
            </a:r>
            <a:r>
              <a:rPr dirty="0"/>
              <a:t>r1</a:t>
            </a:r>
            <a:r>
              <a:rPr dirty="0">
                <a:solidFill>
                  <a:srgbClr val="FF0000"/>
                </a:solidFill>
              </a:rPr>
              <a:t>(</a:t>
            </a:r>
            <a:r>
              <a:rPr dirty="0">
                <a:solidFill>
                  <a:srgbClr val="FF32CC"/>
                </a:solidFill>
              </a:rPr>
              <a:t>11.3</a:t>
            </a:r>
            <a:r>
              <a:rPr dirty="0">
                <a:solidFill>
                  <a:srgbClr val="FF0000"/>
                </a:solidFill>
              </a:rPr>
              <a:t>,</a:t>
            </a:r>
            <a:r>
              <a:rPr spc="-70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32CC"/>
                </a:solidFill>
              </a:rPr>
              <a:t>12.5</a:t>
            </a:r>
            <a:r>
              <a:rPr spc="-10" dirty="0">
                <a:solidFill>
                  <a:srgbClr val="FF0000"/>
                </a:solidFill>
              </a:rPr>
              <a:t>);</a:t>
            </a:r>
          </a:p>
          <a:p>
            <a:pPr marL="320040">
              <a:lnSpc>
                <a:spcPct val="100000"/>
              </a:lnSpc>
              <a:tabLst>
                <a:tab pos="2560955" algn="l"/>
              </a:tabLst>
            </a:pPr>
            <a:r>
              <a:rPr dirty="0">
                <a:solidFill>
                  <a:srgbClr val="00B0F0"/>
                </a:solidFill>
              </a:rPr>
              <a:t>Rectangle</a:t>
            </a:r>
            <a:r>
              <a:rPr spc="-40" dirty="0">
                <a:solidFill>
                  <a:srgbClr val="00B0F0"/>
                </a:solidFill>
              </a:rPr>
              <a:t> </a:t>
            </a:r>
            <a:r>
              <a:rPr spc="-10" dirty="0"/>
              <a:t>r2</a:t>
            </a:r>
            <a:r>
              <a:rPr spc="-10" dirty="0">
                <a:solidFill>
                  <a:srgbClr val="FF0000"/>
                </a:solidFill>
              </a:rPr>
              <a:t>(</a:t>
            </a:r>
            <a:r>
              <a:rPr spc="-10" dirty="0"/>
              <a:t>r1</a:t>
            </a:r>
            <a:r>
              <a:rPr spc="-10" dirty="0">
                <a:solidFill>
                  <a:srgbClr val="FF0000"/>
                </a:solidFill>
              </a:rPr>
              <a:t>);</a:t>
            </a:r>
            <a:r>
              <a:rPr dirty="0">
                <a:solidFill>
                  <a:srgbClr val="FF0000"/>
                </a:solidFill>
              </a:rPr>
              <a:t>	</a:t>
            </a:r>
            <a:r>
              <a:rPr sz="2000" dirty="0">
                <a:solidFill>
                  <a:srgbClr val="00B04F"/>
                </a:solidFill>
              </a:rPr>
              <a:t>//</a:t>
            </a:r>
            <a:r>
              <a:rPr sz="2000" spc="-20" dirty="0">
                <a:solidFill>
                  <a:srgbClr val="00B04F"/>
                </a:solidFill>
              </a:rPr>
              <a:t> </a:t>
            </a:r>
            <a:r>
              <a:rPr sz="2000" dirty="0">
                <a:solidFill>
                  <a:srgbClr val="00B04F"/>
                </a:solidFill>
              </a:rPr>
              <a:t>constructeur</a:t>
            </a:r>
            <a:r>
              <a:rPr sz="2000" spc="-45" dirty="0">
                <a:solidFill>
                  <a:srgbClr val="00B04F"/>
                </a:solidFill>
              </a:rPr>
              <a:t> </a:t>
            </a:r>
            <a:r>
              <a:rPr sz="2000" dirty="0">
                <a:solidFill>
                  <a:srgbClr val="00B04F"/>
                </a:solidFill>
              </a:rPr>
              <a:t>de</a:t>
            </a:r>
            <a:r>
              <a:rPr sz="2000" spc="-10" dirty="0">
                <a:solidFill>
                  <a:srgbClr val="00B04F"/>
                </a:solidFill>
              </a:rPr>
              <a:t> </a:t>
            </a:r>
            <a:r>
              <a:rPr sz="2000" dirty="0">
                <a:solidFill>
                  <a:srgbClr val="00B04F"/>
                </a:solidFill>
              </a:rPr>
              <a:t>copie:</a:t>
            </a:r>
            <a:r>
              <a:rPr sz="2000" spc="-35" dirty="0">
                <a:solidFill>
                  <a:srgbClr val="00B04F"/>
                </a:solidFill>
              </a:rPr>
              <a:t> </a:t>
            </a:r>
            <a:r>
              <a:rPr sz="2000" dirty="0">
                <a:solidFill>
                  <a:srgbClr val="00B04F"/>
                </a:solidFill>
              </a:rPr>
              <a:t>création</a:t>
            </a:r>
            <a:r>
              <a:rPr sz="2000" spc="-35" dirty="0">
                <a:solidFill>
                  <a:srgbClr val="00B04F"/>
                </a:solidFill>
              </a:rPr>
              <a:t> </a:t>
            </a:r>
            <a:r>
              <a:rPr sz="2000" dirty="0">
                <a:solidFill>
                  <a:srgbClr val="00B04F"/>
                </a:solidFill>
              </a:rPr>
              <a:t>de</a:t>
            </a:r>
            <a:r>
              <a:rPr sz="2000" spc="-10" dirty="0">
                <a:solidFill>
                  <a:srgbClr val="00B04F"/>
                </a:solidFill>
              </a:rPr>
              <a:t> </a:t>
            </a:r>
            <a:r>
              <a:rPr sz="2000" dirty="0">
                <a:solidFill>
                  <a:srgbClr val="00B04F"/>
                </a:solidFill>
              </a:rPr>
              <a:t>l'objet</a:t>
            </a:r>
            <a:r>
              <a:rPr sz="2000" spc="-35" dirty="0">
                <a:solidFill>
                  <a:srgbClr val="00B04F"/>
                </a:solidFill>
              </a:rPr>
              <a:t> </a:t>
            </a:r>
            <a:r>
              <a:rPr sz="2000" spc="-25" dirty="0">
                <a:solidFill>
                  <a:srgbClr val="00B04F"/>
                </a:solidFill>
              </a:rPr>
              <a:t>r2</a:t>
            </a:r>
            <a:endParaRPr sz="2000"/>
          </a:p>
          <a:p>
            <a:pPr marL="2492375">
              <a:lnSpc>
                <a:spcPts val="2390"/>
              </a:lnSpc>
              <a:spcBef>
                <a:spcPts val="15"/>
              </a:spcBef>
            </a:pPr>
            <a:r>
              <a:rPr sz="2000" dirty="0">
                <a:solidFill>
                  <a:srgbClr val="00B04F"/>
                </a:solidFill>
              </a:rPr>
              <a:t>//</a:t>
            </a:r>
            <a:r>
              <a:rPr sz="2000" spc="-20" dirty="0">
                <a:solidFill>
                  <a:srgbClr val="00B04F"/>
                </a:solidFill>
              </a:rPr>
              <a:t> </a:t>
            </a:r>
            <a:r>
              <a:rPr sz="2000" dirty="0">
                <a:solidFill>
                  <a:srgbClr val="00B04F"/>
                </a:solidFill>
              </a:rPr>
              <a:t>et</a:t>
            </a:r>
            <a:r>
              <a:rPr sz="2000" spc="-10" dirty="0">
                <a:solidFill>
                  <a:srgbClr val="00B04F"/>
                </a:solidFill>
              </a:rPr>
              <a:t> </a:t>
            </a:r>
            <a:r>
              <a:rPr sz="2000" dirty="0">
                <a:solidFill>
                  <a:srgbClr val="00B04F"/>
                </a:solidFill>
              </a:rPr>
              <a:t>son</a:t>
            </a:r>
            <a:r>
              <a:rPr sz="2000" spc="-20" dirty="0">
                <a:solidFill>
                  <a:srgbClr val="00B04F"/>
                </a:solidFill>
              </a:rPr>
              <a:t> </a:t>
            </a:r>
            <a:r>
              <a:rPr sz="2000" dirty="0">
                <a:solidFill>
                  <a:srgbClr val="00B04F"/>
                </a:solidFill>
              </a:rPr>
              <a:t>initialisation</a:t>
            </a:r>
            <a:r>
              <a:rPr sz="2000" spc="-40" dirty="0">
                <a:solidFill>
                  <a:srgbClr val="00B04F"/>
                </a:solidFill>
              </a:rPr>
              <a:t> </a:t>
            </a:r>
            <a:r>
              <a:rPr sz="2000" dirty="0">
                <a:solidFill>
                  <a:srgbClr val="00B04F"/>
                </a:solidFill>
              </a:rPr>
              <a:t>avec</a:t>
            </a:r>
            <a:r>
              <a:rPr sz="2000" spc="-30" dirty="0">
                <a:solidFill>
                  <a:srgbClr val="00B04F"/>
                </a:solidFill>
              </a:rPr>
              <a:t> </a:t>
            </a:r>
            <a:r>
              <a:rPr sz="2000" dirty="0">
                <a:solidFill>
                  <a:srgbClr val="00B04F"/>
                </a:solidFill>
              </a:rPr>
              <a:t>les</a:t>
            </a:r>
            <a:r>
              <a:rPr sz="2000" spc="-15" dirty="0">
                <a:solidFill>
                  <a:srgbClr val="00B04F"/>
                </a:solidFill>
              </a:rPr>
              <a:t> </a:t>
            </a:r>
            <a:r>
              <a:rPr sz="2000" dirty="0">
                <a:solidFill>
                  <a:srgbClr val="00B04F"/>
                </a:solidFill>
              </a:rPr>
              <a:t>données</a:t>
            </a:r>
            <a:r>
              <a:rPr sz="2000" spc="-40" dirty="0">
                <a:solidFill>
                  <a:srgbClr val="00B04F"/>
                </a:solidFill>
              </a:rPr>
              <a:t> </a:t>
            </a:r>
            <a:r>
              <a:rPr sz="2000" dirty="0">
                <a:solidFill>
                  <a:srgbClr val="00B04F"/>
                </a:solidFill>
              </a:rPr>
              <a:t>de</a:t>
            </a:r>
            <a:r>
              <a:rPr sz="2000" spc="-10" dirty="0">
                <a:solidFill>
                  <a:srgbClr val="00B04F"/>
                </a:solidFill>
              </a:rPr>
              <a:t> </a:t>
            </a:r>
            <a:r>
              <a:rPr sz="2000" spc="-25" dirty="0">
                <a:solidFill>
                  <a:srgbClr val="00B04F"/>
                </a:solidFill>
              </a:rPr>
              <a:t>r1.</a:t>
            </a:r>
            <a:endParaRPr sz="2000"/>
          </a:p>
          <a:p>
            <a:pPr marL="396875">
              <a:lnSpc>
                <a:spcPts val="2870"/>
              </a:lnSpc>
            </a:pPr>
            <a:r>
              <a:rPr spc="-25" dirty="0"/>
              <a:t>Ou</a:t>
            </a:r>
          </a:p>
          <a:p>
            <a:pPr marL="320040">
              <a:lnSpc>
                <a:spcPct val="100000"/>
              </a:lnSpc>
            </a:pPr>
            <a:r>
              <a:rPr dirty="0">
                <a:solidFill>
                  <a:srgbClr val="00B0F0"/>
                </a:solidFill>
              </a:rPr>
              <a:t>Rectangle</a:t>
            </a:r>
            <a:r>
              <a:rPr spc="-40" dirty="0">
                <a:solidFill>
                  <a:srgbClr val="00B0F0"/>
                </a:solidFill>
              </a:rPr>
              <a:t> </a:t>
            </a:r>
            <a:r>
              <a:rPr dirty="0"/>
              <a:t>r2</a:t>
            </a:r>
            <a:r>
              <a:rPr spc="-10" dirty="0"/>
              <a:t> </a:t>
            </a:r>
            <a:r>
              <a:rPr dirty="0">
                <a:solidFill>
                  <a:srgbClr val="FF0000"/>
                </a:solidFill>
              </a:rPr>
              <a:t>=</a:t>
            </a:r>
            <a:r>
              <a:rPr spc="-15" dirty="0">
                <a:solidFill>
                  <a:srgbClr val="FF0000"/>
                </a:solidFill>
              </a:rPr>
              <a:t> </a:t>
            </a:r>
            <a:r>
              <a:rPr dirty="0"/>
              <a:t>r1</a:t>
            </a:r>
            <a:r>
              <a:rPr dirty="0">
                <a:solidFill>
                  <a:srgbClr val="FF0000"/>
                </a:solidFill>
              </a:rPr>
              <a:t>;</a:t>
            </a:r>
            <a:r>
              <a:rPr spc="-15" dirty="0">
                <a:solidFill>
                  <a:srgbClr val="FF0000"/>
                </a:solidFill>
              </a:rPr>
              <a:t> </a:t>
            </a:r>
            <a:r>
              <a:rPr sz="2000" dirty="0">
                <a:solidFill>
                  <a:srgbClr val="00B04F"/>
                </a:solidFill>
              </a:rPr>
              <a:t>//</a:t>
            </a:r>
            <a:r>
              <a:rPr sz="2000" spc="-15" dirty="0">
                <a:solidFill>
                  <a:srgbClr val="00B04F"/>
                </a:solidFill>
              </a:rPr>
              <a:t> </a:t>
            </a:r>
            <a:r>
              <a:rPr sz="2000" dirty="0">
                <a:solidFill>
                  <a:srgbClr val="00B04F"/>
                </a:solidFill>
              </a:rPr>
              <a:t>constructeur</a:t>
            </a:r>
            <a:r>
              <a:rPr sz="2000" spc="-45" dirty="0">
                <a:solidFill>
                  <a:srgbClr val="00B04F"/>
                </a:solidFill>
              </a:rPr>
              <a:t> </a:t>
            </a:r>
            <a:r>
              <a:rPr sz="2000" dirty="0">
                <a:solidFill>
                  <a:srgbClr val="00B04F"/>
                </a:solidFill>
              </a:rPr>
              <a:t>de</a:t>
            </a:r>
            <a:r>
              <a:rPr sz="2000" spc="-15" dirty="0">
                <a:solidFill>
                  <a:srgbClr val="00B04F"/>
                </a:solidFill>
              </a:rPr>
              <a:t> </a:t>
            </a:r>
            <a:r>
              <a:rPr sz="2000" dirty="0">
                <a:solidFill>
                  <a:srgbClr val="00B04F"/>
                </a:solidFill>
              </a:rPr>
              <a:t>copie:</a:t>
            </a:r>
            <a:r>
              <a:rPr sz="2000" spc="-35" dirty="0">
                <a:solidFill>
                  <a:srgbClr val="00B04F"/>
                </a:solidFill>
              </a:rPr>
              <a:t> </a:t>
            </a:r>
            <a:r>
              <a:rPr sz="2000" dirty="0">
                <a:solidFill>
                  <a:srgbClr val="00B04F"/>
                </a:solidFill>
              </a:rPr>
              <a:t>création</a:t>
            </a:r>
            <a:r>
              <a:rPr sz="2000" spc="-35" dirty="0">
                <a:solidFill>
                  <a:srgbClr val="00B04F"/>
                </a:solidFill>
              </a:rPr>
              <a:t> </a:t>
            </a:r>
            <a:r>
              <a:rPr sz="2000" dirty="0">
                <a:solidFill>
                  <a:srgbClr val="00B04F"/>
                </a:solidFill>
              </a:rPr>
              <a:t>de</a:t>
            </a:r>
            <a:r>
              <a:rPr sz="2000" spc="-15" dirty="0">
                <a:solidFill>
                  <a:srgbClr val="00B04F"/>
                </a:solidFill>
              </a:rPr>
              <a:t> </a:t>
            </a:r>
            <a:r>
              <a:rPr sz="2000" dirty="0">
                <a:solidFill>
                  <a:srgbClr val="00B04F"/>
                </a:solidFill>
              </a:rPr>
              <a:t>l'objet</a:t>
            </a:r>
            <a:r>
              <a:rPr sz="2000" spc="-30" dirty="0">
                <a:solidFill>
                  <a:srgbClr val="00B04F"/>
                </a:solidFill>
              </a:rPr>
              <a:t> </a:t>
            </a:r>
            <a:r>
              <a:rPr sz="2000" spc="-25" dirty="0">
                <a:solidFill>
                  <a:srgbClr val="00B04F"/>
                </a:solidFill>
              </a:rPr>
              <a:t>r2</a:t>
            </a:r>
            <a:endParaRPr sz="2000"/>
          </a:p>
          <a:p>
            <a:pPr marL="2492375">
              <a:lnSpc>
                <a:spcPts val="2390"/>
              </a:lnSpc>
              <a:spcBef>
                <a:spcPts val="15"/>
              </a:spcBef>
            </a:pPr>
            <a:r>
              <a:rPr sz="2000" dirty="0">
                <a:solidFill>
                  <a:srgbClr val="00B04F"/>
                </a:solidFill>
              </a:rPr>
              <a:t>//</a:t>
            </a:r>
            <a:r>
              <a:rPr sz="2000" spc="-20" dirty="0">
                <a:solidFill>
                  <a:srgbClr val="00B04F"/>
                </a:solidFill>
              </a:rPr>
              <a:t> </a:t>
            </a:r>
            <a:r>
              <a:rPr sz="2000" dirty="0">
                <a:solidFill>
                  <a:srgbClr val="00B04F"/>
                </a:solidFill>
              </a:rPr>
              <a:t>et</a:t>
            </a:r>
            <a:r>
              <a:rPr sz="2000" spc="-10" dirty="0">
                <a:solidFill>
                  <a:srgbClr val="00B04F"/>
                </a:solidFill>
              </a:rPr>
              <a:t> </a:t>
            </a:r>
            <a:r>
              <a:rPr sz="2000" dirty="0">
                <a:solidFill>
                  <a:srgbClr val="00B04F"/>
                </a:solidFill>
              </a:rPr>
              <a:t>son</a:t>
            </a:r>
            <a:r>
              <a:rPr sz="2000" spc="-20" dirty="0">
                <a:solidFill>
                  <a:srgbClr val="00B04F"/>
                </a:solidFill>
              </a:rPr>
              <a:t> </a:t>
            </a:r>
            <a:r>
              <a:rPr sz="2000" dirty="0">
                <a:solidFill>
                  <a:srgbClr val="00B04F"/>
                </a:solidFill>
              </a:rPr>
              <a:t>initialisation</a:t>
            </a:r>
            <a:r>
              <a:rPr sz="2000" spc="-40" dirty="0">
                <a:solidFill>
                  <a:srgbClr val="00B04F"/>
                </a:solidFill>
              </a:rPr>
              <a:t> </a:t>
            </a:r>
            <a:r>
              <a:rPr sz="2000" dirty="0">
                <a:solidFill>
                  <a:srgbClr val="00B04F"/>
                </a:solidFill>
              </a:rPr>
              <a:t>avec</a:t>
            </a:r>
            <a:r>
              <a:rPr sz="2000" spc="-30" dirty="0">
                <a:solidFill>
                  <a:srgbClr val="00B04F"/>
                </a:solidFill>
              </a:rPr>
              <a:t> </a:t>
            </a:r>
            <a:r>
              <a:rPr sz="2000" dirty="0">
                <a:solidFill>
                  <a:srgbClr val="00B04F"/>
                </a:solidFill>
              </a:rPr>
              <a:t>les</a:t>
            </a:r>
            <a:r>
              <a:rPr sz="2000" spc="-15" dirty="0">
                <a:solidFill>
                  <a:srgbClr val="00B04F"/>
                </a:solidFill>
              </a:rPr>
              <a:t> </a:t>
            </a:r>
            <a:r>
              <a:rPr sz="2000" dirty="0">
                <a:solidFill>
                  <a:srgbClr val="00B04F"/>
                </a:solidFill>
              </a:rPr>
              <a:t>données</a:t>
            </a:r>
            <a:r>
              <a:rPr sz="2000" spc="-40" dirty="0">
                <a:solidFill>
                  <a:srgbClr val="00B04F"/>
                </a:solidFill>
              </a:rPr>
              <a:t> </a:t>
            </a:r>
            <a:r>
              <a:rPr sz="2000" dirty="0">
                <a:solidFill>
                  <a:srgbClr val="00B04F"/>
                </a:solidFill>
              </a:rPr>
              <a:t>de</a:t>
            </a:r>
            <a:r>
              <a:rPr sz="2000" spc="-10" dirty="0">
                <a:solidFill>
                  <a:srgbClr val="00B04F"/>
                </a:solidFill>
              </a:rPr>
              <a:t> </a:t>
            </a:r>
            <a:r>
              <a:rPr sz="2000" spc="-25" dirty="0">
                <a:solidFill>
                  <a:srgbClr val="00B04F"/>
                </a:solidFill>
              </a:rPr>
              <a:t>r1.</a:t>
            </a:r>
            <a:endParaRPr sz="2000"/>
          </a:p>
          <a:p>
            <a:pPr marL="396875">
              <a:lnSpc>
                <a:spcPts val="2870"/>
              </a:lnSpc>
            </a:pPr>
            <a:r>
              <a:rPr spc="-25" dirty="0"/>
              <a:t>Ou</a:t>
            </a:r>
          </a:p>
          <a:p>
            <a:pPr marL="320040">
              <a:lnSpc>
                <a:spcPct val="100000"/>
              </a:lnSpc>
            </a:pPr>
            <a:r>
              <a:rPr dirty="0">
                <a:solidFill>
                  <a:srgbClr val="00B0F0"/>
                </a:solidFill>
              </a:rPr>
              <a:t>Rectangle*</a:t>
            </a:r>
            <a:r>
              <a:rPr spc="-60" dirty="0">
                <a:solidFill>
                  <a:srgbClr val="00B0F0"/>
                </a:solidFill>
              </a:rPr>
              <a:t> </a:t>
            </a:r>
            <a:r>
              <a:rPr dirty="0"/>
              <a:t>r2</a:t>
            </a:r>
            <a:r>
              <a:rPr spc="-20" dirty="0"/>
              <a:t> </a:t>
            </a:r>
            <a:r>
              <a:rPr dirty="0">
                <a:solidFill>
                  <a:srgbClr val="FF0000"/>
                </a:solidFill>
              </a:rPr>
              <a:t>=</a:t>
            </a:r>
            <a:r>
              <a:rPr spc="-3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6F2FA0"/>
                </a:solidFill>
              </a:rPr>
              <a:t>new</a:t>
            </a:r>
            <a:r>
              <a:rPr spc="-25" dirty="0">
                <a:solidFill>
                  <a:srgbClr val="6F2FA0"/>
                </a:solidFill>
              </a:rPr>
              <a:t> </a:t>
            </a:r>
            <a:r>
              <a:rPr dirty="0">
                <a:solidFill>
                  <a:srgbClr val="00B0F0"/>
                </a:solidFill>
              </a:rPr>
              <a:t>Rectangle</a:t>
            </a:r>
            <a:r>
              <a:rPr dirty="0">
                <a:solidFill>
                  <a:srgbClr val="FF0000"/>
                </a:solidFill>
              </a:rPr>
              <a:t>(</a:t>
            </a:r>
            <a:r>
              <a:rPr dirty="0"/>
              <a:t>r1</a:t>
            </a:r>
            <a:r>
              <a:rPr dirty="0">
                <a:solidFill>
                  <a:srgbClr val="FF0000"/>
                </a:solidFill>
              </a:rPr>
              <a:t>);</a:t>
            </a:r>
            <a:r>
              <a:rPr spc="-55" dirty="0">
                <a:solidFill>
                  <a:srgbClr val="FF0000"/>
                </a:solidFill>
              </a:rPr>
              <a:t> </a:t>
            </a:r>
            <a:r>
              <a:rPr sz="1800" dirty="0">
                <a:solidFill>
                  <a:srgbClr val="00B04F"/>
                </a:solidFill>
              </a:rPr>
              <a:t>//</a:t>
            </a:r>
            <a:r>
              <a:rPr sz="1800" spc="-35" dirty="0">
                <a:solidFill>
                  <a:srgbClr val="00B04F"/>
                </a:solidFill>
              </a:rPr>
              <a:t> </a:t>
            </a:r>
            <a:r>
              <a:rPr sz="1800" dirty="0">
                <a:solidFill>
                  <a:srgbClr val="00B04F"/>
                </a:solidFill>
              </a:rPr>
              <a:t>constructeur</a:t>
            </a:r>
            <a:r>
              <a:rPr sz="1800" spc="-25" dirty="0">
                <a:solidFill>
                  <a:srgbClr val="00B04F"/>
                </a:solidFill>
              </a:rPr>
              <a:t> </a:t>
            </a:r>
            <a:r>
              <a:rPr sz="1800" dirty="0">
                <a:solidFill>
                  <a:srgbClr val="00B04F"/>
                </a:solidFill>
              </a:rPr>
              <a:t>de</a:t>
            </a:r>
            <a:r>
              <a:rPr sz="1800" spc="-20" dirty="0">
                <a:solidFill>
                  <a:srgbClr val="00B04F"/>
                </a:solidFill>
              </a:rPr>
              <a:t> </a:t>
            </a:r>
            <a:r>
              <a:rPr sz="1800" dirty="0">
                <a:solidFill>
                  <a:srgbClr val="00B04F"/>
                </a:solidFill>
              </a:rPr>
              <a:t>copie:</a:t>
            </a:r>
            <a:r>
              <a:rPr sz="1800" spc="-35" dirty="0">
                <a:solidFill>
                  <a:srgbClr val="00B04F"/>
                </a:solidFill>
              </a:rPr>
              <a:t> </a:t>
            </a:r>
            <a:r>
              <a:rPr sz="1800" dirty="0">
                <a:solidFill>
                  <a:srgbClr val="00B04F"/>
                </a:solidFill>
              </a:rPr>
              <a:t>création</a:t>
            </a:r>
            <a:r>
              <a:rPr sz="1800" spc="-35" dirty="0">
                <a:solidFill>
                  <a:srgbClr val="00B04F"/>
                </a:solidFill>
              </a:rPr>
              <a:t> </a:t>
            </a:r>
            <a:r>
              <a:rPr sz="1800" dirty="0">
                <a:solidFill>
                  <a:srgbClr val="00B04F"/>
                </a:solidFill>
              </a:rPr>
              <a:t>de</a:t>
            </a:r>
            <a:r>
              <a:rPr sz="1800" spc="-20" dirty="0">
                <a:solidFill>
                  <a:srgbClr val="00B04F"/>
                </a:solidFill>
              </a:rPr>
              <a:t> </a:t>
            </a:r>
            <a:r>
              <a:rPr sz="1800" spc="-10" dirty="0">
                <a:solidFill>
                  <a:srgbClr val="00B04F"/>
                </a:solidFill>
              </a:rPr>
              <a:t>l'objet</a:t>
            </a:r>
            <a:endParaRPr sz="1800"/>
          </a:p>
          <a:p>
            <a:pPr marL="3502660">
              <a:lnSpc>
                <a:spcPts val="2150"/>
              </a:lnSpc>
              <a:spcBef>
                <a:spcPts val="25"/>
              </a:spcBef>
            </a:pPr>
            <a:r>
              <a:rPr sz="1800" dirty="0">
                <a:solidFill>
                  <a:srgbClr val="00B04F"/>
                </a:solidFill>
              </a:rPr>
              <a:t>//</a:t>
            </a:r>
            <a:r>
              <a:rPr sz="1800" spc="-35" dirty="0">
                <a:solidFill>
                  <a:srgbClr val="00B04F"/>
                </a:solidFill>
              </a:rPr>
              <a:t> </a:t>
            </a:r>
            <a:r>
              <a:rPr sz="1800" dirty="0">
                <a:solidFill>
                  <a:srgbClr val="00B04F"/>
                </a:solidFill>
              </a:rPr>
              <a:t>dynamique</a:t>
            </a:r>
            <a:r>
              <a:rPr sz="1800" spc="-35" dirty="0">
                <a:solidFill>
                  <a:srgbClr val="00B04F"/>
                </a:solidFill>
              </a:rPr>
              <a:t> </a:t>
            </a:r>
            <a:r>
              <a:rPr sz="1800" dirty="0">
                <a:solidFill>
                  <a:srgbClr val="00B04F"/>
                </a:solidFill>
              </a:rPr>
              <a:t>r2</a:t>
            </a:r>
            <a:r>
              <a:rPr sz="1800" spc="-25" dirty="0">
                <a:solidFill>
                  <a:srgbClr val="00B04F"/>
                </a:solidFill>
              </a:rPr>
              <a:t> </a:t>
            </a:r>
            <a:r>
              <a:rPr sz="1800" dirty="0">
                <a:solidFill>
                  <a:srgbClr val="00B04F"/>
                </a:solidFill>
              </a:rPr>
              <a:t>et</a:t>
            </a:r>
            <a:r>
              <a:rPr sz="1800" spc="-25" dirty="0">
                <a:solidFill>
                  <a:srgbClr val="00B04F"/>
                </a:solidFill>
              </a:rPr>
              <a:t> </a:t>
            </a:r>
            <a:r>
              <a:rPr sz="1800" dirty="0">
                <a:solidFill>
                  <a:srgbClr val="00B04F"/>
                </a:solidFill>
              </a:rPr>
              <a:t>son</a:t>
            </a:r>
            <a:r>
              <a:rPr sz="1800" spc="-15" dirty="0">
                <a:solidFill>
                  <a:srgbClr val="00B04F"/>
                </a:solidFill>
              </a:rPr>
              <a:t> </a:t>
            </a:r>
            <a:r>
              <a:rPr sz="1800" dirty="0">
                <a:solidFill>
                  <a:srgbClr val="00B04F"/>
                </a:solidFill>
              </a:rPr>
              <a:t>initialisation</a:t>
            </a:r>
            <a:r>
              <a:rPr sz="1800" spc="-60" dirty="0">
                <a:solidFill>
                  <a:srgbClr val="00B04F"/>
                </a:solidFill>
              </a:rPr>
              <a:t> </a:t>
            </a:r>
            <a:r>
              <a:rPr sz="1800" dirty="0">
                <a:solidFill>
                  <a:srgbClr val="00B04F"/>
                </a:solidFill>
              </a:rPr>
              <a:t>avec</a:t>
            </a:r>
            <a:r>
              <a:rPr sz="1800" spc="-25" dirty="0">
                <a:solidFill>
                  <a:srgbClr val="00B04F"/>
                </a:solidFill>
              </a:rPr>
              <a:t> </a:t>
            </a:r>
            <a:r>
              <a:rPr sz="1800" dirty="0">
                <a:solidFill>
                  <a:srgbClr val="00B04F"/>
                </a:solidFill>
              </a:rPr>
              <a:t>les</a:t>
            </a:r>
            <a:r>
              <a:rPr sz="1800" spc="-35" dirty="0">
                <a:solidFill>
                  <a:srgbClr val="00B04F"/>
                </a:solidFill>
              </a:rPr>
              <a:t> </a:t>
            </a:r>
            <a:r>
              <a:rPr sz="1800" dirty="0">
                <a:solidFill>
                  <a:srgbClr val="00B04F"/>
                </a:solidFill>
              </a:rPr>
              <a:t>données</a:t>
            </a:r>
            <a:r>
              <a:rPr sz="1800" spc="-30" dirty="0">
                <a:solidFill>
                  <a:srgbClr val="00B04F"/>
                </a:solidFill>
              </a:rPr>
              <a:t> </a:t>
            </a:r>
            <a:r>
              <a:rPr sz="1800" dirty="0">
                <a:solidFill>
                  <a:srgbClr val="00B04F"/>
                </a:solidFill>
              </a:rPr>
              <a:t>de</a:t>
            </a:r>
            <a:r>
              <a:rPr sz="1800" spc="-25" dirty="0">
                <a:solidFill>
                  <a:srgbClr val="00B04F"/>
                </a:solidFill>
              </a:rPr>
              <a:t> r1.</a:t>
            </a:r>
            <a:endParaRPr sz="1800"/>
          </a:p>
          <a:p>
            <a:pPr marL="358140" marR="249554" indent="-342900">
              <a:lnSpc>
                <a:spcPts val="2880"/>
              </a:lnSpc>
              <a:spcBef>
                <a:spcPts val="85"/>
              </a:spcBef>
              <a:buClr>
                <a:srgbClr val="006FC0"/>
              </a:buClr>
              <a:buFont typeface="Wingdings"/>
              <a:buChar char=""/>
              <a:tabLst>
                <a:tab pos="358775" algn="l"/>
              </a:tabLst>
            </a:pPr>
            <a:r>
              <a:rPr dirty="0"/>
              <a:t>r1</a:t>
            </a:r>
            <a:r>
              <a:rPr spc="-20" dirty="0"/>
              <a:t> </a:t>
            </a:r>
            <a:r>
              <a:rPr dirty="0"/>
              <a:t>et</a:t>
            </a:r>
            <a:r>
              <a:rPr spc="-35" dirty="0"/>
              <a:t> </a:t>
            </a:r>
            <a:r>
              <a:rPr dirty="0"/>
              <a:t>r2</a:t>
            </a:r>
            <a:r>
              <a:rPr spc="-15" dirty="0"/>
              <a:t> </a:t>
            </a:r>
            <a:r>
              <a:rPr dirty="0"/>
              <a:t>sont</a:t>
            </a:r>
            <a:r>
              <a:rPr spc="-25" dirty="0"/>
              <a:t> </a:t>
            </a:r>
            <a:r>
              <a:rPr dirty="0"/>
              <a:t>deux</a:t>
            </a:r>
            <a:r>
              <a:rPr spc="-15" dirty="0"/>
              <a:t> </a:t>
            </a:r>
            <a:r>
              <a:rPr dirty="0"/>
              <a:t>instances</a:t>
            </a:r>
            <a:r>
              <a:rPr spc="-50" dirty="0"/>
              <a:t> </a:t>
            </a:r>
            <a:r>
              <a:rPr dirty="0"/>
              <a:t>distinctes</a:t>
            </a:r>
            <a:r>
              <a:rPr spc="-50" dirty="0"/>
              <a:t> </a:t>
            </a:r>
            <a:r>
              <a:rPr dirty="0"/>
              <a:t>mais</a:t>
            </a:r>
            <a:r>
              <a:rPr spc="-10" dirty="0"/>
              <a:t> </a:t>
            </a:r>
            <a:r>
              <a:rPr dirty="0"/>
              <a:t>ayant</a:t>
            </a:r>
            <a:r>
              <a:rPr spc="-35" dirty="0"/>
              <a:t> </a:t>
            </a:r>
            <a:r>
              <a:rPr dirty="0"/>
              <a:t>des</a:t>
            </a:r>
            <a:r>
              <a:rPr spc="-25" dirty="0"/>
              <a:t> </a:t>
            </a:r>
            <a:r>
              <a:rPr dirty="0"/>
              <a:t>mêmes</a:t>
            </a:r>
            <a:r>
              <a:rPr spc="10" dirty="0"/>
              <a:t> </a:t>
            </a:r>
            <a:r>
              <a:rPr spc="-10" dirty="0"/>
              <a:t>valeurs </a:t>
            </a:r>
            <a:r>
              <a:rPr dirty="0"/>
              <a:t>pour</a:t>
            </a:r>
            <a:r>
              <a:rPr spc="-40" dirty="0"/>
              <a:t> </a:t>
            </a:r>
            <a:r>
              <a:rPr dirty="0"/>
              <a:t>leurs</a:t>
            </a:r>
            <a:r>
              <a:rPr spc="-60" dirty="0"/>
              <a:t> </a:t>
            </a:r>
            <a:r>
              <a:rPr spc="-10" dirty="0"/>
              <a:t>attributs.</a:t>
            </a:r>
          </a:p>
        </p:txBody>
      </p:sp>
      <p:sp>
        <p:nvSpPr>
          <p:cNvPr id="6" name="object 6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21976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91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3304" rIns="0" bIns="0" rtlCol="0">
            <a:spAutoFit/>
          </a:bodyPr>
          <a:lstStyle/>
          <a:p>
            <a:pPr marL="372110">
              <a:lnSpc>
                <a:spcPct val="100000"/>
              </a:lnSpc>
              <a:spcBef>
                <a:spcPts val="100"/>
              </a:spcBef>
            </a:pPr>
            <a:r>
              <a:rPr spc="-350" dirty="0"/>
              <a:t>Constructeur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spc="-300" dirty="0"/>
              <a:t>de</a:t>
            </a:r>
            <a:r>
              <a:rPr b="0" spc="85" dirty="0">
                <a:latin typeface="Times New Roman"/>
                <a:cs typeface="Times New Roman"/>
              </a:rPr>
              <a:t> </a:t>
            </a:r>
            <a:r>
              <a:rPr spc="-325" dirty="0"/>
              <a:t>copie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92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5900" y="1855723"/>
            <a:ext cx="8338184" cy="529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006FC0"/>
              </a:buClr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Le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constructeur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de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copie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appelé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dans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trois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situations:</a:t>
            </a:r>
            <a:endParaRPr sz="24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Clr>
                <a:srgbClr val="006FC0"/>
              </a:buClr>
              <a:buAutoNum type="arabicPeriod"/>
              <a:tabLst>
                <a:tab pos="469265" algn="l"/>
              </a:tabLst>
            </a:pPr>
            <a:r>
              <a:rPr sz="2300" b="1" dirty="0">
                <a:latin typeface="Times New Roman"/>
                <a:cs typeface="Times New Roman"/>
              </a:rPr>
              <a:t>Lors</a:t>
            </a:r>
            <a:r>
              <a:rPr sz="2300" b="1" spc="-30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de</a:t>
            </a:r>
            <a:r>
              <a:rPr sz="2300" b="1" spc="-35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l’initialisation</a:t>
            </a:r>
            <a:r>
              <a:rPr sz="2300" b="1" spc="-60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d’un</a:t>
            </a:r>
            <a:r>
              <a:rPr sz="2300" b="1" spc="-50" dirty="0">
                <a:latin typeface="Times New Roman"/>
                <a:cs typeface="Times New Roman"/>
              </a:rPr>
              <a:t> </a:t>
            </a:r>
            <a:r>
              <a:rPr sz="2300" b="1" spc="-10" dirty="0">
                <a:latin typeface="Times New Roman"/>
                <a:cs typeface="Times New Roman"/>
              </a:rPr>
              <a:t>objet:</a:t>
            </a:r>
            <a:endParaRPr sz="2300">
              <a:latin typeface="Times New Roman"/>
              <a:cs typeface="Times New Roman"/>
            </a:endParaRPr>
          </a:p>
          <a:p>
            <a:pPr marL="812800" marR="5080" lvl="1" indent="-342900">
              <a:lnSpc>
                <a:spcPct val="100000"/>
              </a:lnSpc>
              <a:buClr>
                <a:srgbClr val="006FC0"/>
              </a:buClr>
              <a:buFont typeface="Wingdings"/>
              <a:buChar char=""/>
              <a:tabLst>
                <a:tab pos="812800" algn="l"/>
              </a:tabLst>
            </a:pPr>
            <a:r>
              <a:rPr sz="2300" dirty="0">
                <a:latin typeface="Times New Roman"/>
                <a:cs typeface="Times New Roman"/>
              </a:rPr>
              <a:t>Création</a:t>
            </a:r>
            <a:r>
              <a:rPr sz="2300" spc="-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d'un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nouvel</a:t>
            </a:r>
            <a:r>
              <a:rPr sz="2300" spc="-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objet</a:t>
            </a:r>
            <a:r>
              <a:rPr sz="2300" spc="-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initialisé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comme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étant</a:t>
            </a:r>
            <a:r>
              <a:rPr sz="2300" spc="-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une</a:t>
            </a:r>
            <a:r>
              <a:rPr sz="2300" spc="-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copie</a:t>
            </a:r>
            <a:r>
              <a:rPr sz="2300" spc="-40" dirty="0">
                <a:latin typeface="Times New Roman"/>
                <a:cs typeface="Times New Roman"/>
              </a:rPr>
              <a:t> </a:t>
            </a:r>
            <a:r>
              <a:rPr sz="2300" spc="-20" dirty="0">
                <a:latin typeface="Times New Roman"/>
                <a:cs typeface="Times New Roman"/>
              </a:rPr>
              <a:t>d'un </a:t>
            </a:r>
            <a:r>
              <a:rPr sz="2300" dirty="0">
                <a:latin typeface="Times New Roman"/>
                <a:cs typeface="Times New Roman"/>
              </a:rPr>
              <a:t>objet</a:t>
            </a:r>
            <a:r>
              <a:rPr sz="2300" spc="-3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existant.</a:t>
            </a:r>
            <a:endParaRPr sz="23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Clr>
                <a:srgbClr val="006FC0"/>
              </a:buClr>
              <a:buAutoNum type="arabicPeriod"/>
              <a:tabLst>
                <a:tab pos="469265" algn="l"/>
              </a:tabLst>
            </a:pPr>
            <a:r>
              <a:rPr sz="2300" b="1" dirty="0">
                <a:latin typeface="Times New Roman"/>
                <a:cs typeface="Times New Roman"/>
              </a:rPr>
              <a:t>Lors</a:t>
            </a:r>
            <a:r>
              <a:rPr sz="2300" b="1" spc="-40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d’un</a:t>
            </a:r>
            <a:r>
              <a:rPr sz="2300" b="1" spc="-75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passage</a:t>
            </a:r>
            <a:r>
              <a:rPr sz="2300" b="1" spc="-45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de</a:t>
            </a:r>
            <a:r>
              <a:rPr sz="2300" b="1" spc="-50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paramètres</a:t>
            </a:r>
            <a:r>
              <a:rPr sz="2300" b="1" spc="-50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par</a:t>
            </a:r>
            <a:r>
              <a:rPr sz="2300" b="1" spc="-85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valeur</a:t>
            </a:r>
            <a:r>
              <a:rPr sz="2300" b="1" spc="-85" dirty="0">
                <a:latin typeface="Times New Roman"/>
                <a:cs typeface="Times New Roman"/>
              </a:rPr>
              <a:t> </a:t>
            </a:r>
            <a:r>
              <a:rPr sz="2300" b="1" spc="-50" dirty="0">
                <a:latin typeface="Times New Roman"/>
                <a:cs typeface="Times New Roman"/>
              </a:rPr>
              <a:t>:</a:t>
            </a:r>
            <a:endParaRPr sz="2300">
              <a:latin typeface="Times New Roman"/>
              <a:cs typeface="Times New Roman"/>
            </a:endParaRPr>
          </a:p>
          <a:p>
            <a:pPr marL="378460">
              <a:lnSpc>
                <a:spcPct val="100000"/>
              </a:lnSpc>
            </a:pPr>
            <a:r>
              <a:rPr sz="230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300" spc="-6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maFonction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300" dirty="0">
                <a:solidFill>
                  <a:srgbClr val="00B0F0"/>
                </a:solidFill>
                <a:latin typeface="Times New Roman"/>
                <a:cs typeface="Times New Roman"/>
              </a:rPr>
              <a:t>Rectangle</a:t>
            </a:r>
            <a:r>
              <a:rPr sz="2300" spc="-20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r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);</a:t>
            </a:r>
            <a:r>
              <a:rPr sz="23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0B04F"/>
                </a:solidFill>
                <a:latin typeface="Times New Roman"/>
                <a:cs typeface="Times New Roman"/>
              </a:rPr>
              <a:t>//prototype</a:t>
            </a:r>
            <a:r>
              <a:rPr sz="2300" spc="-5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2300" spc="-5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300" spc="-10" dirty="0">
                <a:solidFill>
                  <a:srgbClr val="00B04F"/>
                </a:solidFill>
                <a:latin typeface="Times New Roman"/>
                <a:cs typeface="Times New Roman"/>
              </a:rPr>
              <a:t>maFonction</a:t>
            </a:r>
            <a:endParaRPr sz="2300">
              <a:latin typeface="Times New Roman"/>
              <a:cs typeface="Times New Roman"/>
            </a:endParaRPr>
          </a:p>
          <a:p>
            <a:pPr marL="378460">
              <a:lnSpc>
                <a:spcPct val="100000"/>
              </a:lnSpc>
            </a:pPr>
            <a:r>
              <a:rPr sz="2300" spc="-25" dirty="0">
                <a:solidFill>
                  <a:srgbClr val="FF0000"/>
                </a:solidFill>
                <a:latin typeface="Times New Roman"/>
                <a:cs typeface="Times New Roman"/>
              </a:rPr>
              <a:t>...</a:t>
            </a:r>
            <a:endParaRPr sz="2300">
              <a:latin typeface="Times New Roman"/>
              <a:cs typeface="Times New Roman"/>
            </a:endParaRPr>
          </a:p>
          <a:p>
            <a:pPr marL="378460">
              <a:lnSpc>
                <a:spcPct val="100000"/>
              </a:lnSpc>
            </a:pPr>
            <a:r>
              <a:rPr sz="2300" dirty="0">
                <a:latin typeface="Times New Roman"/>
                <a:cs typeface="Times New Roman"/>
              </a:rPr>
              <a:t>x</a:t>
            </a:r>
            <a:r>
              <a:rPr sz="2300" spc="-40" dirty="0"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3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maFonction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300" dirty="0">
                <a:solidFill>
                  <a:srgbClr val="FF32CC"/>
                </a:solidFill>
                <a:latin typeface="Times New Roman"/>
                <a:cs typeface="Times New Roman"/>
              </a:rPr>
              <a:t>r1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);</a:t>
            </a:r>
            <a:r>
              <a:rPr sz="23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0B04F"/>
                </a:solidFill>
                <a:latin typeface="Times New Roman"/>
                <a:cs typeface="Times New Roman"/>
              </a:rPr>
              <a:t>//appel</a:t>
            </a:r>
            <a:r>
              <a:rPr sz="2300" spc="-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2300" spc="-3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300" spc="-10" dirty="0">
                <a:solidFill>
                  <a:srgbClr val="00B04F"/>
                </a:solidFill>
                <a:latin typeface="Times New Roman"/>
                <a:cs typeface="Times New Roman"/>
              </a:rPr>
              <a:t>maFonction</a:t>
            </a:r>
            <a:endParaRPr sz="2300">
              <a:latin typeface="Times New Roman"/>
              <a:cs typeface="Times New Roman"/>
            </a:endParaRPr>
          </a:p>
          <a:p>
            <a:pPr marL="812165" lvl="1" indent="-342265">
              <a:lnSpc>
                <a:spcPct val="100000"/>
              </a:lnSpc>
              <a:buClr>
                <a:srgbClr val="006FC0"/>
              </a:buClr>
              <a:buFont typeface="Wingdings"/>
              <a:buChar char=""/>
              <a:tabLst>
                <a:tab pos="812165" algn="l"/>
              </a:tabLst>
            </a:pPr>
            <a:r>
              <a:rPr sz="2300" dirty="0">
                <a:latin typeface="Times New Roman"/>
                <a:cs typeface="Times New Roman"/>
              </a:rPr>
              <a:t>Copie</a:t>
            </a:r>
            <a:r>
              <a:rPr sz="2300" spc="-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de</a:t>
            </a:r>
            <a:r>
              <a:rPr sz="2300" spc="-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r1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dans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r</a:t>
            </a:r>
            <a:r>
              <a:rPr sz="2300" spc="-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donc</a:t>
            </a:r>
            <a:r>
              <a:rPr sz="2300" spc="-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invocation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du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constructeur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de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copie.</a:t>
            </a:r>
            <a:endParaRPr sz="23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Clr>
                <a:srgbClr val="006FC0"/>
              </a:buClr>
              <a:buAutoNum type="arabicPeriod" startAt="3"/>
              <a:tabLst>
                <a:tab pos="469265" algn="l"/>
              </a:tabLst>
            </a:pPr>
            <a:r>
              <a:rPr sz="2300" b="1" dirty="0">
                <a:latin typeface="Times New Roman"/>
                <a:cs typeface="Times New Roman"/>
              </a:rPr>
              <a:t>Lors</a:t>
            </a:r>
            <a:r>
              <a:rPr sz="2300" b="1" spc="-35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de</a:t>
            </a:r>
            <a:r>
              <a:rPr sz="2300" b="1" spc="-40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retour</a:t>
            </a:r>
            <a:r>
              <a:rPr sz="2300" b="1" spc="-80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de</a:t>
            </a:r>
            <a:r>
              <a:rPr sz="2300" b="1" spc="-50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fonction</a:t>
            </a:r>
            <a:r>
              <a:rPr sz="2300" b="1" spc="-50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par</a:t>
            </a:r>
            <a:r>
              <a:rPr sz="2300" b="1" spc="-80" dirty="0">
                <a:latin typeface="Times New Roman"/>
                <a:cs typeface="Times New Roman"/>
              </a:rPr>
              <a:t> </a:t>
            </a:r>
            <a:r>
              <a:rPr sz="2300" b="1" spc="-10" dirty="0">
                <a:latin typeface="Times New Roman"/>
                <a:cs typeface="Times New Roman"/>
              </a:rPr>
              <a:t>valeur</a:t>
            </a:r>
            <a:endParaRPr sz="2300">
              <a:latin typeface="Times New Roman"/>
              <a:cs typeface="Times New Roman"/>
            </a:endParaRPr>
          </a:p>
          <a:p>
            <a:pPr marL="449580" marR="6082665">
              <a:lnSpc>
                <a:spcPct val="100000"/>
              </a:lnSpc>
            </a:pPr>
            <a:r>
              <a:rPr sz="2300" dirty="0">
                <a:solidFill>
                  <a:srgbClr val="00B0F0"/>
                </a:solidFill>
                <a:latin typeface="Times New Roman"/>
                <a:cs typeface="Times New Roman"/>
              </a:rPr>
              <a:t>Rectangle</a:t>
            </a:r>
            <a:r>
              <a:rPr sz="2300" spc="-25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g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()</a:t>
            </a:r>
            <a:r>
              <a:rPr sz="23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spc="-50" dirty="0">
                <a:solidFill>
                  <a:srgbClr val="FF0000"/>
                </a:solidFill>
                <a:latin typeface="Times New Roman"/>
                <a:cs typeface="Times New Roman"/>
              </a:rPr>
              <a:t>{ </a:t>
            </a:r>
            <a:r>
              <a:rPr sz="2300" dirty="0">
                <a:solidFill>
                  <a:srgbClr val="00B0F0"/>
                </a:solidFill>
                <a:latin typeface="Times New Roman"/>
                <a:cs typeface="Times New Roman"/>
              </a:rPr>
              <a:t>Rectangle</a:t>
            </a:r>
            <a:r>
              <a:rPr sz="2300" spc="-70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rect</a:t>
            </a:r>
            <a:r>
              <a:rPr sz="2300" spc="-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300">
              <a:latin typeface="Times New Roman"/>
              <a:cs typeface="Times New Roman"/>
            </a:endParaRPr>
          </a:p>
          <a:p>
            <a:pPr marL="449580">
              <a:lnSpc>
                <a:spcPct val="100000"/>
              </a:lnSpc>
            </a:pPr>
            <a:r>
              <a:rPr sz="2300" spc="-50" dirty="0">
                <a:solidFill>
                  <a:srgbClr val="FF0000"/>
                </a:solidFill>
                <a:latin typeface="Times New Roman"/>
                <a:cs typeface="Times New Roman"/>
              </a:rPr>
              <a:t>…</a:t>
            </a:r>
            <a:endParaRPr sz="2300">
              <a:latin typeface="Times New Roman"/>
              <a:cs typeface="Times New Roman"/>
            </a:endParaRPr>
          </a:p>
          <a:p>
            <a:pPr marL="449580">
              <a:lnSpc>
                <a:spcPct val="100000"/>
              </a:lnSpc>
            </a:pPr>
            <a:r>
              <a:rPr sz="2300" dirty="0">
                <a:solidFill>
                  <a:srgbClr val="001F5F"/>
                </a:solidFill>
                <a:latin typeface="Times New Roman"/>
                <a:cs typeface="Times New Roman"/>
              </a:rPr>
              <a:t>return</a:t>
            </a:r>
            <a:r>
              <a:rPr sz="2300" spc="-3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rect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r>
              <a:rPr sz="23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300" spc="-3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0B04F"/>
                </a:solidFill>
                <a:latin typeface="Times New Roman"/>
                <a:cs typeface="Times New Roman"/>
              </a:rPr>
              <a:t>retour</a:t>
            </a:r>
            <a:r>
              <a:rPr sz="2300" spc="-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0B04F"/>
                </a:solidFill>
                <a:latin typeface="Times New Roman"/>
                <a:cs typeface="Times New Roman"/>
              </a:rPr>
              <a:t>par</a:t>
            </a:r>
            <a:r>
              <a:rPr sz="2300" spc="-4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0B04F"/>
                </a:solidFill>
                <a:latin typeface="Times New Roman"/>
                <a:cs typeface="Times New Roman"/>
              </a:rPr>
              <a:t>valeur</a:t>
            </a:r>
            <a:r>
              <a:rPr sz="2300" spc="-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2300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300" spc="-20" dirty="0">
                <a:solidFill>
                  <a:srgbClr val="00B04F"/>
                </a:solidFill>
                <a:latin typeface="Times New Roman"/>
                <a:cs typeface="Times New Roman"/>
              </a:rPr>
              <a:t>rect</a:t>
            </a:r>
            <a:endParaRPr sz="2300">
              <a:latin typeface="Times New Roman"/>
              <a:cs typeface="Times New Roman"/>
            </a:endParaRPr>
          </a:p>
          <a:p>
            <a:pPr marL="449580">
              <a:lnSpc>
                <a:spcPct val="100000"/>
              </a:lnSpc>
            </a:pPr>
            <a:r>
              <a:rPr sz="2300" spc="-5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21976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92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3304" rIns="0" bIns="0" rtlCol="0">
            <a:spAutoFit/>
          </a:bodyPr>
          <a:lstStyle/>
          <a:p>
            <a:pPr marL="372110">
              <a:lnSpc>
                <a:spcPct val="100000"/>
              </a:lnSpc>
              <a:spcBef>
                <a:spcPts val="100"/>
              </a:spcBef>
            </a:pPr>
            <a:r>
              <a:rPr spc="-350" dirty="0"/>
              <a:t>Constructeur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spc="-300" dirty="0"/>
              <a:t>de</a:t>
            </a:r>
            <a:r>
              <a:rPr b="0" spc="85" dirty="0">
                <a:latin typeface="Times New Roman"/>
                <a:cs typeface="Times New Roman"/>
              </a:rPr>
              <a:t> </a:t>
            </a:r>
            <a:r>
              <a:rPr spc="-325" dirty="0"/>
              <a:t>copie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93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20685" y="1886203"/>
            <a:ext cx="8181975" cy="5146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4965" algn="l"/>
                <a:tab pos="431165" algn="l"/>
              </a:tabLst>
            </a:pP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Le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constructeur</a:t>
            </a:r>
            <a:r>
              <a:rPr sz="2400" b="1" spc="-8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de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copie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permet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d’</a:t>
            </a:r>
            <a:r>
              <a:rPr sz="2400" b="1" dirty="0">
                <a:latin typeface="Times New Roman"/>
                <a:cs typeface="Times New Roman"/>
              </a:rPr>
              <a:t>initialiser</a:t>
            </a:r>
            <a:r>
              <a:rPr sz="2400" b="1" spc="-1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une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instance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en </a:t>
            </a:r>
            <a:r>
              <a:rPr sz="2400" b="1" dirty="0">
                <a:latin typeface="Times New Roman"/>
                <a:cs typeface="Times New Roman"/>
              </a:rPr>
              <a:t>copiant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les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attributs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d’une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autre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instance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du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même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type.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Clr>
                <a:srgbClr val="006FC0"/>
              </a:buClr>
              <a:buFont typeface="Wingdings"/>
              <a:buChar char=""/>
              <a:tabLst>
                <a:tab pos="354965" algn="l"/>
              </a:tabLst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Deux</a:t>
            </a:r>
            <a:r>
              <a:rPr sz="24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syntaxes</a:t>
            </a:r>
            <a:r>
              <a:rPr sz="240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possibles</a:t>
            </a:r>
            <a:r>
              <a:rPr sz="2400" b="1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316865" marR="891540">
              <a:lnSpc>
                <a:spcPct val="200000"/>
              </a:lnSpc>
            </a:pPr>
            <a:r>
              <a:rPr sz="2400" b="1" spc="-10" dirty="0">
                <a:solidFill>
                  <a:srgbClr val="00B0F0"/>
                </a:solidFill>
                <a:latin typeface="Times New Roman"/>
                <a:cs typeface="Times New Roman"/>
              </a:rPr>
              <a:t>NomDeLaClasse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400" b="1" spc="-10" dirty="0">
                <a:solidFill>
                  <a:srgbClr val="00B0F0"/>
                </a:solidFill>
                <a:latin typeface="Times New Roman"/>
                <a:cs typeface="Times New Roman"/>
              </a:rPr>
              <a:t>NomDeLaClasse</a:t>
            </a:r>
            <a:r>
              <a:rPr sz="2400" b="1" spc="5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const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&amp;</a:t>
            </a:r>
            <a:r>
              <a:rPr sz="24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6F2FA0"/>
                </a:solidFill>
                <a:latin typeface="Times New Roman"/>
                <a:cs typeface="Times New Roman"/>
              </a:rPr>
              <a:t>autre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24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...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0" dirty="0">
                <a:solidFill>
                  <a:srgbClr val="FF0000"/>
                </a:solidFill>
                <a:latin typeface="Times New Roman"/>
                <a:cs typeface="Times New Roman"/>
              </a:rPr>
              <a:t>} 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ou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Times New Roman"/>
              <a:cs typeface="Times New Roman"/>
            </a:endParaRPr>
          </a:p>
          <a:p>
            <a:pPr marL="240665">
              <a:lnSpc>
                <a:spcPct val="100000"/>
              </a:lnSpc>
            </a:pPr>
            <a:r>
              <a:rPr sz="2400" b="1" spc="-10" dirty="0">
                <a:solidFill>
                  <a:srgbClr val="00B0F0"/>
                </a:solidFill>
                <a:latin typeface="Times New Roman"/>
                <a:cs typeface="Times New Roman"/>
              </a:rPr>
              <a:t>NomDeLaClasse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400" b="1" spc="-10" dirty="0">
                <a:solidFill>
                  <a:srgbClr val="00B0F0"/>
                </a:solidFill>
                <a:latin typeface="Times New Roman"/>
                <a:cs typeface="Times New Roman"/>
              </a:rPr>
              <a:t>NomDeLaClasse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&amp;</a:t>
            </a:r>
            <a:r>
              <a:rPr sz="24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6F2FA0"/>
                </a:solidFill>
                <a:latin typeface="Times New Roman"/>
                <a:cs typeface="Times New Roman"/>
              </a:rPr>
              <a:t>autre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24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...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Times New Roman"/>
              <a:cs typeface="Times New Roman"/>
            </a:endParaRPr>
          </a:p>
          <a:p>
            <a:pPr marL="431165" indent="-418465">
              <a:lnSpc>
                <a:spcPts val="2860"/>
              </a:lnSpc>
              <a:buClr>
                <a:srgbClr val="006FC0"/>
              </a:buClr>
              <a:buFont typeface="Wingdings"/>
              <a:buChar char=""/>
              <a:tabLst>
                <a:tab pos="431165" algn="l"/>
              </a:tabLst>
            </a:pP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Exemple:</a:t>
            </a:r>
            <a:endParaRPr sz="2400">
              <a:latin typeface="Times New Roman"/>
              <a:cs typeface="Times New Roman"/>
            </a:endParaRPr>
          </a:p>
          <a:p>
            <a:pPr marL="349250">
              <a:lnSpc>
                <a:spcPts val="2860"/>
              </a:lnSpc>
            </a:pPr>
            <a:r>
              <a:rPr sz="2400" dirty="0">
                <a:solidFill>
                  <a:srgbClr val="00B0F0"/>
                </a:solidFill>
                <a:latin typeface="Times New Roman"/>
                <a:cs typeface="Times New Roman"/>
              </a:rPr>
              <a:t>Rectangle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400" dirty="0">
                <a:solidFill>
                  <a:srgbClr val="00B0F0"/>
                </a:solidFill>
                <a:latin typeface="Times New Roman"/>
                <a:cs typeface="Times New Roman"/>
              </a:rPr>
              <a:t>Rectangle</a:t>
            </a:r>
            <a:r>
              <a:rPr sz="2400" spc="-85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1F5F"/>
                </a:solidFill>
                <a:latin typeface="Times New Roman"/>
                <a:cs typeface="Times New Roman"/>
              </a:rPr>
              <a:t>const</a:t>
            </a:r>
            <a:r>
              <a:rPr sz="2400" dirty="0">
                <a:solidFill>
                  <a:srgbClr val="FF0065"/>
                </a:solidFill>
                <a:latin typeface="Times New Roman"/>
                <a:cs typeface="Times New Roman"/>
              </a:rPr>
              <a:t>&amp;</a:t>
            </a:r>
            <a:r>
              <a:rPr sz="2400" spc="-60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autre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 marL="316865">
              <a:lnSpc>
                <a:spcPct val="100000"/>
              </a:lnSpc>
              <a:spcBef>
                <a:spcPts val="35"/>
              </a:spcBef>
            </a:pP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  <a:r>
              <a:rPr sz="2400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m_hauteur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400" dirty="0">
                <a:latin typeface="Times New Roman"/>
                <a:cs typeface="Times New Roman"/>
              </a:rPr>
              <a:t>autre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.</a:t>
            </a:r>
            <a:r>
              <a:rPr sz="2400" dirty="0">
                <a:latin typeface="Times New Roman"/>
                <a:cs typeface="Times New Roman"/>
              </a:rPr>
              <a:t>m_hauteur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),</a:t>
            </a:r>
            <a:r>
              <a:rPr sz="2400" spc="-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m_largeur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400" spc="-10" dirty="0">
                <a:latin typeface="Times New Roman"/>
                <a:cs typeface="Times New Roman"/>
              </a:rPr>
              <a:t>autre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.</a:t>
            </a:r>
            <a:r>
              <a:rPr sz="2400" spc="-10" dirty="0">
                <a:latin typeface="Times New Roman"/>
                <a:cs typeface="Times New Roman"/>
              </a:rPr>
              <a:t>m_largeur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 marL="240665">
              <a:lnSpc>
                <a:spcPct val="100000"/>
              </a:lnSpc>
            </a:pP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{}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21976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93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3304" rIns="0" bIns="0" rtlCol="0">
            <a:spAutoFit/>
          </a:bodyPr>
          <a:lstStyle/>
          <a:p>
            <a:pPr marL="372110">
              <a:lnSpc>
                <a:spcPct val="100000"/>
              </a:lnSpc>
              <a:spcBef>
                <a:spcPts val="100"/>
              </a:spcBef>
            </a:pPr>
            <a:r>
              <a:rPr spc="-350" dirty="0"/>
              <a:t>Constructeur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spc="-300" dirty="0"/>
              <a:t>de</a:t>
            </a:r>
            <a:r>
              <a:rPr b="0" spc="85" dirty="0">
                <a:latin typeface="Times New Roman"/>
                <a:cs typeface="Times New Roman"/>
              </a:rPr>
              <a:t> </a:t>
            </a:r>
            <a:r>
              <a:rPr spc="-325" dirty="0"/>
              <a:t>copie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94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20685" y="1886203"/>
            <a:ext cx="8303259" cy="3683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92075" indent="-342900">
              <a:lnSpc>
                <a:spcPct val="100000"/>
              </a:lnSpc>
              <a:spcBef>
                <a:spcPts val="100"/>
              </a:spcBef>
              <a:buClr>
                <a:srgbClr val="006FC0"/>
              </a:buClr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type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constructeur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d'initialiser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objet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lors</a:t>
            </a:r>
            <a:r>
              <a:rPr sz="2400" spc="-25" dirty="0">
                <a:latin typeface="Times New Roman"/>
                <a:cs typeface="Times New Roman"/>
              </a:rPr>
              <a:t> de </a:t>
            </a:r>
            <a:r>
              <a:rPr sz="2400" dirty="0">
                <a:latin typeface="Times New Roman"/>
                <a:cs typeface="Times New Roman"/>
              </a:rPr>
              <a:t>son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instanciation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à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partir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d'un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autre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objet.</a:t>
            </a:r>
            <a:endParaRPr sz="2400">
              <a:latin typeface="Times New Roman"/>
              <a:cs typeface="Times New Roman"/>
            </a:endParaRPr>
          </a:p>
          <a:p>
            <a:pPr marL="354965" marR="571500" indent="-342900">
              <a:lnSpc>
                <a:spcPct val="100000"/>
              </a:lnSpc>
              <a:buClr>
                <a:srgbClr val="006FC0"/>
              </a:buClr>
              <a:buFont typeface="Wingdings"/>
              <a:buChar char=""/>
              <a:tabLst>
                <a:tab pos="354965" algn="l"/>
              </a:tabLst>
            </a:pPr>
            <a:r>
              <a:rPr sz="2400" spc="-10" dirty="0">
                <a:latin typeface="Times New Roman"/>
                <a:cs typeface="Times New Roman"/>
              </a:rPr>
              <a:t>Toute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classe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dispose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d'un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constructeur</a:t>
            </a:r>
            <a:r>
              <a:rPr sz="2400" b="1" spc="-9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de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copie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par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défaut </a:t>
            </a:r>
            <a:r>
              <a:rPr sz="2400" dirty="0">
                <a:latin typeface="Times New Roman"/>
                <a:cs typeface="Times New Roman"/>
              </a:rPr>
              <a:t>généré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automatiquement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compilateur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s’il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n’est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pas </a:t>
            </a:r>
            <a:r>
              <a:rPr sz="2400" dirty="0">
                <a:latin typeface="Times New Roman"/>
                <a:cs typeface="Times New Roman"/>
              </a:rPr>
              <a:t>explicitement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défini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(</a:t>
            </a:r>
            <a:r>
              <a:rPr sz="2400" b="1" spc="-10" dirty="0">
                <a:latin typeface="Times New Roman"/>
                <a:cs typeface="Times New Roman"/>
              </a:rPr>
              <a:t>constructeur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de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copie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par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défaut</a:t>
            </a:r>
            <a:r>
              <a:rPr sz="2400" spc="-10" dirty="0">
                <a:latin typeface="Times New Roman"/>
                <a:cs typeface="Times New Roman"/>
              </a:rPr>
              <a:t>).</a:t>
            </a:r>
            <a:endParaRPr sz="2400">
              <a:latin typeface="Times New Roman"/>
              <a:cs typeface="Times New Roman"/>
            </a:endParaRPr>
          </a:p>
          <a:p>
            <a:pPr marL="354965" marR="453390" indent="-342900">
              <a:lnSpc>
                <a:spcPct val="100000"/>
              </a:lnSpc>
              <a:buClr>
                <a:srgbClr val="006FC0"/>
              </a:buClr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Le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seul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recopier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attributs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l'objet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à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dans </a:t>
            </a:r>
            <a:r>
              <a:rPr sz="2400" dirty="0">
                <a:latin typeface="Times New Roman"/>
                <a:cs typeface="Times New Roman"/>
              </a:rPr>
              <a:t>attributs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l'objet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à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instancier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(si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l’attribut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objet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le </a:t>
            </a:r>
            <a:r>
              <a:rPr sz="2400" dirty="0">
                <a:latin typeface="Times New Roman"/>
                <a:cs typeface="Times New Roman"/>
              </a:rPr>
              <a:t>constructeur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cet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objet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invoqué).</a:t>
            </a:r>
            <a:endParaRPr sz="2400">
              <a:latin typeface="Times New Roman"/>
              <a:cs typeface="Times New Roman"/>
            </a:endParaRPr>
          </a:p>
          <a:p>
            <a:pPr marL="354965" marR="5080" indent="-342900">
              <a:lnSpc>
                <a:spcPct val="100000"/>
              </a:lnSpc>
              <a:buClr>
                <a:srgbClr val="006FC0"/>
              </a:buClr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Donc,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rôle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du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constructeur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de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copie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copier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valeur</a:t>
            </a:r>
            <a:r>
              <a:rPr sz="2400" spc="-25" dirty="0">
                <a:latin typeface="Times New Roman"/>
                <a:cs typeface="Times New Roman"/>
              </a:rPr>
              <a:t> de </a:t>
            </a:r>
            <a:r>
              <a:rPr sz="2400" dirty="0">
                <a:latin typeface="Times New Roman"/>
                <a:cs typeface="Times New Roman"/>
              </a:rPr>
              <a:t>tous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attributs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du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premier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objet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dans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second.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21976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94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3304" rIns="0" bIns="0" rtlCol="0">
            <a:spAutoFit/>
          </a:bodyPr>
          <a:lstStyle/>
          <a:p>
            <a:pPr marL="372110">
              <a:lnSpc>
                <a:spcPct val="100000"/>
              </a:lnSpc>
              <a:spcBef>
                <a:spcPts val="100"/>
              </a:spcBef>
            </a:pPr>
            <a:r>
              <a:rPr spc="-350" dirty="0"/>
              <a:t>Constructeur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spc="-300" dirty="0"/>
              <a:t>de</a:t>
            </a:r>
            <a:r>
              <a:rPr b="0" spc="85" dirty="0">
                <a:latin typeface="Times New Roman"/>
                <a:cs typeface="Times New Roman"/>
              </a:rPr>
              <a:t> </a:t>
            </a:r>
            <a:r>
              <a:rPr spc="-325" dirty="0"/>
              <a:t>copie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95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20685" y="1941067"/>
            <a:ext cx="8555990" cy="3683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 algn="just">
              <a:lnSpc>
                <a:spcPct val="100000"/>
              </a:lnSpc>
              <a:spcBef>
                <a:spcPts val="100"/>
              </a:spcBef>
              <a:buClr>
                <a:srgbClr val="006FC0"/>
              </a:buClr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Ce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constructeur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contente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d'effectuer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copie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chacun</a:t>
            </a:r>
            <a:endParaRPr sz="2400">
              <a:latin typeface="Times New Roman"/>
              <a:cs typeface="Times New Roman"/>
            </a:endParaRPr>
          </a:p>
          <a:p>
            <a:pPr marL="12700" marR="5715" algn="just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des</a:t>
            </a:r>
            <a:r>
              <a:rPr sz="2400" spc="3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membres.</a:t>
            </a:r>
            <a:r>
              <a:rPr sz="2400" spc="3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3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retrouve</a:t>
            </a:r>
            <a:r>
              <a:rPr sz="2400" spc="3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là</a:t>
            </a:r>
            <a:r>
              <a:rPr sz="2400" spc="3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une</a:t>
            </a:r>
            <a:r>
              <a:rPr sz="2400" spc="3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situation</a:t>
            </a:r>
            <a:r>
              <a:rPr sz="2400" spc="2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analogue</a:t>
            </a:r>
            <a:r>
              <a:rPr sz="2400" spc="3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à</a:t>
            </a:r>
            <a:r>
              <a:rPr sz="2400" spc="3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celle</a:t>
            </a:r>
            <a:r>
              <a:rPr sz="2400" spc="3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qui</a:t>
            </a:r>
            <a:r>
              <a:rPr sz="2400" spc="30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est </a:t>
            </a:r>
            <a:r>
              <a:rPr sz="2400" dirty="0">
                <a:latin typeface="Times New Roman"/>
                <a:cs typeface="Times New Roman"/>
              </a:rPr>
              <a:t>mise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place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(par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défaut)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lors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d'une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affectation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entre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objets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même </a:t>
            </a:r>
            <a:r>
              <a:rPr sz="2400" dirty="0">
                <a:latin typeface="Times New Roman"/>
                <a:cs typeface="Times New Roman"/>
              </a:rPr>
              <a:t>type.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Elle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posera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donc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mêmes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problèmes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pour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objets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contenant </a:t>
            </a:r>
            <a:r>
              <a:rPr sz="2400" dirty="0">
                <a:latin typeface="Times New Roman"/>
                <a:cs typeface="Times New Roman"/>
              </a:rPr>
              <a:t>des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pointeurs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emplacements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dynamiques.</a:t>
            </a:r>
            <a:endParaRPr sz="2400">
              <a:latin typeface="Times New Roman"/>
              <a:cs typeface="Times New Roman"/>
            </a:endParaRPr>
          </a:p>
          <a:p>
            <a:pPr marL="354965" marR="5080" indent="-342900" algn="just">
              <a:lnSpc>
                <a:spcPct val="100000"/>
              </a:lnSpc>
              <a:buClr>
                <a:srgbClr val="006FC0"/>
              </a:buClr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aura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simplement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affaire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à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une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"copie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superficielle",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c'est-à-</a:t>
            </a:r>
            <a:r>
              <a:rPr sz="2400" spc="-20" dirty="0">
                <a:latin typeface="Times New Roman"/>
                <a:cs typeface="Times New Roman"/>
              </a:rPr>
              <a:t>dire </a:t>
            </a:r>
            <a:r>
              <a:rPr sz="2400" dirty="0">
                <a:latin typeface="Times New Roman"/>
                <a:cs typeface="Times New Roman"/>
              </a:rPr>
              <a:t>que</a:t>
            </a:r>
            <a:r>
              <a:rPr sz="2400" spc="33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seules</a:t>
            </a:r>
            <a:r>
              <a:rPr sz="2400" spc="33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les</a:t>
            </a:r>
            <a:r>
              <a:rPr sz="2400" spc="34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valeurs</a:t>
            </a:r>
            <a:r>
              <a:rPr sz="2400" spc="34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des</a:t>
            </a:r>
            <a:r>
              <a:rPr sz="2400" spc="34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pointeurs</a:t>
            </a:r>
            <a:r>
              <a:rPr sz="2400" spc="33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seront</a:t>
            </a:r>
            <a:r>
              <a:rPr sz="2400" spc="34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recopiées,</a:t>
            </a:r>
            <a:r>
              <a:rPr sz="2400" spc="335" dirty="0">
                <a:latin typeface="Times New Roman"/>
                <a:cs typeface="Times New Roman"/>
              </a:rPr>
              <a:t>  </a:t>
            </a:r>
            <a:r>
              <a:rPr sz="2400" spc="-25" dirty="0">
                <a:latin typeface="Times New Roman"/>
                <a:cs typeface="Times New Roman"/>
              </a:rPr>
              <a:t>les </a:t>
            </a:r>
            <a:r>
              <a:rPr sz="2400" dirty="0">
                <a:latin typeface="Times New Roman"/>
                <a:cs typeface="Times New Roman"/>
              </a:rPr>
              <a:t>emplacements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pointés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seront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pas.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Times New Roman"/>
              <a:cs typeface="Times New Roman"/>
            </a:endParaRPr>
          </a:p>
          <a:p>
            <a:pPr marR="436880" algn="ctr">
              <a:lnSpc>
                <a:spcPct val="100000"/>
              </a:lnSpc>
            </a:pPr>
            <a:r>
              <a:rPr sz="2400" b="1" dirty="0">
                <a:latin typeface="Times New Roman"/>
                <a:cs typeface="Times New Roman"/>
              </a:rPr>
              <a:t>copie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de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surface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ou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copie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superficielle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952122" y="5268468"/>
            <a:ext cx="815340" cy="405765"/>
            <a:chOff x="1952122" y="5268468"/>
            <a:chExt cx="815340" cy="405765"/>
          </a:xfrm>
        </p:grpSpPr>
        <p:sp>
          <p:nvSpPr>
            <p:cNvPr id="7" name="object 7"/>
            <p:cNvSpPr/>
            <p:nvPr/>
          </p:nvSpPr>
          <p:spPr>
            <a:xfrm>
              <a:off x="1962790" y="5291328"/>
              <a:ext cx="791210" cy="360045"/>
            </a:xfrm>
            <a:custGeom>
              <a:avLst/>
              <a:gdLst/>
              <a:ahLst/>
              <a:cxnLst/>
              <a:rect l="l" t="t" r="r" b="b"/>
              <a:pathLst>
                <a:path w="791210" h="360045">
                  <a:moveTo>
                    <a:pt x="790955" y="179831"/>
                  </a:moveTo>
                  <a:lnTo>
                    <a:pt x="611123" y="0"/>
                  </a:lnTo>
                  <a:lnTo>
                    <a:pt x="611123" y="89915"/>
                  </a:lnTo>
                  <a:lnTo>
                    <a:pt x="0" y="89915"/>
                  </a:lnTo>
                  <a:lnTo>
                    <a:pt x="0" y="269747"/>
                  </a:lnTo>
                  <a:lnTo>
                    <a:pt x="611123" y="269747"/>
                  </a:lnTo>
                  <a:lnTo>
                    <a:pt x="611123" y="359663"/>
                  </a:lnTo>
                  <a:lnTo>
                    <a:pt x="790955" y="179831"/>
                  </a:lnTo>
                  <a:close/>
                </a:path>
              </a:pathLst>
            </a:custGeom>
            <a:solidFill>
              <a:srgbClr val="93B5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952122" y="5268468"/>
              <a:ext cx="815340" cy="405765"/>
            </a:xfrm>
            <a:custGeom>
              <a:avLst/>
              <a:gdLst/>
              <a:ahLst/>
              <a:cxnLst/>
              <a:rect l="l" t="t" r="r" b="b"/>
              <a:pathLst>
                <a:path w="815339" h="405764">
                  <a:moveTo>
                    <a:pt x="621792" y="103632"/>
                  </a:moveTo>
                  <a:lnTo>
                    <a:pt x="0" y="103632"/>
                  </a:lnTo>
                  <a:lnTo>
                    <a:pt x="0" y="301752"/>
                  </a:lnTo>
                  <a:lnTo>
                    <a:pt x="10668" y="301752"/>
                  </a:lnTo>
                  <a:lnTo>
                    <a:pt x="10668" y="121920"/>
                  </a:lnTo>
                  <a:lnTo>
                    <a:pt x="19812" y="112776"/>
                  </a:lnTo>
                  <a:lnTo>
                    <a:pt x="19812" y="121920"/>
                  </a:lnTo>
                  <a:lnTo>
                    <a:pt x="612648" y="121920"/>
                  </a:lnTo>
                  <a:lnTo>
                    <a:pt x="612648" y="112776"/>
                  </a:lnTo>
                  <a:lnTo>
                    <a:pt x="621792" y="103632"/>
                  </a:lnTo>
                  <a:close/>
                </a:path>
                <a:path w="815339" h="405764">
                  <a:moveTo>
                    <a:pt x="19812" y="121920"/>
                  </a:moveTo>
                  <a:lnTo>
                    <a:pt x="19812" y="112776"/>
                  </a:lnTo>
                  <a:lnTo>
                    <a:pt x="10668" y="121920"/>
                  </a:lnTo>
                  <a:lnTo>
                    <a:pt x="19812" y="121920"/>
                  </a:lnTo>
                  <a:close/>
                </a:path>
                <a:path w="815339" h="405764">
                  <a:moveTo>
                    <a:pt x="19812" y="283464"/>
                  </a:moveTo>
                  <a:lnTo>
                    <a:pt x="19812" y="121920"/>
                  </a:lnTo>
                  <a:lnTo>
                    <a:pt x="10668" y="121920"/>
                  </a:lnTo>
                  <a:lnTo>
                    <a:pt x="10668" y="283464"/>
                  </a:lnTo>
                  <a:lnTo>
                    <a:pt x="19812" y="283464"/>
                  </a:lnTo>
                  <a:close/>
                </a:path>
                <a:path w="815339" h="405764">
                  <a:moveTo>
                    <a:pt x="632460" y="359521"/>
                  </a:moveTo>
                  <a:lnTo>
                    <a:pt x="632460" y="283464"/>
                  </a:lnTo>
                  <a:lnTo>
                    <a:pt x="10668" y="283464"/>
                  </a:lnTo>
                  <a:lnTo>
                    <a:pt x="19812" y="292608"/>
                  </a:lnTo>
                  <a:lnTo>
                    <a:pt x="19812" y="301752"/>
                  </a:lnTo>
                  <a:lnTo>
                    <a:pt x="612648" y="301752"/>
                  </a:lnTo>
                  <a:lnTo>
                    <a:pt x="612648" y="292608"/>
                  </a:lnTo>
                  <a:lnTo>
                    <a:pt x="621792" y="301752"/>
                  </a:lnTo>
                  <a:lnTo>
                    <a:pt x="621792" y="370280"/>
                  </a:lnTo>
                  <a:lnTo>
                    <a:pt x="632460" y="359521"/>
                  </a:lnTo>
                  <a:close/>
                </a:path>
                <a:path w="815339" h="405764">
                  <a:moveTo>
                    <a:pt x="19812" y="301752"/>
                  </a:moveTo>
                  <a:lnTo>
                    <a:pt x="19812" y="292608"/>
                  </a:lnTo>
                  <a:lnTo>
                    <a:pt x="10668" y="283464"/>
                  </a:lnTo>
                  <a:lnTo>
                    <a:pt x="10668" y="301752"/>
                  </a:lnTo>
                  <a:lnTo>
                    <a:pt x="19812" y="301752"/>
                  </a:lnTo>
                  <a:close/>
                </a:path>
                <a:path w="815339" h="405764">
                  <a:moveTo>
                    <a:pt x="815340" y="202692"/>
                  </a:moveTo>
                  <a:lnTo>
                    <a:pt x="612648" y="0"/>
                  </a:lnTo>
                  <a:lnTo>
                    <a:pt x="612648" y="103632"/>
                  </a:lnTo>
                  <a:lnTo>
                    <a:pt x="615696" y="103632"/>
                  </a:lnTo>
                  <a:lnTo>
                    <a:pt x="615696" y="28956"/>
                  </a:lnTo>
                  <a:lnTo>
                    <a:pt x="632460" y="22860"/>
                  </a:lnTo>
                  <a:lnTo>
                    <a:pt x="632460" y="45720"/>
                  </a:lnTo>
                  <a:lnTo>
                    <a:pt x="788698" y="201958"/>
                  </a:lnTo>
                  <a:lnTo>
                    <a:pt x="795528" y="195072"/>
                  </a:lnTo>
                  <a:lnTo>
                    <a:pt x="795528" y="222504"/>
                  </a:lnTo>
                  <a:lnTo>
                    <a:pt x="815340" y="202692"/>
                  </a:lnTo>
                  <a:close/>
                </a:path>
                <a:path w="815339" h="405764">
                  <a:moveTo>
                    <a:pt x="621792" y="121920"/>
                  </a:moveTo>
                  <a:lnTo>
                    <a:pt x="621792" y="103632"/>
                  </a:lnTo>
                  <a:lnTo>
                    <a:pt x="612648" y="112776"/>
                  </a:lnTo>
                  <a:lnTo>
                    <a:pt x="612648" y="121920"/>
                  </a:lnTo>
                  <a:lnTo>
                    <a:pt x="621792" y="121920"/>
                  </a:lnTo>
                  <a:close/>
                </a:path>
                <a:path w="815339" h="405764">
                  <a:moveTo>
                    <a:pt x="621792" y="301752"/>
                  </a:moveTo>
                  <a:lnTo>
                    <a:pt x="612648" y="292608"/>
                  </a:lnTo>
                  <a:lnTo>
                    <a:pt x="612648" y="301752"/>
                  </a:lnTo>
                  <a:lnTo>
                    <a:pt x="621792" y="301752"/>
                  </a:lnTo>
                  <a:close/>
                </a:path>
                <a:path w="815339" h="405764">
                  <a:moveTo>
                    <a:pt x="621792" y="370280"/>
                  </a:moveTo>
                  <a:lnTo>
                    <a:pt x="621792" y="301752"/>
                  </a:lnTo>
                  <a:lnTo>
                    <a:pt x="612648" y="301752"/>
                  </a:lnTo>
                  <a:lnTo>
                    <a:pt x="612648" y="405384"/>
                  </a:lnTo>
                  <a:lnTo>
                    <a:pt x="615696" y="402336"/>
                  </a:lnTo>
                  <a:lnTo>
                    <a:pt x="615696" y="376428"/>
                  </a:lnTo>
                  <a:lnTo>
                    <a:pt x="621792" y="370280"/>
                  </a:lnTo>
                  <a:close/>
                </a:path>
                <a:path w="815339" h="405764">
                  <a:moveTo>
                    <a:pt x="632460" y="45720"/>
                  </a:moveTo>
                  <a:lnTo>
                    <a:pt x="632460" y="22860"/>
                  </a:lnTo>
                  <a:lnTo>
                    <a:pt x="615696" y="28956"/>
                  </a:lnTo>
                  <a:lnTo>
                    <a:pt x="632460" y="45720"/>
                  </a:lnTo>
                  <a:close/>
                </a:path>
                <a:path w="815339" h="405764">
                  <a:moveTo>
                    <a:pt x="632460" y="121920"/>
                  </a:moveTo>
                  <a:lnTo>
                    <a:pt x="632460" y="45720"/>
                  </a:lnTo>
                  <a:lnTo>
                    <a:pt x="615696" y="28956"/>
                  </a:lnTo>
                  <a:lnTo>
                    <a:pt x="615696" y="103632"/>
                  </a:lnTo>
                  <a:lnTo>
                    <a:pt x="621792" y="103632"/>
                  </a:lnTo>
                  <a:lnTo>
                    <a:pt x="621792" y="121920"/>
                  </a:lnTo>
                  <a:lnTo>
                    <a:pt x="632460" y="121920"/>
                  </a:lnTo>
                  <a:close/>
                </a:path>
                <a:path w="815339" h="405764">
                  <a:moveTo>
                    <a:pt x="795528" y="222504"/>
                  </a:moveTo>
                  <a:lnTo>
                    <a:pt x="795528" y="208788"/>
                  </a:lnTo>
                  <a:lnTo>
                    <a:pt x="788698" y="201958"/>
                  </a:lnTo>
                  <a:lnTo>
                    <a:pt x="615696" y="376428"/>
                  </a:lnTo>
                  <a:lnTo>
                    <a:pt x="632460" y="382524"/>
                  </a:lnTo>
                  <a:lnTo>
                    <a:pt x="632460" y="385572"/>
                  </a:lnTo>
                  <a:lnTo>
                    <a:pt x="795528" y="222504"/>
                  </a:lnTo>
                  <a:close/>
                </a:path>
                <a:path w="815339" h="405764">
                  <a:moveTo>
                    <a:pt x="632460" y="385572"/>
                  </a:moveTo>
                  <a:lnTo>
                    <a:pt x="632460" y="382524"/>
                  </a:lnTo>
                  <a:lnTo>
                    <a:pt x="615696" y="376428"/>
                  </a:lnTo>
                  <a:lnTo>
                    <a:pt x="615696" y="402336"/>
                  </a:lnTo>
                  <a:lnTo>
                    <a:pt x="632460" y="385572"/>
                  </a:lnTo>
                  <a:close/>
                </a:path>
                <a:path w="815339" h="405764">
                  <a:moveTo>
                    <a:pt x="795528" y="208788"/>
                  </a:moveTo>
                  <a:lnTo>
                    <a:pt x="795528" y="195072"/>
                  </a:lnTo>
                  <a:lnTo>
                    <a:pt x="788698" y="201958"/>
                  </a:lnTo>
                  <a:lnTo>
                    <a:pt x="795528" y="208788"/>
                  </a:lnTo>
                  <a:close/>
                </a:path>
              </a:pathLst>
            </a:custGeom>
            <a:solidFill>
              <a:srgbClr val="6B84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021976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95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3304" rIns="0" bIns="0" rtlCol="0">
            <a:spAutoFit/>
          </a:bodyPr>
          <a:lstStyle/>
          <a:p>
            <a:pPr marL="372110">
              <a:lnSpc>
                <a:spcPct val="100000"/>
              </a:lnSpc>
              <a:spcBef>
                <a:spcPts val="100"/>
              </a:spcBef>
            </a:pPr>
            <a:r>
              <a:rPr spc="-350" dirty="0"/>
              <a:t>Constructeur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spc="-300" dirty="0"/>
              <a:t>de</a:t>
            </a:r>
            <a:r>
              <a:rPr b="0" spc="85" dirty="0">
                <a:latin typeface="Times New Roman"/>
                <a:cs typeface="Times New Roman"/>
              </a:rPr>
              <a:t> </a:t>
            </a:r>
            <a:r>
              <a:rPr spc="-325" dirty="0"/>
              <a:t>copie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96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49052" y="1886203"/>
            <a:ext cx="8313420" cy="221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165" indent="-418465">
              <a:lnSpc>
                <a:spcPct val="100000"/>
              </a:lnSpc>
              <a:spcBef>
                <a:spcPts val="100"/>
              </a:spcBef>
              <a:buClr>
                <a:srgbClr val="006FC0"/>
              </a:buClr>
              <a:buFont typeface="Wingdings"/>
              <a:buChar char=""/>
              <a:tabLst>
                <a:tab pos="431165" algn="l"/>
              </a:tabLst>
            </a:pPr>
            <a:r>
              <a:rPr sz="2400" dirty="0">
                <a:latin typeface="Times New Roman"/>
                <a:cs typeface="Times New Roman"/>
              </a:rPr>
              <a:t>Cette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copie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de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surface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suffit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dans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plupart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cas.</a:t>
            </a:r>
            <a:endParaRPr sz="2400">
              <a:latin typeface="Times New Roman"/>
              <a:cs typeface="Times New Roman"/>
            </a:endParaRPr>
          </a:p>
          <a:p>
            <a:pPr marL="355600" marR="67310" indent="-342900">
              <a:lnSpc>
                <a:spcPct val="100000"/>
              </a:lnSpc>
              <a:buFont typeface="Wingdings"/>
              <a:buChar char=""/>
              <a:tabLst>
                <a:tab pos="355600" algn="l"/>
                <a:tab pos="431165" algn="l"/>
              </a:tabLst>
            </a:pP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Cependant,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parfois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nécessaire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redéfinir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constructeur </a:t>
            </a:r>
            <a:r>
              <a:rPr sz="2400" b="1" dirty="0">
                <a:latin typeface="Times New Roman"/>
                <a:cs typeface="Times New Roman"/>
              </a:rPr>
              <a:t>de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copie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particulier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lorsque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certains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attributs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sont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des </a:t>
            </a:r>
            <a:r>
              <a:rPr sz="2400" spc="-10" dirty="0">
                <a:latin typeface="Times New Roman"/>
                <a:cs typeface="Times New Roman"/>
              </a:rPr>
              <a:t>pointeurs.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Clr>
                <a:srgbClr val="006FC0"/>
              </a:buClr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Il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faut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alors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allouer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nouvelle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zone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mémoire,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parle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alors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de</a:t>
            </a:r>
            <a:endParaRPr sz="24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2400" b="1" dirty="0">
                <a:latin typeface="Times New Roman"/>
                <a:cs typeface="Times New Roman"/>
              </a:rPr>
              <a:t>copie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profonde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(allocation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puis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recopie).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21976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96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3304" rIns="0" bIns="0" rtlCol="0">
            <a:spAutoFit/>
          </a:bodyPr>
          <a:lstStyle/>
          <a:p>
            <a:pPr marL="372110">
              <a:lnSpc>
                <a:spcPct val="100000"/>
              </a:lnSpc>
              <a:spcBef>
                <a:spcPts val="100"/>
              </a:spcBef>
            </a:pPr>
            <a:r>
              <a:rPr spc="-350" dirty="0"/>
              <a:t>Constructeur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spc="-300" dirty="0"/>
              <a:t>de</a:t>
            </a:r>
            <a:r>
              <a:rPr b="0" spc="85" dirty="0">
                <a:latin typeface="Times New Roman"/>
                <a:cs typeface="Times New Roman"/>
              </a:rPr>
              <a:t> </a:t>
            </a:r>
            <a:r>
              <a:rPr spc="-325" dirty="0"/>
              <a:t>copie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97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49052" y="1886203"/>
            <a:ext cx="5222240" cy="221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006FC0"/>
              </a:buClr>
              <a:buFont typeface="Wingdings"/>
              <a:buChar char=""/>
              <a:tabLst>
                <a:tab pos="354965" algn="l"/>
              </a:tabLst>
            </a:pPr>
            <a:r>
              <a:rPr sz="2400" b="1" dirty="0">
                <a:solidFill>
                  <a:srgbClr val="FFC000"/>
                </a:solidFill>
                <a:latin typeface="Times New Roman"/>
                <a:cs typeface="Times New Roman"/>
              </a:rPr>
              <a:t>La</a:t>
            </a:r>
            <a:r>
              <a:rPr sz="2400" b="1" spc="-25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C000"/>
                </a:solidFill>
                <a:latin typeface="Times New Roman"/>
                <a:cs typeface="Times New Roman"/>
              </a:rPr>
              <a:t>règle</a:t>
            </a:r>
            <a:r>
              <a:rPr sz="2400" b="1" spc="-50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C000"/>
                </a:solidFill>
                <a:latin typeface="Times New Roman"/>
                <a:cs typeface="Times New Roman"/>
              </a:rPr>
              <a:t>de</a:t>
            </a:r>
            <a:r>
              <a:rPr sz="2400" b="1" spc="-20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C000"/>
                </a:solidFill>
                <a:latin typeface="Times New Roman"/>
                <a:cs typeface="Times New Roman"/>
              </a:rPr>
              <a:t>trois</a:t>
            </a:r>
            <a:r>
              <a:rPr sz="2400" b="1" spc="-35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Si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vous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touchez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à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l’un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trois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parmi:</a:t>
            </a:r>
            <a:endParaRPr sz="2400">
              <a:latin typeface="Times New Roman"/>
              <a:cs typeface="Times New Roman"/>
            </a:endParaRPr>
          </a:p>
          <a:p>
            <a:pPr marL="571500" lvl="1" indent="-215900">
              <a:lnSpc>
                <a:spcPct val="100000"/>
              </a:lnSpc>
              <a:buClr>
                <a:srgbClr val="006FC0"/>
              </a:buClr>
              <a:buFont typeface="Wingdings"/>
              <a:buChar char=""/>
              <a:tabLst>
                <a:tab pos="571500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constructeur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de</a:t>
            </a:r>
            <a:r>
              <a:rPr sz="2400" b="1" spc="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copie</a:t>
            </a:r>
            <a:r>
              <a:rPr sz="2400" spc="-10" dirty="0">
                <a:latin typeface="Times New Roman"/>
                <a:cs typeface="Times New Roman"/>
              </a:rPr>
              <a:t>,</a:t>
            </a:r>
            <a:endParaRPr sz="2400">
              <a:latin typeface="Times New Roman"/>
              <a:cs typeface="Times New Roman"/>
            </a:endParaRPr>
          </a:p>
          <a:p>
            <a:pPr marL="571500" lvl="1" indent="-215900">
              <a:lnSpc>
                <a:spcPct val="100000"/>
              </a:lnSpc>
              <a:buClr>
                <a:srgbClr val="006FC0"/>
              </a:buClr>
              <a:buFont typeface="Wingdings"/>
              <a:buChar char=""/>
              <a:tabLst>
                <a:tab pos="571500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destructeur</a:t>
            </a:r>
            <a:r>
              <a:rPr sz="2400" spc="-10" dirty="0">
                <a:latin typeface="Times New Roman"/>
                <a:cs typeface="Times New Roman"/>
              </a:rPr>
              <a:t>,</a:t>
            </a:r>
            <a:endParaRPr sz="2400">
              <a:latin typeface="Times New Roman"/>
              <a:cs typeface="Times New Roman"/>
            </a:endParaRPr>
          </a:p>
          <a:p>
            <a:pPr marL="12700" marR="5080" lvl="1" indent="558800">
              <a:lnSpc>
                <a:spcPct val="100000"/>
              </a:lnSpc>
              <a:buClr>
                <a:srgbClr val="006FC0"/>
              </a:buClr>
              <a:buFont typeface="Wingdings"/>
              <a:buChar char=""/>
              <a:tabLst>
                <a:tab pos="571500" algn="l"/>
                <a:tab pos="3740150" algn="l"/>
              </a:tabLst>
            </a:pPr>
            <a:r>
              <a:rPr sz="2400" b="1" dirty="0">
                <a:latin typeface="Times New Roman"/>
                <a:cs typeface="Times New Roman"/>
              </a:rPr>
              <a:t>opérateur</a:t>
            </a:r>
            <a:r>
              <a:rPr sz="2400" b="1" spc="-13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d’affectation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400" spc="-10" dirty="0">
                <a:solidFill>
                  <a:srgbClr val="006FC0"/>
                </a:solidFill>
                <a:latin typeface="Times New Roman"/>
                <a:cs typeface="Times New Roman"/>
              </a:rPr>
              <a:t>operator=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2400" spc="-10" dirty="0">
                <a:latin typeface="Times New Roman"/>
                <a:cs typeface="Times New Roman"/>
              </a:rPr>
              <a:t>, </a:t>
            </a:r>
            <a:r>
              <a:rPr sz="2400" dirty="0">
                <a:latin typeface="Times New Roman"/>
                <a:cs typeface="Times New Roman"/>
              </a:rPr>
              <a:t>alors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pensez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aux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deux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autres.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21976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97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3304" rIns="0" bIns="0" rtlCol="0">
            <a:spAutoFit/>
          </a:bodyPr>
          <a:lstStyle/>
          <a:p>
            <a:pPr marL="372110">
              <a:lnSpc>
                <a:spcPct val="100000"/>
              </a:lnSpc>
              <a:spcBef>
                <a:spcPts val="100"/>
              </a:spcBef>
            </a:pPr>
            <a:r>
              <a:rPr spc="-350" dirty="0"/>
              <a:t>Constructeur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spc="-300" dirty="0"/>
              <a:t>de</a:t>
            </a:r>
            <a:r>
              <a:rPr b="0" spc="85" dirty="0">
                <a:latin typeface="Times New Roman"/>
                <a:cs typeface="Times New Roman"/>
              </a:rPr>
              <a:t> </a:t>
            </a:r>
            <a:r>
              <a:rPr spc="-325" dirty="0"/>
              <a:t>copie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98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20685" y="1884679"/>
            <a:ext cx="7242175" cy="18580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Remarque:</a:t>
            </a:r>
            <a:endParaRPr sz="2800">
              <a:latin typeface="Times New Roman"/>
              <a:cs typeface="Times New Roman"/>
            </a:endParaRPr>
          </a:p>
          <a:p>
            <a:pPr marL="316865" marR="5080" indent="-304800">
              <a:lnSpc>
                <a:spcPct val="100000"/>
              </a:lnSpc>
              <a:spcBef>
                <a:spcPts val="15"/>
              </a:spcBef>
              <a:buFont typeface="Wingdings"/>
              <a:buChar char=""/>
              <a:tabLst>
                <a:tab pos="316865" algn="l"/>
                <a:tab pos="354330" algn="l"/>
                <a:tab pos="3229610" algn="l"/>
              </a:tabLst>
            </a:pP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Il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faut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faire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attention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entre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copie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affectation. </a:t>
            </a:r>
            <a:r>
              <a:rPr sz="2400" dirty="0">
                <a:solidFill>
                  <a:srgbClr val="00B0F0"/>
                </a:solidFill>
                <a:latin typeface="Times New Roman"/>
                <a:cs typeface="Times New Roman"/>
              </a:rPr>
              <a:t>Rectangle</a:t>
            </a:r>
            <a:r>
              <a:rPr sz="2400" spc="-45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rect1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rect2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00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création</a:t>
            </a:r>
            <a:r>
              <a:rPr sz="2000" spc="-3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200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deux</a:t>
            </a:r>
            <a:r>
              <a:rPr sz="2000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objets</a:t>
            </a:r>
            <a:r>
              <a:rPr sz="2000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rect1</a:t>
            </a:r>
            <a:r>
              <a:rPr sz="2000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et</a:t>
            </a:r>
            <a:r>
              <a:rPr sz="2000" spc="-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0B04F"/>
                </a:solidFill>
                <a:latin typeface="Times New Roman"/>
                <a:cs typeface="Times New Roman"/>
              </a:rPr>
              <a:t>rect2. </a:t>
            </a:r>
            <a:r>
              <a:rPr sz="2400" dirty="0">
                <a:latin typeface="Times New Roman"/>
                <a:cs typeface="Times New Roman"/>
              </a:rPr>
              <a:t>rect1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rect2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000" spc="-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pas</a:t>
            </a:r>
            <a:r>
              <a:rPr sz="2000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2000" spc="-3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copie</a:t>
            </a:r>
            <a:r>
              <a:rPr sz="2000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mais</a:t>
            </a: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uniquement</a:t>
            </a:r>
            <a:r>
              <a:rPr sz="2000" spc="-4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0B04F"/>
                </a:solidFill>
                <a:latin typeface="Times New Roman"/>
                <a:cs typeface="Times New Roman"/>
              </a:rPr>
              <a:t>l'affectation</a:t>
            </a:r>
            <a:endParaRPr sz="2000">
              <a:latin typeface="Times New Roman"/>
              <a:cs typeface="Times New Roman"/>
            </a:endParaRPr>
          </a:p>
          <a:p>
            <a:pPr marL="1981200">
              <a:lnSpc>
                <a:spcPct val="100000"/>
              </a:lnSpc>
              <a:spcBef>
                <a:spcPts val="15"/>
              </a:spcBef>
            </a:pP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000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car</a:t>
            </a: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l’objet</a:t>
            </a:r>
            <a:r>
              <a:rPr sz="2000" spc="-4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est</a:t>
            </a:r>
            <a:r>
              <a:rPr sz="2000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déjà</a:t>
            </a:r>
            <a:r>
              <a:rPr sz="2000" spc="-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00B04F"/>
                </a:solidFill>
                <a:latin typeface="Times New Roman"/>
                <a:cs typeface="Times New Roman"/>
              </a:rPr>
              <a:t>créé.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21976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98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3304" rIns="0" bIns="0" rtlCol="0">
            <a:spAutoFit/>
          </a:bodyPr>
          <a:lstStyle/>
          <a:p>
            <a:pPr marL="327660">
              <a:lnSpc>
                <a:spcPct val="100000"/>
              </a:lnSpc>
              <a:spcBef>
                <a:spcPts val="100"/>
              </a:spcBef>
            </a:pPr>
            <a:r>
              <a:rPr spc="-345" dirty="0"/>
              <a:t>Suppression</a:t>
            </a:r>
            <a:r>
              <a:rPr b="0" spc="90" dirty="0">
                <a:latin typeface="Times New Roman"/>
                <a:cs typeface="Times New Roman"/>
              </a:rPr>
              <a:t> </a:t>
            </a:r>
            <a:r>
              <a:rPr spc="-315" dirty="0"/>
              <a:t>du</a:t>
            </a:r>
            <a:r>
              <a:rPr b="0" spc="75" dirty="0">
                <a:latin typeface="Times New Roman"/>
                <a:cs typeface="Times New Roman"/>
              </a:rPr>
              <a:t> </a:t>
            </a:r>
            <a:r>
              <a:rPr spc="-355" dirty="0"/>
              <a:t>constructeur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spc="-300" dirty="0"/>
              <a:t>de</a:t>
            </a:r>
            <a:r>
              <a:rPr b="0" spc="70" dirty="0">
                <a:latin typeface="Times New Roman"/>
                <a:cs typeface="Times New Roman"/>
              </a:rPr>
              <a:t> </a:t>
            </a:r>
            <a:r>
              <a:rPr spc="-325" dirty="0"/>
              <a:t>copie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99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4272" y="1886203"/>
            <a:ext cx="8533130" cy="3317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  <a:tab pos="431165" algn="l"/>
              </a:tabLst>
            </a:pP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Depuis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B0F0"/>
                </a:solidFill>
                <a:latin typeface="Times New Roman"/>
                <a:cs typeface="Times New Roman"/>
              </a:rPr>
              <a:t>C++11</a:t>
            </a:r>
            <a:r>
              <a:rPr sz="2400" spc="-10" dirty="0">
                <a:latin typeface="Times New Roman"/>
                <a:cs typeface="Times New Roman"/>
              </a:rPr>
              <a:t>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l’on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souhaite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interdire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copie,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il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suffit</a:t>
            </a:r>
            <a:r>
              <a:rPr sz="2400" spc="-25" dirty="0">
                <a:latin typeface="Times New Roman"/>
                <a:cs typeface="Times New Roman"/>
              </a:rPr>
              <a:t> de </a:t>
            </a:r>
            <a:r>
              <a:rPr sz="2400" dirty="0">
                <a:latin typeface="Times New Roman"/>
                <a:cs typeface="Times New Roman"/>
              </a:rPr>
              <a:t>supprimer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constructeur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de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copie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par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défaut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avec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commande</a:t>
            </a:r>
            <a:endParaRPr sz="2400">
              <a:latin typeface="Times New Roman"/>
              <a:cs typeface="Times New Roman"/>
            </a:endParaRPr>
          </a:p>
          <a:p>
            <a:pPr marL="3175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«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6F2FA0"/>
                </a:solidFill>
                <a:latin typeface="Times New Roman"/>
                <a:cs typeface="Times New Roman"/>
              </a:rPr>
              <a:t>delete</a:t>
            </a:r>
            <a:r>
              <a:rPr sz="2400" spc="-20" dirty="0">
                <a:solidFill>
                  <a:srgbClr val="6F2FA0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».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Clr>
                <a:srgbClr val="006FC0"/>
              </a:buClr>
              <a:buFont typeface="Wingdings"/>
              <a:buChar char=""/>
              <a:tabLst>
                <a:tab pos="354965" algn="l"/>
              </a:tabLst>
            </a:pP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Exemple:</a:t>
            </a:r>
            <a:endParaRPr sz="2400">
              <a:latin typeface="Times New Roman"/>
              <a:cs typeface="Times New Roman"/>
            </a:endParaRPr>
          </a:p>
          <a:p>
            <a:pPr marL="393700">
              <a:lnSpc>
                <a:spcPct val="100000"/>
              </a:lnSpc>
            </a:pPr>
            <a:r>
              <a:rPr sz="2400" dirty="0">
                <a:solidFill>
                  <a:srgbClr val="001F5F"/>
                </a:solidFill>
                <a:latin typeface="Times New Roman"/>
                <a:cs typeface="Times New Roman"/>
              </a:rPr>
              <a:t>class</a:t>
            </a:r>
            <a:r>
              <a:rPr sz="2400" spc="-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B0F0"/>
                </a:solidFill>
                <a:latin typeface="Times New Roman"/>
                <a:cs typeface="Times New Roman"/>
              </a:rPr>
              <a:t>Incopiable</a:t>
            </a:r>
            <a:r>
              <a:rPr sz="2400" spc="-60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400" spc="-50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393700">
              <a:lnSpc>
                <a:spcPct val="100000"/>
              </a:lnSpc>
            </a:pPr>
            <a:r>
              <a:rPr sz="2400" dirty="0">
                <a:solidFill>
                  <a:srgbClr val="00B04F"/>
                </a:solidFill>
                <a:latin typeface="Times New Roman"/>
                <a:cs typeface="Times New Roman"/>
              </a:rPr>
              <a:t>/*...</a:t>
            </a:r>
            <a:r>
              <a:rPr sz="2400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00B04F"/>
                </a:solidFill>
                <a:latin typeface="Times New Roman"/>
                <a:cs typeface="Times New Roman"/>
              </a:rPr>
              <a:t>*/</a:t>
            </a:r>
            <a:endParaRPr sz="2400">
              <a:latin typeface="Times New Roman"/>
              <a:cs typeface="Times New Roman"/>
            </a:endParaRPr>
          </a:p>
          <a:p>
            <a:pPr marL="393700">
              <a:lnSpc>
                <a:spcPct val="100000"/>
              </a:lnSpc>
            </a:pPr>
            <a:r>
              <a:rPr sz="2400" dirty="0">
                <a:solidFill>
                  <a:srgbClr val="00B0F0"/>
                </a:solidFill>
                <a:latin typeface="Times New Roman"/>
                <a:cs typeface="Times New Roman"/>
              </a:rPr>
              <a:t>Incopiable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400" dirty="0">
                <a:solidFill>
                  <a:srgbClr val="00B0F0"/>
                </a:solidFill>
                <a:latin typeface="Times New Roman"/>
                <a:cs typeface="Times New Roman"/>
              </a:rPr>
              <a:t>Incopiable</a:t>
            </a:r>
            <a:r>
              <a:rPr sz="2400" spc="-75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1F5F"/>
                </a:solidFill>
                <a:latin typeface="Times New Roman"/>
                <a:cs typeface="Times New Roman"/>
              </a:rPr>
              <a:t>const</a:t>
            </a:r>
            <a:r>
              <a:rPr sz="2400" dirty="0">
                <a:solidFill>
                  <a:srgbClr val="FF0065"/>
                </a:solidFill>
                <a:latin typeface="Times New Roman"/>
                <a:cs typeface="Times New Roman"/>
              </a:rPr>
              <a:t>&amp;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24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4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6F2FA0"/>
                </a:solidFill>
                <a:latin typeface="Times New Roman"/>
                <a:cs typeface="Times New Roman"/>
              </a:rPr>
              <a:t>delete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  <a:p>
            <a:pPr marL="317500">
              <a:lnSpc>
                <a:spcPct val="100000"/>
              </a:lnSpc>
            </a:pP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};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21976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99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3304" rIns="0" bIns="0" rtlCol="0">
            <a:spAutoFit/>
          </a:bodyPr>
          <a:lstStyle/>
          <a:p>
            <a:pPr marL="300355">
              <a:lnSpc>
                <a:spcPct val="100000"/>
              </a:lnSpc>
              <a:spcBef>
                <a:spcPts val="100"/>
              </a:spcBef>
            </a:pPr>
            <a:r>
              <a:rPr spc="-345" dirty="0"/>
              <a:t>Destructeur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8852" y="1649583"/>
            <a:ext cx="242570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100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32644" y="1886203"/>
            <a:ext cx="8856980" cy="2585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006FC0"/>
              </a:buClr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Si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l’initialisation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attributs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d’une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instance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implique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mobilisation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ressources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fichiers,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périphériques,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portions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mémoire </a:t>
            </a:r>
            <a:r>
              <a:rPr sz="2400" dirty="0">
                <a:latin typeface="Times New Roman"/>
                <a:cs typeface="Times New Roman"/>
              </a:rPr>
              <a:t>(pointeurs),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etc.</a:t>
            </a:r>
            <a:endParaRPr sz="2400">
              <a:latin typeface="Times New Roman"/>
              <a:cs typeface="Times New Roman"/>
            </a:endParaRPr>
          </a:p>
          <a:p>
            <a:pPr marL="431165" indent="-418465">
              <a:lnSpc>
                <a:spcPct val="100000"/>
              </a:lnSpc>
              <a:buClr>
                <a:srgbClr val="006FC0"/>
              </a:buClr>
              <a:buFont typeface="Wingdings"/>
              <a:buChar char=""/>
              <a:tabLst>
                <a:tab pos="431165" algn="l"/>
              </a:tabLst>
            </a:pPr>
            <a:r>
              <a:rPr sz="2400" dirty="0">
                <a:latin typeface="Times New Roman"/>
                <a:cs typeface="Times New Roman"/>
              </a:rPr>
              <a:t>Il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alors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important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libérer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ressources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après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usage.</a:t>
            </a:r>
            <a:endParaRPr sz="2400">
              <a:latin typeface="Times New Roman"/>
              <a:cs typeface="Times New Roman"/>
            </a:endParaRPr>
          </a:p>
          <a:p>
            <a:pPr marL="355600" marR="323215" indent="-342900">
              <a:lnSpc>
                <a:spcPct val="100000"/>
              </a:lnSpc>
              <a:buFont typeface="Wingdings"/>
              <a:buChar char=""/>
              <a:tabLst>
                <a:tab pos="355600" algn="l"/>
                <a:tab pos="431165" algn="l"/>
              </a:tabLst>
            </a:pP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Comme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pour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l’initialisation,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l’invocation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explicite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méthodes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de </a:t>
            </a:r>
            <a:r>
              <a:rPr sz="2400" dirty="0">
                <a:latin typeface="Times New Roman"/>
                <a:cs typeface="Times New Roman"/>
              </a:rPr>
              <a:t>libération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n’est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satisfaisante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(fastidieuse,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source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d’erreur, </a:t>
            </a:r>
            <a:r>
              <a:rPr sz="2400" dirty="0">
                <a:latin typeface="Times New Roman"/>
                <a:cs typeface="Times New Roman"/>
              </a:rPr>
              <a:t>affaiblissement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l’encapsulation).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80828" y="1611883"/>
            <a:ext cx="2679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100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3304" rIns="0" bIns="0" rtlCol="0">
            <a:spAutoFit/>
          </a:bodyPr>
          <a:lstStyle/>
          <a:p>
            <a:pPr marL="300355">
              <a:lnSpc>
                <a:spcPct val="100000"/>
              </a:lnSpc>
              <a:spcBef>
                <a:spcPts val="100"/>
              </a:spcBef>
            </a:pPr>
            <a:r>
              <a:rPr spc="-345" dirty="0"/>
              <a:t>Destructeur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8852" y="1649583"/>
            <a:ext cx="242570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101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32644" y="1886203"/>
            <a:ext cx="8641715" cy="2585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006FC0"/>
              </a:buClr>
              <a:buFont typeface="Wingdings"/>
              <a:buChar char=""/>
              <a:tabLst>
                <a:tab pos="354965" algn="l"/>
              </a:tabLst>
            </a:pPr>
            <a:r>
              <a:rPr sz="2400" b="1" dirty="0">
                <a:solidFill>
                  <a:srgbClr val="00B0F0"/>
                </a:solidFill>
                <a:latin typeface="Times New Roman"/>
                <a:cs typeface="Times New Roman"/>
              </a:rPr>
              <a:t>C++</a:t>
            </a:r>
            <a:r>
              <a:rPr sz="2400" b="1" spc="-40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offre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méthode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appelée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destructeur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invoquée</a:t>
            </a:r>
            <a:endParaRPr sz="24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2400" b="1" spc="-10" dirty="0">
                <a:latin typeface="Times New Roman"/>
                <a:cs typeface="Times New Roman"/>
              </a:rPr>
              <a:t>automatiquement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en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fin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de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vie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de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l’instance.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buClr>
                <a:srgbClr val="006FC0"/>
              </a:buClr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Il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s'exécute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à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du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programme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ou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d'un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bloc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où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objets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locaux </a:t>
            </a:r>
            <a:r>
              <a:rPr sz="2400" dirty="0">
                <a:latin typeface="Times New Roman"/>
                <a:cs typeface="Times New Roman"/>
              </a:rPr>
              <a:t>ont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été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définis.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Clr>
                <a:srgbClr val="006FC0"/>
              </a:buClr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Un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destructeur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pour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rôle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libérer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mémoire.</a:t>
            </a:r>
            <a:endParaRPr sz="2400">
              <a:latin typeface="Times New Roman"/>
              <a:cs typeface="Times New Roman"/>
            </a:endParaRPr>
          </a:p>
          <a:p>
            <a:pPr marL="355600" marR="432434" indent="-342900">
              <a:lnSpc>
                <a:spcPct val="100000"/>
              </a:lnSpc>
              <a:buClr>
                <a:srgbClr val="006FC0"/>
              </a:buClr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Il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appelé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automatiquement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lorsque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l’objet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n’est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plus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utilisé, </a:t>
            </a:r>
            <a:r>
              <a:rPr sz="2400" dirty="0">
                <a:latin typeface="Times New Roman"/>
                <a:cs typeface="Times New Roman"/>
              </a:rPr>
              <a:t>fermeture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d’accolade,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…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80828" y="1611883"/>
            <a:ext cx="2679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101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3304" rIns="0" bIns="0" rtlCol="0">
            <a:spAutoFit/>
          </a:bodyPr>
          <a:lstStyle/>
          <a:p>
            <a:pPr marL="300355">
              <a:lnSpc>
                <a:spcPct val="100000"/>
              </a:lnSpc>
              <a:spcBef>
                <a:spcPts val="100"/>
              </a:spcBef>
            </a:pPr>
            <a:r>
              <a:rPr spc="-345" dirty="0"/>
              <a:t>Destructeur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8852" y="1649583"/>
            <a:ext cx="242570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102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5900" y="1886203"/>
            <a:ext cx="8724900" cy="441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006FC0"/>
              </a:buClr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syntaxe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déclaration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d’un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destructeur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pour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classe</a:t>
            </a:r>
            <a:endParaRPr sz="24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2400" b="1" dirty="0">
                <a:solidFill>
                  <a:srgbClr val="00B0F0"/>
                </a:solidFill>
                <a:latin typeface="Times New Roman"/>
                <a:cs typeface="Times New Roman"/>
              </a:rPr>
              <a:t>NomDeLaClasse</a:t>
            </a:r>
            <a:r>
              <a:rPr sz="2400" b="1" spc="-70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est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Times New Roman"/>
              <a:cs typeface="Times New Roman"/>
            </a:endParaRPr>
          </a:p>
          <a:p>
            <a:pPr marL="317500">
              <a:lnSpc>
                <a:spcPct val="100000"/>
              </a:lnSpc>
            </a:pPr>
            <a:r>
              <a:rPr sz="2400" b="1" spc="-10" dirty="0">
                <a:solidFill>
                  <a:srgbClr val="00B0F0"/>
                </a:solidFill>
                <a:latin typeface="Times New Roman"/>
                <a:cs typeface="Times New Roman"/>
              </a:rPr>
              <a:t>˜NomDeLaClasse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()</a:t>
            </a:r>
            <a:endParaRPr sz="2400">
              <a:latin typeface="Times New Roman"/>
              <a:cs typeface="Times New Roman"/>
            </a:endParaRPr>
          </a:p>
          <a:p>
            <a:pPr marL="317500">
              <a:lnSpc>
                <a:spcPct val="100000"/>
              </a:lnSpc>
            </a:pPr>
            <a:r>
              <a:rPr sz="2400" spc="-50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393700">
              <a:lnSpc>
                <a:spcPct val="100000"/>
              </a:lnSpc>
            </a:pPr>
            <a:r>
              <a:rPr sz="2400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400" spc="-4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B04F"/>
                </a:solidFill>
                <a:latin typeface="Times New Roman"/>
                <a:cs typeface="Times New Roman"/>
              </a:rPr>
              <a:t>opérations</a:t>
            </a:r>
            <a:r>
              <a:rPr sz="2400" spc="-4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B04F"/>
                </a:solidFill>
                <a:latin typeface="Times New Roman"/>
                <a:cs typeface="Times New Roman"/>
              </a:rPr>
              <a:t>(de</a:t>
            </a:r>
            <a:r>
              <a:rPr sz="2400" spc="-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00B04F"/>
                </a:solidFill>
                <a:latin typeface="Times New Roman"/>
                <a:cs typeface="Times New Roman"/>
              </a:rPr>
              <a:t>libération)</a:t>
            </a:r>
            <a:endParaRPr sz="2400">
              <a:latin typeface="Times New Roman"/>
              <a:cs typeface="Times New Roman"/>
            </a:endParaRPr>
          </a:p>
          <a:p>
            <a:pPr marL="393700">
              <a:lnSpc>
                <a:spcPct val="100000"/>
              </a:lnSpc>
            </a:pPr>
            <a:r>
              <a:rPr sz="2400" spc="-5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Clr>
                <a:srgbClr val="006FC0"/>
              </a:buClr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Le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destructeur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d’une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classe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méthode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sans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paramètre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donc</a:t>
            </a:r>
            <a:endParaRPr sz="24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2400" b="1" dirty="0">
                <a:latin typeface="Times New Roman"/>
                <a:cs typeface="Times New Roman"/>
              </a:rPr>
              <a:t>pas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de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surcharge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possible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Clr>
                <a:srgbClr val="006FC0"/>
              </a:buClr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Son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nom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celui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classe,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précédé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du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signe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B0F0"/>
                </a:solidFill>
                <a:latin typeface="Times New Roman"/>
                <a:cs typeface="Times New Roman"/>
              </a:rPr>
              <a:t>˜</a:t>
            </a:r>
            <a:r>
              <a:rPr sz="2400" b="1" spc="-5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(tilda).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buClr>
                <a:srgbClr val="006FC0"/>
              </a:buClr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Si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destructeur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n’est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défini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explicitement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programmeur, </a:t>
            </a:r>
            <a:r>
              <a:rPr sz="2400" dirty="0">
                <a:latin typeface="Times New Roman"/>
                <a:cs typeface="Times New Roman"/>
              </a:rPr>
              <a:t>le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compilateur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génère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automatiquement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version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minimale.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80828" y="1611883"/>
            <a:ext cx="2679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102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0" marR="5080">
              <a:lnSpc>
                <a:spcPct val="100000"/>
              </a:lnSpc>
              <a:spcBef>
                <a:spcPts val="100"/>
              </a:spcBef>
            </a:pPr>
            <a:r>
              <a:rPr sz="3200" spc="-204" dirty="0"/>
              <a:t>Mise</a:t>
            </a:r>
            <a:r>
              <a:rPr sz="3200" b="0" spc="65" dirty="0">
                <a:latin typeface="Times New Roman"/>
                <a:cs typeface="Times New Roman"/>
              </a:rPr>
              <a:t> </a:t>
            </a:r>
            <a:r>
              <a:rPr sz="3200" spc="-254" dirty="0"/>
              <a:t>en</a:t>
            </a:r>
            <a:r>
              <a:rPr sz="3200" b="0" spc="40" dirty="0">
                <a:latin typeface="Times New Roman"/>
                <a:cs typeface="Times New Roman"/>
              </a:rPr>
              <a:t> </a:t>
            </a:r>
            <a:r>
              <a:rPr sz="3200" spc="-260" dirty="0"/>
              <a:t>œuvre</a:t>
            </a:r>
            <a:r>
              <a:rPr sz="3200" b="0" spc="50" dirty="0">
                <a:latin typeface="Times New Roman"/>
                <a:cs typeface="Times New Roman"/>
              </a:rPr>
              <a:t> </a:t>
            </a:r>
            <a:r>
              <a:rPr sz="3200" spc="-200" dirty="0"/>
              <a:t>d’un</a:t>
            </a:r>
            <a:r>
              <a:rPr sz="3200" b="0" spc="40" dirty="0">
                <a:latin typeface="Times New Roman"/>
                <a:cs typeface="Times New Roman"/>
              </a:rPr>
              <a:t> </a:t>
            </a:r>
            <a:r>
              <a:rPr sz="3200" spc="-254" dirty="0"/>
              <a:t>programme</a:t>
            </a:r>
            <a:r>
              <a:rPr sz="3200" b="0" spc="25" dirty="0">
                <a:latin typeface="Times New Roman"/>
                <a:cs typeface="Times New Roman"/>
              </a:rPr>
              <a:t> </a:t>
            </a:r>
            <a:r>
              <a:rPr sz="3200" spc="-229" dirty="0"/>
              <a:t>comportant</a:t>
            </a:r>
            <a:r>
              <a:rPr sz="3200" b="0" spc="-229" dirty="0">
                <a:latin typeface="Times New Roman"/>
                <a:cs typeface="Times New Roman"/>
              </a:rPr>
              <a:t> </a:t>
            </a:r>
            <a:r>
              <a:rPr sz="3200" spc="-250" dirty="0"/>
              <a:t>plusieurs</a:t>
            </a:r>
            <a:r>
              <a:rPr sz="3200" b="0" spc="85" dirty="0">
                <a:latin typeface="Times New Roman"/>
                <a:cs typeface="Times New Roman"/>
              </a:rPr>
              <a:t> </a:t>
            </a:r>
            <a:r>
              <a:rPr sz="3200" spc="-110" dirty="0"/>
              <a:t>fichiers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6172" y="2067559"/>
            <a:ext cx="8792845" cy="430276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 marR="5080" indent="219075" algn="just">
              <a:lnSpc>
                <a:spcPts val="2380"/>
              </a:lnSpc>
              <a:spcBef>
                <a:spcPts val="390"/>
              </a:spcBef>
              <a:buClr>
                <a:srgbClr val="006FC0"/>
              </a:buClr>
              <a:buSzPct val="59090"/>
              <a:buFont typeface="Wingdings"/>
              <a:buChar char=""/>
              <a:tabLst>
                <a:tab pos="231775" algn="l"/>
              </a:tabLst>
            </a:pPr>
            <a:r>
              <a:rPr sz="2200" dirty="0">
                <a:latin typeface="Times New Roman"/>
                <a:cs typeface="Times New Roman"/>
              </a:rPr>
              <a:t>Un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fichier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entête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F0"/>
                </a:solidFill>
                <a:latin typeface="Times New Roman"/>
                <a:cs typeface="Times New Roman"/>
              </a:rPr>
              <a:t>Classe.h</a:t>
            </a:r>
            <a:r>
              <a:rPr sz="2200" spc="-55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qui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définit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la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classe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(appelé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65"/>
                </a:solidFill>
                <a:latin typeface="Times New Roman"/>
                <a:cs typeface="Times New Roman"/>
              </a:rPr>
              <a:t>interface</a:t>
            </a:r>
            <a:r>
              <a:rPr sz="2200" dirty="0">
                <a:latin typeface="Times New Roman"/>
                <a:cs typeface="Times New Roman"/>
              </a:rPr>
              <a:t>)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va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contenir </a:t>
            </a:r>
            <a:r>
              <a:rPr sz="2200" dirty="0">
                <a:latin typeface="Times New Roman"/>
                <a:cs typeface="Times New Roman"/>
              </a:rPr>
              <a:t>le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prototype</a:t>
            </a:r>
            <a:r>
              <a:rPr sz="2200" b="1" spc="-5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de</a:t>
            </a:r>
            <a:r>
              <a:rPr sz="2200" b="1" spc="-5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la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classe</a:t>
            </a:r>
            <a:r>
              <a:rPr sz="2200" dirty="0">
                <a:latin typeface="Times New Roman"/>
                <a:cs typeface="Times New Roman"/>
              </a:rPr>
              <a:t>,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c.à.d.,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la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déclaration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la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classe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avec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les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attributs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et </a:t>
            </a:r>
            <a:r>
              <a:rPr sz="2200" dirty="0">
                <a:latin typeface="Times New Roman"/>
                <a:cs typeface="Times New Roman"/>
              </a:rPr>
              <a:t>les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prototypes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méthodes.</a:t>
            </a:r>
            <a:endParaRPr sz="2200">
              <a:latin typeface="Times New Roman"/>
              <a:cs typeface="Times New Roman"/>
            </a:endParaRPr>
          </a:p>
          <a:p>
            <a:pPr marL="355600" marR="431165" indent="-342900" algn="just">
              <a:lnSpc>
                <a:spcPts val="2380"/>
              </a:lnSpc>
              <a:spcBef>
                <a:spcPts val="695"/>
              </a:spcBef>
              <a:buClr>
                <a:srgbClr val="006FC0"/>
              </a:buClr>
              <a:buSzPct val="59090"/>
              <a:buFont typeface="Wingdings"/>
              <a:buChar char=""/>
              <a:tabLst>
                <a:tab pos="355600" algn="l"/>
              </a:tabLst>
            </a:pPr>
            <a:r>
              <a:rPr sz="2200" dirty="0">
                <a:latin typeface="Times New Roman"/>
                <a:cs typeface="Times New Roman"/>
              </a:rPr>
              <a:t>Un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fichier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source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F0"/>
                </a:solidFill>
                <a:latin typeface="Times New Roman"/>
                <a:cs typeface="Times New Roman"/>
              </a:rPr>
              <a:t>Classe.cpp</a:t>
            </a:r>
            <a:r>
              <a:rPr sz="2200" spc="-55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contient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la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définition</a:t>
            </a:r>
            <a:r>
              <a:rPr sz="2200" b="1" spc="-3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de</a:t>
            </a:r>
            <a:r>
              <a:rPr sz="2200" b="1" spc="-5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la</a:t>
            </a:r>
            <a:r>
              <a:rPr sz="2200" b="1" spc="-5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classe,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c’est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là </a:t>
            </a:r>
            <a:r>
              <a:rPr sz="2200" dirty="0">
                <a:latin typeface="Times New Roman"/>
                <a:cs typeface="Times New Roman"/>
              </a:rPr>
              <a:t>qu'on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va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implémenter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les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méthodes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membres.</a:t>
            </a:r>
            <a:endParaRPr sz="2200">
              <a:latin typeface="Times New Roman"/>
              <a:cs typeface="Times New Roman"/>
            </a:endParaRPr>
          </a:p>
          <a:p>
            <a:pPr marL="767715" lvl="1" indent="-412115" algn="just">
              <a:lnSpc>
                <a:spcPct val="100000"/>
              </a:lnSpc>
              <a:spcBef>
                <a:spcPts val="395"/>
              </a:spcBef>
              <a:buClr>
                <a:srgbClr val="006FC0"/>
              </a:buClr>
              <a:buSzPct val="59090"/>
              <a:buFont typeface="Wingdings"/>
              <a:buChar char=""/>
              <a:tabLst>
                <a:tab pos="767715" algn="l"/>
              </a:tabLst>
            </a:pPr>
            <a:r>
              <a:rPr sz="2200" spc="-20" dirty="0">
                <a:latin typeface="Times New Roman"/>
                <a:cs typeface="Times New Roman"/>
              </a:rPr>
              <a:t>L’implémentation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méthodes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peut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faire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dans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l’entête.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430"/>
              </a:spcBef>
              <a:buClr>
                <a:srgbClr val="006FC0"/>
              </a:buClr>
              <a:buSzPct val="59090"/>
              <a:buFont typeface="Wingdings"/>
              <a:buChar char=""/>
              <a:tabLst>
                <a:tab pos="354965" algn="l"/>
              </a:tabLst>
            </a:pPr>
            <a:r>
              <a:rPr sz="2200" dirty="0">
                <a:latin typeface="Times New Roman"/>
                <a:cs typeface="Times New Roman"/>
              </a:rPr>
              <a:t>Un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fichier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source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F0"/>
                </a:solidFill>
                <a:latin typeface="Times New Roman"/>
                <a:cs typeface="Times New Roman"/>
              </a:rPr>
              <a:t>(.cpp)</a:t>
            </a:r>
            <a:r>
              <a:rPr sz="2200" spc="-50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contient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la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fonction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i="1" spc="-10" dirty="0">
                <a:latin typeface="Times New Roman"/>
                <a:cs typeface="Times New Roman"/>
              </a:rPr>
              <a:t>main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()</a:t>
            </a:r>
            <a:r>
              <a:rPr sz="2200" spc="-10" dirty="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Exemple:</a:t>
            </a:r>
            <a:endParaRPr sz="2200">
              <a:latin typeface="Times New Roman"/>
              <a:cs typeface="Times New Roman"/>
            </a:endParaRPr>
          </a:p>
          <a:p>
            <a:pPr marL="236220" indent="-219075">
              <a:lnSpc>
                <a:spcPct val="100000"/>
              </a:lnSpc>
              <a:spcBef>
                <a:spcPts val="430"/>
              </a:spcBef>
              <a:buClr>
                <a:srgbClr val="006FC0"/>
              </a:buClr>
              <a:buSzPct val="59090"/>
              <a:buFont typeface="Wingdings"/>
              <a:buChar char=""/>
              <a:tabLst>
                <a:tab pos="236220" algn="l"/>
              </a:tabLst>
            </a:pPr>
            <a:r>
              <a:rPr sz="2200" dirty="0">
                <a:solidFill>
                  <a:srgbClr val="00B0F0"/>
                </a:solidFill>
                <a:latin typeface="Times New Roman"/>
                <a:cs typeface="Times New Roman"/>
              </a:rPr>
              <a:t>Point.h</a:t>
            </a:r>
            <a:r>
              <a:rPr sz="2200" dirty="0">
                <a:latin typeface="Times New Roman"/>
                <a:cs typeface="Times New Roman"/>
              </a:rPr>
              <a:t>: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contient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prototype</a:t>
            </a:r>
            <a:r>
              <a:rPr sz="2200" b="1" spc="-5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de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la</a:t>
            </a:r>
            <a:r>
              <a:rPr sz="2200" b="1" spc="-5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classe</a:t>
            </a:r>
            <a:r>
              <a:rPr sz="2200" b="1" spc="-50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(interface)</a:t>
            </a:r>
            <a:r>
              <a:rPr sz="2200" spc="-10" dirty="0">
                <a:latin typeface="Times New Roman"/>
                <a:cs typeface="Times New Roman"/>
              </a:rPr>
              <a:t>;</a:t>
            </a:r>
            <a:endParaRPr sz="2200">
              <a:latin typeface="Times New Roman"/>
              <a:cs typeface="Times New Roman"/>
            </a:endParaRPr>
          </a:p>
          <a:p>
            <a:pPr marL="155575" marR="356870" indent="-139065">
              <a:lnSpc>
                <a:spcPts val="2380"/>
              </a:lnSpc>
              <a:spcBef>
                <a:spcPts val="730"/>
              </a:spcBef>
              <a:buClr>
                <a:srgbClr val="006FC0"/>
              </a:buClr>
              <a:buSzPct val="59090"/>
              <a:buFont typeface="Wingdings"/>
              <a:buChar char=""/>
              <a:tabLst>
                <a:tab pos="155575" algn="l"/>
                <a:tab pos="235585" algn="l"/>
              </a:tabLst>
            </a:pPr>
            <a:r>
              <a:rPr sz="2200" dirty="0">
                <a:solidFill>
                  <a:srgbClr val="00B0F0"/>
                </a:solidFill>
                <a:latin typeface="Times New Roman"/>
                <a:cs typeface="Times New Roman"/>
              </a:rPr>
              <a:t>	Point.cpp</a:t>
            </a:r>
            <a:r>
              <a:rPr sz="2200" dirty="0">
                <a:latin typeface="Times New Roman"/>
                <a:cs typeface="Times New Roman"/>
              </a:rPr>
              <a:t>: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contient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la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définition</a:t>
            </a:r>
            <a:r>
              <a:rPr sz="2200" b="1" spc="-3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de</a:t>
            </a:r>
            <a:r>
              <a:rPr sz="2200" b="1" spc="-5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la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classe</a:t>
            </a:r>
            <a:r>
              <a:rPr sz="2200" dirty="0">
                <a:latin typeface="Times New Roman"/>
                <a:cs typeface="Times New Roman"/>
              </a:rPr>
              <a:t>,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c.à.d.,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l'implémentation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des </a:t>
            </a:r>
            <a:r>
              <a:rPr sz="2200" dirty="0">
                <a:latin typeface="Times New Roman"/>
                <a:cs typeface="Times New Roman"/>
              </a:rPr>
              <a:t>méthodes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membres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la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classe.</a:t>
            </a:r>
            <a:endParaRPr sz="2200">
              <a:latin typeface="Times New Roman"/>
              <a:cs typeface="Times New Roman"/>
            </a:endParaRPr>
          </a:p>
          <a:p>
            <a:pPr marL="231775" indent="-214629">
              <a:lnSpc>
                <a:spcPct val="100000"/>
              </a:lnSpc>
              <a:spcBef>
                <a:spcPts val="405"/>
              </a:spcBef>
              <a:buClr>
                <a:srgbClr val="006FC0"/>
              </a:buClr>
              <a:buSzPct val="59090"/>
              <a:buFont typeface="Wingdings"/>
              <a:buChar char=""/>
              <a:tabLst>
                <a:tab pos="231775" algn="l"/>
              </a:tabLst>
            </a:pPr>
            <a:r>
              <a:rPr sz="2200" spc="-20" dirty="0">
                <a:solidFill>
                  <a:srgbClr val="00B0F0"/>
                </a:solidFill>
                <a:latin typeface="Times New Roman"/>
                <a:cs typeface="Times New Roman"/>
              </a:rPr>
              <a:t>TestPoint.cpp</a:t>
            </a:r>
            <a:r>
              <a:rPr sz="2200" spc="-20" dirty="0">
                <a:latin typeface="Times New Roman"/>
                <a:cs typeface="Times New Roman"/>
              </a:rPr>
              <a:t>: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contient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la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fonction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i="1" spc="-10" dirty="0">
                <a:latin typeface="Times New Roman"/>
                <a:cs typeface="Times New Roman"/>
              </a:rPr>
              <a:t>main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()</a:t>
            </a:r>
            <a:r>
              <a:rPr sz="2200" i="1" spc="-10" dirty="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8852" y="1649583"/>
            <a:ext cx="242570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117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80828" y="1611883"/>
            <a:ext cx="2679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117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0" marR="5080">
              <a:lnSpc>
                <a:spcPct val="100000"/>
              </a:lnSpc>
              <a:spcBef>
                <a:spcPts val="100"/>
              </a:spcBef>
            </a:pPr>
            <a:r>
              <a:rPr sz="3200" spc="-204" dirty="0"/>
              <a:t>Mise</a:t>
            </a:r>
            <a:r>
              <a:rPr sz="3200" b="0" spc="65" dirty="0">
                <a:latin typeface="Times New Roman"/>
                <a:cs typeface="Times New Roman"/>
              </a:rPr>
              <a:t> </a:t>
            </a:r>
            <a:r>
              <a:rPr sz="3200" spc="-254" dirty="0"/>
              <a:t>en</a:t>
            </a:r>
            <a:r>
              <a:rPr sz="3200" b="0" spc="40" dirty="0">
                <a:latin typeface="Times New Roman"/>
                <a:cs typeface="Times New Roman"/>
              </a:rPr>
              <a:t> </a:t>
            </a:r>
            <a:r>
              <a:rPr sz="3200" spc="-260" dirty="0"/>
              <a:t>œuvre</a:t>
            </a:r>
            <a:r>
              <a:rPr sz="3200" b="0" spc="50" dirty="0">
                <a:latin typeface="Times New Roman"/>
                <a:cs typeface="Times New Roman"/>
              </a:rPr>
              <a:t> </a:t>
            </a:r>
            <a:r>
              <a:rPr sz="3200" spc="-200" dirty="0"/>
              <a:t>d’un</a:t>
            </a:r>
            <a:r>
              <a:rPr sz="3200" b="0" spc="40" dirty="0">
                <a:latin typeface="Times New Roman"/>
                <a:cs typeface="Times New Roman"/>
              </a:rPr>
              <a:t> </a:t>
            </a:r>
            <a:r>
              <a:rPr sz="3200" spc="-254" dirty="0"/>
              <a:t>programme</a:t>
            </a:r>
            <a:r>
              <a:rPr sz="3200" b="0" spc="25" dirty="0">
                <a:latin typeface="Times New Roman"/>
                <a:cs typeface="Times New Roman"/>
              </a:rPr>
              <a:t> </a:t>
            </a:r>
            <a:r>
              <a:rPr sz="3200" spc="-229" dirty="0"/>
              <a:t>comportant</a:t>
            </a:r>
            <a:r>
              <a:rPr sz="3200" b="0" spc="-229" dirty="0">
                <a:latin typeface="Times New Roman"/>
                <a:cs typeface="Times New Roman"/>
              </a:rPr>
              <a:t> </a:t>
            </a:r>
            <a:r>
              <a:rPr sz="3200" spc="-250" dirty="0"/>
              <a:t>plusieurs</a:t>
            </a:r>
            <a:r>
              <a:rPr sz="3200" b="0" spc="85" dirty="0">
                <a:latin typeface="Times New Roman"/>
                <a:cs typeface="Times New Roman"/>
              </a:rPr>
              <a:t> </a:t>
            </a:r>
            <a:r>
              <a:rPr sz="3200" spc="-110" dirty="0"/>
              <a:t>fichiers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7705" y="2837688"/>
            <a:ext cx="4041775" cy="4258310"/>
          </a:xfrm>
          <a:custGeom>
            <a:avLst/>
            <a:gdLst/>
            <a:ahLst/>
            <a:cxnLst/>
            <a:rect l="l" t="t" r="r" b="b"/>
            <a:pathLst>
              <a:path w="4041775" h="4258309">
                <a:moveTo>
                  <a:pt x="4041645" y="4256532"/>
                </a:moveTo>
                <a:lnTo>
                  <a:pt x="4041645" y="1524"/>
                </a:lnTo>
                <a:lnTo>
                  <a:pt x="4040121" y="0"/>
                </a:lnTo>
                <a:lnTo>
                  <a:pt x="1524" y="0"/>
                </a:lnTo>
                <a:lnTo>
                  <a:pt x="0" y="1524"/>
                </a:lnTo>
                <a:lnTo>
                  <a:pt x="0" y="4256532"/>
                </a:lnTo>
                <a:lnTo>
                  <a:pt x="1524" y="4258056"/>
                </a:lnTo>
                <a:lnTo>
                  <a:pt x="4572" y="4258056"/>
                </a:lnTo>
                <a:lnTo>
                  <a:pt x="4572" y="10668"/>
                </a:lnTo>
                <a:lnTo>
                  <a:pt x="9144" y="4572"/>
                </a:lnTo>
                <a:lnTo>
                  <a:pt x="9144" y="10668"/>
                </a:lnTo>
                <a:lnTo>
                  <a:pt x="4032501" y="10668"/>
                </a:lnTo>
                <a:lnTo>
                  <a:pt x="4032501" y="4572"/>
                </a:lnTo>
                <a:lnTo>
                  <a:pt x="4037073" y="10668"/>
                </a:lnTo>
                <a:lnTo>
                  <a:pt x="4037073" y="4258056"/>
                </a:lnTo>
                <a:lnTo>
                  <a:pt x="4040121" y="4258056"/>
                </a:lnTo>
                <a:lnTo>
                  <a:pt x="4041645" y="4256532"/>
                </a:lnTo>
                <a:close/>
              </a:path>
              <a:path w="4041775" h="4258309">
                <a:moveTo>
                  <a:pt x="9144" y="10668"/>
                </a:moveTo>
                <a:lnTo>
                  <a:pt x="9144" y="4572"/>
                </a:lnTo>
                <a:lnTo>
                  <a:pt x="4572" y="10668"/>
                </a:lnTo>
                <a:lnTo>
                  <a:pt x="9144" y="10668"/>
                </a:lnTo>
                <a:close/>
              </a:path>
              <a:path w="4041775" h="4258309">
                <a:moveTo>
                  <a:pt x="9144" y="4248912"/>
                </a:moveTo>
                <a:lnTo>
                  <a:pt x="9144" y="10668"/>
                </a:lnTo>
                <a:lnTo>
                  <a:pt x="4572" y="10668"/>
                </a:lnTo>
                <a:lnTo>
                  <a:pt x="4572" y="4248912"/>
                </a:lnTo>
                <a:lnTo>
                  <a:pt x="9144" y="4248912"/>
                </a:lnTo>
                <a:close/>
              </a:path>
              <a:path w="4041775" h="4258309">
                <a:moveTo>
                  <a:pt x="4037073" y="4248912"/>
                </a:moveTo>
                <a:lnTo>
                  <a:pt x="4572" y="4248912"/>
                </a:lnTo>
                <a:lnTo>
                  <a:pt x="9144" y="4253484"/>
                </a:lnTo>
                <a:lnTo>
                  <a:pt x="9144" y="4258056"/>
                </a:lnTo>
                <a:lnTo>
                  <a:pt x="4032501" y="4258056"/>
                </a:lnTo>
                <a:lnTo>
                  <a:pt x="4032501" y="4253484"/>
                </a:lnTo>
                <a:lnTo>
                  <a:pt x="4037073" y="4248912"/>
                </a:lnTo>
                <a:close/>
              </a:path>
              <a:path w="4041775" h="4258309">
                <a:moveTo>
                  <a:pt x="9144" y="4258056"/>
                </a:moveTo>
                <a:lnTo>
                  <a:pt x="9144" y="4253484"/>
                </a:lnTo>
                <a:lnTo>
                  <a:pt x="4572" y="4248912"/>
                </a:lnTo>
                <a:lnTo>
                  <a:pt x="4572" y="4258056"/>
                </a:lnTo>
                <a:lnTo>
                  <a:pt x="9144" y="4258056"/>
                </a:lnTo>
                <a:close/>
              </a:path>
              <a:path w="4041775" h="4258309">
                <a:moveTo>
                  <a:pt x="4037073" y="10668"/>
                </a:moveTo>
                <a:lnTo>
                  <a:pt x="4032501" y="4572"/>
                </a:lnTo>
                <a:lnTo>
                  <a:pt x="4032501" y="10668"/>
                </a:lnTo>
                <a:lnTo>
                  <a:pt x="4037073" y="10668"/>
                </a:lnTo>
                <a:close/>
              </a:path>
              <a:path w="4041775" h="4258309">
                <a:moveTo>
                  <a:pt x="4037073" y="4248912"/>
                </a:moveTo>
                <a:lnTo>
                  <a:pt x="4037073" y="10668"/>
                </a:lnTo>
                <a:lnTo>
                  <a:pt x="4032501" y="10668"/>
                </a:lnTo>
                <a:lnTo>
                  <a:pt x="4032501" y="4248912"/>
                </a:lnTo>
                <a:lnTo>
                  <a:pt x="4037073" y="4248912"/>
                </a:lnTo>
                <a:close/>
              </a:path>
              <a:path w="4041775" h="4258309">
                <a:moveTo>
                  <a:pt x="4037073" y="4258056"/>
                </a:moveTo>
                <a:lnTo>
                  <a:pt x="4037073" y="4248912"/>
                </a:lnTo>
                <a:lnTo>
                  <a:pt x="4032501" y="4253484"/>
                </a:lnTo>
                <a:lnTo>
                  <a:pt x="4032501" y="4258056"/>
                </a:lnTo>
                <a:lnTo>
                  <a:pt x="4037073" y="4258056"/>
                </a:lnTo>
                <a:close/>
              </a:path>
            </a:pathLst>
          </a:custGeom>
          <a:solidFill>
            <a:srgbClr val="93B5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61016" y="1772129"/>
            <a:ext cx="3782060" cy="5259070"/>
          </a:xfrm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L="311150">
              <a:lnSpc>
                <a:spcPct val="100000"/>
              </a:lnSpc>
              <a:spcBef>
                <a:spcPts val="1175"/>
              </a:spcBef>
            </a:pPr>
            <a:r>
              <a:rPr sz="2800" b="1" spc="-245" dirty="0">
                <a:solidFill>
                  <a:srgbClr val="FF0000"/>
                </a:solidFill>
                <a:latin typeface="Arial"/>
                <a:cs typeface="Arial"/>
              </a:rPr>
              <a:t>Exemple</a:t>
            </a:r>
            <a:r>
              <a:rPr sz="2800" spc="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Arial"/>
                <a:cs typeface="Arial"/>
              </a:rPr>
              <a:t>(1/2):</a:t>
            </a:r>
            <a:endParaRPr sz="2800">
              <a:latin typeface="Arial"/>
              <a:cs typeface="Arial"/>
            </a:endParaRPr>
          </a:p>
          <a:p>
            <a:pPr marR="384810" algn="ctr">
              <a:lnSpc>
                <a:spcPct val="100000"/>
              </a:lnSpc>
              <a:spcBef>
                <a:spcPts val="775"/>
              </a:spcBef>
            </a:pPr>
            <a:r>
              <a:rPr sz="2000" u="sng" spc="-35" dirty="0">
                <a:solidFill>
                  <a:srgbClr val="00B0F0"/>
                </a:solidFill>
                <a:uFill>
                  <a:solidFill>
                    <a:srgbClr val="00AFF0"/>
                  </a:solidFill>
                </a:uFill>
                <a:latin typeface="Arial MT"/>
                <a:cs typeface="Arial MT"/>
              </a:rPr>
              <a:t>Point.h</a:t>
            </a:r>
            <a:endParaRPr sz="2000">
              <a:latin typeface="Arial MT"/>
              <a:cs typeface="Arial MT"/>
            </a:endParaRPr>
          </a:p>
          <a:p>
            <a:pPr marL="12700" marR="599440" algn="just">
              <a:lnSpc>
                <a:spcPct val="100000"/>
              </a:lnSpc>
              <a:spcBef>
                <a:spcPts val="1195"/>
              </a:spcBef>
            </a:pPr>
            <a:r>
              <a:rPr sz="1800" b="1" dirty="0">
                <a:solidFill>
                  <a:srgbClr val="009900"/>
                </a:solidFill>
                <a:latin typeface="Arial"/>
                <a:cs typeface="Arial"/>
              </a:rPr>
              <a:t>#ifndef</a:t>
            </a:r>
            <a:r>
              <a:rPr sz="1800" b="1" spc="-55" dirty="0">
                <a:solidFill>
                  <a:srgbClr val="00990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09900"/>
                </a:solidFill>
                <a:latin typeface="Arial"/>
                <a:cs typeface="Arial"/>
              </a:rPr>
              <a:t>POINT_H_INCLUDED </a:t>
            </a:r>
            <a:r>
              <a:rPr sz="1800" b="1" dirty="0">
                <a:solidFill>
                  <a:srgbClr val="009900"/>
                </a:solidFill>
                <a:latin typeface="Arial"/>
                <a:cs typeface="Arial"/>
              </a:rPr>
              <a:t>#define</a:t>
            </a:r>
            <a:r>
              <a:rPr sz="1800" b="1" spc="-45" dirty="0">
                <a:solidFill>
                  <a:srgbClr val="00990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09900"/>
                </a:solidFill>
                <a:latin typeface="Arial"/>
                <a:cs typeface="Arial"/>
              </a:rPr>
              <a:t>POINT_H_INCLUDED </a:t>
            </a:r>
            <a:r>
              <a:rPr sz="1800" b="1" dirty="0">
                <a:latin typeface="Arial"/>
                <a:cs typeface="Arial"/>
              </a:rPr>
              <a:t>class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00B0F0"/>
                </a:solidFill>
                <a:latin typeface="Arial"/>
                <a:cs typeface="Arial"/>
              </a:rPr>
              <a:t>Point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spc="-50" dirty="0">
                <a:solidFill>
                  <a:srgbClr val="FF0000"/>
                </a:solidFill>
                <a:latin typeface="Arial"/>
                <a:cs typeface="Arial"/>
              </a:rPr>
              <a:t>{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solidFill>
                  <a:srgbClr val="FF0065"/>
                </a:solidFill>
                <a:latin typeface="Arial"/>
                <a:cs typeface="Arial"/>
              </a:rPr>
              <a:t>public: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void</a:t>
            </a:r>
            <a:r>
              <a:rPr sz="18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translater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(</a:t>
            </a: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double</a:t>
            </a:r>
            <a:r>
              <a:rPr sz="18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dx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,</a:t>
            </a:r>
            <a:r>
              <a:rPr sz="1800" spc="-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double</a:t>
            </a:r>
            <a:r>
              <a:rPr sz="18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dy</a:t>
            </a:r>
            <a:r>
              <a:rPr sz="1800" spc="-20" dirty="0">
                <a:solidFill>
                  <a:srgbClr val="FF0000"/>
                </a:solidFill>
                <a:latin typeface="Arial MT"/>
                <a:cs typeface="Arial MT"/>
              </a:rPr>
              <a:t>); </a:t>
            </a: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double</a:t>
            </a:r>
            <a:r>
              <a:rPr sz="18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distance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();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void</a:t>
            </a:r>
            <a:r>
              <a:rPr sz="1800" spc="-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afficher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();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solidFill>
                  <a:srgbClr val="FF0065"/>
                </a:solidFill>
                <a:latin typeface="Arial"/>
                <a:cs typeface="Arial"/>
              </a:rPr>
              <a:t>private:</a:t>
            </a:r>
            <a:endParaRPr sz="1800">
              <a:latin typeface="Arial"/>
              <a:cs typeface="Arial"/>
            </a:endParaRPr>
          </a:p>
          <a:p>
            <a:pPr marL="76200" marR="2772410">
              <a:lnSpc>
                <a:spcPct val="100000"/>
              </a:lnSpc>
            </a:pP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double</a:t>
            </a:r>
            <a:r>
              <a:rPr sz="18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x</a:t>
            </a:r>
            <a:r>
              <a:rPr sz="1800" spc="-25" dirty="0">
                <a:solidFill>
                  <a:srgbClr val="FF0000"/>
                </a:solidFill>
                <a:latin typeface="Arial MT"/>
                <a:cs typeface="Arial MT"/>
              </a:rPr>
              <a:t>; </a:t>
            </a: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double</a:t>
            </a:r>
            <a:r>
              <a:rPr sz="18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y</a:t>
            </a:r>
            <a:r>
              <a:rPr sz="1800" spc="-25" dirty="0">
                <a:solidFill>
                  <a:srgbClr val="FF0000"/>
                </a:solidFill>
                <a:latin typeface="Arial MT"/>
                <a:cs typeface="Arial MT"/>
              </a:rPr>
              <a:t>;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};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009900"/>
                </a:solidFill>
                <a:latin typeface="Arial"/>
                <a:cs typeface="Arial"/>
              </a:rPr>
              <a:t>#endif</a:t>
            </a:r>
            <a:r>
              <a:rPr sz="1800" b="1" spc="-30" dirty="0">
                <a:solidFill>
                  <a:srgbClr val="0099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9900"/>
                </a:solidFill>
                <a:latin typeface="Arial"/>
                <a:cs typeface="Arial"/>
              </a:rPr>
              <a:t>//</a:t>
            </a:r>
            <a:r>
              <a:rPr sz="1800" b="1" spc="-25" dirty="0">
                <a:solidFill>
                  <a:srgbClr val="00990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09900"/>
                </a:solidFill>
                <a:latin typeface="Arial"/>
                <a:cs typeface="Arial"/>
              </a:rPr>
              <a:t>POINT_H_INCLUDED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053462" y="2837688"/>
            <a:ext cx="4762500" cy="4258310"/>
          </a:xfrm>
          <a:custGeom>
            <a:avLst/>
            <a:gdLst/>
            <a:ahLst/>
            <a:cxnLst/>
            <a:rect l="l" t="t" r="r" b="b"/>
            <a:pathLst>
              <a:path w="4762500" h="4258309">
                <a:moveTo>
                  <a:pt x="4762500" y="4256532"/>
                </a:moveTo>
                <a:lnTo>
                  <a:pt x="4762500" y="1524"/>
                </a:lnTo>
                <a:lnTo>
                  <a:pt x="4760976" y="0"/>
                </a:lnTo>
                <a:lnTo>
                  <a:pt x="3048" y="0"/>
                </a:lnTo>
                <a:lnTo>
                  <a:pt x="0" y="1524"/>
                </a:lnTo>
                <a:lnTo>
                  <a:pt x="0" y="4256532"/>
                </a:lnTo>
                <a:lnTo>
                  <a:pt x="3048" y="4258056"/>
                </a:lnTo>
                <a:lnTo>
                  <a:pt x="4572" y="4258056"/>
                </a:lnTo>
                <a:lnTo>
                  <a:pt x="4572" y="10668"/>
                </a:lnTo>
                <a:lnTo>
                  <a:pt x="10668" y="4572"/>
                </a:lnTo>
                <a:lnTo>
                  <a:pt x="10668" y="10668"/>
                </a:lnTo>
                <a:lnTo>
                  <a:pt x="4753356" y="10668"/>
                </a:lnTo>
                <a:lnTo>
                  <a:pt x="4753356" y="4572"/>
                </a:lnTo>
                <a:lnTo>
                  <a:pt x="4757928" y="10668"/>
                </a:lnTo>
                <a:lnTo>
                  <a:pt x="4757928" y="4258056"/>
                </a:lnTo>
                <a:lnTo>
                  <a:pt x="4760976" y="4258056"/>
                </a:lnTo>
                <a:lnTo>
                  <a:pt x="4762500" y="4256532"/>
                </a:lnTo>
                <a:close/>
              </a:path>
              <a:path w="4762500" h="4258309">
                <a:moveTo>
                  <a:pt x="10668" y="10668"/>
                </a:moveTo>
                <a:lnTo>
                  <a:pt x="10668" y="4572"/>
                </a:lnTo>
                <a:lnTo>
                  <a:pt x="4572" y="10668"/>
                </a:lnTo>
                <a:lnTo>
                  <a:pt x="10668" y="10668"/>
                </a:lnTo>
                <a:close/>
              </a:path>
              <a:path w="4762500" h="4258309">
                <a:moveTo>
                  <a:pt x="10668" y="4248912"/>
                </a:moveTo>
                <a:lnTo>
                  <a:pt x="10668" y="10668"/>
                </a:lnTo>
                <a:lnTo>
                  <a:pt x="4572" y="10668"/>
                </a:lnTo>
                <a:lnTo>
                  <a:pt x="4572" y="4248912"/>
                </a:lnTo>
                <a:lnTo>
                  <a:pt x="10668" y="4248912"/>
                </a:lnTo>
                <a:close/>
              </a:path>
              <a:path w="4762500" h="4258309">
                <a:moveTo>
                  <a:pt x="4757928" y="4248912"/>
                </a:moveTo>
                <a:lnTo>
                  <a:pt x="4572" y="4248912"/>
                </a:lnTo>
                <a:lnTo>
                  <a:pt x="10668" y="4253484"/>
                </a:lnTo>
                <a:lnTo>
                  <a:pt x="10668" y="4258056"/>
                </a:lnTo>
                <a:lnTo>
                  <a:pt x="4753356" y="4258056"/>
                </a:lnTo>
                <a:lnTo>
                  <a:pt x="4753356" y="4253484"/>
                </a:lnTo>
                <a:lnTo>
                  <a:pt x="4757928" y="4248912"/>
                </a:lnTo>
                <a:close/>
              </a:path>
              <a:path w="4762500" h="4258309">
                <a:moveTo>
                  <a:pt x="10668" y="4258056"/>
                </a:moveTo>
                <a:lnTo>
                  <a:pt x="10668" y="4253484"/>
                </a:lnTo>
                <a:lnTo>
                  <a:pt x="4572" y="4248912"/>
                </a:lnTo>
                <a:lnTo>
                  <a:pt x="4572" y="4258056"/>
                </a:lnTo>
                <a:lnTo>
                  <a:pt x="10668" y="4258056"/>
                </a:lnTo>
                <a:close/>
              </a:path>
              <a:path w="4762500" h="4258309">
                <a:moveTo>
                  <a:pt x="4757928" y="10668"/>
                </a:moveTo>
                <a:lnTo>
                  <a:pt x="4753356" y="4572"/>
                </a:lnTo>
                <a:lnTo>
                  <a:pt x="4753356" y="10668"/>
                </a:lnTo>
                <a:lnTo>
                  <a:pt x="4757928" y="10668"/>
                </a:lnTo>
                <a:close/>
              </a:path>
              <a:path w="4762500" h="4258309">
                <a:moveTo>
                  <a:pt x="4757928" y="4248912"/>
                </a:moveTo>
                <a:lnTo>
                  <a:pt x="4757928" y="10668"/>
                </a:lnTo>
                <a:lnTo>
                  <a:pt x="4753356" y="10668"/>
                </a:lnTo>
                <a:lnTo>
                  <a:pt x="4753356" y="4248912"/>
                </a:lnTo>
                <a:lnTo>
                  <a:pt x="4757928" y="4248912"/>
                </a:lnTo>
                <a:close/>
              </a:path>
              <a:path w="4762500" h="4258309">
                <a:moveTo>
                  <a:pt x="4757928" y="4258056"/>
                </a:moveTo>
                <a:lnTo>
                  <a:pt x="4757928" y="4248912"/>
                </a:lnTo>
                <a:lnTo>
                  <a:pt x="4753356" y="4253484"/>
                </a:lnTo>
                <a:lnTo>
                  <a:pt x="4753356" y="4258056"/>
                </a:lnTo>
                <a:lnTo>
                  <a:pt x="4757928" y="4258056"/>
                </a:lnTo>
                <a:close/>
              </a:path>
            </a:pathLst>
          </a:custGeom>
          <a:solidFill>
            <a:srgbClr val="93B5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136779" y="2433319"/>
            <a:ext cx="4518660" cy="461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81710">
              <a:lnSpc>
                <a:spcPct val="100000"/>
              </a:lnSpc>
              <a:spcBef>
                <a:spcPts val="100"/>
              </a:spcBef>
            </a:pPr>
            <a:r>
              <a:rPr sz="2000" u="sng" spc="-30" dirty="0">
                <a:solidFill>
                  <a:srgbClr val="00B0F0"/>
                </a:solidFill>
                <a:uFill>
                  <a:solidFill>
                    <a:srgbClr val="00AFF0"/>
                  </a:solidFill>
                </a:uFill>
                <a:latin typeface="Arial MT"/>
                <a:cs typeface="Arial MT"/>
              </a:rPr>
              <a:t>Point.cpp</a:t>
            </a:r>
            <a:endParaRPr sz="2000">
              <a:latin typeface="Arial MT"/>
              <a:cs typeface="Arial MT"/>
            </a:endParaRPr>
          </a:p>
          <a:p>
            <a:pPr marL="12700" marR="2097405">
              <a:lnSpc>
                <a:spcPct val="100000"/>
              </a:lnSpc>
              <a:spcBef>
                <a:spcPts val="1320"/>
              </a:spcBef>
            </a:pPr>
            <a:r>
              <a:rPr sz="1800" b="1" dirty="0">
                <a:solidFill>
                  <a:srgbClr val="009900"/>
                </a:solidFill>
                <a:latin typeface="Arial"/>
                <a:cs typeface="Arial"/>
              </a:rPr>
              <a:t>#include</a:t>
            </a:r>
            <a:r>
              <a:rPr sz="1800" b="1" spc="-60" dirty="0">
                <a:solidFill>
                  <a:srgbClr val="00990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09900"/>
                </a:solidFill>
                <a:latin typeface="Arial"/>
                <a:cs typeface="Arial"/>
              </a:rPr>
              <a:t>"Point.h“ #include&lt;iostream&gt; #include&lt;cmath&gt; </a:t>
            </a: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using</a:t>
            </a:r>
            <a:r>
              <a:rPr sz="1800" b="1" spc="-5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namespace</a:t>
            </a:r>
            <a:r>
              <a:rPr sz="1800" b="1" spc="-3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009900"/>
                </a:solidFill>
                <a:latin typeface="Arial"/>
                <a:cs typeface="Arial"/>
              </a:rPr>
              <a:t>std</a:t>
            </a:r>
            <a:r>
              <a:rPr sz="1800" b="1" spc="-20" dirty="0">
                <a:solidFill>
                  <a:srgbClr val="FF0065"/>
                </a:solidFill>
                <a:latin typeface="Arial"/>
                <a:cs typeface="Arial"/>
              </a:rPr>
              <a:t>;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"/>
              <a:cs typeface="Arial"/>
            </a:endParaRPr>
          </a:p>
          <a:p>
            <a:pPr marL="139065" marR="5080" indent="-127000">
              <a:lnSpc>
                <a:spcPct val="100000"/>
              </a:lnSpc>
            </a:pP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void</a:t>
            </a:r>
            <a:r>
              <a:rPr sz="1800" spc="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00B0F0"/>
                </a:solidFill>
                <a:latin typeface="Arial"/>
                <a:cs typeface="Arial"/>
              </a:rPr>
              <a:t>Point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::</a:t>
            </a:r>
            <a:r>
              <a:rPr sz="1800" spc="-10" dirty="0">
                <a:latin typeface="Arial MT"/>
                <a:cs typeface="Arial MT"/>
              </a:rPr>
              <a:t>translater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(</a:t>
            </a:r>
            <a:r>
              <a:rPr sz="1800" spc="-10" dirty="0">
                <a:solidFill>
                  <a:srgbClr val="001F5F"/>
                </a:solidFill>
                <a:latin typeface="Arial MT"/>
                <a:cs typeface="Arial MT"/>
              </a:rPr>
              <a:t>double</a:t>
            </a:r>
            <a:r>
              <a:rPr sz="1800" spc="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dx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,</a:t>
            </a:r>
            <a:r>
              <a:rPr sz="1800" spc="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double</a:t>
            </a:r>
            <a:r>
              <a:rPr sz="1800" spc="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dy</a:t>
            </a:r>
            <a:r>
              <a:rPr sz="1800" spc="-20" dirty="0">
                <a:solidFill>
                  <a:srgbClr val="FF0000"/>
                </a:solidFill>
                <a:latin typeface="Arial MT"/>
                <a:cs typeface="Arial MT"/>
              </a:rPr>
              <a:t>){ </a:t>
            </a:r>
            <a:r>
              <a:rPr sz="1800" dirty="0">
                <a:latin typeface="Arial MT"/>
                <a:cs typeface="Arial MT"/>
              </a:rPr>
              <a:t>x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+=</a:t>
            </a:r>
            <a:r>
              <a:rPr sz="1800" spc="-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dx</a:t>
            </a:r>
            <a:r>
              <a:rPr sz="1800" spc="-25" dirty="0">
                <a:solidFill>
                  <a:srgbClr val="FF0000"/>
                </a:solidFill>
                <a:latin typeface="Arial MT"/>
                <a:cs typeface="Arial MT"/>
              </a:rPr>
              <a:t>;</a:t>
            </a:r>
            <a:endParaRPr sz="1800">
              <a:latin typeface="Arial MT"/>
              <a:cs typeface="Arial MT"/>
            </a:endParaRPr>
          </a:p>
          <a:p>
            <a:pPr marL="139065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y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+=</a:t>
            </a:r>
            <a:r>
              <a:rPr sz="1800" spc="-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dy</a:t>
            </a:r>
            <a:r>
              <a:rPr sz="1800" spc="-25" dirty="0">
                <a:solidFill>
                  <a:srgbClr val="FF0000"/>
                </a:solidFill>
                <a:latin typeface="Arial MT"/>
                <a:cs typeface="Arial MT"/>
              </a:rPr>
              <a:t>;</a:t>
            </a:r>
            <a:endParaRPr sz="1800">
              <a:latin typeface="Arial MT"/>
              <a:cs typeface="Arial MT"/>
            </a:endParaRPr>
          </a:p>
          <a:p>
            <a:pPr marL="139065">
              <a:lnSpc>
                <a:spcPct val="100000"/>
              </a:lnSpc>
            </a:pPr>
            <a:r>
              <a:rPr sz="1800" spc="-50" dirty="0">
                <a:solidFill>
                  <a:srgbClr val="FF0000"/>
                </a:solidFill>
                <a:latin typeface="Arial MT"/>
                <a:cs typeface="Arial MT"/>
              </a:rPr>
              <a:t>}</a:t>
            </a:r>
            <a:endParaRPr sz="1800">
              <a:latin typeface="Arial MT"/>
              <a:cs typeface="Arial MT"/>
            </a:endParaRPr>
          </a:p>
          <a:p>
            <a:pPr marL="76200" marR="1818639">
              <a:lnSpc>
                <a:spcPct val="100000"/>
              </a:lnSpc>
            </a:pP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double</a:t>
            </a:r>
            <a:r>
              <a:rPr sz="1800" spc="-6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00B0F0"/>
                </a:solidFill>
                <a:latin typeface="Arial"/>
                <a:cs typeface="Arial"/>
              </a:rPr>
              <a:t>Point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::</a:t>
            </a:r>
            <a:r>
              <a:rPr sz="1800" dirty="0">
                <a:latin typeface="Arial MT"/>
                <a:cs typeface="Arial MT"/>
              </a:rPr>
              <a:t>distance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()</a:t>
            </a:r>
            <a:r>
              <a:rPr sz="1800" spc="-5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Arial MT"/>
                <a:cs typeface="Arial MT"/>
              </a:rPr>
              <a:t>{ </a:t>
            </a: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return</a:t>
            </a:r>
            <a:r>
              <a:rPr sz="18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sqrt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(</a:t>
            </a: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*</a:t>
            </a: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+</a:t>
            </a:r>
            <a:r>
              <a:rPr sz="1800" spc="-10" dirty="0">
                <a:latin typeface="Arial MT"/>
                <a:cs typeface="Arial MT"/>
              </a:rPr>
              <a:t>y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*</a:t>
            </a:r>
            <a:r>
              <a:rPr sz="1800" spc="-10" dirty="0">
                <a:latin typeface="Arial MT"/>
                <a:cs typeface="Arial MT"/>
              </a:rPr>
              <a:t>y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);</a:t>
            </a:r>
            <a:endParaRPr sz="1800">
              <a:latin typeface="Arial MT"/>
              <a:cs typeface="Arial MT"/>
            </a:endParaRPr>
          </a:p>
          <a:p>
            <a:pPr marL="76200">
              <a:lnSpc>
                <a:spcPct val="100000"/>
              </a:lnSpc>
            </a:pPr>
            <a:r>
              <a:rPr sz="1800" spc="-50" dirty="0">
                <a:solidFill>
                  <a:srgbClr val="FF0000"/>
                </a:solidFill>
                <a:latin typeface="Arial MT"/>
                <a:cs typeface="Arial MT"/>
              </a:rPr>
              <a:t>}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void</a:t>
            </a:r>
            <a:r>
              <a:rPr sz="1800" spc="-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00B0F0"/>
                </a:solidFill>
                <a:latin typeface="Arial"/>
                <a:cs typeface="Arial"/>
              </a:rPr>
              <a:t>Point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::</a:t>
            </a:r>
            <a:r>
              <a:rPr sz="1800" spc="-10" dirty="0">
                <a:latin typeface="Arial MT"/>
                <a:cs typeface="Arial MT"/>
              </a:rPr>
              <a:t>afficher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(){</a:t>
            </a:r>
            <a:endParaRPr sz="1800">
              <a:latin typeface="Arial MT"/>
              <a:cs typeface="Arial MT"/>
            </a:endParaRPr>
          </a:p>
          <a:p>
            <a:pPr marL="139065">
              <a:lnSpc>
                <a:spcPct val="100000"/>
              </a:lnSpc>
              <a:tabLst>
                <a:tab pos="2787650" algn="l"/>
              </a:tabLst>
            </a:pPr>
            <a:r>
              <a:rPr sz="1800" dirty="0">
                <a:solidFill>
                  <a:srgbClr val="009900"/>
                </a:solidFill>
                <a:latin typeface="Arial MT"/>
                <a:cs typeface="Arial MT"/>
              </a:rPr>
              <a:t>cout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&lt;&lt;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6FC0"/>
                </a:solidFill>
                <a:latin typeface="Arial MT"/>
                <a:cs typeface="Arial MT"/>
              </a:rPr>
              <a:t>"("</a:t>
            </a:r>
            <a:r>
              <a:rPr sz="1800" spc="-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&lt;&lt;</a:t>
            </a:r>
            <a:r>
              <a:rPr sz="1800" spc="-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x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&lt;&lt;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6FC0"/>
                </a:solidFill>
                <a:latin typeface="Arial MT"/>
                <a:cs typeface="Arial MT"/>
              </a:rPr>
              <a:t>",</a:t>
            </a:r>
            <a:r>
              <a:rPr sz="1800" spc="-1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006FC0"/>
                </a:solidFill>
                <a:latin typeface="Arial MT"/>
                <a:cs typeface="Arial MT"/>
              </a:rPr>
              <a:t>"</a:t>
            </a:r>
            <a:r>
              <a:rPr sz="1800" spc="-25" dirty="0">
                <a:solidFill>
                  <a:srgbClr val="FF0000"/>
                </a:solidFill>
                <a:latin typeface="Arial MT"/>
                <a:cs typeface="Arial MT"/>
              </a:rPr>
              <a:t>&lt;&lt;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	</a:t>
            </a:r>
            <a:r>
              <a:rPr sz="1800" dirty="0">
                <a:latin typeface="Arial MT"/>
                <a:cs typeface="Arial MT"/>
              </a:rPr>
              <a:t>y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&lt;&lt;</a:t>
            </a:r>
            <a:r>
              <a:rPr sz="1800" spc="-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6FC0"/>
                </a:solidFill>
                <a:latin typeface="Arial MT"/>
                <a:cs typeface="Arial MT"/>
              </a:rPr>
              <a:t>")</a:t>
            </a:r>
            <a:r>
              <a:rPr sz="1800" spc="-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6FC0"/>
                </a:solidFill>
                <a:latin typeface="Arial MT"/>
                <a:cs typeface="Arial MT"/>
              </a:rPr>
              <a:t>"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&lt;&lt;</a:t>
            </a:r>
            <a:r>
              <a:rPr sz="1800" spc="-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09900"/>
                </a:solidFill>
                <a:latin typeface="Arial MT"/>
                <a:cs typeface="Arial MT"/>
              </a:rPr>
              <a:t>endl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;</a:t>
            </a:r>
            <a:endParaRPr sz="1800">
              <a:latin typeface="Arial MT"/>
              <a:cs typeface="Arial MT"/>
            </a:endParaRPr>
          </a:p>
          <a:p>
            <a:pPr marL="139065">
              <a:lnSpc>
                <a:spcPct val="100000"/>
              </a:lnSpc>
            </a:pPr>
            <a:r>
              <a:rPr sz="1800" spc="-50" dirty="0">
                <a:solidFill>
                  <a:srgbClr val="FF0000"/>
                </a:solidFill>
                <a:latin typeface="Arial MT"/>
                <a:cs typeface="Arial MT"/>
              </a:rPr>
              <a:t>}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18852" y="1649583"/>
            <a:ext cx="242570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118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80828" y="1611883"/>
            <a:ext cx="2679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118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0" marR="5080">
              <a:lnSpc>
                <a:spcPct val="100000"/>
              </a:lnSpc>
              <a:spcBef>
                <a:spcPts val="100"/>
              </a:spcBef>
            </a:pPr>
            <a:r>
              <a:rPr sz="3200" spc="-204" dirty="0"/>
              <a:t>Mise</a:t>
            </a:r>
            <a:r>
              <a:rPr sz="3200" b="0" spc="65" dirty="0">
                <a:latin typeface="Times New Roman"/>
                <a:cs typeface="Times New Roman"/>
              </a:rPr>
              <a:t> </a:t>
            </a:r>
            <a:r>
              <a:rPr sz="3200" spc="-254" dirty="0"/>
              <a:t>en</a:t>
            </a:r>
            <a:r>
              <a:rPr sz="3200" b="0" spc="40" dirty="0">
                <a:latin typeface="Times New Roman"/>
                <a:cs typeface="Times New Roman"/>
              </a:rPr>
              <a:t> </a:t>
            </a:r>
            <a:r>
              <a:rPr sz="3200" spc="-260" dirty="0"/>
              <a:t>œuvre</a:t>
            </a:r>
            <a:r>
              <a:rPr sz="3200" b="0" spc="50" dirty="0">
                <a:latin typeface="Times New Roman"/>
                <a:cs typeface="Times New Roman"/>
              </a:rPr>
              <a:t> </a:t>
            </a:r>
            <a:r>
              <a:rPr sz="3200" spc="-200" dirty="0"/>
              <a:t>d’un</a:t>
            </a:r>
            <a:r>
              <a:rPr sz="3200" b="0" spc="40" dirty="0">
                <a:latin typeface="Times New Roman"/>
                <a:cs typeface="Times New Roman"/>
              </a:rPr>
              <a:t> </a:t>
            </a:r>
            <a:r>
              <a:rPr sz="3200" spc="-254" dirty="0"/>
              <a:t>programme</a:t>
            </a:r>
            <a:r>
              <a:rPr sz="3200" b="0" spc="25" dirty="0">
                <a:latin typeface="Times New Roman"/>
                <a:cs typeface="Times New Roman"/>
              </a:rPr>
              <a:t> </a:t>
            </a:r>
            <a:r>
              <a:rPr sz="3200" spc="-229" dirty="0"/>
              <a:t>comportant</a:t>
            </a:r>
            <a:r>
              <a:rPr sz="3200" b="0" spc="-229" dirty="0">
                <a:latin typeface="Times New Roman"/>
                <a:cs typeface="Times New Roman"/>
              </a:rPr>
              <a:t> </a:t>
            </a:r>
            <a:r>
              <a:rPr sz="3200" spc="-250" dirty="0"/>
              <a:t>plusieurs</a:t>
            </a:r>
            <a:r>
              <a:rPr sz="3200" b="0" spc="85" dirty="0">
                <a:latin typeface="Times New Roman"/>
                <a:cs typeface="Times New Roman"/>
              </a:rPr>
              <a:t> </a:t>
            </a:r>
            <a:r>
              <a:rPr sz="3200" spc="-110" dirty="0"/>
              <a:t>fichiers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237369" y="2909316"/>
            <a:ext cx="6562725" cy="3058795"/>
          </a:xfrm>
          <a:custGeom>
            <a:avLst/>
            <a:gdLst/>
            <a:ahLst/>
            <a:cxnLst/>
            <a:rect l="l" t="t" r="r" b="b"/>
            <a:pathLst>
              <a:path w="6562725" h="3058795">
                <a:moveTo>
                  <a:pt x="6562341" y="3055620"/>
                </a:moveTo>
                <a:lnTo>
                  <a:pt x="6562341" y="3048"/>
                </a:lnTo>
                <a:lnTo>
                  <a:pt x="6560817" y="0"/>
                </a:lnTo>
                <a:lnTo>
                  <a:pt x="1524" y="0"/>
                </a:lnTo>
                <a:lnTo>
                  <a:pt x="0" y="3048"/>
                </a:lnTo>
                <a:lnTo>
                  <a:pt x="0" y="3055620"/>
                </a:lnTo>
                <a:lnTo>
                  <a:pt x="1524" y="3058668"/>
                </a:lnTo>
                <a:lnTo>
                  <a:pt x="4572" y="3058668"/>
                </a:lnTo>
                <a:lnTo>
                  <a:pt x="4572" y="10668"/>
                </a:lnTo>
                <a:lnTo>
                  <a:pt x="10668" y="4572"/>
                </a:lnTo>
                <a:lnTo>
                  <a:pt x="10668" y="10668"/>
                </a:lnTo>
                <a:lnTo>
                  <a:pt x="6553197" y="10668"/>
                </a:lnTo>
                <a:lnTo>
                  <a:pt x="6553197" y="4572"/>
                </a:lnTo>
                <a:lnTo>
                  <a:pt x="6557769" y="10668"/>
                </a:lnTo>
                <a:lnTo>
                  <a:pt x="6557769" y="3058668"/>
                </a:lnTo>
                <a:lnTo>
                  <a:pt x="6560817" y="3058668"/>
                </a:lnTo>
                <a:lnTo>
                  <a:pt x="6562341" y="3055620"/>
                </a:lnTo>
                <a:close/>
              </a:path>
              <a:path w="6562725" h="3058795">
                <a:moveTo>
                  <a:pt x="10668" y="10668"/>
                </a:moveTo>
                <a:lnTo>
                  <a:pt x="10668" y="4572"/>
                </a:lnTo>
                <a:lnTo>
                  <a:pt x="4572" y="10668"/>
                </a:lnTo>
                <a:lnTo>
                  <a:pt x="10668" y="10668"/>
                </a:lnTo>
                <a:close/>
              </a:path>
              <a:path w="6562725" h="3058795">
                <a:moveTo>
                  <a:pt x="10668" y="3048000"/>
                </a:moveTo>
                <a:lnTo>
                  <a:pt x="10668" y="10668"/>
                </a:lnTo>
                <a:lnTo>
                  <a:pt x="4572" y="10668"/>
                </a:lnTo>
                <a:lnTo>
                  <a:pt x="4572" y="3048000"/>
                </a:lnTo>
                <a:lnTo>
                  <a:pt x="10668" y="3048000"/>
                </a:lnTo>
                <a:close/>
              </a:path>
              <a:path w="6562725" h="3058795">
                <a:moveTo>
                  <a:pt x="6557769" y="3048000"/>
                </a:moveTo>
                <a:lnTo>
                  <a:pt x="4572" y="3048000"/>
                </a:lnTo>
                <a:lnTo>
                  <a:pt x="10668" y="3052572"/>
                </a:lnTo>
                <a:lnTo>
                  <a:pt x="10668" y="3058668"/>
                </a:lnTo>
                <a:lnTo>
                  <a:pt x="6553197" y="3058668"/>
                </a:lnTo>
                <a:lnTo>
                  <a:pt x="6553197" y="3052572"/>
                </a:lnTo>
                <a:lnTo>
                  <a:pt x="6557769" y="3048000"/>
                </a:lnTo>
                <a:close/>
              </a:path>
              <a:path w="6562725" h="3058795">
                <a:moveTo>
                  <a:pt x="10668" y="3058668"/>
                </a:moveTo>
                <a:lnTo>
                  <a:pt x="10668" y="3052572"/>
                </a:lnTo>
                <a:lnTo>
                  <a:pt x="4572" y="3048000"/>
                </a:lnTo>
                <a:lnTo>
                  <a:pt x="4572" y="3058668"/>
                </a:lnTo>
                <a:lnTo>
                  <a:pt x="10668" y="3058668"/>
                </a:lnTo>
                <a:close/>
              </a:path>
              <a:path w="6562725" h="3058795">
                <a:moveTo>
                  <a:pt x="6557769" y="10668"/>
                </a:moveTo>
                <a:lnTo>
                  <a:pt x="6553197" y="4572"/>
                </a:lnTo>
                <a:lnTo>
                  <a:pt x="6553197" y="10668"/>
                </a:lnTo>
                <a:lnTo>
                  <a:pt x="6557769" y="10668"/>
                </a:lnTo>
                <a:close/>
              </a:path>
              <a:path w="6562725" h="3058795">
                <a:moveTo>
                  <a:pt x="6557769" y="3048000"/>
                </a:moveTo>
                <a:lnTo>
                  <a:pt x="6557769" y="10668"/>
                </a:lnTo>
                <a:lnTo>
                  <a:pt x="6553197" y="10668"/>
                </a:lnTo>
                <a:lnTo>
                  <a:pt x="6553197" y="3048000"/>
                </a:lnTo>
                <a:lnTo>
                  <a:pt x="6557769" y="3048000"/>
                </a:lnTo>
                <a:close/>
              </a:path>
              <a:path w="6562725" h="3058795">
                <a:moveTo>
                  <a:pt x="6557769" y="3058668"/>
                </a:moveTo>
                <a:lnTo>
                  <a:pt x="6557769" y="3048000"/>
                </a:lnTo>
                <a:lnTo>
                  <a:pt x="6553197" y="3052572"/>
                </a:lnTo>
                <a:lnTo>
                  <a:pt x="6553197" y="3058668"/>
                </a:lnTo>
                <a:lnTo>
                  <a:pt x="6557769" y="3058668"/>
                </a:lnTo>
                <a:close/>
              </a:path>
            </a:pathLst>
          </a:custGeom>
          <a:solidFill>
            <a:srgbClr val="93B5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71917" y="1772129"/>
            <a:ext cx="6308725" cy="4044315"/>
          </a:xfrm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L="68580">
              <a:lnSpc>
                <a:spcPct val="100000"/>
              </a:lnSpc>
              <a:spcBef>
                <a:spcPts val="1175"/>
              </a:spcBef>
            </a:pPr>
            <a:r>
              <a:rPr sz="2800" b="1" spc="-245" dirty="0">
                <a:solidFill>
                  <a:srgbClr val="FF0000"/>
                </a:solidFill>
                <a:latin typeface="Arial"/>
                <a:cs typeface="Arial"/>
              </a:rPr>
              <a:t>Exemple</a:t>
            </a:r>
            <a:r>
              <a:rPr sz="2800" spc="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Arial"/>
                <a:cs typeface="Arial"/>
              </a:rPr>
              <a:t>(2/2):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2000" u="sng" spc="-100" dirty="0">
                <a:solidFill>
                  <a:srgbClr val="00B0F0"/>
                </a:solidFill>
                <a:uFill>
                  <a:solidFill>
                    <a:srgbClr val="00AFF0"/>
                  </a:solidFill>
                </a:uFill>
                <a:latin typeface="Arial MT"/>
                <a:cs typeface="Arial MT"/>
              </a:rPr>
              <a:t>TestPoint.cpp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2000">
              <a:latin typeface="Arial MT"/>
              <a:cs typeface="Arial MT"/>
            </a:endParaRPr>
          </a:p>
          <a:p>
            <a:pPr marL="187325" marR="3712210">
              <a:lnSpc>
                <a:spcPct val="100000"/>
              </a:lnSpc>
            </a:pPr>
            <a:r>
              <a:rPr sz="1800" b="1" dirty="0">
                <a:solidFill>
                  <a:srgbClr val="009900"/>
                </a:solidFill>
                <a:latin typeface="Arial"/>
                <a:cs typeface="Arial"/>
              </a:rPr>
              <a:t>#include</a:t>
            </a:r>
            <a:r>
              <a:rPr sz="1800" b="1" spc="-60" dirty="0">
                <a:solidFill>
                  <a:srgbClr val="00990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09900"/>
                </a:solidFill>
                <a:latin typeface="Arial"/>
                <a:cs typeface="Arial"/>
              </a:rPr>
              <a:t>"Point.h“ #include&lt;iostream&gt; </a:t>
            </a: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using</a:t>
            </a:r>
            <a:r>
              <a:rPr sz="1800" b="1" spc="-5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namespace</a:t>
            </a:r>
            <a:r>
              <a:rPr sz="1800" b="1" spc="-3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009900"/>
                </a:solidFill>
                <a:latin typeface="Arial"/>
                <a:cs typeface="Arial"/>
              </a:rPr>
              <a:t>std</a:t>
            </a:r>
            <a:r>
              <a:rPr sz="1800" b="1" spc="-20" dirty="0">
                <a:solidFill>
                  <a:srgbClr val="FF0065"/>
                </a:solidFill>
                <a:latin typeface="Arial"/>
                <a:cs typeface="Arial"/>
              </a:rPr>
              <a:t>;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"/>
              <a:cs typeface="Arial"/>
            </a:endParaRPr>
          </a:p>
          <a:p>
            <a:pPr marL="187325">
              <a:lnSpc>
                <a:spcPct val="100000"/>
              </a:lnSpc>
            </a:pPr>
            <a:r>
              <a:rPr sz="1800" b="1" dirty="0">
                <a:solidFill>
                  <a:srgbClr val="001F5F"/>
                </a:solidFill>
                <a:latin typeface="Arial"/>
                <a:cs typeface="Arial"/>
              </a:rPr>
              <a:t>int</a:t>
            </a:r>
            <a:r>
              <a:rPr sz="1800" b="1" spc="-3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main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(){</a:t>
            </a:r>
            <a:endParaRPr sz="1800">
              <a:latin typeface="Arial"/>
              <a:cs typeface="Arial"/>
            </a:endParaRPr>
          </a:p>
          <a:p>
            <a:pPr marL="187325" marR="3678554">
              <a:lnSpc>
                <a:spcPct val="100000"/>
              </a:lnSpc>
            </a:pPr>
            <a:r>
              <a:rPr sz="1800" dirty="0">
                <a:solidFill>
                  <a:srgbClr val="00B0F0"/>
                </a:solidFill>
                <a:latin typeface="Arial MT"/>
                <a:cs typeface="Arial MT"/>
              </a:rPr>
              <a:t>Point</a:t>
            </a:r>
            <a:r>
              <a:rPr sz="1800" spc="-5" dirty="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p1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,</a:t>
            </a:r>
            <a:r>
              <a:rPr sz="1800" b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spc="-25" dirty="0">
                <a:latin typeface="Arial MT"/>
                <a:cs typeface="Arial MT"/>
              </a:rPr>
              <a:t>p2</a:t>
            </a:r>
            <a:r>
              <a:rPr sz="1800" spc="-25" dirty="0">
                <a:solidFill>
                  <a:srgbClr val="FF0000"/>
                </a:solidFill>
                <a:latin typeface="Arial MT"/>
                <a:cs typeface="Arial MT"/>
              </a:rPr>
              <a:t>; </a:t>
            </a:r>
            <a:r>
              <a:rPr sz="1800" spc="-10" dirty="0">
                <a:latin typeface="Arial MT"/>
                <a:cs typeface="Arial MT"/>
              </a:rPr>
              <a:t>p1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.</a:t>
            </a:r>
            <a:r>
              <a:rPr sz="1800" spc="-10" dirty="0">
                <a:latin typeface="Arial MT"/>
                <a:cs typeface="Arial MT"/>
              </a:rPr>
              <a:t>translater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(</a:t>
            </a:r>
            <a:r>
              <a:rPr sz="1800" spc="-10" dirty="0">
                <a:solidFill>
                  <a:srgbClr val="FF32CC"/>
                </a:solidFill>
                <a:latin typeface="Arial MT"/>
                <a:cs typeface="Arial MT"/>
              </a:rPr>
              <a:t>10.0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,</a:t>
            </a:r>
            <a:r>
              <a:rPr sz="1800" spc="-10" dirty="0">
                <a:solidFill>
                  <a:srgbClr val="FF32CC"/>
                </a:solidFill>
                <a:latin typeface="Arial MT"/>
                <a:cs typeface="Arial MT"/>
              </a:rPr>
              <a:t>10.0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); </a:t>
            </a:r>
            <a:r>
              <a:rPr sz="1800" spc="-10" dirty="0">
                <a:latin typeface="Arial MT"/>
                <a:cs typeface="Arial MT"/>
              </a:rPr>
              <a:t>p1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.</a:t>
            </a:r>
            <a:r>
              <a:rPr sz="1800" spc="-10" dirty="0">
                <a:latin typeface="Arial MT"/>
                <a:cs typeface="Arial MT"/>
              </a:rPr>
              <a:t>afficher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();</a:t>
            </a:r>
            <a:endParaRPr sz="1800">
              <a:latin typeface="Arial MT"/>
              <a:cs typeface="Arial MT"/>
            </a:endParaRPr>
          </a:p>
          <a:p>
            <a:pPr marL="187325">
              <a:lnSpc>
                <a:spcPct val="100000"/>
              </a:lnSpc>
            </a:pPr>
            <a:r>
              <a:rPr sz="1800" dirty="0">
                <a:solidFill>
                  <a:srgbClr val="009900"/>
                </a:solidFill>
                <a:latin typeface="Arial MT"/>
                <a:cs typeface="Arial MT"/>
              </a:rPr>
              <a:t>cout</a:t>
            </a:r>
            <a:r>
              <a:rPr sz="1800" spc="-15" dirty="0">
                <a:solidFill>
                  <a:srgbClr val="0099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&lt;&lt;</a:t>
            </a:r>
            <a:r>
              <a:rPr sz="1800" spc="-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6FC0"/>
                </a:solidFill>
                <a:latin typeface="Arial MT"/>
                <a:cs typeface="Arial MT"/>
              </a:rPr>
              <a:t>“distance</a:t>
            </a:r>
            <a:r>
              <a:rPr sz="1800" spc="-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6FC0"/>
                </a:solidFill>
                <a:latin typeface="Arial MT"/>
                <a:cs typeface="Arial MT"/>
              </a:rPr>
              <a:t>de</a:t>
            </a:r>
            <a:r>
              <a:rPr sz="1800" spc="-2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6FC0"/>
                </a:solidFill>
                <a:latin typeface="Arial MT"/>
                <a:cs typeface="Arial MT"/>
              </a:rPr>
              <a:t>p2</a:t>
            </a:r>
            <a:r>
              <a:rPr sz="1800" spc="-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6FC0"/>
                </a:solidFill>
                <a:latin typeface="Arial MT"/>
                <a:cs typeface="Arial MT"/>
              </a:rPr>
              <a:t>à</a:t>
            </a:r>
            <a:r>
              <a:rPr sz="1800" spc="-2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6FC0"/>
                </a:solidFill>
                <a:latin typeface="Arial MT"/>
                <a:cs typeface="Arial MT"/>
              </a:rPr>
              <a:t>l’origine“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&lt;&lt;</a:t>
            </a:r>
            <a:r>
              <a:rPr sz="1800" spc="-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p1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.</a:t>
            </a:r>
            <a:r>
              <a:rPr sz="1800" dirty="0">
                <a:latin typeface="Arial MT"/>
                <a:cs typeface="Arial MT"/>
              </a:rPr>
              <a:t>distance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()</a:t>
            </a:r>
            <a:r>
              <a:rPr sz="1800" spc="-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&lt;&lt;</a:t>
            </a:r>
            <a:r>
              <a:rPr sz="1800" spc="-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09900"/>
                </a:solidFill>
                <a:latin typeface="Arial MT"/>
                <a:cs typeface="Arial MT"/>
              </a:rPr>
              <a:t>endl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;</a:t>
            </a:r>
            <a:endParaRPr sz="1800">
              <a:latin typeface="Arial MT"/>
              <a:cs typeface="Arial MT"/>
            </a:endParaRPr>
          </a:p>
          <a:p>
            <a:pPr marL="125095">
              <a:lnSpc>
                <a:spcPct val="100000"/>
              </a:lnSpc>
            </a:pPr>
            <a:r>
              <a:rPr sz="1800" b="1" spc="-50" dirty="0">
                <a:solidFill>
                  <a:srgbClr val="FF0000"/>
                </a:solidFill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18852" y="1649583"/>
            <a:ext cx="242570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119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80828" y="1611883"/>
            <a:ext cx="2679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119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0" marR="5080">
              <a:lnSpc>
                <a:spcPct val="100000"/>
              </a:lnSpc>
              <a:spcBef>
                <a:spcPts val="100"/>
              </a:spcBef>
            </a:pPr>
            <a:r>
              <a:rPr sz="3200" spc="-204" dirty="0"/>
              <a:t>Mise</a:t>
            </a:r>
            <a:r>
              <a:rPr sz="3200" b="0" spc="65" dirty="0">
                <a:latin typeface="Times New Roman"/>
                <a:cs typeface="Times New Roman"/>
              </a:rPr>
              <a:t> </a:t>
            </a:r>
            <a:r>
              <a:rPr sz="3200" spc="-254" dirty="0"/>
              <a:t>en</a:t>
            </a:r>
            <a:r>
              <a:rPr sz="3200" b="0" spc="40" dirty="0">
                <a:latin typeface="Times New Roman"/>
                <a:cs typeface="Times New Roman"/>
              </a:rPr>
              <a:t> </a:t>
            </a:r>
            <a:r>
              <a:rPr sz="3200" spc="-260" dirty="0"/>
              <a:t>œuvre</a:t>
            </a:r>
            <a:r>
              <a:rPr sz="3200" b="0" spc="50" dirty="0">
                <a:latin typeface="Times New Roman"/>
                <a:cs typeface="Times New Roman"/>
              </a:rPr>
              <a:t> </a:t>
            </a:r>
            <a:r>
              <a:rPr sz="3200" spc="-200" dirty="0"/>
              <a:t>d’un</a:t>
            </a:r>
            <a:r>
              <a:rPr sz="3200" b="0" spc="40" dirty="0">
                <a:latin typeface="Times New Roman"/>
                <a:cs typeface="Times New Roman"/>
              </a:rPr>
              <a:t> </a:t>
            </a:r>
            <a:r>
              <a:rPr sz="3200" spc="-254" dirty="0"/>
              <a:t>programme</a:t>
            </a:r>
            <a:r>
              <a:rPr sz="3200" b="0" spc="25" dirty="0">
                <a:latin typeface="Times New Roman"/>
                <a:cs typeface="Times New Roman"/>
              </a:rPr>
              <a:t> </a:t>
            </a:r>
            <a:r>
              <a:rPr sz="3200" spc="-229" dirty="0"/>
              <a:t>comportant</a:t>
            </a:r>
            <a:r>
              <a:rPr sz="3200" b="0" spc="-229" dirty="0">
                <a:latin typeface="Times New Roman"/>
                <a:cs typeface="Times New Roman"/>
              </a:rPr>
              <a:t> </a:t>
            </a:r>
            <a:r>
              <a:rPr sz="3200" spc="-250" dirty="0"/>
              <a:t>plusieurs</a:t>
            </a:r>
            <a:r>
              <a:rPr sz="3200" b="0" spc="85" dirty="0">
                <a:latin typeface="Times New Roman"/>
                <a:cs typeface="Times New Roman"/>
              </a:rPr>
              <a:t> </a:t>
            </a:r>
            <a:r>
              <a:rPr sz="3200" spc="-315" dirty="0"/>
              <a:t>classes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8852" y="1649583"/>
            <a:ext cx="242570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120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16389" y="2833116"/>
            <a:ext cx="5419725" cy="4338955"/>
          </a:xfrm>
          <a:custGeom>
            <a:avLst/>
            <a:gdLst/>
            <a:ahLst/>
            <a:cxnLst/>
            <a:rect l="l" t="t" r="r" b="b"/>
            <a:pathLst>
              <a:path w="5419725" h="4338955">
                <a:moveTo>
                  <a:pt x="5419341" y="4335780"/>
                </a:moveTo>
                <a:lnTo>
                  <a:pt x="5419341" y="4572"/>
                </a:lnTo>
                <a:lnTo>
                  <a:pt x="5416293" y="0"/>
                </a:lnTo>
                <a:lnTo>
                  <a:pt x="4572" y="0"/>
                </a:lnTo>
                <a:lnTo>
                  <a:pt x="0" y="4572"/>
                </a:lnTo>
                <a:lnTo>
                  <a:pt x="0" y="4335780"/>
                </a:lnTo>
                <a:lnTo>
                  <a:pt x="4572" y="4338828"/>
                </a:lnTo>
                <a:lnTo>
                  <a:pt x="10668" y="4338828"/>
                </a:lnTo>
                <a:lnTo>
                  <a:pt x="10668" y="18288"/>
                </a:lnTo>
                <a:lnTo>
                  <a:pt x="19812" y="9144"/>
                </a:lnTo>
                <a:lnTo>
                  <a:pt x="19812" y="18288"/>
                </a:lnTo>
                <a:lnTo>
                  <a:pt x="5401053" y="18288"/>
                </a:lnTo>
                <a:lnTo>
                  <a:pt x="5401053" y="9144"/>
                </a:lnTo>
                <a:lnTo>
                  <a:pt x="5410197" y="18288"/>
                </a:lnTo>
                <a:lnTo>
                  <a:pt x="5410197" y="4338828"/>
                </a:lnTo>
                <a:lnTo>
                  <a:pt x="5416293" y="4338828"/>
                </a:lnTo>
                <a:lnTo>
                  <a:pt x="5419341" y="4335780"/>
                </a:lnTo>
                <a:close/>
              </a:path>
              <a:path w="5419725" h="4338955">
                <a:moveTo>
                  <a:pt x="19812" y="18288"/>
                </a:moveTo>
                <a:lnTo>
                  <a:pt x="19812" y="9144"/>
                </a:lnTo>
                <a:lnTo>
                  <a:pt x="10668" y="18288"/>
                </a:lnTo>
                <a:lnTo>
                  <a:pt x="19812" y="18288"/>
                </a:lnTo>
                <a:close/>
              </a:path>
              <a:path w="5419725" h="4338955">
                <a:moveTo>
                  <a:pt x="19812" y="4320540"/>
                </a:moveTo>
                <a:lnTo>
                  <a:pt x="19812" y="18288"/>
                </a:lnTo>
                <a:lnTo>
                  <a:pt x="10668" y="18288"/>
                </a:lnTo>
                <a:lnTo>
                  <a:pt x="10668" y="4320540"/>
                </a:lnTo>
                <a:lnTo>
                  <a:pt x="19812" y="4320540"/>
                </a:lnTo>
                <a:close/>
              </a:path>
              <a:path w="5419725" h="4338955">
                <a:moveTo>
                  <a:pt x="5410197" y="4320540"/>
                </a:moveTo>
                <a:lnTo>
                  <a:pt x="10668" y="4320540"/>
                </a:lnTo>
                <a:lnTo>
                  <a:pt x="19812" y="4329684"/>
                </a:lnTo>
                <a:lnTo>
                  <a:pt x="19812" y="4338828"/>
                </a:lnTo>
                <a:lnTo>
                  <a:pt x="5401053" y="4338828"/>
                </a:lnTo>
                <a:lnTo>
                  <a:pt x="5401053" y="4329684"/>
                </a:lnTo>
                <a:lnTo>
                  <a:pt x="5410197" y="4320540"/>
                </a:lnTo>
                <a:close/>
              </a:path>
              <a:path w="5419725" h="4338955">
                <a:moveTo>
                  <a:pt x="19812" y="4338828"/>
                </a:moveTo>
                <a:lnTo>
                  <a:pt x="19812" y="4329684"/>
                </a:lnTo>
                <a:lnTo>
                  <a:pt x="10668" y="4320540"/>
                </a:lnTo>
                <a:lnTo>
                  <a:pt x="10668" y="4338828"/>
                </a:lnTo>
                <a:lnTo>
                  <a:pt x="19812" y="4338828"/>
                </a:lnTo>
                <a:close/>
              </a:path>
              <a:path w="5419725" h="4338955">
                <a:moveTo>
                  <a:pt x="5410197" y="18288"/>
                </a:moveTo>
                <a:lnTo>
                  <a:pt x="5401053" y="9144"/>
                </a:lnTo>
                <a:lnTo>
                  <a:pt x="5401053" y="18288"/>
                </a:lnTo>
                <a:lnTo>
                  <a:pt x="5410197" y="18288"/>
                </a:lnTo>
                <a:close/>
              </a:path>
              <a:path w="5419725" h="4338955">
                <a:moveTo>
                  <a:pt x="5410197" y="4320540"/>
                </a:moveTo>
                <a:lnTo>
                  <a:pt x="5410197" y="18288"/>
                </a:lnTo>
                <a:lnTo>
                  <a:pt x="5401053" y="18288"/>
                </a:lnTo>
                <a:lnTo>
                  <a:pt x="5401053" y="4320540"/>
                </a:lnTo>
                <a:lnTo>
                  <a:pt x="5410197" y="4320540"/>
                </a:lnTo>
                <a:close/>
              </a:path>
              <a:path w="5419725" h="4338955">
                <a:moveTo>
                  <a:pt x="5410197" y="4338828"/>
                </a:moveTo>
                <a:lnTo>
                  <a:pt x="5410197" y="4320540"/>
                </a:lnTo>
                <a:lnTo>
                  <a:pt x="5401053" y="4329684"/>
                </a:lnTo>
                <a:lnTo>
                  <a:pt x="5401053" y="4338828"/>
                </a:lnTo>
                <a:lnTo>
                  <a:pt x="5410197" y="4338828"/>
                </a:lnTo>
                <a:close/>
              </a:path>
            </a:pathLst>
          </a:custGeom>
          <a:solidFill>
            <a:srgbClr val="6B84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74073" y="1611883"/>
            <a:ext cx="7198995" cy="5479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9075">
              <a:lnSpc>
                <a:spcPts val="139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120</a:t>
            </a:r>
            <a:endParaRPr sz="1200">
              <a:latin typeface="Arial"/>
              <a:cs typeface="Arial"/>
            </a:endParaRPr>
          </a:p>
          <a:p>
            <a:pPr marL="269240">
              <a:lnSpc>
                <a:spcPts val="3310"/>
              </a:lnSpc>
            </a:pP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Plusieurs</a:t>
            </a:r>
            <a:r>
              <a:rPr sz="2800" b="1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classes</a:t>
            </a:r>
            <a:r>
              <a:rPr sz="2800" b="1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dans</a:t>
            </a:r>
            <a:r>
              <a:rPr sz="2800" b="1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un</a:t>
            </a:r>
            <a:r>
              <a:rPr sz="2800" b="1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même</a:t>
            </a:r>
            <a:r>
              <a:rPr sz="28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fichier</a:t>
            </a:r>
            <a:r>
              <a:rPr sz="2800" b="1" spc="-1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source</a:t>
            </a:r>
            <a:endParaRPr sz="2800">
              <a:latin typeface="Times New Roman"/>
              <a:cs typeface="Times New Roman"/>
            </a:endParaRPr>
          </a:p>
          <a:p>
            <a:pPr marL="269240">
              <a:lnSpc>
                <a:spcPct val="100000"/>
              </a:lnSpc>
              <a:spcBef>
                <a:spcPts val="1505"/>
              </a:spcBef>
            </a:pPr>
            <a:r>
              <a:rPr sz="2000" u="sng" spc="-10" dirty="0">
                <a:solidFill>
                  <a:srgbClr val="00B0F0"/>
                </a:solidFill>
                <a:uFill>
                  <a:solidFill>
                    <a:srgbClr val="00AFF0"/>
                  </a:solidFill>
                </a:uFill>
                <a:latin typeface="Times New Roman"/>
                <a:cs typeface="Times New Roman"/>
              </a:rPr>
              <a:t>TestPoint.cpp</a:t>
            </a:r>
            <a:endParaRPr sz="2000">
              <a:latin typeface="Times New Roman"/>
              <a:cs typeface="Times New Roman"/>
            </a:endParaRPr>
          </a:p>
          <a:p>
            <a:pPr marL="353060" marR="5098415" indent="2540">
              <a:lnSpc>
                <a:spcPct val="125400"/>
              </a:lnSpc>
              <a:spcBef>
                <a:spcPts val="1195"/>
              </a:spcBef>
            </a:pPr>
            <a:r>
              <a:rPr sz="1300" b="1" spc="-10" dirty="0">
                <a:solidFill>
                  <a:srgbClr val="009900"/>
                </a:solidFill>
                <a:latin typeface="Arial"/>
                <a:cs typeface="Arial"/>
              </a:rPr>
              <a:t>#include&lt;iostream&gt; #include&lt;cmath&gt; </a:t>
            </a:r>
            <a:r>
              <a:rPr sz="1300" b="1" dirty="0">
                <a:solidFill>
                  <a:srgbClr val="006FC0"/>
                </a:solidFill>
                <a:latin typeface="Arial"/>
                <a:cs typeface="Arial"/>
              </a:rPr>
              <a:t>using</a:t>
            </a:r>
            <a:r>
              <a:rPr sz="1300" b="1" spc="-6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006FC0"/>
                </a:solidFill>
                <a:latin typeface="Arial"/>
                <a:cs typeface="Arial"/>
              </a:rPr>
              <a:t>namespace</a:t>
            </a:r>
            <a:r>
              <a:rPr sz="1300" b="1" spc="-4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300" b="1" spc="-20" dirty="0">
                <a:solidFill>
                  <a:srgbClr val="009900"/>
                </a:solidFill>
                <a:latin typeface="Arial"/>
                <a:cs typeface="Arial"/>
              </a:rPr>
              <a:t>std</a:t>
            </a:r>
            <a:r>
              <a:rPr sz="1300" b="1" spc="-20" dirty="0">
                <a:solidFill>
                  <a:srgbClr val="FF0065"/>
                </a:solidFill>
                <a:latin typeface="Arial"/>
                <a:cs typeface="Arial"/>
              </a:rPr>
              <a:t>; </a:t>
            </a:r>
            <a:r>
              <a:rPr sz="1300" b="1" dirty="0">
                <a:latin typeface="Arial"/>
                <a:cs typeface="Arial"/>
              </a:rPr>
              <a:t>class</a:t>
            </a:r>
            <a:r>
              <a:rPr sz="1300" b="1" spc="-35" dirty="0"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00B0F0"/>
                </a:solidFill>
                <a:latin typeface="Arial"/>
                <a:cs typeface="Arial"/>
              </a:rPr>
              <a:t>Point</a:t>
            </a:r>
            <a:r>
              <a:rPr sz="1300" b="1" spc="-35" dirty="0">
                <a:solidFill>
                  <a:srgbClr val="00B0F0"/>
                </a:solidFill>
                <a:latin typeface="Arial"/>
                <a:cs typeface="Arial"/>
              </a:rPr>
              <a:t> </a:t>
            </a:r>
            <a:r>
              <a:rPr sz="1300" b="1" spc="-50" dirty="0">
                <a:solidFill>
                  <a:srgbClr val="FF0000"/>
                </a:solidFill>
                <a:latin typeface="Arial"/>
                <a:cs typeface="Arial"/>
              </a:rPr>
              <a:t>{</a:t>
            </a:r>
            <a:endParaRPr sz="1300">
              <a:latin typeface="Arial"/>
              <a:cs typeface="Arial"/>
            </a:endParaRPr>
          </a:p>
          <a:p>
            <a:pPr marL="353060">
              <a:lnSpc>
                <a:spcPct val="100000"/>
              </a:lnSpc>
              <a:spcBef>
                <a:spcPts val="380"/>
              </a:spcBef>
            </a:pPr>
            <a:r>
              <a:rPr sz="1300" b="1" spc="-10" dirty="0">
                <a:solidFill>
                  <a:srgbClr val="FF0065"/>
                </a:solidFill>
                <a:latin typeface="Arial"/>
                <a:cs typeface="Arial"/>
              </a:rPr>
              <a:t>public:</a:t>
            </a:r>
            <a:endParaRPr sz="1300">
              <a:latin typeface="Arial"/>
              <a:cs typeface="Arial"/>
            </a:endParaRPr>
          </a:p>
          <a:p>
            <a:pPr marL="353060" marR="2755900">
              <a:lnSpc>
                <a:spcPts val="1960"/>
              </a:lnSpc>
              <a:spcBef>
                <a:spcPts val="120"/>
              </a:spcBef>
            </a:pPr>
            <a:r>
              <a:rPr sz="1300" dirty="0">
                <a:solidFill>
                  <a:srgbClr val="001F5F"/>
                </a:solidFill>
                <a:latin typeface="Arial MT"/>
                <a:cs typeface="Arial MT"/>
              </a:rPr>
              <a:t>void</a:t>
            </a:r>
            <a:r>
              <a:rPr sz="13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translater</a:t>
            </a:r>
            <a:r>
              <a:rPr sz="1300" spc="-10" dirty="0">
                <a:solidFill>
                  <a:srgbClr val="FF0000"/>
                </a:solidFill>
                <a:latin typeface="Arial MT"/>
                <a:cs typeface="Arial MT"/>
              </a:rPr>
              <a:t>(</a:t>
            </a:r>
            <a:r>
              <a:rPr sz="1300" spc="-10" dirty="0">
                <a:solidFill>
                  <a:srgbClr val="001F5F"/>
                </a:solidFill>
                <a:latin typeface="Arial MT"/>
                <a:cs typeface="Arial MT"/>
              </a:rPr>
              <a:t>double</a:t>
            </a:r>
            <a:r>
              <a:rPr sz="1300" spc="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dx</a:t>
            </a:r>
            <a:r>
              <a:rPr sz="1300" dirty="0">
                <a:solidFill>
                  <a:srgbClr val="FF0000"/>
                </a:solidFill>
                <a:latin typeface="Arial MT"/>
                <a:cs typeface="Arial MT"/>
              </a:rPr>
              <a:t>,</a:t>
            </a:r>
            <a:r>
              <a:rPr sz="130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1F5F"/>
                </a:solidFill>
                <a:latin typeface="Arial MT"/>
                <a:cs typeface="Arial MT"/>
              </a:rPr>
              <a:t>double</a:t>
            </a:r>
            <a:r>
              <a:rPr sz="13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dy</a:t>
            </a:r>
            <a:r>
              <a:rPr sz="1300" dirty="0">
                <a:solidFill>
                  <a:srgbClr val="FF0000"/>
                </a:solidFill>
                <a:latin typeface="Arial MT"/>
                <a:cs typeface="Arial MT"/>
              </a:rPr>
              <a:t>);</a:t>
            </a:r>
            <a:r>
              <a:rPr sz="1300" spc="-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1F5F"/>
                </a:solidFill>
                <a:latin typeface="Arial MT"/>
                <a:cs typeface="Arial MT"/>
              </a:rPr>
              <a:t>double</a:t>
            </a:r>
            <a:r>
              <a:rPr sz="13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distance</a:t>
            </a:r>
            <a:r>
              <a:rPr sz="1300" spc="-10" dirty="0">
                <a:solidFill>
                  <a:srgbClr val="FF0000"/>
                </a:solidFill>
                <a:latin typeface="Arial MT"/>
                <a:cs typeface="Arial MT"/>
              </a:rPr>
              <a:t>(); </a:t>
            </a:r>
            <a:r>
              <a:rPr sz="1300" dirty="0">
                <a:solidFill>
                  <a:srgbClr val="001F5F"/>
                </a:solidFill>
                <a:latin typeface="Arial MT"/>
                <a:cs typeface="Arial MT"/>
              </a:rPr>
              <a:t>void</a:t>
            </a:r>
            <a:r>
              <a:rPr sz="13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afficher</a:t>
            </a:r>
            <a:r>
              <a:rPr sz="1300" spc="-10" dirty="0">
                <a:solidFill>
                  <a:srgbClr val="FF0000"/>
                </a:solidFill>
                <a:latin typeface="Arial MT"/>
                <a:cs typeface="Arial MT"/>
              </a:rPr>
              <a:t>();</a:t>
            </a:r>
            <a:endParaRPr sz="1300">
              <a:latin typeface="Arial MT"/>
              <a:cs typeface="Arial MT"/>
            </a:endParaRPr>
          </a:p>
          <a:p>
            <a:pPr marL="353060">
              <a:lnSpc>
                <a:spcPct val="100000"/>
              </a:lnSpc>
              <a:spcBef>
                <a:spcPts val="245"/>
              </a:spcBef>
            </a:pPr>
            <a:r>
              <a:rPr sz="1300" b="1" spc="-10" dirty="0">
                <a:solidFill>
                  <a:srgbClr val="FF0065"/>
                </a:solidFill>
                <a:latin typeface="Arial"/>
                <a:cs typeface="Arial"/>
              </a:rPr>
              <a:t>private:</a:t>
            </a:r>
            <a:endParaRPr sz="1300">
              <a:latin typeface="Arial"/>
              <a:cs typeface="Arial"/>
            </a:endParaRPr>
          </a:p>
          <a:p>
            <a:pPr marL="398780" marR="6002020">
              <a:lnSpc>
                <a:spcPts val="1960"/>
              </a:lnSpc>
              <a:spcBef>
                <a:spcPts val="114"/>
              </a:spcBef>
            </a:pPr>
            <a:r>
              <a:rPr sz="1300" dirty="0">
                <a:solidFill>
                  <a:srgbClr val="001F5F"/>
                </a:solidFill>
                <a:latin typeface="Arial MT"/>
                <a:cs typeface="Arial MT"/>
              </a:rPr>
              <a:t>double</a:t>
            </a:r>
            <a:r>
              <a:rPr sz="13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latin typeface="Arial MT"/>
                <a:cs typeface="Arial MT"/>
              </a:rPr>
              <a:t>x</a:t>
            </a:r>
            <a:r>
              <a:rPr sz="1300" spc="-25" dirty="0">
                <a:solidFill>
                  <a:srgbClr val="FF0000"/>
                </a:solidFill>
                <a:latin typeface="Arial MT"/>
                <a:cs typeface="Arial MT"/>
              </a:rPr>
              <a:t>; </a:t>
            </a:r>
            <a:r>
              <a:rPr sz="1300" dirty="0">
                <a:solidFill>
                  <a:srgbClr val="001F5F"/>
                </a:solidFill>
                <a:latin typeface="Arial MT"/>
                <a:cs typeface="Arial MT"/>
              </a:rPr>
              <a:t>double</a:t>
            </a:r>
            <a:r>
              <a:rPr sz="13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latin typeface="Arial MT"/>
                <a:cs typeface="Arial MT"/>
              </a:rPr>
              <a:t>y</a:t>
            </a:r>
            <a:r>
              <a:rPr sz="1300" spc="-20" dirty="0">
                <a:solidFill>
                  <a:srgbClr val="FF0000"/>
                </a:solidFill>
                <a:latin typeface="Arial MT"/>
                <a:cs typeface="Arial MT"/>
              </a:rPr>
              <a:t>;</a:t>
            </a:r>
            <a:r>
              <a:rPr sz="1300" b="1" spc="-20" dirty="0">
                <a:solidFill>
                  <a:srgbClr val="FF0000"/>
                </a:solidFill>
                <a:latin typeface="Arial"/>
                <a:cs typeface="Arial"/>
              </a:rPr>
              <a:t>};</a:t>
            </a:r>
            <a:endParaRPr sz="1300">
              <a:latin typeface="Arial"/>
              <a:cs typeface="Arial"/>
            </a:endParaRPr>
          </a:p>
          <a:p>
            <a:pPr marL="398780">
              <a:lnSpc>
                <a:spcPct val="100000"/>
              </a:lnSpc>
              <a:spcBef>
                <a:spcPts val="250"/>
              </a:spcBef>
            </a:pPr>
            <a:r>
              <a:rPr sz="1300" dirty="0">
                <a:solidFill>
                  <a:srgbClr val="001F5F"/>
                </a:solidFill>
                <a:latin typeface="Arial MT"/>
                <a:cs typeface="Arial MT"/>
              </a:rPr>
              <a:t>void</a:t>
            </a:r>
            <a:r>
              <a:rPr sz="1300" spc="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00" b="1" spc="-10" dirty="0">
                <a:solidFill>
                  <a:srgbClr val="00B0F0"/>
                </a:solidFill>
                <a:latin typeface="Arial"/>
                <a:cs typeface="Arial"/>
              </a:rPr>
              <a:t>Point</a:t>
            </a:r>
            <a:r>
              <a:rPr sz="1300" b="1" spc="-10" dirty="0">
                <a:solidFill>
                  <a:srgbClr val="FF0000"/>
                </a:solidFill>
                <a:latin typeface="Arial"/>
                <a:cs typeface="Arial"/>
              </a:rPr>
              <a:t>::</a:t>
            </a:r>
            <a:r>
              <a:rPr sz="1300" spc="-10" dirty="0">
                <a:latin typeface="Arial MT"/>
                <a:cs typeface="Arial MT"/>
              </a:rPr>
              <a:t>translater</a:t>
            </a:r>
            <a:r>
              <a:rPr sz="1300" spc="-10" dirty="0">
                <a:solidFill>
                  <a:srgbClr val="FF0000"/>
                </a:solidFill>
                <a:latin typeface="Arial MT"/>
                <a:cs typeface="Arial MT"/>
              </a:rPr>
              <a:t>(</a:t>
            </a:r>
            <a:r>
              <a:rPr sz="1300" spc="-10" dirty="0">
                <a:solidFill>
                  <a:srgbClr val="001F5F"/>
                </a:solidFill>
                <a:latin typeface="Arial MT"/>
                <a:cs typeface="Arial MT"/>
              </a:rPr>
              <a:t>double</a:t>
            </a:r>
            <a:r>
              <a:rPr sz="1300" spc="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dx</a:t>
            </a:r>
            <a:r>
              <a:rPr sz="1300" dirty="0">
                <a:solidFill>
                  <a:srgbClr val="FF0000"/>
                </a:solidFill>
                <a:latin typeface="Arial MT"/>
                <a:cs typeface="Arial MT"/>
              </a:rPr>
              <a:t>,</a:t>
            </a:r>
            <a:r>
              <a:rPr sz="1300" spc="-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1F5F"/>
                </a:solidFill>
                <a:latin typeface="Arial MT"/>
                <a:cs typeface="Arial MT"/>
              </a:rPr>
              <a:t>double</a:t>
            </a:r>
            <a:r>
              <a:rPr sz="1300" spc="-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dy</a:t>
            </a:r>
            <a:r>
              <a:rPr sz="1300" dirty="0">
                <a:solidFill>
                  <a:srgbClr val="FF0000"/>
                </a:solidFill>
                <a:latin typeface="Arial MT"/>
                <a:cs typeface="Arial MT"/>
              </a:rPr>
              <a:t>){</a:t>
            </a:r>
            <a:r>
              <a:rPr sz="13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x</a:t>
            </a:r>
            <a:r>
              <a:rPr sz="1300" spc="-10" dirty="0"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0000"/>
                </a:solidFill>
                <a:latin typeface="Arial MT"/>
                <a:cs typeface="Arial MT"/>
              </a:rPr>
              <a:t>+=</a:t>
            </a:r>
            <a:r>
              <a:rPr sz="130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dx</a:t>
            </a:r>
            <a:r>
              <a:rPr sz="1300" dirty="0">
                <a:solidFill>
                  <a:srgbClr val="FF0000"/>
                </a:solidFill>
                <a:latin typeface="Arial MT"/>
                <a:cs typeface="Arial MT"/>
              </a:rPr>
              <a:t>;</a:t>
            </a:r>
            <a:r>
              <a:rPr sz="1300" spc="-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y</a:t>
            </a:r>
            <a:r>
              <a:rPr sz="1300" spc="-25" dirty="0"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0000"/>
                </a:solidFill>
                <a:latin typeface="Arial MT"/>
                <a:cs typeface="Arial MT"/>
              </a:rPr>
              <a:t>+=</a:t>
            </a:r>
            <a:r>
              <a:rPr sz="1300" spc="-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latin typeface="Arial MT"/>
                <a:cs typeface="Arial MT"/>
              </a:rPr>
              <a:t>dy</a:t>
            </a:r>
            <a:r>
              <a:rPr sz="1300" spc="-20" dirty="0">
                <a:solidFill>
                  <a:srgbClr val="FF0000"/>
                </a:solidFill>
                <a:latin typeface="Arial MT"/>
                <a:cs typeface="Arial MT"/>
              </a:rPr>
              <a:t>;}</a:t>
            </a:r>
            <a:endParaRPr sz="1300">
              <a:latin typeface="Arial MT"/>
              <a:cs typeface="Arial MT"/>
            </a:endParaRPr>
          </a:p>
          <a:p>
            <a:pPr marL="398780">
              <a:lnSpc>
                <a:spcPct val="100000"/>
              </a:lnSpc>
              <a:spcBef>
                <a:spcPts val="385"/>
              </a:spcBef>
            </a:pPr>
            <a:r>
              <a:rPr sz="1300" dirty="0">
                <a:solidFill>
                  <a:srgbClr val="001F5F"/>
                </a:solidFill>
                <a:latin typeface="Arial MT"/>
                <a:cs typeface="Arial MT"/>
              </a:rPr>
              <a:t>double</a:t>
            </a:r>
            <a:r>
              <a:rPr sz="1300" spc="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00" b="1" spc="-10" dirty="0">
                <a:solidFill>
                  <a:srgbClr val="00B0F0"/>
                </a:solidFill>
                <a:latin typeface="Arial"/>
                <a:cs typeface="Arial"/>
              </a:rPr>
              <a:t>Point</a:t>
            </a:r>
            <a:r>
              <a:rPr sz="1300" b="1" spc="-10" dirty="0">
                <a:solidFill>
                  <a:srgbClr val="FF0000"/>
                </a:solidFill>
                <a:latin typeface="Arial"/>
                <a:cs typeface="Arial"/>
              </a:rPr>
              <a:t>::</a:t>
            </a:r>
            <a:r>
              <a:rPr sz="1300" spc="-10" dirty="0">
                <a:latin typeface="Arial MT"/>
                <a:cs typeface="Arial MT"/>
              </a:rPr>
              <a:t>distance</a:t>
            </a:r>
            <a:r>
              <a:rPr sz="1300" spc="-10" dirty="0">
                <a:solidFill>
                  <a:srgbClr val="FF0000"/>
                </a:solidFill>
                <a:latin typeface="Arial MT"/>
                <a:cs typeface="Arial MT"/>
              </a:rPr>
              <a:t>()</a:t>
            </a:r>
            <a:r>
              <a:rPr sz="1300" spc="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0000"/>
                </a:solidFill>
                <a:latin typeface="Arial MT"/>
                <a:cs typeface="Arial MT"/>
              </a:rPr>
              <a:t>{</a:t>
            </a:r>
            <a:r>
              <a:rPr sz="1300" spc="-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1F5F"/>
                </a:solidFill>
                <a:latin typeface="Arial MT"/>
                <a:cs typeface="Arial MT"/>
              </a:rPr>
              <a:t>return</a:t>
            </a:r>
            <a:r>
              <a:rPr sz="1300" spc="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sqrt</a:t>
            </a:r>
            <a:r>
              <a:rPr sz="1300" spc="-10" dirty="0">
                <a:solidFill>
                  <a:srgbClr val="FF0000"/>
                </a:solidFill>
                <a:latin typeface="Arial MT"/>
                <a:cs typeface="Arial MT"/>
              </a:rPr>
              <a:t>(</a:t>
            </a:r>
            <a:r>
              <a:rPr sz="1300" spc="-10" dirty="0">
                <a:latin typeface="Arial MT"/>
                <a:cs typeface="Arial MT"/>
              </a:rPr>
              <a:t>x</a:t>
            </a:r>
            <a:r>
              <a:rPr sz="1300" spc="-10" dirty="0">
                <a:solidFill>
                  <a:srgbClr val="FF0000"/>
                </a:solidFill>
                <a:latin typeface="Arial MT"/>
                <a:cs typeface="Arial MT"/>
              </a:rPr>
              <a:t>*</a:t>
            </a:r>
            <a:r>
              <a:rPr sz="1300" spc="-10" dirty="0">
                <a:latin typeface="Arial MT"/>
                <a:cs typeface="Arial MT"/>
              </a:rPr>
              <a:t>x</a:t>
            </a:r>
            <a:r>
              <a:rPr sz="1300" spc="-10" dirty="0">
                <a:solidFill>
                  <a:srgbClr val="FF0000"/>
                </a:solidFill>
                <a:latin typeface="Arial MT"/>
                <a:cs typeface="Arial MT"/>
              </a:rPr>
              <a:t>+</a:t>
            </a:r>
            <a:r>
              <a:rPr sz="1300" spc="-10" dirty="0">
                <a:latin typeface="Arial MT"/>
                <a:cs typeface="Arial MT"/>
              </a:rPr>
              <a:t>y</a:t>
            </a:r>
            <a:r>
              <a:rPr sz="1300" spc="-10" dirty="0">
                <a:solidFill>
                  <a:srgbClr val="FF0000"/>
                </a:solidFill>
                <a:latin typeface="Arial MT"/>
                <a:cs typeface="Arial MT"/>
              </a:rPr>
              <a:t>*</a:t>
            </a:r>
            <a:r>
              <a:rPr sz="1300" spc="-10" dirty="0">
                <a:latin typeface="Arial MT"/>
                <a:cs typeface="Arial MT"/>
              </a:rPr>
              <a:t>y</a:t>
            </a:r>
            <a:r>
              <a:rPr sz="1300" spc="-10" dirty="0">
                <a:solidFill>
                  <a:srgbClr val="FF0000"/>
                </a:solidFill>
                <a:latin typeface="Arial MT"/>
                <a:cs typeface="Arial MT"/>
              </a:rPr>
              <a:t>);}</a:t>
            </a:r>
            <a:endParaRPr sz="1300">
              <a:latin typeface="Arial MT"/>
              <a:cs typeface="Arial MT"/>
            </a:endParaRPr>
          </a:p>
          <a:p>
            <a:pPr marL="398780">
              <a:lnSpc>
                <a:spcPct val="100000"/>
              </a:lnSpc>
              <a:spcBef>
                <a:spcPts val="395"/>
              </a:spcBef>
            </a:pPr>
            <a:r>
              <a:rPr sz="1300" dirty="0">
                <a:solidFill>
                  <a:srgbClr val="001F5F"/>
                </a:solidFill>
                <a:latin typeface="Arial MT"/>
                <a:cs typeface="Arial MT"/>
              </a:rPr>
              <a:t>void</a:t>
            </a:r>
            <a:r>
              <a:rPr sz="1300" spc="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00" b="1" spc="-10" dirty="0">
                <a:solidFill>
                  <a:srgbClr val="00B0F0"/>
                </a:solidFill>
                <a:latin typeface="Arial"/>
                <a:cs typeface="Arial"/>
              </a:rPr>
              <a:t>Point</a:t>
            </a:r>
            <a:r>
              <a:rPr sz="1300" b="1" spc="-10" dirty="0">
                <a:solidFill>
                  <a:srgbClr val="FF0000"/>
                </a:solidFill>
                <a:latin typeface="Arial"/>
                <a:cs typeface="Arial"/>
              </a:rPr>
              <a:t>::</a:t>
            </a:r>
            <a:r>
              <a:rPr sz="1300" spc="-10" dirty="0">
                <a:latin typeface="Arial MT"/>
                <a:cs typeface="Arial MT"/>
              </a:rPr>
              <a:t>afficher</a:t>
            </a:r>
            <a:r>
              <a:rPr sz="1300" spc="-10" dirty="0">
                <a:solidFill>
                  <a:srgbClr val="FF0000"/>
                </a:solidFill>
                <a:latin typeface="Arial MT"/>
                <a:cs typeface="Arial MT"/>
              </a:rPr>
              <a:t>(){</a:t>
            </a:r>
            <a:r>
              <a:rPr sz="1300" spc="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9900"/>
                </a:solidFill>
                <a:latin typeface="Arial MT"/>
                <a:cs typeface="Arial MT"/>
              </a:rPr>
              <a:t>cout </a:t>
            </a:r>
            <a:r>
              <a:rPr sz="1300" dirty="0">
                <a:solidFill>
                  <a:srgbClr val="FF0000"/>
                </a:solidFill>
                <a:latin typeface="Arial MT"/>
                <a:cs typeface="Arial MT"/>
              </a:rPr>
              <a:t>&lt;&lt;</a:t>
            </a:r>
            <a:r>
              <a:rPr sz="13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6FC0"/>
                </a:solidFill>
                <a:latin typeface="Arial MT"/>
                <a:cs typeface="Arial MT"/>
              </a:rPr>
              <a:t>"(" </a:t>
            </a:r>
            <a:r>
              <a:rPr sz="1300" dirty="0">
                <a:solidFill>
                  <a:srgbClr val="FF0000"/>
                </a:solidFill>
                <a:latin typeface="Arial MT"/>
                <a:cs typeface="Arial MT"/>
              </a:rPr>
              <a:t>&lt;&lt;</a:t>
            </a:r>
            <a:r>
              <a:rPr sz="13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x</a:t>
            </a:r>
            <a:r>
              <a:rPr sz="1300" spc="-20" dirty="0"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0000"/>
                </a:solidFill>
                <a:latin typeface="Arial MT"/>
                <a:cs typeface="Arial MT"/>
              </a:rPr>
              <a:t>&lt;&lt; </a:t>
            </a:r>
            <a:r>
              <a:rPr sz="1300" dirty="0">
                <a:solidFill>
                  <a:srgbClr val="006FC0"/>
                </a:solidFill>
                <a:latin typeface="Arial MT"/>
                <a:cs typeface="Arial MT"/>
              </a:rPr>
              <a:t>",</a:t>
            </a:r>
            <a:r>
              <a:rPr sz="1300" spc="-1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6FC0"/>
                </a:solidFill>
                <a:latin typeface="Arial MT"/>
                <a:cs typeface="Arial MT"/>
              </a:rPr>
              <a:t>"</a:t>
            </a:r>
            <a:r>
              <a:rPr sz="1300" dirty="0">
                <a:solidFill>
                  <a:srgbClr val="FF0000"/>
                </a:solidFill>
                <a:latin typeface="Arial MT"/>
                <a:cs typeface="Arial MT"/>
              </a:rPr>
              <a:t>&lt;&lt;</a:t>
            </a:r>
            <a:r>
              <a:rPr sz="1300" spc="3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y</a:t>
            </a:r>
            <a:r>
              <a:rPr sz="1300" spc="-25" dirty="0"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0000"/>
                </a:solidFill>
                <a:latin typeface="Arial MT"/>
                <a:cs typeface="Arial MT"/>
              </a:rPr>
              <a:t>&lt;&lt;</a:t>
            </a:r>
            <a:r>
              <a:rPr sz="1300" spc="-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6FC0"/>
                </a:solidFill>
                <a:latin typeface="Arial MT"/>
                <a:cs typeface="Arial MT"/>
              </a:rPr>
              <a:t>") "</a:t>
            </a:r>
            <a:r>
              <a:rPr sz="1300" spc="-2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0000"/>
                </a:solidFill>
                <a:latin typeface="Arial MT"/>
                <a:cs typeface="Arial MT"/>
              </a:rPr>
              <a:t>&lt;&lt; </a:t>
            </a:r>
            <a:r>
              <a:rPr sz="1300" dirty="0">
                <a:solidFill>
                  <a:srgbClr val="009900"/>
                </a:solidFill>
                <a:latin typeface="Arial MT"/>
                <a:cs typeface="Arial MT"/>
              </a:rPr>
              <a:t>endl</a:t>
            </a:r>
            <a:r>
              <a:rPr sz="1300" dirty="0">
                <a:solidFill>
                  <a:srgbClr val="FF0000"/>
                </a:solidFill>
                <a:latin typeface="Arial MT"/>
                <a:cs typeface="Arial MT"/>
              </a:rPr>
              <a:t>;</a:t>
            </a:r>
            <a:r>
              <a:rPr sz="13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00" spc="-50" dirty="0">
                <a:solidFill>
                  <a:srgbClr val="FF0000"/>
                </a:solidFill>
                <a:latin typeface="Arial MT"/>
                <a:cs typeface="Arial MT"/>
              </a:rPr>
              <a:t>}</a:t>
            </a:r>
            <a:endParaRPr sz="1300">
              <a:latin typeface="Arial MT"/>
              <a:cs typeface="Arial MT"/>
            </a:endParaRPr>
          </a:p>
          <a:p>
            <a:pPr marL="446405" marR="5779770" indent="-47625">
              <a:lnSpc>
                <a:spcPct val="124600"/>
              </a:lnSpc>
            </a:pPr>
            <a:r>
              <a:rPr sz="1300" b="1" dirty="0">
                <a:solidFill>
                  <a:srgbClr val="001F5F"/>
                </a:solidFill>
                <a:latin typeface="Arial"/>
                <a:cs typeface="Arial"/>
              </a:rPr>
              <a:t>int</a:t>
            </a:r>
            <a:r>
              <a:rPr sz="1300" b="1" spc="-1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latin typeface="Arial"/>
                <a:cs typeface="Arial"/>
              </a:rPr>
              <a:t>main</a:t>
            </a:r>
            <a:r>
              <a:rPr sz="1300" b="1" spc="-10" dirty="0">
                <a:solidFill>
                  <a:srgbClr val="FF0000"/>
                </a:solidFill>
                <a:latin typeface="Arial"/>
                <a:cs typeface="Arial"/>
              </a:rPr>
              <a:t>(){ </a:t>
            </a:r>
            <a:r>
              <a:rPr sz="1300" b="1" dirty="0">
                <a:solidFill>
                  <a:srgbClr val="00B0F0"/>
                </a:solidFill>
                <a:latin typeface="Arial"/>
                <a:cs typeface="Arial"/>
              </a:rPr>
              <a:t>Point</a:t>
            </a:r>
            <a:r>
              <a:rPr sz="1300" b="1" spc="-25" dirty="0">
                <a:solidFill>
                  <a:srgbClr val="00B0F0"/>
                </a:solidFill>
                <a:latin typeface="Arial"/>
                <a:cs typeface="Arial"/>
              </a:rPr>
              <a:t> </a:t>
            </a:r>
            <a:r>
              <a:rPr sz="1300" dirty="0">
                <a:latin typeface="Arial MT"/>
                <a:cs typeface="Arial MT"/>
              </a:rPr>
              <a:t>p1</a:t>
            </a:r>
            <a:r>
              <a:rPr sz="1300" b="1" dirty="0">
                <a:solidFill>
                  <a:srgbClr val="FF0000"/>
                </a:solidFill>
                <a:latin typeface="Arial"/>
                <a:cs typeface="Arial"/>
              </a:rPr>
              <a:t>,</a:t>
            </a:r>
            <a:r>
              <a:rPr sz="13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300" spc="-25" dirty="0">
                <a:latin typeface="Arial MT"/>
                <a:cs typeface="Arial MT"/>
              </a:rPr>
              <a:t>p2</a:t>
            </a:r>
            <a:r>
              <a:rPr sz="1300" spc="-25" dirty="0">
                <a:solidFill>
                  <a:srgbClr val="FF0000"/>
                </a:solidFill>
                <a:latin typeface="Arial MT"/>
                <a:cs typeface="Arial MT"/>
              </a:rPr>
              <a:t>;</a:t>
            </a:r>
            <a:endParaRPr sz="1300">
              <a:latin typeface="Arial MT"/>
              <a:cs typeface="Arial MT"/>
            </a:endParaRPr>
          </a:p>
          <a:p>
            <a:pPr marL="446405">
              <a:lnSpc>
                <a:spcPct val="100000"/>
              </a:lnSpc>
              <a:spcBef>
                <a:spcPts val="395"/>
              </a:spcBef>
            </a:pPr>
            <a:r>
              <a:rPr sz="1300" spc="-10" dirty="0">
                <a:latin typeface="Arial MT"/>
                <a:cs typeface="Arial MT"/>
              </a:rPr>
              <a:t>p1</a:t>
            </a:r>
            <a:r>
              <a:rPr sz="1300" spc="-10" dirty="0">
                <a:solidFill>
                  <a:srgbClr val="FF0000"/>
                </a:solidFill>
                <a:latin typeface="Arial MT"/>
                <a:cs typeface="Arial MT"/>
              </a:rPr>
              <a:t>.</a:t>
            </a:r>
            <a:r>
              <a:rPr sz="1300" spc="-10" dirty="0">
                <a:latin typeface="Arial MT"/>
                <a:cs typeface="Arial MT"/>
              </a:rPr>
              <a:t>translater</a:t>
            </a:r>
            <a:r>
              <a:rPr sz="1300" spc="-10" dirty="0">
                <a:solidFill>
                  <a:srgbClr val="FF0000"/>
                </a:solidFill>
                <a:latin typeface="Arial MT"/>
                <a:cs typeface="Arial MT"/>
              </a:rPr>
              <a:t>(</a:t>
            </a:r>
            <a:r>
              <a:rPr sz="1300" spc="-10" dirty="0">
                <a:solidFill>
                  <a:srgbClr val="FF32CC"/>
                </a:solidFill>
                <a:latin typeface="Arial MT"/>
                <a:cs typeface="Arial MT"/>
              </a:rPr>
              <a:t>10.0</a:t>
            </a:r>
            <a:r>
              <a:rPr sz="1300" spc="-10" dirty="0">
                <a:solidFill>
                  <a:srgbClr val="FF0000"/>
                </a:solidFill>
                <a:latin typeface="Arial MT"/>
                <a:cs typeface="Arial MT"/>
              </a:rPr>
              <a:t>,</a:t>
            </a:r>
            <a:r>
              <a:rPr sz="1300" spc="-10" dirty="0">
                <a:solidFill>
                  <a:srgbClr val="FF32CC"/>
                </a:solidFill>
                <a:latin typeface="Arial MT"/>
                <a:cs typeface="Arial MT"/>
              </a:rPr>
              <a:t>10.0</a:t>
            </a:r>
            <a:r>
              <a:rPr sz="1300" spc="-10" dirty="0">
                <a:solidFill>
                  <a:srgbClr val="FF0000"/>
                </a:solidFill>
                <a:latin typeface="Arial MT"/>
                <a:cs typeface="Arial MT"/>
              </a:rPr>
              <a:t>);</a:t>
            </a:r>
            <a:r>
              <a:rPr sz="1300" spc="9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p1</a:t>
            </a:r>
            <a:r>
              <a:rPr sz="1300" spc="-10" dirty="0">
                <a:solidFill>
                  <a:srgbClr val="FF0000"/>
                </a:solidFill>
                <a:latin typeface="Arial MT"/>
                <a:cs typeface="Arial MT"/>
              </a:rPr>
              <a:t>.</a:t>
            </a:r>
            <a:r>
              <a:rPr sz="1300" spc="-10" dirty="0">
                <a:latin typeface="Arial MT"/>
                <a:cs typeface="Arial MT"/>
              </a:rPr>
              <a:t>afficher</a:t>
            </a:r>
            <a:r>
              <a:rPr sz="1300" spc="-10" dirty="0">
                <a:solidFill>
                  <a:srgbClr val="FF0000"/>
                </a:solidFill>
                <a:latin typeface="Arial MT"/>
                <a:cs typeface="Arial MT"/>
              </a:rPr>
              <a:t>();</a:t>
            </a:r>
            <a:endParaRPr sz="1300">
              <a:latin typeface="Arial MT"/>
              <a:cs typeface="Arial MT"/>
            </a:endParaRPr>
          </a:p>
          <a:p>
            <a:pPr marL="446405">
              <a:lnSpc>
                <a:spcPct val="100000"/>
              </a:lnSpc>
              <a:spcBef>
                <a:spcPts val="385"/>
              </a:spcBef>
            </a:pPr>
            <a:r>
              <a:rPr sz="1300" dirty="0">
                <a:solidFill>
                  <a:srgbClr val="009900"/>
                </a:solidFill>
                <a:latin typeface="Arial MT"/>
                <a:cs typeface="Arial MT"/>
              </a:rPr>
              <a:t>cout</a:t>
            </a:r>
            <a:r>
              <a:rPr sz="1300" spc="-30" dirty="0">
                <a:solidFill>
                  <a:srgbClr val="009900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0000"/>
                </a:solidFill>
                <a:latin typeface="Arial MT"/>
                <a:cs typeface="Arial MT"/>
              </a:rPr>
              <a:t>&lt;&lt;</a:t>
            </a:r>
            <a:r>
              <a:rPr sz="1300" spc="-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6FC0"/>
                </a:solidFill>
                <a:latin typeface="Arial MT"/>
                <a:cs typeface="Arial MT"/>
              </a:rPr>
              <a:t>“distance</a:t>
            </a:r>
            <a:r>
              <a:rPr sz="1300" spc="-1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6FC0"/>
                </a:solidFill>
                <a:latin typeface="Arial MT"/>
                <a:cs typeface="Arial MT"/>
              </a:rPr>
              <a:t>de</a:t>
            </a:r>
            <a:r>
              <a:rPr sz="1300" spc="-2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6FC0"/>
                </a:solidFill>
                <a:latin typeface="Arial MT"/>
                <a:cs typeface="Arial MT"/>
              </a:rPr>
              <a:t>p2</a:t>
            </a:r>
            <a:r>
              <a:rPr sz="1300" spc="-3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6FC0"/>
                </a:solidFill>
                <a:latin typeface="Arial MT"/>
                <a:cs typeface="Arial MT"/>
              </a:rPr>
              <a:t>à</a:t>
            </a:r>
            <a:r>
              <a:rPr sz="1300" spc="-2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6FC0"/>
                </a:solidFill>
                <a:latin typeface="Arial MT"/>
                <a:cs typeface="Arial MT"/>
              </a:rPr>
              <a:t>l’origine“</a:t>
            </a:r>
            <a:r>
              <a:rPr sz="1300" spc="-1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0000"/>
                </a:solidFill>
                <a:latin typeface="Arial MT"/>
                <a:cs typeface="Arial MT"/>
              </a:rPr>
              <a:t>&lt;&lt;</a:t>
            </a:r>
            <a:r>
              <a:rPr sz="1300" spc="-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p1</a:t>
            </a:r>
            <a:r>
              <a:rPr sz="1300" dirty="0">
                <a:solidFill>
                  <a:srgbClr val="FF0000"/>
                </a:solidFill>
                <a:latin typeface="Arial MT"/>
                <a:cs typeface="Arial MT"/>
              </a:rPr>
              <a:t>.</a:t>
            </a:r>
            <a:r>
              <a:rPr sz="1300" dirty="0">
                <a:latin typeface="Arial MT"/>
                <a:cs typeface="Arial MT"/>
              </a:rPr>
              <a:t>distance</a:t>
            </a:r>
            <a:r>
              <a:rPr sz="1300" dirty="0">
                <a:solidFill>
                  <a:srgbClr val="FF0000"/>
                </a:solidFill>
                <a:latin typeface="Arial MT"/>
                <a:cs typeface="Arial MT"/>
              </a:rPr>
              <a:t>()</a:t>
            </a:r>
            <a:r>
              <a:rPr sz="13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0000"/>
                </a:solidFill>
                <a:latin typeface="Arial MT"/>
                <a:cs typeface="Arial MT"/>
              </a:rPr>
              <a:t>&lt;&lt;</a:t>
            </a:r>
            <a:r>
              <a:rPr sz="1300" spc="-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9900"/>
                </a:solidFill>
                <a:latin typeface="Arial MT"/>
                <a:cs typeface="Arial MT"/>
              </a:rPr>
              <a:t>endl</a:t>
            </a:r>
            <a:r>
              <a:rPr sz="1300" dirty="0">
                <a:solidFill>
                  <a:srgbClr val="FF0000"/>
                </a:solidFill>
                <a:latin typeface="Arial MT"/>
                <a:cs typeface="Arial MT"/>
              </a:rPr>
              <a:t>;</a:t>
            </a:r>
            <a:r>
              <a:rPr sz="1300" spc="3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00" b="1" spc="-50" dirty="0">
                <a:solidFill>
                  <a:srgbClr val="FF0000"/>
                </a:solidFill>
                <a:latin typeface="Arial"/>
                <a:cs typeface="Arial"/>
              </a:rPr>
              <a:t>}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2363" rIns="0" bIns="0" rtlCol="0">
            <a:spAutoFit/>
          </a:bodyPr>
          <a:lstStyle/>
          <a:p>
            <a:pPr marL="381000">
              <a:lnSpc>
                <a:spcPct val="100000"/>
              </a:lnSpc>
              <a:spcBef>
                <a:spcPts val="100"/>
              </a:spcBef>
            </a:pPr>
            <a:r>
              <a:rPr spc="-345" dirty="0"/>
              <a:t>Surcharge</a:t>
            </a:r>
            <a:r>
              <a:rPr b="0" spc="70" dirty="0">
                <a:latin typeface="Times New Roman"/>
                <a:cs typeface="Times New Roman"/>
              </a:rPr>
              <a:t> </a:t>
            </a:r>
            <a:r>
              <a:rPr spc="-360" dirty="0"/>
              <a:t>des</a:t>
            </a:r>
            <a:r>
              <a:rPr b="0" spc="90" dirty="0">
                <a:latin typeface="Times New Roman"/>
                <a:cs typeface="Times New Roman"/>
              </a:rPr>
              <a:t> </a:t>
            </a:r>
            <a:r>
              <a:rPr spc="-340" dirty="0"/>
              <a:t>méthodes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9240" y="1860295"/>
            <a:ext cx="8504555" cy="394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740" marR="458470" indent="-320040">
              <a:lnSpc>
                <a:spcPct val="100000"/>
              </a:lnSpc>
              <a:spcBef>
                <a:spcPts val="100"/>
              </a:spcBef>
              <a:buClr>
                <a:srgbClr val="006FC0"/>
              </a:buClr>
              <a:buSzPct val="58333"/>
              <a:buFont typeface="Wingdings"/>
              <a:buChar char=""/>
              <a:tabLst>
                <a:tab pos="332740" algn="l"/>
              </a:tabLst>
            </a:pPr>
            <a:r>
              <a:rPr sz="2400" b="1" dirty="0">
                <a:latin typeface="Times New Roman"/>
                <a:cs typeface="Times New Roman"/>
              </a:rPr>
              <a:t>Surcharge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(overloading)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limitée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aux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constructeurs,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elle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est </a:t>
            </a:r>
            <a:r>
              <a:rPr sz="2400" dirty="0">
                <a:latin typeface="Times New Roman"/>
                <a:cs typeface="Times New Roman"/>
              </a:rPr>
              <a:t>possible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pour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n'importe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quelle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méthode.</a:t>
            </a:r>
            <a:endParaRPr sz="2400">
              <a:latin typeface="Times New Roman"/>
              <a:cs typeface="Times New Roman"/>
            </a:endParaRPr>
          </a:p>
          <a:p>
            <a:pPr marL="332740" marR="434975" indent="-320040">
              <a:lnSpc>
                <a:spcPct val="100000"/>
              </a:lnSpc>
              <a:spcBef>
                <a:spcPts val="695"/>
              </a:spcBef>
              <a:buFont typeface="Wingdings"/>
              <a:buChar char=""/>
              <a:tabLst>
                <a:tab pos="332740" algn="l"/>
                <a:tab pos="408305" algn="l"/>
              </a:tabLst>
            </a:pPr>
            <a:r>
              <a:rPr sz="1400" dirty="0">
                <a:solidFill>
                  <a:srgbClr val="006FC0"/>
                </a:solidFill>
                <a:latin typeface="Times New Roman"/>
                <a:cs typeface="Times New Roman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Possible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définir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méthodes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possédant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même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nom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mais </a:t>
            </a:r>
            <a:r>
              <a:rPr sz="2400" dirty="0">
                <a:latin typeface="Times New Roman"/>
                <a:cs typeface="Times New Roman"/>
              </a:rPr>
              <a:t>dont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arguments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diffèrent.</a:t>
            </a:r>
            <a:endParaRPr sz="2400">
              <a:latin typeface="Times New Roman"/>
              <a:cs typeface="Times New Roman"/>
            </a:endParaRPr>
          </a:p>
          <a:p>
            <a:pPr marL="332740" marR="5080" indent="-320040">
              <a:lnSpc>
                <a:spcPct val="100000"/>
              </a:lnSpc>
              <a:spcBef>
                <a:spcPts val="705"/>
              </a:spcBef>
              <a:buFont typeface="Wingdings"/>
              <a:buChar char=""/>
              <a:tabLst>
                <a:tab pos="332740" algn="l"/>
                <a:tab pos="408305" algn="l"/>
                <a:tab pos="6556375" algn="l"/>
              </a:tabLst>
            </a:pPr>
            <a:r>
              <a:rPr sz="1400" dirty="0">
                <a:solidFill>
                  <a:srgbClr val="006FC0"/>
                </a:solidFill>
                <a:latin typeface="Times New Roman"/>
                <a:cs typeface="Times New Roman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Lorsque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qu'une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méthode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surchargée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invoquée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le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compilateur </a:t>
            </a:r>
            <a:r>
              <a:rPr sz="2400" i="1" dirty="0">
                <a:latin typeface="Times New Roman"/>
                <a:cs typeface="Times New Roman"/>
              </a:rPr>
              <a:t>sélectionne</a:t>
            </a:r>
            <a:r>
              <a:rPr sz="2400" i="1" spc="-6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automatiquement</a:t>
            </a:r>
            <a:r>
              <a:rPr sz="2400" i="1" spc="-5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la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méthode</a:t>
            </a:r>
            <a:r>
              <a:rPr sz="2400" i="1" spc="-3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dont</a:t>
            </a:r>
            <a:r>
              <a:rPr sz="2400" i="1" spc="-3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le</a:t>
            </a:r>
            <a:r>
              <a:rPr sz="2400" i="1" spc="-30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nombre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et</a:t>
            </a:r>
            <a:r>
              <a:rPr sz="2400" i="1" spc="-4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le</a:t>
            </a:r>
            <a:r>
              <a:rPr sz="2400" i="1" spc="-35" dirty="0">
                <a:latin typeface="Times New Roman"/>
                <a:cs typeface="Times New Roman"/>
              </a:rPr>
              <a:t> </a:t>
            </a:r>
            <a:r>
              <a:rPr sz="2400" i="1" spc="-20" dirty="0">
                <a:latin typeface="Times New Roman"/>
                <a:cs typeface="Times New Roman"/>
              </a:rPr>
              <a:t>type </a:t>
            </a:r>
            <a:r>
              <a:rPr sz="2400" i="1" dirty="0">
                <a:latin typeface="Times New Roman"/>
                <a:cs typeface="Times New Roman"/>
              </a:rPr>
              <a:t>des</a:t>
            </a:r>
            <a:r>
              <a:rPr sz="2400" i="1" spc="-35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arguments</a:t>
            </a:r>
            <a:r>
              <a:rPr sz="2400" i="1" spc="-4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correspondent</a:t>
            </a:r>
            <a:r>
              <a:rPr sz="2400" i="1" spc="-5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au</a:t>
            </a:r>
            <a:r>
              <a:rPr sz="2400" i="1" spc="-35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nombre</a:t>
            </a:r>
            <a:r>
              <a:rPr sz="2400" i="1" spc="-3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et</a:t>
            </a:r>
            <a:r>
              <a:rPr sz="2400" i="1" spc="-4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au</a:t>
            </a:r>
            <a:r>
              <a:rPr sz="2400" i="1" spc="-3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type</a:t>
            </a:r>
            <a:r>
              <a:rPr sz="2400" i="1" spc="-5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des</a:t>
            </a:r>
            <a:r>
              <a:rPr sz="2400" i="1" spc="-35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paramètres </a:t>
            </a:r>
            <a:r>
              <a:rPr sz="2400" i="1" dirty="0">
                <a:latin typeface="Times New Roman"/>
                <a:cs typeface="Times New Roman"/>
              </a:rPr>
              <a:t>passés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dans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l'appel</a:t>
            </a:r>
            <a:r>
              <a:rPr sz="2400" i="1" spc="-4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de</a:t>
            </a:r>
            <a:r>
              <a:rPr sz="2400" i="1" spc="-3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la</a:t>
            </a:r>
            <a:r>
              <a:rPr sz="2400" i="1" spc="-35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méthode.</a:t>
            </a:r>
            <a:endParaRPr sz="2400">
              <a:latin typeface="Times New Roman"/>
              <a:cs typeface="Times New Roman"/>
            </a:endParaRPr>
          </a:p>
          <a:p>
            <a:pPr marL="332740" marR="28575" indent="-320040">
              <a:lnSpc>
                <a:spcPct val="100000"/>
              </a:lnSpc>
              <a:spcBef>
                <a:spcPts val="700"/>
              </a:spcBef>
              <a:buFont typeface="Wingdings"/>
              <a:buChar char=""/>
              <a:tabLst>
                <a:tab pos="332740" algn="l"/>
                <a:tab pos="408305" algn="l"/>
              </a:tabLst>
            </a:pPr>
            <a:r>
              <a:rPr sz="1400" dirty="0">
                <a:solidFill>
                  <a:srgbClr val="006FC0"/>
                </a:solidFill>
                <a:latin typeface="Times New Roman"/>
                <a:cs typeface="Times New Roman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Des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méthodes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surchargées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peuvent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avoir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types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retour </a:t>
            </a:r>
            <a:r>
              <a:rPr sz="2400" dirty="0">
                <a:latin typeface="Times New Roman"/>
                <a:cs typeface="Times New Roman"/>
              </a:rPr>
              <a:t>identiques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mais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à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condition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qu'elles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aient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arguments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différents.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18852" y="1649583"/>
            <a:ext cx="242570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121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80828" y="1611883"/>
            <a:ext cx="2679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121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8836" rIns="0" bIns="0" rtlCol="0">
            <a:spAutoFit/>
          </a:bodyPr>
          <a:lstStyle/>
          <a:p>
            <a:pPr marL="381000">
              <a:lnSpc>
                <a:spcPct val="100000"/>
              </a:lnSpc>
              <a:spcBef>
                <a:spcPts val="100"/>
              </a:spcBef>
            </a:pPr>
            <a:r>
              <a:rPr spc="-345" dirty="0"/>
              <a:t>Surcharge</a:t>
            </a:r>
            <a:r>
              <a:rPr b="0" spc="70" dirty="0">
                <a:latin typeface="Times New Roman"/>
                <a:cs typeface="Times New Roman"/>
              </a:rPr>
              <a:t> </a:t>
            </a:r>
            <a:r>
              <a:rPr spc="-360" dirty="0"/>
              <a:t>des</a:t>
            </a:r>
            <a:r>
              <a:rPr b="0" spc="90" dirty="0">
                <a:latin typeface="Times New Roman"/>
                <a:cs typeface="Times New Roman"/>
              </a:rPr>
              <a:t> </a:t>
            </a:r>
            <a:r>
              <a:rPr spc="-340" dirty="0"/>
              <a:t>méthodes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01457" y="1788667"/>
            <a:ext cx="133477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b="1" spc="-229" dirty="0">
                <a:solidFill>
                  <a:srgbClr val="FF0000"/>
                </a:solidFill>
                <a:latin typeface="Arial"/>
                <a:cs typeface="Arial"/>
              </a:rPr>
              <a:t>Exemple</a:t>
            </a:r>
            <a:endParaRPr sz="29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49333" y="2289048"/>
            <a:ext cx="4762500" cy="4878705"/>
          </a:xfrm>
          <a:custGeom>
            <a:avLst/>
            <a:gdLst/>
            <a:ahLst/>
            <a:cxnLst/>
            <a:rect l="l" t="t" r="r" b="b"/>
            <a:pathLst>
              <a:path w="4762500" h="4878705">
                <a:moveTo>
                  <a:pt x="4762497" y="4876800"/>
                </a:moveTo>
                <a:lnTo>
                  <a:pt x="4762497" y="1524"/>
                </a:lnTo>
                <a:lnTo>
                  <a:pt x="4760973" y="0"/>
                </a:lnTo>
                <a:lnTo>
                  <a:pt x="1524" y="0"/>
                </a:lnTo>
                <a:lnTo>
                  <a:pt x="0" y="1524"/>
                </a:lnTo>
                <a:lnTo>
                  <a:pt x="0" y="4876800"/>
                </a:lnTo>
                <a:lnTo>
                  <a:pt x="1524" y="4878324"/>
                </a:lnTo>
                <a:lnTo>
                  <a:pt x="4572" y="4878324"/>
                </a:lnTo>
                <a:lnTo>
                  <a:pt x="4572" y="9144"/>
                </a:lnTo>
                <a:lnTo>
                  <a:pt x="10668" y="4572"/>
                </a:lnTo>
                <a:lnTo>
                  <a:pt x="10668" y="9144"/>
                </a:lnTo>
                <a:lnTo>
                  <a:pt x="4751829" y="9144"/>
                </a:lnTo>
                <a:lnTo>
                  <a:pt x="4751829" y="4572"/>
                </a:lnTo>
                <a:lnTo>
                  <a:pt x="4757925" y="9144"/>
                </a:lnTo>
                <a:lnTo>
                  <a:pt x="4757925" y="4878324"/>
                </a:lnTo>
                <a:lnTo>
                  <a:pt x="4760973" y="4878324"/>
                </a:lnTo>
                <a:lnTo>
                  <a:pt x="4762497" y="4876800"/>
                </a:lnTo>
                <a:close/>
              </a:path>
              <a:path w="4762500" h="4878705">
                <a:moveTo>
                  <a:pt x="10668" y="9144"/>
                </a:moveTo>
                <a:lnTo>
                  <a:pt x="10668" y="4572"/>
                </a:lnTo>
                <a:lnTo>
                  <a:pt x="4572" y="9144"/>
                </a:lnTo>
                <a:lnTo>
                  <a:pt x="10668" y="9144"/>
                </a:lnTo>
                <a:close/>
              </a:path>
              <a:path w="4762500" h="4878705">
                <a:moveTo>
                  <a:pt x="10668" y="4869180"/>
                </a:moveTo>
                <a:lnTo>
                  <a:pt x="10668" y="9144"/>
                </a:lnTo>
                <a:lnTo>
                  <a:pt x="4572" y="9144"/>
                </a:lnTo>
                <a:lnTo>
                  <a:pt x="4572" y="4869180"/>
                </a:lnTo>
                <a:lnTo>
                  <a:pt x="10668" y="4869180"/>
                </a:lnTo>
                <a:close/>
              </a:path>
              <a:path w="4762500" h="4878705">
                <a:moveTo>
                  <a:pt x="4757925" y="4869180"/>
                </a:moveTo>
                <a:lnTo>
                  <a:pt x="4572" y="4869180"/>
                </a:lnTo>
                <a:lnTo>
                  <a:pt x="10668" y="4873752"/>
                </a:lnTo>
                <a:lnTo>
                  <a:pt x="10668" y="4878324"/>
                </a:lnTo>
                <a:lnTo>
                  <a:pt x="4751829" y="4878324"/>
                </a:lnTo>
                <a:lnTo>
                  <a:pt x="4751829" y="4873752"/>
                </a:lnTo>
                <a:lnTo>
                  <a:pt x="4757925" y="4869180"/>
                </a:lnTo>
                <a:close/>
              </a:path>
              <a:path w="4762500" h="4878705">
                <a:moveTo>
                  <a:pt x="10668" y="4878324"/>
                </a:moveTo>
                <a:lnTo>
                  <a:pt x="10668" y="4873752"/>
                </a:lnTo>
                <a:lnTo>
                  <a:pt x="4572" y="4869180"/>
                </a:lnTo>
                <a:lnTo>
                  <a:pt x="4572" y="4878324"/>
                </a:lnTo>
                <a:lnTo>
                  <a:pt x="10668" y="4878324"/>
                </a:lnTo>
                <a:close/>
              </a:path>
              <a:path w="4762500" h="4878705">
                <a:moveTo>
                  <a:pt x="4757925" y="9144"/>
                </a:moveTo>
                <a:lnTo>
                  <a:pt x="4751829" y="4572"/>
                </a:lnTo>
                <a:lnTo>
                  <a:pt x="4751829" y="9144"/>
                </a:lnTo>
                <a:lnTo>
                  <a:pt x="4757925" y="9144"/>
                </a:lnTo>
                <a:close/>
              </a:path>
              <a:path w="4762500" h="4878705">
                <a:moveTo>
                  <a:pt x="4757925" y="4869180"/>
                </a:moveTo>
                <a:lnTo>
                  <a:pt x="4757925" y="9144"/>
                </a:lnTo>
                <a:lnTo>
                  <a:pt x="4751829" y="9144"/>
                </a:lnTo>
                <a:lnTo>
                  <a:pt x="4751829" y="4869180"/>
                </a:lnTo>
                <a:lnTo>
                  <a:pt x="4757925" y="4869180"/>
                </a:lnTo>
                <a:close/>
              </a:path>
              <a:path w="4762500" h="4878705">
                <a:moveTo>
                  <a:pt x="4757925" y="4878324"/>
                </a:moveTo>
                <a:lnTo>
                  <a:pt x="4757925" y="4869180"/>
                </a:lnTo>
                <a:lnTo>
                  <a:pt x="4751829" y="4873752"/>
                </a:lnTo>
                <a:lnTo>
                  <a:pt x="4751829" y="4878324"/>
                </a:lnTo>
                <a:lnTo>
                  <a:pt x="4757925" y="4878324"/>
                </a:lnTo>
                <a:close/>
              </a:path>
            </a:pathLst>
          </a:custGeom>
          <a:solidFill>
            <a:srgbClr val="93B5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413760" algn="just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1F5F"/>
                </a:solidFill>
              </a:rPr>
              <a:t>class</a:t>
            </a:r>
            <a:r>
              <a:rPr spc="-25" dirty="0">
                <a:solidFill>
                  <a:srgbClr val="001F5F"/>
                </a:solidFill>
              </a:rPr>
              <a:t> </a:t>
            </a:r>
            <a:r>
              <a:rPr spc="-10" dirty="0">
                <a:solidFill>
                  <a:srgbClr val="00B0F0"/>
                </a:solidFill>
              </a:rPr>
              <a:t>Point</a:t>
            </a:r>
            <a:r>
              <a:rPr spc="-10" dirty="0">
                <a:solidFill>
                  <a:srgbClr val="FF0000"/>
                </a:solidFill>
              </a:rPr>
              <a:t>{ </a:t>
            </a:r>
            <a:r>
              <a:rPr spc="-10" dirty="0"/>
              <a:t>private:</a:t>
            </a:r>
          </a:p>
          <a:p>
            <a:pPr marL="12700" marR="3653154" algn="just">
              <a:lnSpc>
                <a:spcPct val="100000"/>
              </a:lnSpc>
            </a:pPr>
            <a:r>
              <a:rPr dirty="0">
                <a:solidFill>
                  <a:srgbClr val="001F5F"/>
                </a:solidFill>
              </a:rPr>
              <a:t>double</a:t>
            </a:r>
            <a:r>
              <a:rPr spc="-40" dirty="0">
                <a:solidFill>
                  <a:srgbClr val="001F5F"/>
                </a:solidFill>
              </a:rPr>
              <a:t> </a:t>
            </a:r>
            <a:r>
              <a:rPr spc="-35" dirty="0">
                <a:solidFill>
                  <a:srgbClr val="000000"/>
                </a:solidFill>
              </a:rPr>
              <a:t>x</a:t>
            </a:r>
            <a:r>
              <a:rPr spc="-35" dirty="0">
                <a:solidFill>
                  <a:srgbClr val="FF0000"/>
                </a:solidFill>
              </a:rPr>
              <a:t>; </a:t>
            </a:r>
            <a:r>
              <a:rPr dirty="0">
                <a:solidFill>
                  <a:srgbClr val="001F5F"/>
                </a:solidFill>
              </a:rPr>
              <a:t>double</a:t>
            </a:r>
            <a:r>
              <a:rPr spc="-40" dirty="0">
                <a:solidFill>
                  <a:srgbClr val="001F5F"/>
                </a:solidFill>
              </a:rPr>
              <a:t> </a:t>
            </a:r>
            <a:r>
              <a:rPr spc="-35" dirty="0">
                <a:solidFill>
                  <a:srgbClr val="000000"/>
                </a:solidFill>
              </a:rPr>
              <a:t>y</a:t>
            </a:r>
            <a:r>
              <a:rPr spc="-35" dirty="0">
                <a:solidFill>
                  <a:srgbClr val="FF0000"/>
                </a:solidFill>
              </a:rPr>
              <a:t>; </a:t>
            </a:r>
            <a:r>
              <a:rPr spc="-10" dirty="0"/>
              <a:t>public:</a:t>
            </a:r>
          </a:p>
          <a:p>
            <a:pPr marL="12700">
              <a:lnSpc>
                <a:spcPct val="100000"/>
              </a:lnSpc>
            </a:pPr>
            <a:r>
              <a:rPr dirty="0">
                <a:solidFill>
                  <a:srgbClr val="00B04F"/>
                </a:solidFill>
              </a:rPr>
              <a:t>//</a:t>
            </a:r>
            <a:r>
              <a:rPr spc="-10" dirty="0">
                <a:solidFill>
                  <a:srgbClr val="00B04F"/>
                </a:solidFill>
              </a:rPr>
              <a:t> constructeur</a:t>
            </a:r>
          </a:p>
          <a:p>
            <a:pPr marL="12700">
              <a:lnSpc>
                <a:spcPct val="100000"/>
              </a:lnSpc>
            </a:pPr>
            <a:r>
              <a:rPr dirty="0">
                <a:solidFill>
                  <a:srgbClr val="00B0F0"/>
                </a:solidFill>
              </a:rPr>
              <a:t>Point</a:t>
            </a:r>
            <a:r>
              <a:rPr dirty="0">
                <a:solidFill>
                  <a:srgbClr val="FF0000"/>
                </a:solidFill>
              </a:rPr>
              <a:t>(</a:t>
            </a:r>
            <a:r>
              <a:rPr dirty="0">
                <a:solidFill>
                  <a:srgbClr val="001F5F"/>
                </a:solidFill>
              </a:rPr>
              <a:t>double</a:t>
            </a:r>
            <a:r>
              <a:rPr spc="-55" dirty="0">
                <a:solidFill>
                  <a:srgbClr val="001F5F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x</a:t>
            </a:r>
            <a:r>
              <a:rPr dirty="0">
                <a:solidFill>
                  <a:srgbClr val="FF0000"/>
                </a:solidFill>
              </a:rPr>
              <a:t>,</a:t>
            </a:r>
            <a:r>
              <a:rPr spc="-3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001F5F"/>
                </a:solidFill>
              </a:rPr>
              <a:t>double</a:t>
            </a:r>
            <a:r>
              <a:rPr spc="-40" dirty="0">
                <a:solidFill>
                  <a:srgbClr val="001F5F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y</a:t>
            </a:r>
            <a:r>
              <a:rPr dirty="0">
                <a:solidFill>
                  <a:srgbClr val="FF0000"/>
                </a:solidFill>
              </a:rPr>
              <a:t>):</a:t>
            </a:r>
            <a:r>
              <a:rPr spc="-2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x</a:t>
            </a:r>
            <a:r>
              <a:rPr dirty="0">
                <a:solidFill>
                  <a:srgbClr val="FF0000"/>
                </a:solidFill>
              </a:rPr>
              <a:t>(</a:t>
            </a:r>
            <a:r>
              <a:rPr dirty="0">
                <a:solidFill>
                  <a:srgbClr val="000000"/>
                </a:solidFill>
              </a:rPr>
              <a:t>x</a:t>
            </a:r>
            <a:r>
              <a:rPr dirty="0">
                <a:solidFill>
                  <a:srgbClr val="FF0000"/>
                </a:solidFill>
              </a:rPr>
              <a:t>),</a:t>
            </a:r>
            <a:r>
              <a:rPr spc="-20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y</a:t>
            </a:r>
            <a:r>
              <a:rPr spc="-10" dirty="0">
                <a:solidFill>
                  <a:srgbClr val="FF0000"/>
                </a:solidFill>
              </a:rPr>
              <a:t>(</a:t>
            </a:r>
            <a:r>
              <a:rPr spc="-10" dirty="0">
                <a:solidFill>
                  <a:srgbClr val="000000"/>
                </a:solidFill>
              </a:rPr>
              <a:t>y</a:t>
            </a:r>
            <a:r>
              <a:rPr spc="-10" dirty="0">
                <a:solidFill>
                  <a:srgbClr val="FF0000"/>
                </a:solidFill>
              </a:rPr>
              <a:t>){}</a:t>
            </a:r>
          </a:p>
          <a:p>
            <a:pPr marL="12700">
              <a:lnSpc>
                <a:spcPct val="100000"/>
              </a:lnSpc>
            </a:pPr>
            <a:r>
              <a:rPr dirty="0">
                <a:solidFill>
                  <a:srgbClr val="00B04F"/>
                </a:solidFill>
              </a:rPr>
              <a:t>//</a:t>
            </a:r>
            <a:r>
              <a:rPr spc="-10" dirty="0">
                <a:solidFill>
                  <a:srgbClr val="00B04F"/>
                </a:solidFill>
              </a:rPr>
              <a:t> destructeur</a:t>
            </a:r>
          </a:p>
          <a:p>
            <a:pPr marL="12700">
              <a:lnSpc>
                <a:spcPct val="100000"/>
              </a:lnSpc>
            </a:pPr>
            <a:r>
              <a:rPr dirty="0">
                <a:solidFill>
                  <a:srgbClr val="00B0F0"/>
                </a:solidFill>
              </a:rPr>
              <a:t>~Point</a:t>
            </a:r>
            <a:r>
              <a:rPr dirty="0">
                <a:solidFill>
                  <a:srgbClr val="FF0000"/>
                </a:solidFill>
              </a:rPr>
              <a:t>(){</a:t>
            </a:r>
            <a:r>
              <a:rPr sz="1600" dirty="0">
                <a:solidFill>
                  <a:srgbClr val="009900"/>
                </a:solidFill>
              </a:rPr>
              <a:t>cout</a:t>
            </a:r>
            <a:r>
              <a:rPr sz="1600" dirty="0">
                <a:solidFill>
                  <a:srgbClr val="FF0000"/>
                </a:solidFill>
              </a:rPr>
              <a:t>&lt;&lt;</a:t>
            </a:r>
            <a:r>
              <a:rPr sz="1600" spc="-85" dirty="0">
                <a:solidFill>
                  <a:srgbClr val="FF0000"/>
                </a:solidFill>
              </a:rPr>
              <a:t> </a:t>
            </a:r>
            <a:r>
              <a:rPr sz="1600" dirty="0">
                <a:solidFill>
                  <a:srgbClr val="006FC0"/>
                </a:solidFill>
              </a:rPr>
              <a:t>“Destructeur“</a:t>
            </a:r>
            <a:r>
              <a:rPr sz="1600" spc="-60" dirty="0">
                <a:solidFill>
                  <a:srgbClr val="006FC0"/>
                </a:solidFill>
              </a:rPr>
              <a:t> </a:t>
            </a:r>
            <a:r>
              <a:rPr sz="1600" spc="-10" dirty="0">
                <a:solidFill>
                  <a:srgbClr val="FF0000"/>
                </a:solidFill>
              </a:rPr>
              <a:t>&lt;&lt;</a:t>
            </a:r>
            <a:r>
              <a:rPr sz="1600" spc="-10" dirty="0">
                <a:solidFill>
                  <a:srgbClr val="009900"/>
                </a:solidFill>
              </a:rPr>
              <a:t>endl</a:t>
            </a:r>
            <a:r>
              <a:rPr spc="-10" dirty="0">
                <a:solidFill>
                  <a:srgbClr val="FF0000"/>
                </a:solidFill>
              </a:rPr>
              <a:t>;}</a:t>
            </a:r>
            <a:endParaRPr sz="1600"/>
          </a:p>
          <a:p>
            <a:pPr marL="12700">
              <a:lnSpc>
                <a:spcPct val="100000"/>
              </a:lnSpc>
            </a:pPr>
            <a:r>
              <a:rPr dirty="0">
                <a:solidFill>
                  <a:srgbClr val="00B04F"/>
                </a:solidFill>
              </a:rPr>
              <a:t>//</a:t>
            </a:r>
            <a:r>
              <a:rPr spc="-10" dirty="0">
                <a:solidFill>
                  <a:srgbClr val="00B04F"/>
                </a:solidFill>
              </a:rPr>
              <a:t> méthodes</a:t>
            </a:r>
          </a:p>
          <a:p>
            <a:pPr marL="12700">
              <a:lnSpc>
                <a:spcPct val="100000"/>
              </a:lnSpc>
            </a:pPr>
            <a:r>
              <a:rPr dirty="0">
                <a:solidFill>
                  <a:srgbClr val="001F5F"/>
                </a:solidFill>
              </a:rPr>
              <a:t>double</a:t>
            </a:r>
            <a:r>
              <a:rPr spc="-55" dirty="0">
                <a:solidFill>
                  <a:srgbClr val="001F5F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distance</a:t>
            </a:r>
            <a:r>
              <a:rPr dirty="0">
                <a:solidFill>
                  <a:srgbClr val="FF0000"/>
                </a:solidFill>
              </a:rPr>
              <a:t>()</a:t>
            </a:r>
            <a:r>
              <a:rPr spc="-6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{</a:t>
            </a:r>
            <a:r>
              <a:rPr spc="-5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001F5F"/>
                </a:solidFill>
              </a:rPr>
              <a:t>return</a:t>
            </a:r>
            <a:r>
              <a:rPr spc="-50" dirty="0">
                <a:solidFill>
                  <a:srgbClr val="001F5F"/>
                </a:solidFill>
              </a:rPr>
              <a:t> </a:t>
            </a:r>
            <a:r>
              <a:rPr dirty="0">
                <a:solidFill>
                  <a:srgbClr val="001F5F"/>
                </a:solidFill>
              </a:rPr>
              <a:t>sqrt</a:t>
            </a:r>
            <a:r>
              <a:rPr dirty="0">
                <a:solidFill>
                  <a:srgbClr val="FF0000"/>
                </a:solidFill>
              </a:rPr>
              <a:t>(</a:t>
            </a:r>
            <a:r>
              <a:rPr dirty="0">
                <a:solidFill>
                  <a:srgbClr val="000000"/>
                </a:solidFill>
              </a:rPr>
              <a:t>x</a:t>
            </a:r>
            <a:r>
              <a:rPr dirty="0">
                <a:solidFill>
                  <a:srgbClr val="FF0000"/>
                </a:solidFill>
              </a:rPr>
              <a:t>*</a:t>
            </a:r>
            <a:r>
              <a:rPr dirty="0">
                <a:solidFill>
                  <a:srgbClr val="000000"/>
                </a:solidFill>
              </a:rPr>
              <a:t>x</a:t>
            </a:r>
            <a:r>
              <a:rPr dirty="0">
                <a:solidFill>
                  <a:srgbClr val="FF0000"/>
                </a:solidFill>
              </a:rPr>
              <a:t>+</a:t>
            </a:r>
            <a:r>
              <a:rPr dirty="0">
                <a:solidFill>
                  <a:srgbClr val="000000"/>
                </a:solidFill>
              </a:rPr>
              <a:t>y</a:t>
            </a:r>
            <a:r>
              <a:rPr dirty="0">
                <a:solidFill>
                  <a:srgbClr val="FF0000"/>
                </a:solidFill>
              </a:rPr>
              <a:t>*</a:t>
            </a:r>
            <a:r>
              <a:rPr dirty="0">
                <a:solidFill>
                  <a:srgbClr val="000000"/>
                </a:solidFill>
              </a:rPr>
              <a:t>y</a:t>
            </a:r>
            <a:r>
              <a:rPr dirty="0">
                <a:solidFill>
                  <a:srgbClr val="FF0000"/>
                </a:solidFill>
              </a:rPr>
              <a:t>);</a:t>
            </a:r>
            <a:r>
              <a:rPr spc="-15" dirty="0">
                <a:solidFill>
                  <a:srgbClr val="FF0000"/>
                </a:solidFill>
              </a:rPr>
              <a:t> </a:t>
            </a:r>
            <a:r>
              <a:rPr spc="-50" dirty="0">
                <a:solidFill>
                  <a:srgbClr val="FF0000"/>
                </a:solidFill>
              </a:rPr>
              <a:t>}</a:t>
            </a:r>
          </a:p>
          <a:p>
            <a:pPr marL="12700">
              <a:lnSpc>
                <a:spcPct val="100000"/>
              </a:lnSpc>
            </a:pPr>
            <a:r>
              <a:rPr spc="-25" dirty="0">
                <a:solidFill>
                  <a:srgbClr val="000000"/>
                </a:solidFill>
              </a:rPr>
              <a:t>...</a:t>
            </a:r>
          </a:p>
          <a:p>
            <a:pPr marL="12700">
              <a:lnSpc>
                <a:spcPct val="100000"/>
              </a:lnSpc>
            </a:pPr>
            <a:r>
              <a:rPr spc="-50" dirty="0">
                <a:solidFill>
                  <a:srgbClr val="FF0000"/>
                </a:solidFill>
              </a:rPr>
              <a:t>}</a:t>
            </a:r>
          </a:p>
          <a:p>
            <a:pPr marL="12700">
              <a:lnSpc>
                <a:spcPct val="100000"/>
              </a:lnSpc>
            </a:pPr>
            <a:r>
              <a:rPr dirty="0">
                <a:solidFill>
                  <a:srgbClr val="001F5F"/>
                </a:solidFill>
              </a:rPr>
              <a:t>double</a:t>
            </a:r>
            <a:r>
              <a:rPr spc="-65" dirty="0">
                <a:solidFill>
                  <a:srgbClr val="001F5F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distance</a:t>
            </a:r>
            <a:r>
              <a:rPr dirty="0">
                <a:solidFill>
                  <a:srgbClr val="FF0000"/>
                </a:solidFill>
              </a:rPr>
              <a:t>(</a:t>
            </a:r>
            <a:r>
              <a:rPr dirty="0">
                <a:solidFill>
                  <a:srgbClr val="00B0F0"/>
                </a:solidFill>
              </a:rPr>
              <a:t>Point</a:t>
            </a:r>
            <a:r>
              <a:rPr spc="-80" dirty="0">
                <a:solidFill>
                  <a:srgbClr val="00B0F0"/>
                </a:solidFill>
              </a:rPr>
              <a:t> </a:t>
            </a:r>
            <a:r>
              <a:rPr spc="-25" dirty="0">
                <a:solidFill>
                  <a:srgbClr val="000000"/>
                </a:solidFill>
              </a:rPr>
              <a:t>p</a:t>
            </a:r>
            <a:r>
              <a:rPr spc="-25" dirty="0">
                <a:solidFill>
                  <a:srgbClr val="FF0000"/>
                </a:solidFill>
              </a:rPr>
              <a:t>){</a:t>
            </a:r>
          </a:p>
          <a:p>
            <a:pPr marL="12700">
              <a:lnSpc>
                <a:spcPct val="100000"/>
              </a:lnSpc>
            </a:pPr>
            <a:r>
              <a:rPr dirty="0">
                <a:solidFill>
                  <a:srgbClr val="001F5F"/>
                </a:solidFill>
              </a:rPr>
              <a:t>return</a:t>
            </a:r>
            <a:r>
              <a:rPr spc="-20" dirty="0">
                <a:solidFill>
                  <a:srgbClr val="001F5F"/>
                </a:solidFill>
              </a:rPr>
              <a:t> </a:t>
            </a:r>
            <a:r>
              <a:rPr dirty="0">
                <a:solidFill>
                  <a:srgbClr val="001F5F"/>
                </a:solidFill>
              </a:rPr>
              <a:t>sqrt</a:t>
            </a:r>
            <a:r>
              <a:rPr dirty="0">
                <a:solidFill>
                  <a:srgbClr val="FF0000"/>
                </a:solidFill>
              </a:rPr>
              <a:t>((</a:t>
            </a:r>
            <a:r>
              <a:rPr dirty="0">
                <a:solidFill>
                  <a:srgbClr val="000000"/>
                </a:solidFill>
              </a:rPr>
              <a:t>x</a:t>
            </a:r>
            <a:r>
              <a:rPr spc="-2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-</a:t>
            </a:r>
            <a:r>
              <a:rPr spc="-3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p</a:t>
            </a:r>
            <a:r>
              <a:rPr dirty="0">
                <a:solidFill>
                  <a:srgbClr val="FF0000"/>
                </a:solidFill>
              </a:rPr>
              <a:t>.</a:t>
            </a:r>
            <a:r>
              <a:rPr dirty="0">
                <a:solidFill>
                  <a:srgbClr val="000000"/>
                </a:solidFill>
              </a:rPr>
              <a:t>x</a:t>
            </a:r>
            <a:r>
              <a:rPr dirty="0">
                <a:solidFill>
                  <a:srgbClr val="FF0000"/>
                </a:solidFill>
              </a:rPr>
              <a:t>)*(</a:t>
            </a:r>
            <a:r>
              <a:rPr dirty="0">
                <a:solidFill>
                  <a:srgbClr val="000000"/>
                </a:solidFill>
              </a:rPr>
              <a:t>x</a:t>
            </a:r>
            <a:r>
              <a:rPr spc="-1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-</a:t>
            </a:r>
            <a:r>
              <a:rPr spc="-2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p</a:t>
            </a:r>
            <a:r>
              <a:rPr dirty="0">
                <a:solidFill>
                  <a:srgbClr val="FF0000"/>
                </a:solidFill>
              </a:rPr>
              <a:t>.</a:t>
            </a:r>
            <a:r>
              <a:rPr dirty="0">
                <a:solidFill>
                  <a:srgbClr val="000000"/>
                </a:solidFill>
              </a:rPr>
              <a:t>x</a:t>
            </a:r>
            <a:r>
              <a:rPr dirty="0">
                <a:solidFill>
                  <a:srgbClr val="FF0000"/>
                </a:solidFill>
              </a:rPr>
              <a:t>)</a:t>
            </a:r>
            <a:r>
              <a:rPr spc="-1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+</a:t>
            </a:r>
            <a:r>
              <a:rPr spc="-3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(</a:t>
            </a:r>
            <a:r>
              <a:rPr dirty="0">
                <a:solidFill>
                  <a:srgbClr val="000000"/>
                </a:solidFill>
              </a:rPr>
              <a:t>y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-</a:t>
            </a:r>
            <a:r>
              <a:rPr spc="-2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p</a:t>
            </a:r>
            <a:r>
              <a:rPr dirty="0">
                <a:solidFill>
                  <a:srgbClr val="FF0000"/>
                </a:solidFill>
              </a:rPr>
              <a:t>.</a:t>
            </a:r>
            <a:r>
              <a:rPr dirty="0">
                <a:solidFill>
                  <a:srgbClr val="000000"/>
                </a:solidFill>
              </a:rPr>
              <a:t>y</a:t>
            </a:r>
            <a:r>
              <a:rPr dirty="0">
                <a:solidFill>
                  <a:srgbClr val="FF0000"/>
                </a:solidFill>
              </a:rPr>
              <a:t>)*(</a:t>
            </a:r>
            <a:r>
              <a:rPr dirty="0">
                <a:solidFill>
                  <a:srgbClr val="000000"/>
                </a:solidFill>
              </a:rPr>
              <a:t>y</a:t>
            </a:r>
            <a:r>
              <a:rPr spc="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-</a:t>
            </a:r>
            <a:r>
              <a:rPr spc="-30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p</a:t>
            </a:r>
            <a:r>
              <a:rPr spc="-10" dirty="0">
                <a:solidFill>
                  <a:srgbClr val="FF0000"/>
                </a:solidFill>
              </a:rPr>
              <a:t>.</a:t>
            </a:r>
            <a:r>
              <a:rPr spc="-10" dirty="0">
                <a:solidFill>
                  <a:srgbClr val="000000"/>
                </a:solidFill>
              </a:rPr>
              <a:t>y</a:t>
            </a:r>
            <a:r>
              <a:rPr spc="-10" dirty="0">
                <a:solidFill>
                  <a:srgbClr val="FF0000"/>
                </a:solidFill>
              </a:rPr>
              <a:t>));</a:t>
            </a:r>
          </a:p>
          <a:p>
            <a:pPr marL="12700">
              <a:lnSpc>
                <a:spcPct val="100000"/>
              </a:lnSpc>
            </a:pPr>
            <a:r>
              <a:rPr spc="-50" dirty="0">
                <a:solidFill>
                  <a:srgbClr val="FF0000"/>
                </a:solidFill>
              </a:rPr>
              <a:t>}</a:t>
            </a:r>
          </a:p>
          <a:p>
            <a:pPr marL="12700">
              <a:lnSpc>
                <a:spcPct val="100000"/>
              </a:lnSpc>
            </a:pPr>
            <a:r>
              <a:rPr spc="-50" dirty="0">
                <a:solidFill>
                  <a:srgbClr val="000000"/>
                </a:solidFill>
              </a:rPr>
              <a:t>…</a:t>
            </a:r>
          </a:p>
          <a:p>
            <a:pPr marL="12700">
              <a:lnSpc>
                <a:spcPct val="100000"/>
              </a:lnSpc>
            </a:pPr>
            <a:r>
              <a:rPr spc="-25" dirty="0">
                <a:solidFill>
                  <a:srgbClr val="FF0000"/>
                </a:solidFill>
              </a:rPr>
              <a:t>};</a:t>
            </a:r>
          </a:p>
        </p:txBody>
      </p:sp>
      <p:sp>
        <p:nvSpPr>
          <p:cNvPr id="6" name="object 6"/>
          <p:cNvSpPr/>
          <p:nvPr/>
        </p:nvSpPr>
        <p:spPr>
          <a:xfrm>
            <a:off x="5845942" y="2327148"/>
            <a:ext cx="3970020" cy="2392680"/>
          </a:xfrm>
          <a:custGeom>
            <a:avLst/>
            <a:gdLst/>
            <a:ahLst/>
            <a:cxnLst/>
            <a:rect l="l" t="t" r="r" b="b"/>
            <a:pathLst>
              <a:path w="3970020" h="2392679">
                <a:moveTo>
                  <a:pt x="3970020" y="2391156"/>
                </a:moveTo>
                <a:lnTo>
                  <a:pt x="3970020" y="1524"/>
                </a:lnTo>
                <a:lnTo>
                  <a:pt x="3968496" y="0"/>
                </a:lnTo>
                <a:lnTo>
                  <a:pt x="1524" y="0"/>
                </a:lnTo>
                <a:lnTo>
                  <a:pt x="0" y="1524"/>
                </a:lnTo>
                <a:lnTo>
                  <a:pt x="0" y="2391156"/>
                </a:lnTo>
                <a:lnTo>
                  <a:pt x="1524" y="2392680"/>
                </a:lnTo>
                <a:lnTo>
                  <a:pt x="4572" y="2392680"/>
                </a:lnTo>
                <a:lnTo>
                  <a:pt x="4572" y="9144"/>
                </a:lnTo>
                <a:lnTo>
                  <a:pt x="9144" y="4572"/>
                </a:lnTo>
                <a:lnTo>
                  <a:pt x="9144" y="9144"/>
                </a:lnTo>
                <a:lnTo>
                  <a:pt x="3960876" y="9144"/>
                </a:lnTo>
                <a:lnTo>
                  <a:pt x="3960876" y="4572"/>
                </a:lnTo>
                <a:lnTo>
                  <a:pt x="3965448" y="9144"/>
                </a:lnTo>
                <a:lnTo>
                  <a:pt x="3965448" y="2392680"/>
                </a:lnTo>
                <a:lnTo>
                  <a:pt x="3968496" y="2392680"/>
                </a:lnTo>
                <a:lnTo>
                  <a:pt x="3970020" y="2391156"/>
                </a:lnTo>
                <a:close/>
              </a:path>
              <a:path w="3970020" h="2392679">
                <a:moveTo>
                  <a:pt x="9144" y="9144"/>
                </a:moveTo>
                <a:lnTo>
                  <a:pt x="9144" y="4572"/>
                </a:lnTo>
                <a:lnTo>
                  <a:pt x="4572" y="9144"/>
                </a:lnTo>
                <a:lnTo>
                  <a:pt x="9144" y="9144"/>
                </a:lnTo>
                <a:close/>
              </a:path>
              <a:path w="3970020" h="2392679">
                <a:moveTo>
                  <a:pt x="9144" y="2382012"/>
                </a:moveTo>
                <a:lnTo>
                  <a:pt x="9144" y="9144"/>
                </a:lnTo>
                <a:lnTo>
                  <a:pt x="4572" y="9144"/>
                </a:lnTo>
                <a:lnTo>
                  <a:pt x="4572" y="2382012"/>
                </a:lnTo>
                <a:lnTo>
                  <a:pt x="9144" y="2382012"/>
                </a:lnTo>
                <a:close/>
              </a:path>
              <a:path w="3970020" h="2392679">
                <a:moveTo>
                  <a:pt x="3965448" y="2382012"/>
                </a:moveTo>
                <a:lnTo>
                  <a:pt x="4572" y="2382012"/>
                </a:lnTo>
                <a:lnTo>
                  <a:pt x="9144" y="2388108"/>
                </a:lnTo>
                <a:lnTo>
                  <a:pt x="9144" y="2392680"/>
                </a:lnTo>
                <a:lnTo>
                  <a:pt x="3960876" y="2392680"/>
                </a:lnTo>
                <a:lnTo>
                  <a:pt x="3960876" y="2388108"/>
                </a:lnTo>
                <a:lnTo>
                  <a:pt x="3965448" y="2382012"/>
                </a:lnTo>
                <a:close/>
              </a:path>
              <a:path w="3970020" h="2392679">
                <a:moveTo>
                  <a:pt x="9144" y="2392680"/>
                </a:moveTo>
                <a:lnTo>
                  <a:pt x="9144" y="2388108"/>
                </a:lnTo>
                <a:lnTo>
                  <a:pt x="4572" y="2382012"/>
                </a:lnTo>
                <a:lnTo>
                  <a:pt x="4572" y="2392680"/>
                </a:lnTo>
                <a:lnTo>
                  <a:pt x="9144" y="2392680"/>
                </a:lnTo>
                <a:close/>
              </a:path>
              <a:path w="3970020" h="2392679">
                <a:moveTo>
                  <a:pt x="3965448" y="9144"/>
                </a:moveTo>
                <a:lnTo>
                  <a:pt x="3960876" y="4572"/>
                </a:lnTo>
                <a:lnTo>
                  <a:pt x="3960876" y="9144"/>
                </a:lnTo>
                <a:lnTo>
                  <a:pt x="3965448" y="9144"/>
                </a:lnTo>
                <a:close/>
              </a:path>
              <a:path w="3970020" h="2392679">
                <a:moveTo>
                  <a:pt x="3965448" y="2382012"/>
                </a:moveTo>
                <a:lnTo>
                  <a:pt x="3965448" y="9144"/>
                </a:lnTo>
                <a:lnTo>
                  <a:pt x="3960876" y="9144"/>
                </a:lnTo>
                <a:lnTo>
                  <a:pt x="3960876" y="2382012"/>
                </a:lnTo>
                <a:lnTo>
                  <a:pt x="3965448" y="2382012"/>
                </a:lnTo>
                <a:close/>
              </a:path>
              <a:path w="3970020" h="2392679">
                <a:moveTo>
                  <a:pt x="3965448" y="2392680"/>
                </a:moveTo>
                <a:lnTo>
                  <a:pt x="3965448" y="2382012"/>
                </a:lnTo>
                <a:lnTo>
                  <a:pt x="3960876" y="2388108"/>
                </a:lnTo>
                <a:lnTo>
                  <a:pt x="3960876" y="2392680"/>
                </a:lnTo>
                <a:lnTo>
                  <a:pt x="3965448" y="2392680"/>
                </a:lnTo>
                <a:close/>
              </a:path>
            </a:pathLst>
          </a:custGeom>
          <a:solidFill>
            <a:srgbClr val="93B5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929259" y="2680206"/>
            <a:ext cx="3612515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8415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B0F0"/>
                </a:solidFill>
                <a:latin typeface="Arial MT"/>
                <a:cs typeface="Arial MT"/>
              </a:rPr>
              <a:t>Point</a:t>
            </a:r>
            <a:r>
              <a:rPr sz="1800" spc="-20" dirty="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p1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(</a:t>
            </a:r>
            <a:r>
              <a:rPr sz="1800" spc="-10" dirty="0">
                <a:solidFill>
                  <a:srgbClr val="FF32CC"/>
                </a:solidFill>
                <a:latin typeface="Arial MT"/>
                <a:cs typeface="Arial MT"/>
              </a:rPr>
              <a:t>10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,</a:t>
            </a:r>
            <a:r>
              <a:rPr sz="1800" spc="-10" dirty="0">
                <a:solidFill>
                  <a:srgbClr val="FF32CC"/>
                </a:solidFill>
                <a:latin typeface="Arial MT"/>
                <a:cs typeface="Arial MT"/>
              </a:rPr>
              <a:t>10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); </a:t>
            </a:r>
            <a:r>
              <a:rPr sz="1800" dirty="0">
                <a:solidFill>
                  <a:srgbClr val="00B0F0"/>
                </a:solidFill>
                <a:latin typeface="Arial MT"/>
                <a:cs typeface="Arial MT"/>
              </a:rPr>
              <a:t>Point</a:t>
            </a:r>
            <a:r>
              <a:rPr sz="1800" spc="-20" dirty="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p2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(</a:t>
            </a:r>
            <a:r>
              <a:rPr sz="1800" spc="-10" dirty="0">
                <a:solidFill>
                  <a:srgbClr val="FF32CC"/>
                </a:solidFill>
                <a:latin typeface="Arial MT"/>
                <a:cs typeface="Arial MT"/>
              </a:rPr>
              <a:t>1.5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,</a:t>
            </a:r>
            <a:r>
              <a:rPr sz="1800" spc="-10" dirty="0">
                <a:solidFill>
                  <a:srgbClr val="FF32CC"/>
                </a:solidFill>
                <a:latin typeface="Arial MT"/>
                <a:cs typeface="Arial MT"/>
              </a:rPr>
              <a:t>1.4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);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solidFill>
                  <a:srgbClr val="009900"/>
                </a:solidFill>
                <a:latin typeface="Arial MT"/>
                <a:cs typeface="Arial MT"/>
              </a:rPr>
              <a:t>cout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&lt;&lt;</a:t>
            </a:r>
            <a:r>
              <a:rPr sz="1800" dirty="0">
                <a:solidFill>
                  <a:srgbClr val="006FC0"/>
                </a:solidFill>
                <a:latin typeface="Arial MT"/>
                <a:cs typeface="Arial MT"/>
              </a:rPr>
              <a:t>“Distance</a:t>
            </a:r>
            <a:r>
              <a:rPr sz="1800" spc="-6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Arial MT"/>
                <a:cs typeface="Arial MT"/>
              </a:rPr>
              <a:t>=”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&lt;&lt;</a:t>
            </a:r>
            <a:r>
              <a:rPr sz="1800" spc="-10" dirty="0">
                <a:latin typeface="Arial MT"/>
                <a:cs typeface="Arial MT"/>
              </a:rPr>
              <a:t>p1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.</a:t>
            </a:r>
            <a:r>
              <a:rPr sz="1800" spc="-10" dirty="0">
                <a:latin typeface="Arial MT"/>
                <a:cs typeface="Arial MT"/>
              </a:rPr>
              <a:t>distance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(); </a:t>
            </a:r>
            <a:r>
              <a:rPr sz="1800" dirty="0">
                <a:solidFill>
                  <a:srgbClr val="009900"/>
                </a:solidFill>
                <a:latin typeface="Arial MT"/>
                <a:cs typeface="Arial MT"/>
              </a:rPr>
              <a:t>cout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&lt;&lt;</a:t>
            </a:r>
            <a:r>
              <a:rPr sz="1800" dirty="0">
                <a:solidFill>
                  <a:srgbClr val="006FC0"/>
                </a:solidFill>
                <a:latin typeface="Arial MT"/>
                <a:cs typeface="Arial MT"/>
              </a:rPr>
              <a:t>“Distance</a:t>
            </a:r>
            <a:r>
              <a:rPr sz="1800" spc="-2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6FC0"/>
                </a:solidFill>
                <a:latin typeface="Arial MT"/>
                <a:cs typeface="Arial MT"/>
              </a:rPr>
              <a:t>entre</a:t>
            </a:r>
            <a:r>
              <a:rPr sz="1800" spc="-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6FC0"/>
                </a:solidFill>
                <a:latin typeface="Arial MT"/>
                <a:cs typeface="Arial MT"/>
              </a:rPr>
              <a:t>p1</a:t>
            </a:r>
            <a:r>
              <a:rPr sz="1800" spc="-2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6FC0"/>
                </a:solidFill>
                <a:latin typeface="Arial MT"/>
                <a:cs typeface="Arial MT"/>
              </a:rPr>
              <a:t>et</a:t>
            </a:r>
            <a:r>
              <a:rPr sz="1800" spc="-1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6FC0"/>
                </a:solidFill>
                <a:latin typeface="Arial MT"/>
                <a:cs typeface="Arial MT"/>
              </a:rPr>
              <a:t>p2</a:t>
            </a:r>
            <a:r>
              <a:rPr sz="1800" spc="-2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006FC0"/>
                </a:solidFill>
                <a:latin typeface="Arial MT"/>
                <a:cs typeface="Arial MT"/>
              </a:rPr>
              <a:t>=”</a:t>
            </a:r>
            <a:r>
              <a:rPr sz="1800" spc="-25" dirty="0">
                <a:solidFill>
                  <a:srgbClr val="FF0000"/>
                </a:solidFill>
                <a:latin typeface="Arial MT"/>
                <a:cs typeface="Arial MT"/>
              </a:rPr>
              <a:t>; </a:t>
            </a:r>
            <a:r>
              <a:rPr sz="1800" spc="-10" dirty="0">
                <a:solidFill>
                  <a:srgbClr val="009900"/>
                </a:solidFill>
                <a:latin typeface="Arial MT"/>
                <a:cs typeface="Arial MT"/>
              </a:rPr>
              <a:t>cout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&lt;&lt;</a:t>
            </a:r>
            <a:r>
              <a:rPr sz="1800" spc="-10" dirty="0">
                <a:latin typeface="Arial MT"/>
                <a:cs typeface="Arial MT"/>
              </a:rPr>
              <a:t>p1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.</a:t>
            </a:r>
            <a:r>
              <a:rPr sz="1800" spc="-10" dirty="0">
                <a:latin typeface="Arial MT"/>
                <a:cs typeface="Arial MT"/>
              </a:rPr>
              <a:t>distance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(</a:t>
            </a:r>
            <a:r>
              <a:rPr sz="1800" spc="-10" dirty="0">
                <a:latin typeface="Arial MT"/>
                <a:cs typeface="Arial MT"/>
              </a:rPr>
              <a:t>p2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);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18852" y="1649583"/>
            <a:ext cx="242570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122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74073" y="1611883"/>
            <a:ext cx="5918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9075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122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381000">
              <a:lnSpc>
                <a:spcPct val="100000"/>
              </a:lnSpc>
              <a:spcBef>
                <a:spcPts val="100"/>
              </a:spcBef>
            </a:pPr>
            <a:r>
              <a:rPr sz="3200" spc="-190" dirty="0"/>
              <a:t>Variables</a:t>
            </a:r>
            <a:r>
              <a:rPr sz="3200" b="0" spc="40" dirty="0">
                <a:latin typeface="Times New Roman"/>
                <a:cs typeface="Times New Roman"/>
              </a:rPr>
              <a:t> </a:t>
            </a:r>
            <a:r>
              <a:rPr sz="3200" spc="-229" dirty="0"/>
              <a:t>et</a:t>
            </a:r>
            <a:r>
              <a:rPr sz="3200" b="0" spc="50" dirty="0">
                <a:latin typeface="Times New Roman"/>
                <a:cs typeface="Times New Roman"/>
              </a:rPr>
              <a:t> </a:t>
            </a:r>
            <a:r>
              <a:rPr sz="3200" spc="-280" dirty="0"/>
              <a:t>méthodes</a:t>
            </a:r>
            <a:r>
              <a:rPr sz="3200" b="0" spc="50" dirty="0">
                <a:latin typeface="Times New Roman"/>
                <a:cs typeface="Times New Roman"/>
              </a:rPr>
              <a:t> </a:t>
            </a:r>
            <a:r>
              <a:rPr sz="3200" spc="-220" dirty="0"/>
              <a:t>d’instance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8852" y="1649583"/>
            <a:ext cx="242570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123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74073" y="1618487"/>
            <a:ext cx="8992235" cy="4859655"/>
            <a:chOff x="774073" y="1618487"/>
            <a:chExt cx="8992235" cy="485965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0647" y="1906523"/>
              <a:ext cx="8955134" cy="457124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74073" y="1618487"/>
              <a:ext cx="684530" cy="243840"/>
            </a:xfrm>
            <a:custGeom>
              <a:avLst/>
              <a:gdLst/>
              <a:ahLst/>
              <a:cxnLst/>
              <a:rect l="l" t="t" r="r" b="b"/>
              <a:pathLst>
                <a:path w="684530" h="243839">
                  <a:moveTo>
                    <a:pt x="684275" y="243839"/>
                  </a:moveTo>
                  <a:lnTo>
                    <a:pt x="684275" y="0"/>
                  </a:lnTo>
                  <a:lnTo>
                    <a:pt x="0" y="0"/>
                  </a:lnTo>
                  <a:lnTo>
                    <a:pt x="0" y="243839"/>
                  </a:lnTo>
                  <a:lnTo>
                    <a:pt x="684275" y="24383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80828" y="1611883"/>
            <a:ext cx="2679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123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381000">
              <a:lnSpc>
                <a:spcPct val="100000"/>
              </a:lnSpc>
              <a:spcBef>
                <a:spcPts val="100"/>
              </a:spcBef>
            </a:pPr>
            <a:r>
              <a:rPr sz="3200" spc="-190" dirty="0"/>
              <a:t>Variables</a:t>
            </a:r>
            <a:r>
              <a:rPr sz="3200" b="0" spc="40" dirty="0">
                <a:latin typeface="Times New Roman"/>
                <a:cs typeface="Times New Roman"/>
              </a:rPr>
              <a:t> </a:t>
            </a:r>
            <a:r>
              <a:rPr sz="3200" spc="-229" dirty="0"/>
              <a:t>et</a:t>
            </a:r>
            <a:r>
              <a:rPr sz="3200" b="0" spc="50" dirty="0">
                <a:latin typeface="Times New Roman"/>
                <a:cs typeface="Times New Roman"/>
              </a:rPr>
              <a:t> </a:t>
            </a:r>
            <a:r>
              <a:rPr sz="3200" spc="-280" dirty="0"/>
              <a:t>méthodes</a:t>
            </a:r>
            <a:r>
              <a:rPr sz="3200" b="0" spc="50" dirty="0">
                <a:latin typeface="Times New Roman"/>
                <a:cs typeface="Times New Roman"/>
              </a:rPr>
              <a:t> </a:t>
            </a:r>
            <a:r>
              <a:rPr sz="3200" spc="-220" dirty="0"/>
              <a:t>d’instance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20685" y="1887022"/>
            <a:ext cx="7557770" cy="344106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431165" indent="-418465">
              <a:lnSpc>
                <a:spcPct val="100000"/>
              </a:lnSpc>
              <a:spcBef>
                <a:spcPts val="434"/>
              </a:spcBef>
              <a:buClr>
                <a:srgbClr val="006FC0"/>
              </a:buClr>
              <a:buFont typeface="Wingdings"/>
              <a:buChar char=""/>
              <a:tabLst>
                <a:tab pos="431165" algn="l"/>
              </a:tabLst>
            </a:pPr>
            <a:r>
              <a:rPr sz="2800" spc="-20" dirty="0">
                <a:solidFill>
                  <a:srgbClr val="C00000"/>
                </a:solidFill>
                <a:latin typeface="Arial MT"/>
                <a:cs typeface="Arial MT"/>
              </a:rPr>
              <a:t>Variables</a:t>
            </a:r>
            <a:r>
              <a:rPr sz="2800" spc="-7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C00000"/>
                </a:solidFill>
                <a:latin typeface="Arial MT"/>
                <a:cs typeface="Arial MT"/>
              </a:rPr>
              <a:t>d’instance</a:t>
            </a:r>
            <a:r>
              <a:rPr sz="2800" spc="-6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C00000"/>
                </a:solidFill>
                <a:latin typeface="Arial MT"/>
                <a:cs typeface="Arial MT"/>
              </a:rPr>
              <a:t>ou</a:t>
            </a:r>
            <a:r>
              <a:rPr sz="2800" spc="-7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C00000"/>
                </a:solidFill>
                <a:latin typeface="Arial MT"/>
                <a:cs typeface="Arial MT"/>
              </a:rPr>
              <a:t>attributs</a:t>
            </a:r>
            <a:r>
              <a:rPr sz="2800" spc="-8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C00000"/>
                </a:solidFill>
                <a:latin typeface="Arial MT"/>
                <a:cs typeface="Arial MT"/>
              </a:rPr>
              <a:t>d’instance</a:t>
            </a:r>
            <a:endParaRPr sz="2800">
              <a:latin typeface="Arial MT"/>
              <a:cs typeface="Arial MT"/>
            </a:endParaRPr>
          </a:p>
          <a:p>
            <a:pPr marL="812165" lvl="1" indent="-342900">
              <a:lnSpc>
                <a:spcPct val="100000"/>
              </a:lnSpc>
              <a:spcBef>
                <a:spcPts val="250"/>
              </a:spcBef>
              <a:buClr>
                <a:srgbClr val="006FC0"/>
              </a:buClr>
              <a:buFont typeface="Wingdings"/>
              <a:buChar char=""/>
              <a:tabLst>
                <a:tab pos="812165" algn="l"/>
              </a:tabLst>
            </a:pPr>
            <a:r>
              <a:rPr sz="2000" dirty="0">
                <a:latin typeface="Times New Roman"/>
                <a:cs typeface="Times New Roman"/>
              </a:rPr>
              <a:t>Déclarées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accès:</a:t>
            </a:r>
            <a:r>
              <a:rPr sz="2000" b="1" i="1" spc="-3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type</a:t>
            </a:r>
            <a:r>
              <a:rPr sz="2000" b="1" i="1" spc="-25" dirty="0">
                <a:latin typeface="Times New Roman"/>
                <a:cs typeface="Times New Roman"/>
              </a:rPr>
              <a:t> </a:t>
            </a:r>
            <a:r>
              <a:rPr sz="2000" b="1" i="1" spc="-10" dirty="0">
                <a:latin typeface="Times New Roman"/>
                <a:cs typeface="Times New Roman"/>
              </a:rPr>
              <a:t>nomDeVariableInstance</a:t>
            </a:r>
            <a:endParaRPr sz="2000">
              <a:latin typeface="Times New Roman"/>
              <a:cs typeface="Times New Roman"/>
            </a:endParaRPr>
          </a:p>
          <a:p>
            <a:pPr marL="812165" lvl="1" indent="-342900">
              <a:lnSpc>
                <a:spcPct val="100000"/>
              </a:lnSpc>
              <a:spcBef>
                <a:spcPts val="240"/>
              </a:spcBef>
              <a:buClr>
                <a:srgbClr val="006FC0"/>
              </a:buClr>
              <a:buFont typeface="Wingdings"/>
              <a:buChar char=""/>
              <a:tabLst>
                <a:tab pos="812165" algn="l"/>
              </a:tabLst>
            </a:pPr>
            <a:r>
              <a:rPr sz="2000" dirty="0">
                <a:latin typeface="Times New Roman"/>
                <a:cs typeface="Times New Roman"/>
              </a:rPr>
              <a:t>Référencées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par</a:t>
            </a:r>
            <a:r>
              <a:rPr sz="2000" spc="459" dirty="0">
                <a:latin typeface="Times New Roman"/>
                <a:cs typeface="Times New Roman"/>
              </a:rPr>
              <a:t> </a:t>
            </a:r>
            <a:r>
              <a:rPr sz="2000" b="1" i="1" spc="-10" dirty="0">
                <a:latin typeface="Times New Roman"/>
                <a:cs typeface="Times New Roman"/>
              </a:rPr>
              <a:t>Objet.nomDeVariableInstance</a:t>
            </a:r>
            <a:endParaRPr sz="2000">
              <a:latin typeface="Times New Roman"/>
              <a:cs typeface="Times New Roman"/>
            </a:endParaRPr>
          </a:p>
          <a:p>
            <a:pPr marL="812165" lvl="1" indent="-342900">
              <a:lnSpc>
                <a:spcPct val="100000"/>
              </a:lnSpc>
              <a:spcBef>
                <a:spcPts val="204"/>
              </a:spcBef>
              <a:buClr>
                <a:srgbClr val="006FC0"/>
              </a:buClr>
              <a:buFont typeface="Wingdings"/>
              <a:buChar char=""/>
              <a:tabLst>
                <a:tab pos="812165" algn="l"/>
              </a:tabLst>
            </a:pPr>
            <a:r>
              <a:rPr sz="2000" dirty="0">
                <a:latin typeface="Times New Roman"/>
                <a:cs typeface="Times New Roman"/>
              </a:rPr>
              <a:t>Une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copie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pour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chaque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instance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(objet)</a:t>
            </a:r>
            <a:endParaRPr sz="2000">
              <a:latin typeface="Times New Roman"/>
              <a:cs typeface="Times New Roman"/>
            </a:endParaRPr>
          </a:p>
          <a:p>
            <a:pPr marL="812165" lvl="1" indent="-342900">
              <a:lnSpc>
                <a:spcPct val="100000"/>
              </a:lnSpc>
              <a:spcBef>
                <a:spcPts val="275"/>
              </a:spcBef>
              <a:buClr>
                <a:srgbClr val="006FC0"/>
              </a:buClr>
              <a:buFont typeface="Wingdings"/>
              <a:buChar char=""/>
              <a:tabLst>
                <a:tab pos="812165" algn="l"/>
              </a:tabLst>
            </a:pPr>
            <a:r>
              <a:rPr sz="2000" dirty="0">
                <a:latin typeface="Times New Roman"/>
                <a:cs typeface="Times New Roman"/>
              </a:rPr>
              <a:t>Chaque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objet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possède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propres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membres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donnée.</a:t>
            </a:r>
            <a:endParaRPr sz="20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195"/>
              </a:spcBef>
              <a:buClr>
                <a:srgbClr val="006FC0"/>
              </a:buClr>
              <a:buFont typeface="Wingdings"/>
              <a:buChar char=""/>
            </a:pPr>
            <a:endParaRPr sz="2000">
              <a:latin typeface="Times New Roman"/>
              <a:cs typeface="Times New Roman"/>
            </a:endParaRPr>
          </a:p>
          <a:p>
            <a:pPr marL="431165" indent="-418465">
              <a:lnSpc>
                <a:spcPct val="100000"/>
              </a:lnSpc>
              <a:buClr>
                <a:srgbClr val="006FC0"/>
              </a:buClr>
              <a:buFont typeface="Wingdings"/>
              <a:buChar char=""/>
              <a:tabLst>
                <a:tab pos="431165" algn="l"/>
              </a:tabLst>
            </a:pPr>
            <a:r>
              <a:rPr sz="2800" dirty="0">
                <a:solidFill>
                  <a:srgbClr val="C00000"/>
                </a:solidFill>
                <a:latin typeface="Arial MT"/>
                <a:cs typeface="Arial MT"/>
              </a:rPr>
              <a:t>Méthodes</a:t>
            </a:r>
            <a:r>
              <a:rPr sz="2800" spc="-9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C00000"/>
                </a:solidFill>
                <a:latin typeface="Arial MT"/>
                <a:cs typeface="Arial MT"/>
              </a:rPr>
              <a:t>d’instance</a:t>
            </a:r>
            <a:endParaRPr sz="2800">
              <a:latin typeface="Arial MT"/>
              <a:cs typeface="Arial MT"/>
            </a:endParaRPr>
          </a:p>
          <a:p>
            <a:pPr marL="812165" lvl="1" indent="-342900">
              <a:lnSpc>
                <a:spcPct val="100000"/>
              </a:lnSpc>
              <a:spcBef>
                <a:spcPts val="489"/>
              </a:spcBef>
              <a:buClr>
                <a:srgbClr val="006FC0"/>
              </a:buClr>
              <a:buFont typeface="Wingdings"/>
              <a:buChar char=""/>
              <a:tabLst>
                <a:tab pos="812165" algn="l"/>
              </a:tabLst>
            </a:pPr>
            <a:r>
              <a:rPr sz="2000" dirty="0">
                <a:latin typeface="Times New Roman"/>
                <a:cs typeface="Times New Roman"/>
              </a:rPr>
              <a:t>Déclarées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accès:</a:t>
            </a:r>
            <a:r>
              <a:rPr sz="2000" b="1" i="1" spc="-35" dirty="0">
                <a:latin typeface="Times New Roman"/>
                <a:cs typeface="Times New Roman"/>
              </a:rPr>
              <a:t> </a:t>
            </a:r>
            <a:r>
              <a:rPr sz="2000" b="1" i="1" spc="-10" dirty="0">
                <a:latin typeface="Times New Roman"/>
                <a:cs typeface="Times New Roman"/>
              </a:rPr>
              <a:t>TypeRetour</a:t>
            </a:r>
            <a:r>
              <a:rPr sz="2000" b="1" i="1" spc="-50" dirty="0">
                <a:latin typeface="Times New Roman"/>
                <a:cs typeface="Times New Roman"/>
              </a:rPr>
              <a:t> </a:t>
            </a:r>
            <a:r>
              <a:rPr sz="2000" b="1" i="1" spc="-10" dirty="0">
                <a:latin typeface="Times New Roman"/>
                <a:cs typeface="Times New Roman"/>
              </a:rPr>
              <a:t>nomDeLaMethodeInstance(…)</a:t>
            </a:r>
            <a:endParaRPr sz="2000">
              <a:latin typeface="Times New Roman"/>
              <a:cs typeface="Times New Roman"/>
            </a:endParaRPr>
          </a:p>
          <a:p>
            <a:pPr marL="812165" lvl="1" indent="-342900">
              <a:lnSpc>
                <a:spcPct val="100000"/>
              </a:lnSpc>
              <a:spcBef>
                <a:spcPts val="480"/>
              </a:spcBef>
              <a:buClr>
                <a:srgbClr val="006FC0"/>
              </a:buClr>
              <a:buFont typeface="Wingdings"/>
              <a:buChar char=""/>
              <a:tabLst>
                <a:tab pos="812165" algn="l"/>
              </a:tabLst>
            </a:pPr>
            <a:r>
              <a:rPr sz="2000" dirty="0">
                <a:latin typeface="Times New Roman"/>
                <a:cs typeface="Times New Roman"/>
              </a:rPr>
              <a:t>Référencées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b="1" i="1" spc="-10" dirty="0">
                <a:latin typeface="Times New Roman"/>
                <a:cs typeface="Times New Roman"/>
              </a:rPr>
              <a:t>objet.nomDeLaMethodeInstance(…)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8852" y="1649583"/>
            <a:ext cx="242570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124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80828" y="1611883"/>
            <a:ext cx="2679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124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01457" y="775207"/>
            <a:ext cx="48088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95" dirty="0"/>
              <a:t>Membres</a:t>
            </a:r>
            <a:r>
              <a:rPr b="0" spc="55" dirty="0">
                <a:latin typeface="Times New Roman"/>
                <a:cs typeface="Times New Roman"/>
              </a:rPr>
              <a:t> </a:t>
            </a:r>
            <a:r>
              <a:rPr spc="-300" dirty="0"/>
              <a:t>de</a:t>
            </a:r>
            <a:r>
              <a:rPr b="0" spc="75" dirty="0">
                <a:latin typeface="Times New Roman"/>
                <a:cs typeface="Times New Roman"/>
              </a:rPr>
              <a:t> </a:t>
            </a:r>
            <a:r>
              <a:rPr spc="-330" dirty="0"/>
              <a:t>classe:</a:t>
            </a:r>
            <a:r>
              <a:rPr b="0" spc="85" dirty="0">
                <a:latin typeface="Times New Roman"/>
                <a:cs typeface="Times New Roman"/>
              </a:rPr>
              <a:t> </a:t>
            </a:r>
            <a:r>
              <a:rPr b="0" spc="-145" dirty="0">
                <a:solidFill>
                  <a:srgbClr val="FF0000"/>
                </a:solidFill>
                <a:latin typeface="Arial MT"/>
                <a:cs typeface="Arial MT"/>
              </a:rPr>
              <a:t>static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8852" y="1649583"/>
            <a:ext cx="242570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125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0311" y="1955292"/>
            <a:ext cx="7304291" cy="1596807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80828" y="1611883"/>
            <a:ext cx="2679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125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01457" y="775207"/>
            <a:ext cx="48088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95" dirty="0"/>
              <a:t>Membres</a:t>
            </a:r>
            <a:r>
              <a:rPr b="0" spc="55" dirty="0">
                <a:latin typeface="Times New Roman"/>
                <a:cs typeface="Times New Roman"/>
              </a:rPr>
              <a:t> </a:t>
            </a:r>
            <a:r>
              <a:rPr spc="-300" dirty="0"/>
              <a:t>de</a:t>
            </a:r>
            <a:r>
              <a:rPr b="0" spc="75" dirty="0">
                <a:latin typeface="Times New Roman"/>
                <a:cs typeface="Times New Roman"/>
              </a:rPr>
              <a:t> </a:t>
            </a:r>
            <a:r>
              <a:rPr spc="-330" dirty="0"/>
              <a:t>classe:</a:t>
            </a:r>
            <a:r>
              <a:rPr b="0" spc="85" dirty="0">
                <a:latin typeface="Times New Roman"/>
                <a:cs typeface="Times New Roman"/>
              </a:rPr>
              <a:t> </a:t>
            </a:r>
            <a:r>
              <a:rPr b="0" spc="-145" dirty="0">
                <a:solidFill>
                  <a:srgbClr val="FF0000"/>
                </a:solidFill>
                <a:latin typeface="Arial MT"/>
                <a:cs typeface="Arial MT"/>
              </a:rPr>
              <a:t>static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8852" y="1649583"/>
            <a:ext cx="242570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126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74073" y="1618487"/>
            <a:ext cx="7903845" cy="5022215"/>
            <a:chOff x="774073" y="1618487"/>
            <a:chExt cx="7903845" cy="50222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4175" y="1906523"/>
              <a:ext cx="7833252" cy="47339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74073" y="1618487"/>
              <a:ext cx="684530" cy="243840"/>
            </a:xfrm>
            <a:custGeom>
              <a:avLst/>
              <a:gdLst/>
              <a:ahLst/>
              <a:cxnLst/>
              <a:rect l="l" t="t" r="r" b="b"/>
              <a:pathLst>
                <a:path w="684530" h="243839">
                  <a:moveTo>
                    <a:pt x="684275" y="243839"/>
                  </a:moveTo>
                  <a:lnTo>
                    <a:pt x="684275" y="0"/>
                  </a:lnTo>
                  <a:lnTo>
                    <a:pt x="0" y="0"/>
                  </a:lnTo>
                  <a:lnTo>
                    <a:pt x="0" y="243839"/>
                  </a:lnTo>
                  <a:lnTo>
                    <a:pt x="684275" y="24383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80828" y="1611883"/>
            <a:ext cx="2679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126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01457" y="775207"/>
            <a:ext cx="48501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Variables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300" dirty="0"/>
              <a:t>de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330" dirty="0"/>
              <a:t>classe:</a:t>
            </a:r>
            <a:r>
              <a:rPr b="0" spc="70" dirty="0">
                <a:latin typeface="Times New Roman"/>
                <a:cs typeface="Times New Roman"/>
              </a:rPr>
              <a:t> </a:t>
            </a:r>
            <a:r>
              <a:rPr b="0" spc="-140" dirty="0">
                <a:solidFill>
                  <a:srgbClr val="FF0000"/>
                </a:solidFill>
                <a:latin typeface="Arial MT"/>
                <a:cs typeface="Arial MT"/>
              </a:rPr>
              <a:t>static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61016" y="1928875"/>
            <a:ext cx="8896350" cy="4859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740" marR="1713864" indent="-320040">
              <a:lnSpc>
                <a:spcPct val="100000"/>
              </a:lnSpc>
              <a:spcBef>
                <a:spcPts val="100"/>
              </a:spcBef>
              <a:buClr>
                <a:srgbClr val="006FC0"/>
              </a:buClr>
              <a:buSzPct val="58333"/>
              <a:buFont typeface="Wingdings"/>
              <a:buChar char=""/>
              <a:tabLst>
                <a:tab pos="332740" algn="l"/>
              </a:tabLst>
            </a:pPr>
            <a:r>
              <a:rPr sz="2400" dirty="0">
                <a:latin typeface="Times New Roman"/>
                <a:cs typeface="Times New Roman"/>
              </a:rPr>
              <a:t>Il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peut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être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utile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définir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pour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classe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</a:t>
            </a:r>
            <a:r>
              <a:rPr sz="2400" spc="-10" dirty="0">
                <a:latin typeface="Times New Roman"/>
                <a:cs typeface="Times New Roman"/>
              </a:rPr>
              <a:t> attributs </a:t>
            </a:r>
            <a:r>
              <a:rPr sz="2400" dirty="0">
                <a:latin typeface="Times New Roman"/>
                <a:cs typeface="Times New Roman"/>
              </a:rPr>
              <a:t>indépendamment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instances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nombre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Points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crées</a:t>
            </a:r>
            <a:endParaRPr sz="2400">
              <a:latin typeface="Times New Roman"/>
              <a:cs typeface="Times New Roman"/>
            </a:endParaRPr>
          </a:p>
          <a:p>
            <a:pPr marL="332740" marR="39370" indent="-320040">
              <a:lnSpc>
                <a:spcPct val="100000"/>
              </a:lnSpc>
              <a:spcBef>
                <a:spcPts val="695"/>
              </a:spcBef>
              <a:buClr>
                <a:srgbClr val="006FC0"/>
              </a:buClr>
              <a:buSzPct val="58333"/>
              <a:buFont typeface="Wingdings"/>
              <a:buChar char=""/>
              <a:tabLst>
                <a:tab pos="332740" algn="l"/>
              </a:tabLst>
            </a:pPr>
            <a:r>
              <a:rPr sz="2400" dirty="0">
                <a:latin typeface="Times New Roman"/>
                <a:cs typeface="Times New Roman"/>
              </a:rPr>
              <a:t>Les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variables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statiques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sont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enregistrées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au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niveau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classe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elles </a:t>
            </a:r>
            <a:r>
              <a:rPr sz="2400" dirty="0">
                <a:latin typeface="Times New Roman"/>
                <a:cs typeface="Times New Roman"/>
              </a:rPr>
              <a:t>peuvent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être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accédées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manipulées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toutes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instances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(objets) </a:t>
            </a:r>
            <a:r>
              <a:rPr sz="2400" dirty="0">
                <a:latin typeface="Times New Roman"/>
                <a:cs typeface="Times New Roman"/>
              </a:rPr>
              <a:t>de cette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classe.</a:t>
            </a:r>
            <a:endParaRPr sz="2400">
              <a:latin typeface="Times New Roman"/>
              <a:cs typeface="Times New Roman"/>
            </a:endParaRPr>
          </a:p>
          <a:p>
            <a:pPr marL="332740" marR="1002665" indent="-320040">
              <a:lnSpc>
                <a:spcPct val="100000"/>
              </a:lnSpc>
              <a:spcBef>
                <a:spcPts val="705"/>
              </a:spcBef>
              <a:buClr>
                <a:srgbClr val="006FC0"/>
              </a:buClr>
              <a:buSzPct val="58333"/>
              <a:buFont typeface="Wingdings"/>
              <a:buChar char=""/>
              <a:tabLst>
                <a:tab pos="332740" algn="l"/>
              </a:tabLst>
            </a:pPr>
            <a:r>
              <a:rPr sz="2400" dirty="0">
                <a:latin typeface="Times New Roman"/>
                <a:cs typeface="Times New Roman"/>
              </a:rPr>
              <a:t>Utilisation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variables</a:t>
            </a:r>
            <a:r>
              <a:rPr sz="2400" spc="-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de</a:t>
            </a:r>
            <a:r>
              <a:rPr sz="2400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classe</a:t>
            </a:r>
            <a:r>
              <a:rPr sz="2400" spc="-3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comparables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aux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006FC0"/>
                </a:solidFill>
                <a:latin typeface="Times New Roman"/>
                <a:cs typeface="Times New Roman"/>
              </a:rPr>
              <a:t>“variables </a:t>
            </a: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globales“</a:t>
            </a:r>
            <a:r>
              <a:rPr sz="2400" spc="-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partagées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toutes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instances.</a:t>
            </a:r>
            <a:endParaRPr sz="2400">
              <a:latin typeface="Times New Roman"/>
              <a:cs typeface="Times New Roman"/>
            </a:endParaRPr>
          </a:p>
          <a:p>
            <a:pPr marL="332740" marR="5080" indent="-320040">
              <a:lnSpc>
                <a:spcPct val="100000"/>
              </a:lnSpc>
              <a:spcBef>
                <a:spcPts val="700"/>
              </a:spcBef>
              <a:buFont typeface="Wingdings"/>
              <a:buChar char=""/>
              <a:tabLst>
                <a:tab pos="332740" algn="l"/>
                <a:tab pos="402590" algn="l"/>
              </a:tabLst>
            </a:pPr>
            <a:r>
              <a:rPr sz="1400" dirty="0">
                <a:solidFill>
                  <a:srgbClr val="006FC0"/>
                </a:solidFill>
                <a:latin typeface="Times New Roman"/>
                <a:cs typeface="Times New Roman"/>
              </a:rPr>
              <a:t>	</a:t>
            </a:r>
            <a:r>
              <a:rPr sz="2400" spc="-30" dirty="0">
                <a:latin typeface="Times New Roman"/>
                <a:cs typeface="Times New Roman"/>
              </a:rPr>
              <a:t>Variables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dont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il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n’existe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qu’</a:t>
            </a: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un</a:t>
            </a:r>
            <a:r>
              <a:rPr sz="2400" spc="-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seul</a:t>
            </a:r>
            <a:r>
              <a:rPr sz="2400" spc="-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exemplaire</a:t>
            </a:r>
            <a:r>
              <a:rPr sz="2400" spc="-3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associé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à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classe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de </a:t>
            </a:r>
            <a:r>
              <a:rPr sz="2400" spc="-10" dirty="0">
                <a:latin typeface="Times New Roman"/>
                <a:cs typeface="Times New Roman"/>
              </a:rPr>
              <a:t>définition.</a:t>
            </a:r>
            <a:endParaRPr sz="2400">
              <a:latin typeface="Times New Roman"/>
              <a:cs typeface="Times New Roman"/>
            </a:endParaRPr>
          </a:p>
          <a:p>
            <a:pPr marL="332740" marR="664210" indent="-320040">
              <a:lnSpc>
                <a:spcPct val="100000"/>
              </a:lnSpc>
              <a:spcBef>
                <a:spcPts val="695"/>
              </a:spcBef>
              <a:buFont typeface="Wingdings"/>
              <a:buChar char=""/>
              <a:tabLst>
                <a:tab pos="332740" algn="l"/>
                <a:tab pos="402590" algn="l"/>
              </a:tabLst>
            </a:pPr>
            <a:r>
              <a:rPr sz="1400" dirty="0">
                <a:solidFill>
                  <a:srgbClr val="006FC0"/>
                </a:solidFill>
                <a:latin typeface="Times New Roman"/>
                <a:cs typeface="Times New Roman"/>
              </a:rPr>
              <a:t>	</a:t>
            </a:r>
            <a:r>
              <a:rPr sz="2400" spc="-30" dirty="0">
                <a:latin typeface="Times New Roman"/>
                <a:cs typeface="Times New Roman"/>
              </a:rPr>
              <a:t>Variables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existent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indépendamment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du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nombre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d’instances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25" dirty="0">
                <a:latin typeface="Times New Roman"/>
                <a:cs typeface="Times New Roman"/>
              </a:rPr>
              <a:t> la </a:t>
            </a:r>
            <a:r>
              <a:rPr sz="2400" dirty="0">
                <a:latin typeface="Times New Roman"/>
                <a:cs typeface="Times New Roman"/>
              </a:rPr>
              <a:t>classe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qui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été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créés.</a:t>
            </a:r>
            <a:endParaRPr sz="2400">
              <a:latin typeface="Times New Roman"/>
              <a:cs typeface="Times New Roman"/>
            </a:endParaRPr>
          </a:p>
          <a:p>
            <a:pPr marL="402590" indent="-389890">
              <a:lnSpc>
                <a:spcPct val="100000"/>
              </a:lnSpc>
              <a:spcBef>
                <a:spcPts val="705"/>
              </a:spcBef>
              <a:buClr>
                <a:srgbClr val="006FC0"/>
              </a:buClr>
              <a:buSzPct val="58333"/>
              <a:buFont typeface="Wingdings"/>
              <a:buChar char=""/>
              <a:tabLst>
                <a:tab pos="402590" algn="l"/>
              </a:tabLst>
            </a:pPr>
            <a:r>
              <a:rPr sz="2400" spc="-30" dirty="0">
                <a:latin typeface="Times New Roman"/>
                <a:cs typeface="Times New Roman"/>
              </a:rPr>
              <a:t>Variables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utilisables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même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aucune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instance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classe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n’existe.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8852" y="1649583"/>
            <a:ext cx="242570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127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80828" y="1611883"/>
            <a:ext cx="2679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127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812" rIns="0" bIns="0" rtlCol="0">
            <a:spAutoFit/>
          </a:bodyPr>
          <a:lstStyle/>
          <a:p>
            <a:pPr marL="3810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Variables</a:t>
            </a:r>
            <a:r>
              <a:rPr b="0" spc="25" dirty="0">
                <a:latin typeface="Times New Roman"/>
                <a:cs typeface="Times New Roman"/>
              </a:rPr>
              <a:t> </a:t>
            </a:r>
            <a:r>
              <a:rPr spc="-300" dirty="0"/>
              <a:t>de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345" dirty="0"/>
              <a:t>classe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50576" y="1938019"/>
            <a:ext cx="8575040" cy="269557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385"/>
              </a:spcBef>
              <a:buClr>
                <a:srgbClr val="006FC0"/>
              </a:buClr>
              <a:buFont typeface="Wingdings"/>
              <a:buChar char=""/>
              <a:tabLst>
                <a:tab pos="354965" algn="l"/>
                <a:tab pos="2173605" algn="l"/>
              </a:tabLst>
            </a:pPr>
            <a:r>
              <a:rPr sz="2400" dirty="0">
                <a:latin typeface="Times New Roman"/>
                <a:cs typeface="Times New Roman"/>
              </a:rPr>
              <a:t>Déclarées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par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000" b="1" i="1" dirty="0">
                <a:latin typeface="Times New Roman"/>
                <a:cs typeface="Times New Roman"/>
              </a:rPr>
              <a:t>accès</a:t>
            </a:r>
            <a:r>
              <a:rPr sz="2000" b="1" i="1" dirty="0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  <a:r>
              <a:rPr sz="2000" b="1" i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6F2FA0"/>
                </a:solidFill>
                <a:latin typeface="Times New Roman"/>
                <a:cs typeface="Times New Roman"/>
              </a:rPr>
              <a:t>static</a:t>
            </a:r>
            <a:r>
              <a:rPr sz="2400" b="1" spc="-30" dirty="0">
                <a:solidFill>
                  <a:srgbClr val="6F2FA0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type</a:t>
            </a:r>
            <a:r>
              <a:rPr sz="2000" b="1" i="1" spc="-40" dirty="0">
                <a:latin typeface="Times New Roman"/>
                <a:cs typeface="Times New Roman"/>
              </a:rPr>
              <a:t> </a:t>
            </a:r>
            <a:r>
              <a:rPr sz="2000" b="1" i="1" spc="-10" dirty="0">
                <a:latin typeface="Times New Roman"/>
                <a:cs typeface="Times New Roman"/>
              </a:rPr>
              <a:t>nomDeLaVariableClasse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290"/>
              </a:spcBef>
              <a:buClr>
                <a:srgbClr val="006FC0"/>
              </a:buClr>
              <a:buFont typeface="Wingdings"/>
              <a:buChar char=""/>
              <a:tabLst>
                <a:tab pos="354965" algn="l"/>
                <a:tab pos="2459990" algn="l"/>
              </a:tabLst>
            </a:pPr>
            <a:r>
              <a:rPr sz="2400" dirty="0">
                <a:latin typeface="Times New Roman"/>
                <a:cs typeface="Times New Roman"/>
              </a:rPr>
              <a:t>Référencées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par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000" b="1" i="1" spc="-10" dirty="0">
                <a:latin typeface="Times New Roman"/>
                <a:cs typeface="Times New Roman"/>
              </a:rPr>
              <a:t>NomDeLaClasse</a:t>
            </a:r>
            <a:r>
              <a:rPr sz="2000" b="1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::</a:t>
            </a:r>
            <a:r>
              <a:rPr sz="2000" b="1" i="1" spc="-10" dirty="0">
                <a:latin typeface="Times New Roman"/>
                <a:cs typeface="Times New Roman"/>
              </a:rPr>
              <a:t>nomDeLaVariableClasse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285"/>
              </a:spcBef>
              <a:buClr>
                <a:srgbClr val="006FC0"/>
              </a:buClr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Une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seule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copie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pour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toutes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instances</a:t>
            </a:r>
            <a:endParaRPr sz="2400">
              <a:latin typeface="Times New Roman"/>
              <a:cs typeface="Times New Roman"/>
            </a:endParaRPr>
          </a:p>
          <a:p>
            <a:pPr marL="355600" marR="264795" indent="-342900">
              <a:lnSpc>
                <a:spcPts val="2590"/>
              </a:lnSpc>
              <a:spcBef>
                <a:spcPts val="620"/>
              </a:spcBef>
              <a:buClr>
                <a:srgbClr val="006FC0"/>
              </a:buClr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Les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variables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statiques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appartiennent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à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classe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aux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objets </a:t>
            </a:r>
            <a:r>
              <a:rPr sz="2400" dirty="0">
                <a:latin typeface="Times New Roman"/>
                <a:cs typeface="Times New Roman"/>
              </a:rPr>
              <a:t>créés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à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partir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classe.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2590"/>
              </a:lnSpc>
              <a:spcBef>
                <a:spcPts val="580"/>
              </a:spcBef>
              <a:buClr>
                <a:srgbClr val="006FC0"/>
              </a:buClr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Un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attribut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6F2FA0"/>
                </a:solidFill>
                <a:latin typeface="Times New Roman"/>
                <a:cs typeface="Times New Roman"/>
              </a:rPr>
              <a:t>static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bien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qu'il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soit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accessible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de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l'extérieur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peut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très </a:t>
            </a:r>
            <a:r>
              <a:rPr sz="2400" dirty="0">
                <a:latin typeface="Times New Roman"/>
                <a:cs typeface="Times New Roman"/>
              </a:rPr>
              <a:t>bien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être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déclaré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65"/>
                </a:solidFill>
                <a:latin typeface="Times New Roman"/>
                <a:cs typeface="Times New Roman"/>
              </a:rPr>
              <a:t>private</a:t>
            </a:r>
            <a:r>
              <a:rPr sz="2400" b="1" spc="-40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ou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0065"/>
                </a:solidFill>
                <a:latin typeface="Times New Roman"/>
                <a:cs typeface="Times New Roman"/>
              </a:rPr>
              <a:t>protected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50576" y="5412737"/>
            <a:ext cx="8412480" cy="83058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N.</a:t>
            </a:r>
            <a:r>
              <a:rPr sz="24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B: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2000" spc="-25" dirty="0">
                <a:latin typeface="Times New Roman"/>
                <a:cs typeface="Times New Roman"/>
              </a:rPr>
              <a:t>Variables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classe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Variables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statiques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Attributs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classe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Attributs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statiques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8852" y="1649583"/>
            <a:ext cx="242570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128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80828" y="1611883"/>
            <a:ext cx="2679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128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812" rIns="0" bIns="0" rtlCol="0">
            <a:spAutoFit/>
          </a:bodyPr>
          <a:lstStyle/>
          <a:p>
            <a:pPr marL="3810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Variables</a:t>
            </a:r>
            <a:r>
              <a:rPr b="0" spc="25" dirty="0">
                <a:latin typeface="Times New Roman"/>
                <a:cs typeface="Times New Roman"/>
              </a:rPr>
              <a:t> </a:t>
            </a:r>
            <a:r>
              <a:rPr spc="-300" dirty="0"/>
              <a:t>de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345" dirty="0"/>
              <a:t>classe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10368" y="1720207"/>
            <a:ext cx="8729345" cy="533654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480"/>
              </a:spcBef>
            </a:pP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Initialisation</a:t>
            </a:r>
            <a:r>
              <a:rPr sz="2800" b="1" spc="-9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d’une</a:t>
            </a:r>
            <a:r>
              <a:rPr sz="2800" b="1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variable</a:t>
            </a:r>
            <a:r>
              <a:rPr sz="2800" b="1" spc="-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statique</a:t>
            </a:r>
            <a:endParaRPr sz="2800">
              <a:latin typeface="Times New Roman"/>
              <a:cs typeface="Times New Roman"/>
            </a:endParaRPr>
          </a:p>
          <a:p>
            <a:pPr marL="287020" marR="5080" indent="-274320">
              <a:lnSpc>
                <a:spcPts val="2590"/>
              </a:lnSpc>
              <a:spcBef>
                <a:spcPts val="655"/>
              </a:spcBef>
              <a:buClr>
                <a:srgbClr val="006FC0"/>
              </a:buClr>
              <a:buSzPct val="68750"/>
              <a:buFont typeface="Wingdings"/>
              <a:buChar char=""/>
              <a:tabLst>
                <a:tab pos="287020" algn="l"/>
              </a:tabLst>
            </a:pPr>
            <a:r>
              <a:rPr sz="2400" dirty="0">
                <a:latin typeface="Times New Roman"/>
                <a:cs typeface="Times New Roman"/>
              </a:rPr>
              <a:t>Il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faut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initialiser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l'attribut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statique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dans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l'espace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global,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c'est-à-</a:t>
            </a:r>
            <a:r>
              <a:rPr sz="2400" dirty="0">
                <a:latin typeface="Times New Roman"/>
                <a:cs typeface="Times New Roman"/>
              </a:rPr>
              <a:t>dire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en </a:t>
            </a:r>
            <a:r>
              <a:rPr sz="2400" dirty="0">
                <a:latin typeface="Times New Roman"/>
                <a:cs typeface="Times New Roman"/>
              </a:rPr>
              <a:t>dehors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toute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classe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ou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fonction,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dehors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du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main() </a:t>
            </a:r>
            <a:r>
              <a:rPr sz="2400" spc="-10" dirty="0">
                <a:latin typeface="Times New Roman"/>
                <a:cs typeface="Times New Roman"/>
              </a:rPr>
              <a:t>notamment.</a:t>
            </a:r>
            <a:endParaRPr sz="2400">
              <a:latin typeface="Times New Roman"/>
              <a:cs typeface="Times New Roman"/>
            </a:endParaRPr>
          </a:p>
          <a:p>
            <a:pPr marL="287020" marR="56515" indent="-274320">
              <a:lnSpc>
                <a:spcPts val="2590"/>
              </a:lnSpc>
              <a:spcBef>
                <a:spcPts val="605"/>
              </a:spcBef>
              <a:buClr>
                <a:srgbClr val="006FC0"/>
              </a:buClr>
              <a:buSzPct val="68750"/>
              <a:buFont typeface="Wingdings"/>
              <a:buChar char=""/>
              <a:tabLst>
                <a:tab pos="287020" algn="l"/>
              </a:tabLst>
            </a:pPr>
            <a:r>
              <a:rPr sz="2400" dirty="0">
                <a:latin typeface="Times New Roman"/>
                <a:cs typeface="Times New Roman"/>
              </a:rPr>
              <a:t>Un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attribut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déclaré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comme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statique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comporte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comme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variable </a:t>
            </a:r>
            <a:r>
              <a:rPr sz="2400" dirty="0">
                <a:latin typeface="Times New Roman"/>
                <a:cs typeface="Times New Roman"/>
              </a:rPr>
              <a:t>globale,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c'est-à-</a:t>
            </a:r>
            <a:r>
              <a:rPr sz="2400" dirty="0">
                <a:latin typeface="Times New Roman"/>
                <a:cs typeface="Times New Roman"/>
              </a:rPr>
              <a:t>dire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variable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accessible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partout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dans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code.</a:t>
            </a:r>
            <a:endParaRPr sz="2400">
              <a:latin typeface="Times New Roman"/>
              <a:cs typeface="Times New Roman"/>
            </a:endParaRPr>
          </a:p>
          <a:p>
            <a:pPr marL="287020" marR="87630" indent="-274320">
              <a:lnSpc>
                <a:spcPts val="2590"/>
              </a:lnSpc>
              <a:spcBef>
                <a:spcPts val="600"/>
              </a:spcBef>
              <a:buClr>
                <a:srgbClr val="006FC0"/>
              </a:buClr>
              <a:buSzPct val="68750"/>
              <a:buFont typeface="Wingdings"/>
              <a:buChar char=""/>
              <a:tabLst>
                <a:tab pos="287020" algn="l"/>
              </a:tabLst>
            </a:pPr>
            <a:r>
              <a:rPr sz="2400" dirty="0">
                <a:latin typeface="Times New Roman"/>
                <a:cs typeface="Times New Roman"/>
              </a:rPr>
              <a:t>Un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attribut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classe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doit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être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initialisé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explicitement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à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l’extérieur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de </a:t>
            </a: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10" dirty="0">
                <a:latin typeface="Times New Roman"/>
                <a:cs typeface="Times New Roman"/>
              </a:rPr>
              <a:t> classe.</a:t>
            </a:r>
            <a:endParaRPr sz="2400">
              <a:latin typeface="Times New Roman"/>
              <a:cs typeface="Times New Roman"/>
            </a:endParaRPr>
          </a:p>
          <a:p>
            <a:pPr marL="286385" indent="-273685">
              <a:lnSpc>
                <a:spcPts val="2735"/>
              </a:lnSpc>
              <a:spcBef>
                <a:spcPts val="280"/>
              </a:spcBef>
              <a:buClr>
                <a:srgbClr val="006FC0"/>
              </a:buClr>
              <a:buSzPct val="68750"/>
              <a:buFont typeface="Wingdings"/>
              <a:buChar char=""/>
              <a:tabLst>
                <a:tab pos="286385" algn="l"/>
              </a:tabLst>
            </a:pPr>
            <a:r>
              <a:rPr sz="2400" dirty="0">
                <a:latin typeface="Times New Roman"/>
                <a:cs typeface="Times New Roman"/>
              </a:rPr>
              <a:t>Les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attributs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classe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sont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très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pratiques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lorsque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différents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objets</a:t>
            </a:r>
            <a:endParaRPr sz="2400">
              <a:latin typeface="Times New Roman"/>
              <a:cs typeface="Times New Roman"/>
            </a:endParaRPr>
          </a:p>
          <a:p>
            <a:pPr marL="287020">
              <a:lnSpc>
                <a:spcPts val="2735"/>
              </a:lnSpc>
            </a:pPr>
            <a:r>
              <a:rPr sz="2400" dirty="0">
                <a:latin typeface="Times New Roman"/>
                <a:cs typeface="Times New Roman"/>
              </a:rPr>
              <a:t>d’une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classe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doivent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accéder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à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même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information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362585" indent="-349885">
              <a:lnSpc>
                <a:spcPts val="2735"/>
              </a:lnSpc>
              <a:spcBef>
                <a:spcPts val="310"/>
              </a:spcBef>
              <a:buClr>
                <a:srgbClr val="006FC0"/>
              </a:buClr>
              <a:buSzPct val="68750"/>
              <a:buFont typeface="Wingdings"/>
              <a:buChar char=""/>
              <a:tabLst>
                <a:tab pos="362585" algn="l"/>
              </a:tabLst>
            </a:pPr>
            <a:r>
              <a:rPr sz="2400" dirty="0">
                <a:latin typeface="Times New Roman"/>
                <a:cs typeface="Times New Roman"/>
              </a:rPr>
              <a:t>Ils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permettent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notamment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d’</a:t>
            </a:r>
            <a:r>
              <a:rPr sz="2400" b="1" dirty="0">
                <a:latin typeface="Times New Roman"/>
                <a:cs typeface="Times New Roman"/>
              </a:rPr>
              <a:t>éviter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cette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information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soit</a:t>
            </a:r>
            <a:endParaRPr sz="2400">
              <a:latin typeface="Times New Roman"/>
              <a:cs typeface="Times New Roman"/>
            </a:endParaRPr>
          </a:p>
          <a:p>
            <a:pPr marL="287020">
              <a:lnSpc>
                <a:spcPts val="2735"/>
              </a:lnSpc>
            </a:pPr>
            <a:r>
              <a:rPr sz="2400" b="1" dirty="0">
                <a:latin typeface="Times New Roman"/>
                <a:cs typeface="Times New Roman"/>
              </a:rPr>
              <a:t>dupliquée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au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niveau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chaque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objet.</a:t>
            </a:r>
            <a:endParaRPr sz="2400">
              <a:latin typeface="Times New Roman"/>
              <a:cs typeface="Times New Roman"/>
            </a:endParaRPr>
          </a:p>
          <a:p>
            <a:pPr marL="286385" indent="-273685">
              <a:lnSpc>
                <a:spcPct val="100000"/>
              </a:lnSpc>
              <a:spcBef>
                <a:spcPts val="310"/>
              </a:spcBef>
              <a:buClr>
                <a:srgbClr val="006FC0"/>
              </a:buClr>
              <a:buSzPct val="68750"/>
              <a:buFont typeface="Wingdings"/>
              <a:buChar char=""/>
              <a:tabLst>
                <a:tab pos="286385" algn="l"/>
              </a:tabLst>
            </a:pP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Exemple:</a:t>
            </a:r>
            <a:endParaRPr sz="2400">
              <a:latin typeface="Times New Roman"/>
              <a:cs typeface="Times New Roman"/>
            </a:endParaRPr>
          </a:p>
          <a:p>
            <a:pPr marL="266700">
              <a:lnSpc>
                <a:spcPct val="100000"/>
              </a:lnSpc>
              <a:spcBef>
                <a:spcPts val="380"/>
              </a:spcBef>
            </a:pP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000" spc="-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Initialiser</a:t>
            </a:r>
            <a:r>
              <a:rPr sz="2000" spc="-4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l'attribut</a:t>
            </a:r>
            <a:r>
              <a:rPr sz="2000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en</a:t>
            </a:r>
            <a:r>
              <a:rPr sz="200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dehors</a:t>
            </a:r>
            <a:r>
              <a:rPr sz="2000" spc="-5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2000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toute</a:t>
            </a:r>
            <a:r>
              <a:rPr sz="2000" spc="-3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fonction</a:t>
            </a:r>
            <a:r>
              <a:rPr sz="2000" spc="-4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ou</a:t>
            </a:r>
            <a:r>
              <a:rPr sz="2000" spc="-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classe</a:t>
            </a:r>
            <a:r>
              <a:rPr sz="2000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(espace</a:t>
            </a:r>
            <a:r>
              <a:rPr sz="2000" spc="-3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0B04F"/>
                </a:solidFill>
                <a:latin typeface="Times New Roman"/>
                <a:cs typeface="Times New Roman"/>
              </a:rPr>
              <a:t>global)</a:t>
            </a:r>
            <a:endParaRPr sz="20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295"/>
              </a:spcBef>
            </a:pPr>
            <a:r>
              <a:rPr sz="240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400" spc="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00B0F0"/>
                </a:solidFill>
                <a:latin typeface="Times New Roman"/>
                <a:cs typeface="Times New Roman"/>
              </a:rPr>
              <a:t>MaClasse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::</a:t>
            </a:r>
            <a:r>
              <a:rPr sz="2400" spc="-10" dirty="0">
                <a:latin typeface="Times New Roman"/>
                <a:cs typeface="Times New Roman"/>
              </a:rPr>
              <a:t>attributStatique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400" spc="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FF32CC"/>
                </a:solidFill>
                <a:latin typeface="Times New Roman"/>
                <a:cs typeface="Times New Roman"/>
              </a:rPr>
              <a:t>10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18852" y="1649583"/>
            <a:ext cx="242570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129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80828" y="1611883"/>
            <a:ext cx="2679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129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812" rIns="0" bIns="0" rtlCol="0">
            <a:spAutoFit/>
          </a:bodyPr>
          <a:lstStyle/>
          <a:p>
            <a:pPr marL="3810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Variables</a:t>
            </a:r>
            <a:r>
              <a:rPr b="0" spc="25" dirty="0">
                <a:latin typeface="Times New Roman"/>
                <a:cs typeface="Times New Roman"/>
              </a:rPr>
              <a:t> </a:t>
            </a:r>
            <a:r>
              <a:rPr spc="-300" dirty="0"/>
              <a:t>de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345" dirty="0"/>
              <a:t>classe</a:t>
            </a:r>
          </a:p>
        </p:txBody>
      </p:sp>
      <p:sp>
        <p:nvSpPr>
          <p:cNvPr id="3" name="object 3"/>
          <p:cNvSpPr/>
          <p:nvPr/>
        </p:nvSpPr>
        <p:spPr>
          <a:xfrm>
            <a:off x="2522098" y="2116836"/>
            <a:ext cx="4430395" cy="4691380"/>
          </a:xfrm>
          <a:custGeom>
            <a:avLst/>
            <a:gdLst/>
            <a:ahLst/>
            <a:cxnLst/>
            <a:rect l="l" t="t" r="r" b="b"/>
            <a:pathLst>
              <a:path w="4430395" h="4691380">
                <a:moveTo>
                  <a:pt x="4430268" y="4689348"/>
                </a:moveTo>
                <a:lnTo>
                  <a:pt x="4430268" y="3048"/>
                </a:lnTo>
                <a:lnTo>
                  <a:pt x="4427220" y="0"/>
                </a:lnTo>
                <a:lnTo>
                  <a:pt x="3048" y="0"/>
                </a:lnTo>
                <a:lnTo>
                  <a:pt x="0" y="3048"/>
                </a:lnTo>
                <a:lnTo>
                  <a:pt x="0" y="4689348"/>
                </a:lnTo>
                <a:lnTo>
                  <a:pt x="3048" y="4690872"/>
                </a:lnTo>
                <a:lnTo>
                  <a:pt x="4572" y="4690872"/>
                </a:lnTo>
                <a:lnTo>
                  <a:pt x="4572" y="10668"/>
                </a:lnTo>
                <a:lnTo>
                  <a:pt x="10668" y="6096"/>
                </a:lnTo>
                <a:lnTo>
                  <a:pt x="10668" y="10668"/>
                </a:lnTo>
                <a:lnTo>
                  <a:pt x="4419600" y="10668"/>
                </a:lnTo>
                <a:lnTo>
                  <a:pt x="4419600" y="6096"/>
                </a:lnTo>
                <a:lnTo>
                  <a:pt x="4424172" y="10668"/>
                </a:lnTo>
                <a:lnTo>
                  <a:pt x="4424172" y="4690872"/>
                </a:lnTo>
                <a:lnTo>
                  <a:pt x="4427220" y="4690872"/>
                </a:lnTo>
                <a:lnTo>
                  <a:pt x="4430268" y="4689348"/>
                </a:lnTo>
                <a:close/>
              </a:path>
              <a:path w="4430395" h="4691380">
                <a:moveTo>
                  <a:pt x="10668" y="10668"/>
                </a:moveTo>
                <a:lnTo>
                  <a:pt x="10668" y="6096"/>
                </a:lnTo>
                <a:lnTo>
                  <a:pt x="4572" y="10668"/>
                </a:lnTo>
                <a:lnTo>
                  <a:pt x="10668" y="10668"/>
                </a:lnTo>
                <a:close/>
              </a:path>
              <a:path w="4430395" h="4691380">
                <a:moveTo>
                  <a:pt x="10668" y="4681728"/>
                </a:moveTo>
                <a:lnTo>
                  <a:pt x="10668" y="10668"/>
                </a:lnTo>
                <a:lnTo>
                  <a:pt x="4572" y="10668"/>
                </a:lnTo>
                <a:lnTo>
                  <a:pt x="4572" y="4681728"/>
                </a:lnTo>
                <a:lnTo>
                  <a:pt x="10668" y="4681728"/>
                </a:lnTo>
                <a:close/>
              </a:path>
              <a:path w="4430395" h="4691380">
                <a:moveTo>
                  <a:pt x="4424172" y="4681728"/>
                </a:moveTo>
                <a:lnTo>
                  <a:pt x="4572" y="4681728"/>
                </a:lnTo>
                <a:lnTo>
                  <a:pt x="10668" y="4686300"/>
                </a:lnTo>
                <a:lnTo>
                  <a:pt x="10668" y="4690872"/>
                </a:lnTo>
                <a:lnTo>
                  <a:pt x="4419600" y="4690872"/>
                </a:lnTo>
                <a:lnTo>
                  <a:pt x="4419600" y="4686300"/>
                </a:lnTo>
                <a:lnTo>
                  <a:pt x="4424172" y="4681728"/>
                </a:lnTo>
                <a:close/>
              </a:path>
              <a:path w="4430395" h="4691380">
                <a:moveTo>
                  <a:pt x="10668" y="4690872"/>
                </a:moveTo>
                <a:lnTo>
                  <a:pt x="10668" y="4686300"/>
                </a:lnTo>
                <a:lnTo>
                  <a:pt x="4572" y="4681728"/>
                </a:lnTo>
                <a:lnTo>
                  <a:pt x="4572" y="4690872"/>
                </a:lnTo>
                <a:lnTo>
                  <a:pt x="10668" y="4690872"/>
                </a:lnTo>
                <a:close/>
              </a:path>
              <a:path w="4430395" h="4691380">
                <a:moveTo>
                  <a:pt x="4424172" y="10668"/>
                </a:moveTo>
                <a:lnTo>
                  <a:pt x="4419600" y="6096"/>
                </a:lnTo>
                <a:lnTo>
                  <a:pt x="4419600" y="10668"/>
                </a:lnTo>
                <a:lnTo>
                  <a:pt x="4424172" y="10668"/>
                </a:lnTo>
                <a:close/>
              </a:path>
              <a:path w="4430395" h="4691380">
                <a:moveTo>
                  <a:pt x="4424172" y="4681728"/>
                </a:moveTo>
                <a:lnTo>
                  <a:pt x="4424172" y="10668"/>
                </a:lnTo>
                <a:lnTo>
                  <a:pt x="4419600" y="10668"/>
                </a:lnTo>
                <a:lnTo>
                  <a:pt x="4419600" y="4681728"/>
                </a:lnTo>
                <a:lnTo>
                  <a:pt x="4424172" y="4681728"/>
                </a:lnTo>
                <a:close/>
              </a:path>
              <a:path w="4430395" h="4691380">
                <a:moveTo>
                  <a:pt x="4424172" y="4690872"/>
                </a:moveTo>
                <a:lnTo>
                  <a:pt x="4424172" y="4681728"/>
                </a:lnTo>
                <a:lnTo>
                  <a:pt x="4419600" y="4686300"/>
                </a:lnTo>
                <a:lnTo>
                  <a:pt x="4419600" y="4690872"/>
                </a:lnTo>
                <a:lnTo>
                  <a:pt x="4424172" y="4690872"/>
                </a:lnTo>
                <a:close/>
              </a:path>
            </a:pathLst>
          </a:custGeom>
          <a:solidFill>
            <a:srgbClr val="93B5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50576" y="1831339"/>
            <a:ext cx="4895215" cy="4420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Exemple:</a:t>
            </a:r>
            <a:endParaRPr sz="2400">
              <a:latin typeface="Times New Roman"/>
              <a:cs typeface="Times New Roman"/>
            </a:endParaRPr>
          </a:p>
          <a:p>
            <a:pPr marL="1367155">
              <a:lnSpc>
                <a:spcPct val="100000"/>
              </a:lnSpc>
              <a:spcBef>
                <a:spcPts val="1485"/>
              </a:spcBef>
            </a:pP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class</a:t>
            </a:r>
            <a:r>
              <a:rPr sz="18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B0F0"/>
                </a:solidFill>
                <a:latin typeface="Arial MT"/>
                <a:cs typeface="Arial MT"/>
              </a:rPr>
              <a:t>Point</a:t>
            </a:r>
            <a:r>
              <a:rPr sz="1800" spc="-10" dirty="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Arial MT"/>
                <a:cs typeface="Arial MT"/>
              </a:rPr>
              <a:t>{</a:t>
            </a:r>
            <a:endParaRPr sz="1800">
              <a:latin typeface="Arial MT"/>
              <a:cs typeface="Arial MT"/>
            </a:endParaRPr>
          </a:p>
          <a:p>
            <a:pPr marL="1367155">
              <a:lnSpc>
                <a:spcPct val="100000"/>
              </a:lnSpc>
            </a:pPr>
            <a:r>
              <a:rPr sz="1800" b="1" spc="-10" dirty="0">
                <a:solidFill>
                  <a:srgbClr val="FF0065"/>
                </a:solidFill>
                <a:latin typeface="Arial"/>
                <a:cs typeface="Arial"/>
              </a:rPr>
              <a:t>private:</a:t>
            </a:r>
            <a:endParaRPr sz="1800">
              <a:latin typeface="Arial"/>
              <a:cs typeface="Arial"/>
            </a:endParaRPr>
          </a:p>
          <a:p>
            <a:pPr marL="2255520" marR="1704975">
              <a:lnSpc>
                <a:spcPct val="100000"/>
              </a:lnSpc>
            </a:pP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double</a:t>
            </a:r>
            <a:r>
              <a:rPr sz="18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x</a:t>
            </a:r>
            <a:r>
              <a:rPr sz="1800" spc="-25" dirty="0">
                <a:solidFill>
                  <a:srgbClr val="FF0000"/>
                </a:solidFill>
                <a:latin typeface="Arial MT"/>
                <a:cs typeface="Arial MT"/>
              </a:rPr>
              <a:t>; </a:t>
            </a: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double</a:t>
            </a:r>
            <a:r>
              <a:rPr sz="18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y</a:t>
            </a:r>
            <a:r>
              <a:rPr sz="1800" spc="-25" dirty="0">
                <a:solidFill>
                  <a:srgbClr val="FF0000"/>
                </a:solidFill>
                <a:latin typeface="Arial MT"/>
                <a:cs typeface="Arial MT"/>
              </a:rPr>
              <a:t>;</a:t>
            </a:r>
            <a:endParaRPr sz="1800">
              <a:latin typeface="Arial MT"/>
              <a:cs typeface="Arial MT"/>
            </a:endParaRPr>
          </a:p>
          <a:p>
            <a:pPr marL="2281555">
              <a:lnSpc>
                <a:spcPct val="100000"/>
              </a:lnSpc>
            </a:pP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static</a:t>
            </a:r>
            <a:r>
              <a:rPr sz="18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int</a:t>
            </a:r>
            <a:r>
              <a:rPr sz="18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b="1" spc="-10" dirty="0">
                <a:latin typeface="Arial"/>
                <a:cs typeface="Arial"/>
              </a:rPr>
              <a:t>nbPointCrees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;</a:t>
            </a:r>
            <a:endParaRPr sz="1800">
              <a:latin typeface="Arial"/>
              <a:cs typeface="Arial"/>
            </a:endParaRPr>
          </a:p>
          <a:p>
            <a:pPr marL="1367155">
              <a:lnSpc>
                <a:spcPct val="100000"/>
              </a:lnSpc>
            </a:pPr>
            <a:r>
              <a:rPr sz="1800" b="1" spc="-10" dirty="0">
                <a:solidFill>
                  <a:srgbClr val="FF0065"/>
                </a:solidFill>
                <a:latin typeface="Arial"/>
                <a:cs typeface="Arial"/>
              </a:rPr>
              <a:t>public:</a:t>
            </a:r>
            <a:endParaRPr sz="1800">
              <a:latin typeface="Arial"/>
              <a:cs typeface="Arial"/>
            </a:endParaRPr>
          </a:p>
          <a:p>
            <a:pPr marL="2281555" marR="5080">
              <a:lnSpc>
                <a:spcPct val="100000"/>
              </a:lnSpc>
            </a:pPr>
            <a:r>
              <a:rPr sz="1800" dirty="0">
                <a:solidFill>
                  <a:srgbClr val="00B0F0"/>
                </a:solidFill>
                <a:latin typeface="Arial MT"/>
                <a:cs typeface="Arial MT"/>
              </a:rPr>
              <a:t>Point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(</a:t>
            </a: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double</a:t>
            </a:r>
            <a:r>
              <a:rPr sz="180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x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,</a:t>
            </a:r>
            <a:r>
              <a:rPr sz="1800" spc="-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double</a:t>
            </a:r>
            <a:r>
              <a:rPr sz="18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y</a:t>
            </a:r>
            <a:r>
              <a:rPr sz="1800" spc="-25" dirty="0">
                <a:solidFill>
                  <a:srgbClr val="FF0000"/>
                </a:solidFill>
                <a:latin typeface="Arial MT"/>
                <a:cs typeface="Arial MT"/>
              </a:rPr>
              <a:t>){ </a:t>
            </a:r>
            <a:r>
              <a:rPr sz="1800" spc="-10" dirty="0">
                <a:solidFill>
                  <a:srgbClr val="001F5F"/>
                </a:solidFill>
                <a:latin typeface="Arial MT"/>
                <a:cs typeface="Arial MT"/>
              </a:rPr>
              <a:t>this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-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&gt;</a:t>
            </a:r>
            <a:r>
              <a:rPr sz="1800" dirty="0">
                <a:latin typeface="Arial MT"/>
                <a:cs typeface="Arial MT"/>
              </a:rPr>
              <a:t>x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=</a:t>
            </a:r>
            <a:r>
              <a:rPr sz="1800" spc="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x</a:t>
            </a:r>
            <a:r>
              <a:rPr sz="1800" spc="-25" dirty="0">
                <a:solidFill>
                  <a:srgbClr val="FF0000"/>
                </a:solidFill>
                <a:latin typeface="Arial MT"/>
                <a:cs typeface="Arial MT"/>
              </a:rPr>
              <a:t>;</a:t>
            </a:r>
            <a:endParaRPr sz="1800">
              <a:latin typeface="Arial MT"/>
              <a:cs typeface="Arial MT"/>
            </a:endParaRPr>
          </a:p>
          <a:p>
            <a:pPr marL="2281555">
              <a:lnSpc>
                <a:spcPct val="100000"/>
              </a:lnSpc>
            </a:pPr>
            <a:r>
              <a:rPr sz="1800" spc="-10" dirty="0">
                <a:solidFill>
                  <a:srgbClr val="001F5F"/>
                </a:solidFill>
                <a:latin typeface="Arial MT"/>
                <a:cs typeface="Arial MT"/>
              </a:rPr>
              <a:t>this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-&gt;</a:t>
            </a:r>
            <a:r>
              <a:rPr sz="1800" spc="-10" dirty="0">
                <a:latin typeface="Arial MT"/>
                <a:cs typeface="Arial MT"/>
              </a:rPr>
              <a:t>y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=</a:t>
            </a:r>
            <a:r>
              <a:rPr sz="1800" spc="-10" dirty="0">
                <a:latin typeface="Arial MT"/>
                <a:cs typeface="Arial MT"/>
              </a:rPr>
              <a:t>y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;</a:t>
            </a:r>
            <a:endParaRPr sz="1800">
              <a:latin typeface="Arial MT"/>
              <a:cs typeface="Arial MT"/>
            </a:endParaRPr>
          </a:p>
          <a:p>
            <a:pPr marL="2281555">
              <a:lnSpc>
                <a:spcPct val="100000"/>
              </a:lnSpc>
            </a:pPr>
            <a:r>
              <a:rPr sz="1800" spc="-50" dirty="0">
                <a:solidFill>
                  <a:srgbClr val="FF0000"/>
                </a:solidFill>
                <a:latin typeface="Arial MT"/>
                <a:cs typeface="Arial MT"/>
              </a:rPr>
              <a:t>}</a:t>
            </a:r>
            <a:endParaRPr sz="1800">
              <a:latin typeface="Arial MT"/>
              <a:cs typeface="Arial MT"/>
            </a:endParaRPr>
          </a:p>
          <a:p>
            <a:pPr marL="1367155">
              <a:lnSpc>
                <a:spcPct val="100000"/>
              </a:lnSpc>
            </a:pPr>
            <a:r>
              <a:rPr sz="1800" spc="-50" dirty="0">
                <a:solidFill>
                  <a:srgbClr val="FF0000"/>
                </a:solidFill>
                <a:latin typeface="Arial MT"/>
                <a:cs typeface="Arial MT"/>
              </a:rPr>
              <a:t>…</a:t>
            </a:r>
            <a:endParaRPr sz="1800">
              <a:latin typeface="Arial MT"/>
              <a:cs typeface="Arial MT"/>
            </a:endParaRPr>
          </a:p>
          <a:p>
            <a:pPr marL="1367155">
              <a:lnSpc>
                <a:spcPct val="100000"/>
              </a:lnSpc>
            </a:pPr>
            <a:r>
              <a:rPr sz="1800" spc="-25" dirty="0">
                <a:solidFill>
                  <a:srgbClr val="FF0000"/>
                </a:solidFill>
                <a:latin typeface="Arial MT"/>
                <a:cs typeface="Arial MT"/>
              </a:rPr>
              <a:t>};</a:t>
            </a:r>
            <a:endParaRPr sz="1800">
              <a:latin typeface="Arial MT"/>
              <a:cs typeface="Arial MT"/>
            </a:endParaRPr>
          </a:p>
          <a:p>
            <a:pPr marL="1367155" marR="167005">
              <a:lnSpc>
                <a:spcPct val="100000"/>
              </a:lnSpc>
            </a:pPr>
            <a:r>
              <a:rPr sz="1800" dirty="0">
                <a:solidFill>
                  <a:srgbClr val="00B04F"/>
                </a:solidFill>
                <a:latin typeface="Arial MT"/>
                <a:cs typeface="Arial MT"/>
              </a:rPr>
              <a:t>//initialisation</a:t>
            </a:r>
            <a:r>
              <a:rPr sz="1800" spc="-25" dirty="0">
                <a:solidFill>
                  <a:srgbClr val="00B04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B04F"/>
                </a:solidFill>
                <a:latin typeface="Arial MT"/>
                <a:cs typeface="Arial MT"/>
              </a:rPr>
              <a:t>de</a:t>
            </a:r>
            <a:r>
              <a:rPr sz="1800" spc="-45" dirty="0">
                <a:solidFill>
                  <a:srgbClr val="00B04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B04F"/>
                </a:solidFill>
                <a:latin typeface="Arial MT"/>
                <a:cs typeface="Arial MT"/>
              </a:rPr>
              <a:t>l’attribut</a:t>
            </a:r>
            <a:r>
              <a:rPr sz="1800" spc="-30" dirty="0">
                <a:solidFill>
                  <a:srgbClr val="00B04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0B04F"/>
                </a:solidFill>
                <a:latin typeface="Arial MT"/>
                <a:cs typeface="Arial MT"/>
              </a:rPr>
              <a:t>statique </a:t>
            </a: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int</a:t>
            </a:r>
            <a:r>
              <a:rPr sz="1800" spc="-1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0B0F0"/>
                </a:solidFill>
                <a:latin typeface="Arial MT"/>
                <a:cs typeface="Arial MT"/>
              </a:rPr>
              <a:t>Point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::</a:t>
            </a:r>
            <a:r>
              <a:rPr sz="1800" b="1" spc="-10" dirty="0">
                <a:latin typeface="Arial"/>
                <a:cs typeface="Arial"/>
              </a:rPr>
              <a:t>nbPointCrees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=</a:t>
            </a:r>
            <a:r>
              <a:rPr sz="1800" b="1" spc="-10" dirty="0">
                <a:solidFill>
                  <a:srgbClr val="FF32CC"/>
                </a:solidFill>
                <a:latin typeface="Arial"/>
                <a:cs typeface="Arial"/>
              </a:rPr>
              <a:t>0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;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18852" y="1649583"/>
            <a:ext cx="242570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130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80828" y="1611883"/>
            <a:ext cx="2679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130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812" rIns="0" bIns="0" rtlCol="0">
            <a:spAutoFit/>
          </a:bodyPr>
          <a:lstStyle/>
          <a:p>
            <a:pPr marL="381000">
              <a:lnSpc>
                <a:spcPct val="100000"/>
              </a:lnSpc>
              <a:spcBef>
                <a:spcPts val="100"/>
              </a:spcBef>
            </a:pPr>
            <a:r>
              <a:rPr spc="-300" dirty="0"/>
              <a:t>Méthodes</a:t>
            </a:r>
            <a:r>
              <a:rPr b="0" spc="70" dirty="0">
                <a:latin typeface="Times New Roman"/>
                <a:cs typeface="Times New Roman"/>
              </a:rPr>
              <a:t> </a:t>
            </a:r>
            <a:r>
              <a:rPr spc="-300" dirty="0"/>
              <a:t>de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spc="-345" dirty="0"/>
              <a:t>classe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8852" y="1649583"/>
            <a:ext cx="242570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131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939" y="1914144"/>
            <a:ext cx="7163175" cy="458190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80828" y="1611883"/>
            <a:ext cx="2679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131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812" rIns="0" bIns="0" rtlCol="0">
            <a:spAutoFit/>
          </a:bodyPr>
          <a:lstStyle/>
          <a:p>
            <a:pPr marL="381000">
              <a:lnSpc>
                <a:spcPct val="100000"/>
              </a:lnSpc>
              <a:spcBef>
                <a:spcPts val="100"/>
              </a:spcBef>
            </a:pPr>
            <a:r>
              <a:rPr spc="-300" dirty="0"/>
              <a:t>Méthodes</a:t>
            </a:r>
            <a:r>
              <a:rPr b="0" spc="70" dirty="0">
                <a:latin typeface="Times New Roman"/>
                <a:cs typeface="Times New Roman"/>
              </a:rPr>
              <a:t> </a:t>
            </a:r>
            <a:r>
              <a:rPr spc="-300" dirty="0"/>
              <a:t>de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spc="-345" dirty="0"/>
              <a:t>classe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20685" y="1701406"/>
            <a:ext cx="8355330" cy="5306060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2800" b="1" spc="-40" dirty="0">
                <a:solidFill>
                  <a:srgbClr val="C00000"/>
                </a:solidFill>
                <a:latin typeface="Arial"/>
                <a:cs typeface="Arial"/>
              </a:rPr>
              <a:t>Usage</a:t>
            </a:r>
            <a:endParaRPr sz="2800">
              <a:latin typeface="Arial"/>
              <a:cs typeface="Arial"/>
            </a:endParaRPr>
          </a:p>
          <a:p>
            <a:pPr marL="332105" indent="-319405">
              <a:lnSpc>
                <a:spcPct val="100000"/>
              </a:lnSpc>
              <a:spcBef>
                <a:spcPts val="515"/>
              </a:spcBef>
              <a:buClr>
                <a:srgbClr val="006FC0"/>
              </a:buClr>
              <a:buSzPct val="59090"/>
              <a:buFont typeface="Wingdings"/>
              <a:buChar char=""/>
              <a:tabLst>
                <a:tab pos="332105" algn="l"/>
              </a:tabLst>
            </a:pPr>
            <a:r>
              <a:rPr sz="2200" dirty="0">
                <a:latin typeface="Times New Roman"/>
                <a:cs typeface="Times New Roman"/>
              </a:rPr>
              <a:t>Ce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sont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méthodes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qui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s'intéressent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pas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à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un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objet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particulier</a:t>
            </a:r>
            <a:endParaRPr sz="2200">
              <a:latin typeface="Times New Roman"/>
              <a:cs typeface="Times New Roman"/>
            </a:endParaRPr>
          </a:p>
          <a:p>
            <a:pPr marL="332105" indent="-319405">
              <a:lnSpc>
                <a:spcPct val="100000"/>
              </a:lnSpc>
              <a:spcBef>
                <a:spcPts val="445"/>
              </a:spcBef>
              <a:buClr>
                <a:srgbClr val="006FC0"/>
              </a:buClr>
              <a:buSzPct val="59090"/>
              <a:buFont typeface="Wingdings"/>
              <a:buChar char=""/>
              <a:tabLst>
                <a:tab pos="332105" algn="l"/>
              </a:tabLst>
            </a:pPr>
            <a:r>
              <a:rPr sz="2200" dirty="0">
                <a:latin typeface="Times New Roman"/>
                <a:cs typeface="Times New Roman"/>
              </a:rPr>
              <a:t>Utiles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pour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des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calculs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intermédiaires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internes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à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une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classe</a:t>
            </a:r>
            <a:endParaRPr sz="2200">
              <a:latin typeface="Times New Roman"/>
              <a:cs typeface="Times New Roman"/>
            </a:endParaRPr>
          </a:p>
          <a:p>
            <a:pPr marL="332105" indent="-319405">
              <a:lnSpc>
                <a:spcPct val="100000"/>
              </a:lnSpc>
              <a:spcBef>
                <a:spcPts val="430"/>
              </a:spcBef>
              <a:buClr>
                <a:srgbClr val="006FC0"/>
              </a:buClr>
              <a:buSzPct val="59090"/>
              <a:buFont typeface="Wingdings"/>
              <a:buChar char=""/>
              <a:tabLst>
                <a:tab pos="332105" algn="l"/>
              </a:tabLst>
            </a:pPr>
            <a:r>
              <a:rPr sz="2200" dirty="0">
                <a:latin typeface="Times New Roman"/>
                <a:cs typeface="Times New Roman"/>
              </a:rPr>
              <a:t>Utiles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également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pour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retourner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la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valeur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d'une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variable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classe</a:t>
            </a:r>
            <a:endParaRPr sz="2200">
              <a:latin typeface="Times New Roman"/>
              <a:cs typeface="Times New Roman"/>
            </a:endParaRPr>
          </a:p>
          <a:p>
            <a:pPr marL="332105" marR="5080" indent="-320040">
              <a:lnSpc>
                <a:spcPts val="2380"/>
              </a:lnSpc>
              <a:spcBef>
                <a:spcPts val="730"/>
              </a:spcBef>
              <a:buClr>
                <a:srgbClr val="006FC0"/>
              </a:buClr>
              <a:buSzPct val="59090"/>
              <a:buFont typeface="Wingdings"/>
              <a:buChar char=""/>
              <a:tabLst>
                <a:tab pos="332105" algn="l"/>
              </a:tabLst>
            </a:pPr>
            <a:r>
              <a:rPr sz="2200" dirty="0">
                <a:latin typeface="Times New Roman"/>
                <a:cs typeface="Times New Roman"/>
              </a:rPr>
              <a:t>Elles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sont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déclarées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comme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les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méthodes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d'instances,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mais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avec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le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mot- </a:t>
            </a:r>
            <a:r>
              <a:rPr sz="2200" dirty="0">
                <a:latin typeface="Times New Roman"/>
                <a:cs typeface="Times New Roman"/>
              </a:rPr>
              <a:t>clé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static:</a:t>
            </a:r>
            <a:endParaRPr sz="2200">
              <a:latin typeface="Times New Roman"/>
              <a:cs typeface="Times New Roman"/>
            </a:endParaRPr>
          </a:p>
          <a:p>
            <a:pPr marL="393065">
              <a:lnSpc>
                <a:spcPct val="100000"/>
              </a:lnSpc>
              <a:spcBef>
                <a:spcPts val="615"/>
              </a:spcBef>
            </a:pPr>
            <a:r>
              <a:rPr sz="2000" dirty="0">
                <a:solidFill>
                  <a:srgbClr val="FF0065"/>
                </a:solidFill>
                <a:latin typeface="Arial MT"/>
                <a:cs typeface="Arial MT"/>
              </a:rPr>
              <a:t>public:</a:t>
            </a:r>
            <a:r>
              <a:rPr sz="2000" spc="-45" dirty="0">
                <a:solidFill>
                  <a:srgbClr val="FF006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1F5F"/>
                </a:solidFill>
                <a:latin typeface="Arial MT"/>
                <a:cs typeface="Arial MT"/>
              </a:rPr>
              <a:t>static</a:t>
            </a:r>
            <a:r>
              <a:rPr sz="20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1F5F"/>
                </a:solidFill>
                <a:latin typeface="Arial MT"/>
                <a:cs typeface="Arial MT"/>
              </a:rPr>
              <a:t>double</a:t>
            </a:r>
            <a:r>
              <a:rPr sz="20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vitesseMaxToleree</a:t>
            </a:r>
            <a:r>
              <a:rPr sz="2000" spc="-10" dirty="0">
                <a:solidFill>
                  <a:srgbClr val="FF0000"/>
                </a:solidFill>
                <a:latin typeface="Arial MT"/>
                <a:cs typeface="Arial MT"/>
              </a:rPr>
              <a:t>();</a:t>
            </a:r>
            <a:endParaRPr sz="2000">
              <a:latin typeface="Arial MT"/>
              <a:cs typeface="Arial MT"/>
            </a:endParaRPr>
          </a:p>
          <a:p>
            <a:pPr marL="332105" indent="-319405">
              <a:lnSpc>
                <a:spcPct val="100000"/>
              </a:lnSpc>
              <a:spcBef>
                <a:spcPts val="459"/>
              </a:spcBef>
              <a:buClr>
                <a:srgbClr val="006FC0"/>
              </a:buClr>
              <a:buSzPct val="59090"/>
              <a:buFont typeface="Wingdings"/>
              <a:buChar char=""/>
              <a:tabLst>
                <a:tab pos="332105" algn="l"/>
              </a:tabLst>
            </a:pPr>
            <a:r>
              <a:rPr sz="2200" dirty="0">
                <a:latin typeface="Times New Roman"/>
                <a:cs typeface="Times New Roman"/>
              </a:rPr>
              <a:t>Elles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sont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définies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hors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la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classe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sans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static</a:t>
            </a:r>
            <a:r>
              <a:rPr sz="2200" spc="-10" dirty="0">
                <a:latin typeface="Times New Roman"/>
                <a:cs typeface="Times New Roman"/>
              </a:rPr>
              <a:t>:</a:t>
            </a:r>
            <a:endParaRPr sz="2200">
              <a:latin typeface="Times New Roman"/>
              <a:cs typeface="Times New Roman"/>
            </a:endParaRPr>
          </a:p>
          <a:p>
            <a:pPr marL="361315" marR="3794760">
              <a:lnSpc>
                <a:spcPct val="122000"/>
              </a:lnSpc>
              <a:spcBef>
                <a:spcPts val="105"/>
              </a:spcBef>
            </a:pPr>
            <a:r>
              <a:rPr sz="2000" dirty="0">
                <a:solidFill>
                  <a:srgbClr val="001F5F"/>
                </a:solidFill>
                <a:latin typeface="Arial MT"/>
                <a:cs typeface="Arial MT"/>
              </a:rPr>
              <a:t>double</a:t>
            </a:r>
            <a:r>
              <a:rPr sz="2000" spc="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00B0F0"/>
                </a:solidFill>
                <a:latin typeface="Arial MT"/>
                <a:cs typeface="Arial MT"/>
              </a:rPr>
              <a:t>Voiture</a:t>
            </a:r>
            <a:r>
              <a:rPr sz="2000" spc="-20" dirty="0">
                <a:solidFill>
                  <a:srgbClr val="FF0000"/>
                </a:solidFill>
                <a:latin typeface="Arial MT"/>
                <a:cs typeface="Arial MT"/>
              </a:rPr>
              <a:t>::</a:t>
            </a:r>
            <a:r>
              <a:rPr sz="2000" spc="-20" dirty="0">
                <a:latin typeface="Arial MT"/>
                <a:cs typeface="Arial MT"/>
              </a:rPr>
              <a:t>vitesseMaxToleree</a:t>
            </a:r>
            <a:r>
              <a:rPr sz="2000" spc="-20" dirty="0">
                <a:solidFill>
                  <a:srgbClr val="FF0000"/>
                </a:solidFill>
                <a:latin typeface="Arial MT"/>
                <a:cs typeface="Arial MT"/>
              </a:rPr>
              <a:t>()</a:t>
            </a:r>
            <a:r>
              <a:rPr sz="200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spc="-50" dirty="0">
                <a:solidFill>
                  <a:srgbClr val="FF0000"/>
                </a:solidFill>
                <a:latin typeface="Arial MT"/>
                <a:cs typeface="Arial MT"/>
              </a:rPr>
              <a:t>{ </a:t>
            </a:r>
            <a:r>
              <a:rPr sz="2000" dirty="0">
                <a:solidFill>
                  <a:srgbClr val="001F5F"/>
                </a:solidFill>
                <a:latin typeface="Arial MT"/>
                <a:cs typeface="Arial MT"/>
              </a:rPr>
              <a:t>return</a:t>
            </a:r>
            <a:r>
              <a:rPr sz="2000" spc="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vitesseMaxAutorisee</a:t>
            </a:r>
            <a:r>
              <a:rPr sz="2000" spc="-10" dirty="0">
                <a:solidFill>
                  <a:srgbClr val="FF0000"/>
                </a:solidFill>
                <a:latin typeface="Arial MT"/>
                <a:cs typeface="Arial MT"/>
              </a:rPr>
              <a:t>*</a:t>
            </a:r>
            <a:r>
              <a:rPr sz="2000" spc="-10" dirty="0">
                <a:solidFill>
                  <a:srgbClr val="FF32CC"/>
                </a:solidFill>
                <a:latin typeface="Arial MT"/>
                <a:cs typeface="Arial MT"/>
              </a:rPr>
              <a:t>1.10</a:t>
            </a:r>
            <a:r>
              <a:rPr sz="2000" spc="-10" dirty="0">
                <a:solidFill>
                  <a:srgbClr val="FF0000"/>
                </a:solidFill>
                <a:latin typeface="Arial MT"/>
                <a:cs typeface="Arial MT"/>
              </a:rPr>
              <a:t>;</a:t>
            </a:r>
            <a:r>
              <a:rPr sz="2000" spc="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spc="-50" dirty="0">
                <a:solidFill>
                  <a:srgbClr val="FF0000"/>
                </a:solidFill>
                <a:latin typeface="Arial MT"/>
                <a:cs typeface="Arial MT"/>
              </a:rPr>
              <a:t>}</a:t>
            </a:r>
            <a:endParaRPr sz="2000">
              <a:latin typeface="Arial MT"/>
              <a:cs typeface="Arial MT"/>
            </a:endParaRPr>
          </a:p>
          <a:p>
            <a:pPr marL="332105" marR="191770" indent="-320040" algn="just">
              <a:lnSpc>
                <a:spcPts val="2380"/>
              </a:lnSpc>
              <a:spcBef>
                <a:spcPts val="705"/>
              </a:spcBef>
              <a:buClr>
                <a:srgbClr val="006FC0"/>
              </a:buClr>
              <a:buSzPct val="59090"/>
              <a:buFont typeface="Wingdings"/>
              <a:buChar char=""/>
              <a:tabLst>
                <a:tab pos="332105" algn="l"/>
              </a:tabLst>
            </a:pPr>
            <a:r>
              <a:rPr sz="2200" dirty="0">
                <a:latin typeface="Times New Roman"/>
                <a:cs typeface="Times New Roman"/>
              </a:rPr>
              <a:t>Pour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y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accéder,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il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faut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utiliser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non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pas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un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identificateur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d'objet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mais</a:t>
            </a:r>
            <a:r>
              <a:rPr sz="2200" spc="-25" dirty="0">
                <a:latin typeface="Times New Roman"/>
                <a:cs typeface="Times New Roman"/>
              </a:rPr>
              <a:t> le </a:t>
            </a:r>
            <a:r>
              <a:rPr sz="2200" dirty="0">
                <a:latin typeface="Times New Roman"/>
                <a:cs typeface="Times New Roman"/>
              </a:rPr>
              <a:t>nom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la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classe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et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l’opérateur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résolution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portée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«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::</a:t>
            </a:r>
            <a:r>
              <a:rPr sz="22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»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(idem </a:t>
            </a:r>
            <a:r>
              <a:rPr sz="2200" dirty="0">
                <a:latin typeface="Times New Roman"/>
                <a:cs typeface="Times New Roman"/>
              </a:rPr>
              <a:t>pour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les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variables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classe):</a:t>
            </a:r>
            <a:endParaRPr sz="2200">
              <a:latin typeface="Times New Roman"/>
              <a:cs typeface="Times New Roman"/>
            </a:endParaRPr>
          </a:p>
          <a:p>
            <a:pPr marL="291465">
              <a:lnSpc>
                <a:spcPct val="100000"/>
              </a:lnSpc>
              <a:spcBef>
                <a:spcPts val="434"/>
              </a:spcBef>
              <a:tabLst>
                <a:tab pos="3872865" algn="l"/>
              </a:tabLst>
            </a:pPr>
            <a:r>
              <a:rPr sz="2000" spc="-10" dirty="0">
                <a:solidFill>
                  <a:srgbClr val="00B0F0"/>
                </a:solidFill>
                <a:latin typeface="Arial MT"/>
                <a:cs typeface="Arial MT"/>
              </a:rPr>
              <a:t>Voiture</a:t>
            </a:r>
            <a:r>
              <a:rPr sz="2000" b="1" spc="-10" dirty="0">
                <a:solidFill>
                  <a:srgbClr val="FF0000"/>
                </a:solidFill>
                <a:latin typeface="Arial"/>
                <a:cs typeface="Arial"/>
              </a:rPr>
              <a:t>::</a:t>
            </a:r>
            <a:r>
              <a:rPr sz="2000" spc="-10" dirty="0">
                <a:latin typeface="Arial MT"/>
                <a:cs typeface="Arial MT"/>
              </a:rPr>
              <a:t>vitesseMaxToleree</a:t>
            </a:r>
            <a:r>
              <a:rPr sz="2000" spc="-10" dirty="0">
                <a:solidFill>
                  <a:srgbClr val="FF0000"/>
                </a:solidFill>
                <a:latin typeface="Arial MT"/>
                <a:cs typeface="Arial MT"/>
              </a:rPr>
              <a:t>();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	</a:t>
            </a:r>
            <a:r>
              <a:rPr sz="2000" dirty="0">
                <a:solidFill>
                  <a:srgbClr val="00B04F"/>
                </a:solidFill>
                <a:latin typeface="Arial MT"/>
                <a:cs typeface="Arial MT"/>
              </a:rPr>
              <a:t>//</a:t>
            </a:r>
            <a:r>
              <a:rPr sz="2000" spc="-50" dirty="0">
                <a:solidFill>
                  <a:srgbClr val="00B04F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B04F"/>
                </a:solidFill>
                <a:latin typeface="Arial MT"/>
                <a:cs typeface="Arial MT"/>
              </a:rPr>
              <a:t>Voiture</a:t>
            </a:r>
            <a:r>
              <a:rPr sz="2000" spc="-45" dirty="0">
                <a:solidFill>
                  <a:srgbClr val="00B04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B04F"/>
                </a:solidFill>
                <a:latin typeface="Arial MT"/>
                <a:cs typeface="Arial MT"/>
              </a:rPr>
              <a:t>une</a:t>
            </a:r>
            <a:r>
              <a:rPr sz="2000" spc="-40" dirty="0">
                <a:solidFill>
                  <a:srgbClr val="00B04F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B04F"/>
                </a:solidFill>
                <a:latin typeface="Arial MT"/>
                <a:cs typeface="Arial MT"/>
              </a:rPr>
              <a:t>classe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18852" y="1649583"/>
            <a:ext cx="242570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132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80828" y="1611883"/>
            <a:ext cx="2679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132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18852" y="1649583"/>
            <a:ext cx="242570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135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0828" y="1611883"/>
            <a:ext cx="2679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135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1904" rIns="0" bIns="0" rtlCol="0">
            <a:spAutoFit/>
          </a:bodyPr>
          <a:lstStyle/>
          <a:p>
            <a:pPr marL="443865">
              <a:lnSpc>
                <a:spcPct val="100000"/>
              </a:lnSpc>
              <a:spcBef>
                <a:spcPts val="100"/>
              </a:spcBef>
            </a:pPr>
            <a:r>
              <a:rPr spc="-310" dirty="0"/>
              <a:t>Propriétés</a:t>
            </a:r>
            <a:r>
              <a:rPr b="0" spc="75" dirty="0">
                <a:latin typeface="Times New Roman"/>
                <a:cs typeface="Times New Roman"/>
              </a:rPr>
              <a:t> </a:t>
            </a:r>
            <a:r>
              <a:rPr spc="-360" dirty="0"/>
              <a:t>des</a:t>
            </a:r>
            <a:r>
              <a:rPr b="0" spc="70" dirty="0">
                <a:latin typeface="Times New Roman"/>
                <a:cs typeface="Times New Roman"/>
              </a:rPr>
              <a:t> </a:t>
            </a:r>
            <a:r>
              <a:rPr spc="-310" dirty="0"/>
              <a:t>fonctions</a:t>
            </a:r>
            <a:r>
              <a:rPr b="0" spc="100" dirty="0">
                <a:latin typeface="Times New Roman"/>
                <a:cs typeface="Times New Roman"/>
              </a:rPr>
              <a:t> </a:t>
            </a:r>
            <a:r>
              <a:rPr spc="-335" dirty="0"/>
              <a:t>membres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04272" y="1852675"/>
            <a:ext cx="8152130" cy="305562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700"/>
              </a:spcBef>
              <a:buClr>
                <a:srgbClr val="006FC0"/>
              </a:buClr>
              <a:buSzPct val="58333"/>
              <a:buFont typeface="Wingdings"/>
              <a:buChar char=""/>
              <a:tabLst>
                <a:tab pos="332105" algn="l"/>
              </a:tabLst>
            </a:pPr>
            <a:r>
              <a:rPr sz="2400" dirty="0">
                <a:latin typeface="Times New Roman"/>
                <a:cs typeface="Times New Roman"/>
              </a:rPr>
              <a:t>Les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fonctions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membres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(y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compris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constructeurs)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peuvent:</a:t>
            </a:r>
            <a:endParaRPr sz="2400">
              <a:latin typeface="Times New Roman"/>
              <a:cs typeface="Times New Roman"/>
            </a:endParaRPr>
          </a:p>
          <a:p>
            <a:pPr marL="728345" lvl="1" indent="-349885">
              <a:lnSpc>
                <a:spcPct val="100000"/>
              </a:lnSpc>
              <a:spcBef>
                <a:spcPts val="600"/>
              </a:spcBef>
              <a:buClr>
                <a:srgbClr val="006FC0"/>
              </a:buClr>
              <a:buSzPct val="68750"/>
              <a:buFont typeface="Wingdings"/>
              <a:buChar char=""/>
              <a:tabLst>
                <a:tab pos="728345" algn="l"/>
              </a:tabLst>
            </a:pPr>
            <a:r>
              <a:rPr sz="2400" dirty="0">
                <a:latin typeface="Times New Roman"/>
                <a:cs typeface="Times New Roman"/>
              </a:rPr>
              <a:t>être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surdéfinies</a:t>
            </a:r>
            <a:r>
              <a:rPr sz="2400" spc="-10" dirty="0">
                <a:latin typeface="Times New Roman"/>
                <a:cs typeface="Times New Roman"/>
              </a:rPr>
              <a:t>,</a:t>
            </a:r>
            <a:endParaRPr sz="2400">
              <a:latin typeface="Times New Roman"/>
              <a:cs typeface="Times New Roman"/>
            </a:endParaRPr>
          </a:p>
          <a:p>
            <a:pPr marL="728345" lvl="1" indent="-349885">
              <a:lnSpc>
                <a:spcPct val="100000"/>
              </a:lnSpc>
              <a:spcBef>
                <a:spcPts val="600"/>
              </a:spcBef>
              <a:buClr>
                <a:srgbClr val="006FC0"/>
              </a:buClr>
              <a:buSzPct val="68750"/>
              <a:buFont typeface="Wingdings"/>
              <a:buChar char=""/>
              <a:tabLst>
                <a:tab pos="728345" algn="l"/>
              </a:tabLst>
            </a:pPr>
            <a:r>
              <a:rPr sz="2400" dirty="0">
                <a:latin typeface="Times New Roman"/>
                <a:cs typeface="Times New Roman"/>
              </a:rPr>
              <a:t>avoir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arguments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par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défaut</a:t>
            </a:r>
            <a:r>
              <a:rPr sz="2400" spc="-10" dirty="0">
                <a:latin typeface="Times New Roman"/>
                <a:cs typeface="Times New Roman"/>
              </a:rPr>
              <a:t>,</a:t>
            </a:r>
            <a:endParaRPr sz="2400">
              <a:latin typeface="Times New Roman"/>
              <a:cs typeface="Times New Roman"/>
            </a:endParaRPr>
          </a:p>
          <a:p>
            <a:pPr marL="728345" lvl="1" indent="-349885">
              <a:lnSpc>
                <a:spcPct val="100000"/>
              </a:lnSpc>
              <a:spcBef>
                <a:spcPts val="600"/>
              </a:spcBef>
              <a:buClr>
                <a:srgbClr val="006FC0"/>
              </a:buClr>
              <a:buSzPct val="68750"/>
              <a:buFont typeface="Wingdings"/>
              <a:buChar char=""/>
              <a:tabLst>
                <a:tab pos="728345" algn="l"/>
              </a:tabLst>
            </a:pPr>
            <a:r>
              <a:rPr sz="2400" dirty="0">
                <a:latin typeface="Times New Roman"/>
                <a:cs typeface="Times New Roman"/>
              </a:rPr>
              <a:t>être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65"/>
                </a:solidFill>
                <a:latin typeface="Times New Roman"/>
                <a:cs typeface="Times New Roman"/>
              </a:rPr>
              <a:t>public</a:t>
            </a:r>
            <a:r>
              <a:rPr sz="2400" spc="-30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ou </a:t>
            </a:r>
            <a:r>
              <a:rPr sz="2400" spc="-10" dirty="0">
                <a:solidFill>
                  <a:srgbClr val="FF0065"/>
                </a:solidFill>
                <a:latin typeface="Times New Roman"/>
                <a:cs typeface="Times New Roman"/>
              </a:rPr>
              <a:t>private</a:t>
            </a:r>
            <a:r>
              <a:rPr sz="2400" spc="-10" dirty="0">
                <a:latin typeface="Times New Roman"/>
                <a:cs typeface="Times New Roman"/>
              </a:rPr>
              <a:t>,</a:t>
            </a:r>
            <a:endParaRPr sz="2400">
              <a:latin typeface="Times New Roman"/>
              <a:cs typeface="Times New Roman"/>
            </a:endParaRPr>
          </a:p>
          <a:p>
            <a:pPr marL="728345" lvl="1" indent="-349885">
              <a:lnSpc>
                <a:spcPct val="100000"/>
              </a:lnSpc>
              <a:spcBef>
                <a:spcPts val="600"/>
              </a:spcBef>
              <a:buClr>
                <a:srgbClr val="006FC0"/>
              </a:buClr>
              <a:buSzPct val="68750"/>
              <a:buFont typeface="Wingdings"/>
              <a:buChar char=""/>
              <a:tabLst>
                <a:tab pos="728345" algn="l"/>
              </a:tabLst>
            </a:pPr>
            <a:r>
              <a:rPr sz="2400" dirty="0">
                <a:latin typeface="Times New Roman"/>
                <a:cs typeface="Times New Roman"/>
              </a:rPr>
              <a:t>être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0065"/>
                </a:solidFill>
                <a:latin typeface="Times New Roman"/>
                <a:cs typeface="Times New Roman"/>
              </a:rPr>
              <a:t>inline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332740" marR="5080" indent="-320040">
              <a:lnSpc>
                <a:spcPct val="100000"/>
              </a:lnSpc>
              <a:spcBef>
                <a:spcPts val="695"/>
              </a:spcBef>
              <a:buClr>
                <a:srgbClr val="006FC0"/>
              </a:buClr>
              <a:buSzPct val="58333"/>
              <a:buFont typeface="Wingdings"/>
              <a:buChar char=""/>
              <a:tabLst>
                <a:tab pos="332740" algn="l"/>
              </a:tabLst>
            </a:pPr>
            <a:r>
              <a:rPr sz="2400" dirty="0">
                <a:latin typeface="Times New Roman"/>
                <a:cs typeface="Times New Roman"/>
              </a:rPr>
              <a:t>Les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fonctions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membres ont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accès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à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tous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membres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tous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les </a:t>
            </a:r>
            <a:r>
              <a:rPr sz="2400" dirty="0">
                <a:latin typeface="Times New Roman"/>
                <a:cs typeface="Times New Roman"/>
              </a:rPr>
              <a:t>objets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classe.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7696" y="1763977"/>
            <a:ext cx="8351520" cy="3383279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Surdéfinition</a:t>
            </a:r>
            <a:r>
              <a:rPr sz="2800" b="1" spc="-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des</a:t>
            </a:r>
            <a:r>
              <a:rPr sz="2800" b="1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fonctions</a:t>
            </a:r>
            <a:r>
              <a:rPr sz="2800" b="1" spc="-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membre</a:t>
            </a:r>
            <a:endParaRPr sz="2800">
              <a:latin typeface="Times New Roman"/>
              <a:cs typeface="Times New Roman"/>
            </a:endParaRPr>
          </a:p>
          <a:p>
            <a:pPr marL="332740" marR="5080" indent="-320040">
              <a:lnSpc>
                <a:spcPct val="100000"/>
              </a:lnSpc>
              <a:spcBef>
                <a:spcPts val="710"/>
              </a:spcBef>
              <a:buClr>
                <a:srgbClr val="006FC0"/>
              </a:buClr>
              <a:buSzPct val="58333"/>
              <a:buFont typeface="Wingdings"/>
              <a:buChar char=""/>
              <a:tabLst>
                <a:tab pos="332740" algn="l"/>
              </a:tabLst>
            </a:pPr>
            <a:r>
              <a:rPr sz="2400" b="1" dirty="0">
                <a:solidFill>
                  <a:srgbClr val="02DFE4"/>
                </a:solidFill>
                <a:latin typeface="Times New Roman"/>
                <a:cs typeface="Times New Roman"/>
              </a:rPr>
              <a:t>C++</a:t>
            </a:r>
            <a:r>
              <a:rPr sz="2400" b="1" spc="-35" dirty="0">
                <a:solidFill>
                  <a:srgbClr val="02DFE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autorise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surdéfinition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(ou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surcharge)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fonctions </a:t>
            </a:r>
            <a:r>
              <a:rPr sz="2400" dirty="0">
                <a:latin typeface="Times New Roman"/>
                <a:cs typeface="Times New Roman"/>
              </a:rPr>
              <a:t>membres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compris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constructeurs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(mais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aux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destructeurs);</a:t>
            </a:r>
            <a:endParaRPr sz="2400">
              <a:latin typeface="Times New Roman"/>
              <a:cs typeface="Times New Roman"/>
            </a:endParaRPr>
          </a:p>
          <a:p>
            <a:pPr marL="332105" indent="-319405">
              <a:lnSpc>
                <a:spcPct val="100000"/>
              </a:lnSpc>
              <a:spcBef>
                <a:spcPts val="710"/>
              </a:spcBef>
              <a:buClr>
                <a:srgbClr val="006FC0"/>
              </a:buClr>
              <a:buSzPct val="58333"/>
              <a:buFont typeface="Wingdings"/>
              <a:buChar char=""/>
              <a:tabLst>
                <a:tab pos="332105" algn="l"/>
              </a:tabLst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Exemple</a:t>
            </a:r>
            <a:r>
              <a:rPr sz="24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(1/2):</a:t>
            </a:r>
            <a:endParaRPr sz="2400">
              <a:latin typeface="Times New Roman"/>
              <a:cs typeface="Times New Roman"/>
            </a:endParaRPr>
          </a:p>
          <a:p>
            <a:pPr marL="329565" marR="6769734" indent="63500">
              <a:lnSpc>
                <a:spcPct val="139400"/>
              </a:lnSpc>
              <a:spcBef>
                <a:spcPts val="445"/>
              </a:spcBef>
            </a:pP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class</a:t>
            </a:r>
            <a:r>
              <a:rPr sz="1800" spc="-2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0B0F0"/>
                </a:solidFill>
                <a:latin typeface="Arial MT"/>
                <a:cs typeface="Arial MT"/>
              </a:rPr>
              <a:t>Point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{ </a:t>
            </a:r>
            <a:r>
              <a:rPr sz="1800" dirty="0">
                <a:solidFill>
                  <a:srgbClr val="FF0065"/>
                </a:solidFill>
                <a:latin typeface="Arial MT"/>
                <a:cs typeface="Arial MT"/>
              </a:rPr>
              <a:t>private</a:t>
            </a:r>
            <a:r>
              <a:rPr sz="1800" spc="-15" dirty="0">
                <a:solidFill>
                  <a:srgbClr val="FF0065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solidFill>
                  <a:srgbClr val="FF0065"/>
                </a:solidFill>
                <a:latin typeface="Arial MT"/>
                <a:cs typeface="Arial MT"/>
              </a:rPr>
              <a:t>:</a:t>
            </a:r>
            <a:endParaRPr sz="1800">
              <a:latin typeface="Arial MT"/>
              <a:cs typeface="Arial MT"/>
            </a:endParaRPr>
          </a:p>
          <a:p>
            <a:pPr marL="329565" marR="6529705" indent="318135">
              <a:lnSpc>
                <a:spcPct val="132200"/>
              </a:lnSpc>
              <a:spcBef>
                <a:spcPts val="10"/>
              </a:spcBef>
            </a:pP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double</a:t>
            </a:r>
            <a:r>
              <a:rPr sz="18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x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,</a:t>
            </a:r>
            <a:r>
              <a:rPr sz="1800" spc="-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y</a:t>
            </a:r>
            <a:r>
              <a:rPr sz="1800" spc="-25" dirty="0">
                <a:solidFill>
                  <a:srgbClr val="FF0000"/>
                </a:solidFill>
                <a:latin typeface="Arial MT"/>
                <a:cs typeface="Arial MT"/>
              </a:rPr>
              <a:t>; </a:t>
            </a:r>
            <a:r>
              <a:rPr sz="1800" dirty="0">
                <a:solidFill>
                  <a:srgbClr val="FF0065"/>
                </a:solidFill>
                <a:latin typeface="Arial MT"/>
                <a:cs typeface="Arial MT"/>
              </a:rPr>
              <a:t>public</a:t>
            </a:r>
            <a:r>
              <a:rPr sz="1800" spc="-10" dirty="0">
                <a:solidFill>
                  <a:srgbClr val="FF0065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solidFill>
                  <a:srgbClr val="FF0065"/>
                </a:solidFill>
                <a:latin typeface="Arial MT"/>
                <a:cs typeface="Arial MT"/>
              </a:rPr>
              <a:t>: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73313" y="5123177"/>
            <a:ext cx="2258060" cy="1712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18515">
              <a:lnSpc>
                <a:spcPct val="122800"/>
              </a:lnSpc>
              <a:spcBef>
                <a:spcPts val="100"/>
              </a:spcBef>
            </a:pPr>
            <a:r>
              <a:rPr sz="1800" spc="-10" dirty="0">
                <a:solidFill>
                  <a:srgbClr val="00B0F0"/>
                </a:solidFill>
                <a:latin typeface="Arial MT"/>
                <a:cs typeface="Arial MT"/>
              </a:rPr>
              <a:t>Point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(); </a:t>
            </a:r>
            <a:r>
              <a:rPr sz="1800" spc="-10" dirty="0">
                <a:solidFill>
                  <a:srgbClr val="00B0F0"/>
                </a:solidFill>
                <a:latin typeface="Arial MT"/>
                <a:cs typeface="Arial MT"/>
              </a:rPr>
              <a:t>Point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(</a:t>
            </a:r>
            <a:r>
              <a:rPr sz="1800" spc="-10" dirty="0">
                <a:solidFill>
                  <a:srgbClr val="001F5F"/>
                </a:solidFill>
                <a:latin typeface="Arial MT"/>
                <a:cs typeface="Arial MT"/>
              </a:rPr>
              <a:t>double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);</a:t>
            </a:r>
            <a:endParaRPr sz="1800">
              <a:latin typeface="Arial MT"/>
              <a:cs typeface="Arial MT"/>
            </a:endParaRPr>
          </a:p>
          <a:p>
            <a:pPr marL="12700" marR="5080">
              <a:lnSpc>
                <a:spcPct val="123300"/>
              </a:lnSpc>
            </a:pPr>
            <a:r>
              <a:rPr sz="1800" dirty="0">
                <a:solidFill>
                  <a:srgbClr val="00B0F0"/>
                </a:solidFill>
                <a:latin typeface="Arial MT"/>
                <a:cs typeface="Arial MT"/>
              </a:rPr>
              <a:t>Point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(</a:t>
            </a: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double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,</a:t>
            </a:r>
            <a:r>
              <a:rPr sz="1800" spc="-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01F5F"/>
                </a:solidFill>
                <a:latin typeface="Arial MT"/>
                <a:cs typeface="Arial MT"/>
              </a:rPr>
              <a:t>double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); </a:t>
            </a: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void</a:t>
            </a:r>
            <a:r>
              <a:rPr sz="18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afficher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();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void</a:t>
            </a:r>
            <a:r>
              <a:rPr sz="18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afficher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(</a:t>
            </a:r>
            <a:r>
              <a:rPr sz="1800" spc="-10" dirty="0">
                <a:solidFill>
                  <a:srgbClr val="001F5F"/>
                </a:solidFill>
                <a:latin typeface="Arial MT"/>
                <a:cs typeface="Arial MT"/>
              </a:rPr>
              <a:t>char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*);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52503" y="5123177"/>
            <a:ext cx="3910329" cy="171259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590"/>
              </a:spcBef>
            </a:pPr>
            <a:r>
              <a:rPr sz="1800" dirty="0">
                <a:solidFill>
                  <a:srgbClr val="00B04F"/>
                </a:solidFill>
                <a:latin typeface="Arial MT"/>
                <a:cs typeface="Arial MT"/>
              </a:rPr>
              <a:t>//</a:t>
            </a:r>
            <a:r>
              <a:rPr sz="1800" spc="-20" dirty="0">
                <a:solidFill>
                  <a:srgbClr val="00B04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B04F"/>
                </a:solidFill>
                <a:latin typeface="Arial MT"/>
                <a:cs typeface="Arial MT"/>
              </a:rPr>
              <a:t>constructeur</a:t>
            </a:r>
            <a:r>
              <a:rPr sz="1800" spc="5" dirty="0">
                <a:solidFill>
                  <a:srgbClr val="00B04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B04F"/>
                </a:solidFill>
                <a:latin typeface="Arial MT"/>
                <a:cs typeface="Arial MT"/>
              </a:rPr>
              <a:t>1</a:t>
            </a:r>
            <a:r>
              <a:rPr sz="1800" spc="-20" dirty="0">
                <a:solidFill>
                  <a:srgbClr val="00B04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B04F"/>
                </a:solidFill>
                <a:latin typeface="Arial MT"/>
                <a:cs typeface="Arial MT"/>
              </a:rPr>
              <a:t>sans</a:t>
            </a:r>
            <a:r>
              <a:rPr sz="1800" spc="-10" dirty="0">
                <a:solidFill>
                  <a:srgbClr val="00B04F"/>
                </a:solidFill>
                <a:latin typeface="Arial MT"/>
                <a:cs typeface="Arial MT"/>
              </a:rPr>
              <a:t> arguments</a:t>
            </a:r>
            <a:endParaRPr sz="1800">
              <a:latin typeface="Arial MT"/>
              <a:cs typeface="Arial MT"/>
            </a:endParaRPr>
          </a:p>
          <a:p>
            <a:pPr marL="88265">
              <a:lnSpc>
                <a:spcPct val="100000"/>
              </a:lnSpc>
              <a:spcBef>
                <a:spcPts val="490"/>
              </a:spcBef>
            </a:pPr>
            <a:r>
              <a:rPr sz="1800" dirty="0">
                <a:solidFill>
                  <a:srgbClr val="00B04F"/>
                </a:solidFill>
                <a:latin typeface="Arial MT"/>
                <a:cs typeface="Arial MT"/>
              </a:rPr>
              <a:t>//</a:t>
            </a:r>
            <a:r>
              <a:rPr sz="1800" spc="-20" dirty="0">
                <a:solidFill>
                  <a:srgbClr val="00B04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B04F"/>
                </a:solidFill>
                <a:latin typeface="Arial MT"/>
                <a:cs typeface="Arial MT"/>
              </a:rPr>
              <a:t>constructeur</a:t>
            </a:r>
            <a:r>
              <a:rPr sz="1800" spc="5" dirty="0">
                <a:solidFill>
                  <a:srgbClr val="00B04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B04F"/>
                </a:solidFill>
                <a:latin typeface="Arial MT"/>
                <a:cs typeface="Arial MT"/>
              </a:rPr>
              <a:t>2</a:t>
            </a:r>
            <a:r>
              <a:rPr sz="1800" spc="-15" dirty="0">
                <a:solidFill>
                  <a:srgbClr val="00B04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B04F"/>
                </a:solidFill>
                <a:latin typeface="Arial MT"/>
                <a:cs typeface="Arial MT"/>
              </a:rPr>
              <a:t>avec</a:t>
            </a:r>
            <a:r>
              <a:rPr sz="1800" spc="-10" dirty="0">
                <a:solidFill>
                  <a:srgbClr val="00B04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B04F"/>
                </a:solidFill>
                <a:latin typeface="Arial MT"/>
                <a:cs typeface="Arial MT"/>
              </a:rPr>
              <a:t>un</a:t>
            </a:r>
            <a:r>
              <a:rPr sz="1800" spc="-15" dirty="0">
                <a:solidFill>
                  <a:srgbClr val="00B04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0B04F"/>
                </a:solidFill>
                <a:latin typeface="Arial MT"/>
                <a:cs typeface="Arial MT"/>
              </a:rPr>
              <a:t>argument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800" dirty="0">
                <a:solidFill>
                  <a:srgbClr val="00B04F"/>
                </a:solidFill>
                <a:latin typeface="Arial MT"/>
                <a:cs typeface="Arial MT"/>
              </a:rPr>
              <a:t>//</a:t>
            </a:r>
            <a:r>
              <a:rPr sz="1800" spc="-20" dirty="0">
                <a:solidFill>
                  <a:srgbClr val="00B04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B04F"/>
                </a:solidFill>
                <a:latin typeface="Arial MT"/>
                <a:cs typeface="Arial MT"/>
              </a:rPr>
              <a:t>constructeur</a:t>
            </a:r>
            <a:r>
              <a:rPr sz="1800" spc="5" dirty="0">
                <a:solidFill>
                  <a:srgbClr val="00B04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B04F"/>
                </a:solidFill>
                <a:latin typeface="Arial MT"/>
                <a:cs typeface="Arial MT"/>
              </a:rPr>
              <a:t>3</a:t>
            </a:r>
            <a:r>
              <a:rPr sz="1800" spc="-20" dirty="0">
                <a:solidFill>
                  <a:srgbClr val="00B04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B04F"/>
                </a:solidFill>
                <a:latin typeface="Arial MT"/>
                <a:cs typeface="Arial MT"/>
              </a:rPr>
              <a:t>avec</a:t>
            </a:r>
            <a:r>
              <a:rPr sz="1800" spc="-10" dirty="0">
                <a:solidFill>
                  <a:srgbClr val="00B04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B04F"/>
                </a:solidFill>
                <a:latin typeface="Arial MT"/>
                <a:cs typeface="Arial MT"/>
              </a:rPr>
              <a:t>deux </a:t>
            </a:r>
            <a:r>
              <a:rPr sz="1800" spc="-10" dirty="0">
                <a:solidFill>
                  <a:srgbClr val="00B04F"/>
                </a:solidFill>
                <a:latin typeface="Arial MT"/>
                <a:cs typeface="Arial MT"/>
              </a:rPr>
              <a:t>arguments</a:t>
            </a:r>
            <a:endParaRPr sz="1800">
              <a:latin typeface="Arial MT"/>
              <a:cs typeface="Arial MT"/>
            </a:endParaRPr>
          </a:p>
          <a:p>
            <a:pPr marL="109855">
              <a:lnSpc>
                <a:spcPct val="100000"/>
              </a:lnSpc>
              <a:spcBef>
                <a:spcPts val="505"/>
              </a:spcBef>
            </a:pPr>
            <a:r>
              <a:rPr sz="1800" dirty="0">
                <a:solidFill>
                  <a:srgbClr val="00B04F"/>
                </a:solidFill>
                <a:latin typeface="Arial MT"/>
                <a:cs typeface="Arial MT"/>
              </a:rPr>
              <a:t>//</a:t>
            </a:r>
            <a:r>
              <a:rPr sz="1800" spc="-35" dirty="0">
                <a:solidFill>
                  <a:srgbClr val="00B04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B04F"/>
                </a:solidFill>
                <a:latin typeface="Arial MT"/>
                <a:cs typeface="Arial MT"/>
              </a:rPr>
              <a:t>fonction</a:t>
            </a:r>
            <a:r>
              <a:rPr sz="1800" spc="-20" dirty="0">
                <a:solidFill>
                  <a:srgbClr val="00B04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B04F"/>
                </a:solidFill>
                <a:latin typeface="Arial MT"/>
                <a:cs typeface="Arial MT"/>
              </a:rPr>
              <a:t>afficher()</a:t>
            </a:r>
            <a:r>
              <a:rPr sz="1800" spc="-25" dirty="0">
                <a:solidFill>
                  <a:srgbClr val="00B04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B04F"/>
                </a:solidFill>
                <a:latin typeface="Arial MT"/>
                <a:cs typeface="Arial MT"/>
              </a:rPr>
              <a:t>sans</a:t>
            </a:r>
            <a:r>
              <a:rPr sz="1800" spc="-15" dirty="0">
                <a:solidFill>
                  <a:srgbClr val="00B04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0B04F"/>
                </a:solidFill>
                <a:latin typeface="Arial MT"/>
                <a:cs typeface="Arial MT"/>
              </a:rPr>
              <a:t>arguments</a:t>
            </a:r>
            <a:endParaRPr sz="1800">
              <a:latin typeface="Arial MT"/>
              <a:cs typeface="Arial MT"/>
            </a:endParaRPr>
          </a:p>
          <a:p>
            <a:pPr marL="71755">
              <a:lnSpc>
                <a:spcPct val="100000"/>
              </a:lnSpc>
              <a:spcBef>
                <a:spcPts val="490"/>
              </a:spcBef>
            </a:pPr>
            <a:r>
              <a:rPr sz="1800" dirty="0">
                <a:solidFill>
                  <a:srgbClr val="00B04F"/>
                </a:solidFill>
                <a:latin typeface="Arial MT"/>
                <a:cs typeface="Arial MT"/>
              </a:rPr>
              <a:t>//</a:t>
            </a:r>
            <a:r>
              <a:rPr sz="1800" spc="-40" dirty="0">
                <a:solidFill>
                  <a:srgbClr val="00B04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B04F"/>
                </a:solidFill>
                <a:latin typeface="Arial MT"/>
                <a:cs typeface="Arial MT"/>
              </a:rPr>
              <a:t>fonction</a:t>
            </a:r>
            <a:r>
              <a:rPr sz="1800" spc="-10" dirty="0">
                <a:solidFill>
                  <a:srgbClr val="00B04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B04F"/>
                </a:solidFill>
                <a:latin typeface="Arial MT"/>
                <a:cs typeface="Arial MT"/>
              </a:rPr>
              <a:t>affiche()</a:t>
            </a:r>
            <a:r>
              <a:rPr sz="1800" spc="-25" dirty="0">
                <a:solidFill>
                  <a:srgbClr val="00B04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B04F"/>
                </a:solidFill>
                <a:latin typeface="Arial MT"/>
                <a:cs typeface="Arial MT"/>
              </a:rPr>
              <a:t>avec</a:t>
            </a:r>
            <a:r>
              <a:rPr sz="1800" spc="-5" dirty="0">
                <a:solidFill>
                  <a:srgbClr val="00B04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B04F"/>
                </a:solidFill>
                <a:latin typeface="Arial MT"/>
                <a:cs typeface="Arial MT"/>
              </a:rPr>
              <a:t>un</a:t>
            </a:r>
            <a:r>
              <a:rPr sz="1800" spc="-25" dirty="0">
                <a:solidFill>
                  <a:srgbClr val="00B04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0B04F"/>
                </a:solidFill>
                <a:latin typeface="Arial MT"/>
                <a:cs typeface="Arial MT"/>
              </a:rPr>
              <a:t>argument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67696" y="6900160"/>
            <a:ext cx="165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0000"/>
                </a:solidFill>
                <a:latin typeface="Arial MT"/>
                <a:cs typeface="Arial MT"/>
              </a:rPr>
              <a:t>};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9316" rIns="0" bIns="0" rtlCol="0">
            <a:spAutoFit/>
          </a:bodyPr>
          <a:lstStyle/>
          <a:p>
            <a:pPr marL="289560">
              <a:lnSpc>
                <a:spcPct val="100000"/>
              </a:lnSpc>
              <a:spcBef>
                <a:spcPts val="100"/>
              </a:spcBef>
            </a:pPr>
            <a:r>
              <a:rPr spc="-310" dirty="0"/>
              <a:t>Propriétés</a:t>
            </a:r>
            <a:r>
              <a:rPr b="0" spc="75" dirty="0">
                <a:latin typeface="Times New Roman"/>
                <a:cs typeface="Times New Roman"/>
              </a:rPr>
              <a:t> </a:t>
            </a:r>
            <a:r>
              <a:rPr spc="-360" dirty="0"/>
              <a:t>des</a:t>
            </a:r>
            <a:r>
              <a:rPr b="0" spc="70" dirty="0">
                <a:latin typeface="Times New Roman"/>
                <a:cs typeface="Times New Roman"/>
              </a:rPr>
              <a:t> </a:t>
            </a:r>
            <a:r>
              <a:rPr spc="-310" dirty="0"/>
              <a:t>fonctions</a:t>
            </a:r>
            <a:r>
              <a:rPr b="0" spc="100" dirty="0">
                <a:latin typeface="Times New Roman"/>
                <a:cs typeface="Times New Roman"/>
              </a:rPr>
              <a:t> </a:t>
            </a:r>
            <a:r>
              <a:rPr spc="-335" dirty="0"/>
              <a:t>membres</a:t>
            </a:r>
          </a:p>
        </p:txBody>
      </p:sp>
      <p:sp>
        <p:nvSpPr>
          <p:cNvPr id="7" name="object 7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80828" y="1611883"/>
            <a:ext cx="2679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136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9316" rIns="0" bIns="0" rtlCol="0">
            <a:spAutoFit/>
          </a:bodyPr>
          <a:lstStyle/>
          <a:p>
            <a:pPr marL="289560">
              <a:lnSpc>
                <a:spcPct val="100000"/>
              </a:lnSpc>
              <a:spcBef>
                <a:spcPts val="100"/>
              </a:spcBef>
            </a:pPr>
            <a:r>
              <a:rPr spc="-310" dirty="0"/>
              <a:t>Propriétés</a:t>
            </a:r>
            <a:r>
              <a:rPr b="0" spc="75" dirty="0">
                <a:latin typeface="Times New Roman"/>
                <a:cs typeface="Times New Roman"/>
              </a:rPr>
              <a:t> </a:t>
            </a:r>
            <a:r>
              <a:rPr spc="-360" dirty="0"/>
              <a:t>des</a:t>
            </a:r>
            <a:r>
              <a:rPr b="0" spc="70" dirty="0">
                <a:latin typeface="Times New Roman"/>
                <a:cs typeface="Times New Roman"/>
              </a:rPr>
              <a:t> </a:t>
            </a:r>
            <a:r>
              <a:rPr spc="-310" dirty="0"/>
              <a:t>fonctions</a:t>
            </a:r>
            <a:r>
              <a:rPr b="0" spc="100" dirty="0">
                <a:latin typeface="Times New Roman"/>
                <a:cs typeface="Times New Roman"/>
              </a:rPr>
              <a:t> </a:t>
            </a:r>
            <a:r>
              <a:rPr spc="-335" dirty="0"/>
              <a:t>membres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26781" y="1849747"/>
            <a:ext cx="5442585" cy="414337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Surdéfinition</a:t>
            </a:r>
            <a:r>
              <a:rPr sz="2800" b="1" spc="-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des</a:t>
            </a:r>
            <a:r>
              <a:rPr sz="2800" b="1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fonctions</a:t>
            </a:r>
            <a:r>
              <a:rPr sz="2800" b="1" spc="-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membre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Exemple</a:t>
            </a:r>
            <a:r>
              <a:rPr sz="24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(2/2):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800" dirty="0">
                <a:solidFill>
                  <a:srgbClr val="00B0F0"/>
                </a:solidFill>
                <a:latin typeface="Arial MT"/>
                <a:cs typeface="Arial MT"/>
              </a:rPr>
              <a:t>Point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::</a:t>
            </a:r>
            <a:r>
              <a:rPr sz="1800" dirty="0">
                <a:solidFill>
                  <a:srgbClr val="00B0F0"/>
                </a:solidFill>
                <a:latin typeface="Arial MT"/>
                <a:cs typeface="Arial MT"/>
              </a:rPr>
              <a:t>Point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():</a:t>
            </a:r>
            <a:r>
              <a:rPr sz="1800" spc="-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x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(</a:t>
            </a:r>
            <a:r>
              <a:rPr sz="1800" dirty="0">
                <a:solidFill>
                  <a:srgbClr val="FF0065"/>
                </a:solidFill>
                <a:latin typeface="Arial MT"/>
                <a:cs typeface="Arial MT"/>
              </a:rPr>
              <a:t>0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),</a:t>
            </a:r>
            <a:r>
              <a:rPr sz="1800" spc="-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y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(</a:t>
            </a:r>
            <a:r>
              <a:rPr sz="1800" spc="-10" dirty="0">
                <a:solidFill>
                  <a:srgbClr val="FF0065"/>
                </a:solidFill>
                <a:latin typeface="Arial MT"/>
                <a:cs typeface="Arial MT"/>
              </a:rPr>
              <a:t>0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){}</a:t>
            </a:r>
            <a:endParaRPr sz="1800">
              <a:latin typeface="Arial MT"/>
              <a:cs typeface="Arial MT"/>
            </a:endParaRPr>
          </a:p>
          <a:p>
            <a:pPr marL="12700" marR="11430">
              <a:lnSpc>
                <a:spcPct val="117800"/>
              </a:lnSpc>
              <a:tabLst>
                <a:tab pos="4164965" algn="l"/>
                <a:tab pos="5269865" algn="l"/>
              </a:tabLst>
            </a:pPr>
            <a:r>
              <a:rPr sz="1800" dirty="0">
                <a:solidFill>
                  <a:srgbClr val="00B0F0"/>
                </a:solidFill>
                <a:latin typeface="Arial MT"/>
                <a:cs typeface="Arial MT"/>
              </a:rPr>
              <a:t>Point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::</a:t>
            </a:r>
            <a:r>
              <a:rPr sz="1800" dirty="0">
                <a:solidFill>
                  <a:srgbClr val="00B0F0"/>
                </a:solidFill>
                <a:latin typeface="Arial MT"/>
                <a:cs typeface="Arial MT"/>
              </a:rPr>
              <a:t>Point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(</a:t>
            </a: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double</a:t>
            </a:r>
            <a:r>
              <a:rPr sz="18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abs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)</a:t>
            </a:r>
            <a:r>
              <a:rPr sz="1800" spc="-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:</a:t>
            </a:r>
            <a:r>
              <a:rPr sz="1800" spc="-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x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(</a:t>
            </a:r>
            <a:r>
              <a:rPr sz="1800" dirty="0">
                <a:latin typeface="Arial MT"/>
                <a:cs typeface="Arial MT"/>
              </a:rPr>
              <a:t>abs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),</a:t>
            </a:r>
            <a:r>
              <a:rPr sz="1800" spc="-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y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(</a:t>
            </a:r>
            <a:r>
              <a:rPr sz="1800" spc="-10" dirty="0">
                <a:latin typeface="Arial MT"/>
                <a:cs typeface="Arial MT"/>
              </a:rPr>
              <a:t>abs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)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	</a:t>
            </a:r>
            <a:r>
              <a:rPr sz="1800" spc="-25" dirty="0">
                <a:solidFill>
                  <a:srgbClr val="FF0000"/>
                </a:solidFill>
                <a:latin typeface="Arial MT"/>
                <a:cs typeface="Arial MT"/>
              </a:rPr>
              <a:t>{} </a:t>
            </a:r>
            <a:r>
              <a:rPr sz="1800" dirty="0">
                <a:solidFill>
                  <a:srgbClr val="00B0F0"/>
                </a:solidFill>
                <a:latin typeface="Arial MT"/>
                <a:cs typeface="Arial MT"/>
              </a:rPr>
              <a:t>Point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::</a:t>
            </a:r>
            <a:r>
              <a:rPr sz="1800" dirty="0">
                <a:solidFill>
                  <a:srgbClr val="00B0F0"/>
                </a:solidFill>
                <a:latin typeface="Arial MT"/>
                <a:cs typeface="Arial MT"/>
              </a:rPr>
              <a:t>Point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(</a:t>
            </a: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double</a:t>
            </a:r>
            <a:r>
              <a:rPr sz="18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abs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,</a:t>
            </a:r>
            <a:r>
              <a:rPr sz="1800" spc="-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double</a:t>
            </a:r>
            <a:r>
              <a:rPr sz="1800" spc="-2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ord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):</a:t>
            </a:r>
            <a:r>
              <a:rPr sz="1800" spc="-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x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(</a:t>
            </a:r>
            <a:r>
              <a:rPr sz="1800" dirty="0">
                <a:latin typeface="Arial MT"/>
                <a:cs typeface="Arial MT"/>
              </a:rPr>
              <a:t>abs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),</a:t>
            </a:r>
            <a:r>
              <a:rPr sz="1800" spc="-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y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(</a:t>
            </a:r>
            <a:r>
              <a:rPr sz="1800" spc="-10" dirty="0">
                <a:latin typeface="Arial MT"/>
                <a:cs typeface="Arial MT"/>
              </a:rPr>
              <a:t>ord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)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	</a:t>
            </a:r>
            <a:r>
              <a:rPr sz="1800" spc="-25" dirty="0">
                <a:solidFill>
                  <a:srgbClr val="FF0000"/>
                </a:solidFill>
                <a:latin typeface="Arial MT"/>
                <a:cs typeface="Arial MT"/>
              </a:rPr>
              <a:t>{} </a:t>
            </a: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void</a:t>
            </a:r>
            <a:r>
              <a:rPr sz="1800" spc="-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0B0F0"/>
                </a:solidFill>
                <a:latin typeface="Arial MT"/>
                <a:cs typeface="Arial MT"/>
              </a:rPr>
              <a:t>Point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::</a:t>
            </a:r>
            <a:r>
              <a:rPr sz="1800" spc="-10" dirty="0">
                <a:latin typeface="Arial MT"/>
                <a:cs typeface="Arial MT"/>
              </a:rPr>
              <a:t>afficher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(){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800" b="1" dirty="0">
                <a:solidFill>
                  <a:srgbClr val="009900"/>
                </a:solidFill>
                <a:latin typeface="Arial"/>
                <a:cs typeface="Arial"/>
              </a:rPr>
              <a:t>cout</a:t>
            </a:r>
            <a:r>
              <a:rPr sz="1800" b="1" spc="-25" dirty="0">
                <a:solidFill>
                  <a:srgbClr val="0099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&lt;&lt;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6FC0"/>
                </a:solidFill>
                <a:latin typeface="Arial MT"/>
                <a:cs typeface="Arial MT"/>
              </a:rPr>
              <a:t>"("</a:t>
            </a:r>
            <a:r>
              <a:rPr sz="1800" spc="-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&lt;&lt;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x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&lt;&lt;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6FC0"/>
                </a:solidFill>
                <a:latin typeface="Arial MT"/>
                <a:cs typeface="Arial MT"/>
              </a:rPr>
              <a:t>",</a:t>
            </a:r>
            <a:r>
              <a:rPr sz="1800" spc="-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6FC0"/>
                </a:solidFill>
                <a:latin typeface="Arial MT"/>
                <a:cs typeface="Arial MT"/>
              </a:rPr>
              <a:t>"</a:t>
            </a:r>
            <a:r>
              <a:rPr sz="1800" spc="-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&lt;&lt;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&lt;&lt;</a:t>
            </a:r>
            <a:r>
              <a:rPr sz="1800" spc="-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6FC0"/>
                </a:solidFill>
                <a:latin typeface="Arial MT"/>
                <a:cs typeface="Arial MT"/>
              </a:rPr>
              <a:t>")</a:t>
            </a:r>
            <a:r>
              <a:rPr sz="1800" spc="-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6FC0"/>
                </a:solidFill>
                <a:latin typeface="Arial MT"/>
                <a:cs typeface="Arial MT"/>
              </a:rPr>
              <a:t>"</a:t>
            </a:r>
            <a:r>
              <a:rPr sz="1800" spc="-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&lt;&lt;</a:t>
            </a:r>
            <a:r>
              <a:rPr sz="1800" spc="-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009900"/>
                </a:solidFill>
                <a:latin typeface="Arial"/>
                <a:cs typeface="Arial"/>
              </a:rPr>
              <a:t>endl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;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84"/>
              </a:spcBef>
            </a:pPr>
            <a:r>
              <a:rPr sz="1800" spc="-50" dirty="0">
                <a:solidFill>
                  <a:srgbClr val="FF0000"/>
                </a:solidFill>
                <a:latin typeface="Arial MT"/>
                <a:cs typeface="Arial MT"/>
              </a:rPr>
              <a:t>}</a:t>
            </a:r>
            <a:endParaRPr sz="1800">
              <a:latin typeface="Arial MT"/>
              <a:cs typeface="Arial MT"/>
            </a:endParaRPr>
          </a:p>
          <a:p>
            <a:pPr marL="520065" marR="2225675" indent="-508000">
              <a:lnSpc>
                <a:spcPct val="117800"/>
              </a:lnSpc>
            </a:pP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void</a:t>
            </a:r>
            <a:r>
              <a:rPr sz="18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B0F0"/>
                </a:solidFill>
                <a:latin typeface="Arial MT"/>
                <a:cs typeface="Arial MT"/>
              </a:rPr>
              <a:t>Point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::</a:t>
            </a:r>
            <a:r>
              <a:rPr sz="1800" dirty="0">
                <a:latin typeface="Arial MT"/>
                <a:cs typeface="Arial MT"/>
              </a:rPr>
              <a:t>afficher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(</a:t>
            </a: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char</a:t>
            </a:r>
            <a:r>
              <a:rPr sz="18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*</a:t>
            </a:r>
            <a:r>
              <a:rPr sz="1800" dirty="0">
                <a:latin typeface="Arial MT"/>
                <a:cs typeface="Arial MT"/>
              </a:rPr>
              <a:t>msg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)</a:t>
            </a:r>
            <a:r>
              <a:rPr sz="1800" spc="-5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Arial MT"/>
                <a:cs typeface="Arial MT"/>
              </a:rPr>
              <a:t>{ </a:t>
            </a:r>
            <a:r>
              <a:rPr sz="1800" b="1" dirty="0">
                <a:solidFill>
                  <a:srgbClr val="009900"/>
                </a:solidFill>
                <a:latin typeface="Arial"/>
                <a:cs typeface="Arial"/>
              </a:rPr>
              <a:t>cout</a:t>
            </a:r>
            <a:r>
              <a:rPr sz="1800" b="1" spc="-15" dirty="0">
                <a:solidFill>
                  <a:srgbClr val="0099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&lt;&lt;</a:t>
            </a:r>
            <a:r>
              <a:rPr sz="1800" spc="-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msg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&lt;&lt;</a:t>
            </a:r>
            <a:r>
              <a:rPr sz="180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b="1" spc="-20" dirty="0">
                <a:solidFill>
                  <a:srgbClr val="009900"/>
                </a:solidFill>
                <a:latin typeface="Arial"/>
                <a:cs typeface="Arial"/>
              </a:rPr>
              <a:t>endl</a:t>
            </a:r>
            <a:r>
              <a:rPr sz="1800" spc="-20" dirty="0">
                <a:solidFill>
                  <a:srgbClr val="FF0000"/>
                </a:solidFill>
                <a:latin typeface="Arial MT"/>
                <a:cs typeface="Arial MT"/>
              </a:rPr>
              <a:t>; </a:t>
            </a:r>
            <a:r>
              <a:rPr sz="1800" spc="-10" dirty="0">
                <a:latin typeface="Arial MT"/>
                <a:cs typeface="Arial MT"/>
              </a:rPr>
              <a:t>afficher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();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800" spc="-50" dirty="0">
                <a:solidFill>
                  <a:srgbClr val="FF0000"/>
                </a:solidFill>
                <a:latin typeface="Arial MT"/>
                <a:cs typeface="Arial MT"/>
              </a:rPr>
              <a:t>}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0828" y="1611883"/>
            <a:ext cx="2679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137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7696" y="1768855"/>
            <a:ext cx="8486140" cy="45504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Arguments</a:t>
            </a:r>
            <a:r>
              <a:rPr sz="2800" b="1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par</a:t>
            </a:r>
            <a:r>
              <a:rPr sz="2800" b="1" spc="-1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défaut</a:t>
            </a:r>
            <a:endParaRPr sz="2800">
              <a:latin typeface="Times New Roman"/>
              <a:cs typeface="Times New Roman"/>
            </a:endParaRPr>
          </a:p>
          <a:p>
            <a:pPr marL="332740" marR="116839" indent="-320040">
              <a:lnSpc>
                <a:spcPct val="80000"/>
              </a:lnSpc>
              <a:spcBef>
                <a:spcPts val="710"/>
              </a:spcBef>
              <a:buClr>
                <a:srgbClr val="006FC0"/>
              </a:buClr>
              <a:buSzPct val="58333"/>
              <a:buFont typeface="Wingdings"/>
              <a:buChar char=""/>
              <a:tabLst>
                <a:tab pos="332740" algn="l"/>
              </a:tabLst>
            </a:pPr>
            <a:r>
              <a:rPr sz="2400" spc="-20" dirty="0">
                <a:latin typeface="Times New Roman"/>
                <a:cs typeface="Times New Roman"/>
              </a:rPr>
              <a:t>Tout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comme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fonction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1EF8FD"/>
                </a:solidFill>
                <a:latin typeface="Times New Roman"/>
                <a:cs typeface="Times New Roman"/>
              </a:rPr>
              <a:t>C++</a:t>
            </a:r>
            <a:r>
              <a:rPr sz="2400" b="1" spc="-25" dirty="0">
                <a:solidFill>
                  <a:srgbClr val="1EF8FD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classique,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il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possible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définir </a:t>
            </a:r>
            <a:r>
              <a:rPr sz="2400" dirty="0">
                <a:latin typeface="Times New Roman"/>
                <a:cs typeface="Times New Roman"/>
              </a:rPr>
              <a:t>des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arguments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défaut.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Ceux-</a:t>
            </a:r>
            <a:r>
              <a:rPr sz="2400" dirty="0">
                <a:latin typeface="Times New Roman"/>
                <a:cs typeface="Times New Roman"/>
              </a:rPr>
              <a:t>ci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permettent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à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l'utilisateur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25" dirty="0">
                <a:latin typeface="Times New Roman"/>
                <a:cs typeface="Times New Roman"/>
              </a:rPr>
              <a:t> ne </a:t>
            </a:r>
            <a:r>
              <a:rPr sz="2400" dirty="0">
                <a:latin typeface="Times New Roman"/>
                <a:cs typeface="Times New Roman"/>
              </a:rPr>
              <a:t>pas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renseigner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certains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paramètres.</a:t>
            </a:r>
            <a:endParaRPr sz="2400">
              <a:latin typeface="Times New Roman"/>
              <a:cs typeface="Times New Roman"/>
            </a:endParaRPr>
          </a:p>
          <a:p>
            <a:pPr marL="332740" marR="5080" indent="-320040">
              <a:lnSpc>
                <a:spcPct val="80000"/>
              </a:lnSpc>
              <a:spcBef>
                <a:spcPts val="710"/>
              </a:spcBef>
              <a:buClr>
                <a:srgbClr val="006FC0"/>
              </a:buClr>
              <a:buSzPct val="58333"/>
              <a:buFont typeface="Wingdings"/>
              <a:buChar char=""/>
              <a:tabLst>
                <a:tab pos="332740" algn="l"/>
              </a:tabLst>
            </a:pP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peut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modifier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notre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classe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F0"/>
                </a:solidFill>
                <a:latin typeface="Arial MT"/>
                <a:cs typeface="Arial MT"/>
              </a:rPr>
              <a:t>Point</a:t>
            </a:r>
            <a:r>
              <a:rPr sz="2000" spc="15" dirty="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pour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qu’elle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possède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qu’une </a:t>
            </a:r>
            <a:r>
              <a:rPr sz="2400" dirty="0">
                <a:latin typeface="Times New Roman"/>
                <a:cs typeface="Times New Roman"/>
              </a:rPr>
              <a:t>seule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fonction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affiche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à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seul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argument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type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chaîne.</a:t>
            </a:r>
            <a:endParaRPr sz="2400">
              <a:latin typeface="Times New Roman"/>
              <a:cs typeface="Times New Roman"/>
            </a:endParaRPr>
          </a:p>
          <a:p>
            <a:pPr marL="378460" marR="984250" indent="8890">
              <a:lnSpc>
                <a:spcPct val="114999"/>
              </a:lnSpc>
              <a:spcBef>
                <a:spcPts val="395"/>
              </a:spcBef>
              <a:tabLst>
                <a:tab pos="5436235" algn="l"/>
              </a:tabLst>
            </a:pP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void</a:t>
            </a:r>
            <a:r>
              <a:rPr sz="180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afficher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(</a:t>
            </a: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char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*</a:t>
            </a:r>
            <a:r>
              <a:rPr sz="1800" spc="-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=</a:t>
            </a:r>
            <a:r>
              <a:rPr sz="1800" spc="-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6FC0"/>
                </a:solidFill>
                <a:latin typeface="Arial MT"/>
                <a:cs typeface="Arial MT"/>
              </a:rPr>
              <a:t>"</a:t>
            </a:r>
            <a:r>
              <a:rPr sz="1800" spc="-2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6FC0"/>
                </a:solidFill>
                <a:latin typeface="Arial MT"/>
                <a:cs typeface="Arial MT"/>
              </a:rPr>
              <a:t>"</a:t>
            </a:r>
            <a:r>
              <a:rPr sz="1800" spc="-2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);</a:t>
            </a:r>
            <a:r>
              <a:rPr sz="1800" spc="-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B04F"/>
                </a:solidFill>
                <a:latin typeface="Arial MT"/>
                <a:cs typeface="Arial MT"/>
              </a:rPr>
              <a:t>//</a:t>
            </a:r>
            <a:r>
              <a:rPr sz="1800" spc="-30" dirty="0">
                <a:solidFill>
                  <a:srgbClr val="00B04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B04F"/>
                </a:solidFill>
                <a:latin typeface="Arial MT"/>
                <a:cs typeface="Arial MT"/>
              </a:rPr>
              <a:t>fonction</a:t>
            </a:r>
            <a:r>
              <a:rPr sz="1800" spc="-10" dirty="0">
                <a:solidFill>
                  <a:srgbClr val="00B04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B04F"/>
                </a:solidFill>
                <a:latin typeface="Arial MT"/>
                <a:cs typeface="Arial MT"/>
              </a:rPr>
              <a:t>afficher():</a:t>
            </a:r>
            <a:r>
              <a:rPr sz="1800" spc="-20" dirty="0">
                <a:solidFill>
                  <a:srgbClr val="00B04F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00B04F"/>
                </a:solidFill>
                <a:latin typeface="Arial MT"/>
                <a:cs typeface="Arial MT"/>
              </a:rPr>
              <a:t>un</a:t>
            </a:r>
            <a:r>
              <a:rPr sz="1800" dirty="0">
                <a:solidFill>
                  <a:srgbClr val="00B04F"/>
                </a:solidFill>
                <a:latin typeface="Arial MT"/>
                <a:cs typeface="Arial MT"/>
              </a:rPr>
              <a:t>	argument</a:t>
            </a:r>
            <a:r>
              <a:rPr sz="1800" spc="-20" dirty="0">
                <a:solidFill>
                  <a:srgbClr val="00B04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B04F"/>
                </a:solidFill>
                <a:latin typeface="Arial MT"/>
                <a:cs typeface="Arial MT"/>
              </a:rPr>
              <a:t>par</a:t>
            </a:r>
            <a:r>
              <a:rPr sz="1800" spc="-15" dirty="0">
                <a:solidFill>
                  <a:srgbClr val="00B04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0B04F"/>
                </a:solidFill>
                <a:latin typeface="Arial MT"/>
                <a:cs typeface="Arial MT"/>
              </a:rPr>
              <a:t>défaut </a:t>
            </a: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void</a:t>
            </a:r>
            <a:r>
              <a:rPr sz="1800" spc="-4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B0F0"/>
                </a:solidFill>
                <a:latin typeface="Arial MT"/>
                <a:cs typeface="Arial MT"/>
              </a:rPr>
              <a:t>Point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::</a:t>
            </a:r>
            <a:r>
              <a:rPr sz="1800" dirty="0">
                <a:latin typeface="Arial MT"/>
                <a:cs typeface="Arial MT"/>
              </a:rPr>
              <a:t>afficher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(</a:t>
            </a:r>
            <a:r>
              <a:rPr sz="1800" dirty="0">
                <a:solidFill>
                  <a:srgbClr val="001F5F"/>
                </a:solidFill>
                <a:latin typeface="Arial MT"/>
                <a:cs typeface="Arial MT"/>
              </a:rPr>
              <a:t>char</a:t>
            </a:r>
            <a:r>
              <a:rPr sz="1800" spc="-4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*</a:t>
            </a:r>
            <a:r>
              <a:rPr sz="1800" dirty="0">
                <a:latin typeface="Arial MT"/>
                <a:cs typeface="Arial MT"/>
              </a:rPr>
              <a:t>msg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)</a:t>
            </a:r>
            <a:r>
              <a:rPr sz="1800" spc="-5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Arial MT"/>
                <a:cs typeface="Arial MT"/>
              </a:rPr>
              <a:t>{</a:t>
            </a:r>
            <a:endParaRPr sz="1800">
              <a:latin typeface="Arial MT"/>
              <a:cs typeface="Arial MT"/>
            </a:endParaRPr>
          </a:p>
          <a:p>
            <a:pPr marL="378460">
              <a:lnSpc>
                <a:spcPct val="100000"/>
              </a:lnSpc>
              <a:spcBef>
                <a:spcPts val="170"/>
              </a:spcBef>
            </a:pPr>
            <a:r>
              <a:rPr sz="1800" dirty="0">
                <a:solidFill>
                  <a:srgbClr val="009900"/>
                </a:solidFill>
                <a:latin typeface="Arial MT"/>
                <a:cs typeface="Arial MT"/>
              </a:rPr>
              <a:t>cout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&lt;&lt;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msg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&lt;&lt;</a:t>
            </a:r>
            <a:r>
              <a:rPr sz="1800" spc="-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6FC0"/>
                </a:solidFill>
                <a:latin typeface="Arial MT"/>
                <a:cs typeface="Arial MT"/>
              </a:rPr>
              <a:t>"("</a:t>
            </a:r>
            <a:r>
              <a:rPr sz="1800" spc="-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&lt;&lt;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x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&lt;&lt;</a:t>
            </a:r>
            <a:r>
              <a:rPr sz="1800" spc="-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6FC0"/>
                </a:solidFill>
                <a:latin typeface="Arial MT"/>
                <a:cs typeface="Arial MT"/>
              </a:rPr>
              <a:t>","</a:t>
            </a:r>
            <a:r>
              <a:rPr sz="1800" spc="-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&lt;&lt;</a:t>
            </a:r>
            <a:r>
              <a:rPr sz="1800" dirty="0">
                <a:latin typeface="Arial MT"/>
                <a:cs typeface="Arial MT"/>
              </a:rPr>
              <a:t>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&lt;&lt;</a:t>
            </a:r>
            <a:r>
              <a:rPr sz="1800" spc="-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6FC0"/>
                </a:solidFill>
                <a:latin typeface="Arial MT"/>
                <a:cs typeface="Arial MT"/>
              </a:rPr>
              <a:t>")"</a:t>
            </a:r>
            <a:r>
              <a:rPr sz="1800" spc="-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&lt;&lt;</a:t>
            </a:r>
            <a:r>
              <a:rPr sz="1800" spc="-10" dirty="0">
                <a:solidFill>
                  <a:srgbClr val="009900"/>
                </a:solidFill>
                <a:latin typeface="Arial MT"/>
                <a:cs typeface="Arial MT"/>
              </a:rPr>
              <a:t>endl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;</a:t>
            </a:r>
            <a:endParaRPr sz="1800">
              <a:latin typeface="Arial MT"/>
              <a:cs typeface="Arial MT"/>
            </a:endParaRPr>
          </a:p>
          <a:p>
            <a:pPr marL="441959">
              <a:lnSpc>
                <a:spcPct val="100000"/>
              </a:lnSpc>
              <a:spcBef>
                <a:spcPts val="165"/>
              </a:spcBef>
            </a:pPr>
            <a:r>
              <a:rPr sz="1800" spc="-50" dirty="0">
                <a:solidFill>
                  <a:srgbClr val="FF0000"/>
                </a:solidFill>
                <a:latin typeface="Arial MT"/>
                <a:cs typeface="Arial MT"/>
              </a:rPr>
              <a:t>}</a:t>
            </a:r>
            <a:endParaRPr sz="1800">
              <a:latin typeface="Arial MT"/>
              <a:cs typeface="Arial MT"/>
            </a:endParaRPr>
          </a:p>
          <a:p>
            <a:pPr marL="378460">
              <a:lnSpc>
                <a:spcPct val="100000"/>
              </a:lnSpc>
              <a:spcBef>
                <a:spcPts val="170"/>
              </a:spcBef>
            </a:pPr>
            <a:r>
              <a:rPr sz="1800" dirty="0">
                <a:solidFill>
                  <a:srgbClr val="00B0F0"/>
                </a:solidFill>
                <a:latin typeface="Arial MT"/>
                <a:cs typeface="Arial MT"/>
              </a:rPr>
              <a:t>Point</a:t>
            </a:r>
            <a:r>
              <a:rPr sz="1800" spc="-114" dirty="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A</a:t>
            </a:r>
            <a:r>
              <a:rPr sz="1800" spc="-25" dirty="0">
                <a:solidFill>
                  <a:srgbClr val="FF0000"/>
                </a:solidFill>
                <a:latin typeface="Arial MT"/>
                <a:cs typeface="Arial MT"/>
              </a:rPr>
              <a:t>;</a:t>
            </a:r>
            <a:endParaRPr sz="1800">
              <a:latin typeface="Arial MT"/>
              <a:cs typeface="Arial MT"/>
            </a:endParaRPr>
          </a:p>
          <a:p>
            <a:pPr marL="593725" lvl="1" indent="-217804">
              <a:lnSpc>
                <a:spcPct val="100000"/>
              </a:lnSpc>
              <a:spcBef>
                <a:spcPts val="165"/>
              </a:spcBef>
              <a:buSzPct val="94444"/>
              <a:buAutoNum type="alphaUcPeriod"/>
              <a:tabLst>
                <a:tab pos="593725" algn="l"/>
                <a:tab pos="1682750" algn="l"/>
              </a:tabLst>
            </a:pPr>
            <a:r>
              <a:rPr sz="1800" spc="-10" dirty="0">
                <a:latin typeface="Arial MT"/>
                <a:cs typeface="Arial MT"/>
              </a:rPr>
              <a:t>afficher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();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	</a:t>
            </a:r>
            <a:r>
              <a:rPr sz="1800" dirty="0">
                <a:solidFill>
                  <a:srgbClr val="00B04F"/>
                </a:solidFill>
                <a:latin typeface="Arial MT"/>
                <a:cs typeface="Arial MT"/>
              </a:rPr>
              <a:t>//affichage:</a:t>
            </a:r>
            <a:r>
              <a:rPr sz="1800" spc="-45" dirty="0">
                <a:solidFill>
                  <a:srgbClr val="00B04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B04F"/>
                </a:solidFill>
                <a:latin typeface="Arial MT"/>
                <a:cs typeface="Arial MT"/>
              </a:rPr>
              <a:t>(0,</a:t>
            </a:r>
            <a:r>
              <a:rPr sz="1800" spc="-35" dirty="0">
                <a:solidFill>
                  <a:srgbClr val="00B04F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00B04F"/>
                </a:solidFill>
                <a:latin typeface="Arial MT"/>
                <a:cs typeface="Arial MT"/>
              </a:rPr>
              <a:t>0)</a:t>
            </a:r>
            <a:endParaRPr sz="1800">
              <a:latin typeface="Arial MT"/>
              <a:cs typeface="Arial MT"/>
            </a:endParaRPr>
          </a:p>
          <a:p>
            <a:pPr marL="378460">
              <a:lnSpc>
                <a:spcPct val="100000"/>
              </a:lnSpc>
              <a:spcBef>
                <a:spcPts val="170"/>
              </a:spcBef>
            </a:pPr>
            <a:r>
              <a:rPr sz="1800" dirty="0">
                <a:solidFill>
                  <a:srgbClr val="00B0F0"/>
                </a:solidFill>
                <a:latin typeface="Arial MT"/>
                <a:cs typeface="Arial MT"/>
              </a:rPr>
              <a:t>Point</a:t>
            </a:r>
            <a:r>
              <a:rPr sz="1800" spc="-20" dirty="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(</a:t>
            </a:r>
            <a:r>
              <a:rPr sz="1800" dirty="0">
                <a:solidFill>
                  <a:srgbClr val="FF32CC"/>
                </a:solidFill>
                <a:latin typeface="Arial MT"/>
                <a:cs typeface="Arial MT"/>
              </a:rPr>
              <a:t>1.5,</a:t>
            </a:r>
            <a:r>
              <a:rPr sz="1800" spc="-15" dirty="0">
                <a:solidFill>
                  <a:srgbClr val="FF32CC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FF32CC"/>
                </a:solidFill>
                <a:latin typeface="Arial MT"/>
                <a:cs typeface="Arial MT"/>
              </a:rPr>
              <a:t>2.5</a:t>
            </a:r>
            <a:r>
              <a:rPr sz="1800" spc="-20" dirty="0">
                <a:solidFill>
                  <a:srgbClr val="FF0000"/>
                </a:solidFill>
                <a:latin typeface="Arial MT"/>
                <a:cs typeface="Arial MT"/>
              </a:rPr>
              <a:t>);</a:t>
            </a:r>
            <a:endParaRPr sz="1800">
              <a:latin typeface="Arial MT"/>
              <a:cs typeface="Arial MT"/>
            </a:endParaRPr>
          </a:p>
          <a:p>
            <a:pPr marL="593725" lvl="1" indent="-217804">
              <a:lnSpc>
                <a:spcPct val="100000"/>
              </a:lnSpc>
              <a:spcBef>
                <a:spcPts val="170"/>
              </a:spcBef>
              <a:buSzPct val="94444"/>
              <a:buAutoNum type="alphaUcPeriod" startAt="2"/>
              <a:tabLst>
                <a:tab pos="593725" algn="l"/>
              </a:tabLst>
            </a:pPr>
            <a:r>
              <a:rPr sz="1800" dirty="0">
                <a:latin typeface="Arial MT"/>
                <a:cs typeface="Arial MT"/>
              </a:rPr>
              <a:t>afficher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(</a:t>
            </a:r>
            <a:r>
              <a:rPr sz="1800" dirty="0">
                <a:solidFill>
                  <a:srgbClr val="006FC0"/>
                </a:solidFill>
                <a:latin typeface="Arial MT"/>
                <a:cs typeface="Arial MT"/>
              </a:rPr>
              <a:t>"</a:t>
            </a:r>
            <a:r>
              <a:rPr sz="1800" spc="-4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6FC0"/>
                </a:solidFill>
                <a:latin typeface="Arial MT"/>
                <a:cs typeface="Arial MT"/>
              </a:rPr>
              <a:t>Point</a:t>
            </a:r>
            <a:r>
              <a:rPr sz="1800" spc="-1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6FC0"/>
                </a:solidFill>
                <a:latin typeface="Arial MT"/>
                <a:cs typeface="Arial MT"/>
              </a:rPr>
              <a:t>B"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);</a:t>
            </a:r>
            <a:r>
              <a:rPr sz="1800" spc="-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B04F"/>
                </a:solidFill>
                <a:latin typeface="Arial MT"/>
                <a:cs typeface="Arial MT"/>
              </a:rPr>
              <a:t>//</a:t>
            </a:r>
            <a:r>
              <a:rPr sz="1800" spc="-30" dirty="0">
                <a:solidFill>
                  <a:srgbClr val="00B04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B04F"/>
                </a:solidFill>
                <a:latin typeface="Arial MT"/>
                <a:cs typeface="Arial MT"/>
              </a:rPr>
              <a:t>affichage</a:t>
            </a:r>
            <a:r>
              <a:rPr sz="1800" spc="-10" dirty="0">
                <a:solidFill>
                  <a:srgbClr val="00B04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B04F"/>
                </a:solidFill>
                <a:latin typeface="Arial MT"/>
                <a:cs typeface="Arial MT"/>
              </a:rPr>
              <a:t>:</a:t>
            </a:r>
            <a:r>
              <a:rPr sz="1800" spc="-30" dirty="0">
                <a:solidFill>
                  <a:srgbClr val="00B04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B04F"/>
                </a:solidFill>
                <a:latin typeface="Arial MT"/>
                <a:cs typeface="Arial MT"/>
              </a:rPr>
              <a:t>Point</a:t>
            </a:r>
            <a:r>
              <a:rPr sz="1800" spc="-25" dirty="0">
                <a:solidFill>
                  <a:srgbClr val="00B04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B04F"/>
                </a:solidFill>
                <a:latin typeface="Arial MT"/>
                <a:cs typeface="Arial MT"/>
              </a:rPr>
              <a:t>B(1.5,</a:t>
            </a:r>
            <a:r>
              <a:rPr sz="1800" spc="-20" dirty="0">
                <a:solidFill>
                  <a:srgbClr val="00B04F"/>
                </a:solidFill>
                <a:latin typeface="Arial MT"/>
                <a:cs typeface="Arial MT"/>
              </a:rPr>
              <a:t> 2.5)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24179" rIns="0" bIns="0" rtlCol="0">
            <a:spAutoFit/>
          </a:bodyPr>
          <a:lstStyle/>
          <a:p>
            <a:pPr marL="289560">
              <a:lnSpc>
                <a:spcPct val="100000"/>
              </a:lnSpc>
              <a:spcBef>
                <a:spcPts val="100"/>
              </a:spcBef>
            </a:pPr>
            <a:r>
              <a:rPr spc="-310" dirty="0"/>
              <a:t>Propriétés</a:t>
            </a:r>
            <a:r>
              <a:rPr b="0" spc="75" dirty="0">
                <a:latin typeface="Times New Roman"/>
                <a:cs typeface="Times New Roman"/>
              </a:rPr>
              <a:t> </a:t>
            </a:r>
            <a:r>
              <a:rPr spc="-360" dirty="0"/>
              <a:t>des</a:t>
            </a:r>
            <a:r>
              <a:rPr b="0" spc="70" dirty="0">
                <a:latin typeface="Times New Roman"/>
                <a:cs typeface="Times New Roman"/>
              </a:rPr>
              <a:t> </a:t>
            </a:r>
            <a:r>
              <a:rPr spc="-310" dirty="0"/>
              <a:t>fonctions</a:t>
            </a:r>
            <a:r>
              <a:rPr b="0" spc="100" dirty="0">
                <a:latin typeface="Times New Roman"/>
                <a:cs typeface="Times New Roman"/>
              </a:rPr>
              <a:t> </a:t>
            </a:r>
            <a:r>
              <a:rPr spc="-335" dirty="0"/>
              <a:t>membres</a:t>
            </a:r>
          </a:p>
        </p:txBody>
      </p:sp>
      <p:sp>
        <p:nvSpPr>
          <p:cNvPr id="4" name="object 4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0828" y="1611883"/>
            <a:ext cx="2679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138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073" y="1862327"/>
            <a:ext cx="533400" cy="5080"/>
          </a:xfrm>
          <a:custGeom>
            <a:avLst/>
            <a:gdLst/>
            <a:ahLst/>
            <a:cxnLst/>
            <a:rect l="l" t="t" r="r" b="b"/>
            <a:pathLst>
              <a:path w="533400" h="5080">
                <a:moveTo>
                  <a:pt x="0" y="4571"/>
                </a:moveTo>
                <a:lnTo>
                  <a:pt x="533399" y="4571"/>
                </a:lnTo>
                <a:lnTo>
                  <a:pt x="533399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972" rIns="0" bIns="0" rtlCol="0">
            <a:spAutoFit/>
          </a:bodyPr>
          <a:lstStyle/>
          <a:p>
            <a:pPr marL="445134">
              <a:lnSpc>
                <a:spcPct val="100000"/>
              </a:lnSpc>
              <a:spcBef>
                <a:spcPts val="100"/>
              </a:spcBef>
            </a:pPr>
            <a:r>
              <a:rPr spc="-275" dirty="0"/>
              <a:t>Typologie</a:t>
            </a:r>
            <a:r>
              <a:rPr b="0" spc="90" dirty="0">
                <a:latin typeface="Times New Roman"/>
                <a:cs typeface="Times New Roman"/>
              </a:rPr>
              <a:t> </a:t>
            </a:r>
            <a:r>
              <a:rPr spc="-360" dirty="0"/>
              <a:t>des</a:t>
            </a:r>
            <a:r>
              <a:rPr b="0" spc="75" dirty="0">
                <a:latin typeface="Times New Roman"/>
                <a:cs typeface="Times New Roman"/>
              </a:rPr>
              <a:t> </a:t>
            </a:r>
            <a:r>
              <a:rPr spc="-330" dirty="0"/>
              <a:t>méthodes</a:t>
            </a:r>
            <a:r>
              <a:rPr b="0" spc="90" dirty="0">
                <a:latin typeface="Times New Roman"/>
                <a:cs typeface="Times New Roman"/>
              </a:rPr>
              <a:t> </a:t>
            </a:r>
            <a:r>
              <a:rPr spc="-260" dirty="0"/>
              <a:t>d’une</a:t>
            </a:r>
            <a:r>
              <a:rPr b="0" spc="90" dirty="0">
                <a:latin typeface="Times New Roman"/>
                <a:cs typeface="Times New Roman"/>
              </a:rPr>
              <a:t> </a:t>
            </a:r>
            <a:r>
              <a:rPr spc="-345" dirty="0"/>
              <a:t>classe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8852" y="1649583"/>
            <a:ext cx="242570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141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7864" y="1887727"/>
            <a:ext cx="8985250" cy="394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105" marR="134620" indent="-320040">
              <a:lnSpc>
                <a:spcPct val="100000"/>
              </a:lnSpc>
              <a:spcBef>
                <a:spcPts val="100"/>
              </a:spcBef>
              <a:buClr>
                <a:srgbClr val="006FC0"/>
              </a:buClr>
              <a:buSzPct val="58333"/>
              <a:buFont typeface="Wingdings"/>
              <a:buChar char=""/>
              <a:tabLst>
                <a:tab pos="332105" algn="l"/>
              </a:tabLst>
            </a:pPr>
            <a:r>
              <a:rPr sz="2400" dirty="0">
                <a:latin typeface="Times New Roman"/>
                <a:cs typeface="Times New Roman"/>
              </a:rPr>
              <a:t>Parmi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différentes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méthodes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comporte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classe,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souvent </a:t>
            </a:r>
            <a:r>
              <a:rPr sz="2400" dirty="0">
                <a:latin typeface="Times New Roman"/>
                <a:cs typeface="Times New Roman"/>
              </a:rPr>
              <a:t>tendance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à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distinguer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517525" lvl="1" indent="-238760">
              <a:lnSpc>
                <a:spcPct val="100000"/>
              </a:lnSpc>
              <a:spcBef>
                <a:spcPts val="695"/>
              </a:spcBef>
              <a:buClr>
                <a:srgbClr val="006FC0"/>
              </a:buClr>
              <a:buSzPct val="58333"/>
              <a:buFont typeface="Wingdings"/>
              <a:buChar char=""/>
              <a:tabLst>
                <a:tab pos="517525" algn="l"/>
              </a:tabLst>
            </a:pPr>
            <a:r>
              <a:rPr sz="2400" b="1" dirty="0">
                <a:latin typeface="Times New Roman"/>
                <a:cs typeface="Times New Roman"/>
              </a:rPr>
              <a:t>Les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constructeurs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et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les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destructeurs</a:t>
            </a:r>
            <a:r>
              <a:rPr sz="2400" spc="-10" dirty="0"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  <a:p>
            <a:pPr marL="332105" marR="5080" lvl="1" indent="-53340">
              <a:lnSpc>
                <a:spcPct val="100000"/>
              </a:lnSpc>
              <a:spcBef>
                <a:spcPts val="705"/>
              </a:spcBef>
              <a:buClr>
                <a:srgbClr val="006FC0"/>
              </a:buClr>
              <a:buSzPct val="58333"/>
              <a:buFont typeface="Wingdings"/>
              <a:buChar char=""/>
              <a:tabLst>
                <a:tab pos="332105" algn="l"/>
                <a:tab pos="517525" algn="l"/>
              </a:tabLst>
            </a:pPr>
            <a:r>
              <a:rPr sz="2400" b="1" dirty="0">
                <a:latin typeface="Times New Roman"/>
                <a:cs typeface="Times New Roman"/>
              </a:rPr>
              <a:t>	Les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méthodes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d’accès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(en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anglais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accessor/getter</a:t>
            </a:r>
            <a:r>
              <a:rPr sz="2400" dirty="0">
                <a:latin typeface="Times New Roman"/>
                <a:cs typeface="Times New Roman"/>
              </a:rPr>
              <a:t>),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bon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français </a:t>
            </a:r>
            <a:r>
              <a:rPr sz="2400" dirty="0">
                <a:latin typeface="Times New Roman"/>
                <a:cs typeface="Times New Roman"/>
              </a:rPr>
              <a:t>accesseurs,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qui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fournissent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informations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relatives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à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l’état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d’un </a:t>
            </a:r>
            <a:r>
              <a:rPr sz="2400" dirty="0">
                <a:latin typeface="Times New Roman"/>
                <a:cs typeface="Times New Roman"/>
              </a:rPr>
              <a:t>objet,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c’est-à-</a:t>
            </a:r>
            <a:r>
              <a:rPr sz="2400" dirty="0">
                <a:latin typeface="Times New Roman"/>
                <a:cs typeface="Times New Roman"/>
              </a:rPr>
              <a:t>dire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aux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valeurs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certains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champs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(généralement </a:t>
            </a:r>
            <a:r>
              <a:rPr sz="2400" dirty="0">
                <a:latin typeface="Times New Roman"/>
                <a:cs typeface="Times New Roman"/>
              </a:rPr>
              <a:t>privés),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sans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modifier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  <a:p>
            <a:pPr marL="332740" marR="575945" lvl="1" indent="-53340" algn="just">
              <a:lnSpc>
                <a:spcPct val="100000"/>
              </a:lnSpc>
              <a:spcBef>
                <a:spcPts val="700"/>
              </a:spcBef>
              <a:buClr>
                <a:srgbClr val="006FC0"/>
              </a:buClr>
              <a:buSzPct val="58333"/>
              <a:buFont typeface="Wingdings"/>
              <a:buChar char=""/>
              <a:tabLst>
                <a:tab pos="332740" algn="l"/>
                <a:tab pos="518159" algn="l"/>
              </a:tabLst>
            </a:pPr>
            <a:r>
              <a:rPr sz="2400" b="1" dirty="0">
                <a:latin typeface="Times New Roman"/>
                <a:cs typeface="Times New Roman"/>
              </a:rPr>
              <a:t>	Les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méthodes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d’altération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(en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anglais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mutator/setter</a:t>
            </a:r>
            <a:r>
              <a:rPr sz="2400" dirty="0">
                <a:latin typeface="Times New Roman"/>
                <a:cs typeface="Times New Roman"/>
              </a:rPr>
              <a:t>),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bon </a:t>
            </a:r>
            <a:r>
              <a:rPr sz="2400" dirty="0">
                <a:latin typeface="Times New Roman"/>
                <a:cs typeface="Times New Roman"/>
              </a:rPr>
              <a:t>français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manipulateur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ou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mutateur,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qui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modifient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l’état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d’un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objet, </a:t>
            </a:r>
            <a:r>
              <a:rPr sz="2400" dirty="0">
                <a:latin typeface="Times New Roman"/>
                <a:cs typeface="Times New Roman"/>
              </a:rPr>
              <a:t>donc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valeurs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certains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champs.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80828" y="1611883"/>
            <a:ext cx="2679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141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8852" y="1649583"/>
            <a:ext cx="242570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50" dirty="0">
                <a:solidFill>
                  <a:srgbClr val="548BB8"/>
                </a:solidFill>
                <a:latin typeface="Arial"/>
                <a:cs typeface="Arial"/>
              </a:rPr>
              <a:t>142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00868" y="1038859"/>
            <a:ext cx="848994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dirty="0">
                <a:solidFill>
                  <a:srgbClr val="548BB8"/>
                </a:solidFill>
                <a:latin typeface="Arial"/>
                <a:cs typeface="Arial"/>
              </a:rPr>
              <a:t>Q</a:t>
            </a:r>
            <a:r>
              <a:rPr sz="2500" spc="-85" dirty="0">
                <a:solidFill>
                  <a:srgbClr val="548BB8"/>
                </a:solidFill>
                <a:latin typeface="Times New Roman"/>
                <a:cs typeface="Times New Roman"/>
              </a:rPr>
              <a:t> </a:t>
            </a:r>
            <a:r>
              <a:rPr sz="2500" b="1" spc="-235" dirty="0">
                <a:solidFill>
                  <a:srgbClr val="548BB8"/>
                </a:solidFill>
                <a:latin typeface="Arial"/>
                <a:cs typeface="Arial"/>
              </a:rPr>
              <a:t>&amp;</a:t>
            </a:r>
            <a:r>
              <a:rPr sz="2500" spc="50" dirty="0">
                <a:solidFill>
                  <a:srgbClr val="548BB8"/>
                </a:solidFill>
                <a:latin typeface="Times New Roman"/>
                <a:cs typeface="Times New Roman"/>
              </a:rPr>
              <a:t> </a:t>
            </a:r>
            <a:r>
              <a:rPr sz="2500" b="1" spc="-50" dirty="0">
                <a:solidFill>
                  <a:srgbClr val="548BB8"/>
                </a:solidFill>
                <a:latin typeface="Arial"/>
                <a:cs typeface="Arial"/>
              </a:rPr>
              <a:t>A</a:t>
            </a:r>
            <a:endParaRPr sz="25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4073" y="2107691"/>
            <a:ext cx="9143996" cy="4911852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774073" y="1618487"/>
            <a:ext cx="684530" cy="243840"/>
          </a:xfrm>
          <a:custGeom>
            <a:avLst/>
            <a:gdLst/>
            <a:ahLst/>
            <a:cxnLst/>
            <a:rect l="l" t="t" r="r" b="b"/>
            <a:pathLst>
              <a:path w="684530" h="243839">
                <a:moveTo>
                  <a:pt x="684275" y="243839"/>
                </a:moveTo>
                <a:lnTo>
                  <a:pt x="684275" y="0"/>
                </a:lnTo>
                <a:lnTo>
                  <a:pt x="0" y="0"/>
                </a:lnTo>
                <a:lnTo>
                  <a:pt x="0" y="243839"/>
                </a:lnTo>
                <a:lnTo>
                  <a:pt x="684275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74073" y="1611883"/>
            <a:ext cx="5918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9075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142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730</TotalTime>
  <Words>4952</Words>
  <Application>Microsoft Office PowerPoint</Application>
  <PresentationFormat>Personnalisé</PresentationFormat>
  <Paragraphs>1061</Paragraphs>
  <Slides>101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101</vt:i4>
      </vt:variant>
    </vt:vector>
  </HeadingPairs>
  <TitlesOfParts>
    <vt:vector size="106" baseType="lpstr">
      <vt:lpstr>Arial</vt:lpstr>
      <vt:lpstr>Arial MT</vt:lpstr>
      <vt:lpstr>Times New Roman</vt:lpstr>
      <vt:lpstr>Wingdings</vt:lpstr>
      <vt:lpstr>Office Theme</vt:lpstr>
      <vt:lpstr>Programmation Orientée Objet en C++: Classes et Objets</vt:lpstr>
      <vt:lpstr>Notion de classe</vt:lpstr>
      <vt:lpstr>Notion de classe</vt:lpstr>
      <vt:lpstr>Notion de classe</vt:lpstr>
      <vt:lpstr>Définition d’une classe</vt:lpstr>
      <vt:lpstr>Définition d’une classe</vt:lpstr>
      <vt:lpstr>Définition d’une classe</vt:lpstr>
      <vt:lpstr>Déclaration des attributs</vt:lpstr>
      <vt:lpstr>Déclaration des attributs</vt:lpstr>
      <vt:lpstr>Déclaration des attributs</vt:lpstr>
      <vt:lpstr>Portée des attributs</vt:lpstr>
      <vt:lpstr>Portée des attributs</vt:lpstr>
      <vt:lpstr>Définition des méthodes</vt:lpstr>
      <vt:lpstr>Définition des méthodes</vt:lpstr>
      <vt:lpstr>Définition des méthodes</vt:lpstr>
      <vt:lpstr>Définition des méthodes</vt:lpstr>
      <vt:lpstr>Définition des méthodes</vt:lpstr>
      <vt:lpstr>Définition des méthodes</vt:lpstr>
      <vt:lpstr>Définition des méthodes</vt:lpstr>
      <vt:lpstr>La récursivité des méthodes</vt:lpstr>
      <vt:lpstr>Définition des méthodes</vt:lpstr>
      <vt:lpstr>Définition des méthodes</vt:lpstr>
      <vt:lpstr>Définition des méthodes</vt:lpstr>
      <vt:lpstr>Portée des variables</vt:lpstr>
      <vt:lpstr>Portée des variables</vt:lpstr>
      <vt:lpstr>Définition externe des méthodes</vt:lpstr>
      <vt:lpstr>Définition externe des méthodes</vt:lpstr>
      <vt:lpstr>Actions et Prédicats</vt:lpstr>
      <vt:lpstr>Actions et Prédicats</vt:lpstr>
      <vt:lpstr>Déclaration d’objets</vt:lpstr>
      <vt:lpstr>Utilisation des objets</vt:lpstr>
      <vt:lpstr>Accès aux attributs</vt:lpstr>
      <vt:lpstr>Accès aux attributs</vt:lpstr>
      <vt:lpstr>Appel aux méthodes</vt:lpstr>
      <vt:lpstr>Appel aux méthodes</vt:lpstr>
      <vt:lpstr>Accès aux attributs et méthodes</vt:lpstr>
      <vt:lpstr>Encapsulation</vt:lpstr>
      <vt:lpstr>Encapsulation et interface</vt:lpstr>
      <vt:lpstr>Encapsulation et interface</vt:lpstr>
      <vt:lpstr>Encapsulation et interface</vt:lpstr>
      <vt:lpstr>Encapsulation et interface</vt:lpstr>
      <vt:lpstr>Encapsulation et interface</vt:lpstr>
      <vt:lpstr>Accesseurs et manipulateurs</vt:lpstr>
      <vt:lpstr>Accesseurs et manipulateurs</vt:lpstr>
      <vt:lpstr>Accesseurs et manipulateurs</vt:lpstr>
      <vt:lpstr>Masquage et pointeur this</vt:lpstr>
      <vt:lpstr>Pointeur sur l’objet courant : this</vt:lpstr>
      <vt:lpstr>Pointeur sur l’objet courant : this</vt:lpstr>
      <vt:lpstr>Classes et Objets</vt:lpstr>
      <vt:lpstr>Classes et Objets</vt:lpstr>
      <vt:lpstr>Classes et Objets</vt:lpstr>
      <vt:lpstr>Classes et Objets</vt:lpstr>
      <vt:lpstr>Classes et Objets</vt:lpstr>
      <vt:lpstr>Constructeurs</vt:lpstr>
      <vt:lpstr>Constructeurs</vt:lpstr>
      <vt:lpstr>Constructeurs</vt:lpstr>
      <vt:lpstr>Constructeurs</vt:lpstr>
      <vt:lpstr>Constructeurs</vt:lpstr>
      <vt:lpstr>Constructeurs</vt:lpstr>
      <vt:lpstr>Constructeurs</vt:lpstr>
      <vt:lpstr>Constructeurs</vt:lpstr>
      <vt:lpstr>Constructeurs</vt:lpstr>
      <vt:lpstr>Instanciation des objets</vt:lpstr>
      <vt:lpstr>Instanciation des objets</vt:lpstr>
      <vt:lpstr>Constructeur par défaut</vt:lpstr>
      <vt:lpstr>Chaînage des constructeurs</vt:lpstr>
      <vt:lpstr>Initialisation par défaut des attributs</vt:lpstr>
      <vt:lpstr>Constructeur de copie</vt:lpstr>
      <vt:lpstr>Constructeur de copie</vt:lpstr>
      <vt:lpstr>Constructeur de copie</vt:lpstr>
      <vt:lpstr>Constructeur de copie</vt:lpstr>
      <vt:lpstr>Constructeur de copie</vt:lpstr>
      <vt:lpstr>Constructeur de copie</vt:lpstr>
      <vt:lpstr>Constructeur de copie</vt:lpstr>
      <vt:lpstr>Constructeur de copie</vt:lpstr>
      <vt:lpstr>Suppression du constructeur de copie</vt:lpstr>
      <vt:lpstr>Destructeur</vt:lpstr>
      <vt:lpstr>Destructeur</vt:lpstr>
      <vt:lpstr>Destructeur</vt:lpstr>
      <vt:lpstr>Mise en œuvre d’un programme comportant plusieurs fichiers</vt:lpstr>
      <vt:lpstr>Mise en œuvre d’un programme comportant plusieurs fichiers</vt:lpstr>
      <vt:lpstr>Mise en œuvre d’un programme comportant plusieurs fichiers</vt:lpstr>
      <vt:lpstr>Mise en œuvre d’un programme comportant plusieurs classes</vt:lpstr>
      <vt:lpstr>Surcharge des méthodes</vt:lpstr>
      <vt:lpstr>Surcharge des méthodes</vt:lpstr>
      <vt:lpstr>Variables et méthodes d’instance</vt:lpstr>
      <vt:lpstr>Variables et méthodes d’instance</vt:lpstr>
      <vt:lpstr>Membres de classe: static</vt:lpstr>
      <vt:lpstr>Membres de classe: static</vt:lpstr>
      <vt:lpstr>Variables de classe: static</vt:lpstr>
      <vt:lpstr>Variables de classe</vt:lpstr>
      <vt:lpstr>Variables de classe</vt:lpstr>
      <vt:lpstr>Variables de classe</vt:lpstr>
      <vt:lpstr>Méthodes de classe</vt:lpstr>
      <vt:lpstr>Méthodes de classe</vt:lpstr>
      <vt:lpstr>Propriétés des fonctions membres</vt:lpstr>
      <vt:lpstr>Propriétés des fonctions membres</vt:lpstr>
      <vt:lpstr>Propriétés des fonctions membres</vt:lpstr>
      <vt:lpstr>Propriétés des fonctions membres</vt:lpstr>
      <vt:lpstr>Typologie des méthodes d’une classe</vt:lpstr>
      <vt:lpstr>Présentation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Chapitre5CppClassEtObjet</dc:title>
  <dc:creator>hp</dc:creator>
  <cp:keywords>()</cp:keywords>
  <cp:lastModifiedBy>Utilisateur Windows</cp:lastModifiedBy>
  <cp:revision>8</cp:revision>
  <dcterms:created xsi:type="dcterms:W3CDTF">2024-03-05T22:53:03Z</dcterms:created>
  <dcterms:modified xsi:type="dcterms:W3CDTF">2024-03-06T11:04:22Z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2018-12-31T00:00:00Z</vt:filetime>
  </property>
  <property fmtid="{D5CDD505-2E9C-101B-9397-08002B2CF9AE}" pid="3" name="Creator">
    <vt:lpwstr>PDFCreator Version 1.7.2</vt:lpwstr>
  </property>
  <property fmtid="{D5CDD505-2E9C-101B-9397-08002B2CF9AE}" pid="4" name="LastSaved">
    <vt:filetime>2024-03-05T00:00:00Z</vt:filetime>
  </property>
  <property fmtid="{D5CDD505-2E9C-101B-9397-08002B2CF9AE}" pid="5" name="Producer">
    <vt:lpwstr>GPL Ghostscript 9.10</vt:lpwstr>
  </property>
</Properties>
</file>