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32" r:id="rId73"/>
    <p:sldId id="333" r:id="rId74"/>
  </p:sldIdLst>
  <p:sldSz cx="10693400" cy="7556500"/>
  <p:notesSz cx="10693400" cy="7556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168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365385" y="1629155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7" y="228599"/>
                </a:moveTo>
                <a:lnTo>
                  <a:pt x="8552687" y="0"/>
                </a:lnTo>
                <a:lnTo>
                  <a:pt x="0" y="0"/>
                </a:lnTo>
                <a:lnTo>
                  <a:pt x="0" y="228599"/>
                </a:lnTo>
                <a:lnTo>
                  <a:pt x="8552687" y="228599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98333" y="2008123"/>
            <a:ext cx="7696732" cy="1122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79D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548BB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548BB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291729" y="1695753"/>
            <a:ext cx="2974975" cy="521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548BB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4073" y="1629155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399" y="228599"/>
                </a:moveTo>
                <a:lnTo>
                  <a:pt x="533399" y="0"/>
                </a:lnTo>
                <a:lnTo>
                  <a:pt x="0" y="0"/>
                </a:lnTo>
                <a:lnTo>
                  <a:pt x="0" y="228599"/>
                </a:lnTo>
                <a:lnTo>
                  <a:pt x="533399" y="228599"/>
                </a:lnTo>
                <a:close/>
              </a:path>
            </a:pathLst>
          </a:custGeom>
          <a:solidFill>
            <a:srgbClr val="DD7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365385" y="1629155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7" y="228599"/>
                </a:moveTo>
                <a:lnTo>
                  <a:pt x="8552687" y="0"/>
                </a:lnTo>
                <a:lnTo>
                  <a:pt x="0" y="0"/>
                </a:lnTo>
                <a:lnTo>
                  <a:pt x="0" y="228599"/>
                </a:lnTo>
                <a:lnTo>
                  <a:pt x="8552687" y="228599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74065" y="1621535"/>
            <a:ext cx="533400" cy="245745"/>
          </a:xfrm>
          <a:custGeom>
            <a:avLst/>
            <a:gdLst/>
            <a:ahLst/>
            <a:cxnLst/>
            <a:rect l="l" t="t" r="r" b="b"/>
            <a:pathLst>
              <a:path w="533400" h="245744">
                <a:moveTo>
                  <a:pt x="533400" y="0"/>
                </a:moveTo>
                <a:lnTo>
                  <a:pt x="0" y="0"/>
                </a:lnTo>
                <a:lnTo>
                  <a:pt x="0" y="240792"/>
                </a:lnTo>
                <a:lnTo>
                  <a:pt x="0" y="245364"/>
                </a:lnTo>
                <a:lnTo>
                  <a:pt x="533400" y="245364"/>
                </a:lnTo>
                <a:lnTo>
                  <a:pt x="533400" y="240792"/>
                </a:lnTo>
                <a:lnTo>
                  <a:pt x="533400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4073" y="1629155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399" y="228599"/>
                </a:moveTo>
                <a:lnTo>
                  <a:pt x="533399" y="0"/>
                </a:lnTo>
                <a:lnTo>
                  <a:pt x="0" y="0"/>
                </a:lnTo>
                <a:lnTo>
                  <a:pt x="0" y="228599"/>
                </a:lnTo>
                <a:lnTo>
                  <a:pt x="533399" y="228599"/>
                </a:lnTo>
                <a:close/>
              </a:path>
            </a:pathLst>
          </a:custGeom>
          <a:solidFill>
            <a:srgbClr val="DD7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365385" y="1629155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7" y="228599"/>
                </a:moveTo>
                <a:lnTo>
                  <a:pt x="8552687" y="0"/>
                </a:lnTo>
                <a:lnTo>
                  <a:pt x="0" y="0"/>
                </a:lnTo>
                <a:lnTo>
                  <a:pt x="0" y="228599"/>
                </a:lnTo>
                <a:lnTo>
                  <a:pt x="8552687" y="228599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95641" y="734059"/>
            <a:ext cx="8102116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548BB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5880" y="1685693"/>
            <a:ext cx="8873490" cy="1513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utorialspoint.com/cplusplus/" TargetMode="External"/><Relationship Id="rId2" Type="http://schemas.openxmlformats.org/officeDocument/2006/relationships/hyperlink" Target="http://www.cplusplus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774073" y="1621536"/>
            <a:ext cx="533400" cy="245745"/>
          </a:xfrm>
          <a:custGeom>
            <a:avLst/>
            <a:gdLst/>
            <a:ahLst/>
            <a:cxnLst/>
            <a:rect l="l" t="t" r="r" b="b"/>
            <a:pathLst>
              <a:path w="533400" h="245744">
                <a:moveTo>
                  <a:pt x="533399" y="245363"/>
                </a:moveTo>
                <a:lnTo>
                  <a:pt x="533399" y="0"/>
                </a:lnTo>
                <a:lnTo>
                  <a:pt x="0" y="0"/>
                </a:lnTo>
                <a:lnTo>
                  <a:pt x="0" y="245363"/>
                </a:lnTo>
                <a:lnTo>
                  <a:pt x="533399" y="24536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6924" y="1614931"/>
            <a:ext cx="106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2095" marR="5080" indent="-2494915">
              <a:lnSpc>
                <a:spcPct val="100000"/>
              </a:lnSpc>
              <a:spcBef>
                <a:spcPts val="100"/>
              </a:spcBef>
              <a:tabLst>
                <a:tab pos="6402070" algn="l"/>
              </a:tabLst>
            </a:pPr>
            <a:r>
              <a:rPr spc="-500" dirty="0"/>
              <a:t>P</a:t>
            </a:r>
            <a:r>
              <a:rPr spc="-275" dirty="0"/>
              <a:t>r</a:t>
            </a:r>
            <a:r>
              <a:rPr spc="-295" dirty="0"/>
              <a:t>o</a:t>
            </a:r>
            <a:r>
              <a:rPr spc="-300" dirty="0"/>
              <a:t>g</a:t>
            </a:r>
            <a:r>
              <a:rPr spc="-240" dirty="0"/>
              <a:t>r</a:t>
            </a:r>
            <a:r>
              <a:rPr spc="-110" dirty="0"/>
              <a:t>a</a:t>
            </a:r>
            <a:r>
              <a:rPr spc="-350" dirty="0"/>
              <a:t>mm</a:t>
            </a:r>
            <a:r>
              <a:rPr spc="-40" dirty="0"/>
              <a:t>a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0" dirty="0"/>
              <a:t>n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280" dirty="0"/>
              <a:t>O</a:t>
            </a:r>
            <a:r>
              <a:rPr spc="-140" dirty="0"/>
              <a:t>r</a:t>
            </a:r>
            <a:r>
              <a:rPr spc="-175" dirty="0"/>
              <a:t>ie</a:t>
            </a:r>
            <a:r>
              <a:rPr spc="-295" dirty="0"/>
              <a:t>n</a:t>
            </a:r>
            <a:r>
              <a:rPr spc="-275" dirty="0"/>
              <a:t>té</a:t>
            </a:r>
            <a:r>
              <a:rPr spc="-280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220" dirty="0"/>
              <a:t>Ob</a:t>
            </a:r>
            <a:r>
              <a:rPr spc="-175" dirty="0"/>
              <a:t>je</a:t>
            </a:r>
            <a:r>
              <a:rPr spc="-265" dirty="0"/>
              <a:t>t</a:t>
            </a:r>
            <a:r>
              <a:rPr b="0" dirty="0">
                <a:latin typeface="Times New Roman"/>
                <a:cs typeface="Times New Roman"/>
              </a:rPr>
              <a:t>	</a:t>
            </a:r>
            <a:r>
              <a:rPr spc="-75" dirty="0"/>
              <a:t>(</a:t>
            </a:r>
            <a:r>
              <a:rPr spc="-505" dirty="0"/>
              <a:t>C</a:t>
            </a:r>
            <a:r>
              <a:rPr spc="290" dirty="0"/>
              <a:t>++</a:t>
            </a:r>
            <a:r>
              <a:rPr spc="-75" dirty="0"/>
              <a:t>)</a:t>
            </a:r>
            <a:r>
              <a:rPr spc="-245" dirty="0"/>
              <a:t>: </a:t>
            </a:r>
            <a:r>
              <a:rPr b="0" spc="-200" dirty="0">
                <a:latin typeface="Times New Roman"/>
                <a:cs typeface="Times New Roman"/>
              </a:rPr>
              <a:t> </a:t>
            </a:r>
            <a:r>
              <a:rPr spc="-670" dirty="0"/>
              <a:t>L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140" dirty="0"/>
              <a:t>t</a:t>
            </a:r>
            <a:r>
              <a:rPr spc="-235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7118" y="3911417"/>
            <a:ext cx="1704671" cy="18774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6576" y="1643591"/>
            <a:ext cx="85090" cy="170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200" b="1" dirty="0"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3688" y="645667"/>
            <a:ext cx="37661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N</a:t>
            </a:r>
            <a:r>
              <a:rPr spc="-295" dirty="0"/>
              <a:t>o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0" dirty="0"/>
              <a:t>n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280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580" dirty="0"/>
              <a:t>T</a:t>
            </a:r>
            <a:r>
              <a:rPr spc="-110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75900" y="1877179"/>
            <a:ext cx="7823200" cy="28587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480"/>
              </a:spcBef>
              <a:buClr>
                <a:srgbClr val="006FC0"/>
              </a:buClr>
              <a:buSzPct val="58928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Array</a:t>
            </a:r>
            <a:endParaRPr sz="2800">
              <a:latin typeface="Times New Roman"/>
              <a:cs typeface="Times New Roman"/>
            </a:endParaRPr>
          </a:p>
          <a:p>
            <a:pPr marL="652780" marR="34925" lvl="1" indent="-274320">
              <a:lnSpc>
                <a:spcPts val="2590"/>
              </a:lnSpc>
              <a:spcBef>
                <a:spcPts val="655"/>
              </a:spcBef>
              <a:buClr>
                <a:srgbClr val="94B6D2"/>
              </a:buClr>
              <a:buSzPct val="68750"/>
              <a:buFont typeface="Wingdings"/>
              <a:buChar char=""/>
              <a:tabLst>
                <a:tab pos="652780" algn="l"/>
              </a:tabLst>
            </a:pPr>
            <a:r>
              <a:rPr sz="2400" spc="-5" dirty="0">
                <a:latin typeface="Times New Roman"/>
                <a:cs typeface="Times New Roman"/>
              </a:rPr>
              <a:t>Un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collection</a:t>
            </a:r>
            <a:r>
              <a:rPr sz="2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indexée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d’éléments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(valeurs) </a:t>
            </a:r>
            <a:r>
              <a:rPr sz="2400" spc="-5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homogènes </a:t>
            </a:r>
            <a:r>
              <a:rPr sz="2400" dirty="0">
                <a:latin typeface="Times New Roman"/>
                <a:cs typeface="Times New Roman"/>
              </a:rPr>
              <a:t>tous du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même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type.</a:t>
            </a:r>
            <a:endParaRPr sz="2400">
              <a:latin typeface="Times New Roman"/>
              <a:cs typeface="Times New Roman"/>
            </a:endParaRPr>
          </a:p>
          <a:p>
            <a:pPr marL="728980" lvl="1" indent="-350520">
              <a:lnSpc>
                <a:spcPct val="100000"/>
              </a:lnSpc>
              <a:spcBef>
                <a:spcPts val="275"/>
              </a:spcBef>
              <a:buClr>
                <a:srgbClr val="94B6D2"/>
              </a:buClr>
              <a:buSzPct val="68750"/>
              <a:buFont typeface="Wingdings"/>
              <a:buChar char=""/>
              <a:tabLst>
                <a:tab pos="728345" algn="l"/>
                <a:tab pos="728980" algn="l"/>
              </a:tabLst>
            </a:pPr>
            <a:r>
              <a:rPr sz="2400" spc="-5" dirty="0">
                <a:latin typeface="Times New Roman"/>
                <a:cs typeface="Times New Roman"/>
              </a:rPr>
              <a:t>Structure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entière</a:t>
            </a:r>
            <a:endParaRPr sz="2400">
              <a:latin typeface="Times New Roman"/>
              <a:cs typeface="Times New Roman"/>
            </a:endParaRPr>
          </a:p>
          <a:p>
            <a:pPr marL="728980" lvl="1" indent="-350520">
              <a:lnSpc>
                <a:spcPct val="100000"/>
              </a:lnSpc>
              <a:spcBef>
                <a:spcPts val="310"/>
              </a:spcBef>
              <a:buClr>
                <a:srgbClr val="94B6D2"/>
              </a:buClr>
              <a:buSzPct val="68750"/>
              <a:buFont typeface="Wingdings"/>
              <a:buChar char=""/>
              <a:tabLst>
                <a:tab pos="728345" algn="l"/>
                <a:tab pos="728980" algn="l"/>
              </a:tabLst>
            </a:pP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caractérisé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taille</a:t>
            </a:r>
            <a:r>
              <a:rPr sz="2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type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 ses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éléments</a:t>
            </a:r>
            <a:endParaRPr sz="2400">
              <a:latin typeface="Times New Roman"/>
              <a:cs typeface="Times New Roman"/>
            </a:endParaRPr>
          </a:p>
          <a:p>
            <a:pPr marL="728980" lvl="1" indent="-350520">
              <a:lnSpc>
                <a:spcPct val="100000"/>
              </a:lnSpc>
              <a:spcBef>
                <a:spcPts val="315"/>
              </a:spcBef>
              <a:buClr>
                <a:srgbClr val="94B6D2"/>
              </a:buClr>
              <a:buSzPct val="68750"/>
              <a:buFont typeface="Wingdings"/>
              <a:buChar char=""/>
              <a:tabLst>
                <a:tab pos="728345" algn="l"/>
                <a:tab pos="728980" algn="l"/>
              </a:tabLst>
            </a:pPr>
            <a:r>
              <a:rPr sz="2400" spc="-5" dirty="0">
                <a:latin typeface="Times New Roman"/>
                <a:cs typeface="Times New Roman"/>
              </a:rPr>
              <a:t>Un</a:t>
            </a:r>
            <a:r>
              <a:rPr sz="2400" dirty="0">
                <a:latin typeface="Times New Roman"/>
                <a:cs typeface="Times New Roman"/>
              </a:rPr>
              <a:t> tableau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référencé</a:t>
            </a:r>
            <a:endParaRPr sz="2400">
              <a:latin typeface="Times New Roman"/>
              <a:cs typeface="Times New Roman"/>
            </a:endParaRPr>
          </a:p>
          <a:p>
            <a:pPr marL="711835" lvl="1" indent="-334010">
              <a:lnSpc>
                <a:spcPct val="100000"/>
              </a:lnSpc>
              <a:spcBef>
                <a:spcPts val="310"/>
              </a:spcBef>
              <a:buClr>
                <a:srgbClr val="94B6D2"/>
              </a:buClr>
              <a:buSzPct val="68750"/>
              <a:buFont typeface="Wingdings"/>
              <a:buChar char=""/>
              <a:tabLst>
                <a:tab pos="711835" algn="l"/>
                <a:tab pos="712470" algn="l"/>
              </a:tabLst>
            </a:pPr>
            <a:r>
              <a:rPr sz="2400" spc="-5" dirty="0">
                <a:latin typeface="Times New Roman"/>
                <a:cs typeface="Times New Roman"/>
              </a:rPr>
              <a:t>Assimilable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7244" y="1646535"/>
            <a:ext cx="8128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35" dirty="0">
                <a:solidFill>
                  <a:srgbClr val="006FC0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94544" y="1611883"/>
            <a:ext cx="106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6576" y="1643591"/>
            <a:ext cx="85090" cy="170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200" b="1" dirty="0"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3688" y="645667"/>
            <a:ext cx="37661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N</a:t>
            </a:r>
            <a:r>
              <a:rPr spc="-295" dirty="0"/>
              <a:t>o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0" dirty="0"/>
              <a:t>n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280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580" dirty="0"/>
              <a:t>T</a:t>
            </a:r>
            <a:r>
              <a:rPr spc="-110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9492" y="1801174"/>
            <a:ext cx="8910320" cy="236093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75"/>
              </a:spcBef>
              <a:buClr>
                <a:srgbClr val="006FC0"/>
              </a:buClr>
              <a:buSzPct val="58928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Il</a:t>
            </a:r>
            <a:r>
              <a:rPr sz="2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existe</a:t>
            </a:r>
            <a:r>
              <a:rPr sz="2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deux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sortes</a:t>
            </a:r>
            <a:r>
              <a:rPr sz="2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de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tableaux</a:t>
            </a:r>
            <a:endParaRPr sz="2800">
              <a:latin typeface="Times New Roman"/>
              <a:cs typeface="Times New Roman"/>
            </a:endParaRPr>
          </a:p>
          <a:p>
            <a:pPr marL="492759" lvl="1" indent="-160020">
              <a:lnSpc>
                <a:spcPct val="100000"/>
              </a:lnSpc>
              <a:spcBef>
                <a:spcPts val="815"/>
              </a:spcBef>
              <a:buClr>
                <a:srgbClr val="006FC0"/>
              </a:buClr>
              <a:buSzPct val="60869"/>
              <a:buFont typeface="Wingdings"/>
              <a:buChar char=""/>
              <a:tabLst>
                <a:tab pos="492759" algn="l"/>
              </a:tabLst>
            </a:pPr>
            <a:r>
              <a:rPr sz="2300" spc="-5" dirty="0">
                <a:latin typeface="Times New Roman"/>
                <a:cs typeface="Times New Roman"/>
              </a:rPr>
              <a:t>Ceux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dont </a:t>
            </a:r>
            <a:r>
              <a:rPr sz="2300" spc="-5" dirty="0">
                <a:latin typeface="Times New Roman"/>
                <a:cs typeface="Times New Roman"/>
              </a:rPr>
              <a:t>la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taille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est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connue à </a:t>
            </a:r>
            <a:r>
              <a:rPr sz="2300" spc="-5" dirty="0">
                <a:latin typeface="Times New Roman"/>
                <a:cs typeface="Times New Roman"/>
              </a:rPr>
              <a:t>l'avance,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les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spc="-5" dirty="0">
                <a:solidFill>
                  <a:srgbClr val="00B0F0"/>
                </a:solidFill>
                <a:latin typeface="Times New Roman"/>
                <a:cs typeface="Times New Roman"/>
              </a:rPr>
              <a:t>tableaux</a:t>
            </a:r>
            <a:r>
              <a:rPr sz="2300" spc="1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300" spc="-5" dirty="0">
                <a:solidFill>
                  <a:srgbClr val="00B0F0"/>
                </a:solidFill>
                <a:latin typeface="Times New Roman"/>
                <a:cs typeface="Times New Roman"/>
              </a:rPr>
              <a:t>statiques.</a:t>
            </a:r>
            <a:endParaRPr sz="2300">
              <a:latin typeface="Times New Roman"/>
              <a:cs typeface="Times New Roman"/>
            </a:endParaRPr>
          </a:p>
          <a:p>
            <a:pPr marL="486409" lvl="1" indent="-154305">
              <a:lnSpc>
                <a:spcPct val="100000"/>
              </a:lnSpc>
              <a:spcBef>
                <a:spcPts val="730"/>
              </a:spcBef>
              <a:buClr>
                <a:srgbClr val="006FC0"/>
              </a:buClr>
              <a:buSzPct val="58695"/>
              <a:buFont typeface="Wingdings"/>
              <a:buChar char=""/>
              <a:tabLst>
                <a:tab pos="487045" algn="l"/>
              </a:tabLst>
            </a:pPr>
            <a:r>
              <a:rPr sz="2300" spc="-5" dirty="0">
                <a:latin typeface="Times New Roman"/>
                <a:cs typeface="Times New Roman"/>
              </a:rPr>
              <a:t>Ceux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dont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la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taille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peut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varier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en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permanence,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les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spc="-5" dirty="0">
                <a:solidFill>
                  <a:srgbClr val="00B0F0"/>
                </a:solidFill>
                <a:latin typeface="Times New Roman"/>
                <a:cs typeface="Times New Roman"/>
              </a:rPr>
              <a:t>tableaux</a:t>
            </a:r>
            <a:r>
              <a:rPr sz="2300" spc="2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300" spc="-5" dirty="0">
                <a:solidFill>
                  <a:srgbClr val="00B0F0"/>
                </a:solidFill>
                <a:latin typeface="Times New Roman"/>
                <a:cs typeface="Times New Roman"/>
              </a:rPr>
              <a:t>dynamiques.</a:t>
            </a:r>
            <a:endParaRPr sz="2300">
              <a:latin typeface="Times New Roman"/>
              <a:cs typeface="Times New Roman"/>
            </a:endParaRPr>
          </a:p>
          <a:p>
            <a:pPr marL="426720" indent="-414655">
              <a:lnSpc>
                <a:spcPct val="100000"/>
              </a:lnSpc>
              <a:spcBef>
                <a:spcPts val="290"/>
              </a:spcBef>
              <a:buClr>
                <a:srgbClr val="006FC0"/>
              </a:buClr>
              <a:buSzPct val="58928"/>
              <a:buFont typeface="Wingdings"/>
              <a:buChar char=""/>
              <a:tabLst>
                <a:tab pos="426720" algn="l"/>
                <a:tab pos="427355" algn="l"/>
              </a:tabLst>
            </a:pP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Utilisation</a:t>
            </a:r>
            <a:r>
              <a:rPr sz="28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des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tableaux</a:t>
            </a:r>
            <a:endParaRPr sz="2800">
              <a:latin typeface="Times New Roman"/>
              <a:cs typeface="Times New Roman"/>
            </a:endParaRPr>
          </a:p>
          <a:p>
            <a:pPr marL="492759" lvl="1" indent="-160020">
              <a:lnSpc>
                <a:spcPct val="100000"/>
              </a:lnSpc>
              <a:spcBef>
                <a:spcPts val="575"/>
              </a:spcBef>
              <a:buClr>
                <a:srgbClr val="006FC0"/>
              </a:buClr>
              <a:buSzPct val="60869"/>
              <a:buFont typeface="Wingdings"/>
              <a:buChar char=""/>
              <a:tabLst>
                <a:tab pos="492759" algn="l"/>
              </a:tabLst>
            </a:pPr>
            <a:r>
              <a:rPr sz="2300" dirty="0">
                <a:latin typeface="Times New Roman"/>
                <a:cs typeface="Times New Roman"/>
              </a:rPr>
              <a:t>Stockage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</a:t>
            </a:r>
            <a:r>
              <a:rPr sz="2300" spc="-5" dirty="0">
                <a:latin typeface="Times New Roman"/>
                <a:cs typeface="Times New Roman"/>
              </a:rPr>
              <a:t> plusieurs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variables</a:t>
            </a:r>
            <a:r>
              <a:rPr sz="2300" dirty="0">
                <a:latin typeface="Times New Roman"/>
                <a:cs typeface="Times New Roman"/>
              </a:rPr>
              <a:t> de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même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type.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7244" y="1646535"/>
            <a:ext cx="8128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35" dirty="0">
                <a:solidFill>
                  <a:srgbClr val="006FC0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94544" y="1611883"/>
            <a:ext cx="106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9624" y="1649583"/>
            <a:ext cx="8128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65080" y="4059426"/>
            <a:ext cx="44005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710" dirty="0"/>
              <a:t>T</a:t>
            </a:r>
            <a:r>
              <a:rPr sz="4400" spc="-125" dirty="0"/>
              <a:t>a</a:t>
            </a:r>
            <a:r>
              <a:rPr sz="4400" spc="-355" dirty="0"/>
              <a:t>b</a:t>
            </a:r>
            <a:r>
              <a:rPr sz="4400" spc="-85" dirty="0"/>
              <a:t>l</a:t>
            </a:r>
            <a:r>
              <a:rPr sz="4400" spc="-340" dirty="0"/>
              <a:t>e</a:t>
            </a:r>
            <a:r>
              <a:rPr sz="4400" spc="-125" dirty="0"/>
              <a:t>a</a:t>
            </a:r>
            <a:r>
              <a:rPr sz="4400" spc="-355" dirty="0"/>
              <a:t>u</a:t>
            </a:r>
            <a:r>
              <a:rPr sz="4400" spc="-110" dirty="0"/>
              <a:t>x</a:t>
            </a:r>
            <a:r>
              <a:rPr sz="4400" b="0" spc="65" dirty="0">
                <a:latin typeface="Times New Roman"/>
                <a:cs typeface="Times New Roman"/>
              </a:rPr>
              <a:t> </a:t>
            </a:r>
            <a:r>
              <a:rPr sz="4400" spc="-570" dirty="0"/>
              <a:t>s</a:t>
            </a:r>
            <a:r>
              <a:rPr sz="4400" spc="-330" dirty="0"/>
              <a:t>t</a:t>
            </a:r>
            <a:r>
              <a:rPr sz="4400" spc="-40" dirty="0"/>
              <a:t>a</a:t>
            </a:r>
            <a:r>
              <a:rPr sz="4400" spc="-330" dirty="0"/>
              <a:t>t</a:t>
            </a:r>
            <a:r>
              <a:rPr sz="4400" spc="-85" dirty="0"/>
              <a:t>i</a:t>
            </a:r>
            <a:r>
              <a:rPr sz="4400" spc="-365" dirty="0"/>
              <a:t>q</a:t>
            </a:r>
            <a:r>
              <a:rPr sz="4400" spc="-355" dirty="0"/>
              <a:t>u</a:t>
            </a:r>
            <a:r>
              <a:rPr sz="4400" spc="-340" dirty="0"/>
              <a:t>e</a:t>
            </a:r>
            <a:r>
              <a:rPr sz="4400" spc="-570" dirty="0"/>
              <a:t>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94544" y="1611883"/>
            <a:ext cx="106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192" y="1930399"/>
            <a:ext cx="4859020" cy="1311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Syntaxe</a:t>
            </a:r>
            <a:r>
              <a:rPr sz="28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générale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350">
              <a:latin typeface="Times New Roman"/>
              <a:cs typeface="Times New Roman"/>
            </a:endParaRPr>
          </a:p>
          <a:p>
            <a:pPr marL="71755">
              <a:lnSpc>
                <a:spcPct val="100000"/>
              </a:lnSpc>
            </a:pP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type</a:t>
            </a:r>
            <a:r>
              <a:rPr sz="2400" b="1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nomDuTableau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spc="-10" dirty="0">
                <a:solidFill>
                  <a:srgbClr val="FF32CC"/>
                </a:solidFill>
                <a:latin typeface="Times New Roman"/>
                <a:cs typeface="Times New Roman"/>
              </a:rPr>
              <a:t>taille_maximale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];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67345" y="3647946"/>
            <a:ext cx="1771650" cy="131191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590"/>
              </a:spcBef>
            </a:pP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400">
              <a:latin typeface="Times New Roman"/>
              <a:cs typeface="Times New Roman"/>
            </a:endParaRPr>
          </a:p>
          <a:p>
            <a:pPr marL="342900" indent="-330835">
              <a:lnSpc>
                <a:spcPct val="100000"/>
              </a:lnSpc>
              <a:spcBef>
                <a:spcPts val="490"/>
              </a:spcBef>
              <a:buClr>
                <a:srgbClr val="000000"/>
              </a:buClr>
              <a:buFont typeface="Times New Roman"/>
              <a:buAutoNum type="arabicParenR"/>
              <a:tabLst>
                <a:tab pos="343535" algn="l"/>
              </a:tabLst>
            </a:pP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float</a:t>
            </a:r>
            <a:r>
              <a:rPr sz="2400" b="1" spc="-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10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];</a:t>
            </a:r>
            <a:endParaRPr sz="2400">
              <a:latin typeface="Times New Roman"/>
              <a:cs typeface="Times New Roman"/>
            </a:endParaRPr>
          </a:p>
          <a:p>
            <a:pPr marL="342900" indent="-330835">
              <a:lnSpc>
                <a:spcPct val="100000"/>
              </a:lnSpc>
              <a:spcBef>
                <a:spcPts val="505"/>
              </a:spcBef>
              <a:buClr>
                <a:srgbClr val="000000"/>
              </a:buClr>
              <a:buFont typeface="Times New Roman"/>
              <a:buAutoNum type="arabicParenR"/>
              <a:tabLst>
                <a:tab pos="343535" algn="l"/>
              </a:tabLst>
            </a:pP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8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12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];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39400" y="4064607"/>
            <a:ext cx="5634355" cy="885190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1080"/>
              </a:spcBef>
            </a:pP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//réserve</a:t>
            </a:r>
            <a:r>
              <a:rPr sz="20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l’emplacement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00B04F"/>
                </a:solidFill>
                <a:latin typeface="Times New Roman"/>
                <a:cs typeface="Times New Roman"/>
              </a:rPr>
              <a:t>pour</a:t>
            </a:r>
            <a:r>
              <a:rPr sz="20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10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éléments</a:t>
            </a:r>
            <a:r>
              <a:rPr sz="200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type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float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//réserve</a:t>
            </a:r>
            <a:r>
              <a:rPr sz="2000" spc="-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l’emplacement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00B04F"/>
                </a:solidFill>
                <a:latin typeface="Times New Roman"/>
                <a:cs typeface="Times New Roman"/>
              </a:rPr>
              <a:t>pour</a:t>
            </a:r>
            <a:r>
              <a:rPr sz="20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12 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éléments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type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int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9624" y="1649583"/>
            <a:ext cx="8128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47167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D</a:t>
            </a:r>
            <a:r>
              <a:rPr spc="-280" dirty="0"/>
              <a:t>é</a:t>
            </a:r>
            <a:r>
              <a:rPr spc="-555" dirty="0"/>
              <a:t>c</a:t>
            </a:r>
            <a:r>
              <a:rPr spc="-60" dirty="0"/>
              <a:t>l</a:t>
            </a:r>
            <a:r>
              <a:rPr spc="-120" dirty="0"/>
              <a:t>a</a:t>
            </a:r>
            <a:r>
              <a:rPr spc="-240" dirty="0"/>
              <a:t>r</a:t>
            </a:r>
            <a:r>
              <a:rPr spc="-40" dirty="0"/>
              <a:t>a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0" dirty="0"/>
              <a:t>n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14" dirty="0"/>
              <a:t>‘</a:t>
            </a:r>
            <a:r>
              <a:rPr spc="-250" dirty="0"/>
              <a:t>u</a:t>
            </a:r>
            <a:r>
              <a:rPr spc="-290" dirty="0"/>
              <a:t>n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140" dirty="0"/>
              <a:t>t</a:t>
            </a:r>
            <a:r>
              <a:rPr spc="-235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0" dirty="0"/>
              <a:t>u</a:t>
            </a:r>
          </a:p>
        </p:txBody>
      </p:sp>
      <p:sp>
        <p:nvSpPr>
          <p:cNvPr id="7" name="object 7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94544" y="1611883"/>
            <a:ext cx="106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4000" y="1843531"/>
            <a:ext cx="8342630" cy="2753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9370">
              <a:lnSpc>
                <a:spcPct val="124200"/>
              </a:lnSpc>
              <a:spcBef>
                <a:spcPts val="100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455930" algn="l"/>
                <a:tab pos="456565" algn="l"/>
              </a:tabLst>
            </a:pPr>
            <a:r>
              <a:rPr sz="2400" spc="-5" dirty="0">
                <a:latin typeface="Times New Roman"/>
                <a:cs typeface="Times New Roman"/>
              </a:rPr>
              <a:t>La dimension </a:t>
            </a:r>
            <a:r>
              <a:rPr sz="2400" dirty="0">
                <a:latin typeface="Times New Roman"/>
                <a:cs typeface="Times New Roman"/>
              </a:rPr>
              <a:t>d’un tableau (son </a:t>
            </a:r>
            <a:r>
              <a:rPr sz="2400" spc="-5" dirty="0">
                <a:latin typeface="Times New Roman"/>
                <a:cs typeface="Times New Roman"/>
              </a:rPr>
              <a:t>nombre d’éléments) </a:t>
            </a:r>
            <a:r>
              <a:rPr sz="2400" dirty="0">
                <a:latin typeface="Times New Roman"/>
                <a:cs typeface="Times New Roman"/>
              </a:rPr>
              <a:t>ne peut être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qu’une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constante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 expression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constante.</a:t>
            </a:r>
            <a:endParaRPr sz="2400">
              <a:latin typeface="Times New Roman"/>
              <a:cs typeface="Times New Roman"/>
            </a:endParaRPr>
          </a:p>
          <a:p>
            <a:pPr marL="455930" indent="-404495">
              <a:lnSpc>
                <a:spcPct val="100000"/>
              </a:lnSpc>
              <a:spcBef>
                <a:spcPts val="705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455930" algn="l"/>
                <a:tab pos="456565" algn="l"/>
              </a:tabLst>
            </a:pPr>
            <a:r>
              <a:rPr sz="2400" spc="-5" dirty="0">
                <a:latin typeface="Times New Roman"/>
                <a:cs typeface="Times New Roman"/>
              </a:rPr>
              <a:t>Ainsi,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cette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construction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correcte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469900" marR="5848350">
              <a:lnSpc>
                <a:spcPct val="124200"/>
              </a:lnSpc>
            </a:pP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  <a:r>
              <a:rPr sz="24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spc="-5" dirty="0">
                <a:solidFill>
                  <a:srgbClr val="FF32CC"/>
                </a:solidFill>
                <a:latin typeface="Times New Roman"/>
                <a:cs typeface="Times New Roman"/>
              </a:rPr>
              <a:t>50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); </a:t>
            </a:r>
            <a:r>
              <a:rPr sz="2400" b="1" spc="-5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spc="-5" dirty="0">
                <a:solidFill>
                  <a:srgbClr val="FF32CC"/>
                </a:solidFill>
                <a:latin typeface="Times New Roman"/>
                <a:cs typeface="Times New Roman"/>
              </a:rPr>
              <a:t>N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];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710"/>
              </a:spcBef>
            </a:pP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float</a:t>
            </a:r>
            <a:r>
              <a:rPr sz="2400" b="1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tab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spc="-5" dirty="0">
                <a:solidFill>
                  <a:srgbClr val="FF32CC"/>
                </a:solidFill>
                <a:latin typeface="Times New Roman"/>
                <a:cs typeface="Times New Roman"/>
              </a:rPr>
              <a:t>2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*</a:t>
            </a:r>
            <a:r>
              <a:rPr sz="2400" spc="-5" dirty="0">
                <a:solidFill>
                  <a:srgbClr val="FF32CC"/>
                </a:solidFill>
                <a:latin typeface="Times New Roman"/>
                <a:cs typeface="Times New Roman"/>
              </a:rPr>
              <a:t>N-1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sz="2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9624" y="1649583"/>
            <a:ext cx="8128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47167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D</a:t>
            </a:r>
            <a:r>
              <a:rPr spc="-280" dirty="0"/>
              <a:t>é</a:t>
            </a:r>
            <a:r>
              <a:rPr spc="-555" dirty="0"/>
              <a:t>c</a:t>
            </a:r>
            <a:r>
              <a:rPr spc="-60" dirty="0"/>
              <a:t>l</a:t>
            </a:r>
            <a:r>
              <a:rPr spc="-120" dirty="0"/>
              <a:t>a</a:t>
            </a:r>
            <a:r>
              <a:rPr spc="-240" dirty="0"/>
              <a:t>r</a:t>
            </a:r>
            <a:r>
              <a:rPr spc="-40" dirty="0"/>
              <a:t>a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0" dirty="0"/>
              <a:t>n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14" dirty="0"/>
              <a:t>‘</a:t>
            </a:r>
            <a:r>
              <a:rPr spc="-250" dirty="0"/>
              <a:t>u</a:t>
            </a:r>
            <a:r>
              <a:rPr spc="-290" dirty="0"/>
              <a:t>n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140" dirty="0"/>
              <a:t>t</a:t>
            </a:r>
            <a:r>
              <a:rPr spc="-235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0" dirty="0"/>
              <a:t>u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94544" y="1611883"/>
            <a:ext cx="106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38973" y="1932518"/>
            <a:ext cx="5550535" cy="424497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305"/>
              </a:spcBef>
            </a:pP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Initialisation</a:t>
            </a:r>
            <a:r>
              <a:rPr sz="2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de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tableaux à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un</a:t>
            </a:r>
            <a:r>
              <a:rPr sz="280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indice</a:t>
            </a:r>
            <a:endParaRPr sz="2800">
              <a:latin typeface="Times New Roman"/>
              <a:cs typeface="Times New Roman"/>
            </a:endParaRPr>
          </a:p>
          <a:p>
            <a:pPr marL="469900" indent="-457200" algn="just">
              <a:lnSpc>
                <a:spcPct val="100000"/>
              </a:lnSpc>
              <a:spcBef>
                <a:spcPts val="200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469900" algn="l"/>
              </a:tabLst>
            </a:pPr>
            <a:r>
              <a:rPr sz="2400" spc="-5" dirty="0">
                <a:latin typeface="Times New Roman"/>
                <a:cs typeface="Times New Roman"/>
              </a:rPr>
              <a:t>Chaque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élément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initialisé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séparément</a:t>
            </a:r>
            <a:r>
              <a:rPr sz="2600" spc="-5" dirty="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18415" marR="2817495" algn="just">
              <a:lnSpc>
                <a:spcPct val="114399"/>
              </a:lnSpc>
            </a:pP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 const </a:t>
            </a:r>
            <a:r>
              <a:rPr sz="2400" spc="-15" dirty="0">
                <a:latin typeface="Times New Roman"/>
                <a:cs typeface="Times New Roman"/>
              </a:rPr>
              <a:t>tailleTab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spc="-15" dirty="0">
                <a:solidFill>
                  <a:srgbClr val="FF32CC"/>
                </a:solidFill>
                <a:latin typeface="Times New Roman"/>
                <a:cs typeface="Times New Roman"/>
              </a:rPr>
              <a:t>5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); </a:t>
            </a:r>
            <a:r>
              <a:rPr sz="2400" b="1" spc="-5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double </a:t>
            </a:r>
            <a:r>
              <a:rPr sz="2400" spc="-15" dirty="0">
                <a:latin typeface="Times New Roman"/>
                <a:cs typeface="Times New Roman"/>
              </a:rPr>
              <a:t>tab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spc="-15" dirty="0">
                <a:solidFill>
                  <a:srgbClr val="FF32CC"/>
                </a:solidFill>
                <a:latin typeface="Times New Roman"/>
                <a:cs typeface="Times New Roman"/>
              </a:rPr>
              <a:t>tailleTab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]; </a:t>
            </a:r>
            <a:r>
              <a:rPr sz="2400" b="1" spc="-5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FF32CC"/>
                </a:solidFill>
                <a:latin typeface="Times New Roman"/>
                <a:cs typeface="Times New Roman"/>
              </a:rPr>
              <a:t>11.5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  <a:spcBef>
                <a:spcPts val="409"/>
              </a:spcBef>
            </a:pPr>
            <a:r>
              <a:rPr sz="2400" dirty="0">
                <a:latin typeface="Times New Roman"/>
                <a:cs typeface="Times New Roman"/>
              </a:rPr>
              <a:t>tab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19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  <a:spcBef>
                <a:spcPts val="409"/>
              </a:spcBef>
            </a:pPr>
            <a:r>
              <a:rPr sz="2400" dirty="0">
                <a:latin typeface="Times New Roman"/>
                <a:cs typeface="Times New Roman"/>
              </a:rPr>
              <a:t>tab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2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sz="24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6.5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  <a:spcBef>
                <a:spcPts val="420"/>
              </a:spcBef>
            </a:pPr>
            <a:r>
              <a:rPr sz="2400" dirty="0">
                <a:latin typeface="Times New Roman"/>
                <a:cs typeface="Times New Roman"/>
              </a:rPr>
              <a:t>tab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3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sz="24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13.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  <a:spcBef>
                <a:spcPts val="405"/>
              </a:spcBef>
            </a:pPr>
            <a:r>
              <a:rPr sz="2400" dirty="0">
                <a:latin typeface="Times New Roman"/>
                <a:cs typeface="Times New Roman"/>
              </a:rPr>
              <a:t>tab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4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15.5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  <a:spcBef>
                <a:spcPts val="409"/>
              </a:spcBef>
            </a:pPr>
            <a:r>
              <a:rPr sz="2400" dirty="0">
                <a:latin typeface="Times New Roman"/>
                <a:cs typeface="Times New Roman"/>
              </a:rPr>
              <a:t>tab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5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14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9624" y="1649583"/>
            <a:ext cx="8128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414527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5" dirty="0"/>
              <a:t>C</a:t>
            </a:r>
            <a:r>
              <a:rPr spc="-275" dirty="0"/>
              <a:t>r</a:t>
            </a:r>
            <a:r>
              <a:rPr spc="-280" dirty="0"/>
              <a:t>é</a:t>
            </a:r>
            <a:r>
              <a:rPr spc="-40" dirty="0"/>
              <a:t>a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0" dirty="0"/>
              <a:t>n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14" dirty="0"/>
              <a:t>’</a:t>
            </a:r>
            <a:r>
              <a:rPr spc="-250" dirty="0"/>
              <a:t>u</a:t>
            </a:r>
            <a:r>
              <a:rPr spc="-290" dirty="0"/>
              <a:t>n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140" dirty="0"/>
              <a:t>t</a:t>
            </a:r>
            <a:r>
              <a:rPr spc="-235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0" dirty="0"/>
              <a:t>u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94544" y="1611883"/>
            <a:ext cx="106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5044" y="1892907"/>
            <a:ext cx="6831330" cy="224536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365"/>
              </a:spcBef>
              <a:tabLst>
                <a:tab pos="4747260" algn="l"/>
              </a:tabLst>
            </a:pP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Initialisation</a:t>
            </a:r>
            <a:r>
              <a:rPr sz="2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de</a:t>
            </a:r>
            <a:r>
              <a:rPr sz="280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tableaux</a:t>
            </a:r>
            <a:r>
              <a:rPr sz="28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à</a:t>
            </a:r>
            <a:r>
              <a:rPr sz="2800" b="1" spc="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un	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indice</a:t>
            </a:r>
            <a:endParaRPr sz="2800">
              <a:latin typeface="Times New Roman"/>
              <a:cs typeface="Times New Roman"/>
            </a:endParaRPr>
          </a:p>
          <a:p>
            <a:pPr marL="311150" indent="-270510">
              <a:lnSpc>
                <a:spcPct val="100000"/>
              </a:lnSpc>
              <a:spcBef>
                <a:spcPts val="234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311785" algn="l"/>
              </a:tabLst>
            </a:pPr>
            <a:r>
              <a:rPr sz="2400" spc="-5" dirty="0">
                <a:latin typeface="Times New Roman"/>
                <a:cs typeface="Times New Roman"/>
              </a:rPr>
              <a:t>Chaque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élément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initialisé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séparément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boucle:</a:t>
            </a:r>
            <a:endParaRPr sz="240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  <a:spcBef>
                <a:spcPts val="660"/>
              </a:spcBef>
            </a:pP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  <a:r>
              <a:rPr sz="24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spc="-5" dirty="0">
                <a:solidFill>
                  <a:srgbClr val="FF32CC"/>
                </a:solidFill>
                <a:latin typeface="Times New Roman"/>
                <a:cs typeface="Times New Roman"/>
              </a:rPr>
              <a:t>20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tab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spc="-5" dirty="0">
                <a:solidFill>
                  <a:srgbClr val="FF32CC"/>
                </a:solidFill>
                <a:latin typeface="Times New Roman"/>
                <a:cs typeface="Times New Roman"/>
              </a:rPr>
              <a:t>N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for</a:t>
            </a:r>
            <a:r>
              <a:rPr sz="24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latin typeface="Times New Roman"/>
                <a:cs typeface="Times New Roman"/>
              </a:rPr>
              <a:t>int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++)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tab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spc="-5" dirty="0">
                <a:solidFill>
                  <a:srgbClr val="FF32CC"/>
                </a:solidFill>
                <a:latin typeface="Times New Roman"/>
                <a:cs typeface="Times New Roman"/>
              </a:rPr>
              <a:t>i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i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9624" y="1649583"/>
            <a:ext cx="8128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414527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5" dirty="0"/>
              <a:t>C</a:t>
            </a:r>
            <a:r>
              <a:rPr spc="-275" dirty="0"/>
              <a:t>r</a:t>
            </a:r>
            <a:r>
              <a:rPr spc="-280" dirty="0"/>
              <a:t>é</a:t>
            </a:r>
            <a:r>
              <a:rPr spc="-40" dirty="0"/>
              <a:t>a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0" dirty="0"/>
              <a:t>n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14" dirty="0"/>
              <a:t>’</a:t>
            </a:r>
            <a:r>
              <a:rPr spc="-250" dirty="0"/>
              <a:t>u</a:t>
            </a:r>
            <a:r>
              <a:rPr spc="-290" dirty="0"/>
              <a:t>n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140" dirty="0"/>
              <a:t>t</a:t>
            </a:r>
            <a:r>
              <a:rPr spc="-235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0" dirty="0"/>
              <a:t>u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94544" y="1611883"/>
            <a:ext cx="106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4648" y="1830263"/>
            <a:ext cx="8720455" cy="328231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885"/>
              </a:spcBef>
            </a:pP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Initialisation</a:t>
            </a:r>
            <a:r>
              <a:rPr sz="2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de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tableaux à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un</a:t>
            </a:r>
            <a:r>
              <a:rPr sz="280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indice</a:t>
            </a:r>
            <a:endParaRPr sz="28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  <a:spcBef>
                <a:spcPts val="675"/>
              </a:spcBef>
            </a:pP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Exemples:</a:t>
            </a:r>
            <a:endParaRPr sz="2400">
              <a:latin typeface="Times New Roman"/>
              <a:cs typeface="Times New Roman"/>
            </a:endParaRPr>
          </a:p>
          <a:p>
            <a:pPr marL="327660" indent="-315595">
              <a:lnSpc>
                <a:spcPct val="100000"/>
              </a:lnSpc>
              <a:spcBef>
                <a:spcPts val="745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27660" algn="l"/>
                <a:tab pos="328295" algn="l"/>
              </a:tabLst>
            </a:pP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tab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spc="-5" dirty="0">
                <a:solidFill>
                  <a:srgbClr val="FF32CC"/>
                </a:solidFill>
                <a:latin typeface="Times New Roman"/>
                <a:cs typeface="Times New Roman"/>
              </a:rPr>
              <a:t>5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120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15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10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13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400">
              <a:latin typeface="Times New Roman"/>
              <a:cs typeface="Times New Roman"/>
            </a:endParaRPr>
          </a:p>
          <a:p>
            <a:pPr marL="317500" marR="5080" indent="-304800">
              <a:lnSpc>
                <a:spcPct val="124200"/>
              </a:lnSpc>
              <a:buClr>
                <a:srgbClr val="006FC0"/>
              </a:buClr>
              <a:buSzPct val="58333"/>
              <a:buFont typeface="Wingdings"/>
              <a:buChar char=""/>
              <a:tabLst>
                <a:tab pos="327660" algn="l"/>
                <a:tab pos="328295" algn="l"/>
              </a:tabLst>
            </a:pP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possible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mentionner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dans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accolades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premières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valeurs,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comme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dans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exemples 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302260">
              <a:lnSpc>
                <a:spcPct val="100000"/>
              </a:lnSpc>
              <a:spcBef>
                <a:spcPts val="705"/>
              </a:spcBef>
            </a:pP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tab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spc="-5" dirty="0">
                <a:solidFill>
                  <a:srgbClr val="FF32CC"/>
                </a:solidFill>
                <a:latin typeface="Times New Roman"/>
                <a:cs typeface="Times New Roman"/>
              </a:rPr>
              <a:t>5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120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302260">
              <a:lnSpc>
                <a:spcPct val="100000"/>
              </a:lnSpc>
              <a:spcBef>
                <a:spcPts val="695"/>
              </a:spcBef>
            </a:pP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tab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spc="-5" dirty="0">
                <a:solidFill>
                  <a:srgbClr val="FF32CC"/>
                </a:solidFill>
                <a:latin typeface="Times New Roman"/>
                <a:cs typeface="Times New Roman"/>
              </a:rPr>
              <a:t>5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120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15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414527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5" dirty="0"/>
              <a:t>C</a:t>
            </a:r>
            <a:r>
              <a:rPr spc="-275" dirty="0"/>
              <a:t>r</a:t>
            </a:r>
            <a:r>
              <a:rPr spc="-280" dirty="0"/>
              <a:t>é</a:t>
            </a:r>
            <a:r>
              <a:rPr spc="-40" dirty="0"/>
              <a:t>a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0" dirty="0"/>
              <a:t>n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14" dirty="0"/>
              <a:t>’</a:t>
            </a:r>
            <a:r>
              <a:rPr spc="-250" dirty="0"/>
              <a:t>u</a:t>
            </a:r>
            <a:r>
              <a:rPr spc="-290" dirty="0"/>
              <a:t>n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140" dirty="0"/>
              <a:t>t</a:t>
            </a:r>
            <a:r>
              <a:rPr spc="-235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0" dirty="0"/>
              <a:t>u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6276" y="1690146"/>
            <a:ext cx="7928609" cy="2774315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385"/>
              </a:spcBef>
            </a:pP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Initialisation</a:t>
            </a:r>
            <a:r>
              <a:rPr sz="2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de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tableaux à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un</a:t>
            </a:r>
            <a:r>
              <a:rPr sz="280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indice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01499"/>
              </a:lnSpc>
              <a:spcBef>
                <a:spcPts val="1065"/>
              </a:spcBef>
              <a:buClr>
                <a:srgbClr val="006FC0"/>
              </a:buClr>
              <a:buSzPct val="68750"/>
              <a:buFont typeface="Wingdings"/>
              <a:buChar char=""/>
              <a:tabLst>
                <a:tab pos="292100" algn="l"/>
              </a:tabLst>
            </a:pP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possible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d’omettre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dimension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celle-ci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étant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alors </a:t>
            </a:r>
            <a:r>
              <a:rPr sz="2400" spc="-5" dirty="0">
                <a:latin typeface="Times New Roman"/>
                <a:cs typeface="Times New Roman"/>
              </a:rPr>
              <a:t>déterminée </a:t>
            </a:r>
            <a:r>
              <a:rPr sz="2400" dirty="0">
                <a:latin typeface="Times New Roman"/>
                <a:cs typeface="Times New Roman"/>
              </a:rPr>
              <a:t>par le </a:t>
            </a:r>
            <a:r>
              <a:rPr sz="2400" spc="-5" dirty="0">
                <a:latin typeface="Times New Roman"/>
                <a:cs typeface="Times New Roman"/>
              </a:rPr>
              <a:t>compilateur </a:t>
            </a:r>
            <a:r>
              <a:rPr sz="2400" dirty="0">
                <a:latin typeface="Times New Roman"/>
                <a:cs typeface="Times New Roman"/>
              </a:rPr>
              <a:t>par le </a:t>
            </a:r>
            <a:r>
              <a:rPr sz="2400" spc="-5" dirty="0">
                <a:latin typeface="Times New Roman"/>
                <a:cs typeface="Times New Roman"/>
              </a:rPr>
              <a:t>nombre </a:t>
            </a:r>
            <a:r>
              <a:rPr sz="2400" dirty="0">
                <a:latin typeface="Times New Roman"/>
                <a:cs typeface="Times New Roman"/>
              </a:rPr>
              <a:t>de valeurs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énumérées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dans </a:t>
            </a:r>
            <a:r>
              <a:rPr sz="2400" spc="-5" dirty="0">
                <a:latin typeface="Times New Roman"/>
                <a:cs typeface="Times New Roman"/>
              </a:rPr>
              <a:t>l’initialisation.</a:t>
            </a:r>
            <a:endParaRPr sz="2400">
              <a:latin typeface="Times New Roman"/>
              <a:cs typeface="Times New Roman"/>
            </a:endParaRPr>
          </a:p>
          <a:p>
            <a:pPr marL="73025">
              <a:lnSpc>
                <a:spcPct val="100000"/>
              </a:lnSpc>
              <a:spcBef>
                <a:spcPts val="710"/>
              </a:spcBef>
            </a:pP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400">
              <a:latin typeface="Times New Roman"/>
              <a:cs typeface="Times New Roman"/>
            </a:endParaRPr>
          </a:p>
          <a:p>
            <a:pPr marL="73025">
              <a:lnSpc>
                <a:spcPct val="100000"/>
              </a:lnSpc>
              <a:spcBef>
                <a:spcPts val="695"/>
              </a:spcBef>
            </a:pP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tab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[]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120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15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10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13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414527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5" dirty="0"/>
              <a:t>C</a:t>
            </a:r>
            <a:r>
              <a:rPr spc="-275" dirty="0"/>
              <a:t>r</a:t>
            </a:r>
            <a:r>
              <a:rPr spc="-280" dirty="0"/>
              <a:t>é</a:t>
            </a:r>
            <a:r>
              <a:rPr spc="-40" dirty="0"/>
              <a:t>a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0" dirty="0"/>
              <a:t>n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14" dirty="0"/>
              <a:t>’</a:t>
            </a:r>
            <a:r>
              <a:rPr spc="-250" dirty="0"/>
              <a:t>u</a:t>
            </a:r>
            <a:r>
              <a:rPr spc="-290" dirty="0"/>
              <a:t>n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140" dirty="0"/>
              <a:t>t</a:t>
            </a:r>
            <a:r>
              <a:rPr spc="-235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0" dirty="0"/>
              <a:t>u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272" y="1916683"/>
            <a:ext cx="8701405" cy="4155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Déclaration-initialisation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Exemples: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75285" algn="l"/>
              </a:tabLst>
            </a:pPr>
            <a:r>
              <a:rPr sz="14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1.	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[]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14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16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18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17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15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75285" algn="l"/>
                <a:tab pos="1408430" algn="l"/>
              </a:tabLst>
            </a:pPr>
            <a:r>
              <a:rPr sz="14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2.	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double	</a:t>
            </a:r>
            <a:r>
              <a:rPr sz="2400" spc="-5" dirty="0">
                <a:latin typeface="Times New Roman"/>
                <a:cs typeface="Times New Roman"/>
              </a:rPr>
              <a:t>valeursNum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[]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1.2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3.4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2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*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5.6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400">
              <a:latin typeface="Times New Roman"/>
              <a:cs typeface="Times New Roman"/>
            </a:endParaRPr>
          </a:p>
          <a:p>
            <a:pPr marL="375285" indent="-363220">
              <a:lnSpc>
                <a:spcPct val="100000"/>
              </a:lnSpc>
              <a:spcBef>
                <a:spcPts val="120"/>
              </a:spcBef>
              <a:buClr>
                <a:srgbClr val="006FC0"/>
              </a:buClr>
              <a:buSzPct val="58333"/>
              <a:buAutoNum type="arabicPeriod" startAt="3"/>
              <a:tabLst>
                <a:tab pos="375285" algn="l"/>
                <a:tab pos="375920" algn="l"/>
              </a:tabLst>
            </a:pP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char</a:t>
            </a:r>
            <a:r>
              <a:rPr sz="24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valCarac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[]</a:t>
            </a:r>
            <a:r>
              <a:rPr sz="24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400" dirty="0">
                <a:solidFill>
                  <a:srgbClr val="FF9900"/>
                </a:solidFill>
                <a:latin typeface="Times New Roman"/>
                <a:cs typeface="Times New Roman"/>
              </a:rPr>
              <a:t>‘a’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9900"/>
                </a:solidFill>
                <a:latin typeface="Times New Roman"/>
                <a:cs typeface="Times New Roman"/>
              </a:rPr>
              <a:t>‘b’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9900"/>
                </a:solidFill>
                <a:latin typeface="Times New Roman"/>
                <a:cs typeface="Times New Roman"/>
              </a:rPr>
              <a:t>‘c’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400">
              <a:latin typeface="Times New Roman"/>
              <a:cs typeface="Times New Roman"/>
            </a:endParaRPr>
          </a:p>
          <a:p>
            <a:pPr marL="375285" marR="679450" indent="-363220">
              <a:lnSpc>
                <a:spcPct val="80600"/>
              </a:lnSpc>
              <a:spcBef>
                <a:spcPts val="695"/>
              </a:spcBef>
              <a:buClr>
                <a:srgbClr val="006FC0"/>
              </a:buClr>
              <a:buSzPct val="58333"/>
              <a:buAutoNum type="arabicPeriod" startAt="3"/>
              <a:tabLst>
                <a:tab pos="375285" algn="l"/>
                <a:tab pos="375920" algn="l"/>
              </a:tabLst>
            </a:pPr>
            <a:r>
              <a:rPr sz="24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string</a:t>
            </a:r>
            <a:r>
              <a:rPr sz="2400" b="1" spc="-10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jours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[]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"lundi"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"mardi"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"mercredi"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"jeudi"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"vendredi"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200" spc="-5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06FC0"/>
                </a:solidFill>
                <a:latin typeface="Times New Roman"/>
                <a:cs typeface="Times New Roman"/>
              </a:rPr>
              <a:t>"samedi"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"dimanche"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75285" algn="l"/>
              </a:tabLst>
            </a:pPr>
            <a:r>
              <a:rPr sz="14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5.	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joursParMois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[]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31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28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31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30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31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30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31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31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30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31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30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31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75285" algn="l"/>
              </a:tabLst>
            </a:pPr>
            <a:r>
              <a:rPr sz="14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6.	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  <a:spcBef>
                <a:spcPts val="130"/>
              </a:spcBef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...</a:t>
            </a:r>
            <a:endParaRPr sz="24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  <a:spcBef>
                <a:spcPts val="120"/>
              </a:spcBef>
            </a:pP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tableau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[]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+</a:t>
            </a:r>
            <a:r>
              <a:rPr sz="2400" dirty="0">
                <a:latin typeface="Times New Roman"/>
                <a:cs typeface="Times New Roman"/>
              </a:rPr>
              <a:t>p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2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*</a:t>
            </a:r>
            <a:r>
              <a:rPr sz="2400" dirty="0">
                <a:latin typeface="Times New Roman"/>
                <a:cs typeface="Times New Roman"/>
              </a:rPr>
              <a:t>p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12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414527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5" dirty="0"/>
              <a:t>C</a:t>
            </a:r>
            <a:r>
              <a:rPr spc="-275" dirty="0"/>
              <a:t>r</a:t>
            </a:r>
            <a:r>
              <a:rPr spc="-280" dirty="0"/>
              <a:t>é</a:t>
            </a:r>
            <a:r>
              <a:rPr spc="-40" dirty="0"/>
              <a:t>a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0" dirty="0"/>
              <a:t>n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14" dirty="0"/>
              <a:t>’</a:t>
            </a:r>
            <a:r>
              <a:rPr spc="-250" dirty="0"/>
              <a:t>u</a:t>
            </a:r>
            <a:r>
              <a:rPr spc="-290" dirty="0"/>
              <a:t>n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140" dirty="0"/>
              <a:t>t</a:t>
            </a:r>
            <a:r>
              <a:rPr spc="-235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0" dirty="0"/>
              <a:t>u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7261" y="1824937"/>
            <a:ext cx="7832725" cy="328739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Initialisation</a:t>
            </a:r>
            <a:r>
              <a:rPr sz="2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de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tableaux à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un</a:t>
            </a:r>
            <a:r>
              <a:rPr sz="280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indice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400" spc="-5" dirty="0">
                <a:latin typeface="Times New Roman"/>
                <a:cs typeface="Times New Roman"/>
              </a:rPr>
              <a:t>On</a:t>
            </a:r>
            <a:r>
              <a:rPr sz="2400" dirty="0">
                <a:latin typeface="Times New Roman"/>
                <a:cs typeface="Times New Roman"/>
              </a:rPr>
              <a:t> peut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déclarer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constant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l’initialiser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comme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  <a:spcBef>
                <a:spcPts val="710"/>
              </a:spcBef>
            </a:pP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const char</a:t>
            </a:r>
            <a:r>
              <a:rPr sz="2400" b="1" spc="-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voyelles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[]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400" dirty="0">
                <a:solidFill>
                  <a:srgbClr val="FF9900"/>
                </a:solidFill>
                <a:latin typeface="Times New Roman"/>
                <a:cs typeface="Times New Roman"/>
              </a:rPr>
              <a:t>‘a’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9900"/>
                </a:solidFill>
                <a:latin typeface="Times New Roman"/>
                <a:cs typeface="Times New Roman"/>
              </a:rPr>
              <a:t>‘e’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9900"/>
                </a:solidFill>
                <a:latin typeface="Times New Roman"/>
                <a:cs typeface="Times New Roman"/>
              </a:rPr>
              <a:t>‘i’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9900"/>
                </a:solidFill>
                <a:latin typeface="Times New Roman"/>
                <a:cs typeface="Times New Roman"/>
              </a:rPr>
              <a:t>‘o’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400" dirty="0">
                <a:solidFill>
                  <a:srgbClr val="FF9900"/>
                </a:solidFill>
                <a:latin typeface="Times New Roman"/>
                <a:cs typeface="Times New Roman"/>
              </a:rPr>
              <a:t>‘u’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9900"/>
                </a:solidFill>
                <a:latin typeface="Times New Roman"/>
                <a:cs typeface="Times New Roman"/>
              </a:rPr>
              <a:t>‘y’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 marL="88265" marR="622935">
              <a:lnSpc>
                <a:spcPct val="124600"/>
              </a:lnSpc>
            </a:pPr>
            <a:r>
              <a:rPr sz="2400" spc="-5" dirty="0">
                <a:latin typeface="Times New Roman"/>
                <a:cs typeface="Times New Roman"/>
              </a:rPr>
              <a:t>Bien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entendu,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toute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tentative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ultérieure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modification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rejetée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  <a:spcBef>
                <a:spcPts val="695"/>
              </a:spcBef>
            </a:pPr>
            <a:r>
              <a:rPr sz="2400" dirty="0">
                <a:latin typeface="Times New Roman"/>
                <a:cs typeface="Times New Roman"/>
              </a:rPr>
              <a:t>voyelles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2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9900"/>
                </a:solidFill>
                <a:latin typeface="Times New Roman"/>
                <a:cs typeface="Times New Roman"/>
              </a:rPr>
              <a:t>’j’</a:t>
            </a:r>
            <a:r>
              <a:rPr sz="2400" spc="-190" dirty="0">
                <a:solidFill>
                  <a:srgbClr val="FF99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4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interdit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414527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5" dirty="0"/>
              <a:t>C</a:t>
            </a:r>
            <a:r>
              <a:rPr spc="-275" dirty="0"/>
              <a:t>r</a:t>
            </a:r>
            <a:r>
              <a:rPr spc="-280" dirty="0"/>
              <a:t>é</a:t>
            </a:r>
            <a:r>
              <a:rPr spc="-40" dirty="0"/>
              <a:t>a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0" dirty="0"/>
              <a:t>n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14" dirty="0"/>
              <a:t>’</a:t>
            </a:r>
            <a:r>
              <a:rPr spc="-250" dirty="0"/>
              <a:t>u</a:t>
            </a:r>
            <a:r>
              <a:rPr spc="-290" dirty="0"/>
              <a:t>n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140" dirty="0"/>
              <a:t>t</a:t>
            </a:r>
            <a:r>
              <a:rPr spc="-235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0" dirty="0"/>
              <a:t>u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904" y="1643591"/>
            <a:ext cx="170180" cy="170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200" b="1" dirty="0">
                <a:latin typeface="Arial"/>
                <a:cs typeface="Arial"/>
              </a:rPr>
              <a:t>14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5212" y="759967"/>
            <a:ext cx="4616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U</a:t>
            </a:r>
            <a:r>
              <a:rPr spc="-160" dirty="0"/>
              <a:t>tili</a:t>
            </a:r>
            <a:r>
              <a:rPr spc="-305" dirty="0"/>
              <a:t>s</a:t>
            </a:r>
            <a:r>
              <a:rPr spc="-40" dirty="0"/>
              <a:t>a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0" dirty="0"/>
              <a:t>n</a:t>
            </a:r>
            <a:r>
              <a:rPr b="0" spc="90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580" dirty="0"/>
              <a:t>T</a:t>
            </a:r>
            <a:r>
              <a:rPr spc="-110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6719" y="2554224"/>
            <a:ext cx="7763715" cy="322184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20685" y="1927351"/>
            <a:ext cx="65766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Accès</a:t>
            </a:r>
            <a:r>
              <a:rPr sz="28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individuel</a:t>
            </a:r>
            <a:r>
              <a:rPr sz="2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aux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éléments</a:t>
            </a:r>
            <a:r>
              <a:rPr sz="280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d’un</a:t>
            </a:r>
            <a:r>
              <a:rPr sz="280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tableau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4572" y="1646535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1200" b="1" spc="-35" dirty="0">
                <a:solidFill>
                  <a:srgbClr val="006FC0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904" y="1643591"/>
            <a:ext cx="170180" cy="170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200" b="1" dirty="0">
                <a:latin typeface="Arial"/>
                <a:cs typeface="Arial"/>
              </a:rPr>
              <a:t>15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5212" y="759967"/>
            <a:ext cx="4616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U</a:t>
            </a:r>
            <a:r>
              <a:rPr spc="-160" dirty="0"/>
              <a:t>tili</a:t>
            </a:r>
            <a:r>
              <a:rPr spc="-305" dirty="0"/>
              <a:t>s</a:t>
            </a:r>
            <a:r>
              <a:rPr spc="-40" dirty="0"/>
              <a:t>a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0" dirty="0"/>
              <a:t>n</a:t>
            </a:r>
            <a:r>
              <a:rPr b="0" spc="90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580" dirty="0"/>
              <a:t>T</a:t>
            </a:r>
            <a:r>
              <a:rPr spc="-110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7864" y="1988311"/>
            <a:ext cx="8969375" cy="3380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Affectation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de</a:t>
            </a:r>
            <a:r>
              <a:rPr sz="28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tableaux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5"/>
              </a:spcBef>
              <a:buClr>
                <a:srgbClr val="001F5F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Considérons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instructions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qui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créent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deux tableaux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d’entiers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tab1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</a:t>
            </a:r>
            <a:endParaRPr sz="2400">
              <a:latin typeface="Times New Roman"/>
              <a:cs typeface="Times New Roman"/>
            </a:endParaRPr>
          </a:p>
          <a:p>
            <a:pPr marL="354965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tab2</a:t>
            </a:r>
            <a:r>
              <a:rPr sz="2400" i="1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tab1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spc="-5" dirty="0">
                <a:solidFill>
                  <a:srgbClr val="FF32CC"/>
                </a:solidFill>
                <a:latin typeface="Times New Roman"/>
                <a:cs typeface="Times New Roman"/>
              </a:rPr>
              <a:t>4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sz="24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927100" marR="3712845">
              <a:lnSpc>
                <a:spcPct val="100000"/>
              </a:lnSpc>
            </a:pP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for</a:t>
            </a:r>
            <a:r>
              <a:rPr sz="24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4</a:t>
            </a:r>
            <a:r>
              <a:rPr sz="2400" spc="-15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++)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tab1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spc="-5" dirty="0">
                <a:latin typeface="Times New Roman"/>
                <a:cs typeface="Times New Roman"/>
              </a:rPr>
              <a:t>i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400" b="1" spc="-5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tab2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spc="-5" dirty="0">
                <a:solidFill>
                  <a:srgbClr val="FF32CC"/>
                </a:solidFill>
                <a:latin typeface="Times New Roman"/>
                <a:cs typeface="Times New Roman"/>
              </a:rPr>
              <a:t>4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tabLst>
                <a:tab pos="3851275" algn="l"/>
              </a:tabLst>
            </a:pP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for</a:t>
            </a:r>
            <a:r>
              <a:rPr sz="24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 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4</a:t>
            </a:r>
            <a:r>
              <a:rPr sz="2400" spc="-10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++)	</a:t>
            </a:r>
            <a:r>
              <a:rPr sz="2400" spc="-5" dirty="0">
                <a:latin typeface="Times New Roman"/>
                <a:cs typeface="Times New Roman"/>
              </a:rPr>
              <a:t>tab2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spc="-5" dirty="0">
                <a:latin typeface="Times New Roman"/>
                <a:cs typeface="Times New Roman"/>
              </a:rPr>
              <a:t>i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10</a:t>
            </a:r>
            <a:r>
              <a:rPr sz="2400" spc="-10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+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355600" marR="3828415" indent="-355600">
              <a:lnSpc>
                <a:spcPct val="100000"/>
              </a:lnSpc>
              <a:buClr>
                <a:srgbClr val="001F5F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Exécutons maintenant </a:t>
            </a:r>
            <a:r>
              <a:rPr sz="2400" spc="-10" dirty="0">
                <a:latin typeface="Times New Roman"/>
                <a:cs typeface="Times New Roman"/>
              </a:rPr>
              <a:t>l’affectation </a:t>
            </a:r>
            <a:r>
              <a:rPr sz="2400" dirty="0">
                <a:latin typeface="Times New Roman"/>
                <a:cs typeface="Times New Roman"/>
              </a:rPr>
              <a:t>: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tab1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tab2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Error:</a:t>
            </a:r>
            <a:r>
              <a:rPr sz="20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affectation</a:t>
            </a:r>
            <a:r>
              <a:rPr sz="20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impossible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4572" y="1646535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1200" b="1" spc="-35" dirty="0">
                <a:solidFill>
                  <a:srgbClr val="006FC0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5212" y="759967"/>
            <a:ext cx="4616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U</a:t>
            </a:r>
            <a:r>
              <a:rPr spc="-160" dirty="0"/>
              <a:t>tili</a:t>
            </a:r>
            <a:r>
              <a:rPr spc="-305" dirty="0"/>
              <a:t>s</a:t>
            </a:r>
            <a:r>
              <a:rPr spc="-40" dirty="0"/>
              <a:t>a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0" dirty="0"/>
              <a:t>n</a:t>
            </a:r>
            <a:r>
              <a:rPr b="0" spc="90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580" dirty="0"/>
              <a:t>T</a:t>
            </a:r>
            <a:r>
              <a:rPr spc="-110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1016" y="1988311"/>
            <a:ext cx="7598409" cy="31299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329"/>
              </a:lnSpc>
              <a:spcBef>
                <a:spcPts val="95"/>
              </a:spcBef>
            </a:pPr>
            <a:r>
              <a:rPr sz="28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Parcours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 d’un</a:t>
            </a:r>
            <a:r>
              <a:rPr sz="28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tableau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de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taille</a:t>
            </a:r>
            <a:r>
              <a:rPr sz="2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fixe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29"/>
              </a:lnSpc>
            </a:pPr>
            <a:r>
              <a:rPr sz="2800" b="1" spc="-225" dirty="0">
                <a:solidFill>
                  <a:srgbClr val="FF0000"/>
                </a:solidFill>
                <a:latin typeface="Arial"/>
                <a:cs typeface="Arial"/>
              </a:rPr>
              <a:t>Exemple: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tab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[]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1.1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2.2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3.3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4.4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2400" b="1" spc="-30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affiche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référence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donc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adresse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mémoire.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spc="-210" dirty="0">
                <a:solidFill>
                  <a:srgbClr val="FF0000"/>
                </a:solidFill>
                <a:latin typeface="Arial"/>
                <a:cs typeface="Arial"/>
              </a:rPr>
              <a:t>Résultat: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400" spc="5" dirty="0">
                <a:latin typeface="Microsoft Sans Serif"/>
                <a:cs typeface="Microsoft Sans Serif"/>
              </a:rPr>
              <a:t>0x28fef0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065" y="1621535"/>
            <a:ext cx="533400" cy="245745"/>
          </a:xfrm>
          <a:custGeom>
            <a:avLst/>
            <a:gdLst/>
            <a:ahLst/>
            <a:cxnLst/>
            <a:rect l="l" t="t" r="r" b="b"/>
            <a:pathLst>
              <a:path w="533400" h="245744">
                <a:moveTo>
                  <a:pt x="533400" y="0"/>
                </a:moveTo>
                <a:lnTo>
                  <a:pt x="0" y="0"/>
                </a:lnTo>
                <a:lnTo>
                  <a:pt x="0" y="240792"/>
                </a:lnTo>
                <a:lnTo>
                  <a:pt x="0" y="245364"/>
                </a:lnTo>
                <a:lnTo>
                  <a:pt x="533400" y="245364"/>
                </a:lnTo>
                <a:lnTo>
                  <a:pt x="533400" y="240792"/>
                </a:lnTo>
                <a:lnTo>
                  <a:pt x="533400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1200" b="1" spc="-35" dirty="0">
                <a:solidFill>
                  <a:srgbClr val="006FC0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5212" y="759967"/>
            <a:ext cx="4616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U</a:t>
            </a:r>
            <a:r>
              <a:rPr spc="-160" dirty="0"/>
              <a:t>tili</a:t>
            </a:r>
            <a:r>
              <a:rPr spc="-305" dirty="0"/>
              <a:t>s</a:t>
            </a:r>
            <a:r>
              <a:rPr spc="-40" dirty="0"/>
              <a:t>a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0" dirty="0"/>
              <a:t>n</a:t>
            </a:r>
            <a:r>
              <a:rPr b="0" spc="90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580" dirty="0"/>
              <a:t>T</a:t>
            </a:r>
            <a:r>
              <a:rPr spc="-110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1016" y="1988311"/>
            <a:ext cx="5386705" cy="38068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200"/>
              </a:lnSpc>
              <a:spcBef>
                <a:spcPts val="90"/>
              </a:spcBef>
            </a:pPr>
            <a:r>
              <a:rPr sz="28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Parcours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d’un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tableau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de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taille fixe </a:t>
            </a:r>
            <a:r>
              <a:rPr sz="2800" b="1" spc="-6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250" dirty="0">
                <a:solidFill>
                  <a:srgbClr val="6F2FA0"/>
                </a:solidFill>
                <a:latin typeface="Arial"/>
                <a:cs typeface="Arial"/>
              </a:rPr>
              <a:t>U</a:t>
            </a:r>
            <a:r>
              <a:rPr sz="2800" b="1" spc="-204" dirty="0">
                <a:solidFill>
                  <a:srgbClr val="6F2FA0"/>
                </a:solidFill>
                <a:latin typeface="Arial"/>
                <a:cs typeface="Arial"/>
              </a:rPr>
              <a:t>t</a:t>
            </a:r>
            <a:r>
              <a:rPr sz="2800" b="1" spc="-50" dirty="0">
                <a:solidFill>
                  <a:srgbClr val="6F2FA0"/>
                </a:solidFill>
                <a:latin typeface="Arial"/>
                <a:cs typeface="Arial"/>
              </a:rPr>
              <a:t>ili</a:t>
            </a:r>
            <a:r>
              <a:rPr sz="2800" b="1" spc="-375" dirty="0">
                <a:solidFill>
                  <a:srgbClr val="6F2FA0"/>
                </a:solidFill>
                <a:latin typeface="Arial"/>
                <a:cs typeface="Arial"/>
              </a:rPr>
              <a:t>s</a:t>
            </a:r>
            <a:r>
              <a:rPr sz="2800" b="1" spc="-25" dirty="0">
                <a:solidFill>
                  <a:srgbClr val="6F2FA0"/>
                </a:solidFill>
                <a:latin typeface="Arial"/>
                <a:cs typeface="Arial"/>
              </a:rPr>
              <a:t>a</a:t>
            </a:r>
            <a:r>
              <a:rPr sz="2800" b="1" spc="-204" dirty="0">
                <a:solidFill>
                  <a:srgbClr val="6F2FA0"/>
                </a:solidFill>
                <a:latin typeface="Arial"/>
                <a:cs typeface="Arial"/>
              </a:rPr>
              <a:t>t</a:t>
            </a:r>
            <a:r>
              <a:rPr sz="2800" b="1" spc="-50" dirty="0">
                <a:solidFill>
                  <a:srgbClr val="6F2FA0"/>
                </a:solidFill>
                <a:latin typeface="Arial"/>
                <a:cs typeface="Arial"/>
              </a:rPr>
              <a:t>i</a:t>
            </a:r>
            <a:r>
              <a:rPr sz="2800" b="1" spc="-229" dirty="0">
                <a:solidFill>
                  <a:srgbClr val="6F2FA0"/>
                </a:solidFill>
                <a:latin typeface="Arial"/>
                <a:cs typeface="Arial"/>
              </a:rPr>
              <a:t>on</a:t>
            </a:r>
            <a:r>
              <a:rPr sz="2800" spc="10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800" b="1" spc="-229" dirty="0">
                <a:solidFill>
                  <a:srgbClr val="6F2FA0"/>
                </a:solidFill>
                <a:latin typeface="Arial"/>
                <a:cs typeface="Arial"/>
              </a:rPr>
              <a:t>d</a:t>
            </a:r>
            <a:r>
              <a:rPr sz="2800" b="1" spc="-220" dirty="0">
                <a:solidFill>
                  <a:srgbClr val="6F2FA0"/>
                </a:solidFill>
                <a:latin typeface="Arial"/>
                <a:cs typeface="Arial"/>
              </a:rPr>
              <a:t>e</a:t>
            </a:r>
            <a:r>
              <a:rPr sz="2800" spc="45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800" b="1" spc="-50" dirty="0">
                <a:solidFill>
                  <a:srgbClr val="6F2FA0"/>
                </a:solidFill>
                <a:latin typeface="Arial"/>
                <a:cs typeface="Arial"/>
              </a:rPr>
              <a:t>l</a:t>
            </a:r>
            <a:r>
              <a:rPr sz="2800" b="1" spc="-85" dirty="0">
                <a:solidFill>
                  <a:srgbClr val="6F2FA0"/>
                </a:solidFill>
                <a:latin typeface="Arial"/>
                <a:cs typeface="Arial"/>
              </a:rPr>
              <a:t>a</a:t>
            </a:r>
            <a:r>
              <a:rPr sz="2800" spc="40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800" b="1" spc="-229" dirty="0">
                <a:solidFill>
                  <a:srgbClr val="6F2FA0"/>
                </a:solidFill>
                <a:latin typeface="Arial"/>
                <a:cs typeface="Arial"/>
              </a:rPr>
              <a:t>bou</a:t>
            </a:r>
            <a:r>
              <a:rPr sz="2800" b="1" spc="-434" dirty="0">
                <a:solidFill>
                  <a:srgbClr val="6F2FA0"/>
                </a:solidFill>
                <a:latin typeface="Arial"/>
                <a:cs typeface="Arial"/>
              </a:rPr>
              <a:t>c</a:t>
            </a:r>
            <a:r>
              <a:rPr sz="2800" b="1" spc="-50" dirty="0">
                <a:solidFill>
                  <a:srgbClr val="6F2FA0"/>
                </a:solidFill>
                <a:latin typeface="Arial"/>
                <a:cs typeface="Arial"/>
              </a:rPr>
              <a:t>l</a:t>
            </a:r>
            <a:r>
              <a:rPr sz="2800" b="1" spc="-220" dirty="0">
                <a:solidFill>
                  <a:srgbClr val="6F2FA0"/>
                </a:solidFill>
                <a:latin typeface="Arial"/>
                <a:cs typeface="Arial"/>
              </a:rPr>
              <a:t>e</a:t>
            </a:r>
            <a:r>
              <a:rPr sz="2800" spc="35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800" b="1" spc="-85" dirty="0">
                <a:solidFill>
                  <a:srgbClr val="6F2FA0"/>
                </a:solidFill>
                <a:latin typeface="Arial"/>
                <a:cs typeface="Arial"/>
              </a:rPr>
              <a:t>f</a:t>
            </a:r>
            <a:r>
              <a:rPr sz="2800" b="1" spc="-229" dirty="0">
                <a:solidFill>
                  <a:srgbClr val="6F2FA0"/>
                </a:solidFill>
                <a:latin typeface="Arial"/>
                <a:cs typeface="Arial"/>
              </a:rPr>
              <a:t>o</a:t>
            </a:r>
            <a:r>
              <a:rPr sz="2800" b="1" spc="-215" dirty="0">
                <a:solidFill>
                  <a:srgbClr val="6F2FA0"/>
                </a:solidFill>
                <a:latin typeface="Arial"/>
                <a:cs typeface="Arial"/>
              </a:rPr>
              <a:t>r</a:t>
            </a:r>
            <a:r>
              <a:rPr sz="2800" spc="40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800" b="1" spc="-434" dirty="0">
                <a:solidFill>
                  <a:srgbClr val="6F2FA0"/>
                </a:solidFill>
                <a:latin typeface="Arial"/>
                <a:cs typeface="Arial"/>
              </a:rPr>
              <a:t>c</a:t>
            </a:r>
            <a:r>
              <a:rPr sz="2800" b="1" spc="-50" dirty="0">
                <a:solidFill>
                  <a:srgbClr val="6F2FA0"/>
                </a:solidFill>
                <a:latin typeface="Arial"/>
                <a:cs typeface="Arial"/>
              </a:rPr>
              <a:t>l</a:t>
            </a:r>
            <a:r>
              <a:rPr sz="2800" b="1" spc="-85" dirty="0">
                <a:solidFill>
                  <a:srgbClr val="6F2FA0"/>
                </a:solidFill>
                <a:latin typeface="Arial"/>
                <a:cs typeface="Arial"/>
              </a:rPr>
              <a:t>a</a:t>
            </a:r>
            <a:r>
              <a:rPr sz="2800" b="1" spc="-375" dirty="0">
                <a:solidFill>
                  <a:srgbClr val="6F2FA0"/>
                </a:solidFill>
                <a:latin typeface="Arial"/>
                <a:cs typeface="Arial"/>
              </a:rPr>
              <a:t>ss</a:t>
            </a:r>
            <a:r>
              <a:rPr sz="2800" b="1" spc="-50" dirty="0">
                <a:solidFill>
                  <a:srgbClr val="6F2FA0"/>
                </a:solidFill>
                <a:latin typeface="Arial"/>
                <a:cs typeface="Arial"/>
              </a:rPr>
              <a:t>i</a:t>
            </a:r>
            <a:r>
              <a:rPr sz="2800" b="1" spc="-235" dirty="0">
                <a:solidFill>
                  <a:srgbClr val="6F2FA0"/>
                </a:solidFill>
                <a:latin typeface="Arial"/>
                <a:cs typeface="Arial"/>
              </a:rPr>
              <a:t>q</a:t>
            </a:r>
            <a:r>
              <a:rPr sz="2800" b="1" spc="-229" dirty="0">
                <a:solidFill>
                  <a:srgbClr val="6F2FA0"/>
                </a:solidFill>
                <a:latin typeface="Arial"/>
                <a:cs typeface="Arial"/>
              </a:rPr>
              <a:t>u</a:t>
            </a:r>
            <a:r>
              <a:rPr sz="2800" b="1" spc="-165" dirty="0">
                <a:solidFill>
                  <a:srgbClr val="6F2FA0"/>
                </a:solidFill>
                <a:latin typeface="Arial"/>
                <a:cs typeface="Arial"/>
              </a:rPr>
              <a:t>e </a:t>
            </a:r>
            <a:r>
              <a:rPr sz="2800" spc="-100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double </a:t>
            </a:r>
            <a:r>
              <a:rPr sz="2400" spc="-5" dirty="0">
                <a:latin typeface="Times New Roman"/>
                <a:cs typeface="Times New Roman"/>
              </a:rPr>
              <a:t>tab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[]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 {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1.1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2.2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3.3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4.4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for</a:t>
            </a:r>
            <a:r>
              <a:rPr sz="2400" b="1" spc="-6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r>
              <a:rPr sz="2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4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++){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2400" b="1" spc="-20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tab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spc="-5" dirty="0">
                <a:latin typeface="Times New Roman"/>
                <a:cs typeface="Times New Roman"/>
              </a:rPr>
              <a:t>i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];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Ou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for</a:t>
            </a:r>
            <a:r>
              <a:rPr sz="2400" b="1" spc="-6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size_t</a:t>
            </a:r>
            <a:r>
              <a:rPr sz="24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r>
              <a:rPr sz="2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4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++){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2400" b="1" spc="-20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tab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spc="-5" dirty="0">
                <a:latin typeface="Times New Roman"/>
                <a:cs typeface="Times New Roman"/>
              </a:rPr>
              <a:t>i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];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065" y="1621535"/>
            <a:ext cx="533400" cy="245745"/>
          </a:xfrm>
          <a:custGeom>
            <a:avLst/>
            <a:gdLst/>
            <a:ahLst/>
            <a:cxnLst/>
            <a:rect l="l" t="t" r="r" b="b"/>
            <a:pathLst>
              <a:path w="533400" h="245744">
                <a:moveTo>
                  <a:pt x="533400" y="0"/>
                </a:moveTo>
                <a:lnTo>
                  <a:pt x="0" y="0"/>
                </a:lnTo>
                <a:lnTo>
                  <a:pt x="0" y="240792"/>
                </a:lnTo>
                <a:lnTo>
                  <a:pt x="0" y="245364"/>
                </a:lnTo>
                <a:lnTo>
                  <a:pt x="533400" y="245364"/>
                </a:lnTo>
                <a:lnTo>
                  <a:pt x="533400" y="240792"/>
                </a:lnTo>
                <a:lnTo>
                  <a:pt x="533400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1200" b="1" spc="-35" dirty="0">
                <a:solidFill>
                  <a:srgbClr val="006FC0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5212" y="759967"/>
            <a:ext cx="4616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U</a:t>
            </a:r>
            <a:r>
              <a:rPr spc="-160" dirty="0"/>
              <a:t>tili</a:t>
            </a:r>
            <a:r>
              <a:rPr spc="-305" dirty="0"/>
              <a:t>s</a:t>
            </a:r>
            <a:r>
              <a:rPr spc="-40" dirty="0"/>
              <a:t>a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0" dirty="0"/>
              <a:t>n</a:t>
            </a:r>
            <a:r>
              <a:rPr b="0" spc="90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580" dirty="0"/>
              <a:t>T</a:t>
            </a:r>
            <a:r>
              <a:rPr spc="-110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1016" y="1988311"/>
            <a:ext cx="6875145" cy="8712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329"/>
              </a:lnSpc>
              <a:spcBef>
                <a:spcPts val="95"/>
              </a:spcBef>
            </a:pPr>
            <a:r>
              <a:rPr sz="2800" b="1" spc="-15" dirty="0">
                <a:solidFill>
                  <a:srgbClr val="B21216"/>
                </a:solidFill>
                <a:latin typeface="Times New Roman"/>
                <a:cs typeface="Times New Roman"/>
              </a:rPr>
              <a:t>Parcours</a:t>
            </a:r>
            <a:r>
              <a:rPr sz="2800" b="1" dirty="0">
                <a:solidFill>
                  <a:srgbClr val="B21216"/>
                </a:solidFill>
                <a:latin typeface="Times New Roman"/>
                <a:cs typeface="Times New Roman"/>
              </a:rPr>
              <a:t> d’un</a:t>
            </a:r>
            <a:r>
              <a:rPr sz="2800" b="1" spc="15" dirty="0">
                <a:solidFill>
                  <a:srgbClr val="B21216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B21216"/>
                </a:solidFill>
                <a:latin typeface="Times New Roman"/>
                <a:cs typeface="Times New Roman"/>
              </a:rPr>
              <a:t>tableau</a:t>
            </a:r>
            <a:r>
              <a:rPr sz="2800" b="1" spc="5" dirty="0">
                <a:solidFill>
                  <a:srgbClr val="B21216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B21216"/>
                </a:solidFill>
                <a:latin typeface="Times New Roman"/>
                <a:cs typeface="Times New Roman"/>
              </a:rPr>
              <a:t>de</a:t>
            </a:r>
            <a:r>
              <a:rPr sz="2800" b="1" spc="5" dirty="0">
                <a:solidFill>
                  <a:srgbClr val="B21216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B21216"/>
                </a:solidFill>
                <a:latin typeface="Times New Roman"/>
                <a:cs typeface="Times New Roman"/>
              </a:rPr>
              <a:t>taille</a:t>
            </a:r>
            <a:r>
              <a:rPr sz="2800" b="1" spc="-20" dirty="0">
                <a:solidFill>
                  <a:srgbClr val="B21216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B21216"/>
                </a:solidFill>
                <a:latin typeface="Times New Roman"/>
                <a:cs typeface="Times New Roman"/>
              </a:rPr>
              <a:t>fixe</a:t>
            </a:r>
            <a:r>
              <a:rPr sz="2800" b="1" spc="-10" dirty="0">
                <a:solidFill>
                  <a:srgbClr val="B21216"/>
                </a:solidFill>
                <a:latin typeface="Times New Roman"/>
                <a:cs typeface="Times New Roman"/>
              </a:rPr>
              <a:t> en</a:t>
            </a:r>
            <a:r>
              <a:rPr sz="2800" b="1" spc="15" dirty="0">
                <a:solidFill>
                  <a:srgbClr val="B21216"/>
                </a:solidFill>
                <a:latin typeface="Times New Roman"/>
                <a:cs typeface="Times New Roman"/>
              </a:rPr>
              <a:t> </a:t>
            </a:r>
            <a:r>
              <a:rPr sz="2800" b="1" spc="-35" dirty="0">
                <a:solidFill>
                  <a:srgbClr val="B21216"/>
                </a:solidFill>
                <a:latin typeface="Times New Roman"/>
                <a:cs typeface="Times New Roman"/>
              </a:rPr>
              <a:t>C++11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29"/>
              </a:lnSpc>
            </a:pPr>
            <a:r>
              <a:rPr sz="2800" b="1" spc="-250" dirty="0">
                <a:solidFill>
                  <a:srgbClr val="6F2FA0"/>
                </a:solidFill>
                <a:latin typeface="Arial"/>
                <a:cs typeface="Arial"/>
              </a:rPr>
              <a:t>U</a:t>
            </a:r>
            <a:r>
              <a:rPr sz="2800" b="1" spc="-204" dirty="0">
                <a:solidFill>
                  <a:srgbClr val="6F2FA0"/>
                </a:solidFill>
                <a:latin typeface="Arial"/>
                <a:cs typeface="Arial"/>
              </a:rPr>
              <a:t>t</a:t>
            </a:r>
            <a:r>
              <a:rPr sz="2800" b="1" spc="-50" dirty="0">
                <a:solidFill>
                  <a:srgbClr val="6F2FA0"/>
                </a:solidFill>
                <a:latin typeface="Arial"/>
                <a:cs typeface="Arial"/>
              </a:rPr>
              <a:t>ili</a:t>
            </a:r>
            <a:r>
              <a:rPr sz="2800" b="1" spc="-375" dirty="0">
                <a:solidFill>
                  <a:srgbClr val="6F2FA0"/>
                </a:solidFill>
                <a:latin typeface="Arial"/>
                <a:cs typeface="Arial"/>
              </a:rPr>
              <a:t>s</a:t>
            </a:r>
            <a:r>
              <a:rPr sz="2800" b="1" spc="-25" dirty="0">
                <a:solidFill>
                  <a:srgbClr val="6F2FA0"/>
                </a:solidFill>
                <a:latin typeface="Arial"/>
                <a:cs typeface="Arial"/>
              </a:rPr>
              <a:t>a</a:t>
            </a:r>
            <a:r>
              <a:rPr sz="2800" b="1" spc="-204" dirty="0">
                <a:solidFill>
                  <a:srgbClr val="6F2FA0"/>
                </a:solidFill>
                <a:latin typeface="Arial"/>
                <a:cs typeface="Arial"/>
              </a:rPr>
              <a:t>t</a:t>
            </a:r>
            <a:r>
              <a:rPr sz="2800" b="1" spc="-50" dirty="0">
                <a:solidFill>
                  <a:srgbClr val="6F2FA0"/>
                </a:solidFill>
                <a:latin typeface="Arial"/>
                <a:cs typeface="Arial"/>
              </a:rPr>
              <a:t>i</a:t>
            </a:r>
            <a:r>
              <a:rPr sz="2800" b="1" spc="-229" dirty="0">
                <a:solidFill>
                  <a:srgbClr val="6F2FA0"/>
                </a:solidFill>
                <a:latin typeface="Arial"/>
                <a:cs typeface="Arial"/>
              </a:rPr>
              <a:t>on</a:t>
            </a:r>
            <a:r>
              <a:rPr sz="2800" spc="10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800" b="1" spc="-229" dirty="0">
                <a:solidFill>
                  <a:srgbClr val="6F2FA0"/>
                </a:solidFill>
                <a:latin typeface="Arial"/>
                <a:cs typeface="Arial"/>
              </a:rPr>
              <a:t>d</a:t>
            </a:r>
            <a:r>
              <a:rPr sz="2800" b="1" spc="-220" dirty="0">
                <a:solidFill>
                  <a:srgbClr val="6F2FA0"/>
                </a:solidFill>
                <a:latin typeface="Arial"/>
                <a:cs typeface="Arial"/>
              </a:rPr>
              <a:t>e</a:t>
            </a:r>
            <a:r>
              <a:rPr sz="2800" spc="45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800" b="1" spc="-50" dirty="0">
                <a:solidFill>
                  <a:srgbClr val="6F2FA0"/>
                </a:solidFill>
                <a:latin typeface="Arial"/>
                <a:cs typeface="Arial"/>
              </a:rPr>
              <a:t>l</a:t>
            </a:r>
            <a:r>
              <a:rPr sz="2800" b="1" spc="-85" dirty="0">
                <a:solidFill>
                  <a:srgbClr val="6F2FA0"/>
                </a:solidFill>
                <a:latin typeface="Arial"/>
                <a:cs typeface="Arial"/>
              </a:rPr>
              <a:t>a</a:t>
            </a:r>
            <a:r>
              <a:rPr sz="2800" spc="40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800" b="1" spc="-229" dirty="0">
                <a:solidFill>
                  <a:srgbClr val="6F2FA0"/>
                </a:solidFill>
                <a:latin typeface="Arial"/>
                <a:cs typeface="Arial"/>
              </a:rPr>
              <a:t>bou</a:t>
            </a:r>
            <a:r>
              <a:rPr sz="2800" b="1" spc="-434" dirty="0">
                <a:solidFill>
                  <a:srgbClr val="6F2FA0"/>
                </a:solidFill>
                <a:latin typeface="Arial"/>
                <a:cs typeface="Arial"/>
              </a:rPr>
              <a:t>c</a:t>
            </a:r>
            <a:r>
              <a:rPr sz="2800" b="1" spc="-50" dirty="0">
                <a:solidFill>
                  <a:srgbClr val="6F2FA0"/>
                </a:solidFill>
                <a:latin typeface="Arial"/>
                <a:cs typeface="Arial"/>
              </a:rPr>
              <a:t>l</a:t>
            </a:r>
            <a:r>
              <a:rPr sz="2800" b="1" spc="-220" dirty="0">
                <a:solidFill>
                  <a:srgbClr val="6F2FA0"/>
                </a:solidFill>
                <a:latin typeface="Arial"/>
                <a:cs typeface="Arial"/>
              </a:rPr>
              <a:t>e</a:t>
            </a:r>
            <a:r>
              <a:rPr sz="2800" spc="35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800" b="1" spc="-85" dirty="0">
                <a:solidFill>
                  <a:srgbClr val="6F2FA0"/>
                </a:solidFill>
                <a:latin typeface="Arial"/>
                <a:cs typeface="Arial"/>
              </a:rPr>
              <a:t>f</a:t>
            </a:r>
            <a:r>
              <a:rPr sz="2800" b="1" spc="-229" dirty="0">
                <a:solidFill>
                  <a:srgbClr val="6F2FA0"/>
                </a:solidFill>
                <a:latin typeface="Arial"/>
                <a:cs typeface="Arial"/>
              </a:rPr>
              <a:t>o</a:t>
            </a:r>
            <a:r>
              <a:rPr sz="2800" b="1" spc="-75" dirty="0">
                <a:solidFill>
                  <a:srgbClr val="6F2FA0"/>
                </a:solidFill>
                <a:latin typeface="Arial"/>
                <a:cs typeface="Arial"/>
              </a:rPr>
              <a:t>r</a:t>
            </a:r>
            <a:r>
              <a:rPr sz="2800" b="1" spc="-60" dirty="0">
                <a:solidFill>
                  <a:srgbClr val="6F2FA0"/>
                </a:solidFill>
                <a:latin typeface="Arial"/>
                <a:cs typeface="Arial"/>
              </a:rPr>
              <a:t>-</a:t>
            </a:r>
            <a:r>
              <a:rPr sz="2800" b="1" spc="-220" dirty="0">
                <a:solidFill>
                  <a:srgbClr val="6F2FA0"/>
                </a:solidFill>
                <a:latin typeface="Arial"/>
                <a:cs typeface="Arial"/>
              </a:rPr>
              <a:t>e</a:t>
            </a:r>
            <a:r>
              <a:rPr sz="2800" b="1" spc="-85" dirty="0">
                <a:solidFill>
                  <a:srgbClr val="6F2FA0"/>
                </a:solidFill>
                <a:latin typeface="Arial"/>
                <a:cs typeface="Arial"/>
              </a:rPr>
              <a:t>a</a:t>
            </a:r>
            <a:r>
              <a:rPr sz="2800" b="1" spc="-434" dirty="0">
                <a:solidFill>
                  <a:srgbClr val="6F2FA0"/>
                </a:solidFill>
                <a:latin typeface="Arial"/>
                <a:cs typeface="Arial"/>
              </a:rPr>
              <a:t>c</a:t>
            </a:r>
            <a:r>
              <a:rPr sz="2800" b="1" spc="-229" dirty="0">
                <a:solidFill>
                  <a:srgbClr val="6F2FA0"/>
                </a:solidFill>
                <a:latin typeface="Arial"/>
                <a:cs typeface="Arial"/>
              </a:rPr>
              <a:t>h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7055" y="3109929"/>
            <a:ext cx="8657494" cy="193963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49052" y="5168898"/>
            <a:ext cx="540385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CC"/>
                </a:solidFill>
                <a:latin typeface="Times New Roman"/>
                <a:cs typeface="Times New Roman"/>
              </a:rPr>
              <a:t>type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éléments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342265" indent="-342265">
              <a:lnSpc>
                <a:spcPct val="100000"/>
              </a:lnSpc>
              <a:buClr>
                <a:srgbClr val="006FC0"/>
              </a:buClr>
              <a:buFont typeface="Wingdings"/>
              <a:buChar char=""/>
              <a:tabLst>
                <a:tab pos="3422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On </a:t>
            </a:r>
            <a:r>
              <a:rPr sz="2400" dirty="0">
                <a:latin typeface="Times New Roman"/>
                <a:cs typeface="Times New Roman"/>
              </a:rPr>
              <a:t>peut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également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utiliser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cette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syntaxe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31750" algn="ctr">
              <a:lnSpc>
                <a:spcPct val="100000"/>
              </a:lnSpc>
              <a:tabLst>
                <a:tab pos="3373754" algn="l"/>
              </a:tabLst>
            </a:pP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for</a:t>
            </a:r>
            <a:r>
              <a:rPr sz="24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auto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/>
                <a:cs typeface="Times New Roman"/>
              </a:rPr>
              <a:t>elem</a:t>
            </a:r>
            <a:r>
              <a:rPr sz="24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: </a:t>
            </a:r>
            <a:r>
              <a:rPr sz="2400" dirty="0">
                <a:solidFill>
                  <a:srgbClr val="0000CC"/>
                </a:solidFill>
                <a:latin typeface="Times New Roman"/>
                <a:cs typeface="Times New Roman"/>
              </a:rPr>
              <a:t>tableau</a:t>
            </a:r>
            <a:r>
              <a:rPr sz="24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)	</a:t>
            </a:r>
            <a:r>
              <a:rPr sz="2400" spc="-5" dirty="0">
                <a:solidFill>
                  <a:srgbClr val="0000CC"/>
                </a:solidFill>
                <a:latin typeface="Times New Roman"/>
                <a:cs typeface="Times New Roman"/>
              </a:rPr>
              <a:t>instruction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65" y="1621535"/>
            <a:ext cx="533400" cy="245745"/>
          </a:xfrm>
          <a:custGeom>
            <a:avLst/>
            <a:gdLst/>
            <a:ahLst/>
            <a:cxnLst/>
            <a:rect l="l" t="t" r="r" b="b"/>
            <a:pathLst>
              <a:path w="533400" h="245744">
                <a:moveTo>
                  <a:pt x="533400" y="0"/>
                </a:moveTo>
                <a:lnTo>
                  <a:pt x="0" y="0"/>
                </a:lnTo>
                <a:lnTo>
                  <a:pt x="0" y="240792"/>
                </a:lnTo>
                <a:lnTo>
                  <a:pt x="0" y="245364"/>
                </a:lnTo>
                <a:lnTo>
                  <a:pt x="533400" y="245364"/>
                </a:lnTo>
                <a:lnTo>
                  <a:pt x="533400" y="240792"/>
                </a:lnTo>
                <a:lnTo>
                  <a:pt x="533400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1200" b="1" spc="-35" dirty="0">
                <a:solidFill>
                  <a:srgbClr val="006FC0"/>
                </a:solidFill>
                <a:latin typeface="Arial"/>
                <a:cs typeface="Arial"/>
              </a:rPr>
              <a:t>8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5212" y="759967"/>
            <a:ext cx="4616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U</a:t>
            </a:r>
            <a:r>
              <a:rPr spc="-160" dirty="0"/>
              <a:t>tili</a:t>
            </a:r>
            <a:r>
              <a:rPr spc="-305" dirty="0"/>
              <a:t>s</a:t>
            </a:r>
            <a:r>
              <a:rPr spc="-40" dirty="0"/>
              <a:t>a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0" dirty="0"/>
              <a:t>n</a:t>
            </a:r>
            <a:r>
              <a:rPr b="0" spc="90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580" dirty="0"/>
              <a:t>T</a:t>
            </a:r>
            <a:r>
              <a:rPr spc="-110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1016" y="1953259"/>
            <a:ext cx="8905875" cy="4904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329"/>
              </a:lnSpc>
              <a:spcBef>
                <a:spcPts val="95"/>
              </a:spcBef>
            </a:pPr>
            <a:r>
              <a:rPr sz="2800" b="1" spc="-15" dirty="0">
                <a:solidFill>
                  <a:srgbClr val="B21216"/>
                </a:solidFill>
                <a:latin typeface="Times New Roman"/>
                <a:cs typeface="Times New Roman"/>
              </a:rPr>
              <a:t>Parcours</a:t>
            </a:r>
            <a:r>
              <a:rPr sz="2800" b="1" dirty="0">
                <a:solidFill>
                  <a:srgbClr val="B21216"/>
                </a:solidFill>
                <a:latin typeface="Times New Roman"/>
                <a:cs typeface="Times New Roman"/>
              </a:rPr>
              <a:t> d’un</a:t>
            </a:r>
            <a:r>
              <a:rPr sz="2800" b="1" spc="15" dirty="0">
                <a:solidFill>
                  <a:srgbClr val="B21216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B21216"/>
                </a:solidFill>
                <a:latin typeface="Times New Roman"/>
                <a:cs typeface="Times New Roman"/>
              </a:rPr>
              <a:t>tableau</a:t>
            </a:r>
            <a:r>
              <a:rPr sz="2800" b="1" spc="5" dirty="0">
                <a:solidFill>
                  <a:srgbClr val="B21216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B21216"/>
                </a:solidFill>
                <a:latin typeface="Times New Roman"/>
                <a:cs typeface="Times New Roman"/>
              </a:rPr>
              <a:t>de </a:t>
            </a:r>
            <a:r>
              <a:rPr sz="2800" b="1" spc="-5" dirty="0">
                <a:solidFill>
                  <a:srgbClr val="B21216"/>
                </a:solidFill>
                <a:latin typeface="Times New Roman"/>
                <a:cs typeface="Times New Roman"/>
              </a:rPr>
              <a:t>taille</a:t>
            </a:r>
            <a:r>
              <a:rPr sz="2800" b="1" spc="-20" dirty="0">
                <a:solidFill>
                  <a:srgbClr val="B21216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B21216"/>
                </a:solidFill>
                <a:latin typeface="Times New Roman"/>
                <a:cs typeface="Times New Roman"/>
              </a:rPr>
              <a:t>fixe </a:t>
            </a:r>
            <a:r>
              <a:rPr sz="2800" b="1" spc="-10" dirty="0">
                <a:solidFill>
                  <a:srgbClr val="B21216"/>
                </a:solidFill>
                <a:latin typeface="Times New Roman"/>
                <a:cs typeface="Times New Roman"/>
              </a:rPr>
              <a:t>en</a:t>
            </a:r>
            <a:r>
              <a:rPr sz="2800" b="1" spc="10" dirty="0">
                <a:solidFill>
                  <a:srgbClr val="B21216"/>
                </a:solidFill>
                <a:latin typeface="Times New Roman"/>
                <a:cs typeface="Times New Roman"/>
              </a:rPr>
              <a:t> </a:t>
            </a:r>
            <a:r>
              <a:rPr sz="2800" b="1" spc="-35" dirty="0">
                <a:solidFill>
                  <a:srgbClr val="B21216"/>
                </a:solidFill>
                <a:latin typeface="Times New Roman"/>
                <a:cs typeface="Times New Roman"/>
              </a:rPr>
              <a:t>C++11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29"/>
              </a:lnSpc>
            </a:pPr>
            <a:r>
              <a:rPr sz="2800" b="1" spc="-250" dirty="0">
                <a:solidFill>
                  <a:srgbClr val="6F2FA0"/>
                </a:solidFill>
                <a:latin typeface="Arial"/>
                <a:cs typeface="Arial"/>
              </a:rPr>
              <a:t>U</a:t>
            </a:r>
            <a:r>
              <a:rPr sz="2800" b="1" spc="-204" dirty="0">
                <a:solidFill>
                  <a:srgbClr val="6F2FA0"/>
                </a:solidFill>
                <a:latin typeface="Arial"/>
                <a:cs typeface="Arial"/>
              </a:rPr>
              <a:t>t</a:t>
            </a:r>
            <a:r>
              <a:rPr sz="2800" b="1" spc="-50" dirty="0">
                <a:solidFill>
                  <a:srgbClr val="6F2FA0"/>
                </a:solidFill>
                <a:latin typeface="Arial"/>
                <a:cs typeface="Arial"/>
              </a:rPr>
              <a:t>ili</a:t>
            </a:r>
            <a:r>
              <a:rPr sz="2800" b="1" spc="-375" dirty="0">
                <a:solidFill>
                  <a:srgbClr val="6F2FA0"/>
                </a:solidFill>
                <a:latin typeface="Arial"/>
                <a:cs typeface="Arial"/>
              </a:rPr>
              <a:t>s</a:t>
            </a:r>
            <a:r>
              <a:rPr sz="2800" b="1" spc="-25" dirty="0">
                <a:solidFill>
                  <a:srgbClr val="6F2FA0"/>
                </a:solidFill>
                <a:latin typeface="Arial"/>
                <a:cs typeface="Arial"/>
              </a:rPr>
              <a:t>a</a:t>
            </a:r>
            <a:r>
              <a:rPr sz="2800" b="1" spc="-204" dirty="0">
                <a:solidFill>
                  <a:srgbClr val="6F2FA0"/>
                </a:solidFill>
                <a:latin typeface="Arial"/>
                <a:cs typeface="Arial"/>
              </a:rPr>
              <a:t>t</a:t>
            </a:r>
            <a:r>
              <a:rPr sz="2800" b="1" spc="-50" dirty="0">
                <a:solidFill>
                  <a:srgbClr val="6F2FA0"/>
                </a:solidFill>
                <a:latin typeface="Arial"/>
                <a:cs typeface="Arial"/>
              </a:rPr>
              <a:t>i</a:t>
            </a:r>
            <a:r>
              <a:rPr sz="2800" b="1" spc="-229" dirty="0">
                <a:solidFill>
                  <a:srgbClr val="6F2FA0"/>
                </a:solidFill>
                <a:latin typeface="Arial"/>
                <a:cs typeface="Arial"/>
              </a:rPr>
              <a:t>on</a:t>
            </a:r>
            <a:r>
              <a:rPr sz="2800" spc="10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800" b="1" spc="-229" dirty="0">
                <a:solidFill>
                  <a:srgbClr val="6F2FA0"/>
                </a:solidFill>
                <a:latin typeface="Arial"/>
                <a:cs typeface="Arial"/>
              </a:rPr>
              <a:t>d</a:t>
            </a:r>
            <a:r>
              <a:rPr sz="2800" b="1" spc="-220" dirty="0">
                <a:solidFill>
                  <a:srgbClr val="6F2FA0"/>
                </a:solidFill>
                <a:latin typeface="Arial"/>
                <a:cs typeface="Arial"/>
              </a:rPr>
              <a:t>e</a:t>
            </a:r>
            <a:r>
              <a:rPr sz="2800" spc="45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800" b="1" spc="-50" dirty="0">
                <a:solidFill>
                  <a:srgbClr val="6F2FA0"/>
                </a:solidFill>
                <a:latin typeface="Arial"/>
                <a:cs typeface="Arial"/>
              </a:rPr>
              <a:t>l</a:t>
            </a:r>
            <a:r>
              <a:rPr sz="2800" b="1" spc="-85" dirty="0">
                <a:solidFill>
                  <a:srgbClr val="6F2FA0"/>
                </a:solidFill>
                <a:latin typeface="Arial"/>
                <a:cs typeface="Arial"/>
              </a:rPr>
              <a:t>a</a:t>
            </a:r>
            <a:r>
              <a:rPr sz="2800" spc="40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800" b="1" spc="-229" dirty="0">
                <a:solidFill>
                  <a:srgbClr val="6F2FA0"/>
                </a:solidFill>
                <a:latin typeface="Arial"/>
                <a:cs typeface="Arial"/>
              </a:rPr>
              <a:t>bou</a:t>
            </a:r>
            <a:r>
              <a:rPr sz="2800" b="1" spc="-434" dirty="0">
                <a:solidFill>
                  <a:srgbClr val="6F2FA0"/>
                </a:solidFill>
                <a:latin typeface="Arial"/>
                <a:cs typeface="Arial"/>
              </a:rPr>
              <a:t>c</a:t>
            </a:r>
            <a:r>
              <a:rPr sz="2800" b="1" spc="-50" dirty="0">
                <a:solidFill>
                  <a:srgbClr val="6F2FA0"/>
                </a:solidFill>
                <a:latin typeface="Arial"/>
                <a:cs typeface="Arial"/>
              </a:rPr>
              <a:t>l</a:t>
            </a:r>
            <a:r>
              <a:rPr sz="2800" b="1" spc="-220" dirty="0">
                <a:solidFill>
                  <a:srgbClr val="6F2FA0"/>
                </a:solidFill>
                <a:latin typeface="Arial"/>
                <a:cs typeface="Arial"/>
              </a:rPr>
              <a:t>e</a:t>
            </a:r>
            <a:r>
              <a:rPr sz="2800" spc="35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800" b="1" spc="-85" dirty="0">
                <a:solidFill>
                  <a:srgbClr val="6F2FA0"/>
                </a:solidFill>
                <a:latin typeface="Arial"/>
                <a:cs typeface="Arial"/>
              </a:rPr>
              <a:t>f</a:t>
            </a:r>
            <a:r>
              <a:rPr sz="2800" b="1" spc="-229" dirty="0">
                <a:solidFill>
                  <a:srgbClr val="6F2FA0"/>
                </a:solidFill>
                <a:latin typeface="Arial"/>
                <a:cs typeface="Arial"/>
              </a:rPr>
              <a:t>o</a:t>
            </a:r>
            <a:r>
              <a:rPr sz="2800" b="1" spc="-75" dirty="0">
                <a:solidFill>
                  <a:srgbClr val="6F2FA0"/>
                </a:solidFill>
                <a:latin typeface="Arial"/>
                <a:cs typeface="Arial"/>
              </a:rPr>
              <a:t>r</a:t>
            </a:r>
            <a:r>
              <a:rPr sz="2800" b="1" spc="-60" dirty="0">
                <a:solidFill>
                  <a:srgbClr val="6F2FA0"/>
                </a:solidFill>
                <a:latin typeface="Arial"/>
                <a:cs typeface="Arial"/>
              </a:rPr>
              <a:t>-</a:t>
            </a:r>
            <a:r>
              <a:rPr sz="2800" b="1" spc="-220" dirty="0">
                <a:solidFill>
                  <a:srgbClr val="6F2FA0"/>
                </a:solidFill>
                <a:latin typeface="Arial"/>
                <a:cs typeface="Arial"/>
              </a:rPr>
              <a:t>e</a:t>
            </a:r>
            <a:r>
              <a:rPr sz="2800" b="1" spc="-85" dirty="0">
                <a:solidFill>
                  <a:srgbClr val="6F2FA0"/>
                </a:solidFill>
                <a:latin typeface="Arial"/>
                <a:cs typeface="Arial"/>
              </a:rPr>
              <a:t>a</a:t>
            </a:r>
            <a:r>
              <a:rPr sz="2800" b="1" spc="-434" dirty="0">
                <a:solidFill>
                  <a:srgbClr val="6F2FA0"/>
                </a:solidFill>
                <a:latin typeface="Arial"/>
                <a:cs typeface="Arial"/>
              </a:rPr>
              <a:t>c</a:t>
            </a:r>
            <a:r>
              <a:rPr sz="2800" b="1" spc="-229" dirty="0">
                <a:solidFill>
                  <a:srgbClr val="6F2FA0"/>
                </a:solidFill>
                <a:latin typeface="Arial"/>
                <a:cs typeface="Arial"/>
              </a:rPr>
              <a:t>h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400" b="1" spc="-210" dirty="0">
                <a:solidFill>
                  <a:srgbClr val="FF0000"/>
                </a:solidFill>
                <a:latin typeface="Arial"/>
                <a:cs typeface="Arial"/>
              </a:rPr>
              <a:t>Exemples:</a:t>
            </a:r>
            <a:r>
              <a:rPr sz="24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135" dirty="0">
                <a:solidFill>
                  <a:srgbClr val="FF0000"/>
                </a:solidFill>
                <a:latin typeface="Arial"/>
                <a:cs typeface="Arial"/>
              </a:rPr>
              <a:t>itération</a:t>
            </a:r>
            <a:r>
              <a:rPr sz="24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235" dirty="0">
                <a:solidFill>
                  <a:srgbClr val="FF0000"/>
                </a:solidFill>
                <a:latin typeface="Arial"/>
                <a:cs typeface="Arial"/>
              </a:rPr>
              <a:t>sur</a:t>
            </a:r>
            <a:r>
              <a:rPr sz="24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195" dirty="0">
                <a:solidFill>
                  <a:srgbClr val="FF0000"/>
                </a:solidFill>
                <a:latin typeface="Arial"/>
                <a:cs typeface="Arial"/>
              </a:rPr>
              <a:t>ensemble</a:t>
            </a:r>
            <a:r>
              <a:rPr sz="24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195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24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155" dirty="0">
                <a:solidFill>
                  <a:srgbClr val="FF0000"/>
                </a:solidFill>
                <a:latin typeface="Arial"/>
                <a:cs typeface="Arial"/>
              </a:rPr>
              <a:t>valeurs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1)</a:t>
            </a:r>
            <a:endParaRPr sz="24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</a:pP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B41717"/>
                </a:solidFill>
                <a:latin typeface="Times New Roman"/>
                <a:cs typeface="Times New Roman"/>
              </a:rPr>
              <a:t>tab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[]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1.1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2.2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3.3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4.4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tabLst>
                <a:tab pos="3611879" algn="l"/>
              </a:tabLst>
            </a:pP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for</a:t>
            </a:r>
            <a:r>
              <a:rPr sz="2400" b="1" spc="-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double </a:t>
            </a:r>
            <a:r>
              <a:rPr sz="2400" dirty="0">
                <a:latin typeface="Times New Roman"/>
                <a:cs typeface="Times New Roman"/>
              </a:rPr>
              <a:t>val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B41717"/>
                </a:solidFill>
                <a:latin typeface="Times New Roman"/>
                <a:cs typeface="Times New Roman"/>
              </a:rPr>
              <a:t>tab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){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//ou	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for</a:t>
            </a:r>
            <a:r>
              <a:rPr sz="2400" b="1" spc="-6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auto</a:t>
            </a:r>
            <a:r>
              <a:rPr sz="2400" b="1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B41717"/>
                </a:solidFill>
                <a:latin typeface="Times New Roman"/>
                <a:cs typeface="Times New Roman"/>
              </a:rPr>
              <a:t>tab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</a:pPr>
            <a:r>
              <a:rPr sz="24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2400" b="1" spc="-15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2)</a:t>
            </a:r>
            <a:endParaRPr sz="24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</a:pP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string</a:t>
            </a:r>
            <a:r>
              <a:rPr sz="24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B41717"/>
                </a:solidFill>
                <a:latin typeface="Times New Roman"/>
                <a:cs typeface="Times New Roman"/>
              </a:rPr>
              <a:t>villes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[]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"Rabat"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"Berlin"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Times New Roman"/>
                <a:cs typeface="Times New Roman"/>
              </a:rPr>
              <a:t>"Paris"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Times New Roman"/>
                <a:cs typeface="Times New Roman"/>
              </a:rPr>
              <a:t>"Marrakech"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4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</a:pP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for</a:t>
            </a:r>
            <a:r>
              <a:rPr sz="2400" b="1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auto</a:t>
            </a:r>
            <a:r>
              <a:rPr sz="24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B41717"/>
                </a:solidFill>
                <a:latin typeface="Times New Roman"/>
                <a:cs typeface="Times New Roman"/>
              </a:rPr>
              <a:t>villes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B04F"/>
                </a:solidFill>
                <a:latin typeface="Times New Roman"/>
                <a:cs typeface="Times New Roman"/>
              </a:rPr>
              <a:t>//type</a:t>
            </a:r>
            <a:r>
              <a:rPr sz="18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00B04F"/>
                </a:solidFill>
                <a:latin typeface="Times New Roman"/>
                <a:cs typeface="Times New Roman"/>
              </a:rPr>
              <a:t>est </a:t>
            </a:r>
            <a:r>
              <a:rPr sz="1800" dirty="0">
                <a:solidFill>
                  <a:srgbClr val="00B04F"/>
                </a:solidFill>
                <a:latin typeface="Times New Roman"/>
                <a:cs typeface="Times New Roman"/>
              </a:rPr>
              <a:t>auto,</a:t>
            </a:r>
            <a:r>
              <a:rPr sz="18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B04F"/>
                </a:solidFill>
                <a:latin typeface="Times New Roman"/>
                <a:cs typeface="Times New Roman"/>
              </a:rPr>
              <a:t>donc</a:t>
            </a:r>
            <a:r>
              <a:rPr sz="18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B04F"/>
                </a:solidFill>
                <a:latin typeface="Times New Roman"/>
                <a:cs typeface="Times New Roman"/>
              </a:rPr>
              <a:t>celui</a:t>
            </a:r>
            <a:r>
              <a:rPr sz="180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1800" spc="-5" dirty="0">
                <a:solidFill>
                  <a:srgbClr val="00B04F"/>
                </a:solidFill>
                <a:latin typeface="Times New Roman"/>
                <a:cs typeface="Times New Roman"/>
              </a:rPr>
              <a:t> str</a:t>
            </a:r>
            <a:r>
              <a:rPr sz="18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00B04F"/>
                </a:solidFill>
                <a:latin typeface="Times New Roman"/>
                <a:cs typeface="Times New Roman"/>
              </a:rPr>
              <a:t>est </a:t>
            </a:r>
            <a:r>
              <a:rPr sz="1800" dirty="0">
                <a:solidFill>
                  <a:srgbClr val="00B04F"/>
                </a:solidFill>
                <a:latin typeface="Times New Roman"/>
                <a:cs typeface="Times New Roman"/>
              </a:rPr>
              <a:t>déduit</a:t>
            </a:r>
            <a:r>
              <a:rPr sz="180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B04F"/>
                </a:solidFill>
                <a:latin typeface="Times New Roman"/>
                <a:cs typeface="Times New Roman"/>
              </a:rPr>
              <a:t>du</a:t>
            </a:r>
            <a:r>
              <a:rPr sz="18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00B04F"/>
                </a:solidFill>
                <a:latin typeface="Times New Roman"/>
                <a:cs typeface="Times New Roman"/>
              </a:rPr>
              <a:t>type</a:t>
            </a:r>
            <a:r>
              <a:rPr sz="18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B04F"/>
                </a:solidFill>
                <a:latin typeface="Times New Roman"/>
                <a:cs typeface="Times New Roman"/>
              </a:rPr>
              <a:t>du</a:t>
            </a:r>
            <a:r>
              <a:rPr sz="180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B04F"/>
                </a:solidFill>
                <a:latin typeface="Times New Roman"/>
                <a:cs typeface="Times New Roman"/>
              </a:rPr>
              <a:t>tableau</a:t>
            </a:r>
            <a:r>
              <a:rPr sz="18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B04F"/>
                </a:solidFill>
                <a:latin typeface="Times New Roman"/>
                <a:cs typeface="Times New Roman"/>
              </a:rPr>
              <a:t>villes</a:t>
            </a:r>
            <a:endParaRPr sz="180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</a:pPr>
            <a:r>
              <a:rPr sz="24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2400" b="1" spc="-15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065" y="1621535"/>
            <a:ext cx="533400" cy="245745"/>
          </a:xfrm>
          <a:custGeom>
            <a:avLst/>
            <a:gdLst/>
            <a:ahLst/>
            <a:cxnLst/>
            <a:rect l="l" t="t" r="r" b="b"/>
            <a:pathLst>
              <a:path w="533400" h="245744">
                <a:moveTo>
                  <a:pt x="533400" y="0"/>
                </a:moveTo>
                <a:lnTo>
                  <a:pt x="0" y="0"/>
                </a:lnTo>
                <a:lnTo>
                  <a:pt x="0" y="240792"/>
                </a:lnTo>
                <a:lnTo>
                  <a:pt x="0" y="245364"/>
                </a:lnTo>
                <a:lnTo>
                  <a:pt x="533400" y="245364"/>
                </a:lnTo>
                <a:lnTo>
                  <a:pt x="533400" y="240792"/>
                </a:lnTo>
                <a:lnTo>
                  <a:pt x="533400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1200" b="1" spc="-35" dirty="0">
                <a:solidFill>
                  <a:srgbClr val="006FC0"/>
                </a:solidFill>
                <a:latin typeface="Arial"/>
                <a:cs typeface="Arial"/>
              </a:rPr>
              <a:t>9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5212" y="759967"/>
            <a:ext cx="4616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U</a:t>
            </a:r>
            <a:r>
              <a:rPr spc="-160" dirty="0"/>
              <a:t>tili</a:t>
            </a:r>
            <a:r>
              <a:rPr spc="-305" dirty="0"/>
              <a:t>s</a:t>
            </a:r>
            <a:r>
              <a:rPr spc="-40" dirty="0"/>
              <a:t>a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0" dirty="0"/>
              <a:t>n</a:t>
            </a:r>
            <a:r>
              <a:rPr b="0" spc="90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580" dirty="0"/>
              <a:t>T</a:t>
            </a:r>
            <a:r>
              <a:rPr spc="-110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1016" y="1854199"/>
            <a:ext cx="8748395" cy="3441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329"/>
              </a:lnSpc>
              <a:spcBef>
                <a:spcPts val="95"/>
              </a:spcBef>
            </a:pPr>
            <a:r>
              <a:rPr sz="2800" b="1" spc="-5" dirty="0">
                <a:solidFill>
                  <a:srgbClr val="B21216"/>
                </a:solidFill>
                <a:latin typeface="Times New Roman"/>
                <a:cs typeface="Times New Roman"/>
              </a:rPr>
              <a:t>Utilisation</a:t>
            </a:r>
            <a:r>
              <a:rPr sz="2800" b="1" spc="-20" dirty="0">
                <a:solidFill>
                  <a:srgbClr val="B21216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B21216"/>
                </a:solidFill>
                <a:latin typeface="Times New Roman"/>
                <a:cs typeface="Times New Roman"/>
              </a:rPr>
              <a:t>de </a:t>
            </a:r>
            <a:r>
              <a:rPr sz="2800" b="1" spc="-5" dirty="0">
                <a:solidFill>
                  <a:srgbClr val="B21216"/>
                </a:solidFill>
                <a:latin typeface="Times New Roman"/>
                <a:cs typeface="Times New Roman"/>
              </a:rPr>
              <a:t>la</a:t>
            </a:r>
            <a:r>
              <a:rPr sz="2800" b="1" spc="-10" dirty="0">
                <a:solidFill>
                  <a:srgbClr val="B21216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B21216"/>
                </a:solidFill>
                <a:latin typeface="Times New Roman"/>
                <a:cs typeface="Times New Roman"/>
              </a:rPr>
              <a:t>boucle</a:t>
            </a:r>
            <a:r>
              <a:rPr sz="2800" b="1" spc="-10" dirty="0">
                <a:solidFill>
                  <a:srgbClr val="B21216"/>
                </a:solidFill>
                <a:latin typeface="Times New Roman"/>
                <a:cs typeface="Times New Roman"/>
              </a:rPr>
              <a:t> </a:t>
            </a:r>
            <a:r>
              <a:rPr sz="2800" b="1" spc="-20" dirty="0">
                <a:solidFill>
                  <a:srgbClr val="B21216"/>
                </a:solidFill>
                <a:latin typeface="Times New Roman"/>
                <a:cs typeface="Times New Roman"/>
              </a:rPr>
              <a:t>for-each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29"/>
              </a:lnSpc>
            </a:pPr>
            <a:r>
              <a:rPr sz="2800" b="1" spc="-48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800" b="1" spc="-22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800" b="1" spc="-275" dirty="0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sz="2800" b="1" spc="-8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800" b="1" spc="-19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800" b="1" spc="-235" dirty="0">
                <a:solidFill>
                  <a:srgbClr val="FF0000"/>
                </a:solidFill>
                <a:latin typeface="Arial"/>
                <a:cs typeface="Arial"/>
              </a:rPr>
              <a:t>q</a:t>
            </a:r>
            <a:r>
              <a:rPr sz="2800" b="1" spc="-229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2800" b="1" spc="-22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8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50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800" b="1" spc="-275" dirty="0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sz="2800" b="1" spc="-229" dirty="0">
                <a:solidFill>
                  <a:srgbClr val="FF0000"/>
                </a:solidFill>
                <a:latin typeface="Arial"/>
                <a:cs typeface="Arial"/>
              </a:rPr>
              <a:t>po</a:t>
            </a:r>
            <a:r>
              <a:rPr sz="2800" b="1" spc="-7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800" b="1" spc="-204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800" b="1" spc="-8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800" b="1" spc="-229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2800" b="1" spc="-204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800" b="1" spc="-22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5"/>
              </a:spcBef>
              <a:buClr>
                <a:srgbClr val="0000CC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faut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bien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boucle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6F2FA0"/>
                </a:solidFill>
                <a:latin typeface="Times New Roman"/>
                <a:cs typeface="Times New Roman"/>
              </a:rPr>
              <a:t>for-each:</a:t>
            </a:r>
            <a:endParaRPr sz="2400">
              <a:latin typeface="Times New Roman"/>
              <a:cs typeface="Times New Roman"/>
            </a:endParaRPr>
          </a:p>
          <a:p>
            <a:pPr marL="355600" marR="215900" lvl="1" indent="-71755">
              <a:lnSpc>
                <a:spcPct val="100000"/>
              </a:lnSpc>
              <a:buClr>
                <a:srgbClr val="0000CC"/>
              </a:buClr>
              <a:buFont typeface="Wingdings"/>
              <a:buChar char=""/>
              <a:tabLst>
                <a:tab pos="599440" algn="l"/>
              </a:tabLst>
            </a:pPr>
            <a:r>
              <a:rPr sz="2400" spc="-5" dirty="0">
                <a:latin typeface="Times New Roman"/>
                <a:cs typeface="Times New Roman"/>
              </a:rPr>
              <a:t>Ne permet </a:t>
            </a:r>
            <a:r>
              <a:rPr sz="2400" dirty="0">
                <a:latin typeface="Times New Roman"/>
                <a:cs typeface="Times New Roman"/>
              </a:rPr>
              <a:t>d’itérer que sur un seul tableau à la </a:t>
            </a:r>
            <a:r>
              <a:rPr sz="2400" spc="-5" dirty="0">
                <a:latin typeface="Times New Roman"/>
                <a:cs typeface="Times New Roman"/>
              </a:rPr>
              <a:t>fois: </a:t>
            </a:r>
            <a:r>
              <a:rPr sz="2400" dirty="0">
                <a:latin typeface="Times New Roman"/>
                <a:cs typeface="Times New Roman"/>
              </a:rPr>
              <a:t>il n’est pas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possible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traverser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passe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deux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tableaux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pour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comparer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exemple.</a:t>
            </a:r>
            <a:endParaRPr sz="2400">
              <a:latin typeface="Times New Roman"/>
              <a:cs typeface="Times New Roman"/>
            </a:endParaRPr>
          </a:p>
          <a:p>
            <a:pPr marL="355600" marR="93980" lvl="1" indent="-71755">
              <a:lnSpc>
                <a:spcPct val="100000"/>
              </a:lnSpc>
              <a:buClr>
                <a:srgbClr val="0000CC"/>
              </a:buClr>
              <a:buFont typeface="Wingdings"/>
              <a:buChar char=""/>
              <a:tabLst>
                <a:tab pos="599440" algn="l"/>
              </a:tabLst>
            </a:pPr>
            <a:r>
              <a:rPr sz="2400" spc="-5" dirty="0">
                <a:latin typeface="Times New Roman"/>
                <a:cs typeface="Times New Roman"/>
              </a:rPr>
              <a:t>Ne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permet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l’accés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qu’à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seul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élément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tableau: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peut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exemple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comparer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 </a:t>
            </a:r>
            <a:r>
              <a:rPr sz="2400" spc="-5" dirty="0">
                <a:latin typeface="Times New Roman"/>
                <a:cs typeface="Times New Roman"/>
              </a:rPr>
              <a:t>élément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 tableau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suivant.</a:t>
            </a:r>
            <a:endParaRPr sz="2400">
              <a:latin typeface="Times New Roman"/>
              <a:cs typeface="Times New Roman"/>
            </a:endParaRPr>
          </a:p>
          <a:p>
            <a:pPr marL="599440" lvl="1" indent="-315595">
              <a:lnSpc>
                <a:spcPct val="100000"/>
              </a:lnSpc>
              <a:buClr>
                <a:srgbClr val="0000CC"/>
              </a:buClr>
              <a:buFont typeface="Wingdings"/>
              <a:buChar char=""/>
              <a:tabLst>
                <a:tab pos="599440" algn="l"/>
              </a:tabLst>
            </a:pPr>
            <a:r>
              <a:rPr sz="2400" spc="-5" dirty="0">
                <a:latin typeface="Times New Roman"/>
                <a:cs typeface="Times New Roman"/>
              </a:rPr>
              <a:t>Ne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permet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d’itèrer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d’un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avant,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sauter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5" dirty="0">
                <a:latin typeface="Times New Roman"/>
                <a:cs typeface="Times New Roman"/>
              </a:rPr>
              <a:t> éléments…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065" y="1621535"/>
            <a:ext cx="533400" cy="245745"/>
          </a:xfrm>
          <a:custGeom>
            <a:avLst/>
            <a:gdLst/>
            <a:ahLst/>
            <a:cxnLst/>
            <a:rect l="l" t="t" r="r" b="b"/>
            <a:pathLst>
              <a:path w="533400" h="245744">
                <a:moveTo>
                  <a:pt x="533400" y="0"/>
                </a:moveTo>
                <a:lnTo>
                  <a:pt x="0" y="0"/>
                </a:lnTo>
                <a:lnTo>
                  <a:pt x="0" y="240792"/>
                </a:lnTo>
                <a:lnTo>
                  <a:pt x="0" y="245364"/>
                </a:lnTo>
                <a:lnTo>
                  <a:pt x="533400" y="245364"/>
                </a:lnTo>
                <a:lnTo>
                  <a:pt x="533400" y="240792"/>
                </a:lnTo>
                <a:lnTo>
                  <a:pt x="533400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006FC0"/>
                </a:solidFill>
                <a:latin typeface="Arial"/>
                <a:cs typeface="Arial"/>
              </a:rPr>
              <a:t>2</a:t>
            </a:r>
            <a:r>
              <a:rPr sz="1200" b="1" spc="-35" dirty="0">
                <a:solidFill>
                  <a:srgbClr val="006FC0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5212" y="759967"/>
            <a:ext cx="4616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U</a:t>
            </a:r>
            <a:r>
              <a:rPr spc="-160" dirty="0"/>
              <a:t>tili</a:t>
            </a:r>
            <a:r>
              <a:rPr spc="-305" dirty="0"/>
              <a:t>s</a:t>
            </a:r>
            <a:r>
              <a:rPr spc="-40" dirty="0"/>
              <a:t>a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0" dirty="0"/>
              <a:t>n</a:t>
            </a:r>
            <a:r>
              <a:rPr b="0" spc="90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580" dirty="0"/>
              <a:t>T</a:t>
            </a:r>
            <a:r>
              <a:rPr spc="-110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1016" y="1848103"/>
            <a:ext cx="8636000" cy="4020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329"/>
              </a:lnSpc>
              <a:spcBef>
                <a:spcPts val="95"/>
              </a:spcBef>
            </a:pPr>
            <a:r>
              <a:rPr sz="2800" b="1" spc="-5" dirty="0">
                <a:solidFill>
                  <a:srgbClr val="B21216"/>
                </a:solidFill>
                <a:latin typeface="Times New Roman"/>
                <a:cs typeface="Times New Roman"/>
              </a:rPr>
              <a:t>Utilisation</a:t>
            </a:r>
            <a:r>
              <a:rPr sz="2800" b="1" spc="-20" dirty="0">
                <a:solidFill>
                  <a:srgbClr val="B21216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B21216"/>
                </a:solidFill>
                <a:latin typeface="Times New Roman"/>
                <a:cs typeface="Times New Roman"/>
              </a:rPr>
              <a:t>de </a:t>
            </a:r>
            <a:r>
              <a:rPr sz="2800" b="1" spc="-5" dirty="0">
                <a:solidFill>
                  <a:srgbClr val="B21216"/>
                </a:solidFill>
                <a:latin typeface="Times New Roman"/>
                <a:cs typeface="Times New Roman"/>
              </a:rPr>
              <a:t>la</a:t>
            </a:r>
            <a:r>
              <a:rPr sz="2800" b="1" spc="-10" dirty="0">
                <a:solidFill>
                  <a:srgbClr val="B21216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B21216"/>
                </a:solidFill>
                <a:latin typeface="Times New Roman"/>
                <a:cs typeface="Times New Roman"/>
              </a:rPr>
              <a:t>boucle</a:t>
            </a:r>
            <a:r>
              <a:rPr sz="2800" b="1" spc="-10" dirty="0">
                <a:solidFill>
                  <a:srgbClr val="B21216"/>
                </a:solidFill>
                <a:latin typeface="Times New Roman"/>
                <a:cs typeface="Times New Roman"/>
              </a:rPr>
              <a:t> </a:t>
            </a:r>
            <a:r>
              <a:rPr sz="2800" b="1" spc="-20" dirty="0">
                <a:solidFill>
                  <a:srgbClr val="B21216"/>
                </a:solidFill>
                <a:latin typeface="Times New Roman"/>
                <a:cs typeface="Times New Roman"/>
              </a:rPr>
              <a:t>for-each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29"/>
              </a:lnSpc>
            </a:pPr>
            <a:r>
              <a:rPr sz="2800" b="1" spc="-48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800" b="1" spc="-22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800" b="1" spc="-275" dirty="0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sz="2800" b="1" spc="-8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800" b="1" spc="-19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800" b="1" spc="-235" dirty="0">
                <a:solidFill>
                  <a:srgbClr val="FF0000"/>
                </a:solidFill>
                <a:latin typeface="Arial"/>
                <a:cs typeface="Arial"/>
              </a:rPr>
              <a:t>q</a:t>
            </a:r>
            <a:r>
              <a:rPr sz="2800" b="1" spc="-229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2800" b="1" spc="-22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8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50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800" b="1" spc="-275" dirty="0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sz="2800" b="1" spc="-229" dirty="0">
                <a:solidFill>
                  <a:srgbClr val="FF0000"/>
                </a:solidFill>
                <a:latin typeface="Arial"/>
                <a:cs typeface="Arial"/>
              </a:rPr>
              <a:t>po</a:t>
            </a:r>
            <a:r>
              <a:rPr sz="2800" b="1" spc="-7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800" b="1" spc="-204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800" b="1" spc="-8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800" b="1" spc="-229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2800" b="1" spc="-204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800" b="1" spc="-22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8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60" dirty="0">
                <a:solidFill>
                  <a:srgbClr val="FF0000"/>
                </a:solidFill>
                <a:latin typeface="Arial"/>
                <a:cs typeface="Arial"/>
              </a:rPr>
              <a:t>(</a:t>
            </a:r>
            <a:r>
              <a:rPr sz="2800" b="1" spc="-37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800" b="1" spc="-229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2800" b="1" spc="-50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800" b="1" spc="-204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800" b="1" spc="-22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800" b="1" spc="-60" dirty="0">
                <a:solidFill>
                  <a:srgbClr val="FF0000"/>
                </a:solidFill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75"/>
              </a:spcBef>
              <a:buClr>
                <a:srgbClr val="0000CC"/>
              </a:buClr>
              <a:buFont typeface="Wingdings"/>
              <a:buChar char=""/>
              <a:tabLst>
                <a:tab pos="355600" algn="l"/>
                <a:tab pos="2325370" algn="l"/>
              </a:tabLst>
            </a:pPr>
            <a:r>
              <a:rPr sz="2400" spc="-5" dirty="0">
                <a:latin typeface="Times New Roman"/>
                <a:cs typeface="Times New Roman"/>
              </a:rPr>
              <a:t>Pour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permettre	modifier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contenu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utilise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syntaxe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suivante:</a:t>
            </a:r>
            <a:endParaRPr sz="2400">
              <a:latin typeface="Times New Roman"/>
              <a:cs typeface="Times New Roman"/>
            </a:endParaRPr>
          </a:p>
          <a:p>
            <a:pPr marL="1384300">
              <a:lnSpc>
                <a:spcPct val="100000"/>
              </a:lnSpc>
              <a:tabLst>
                <a:tab pos="4904105" algn="l"/>
              </a:tabLst>
            </a:pP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for</a:t>
            </a:r>
            <a:r>
              <a:rPr sz="24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auto</a:t>
            </a:r>
            <a:r>
              <a:rPr sz="2400" b="1" spc="-5" dirty="0">
                <a:solidFill>
                  <a:srgbClr val="FF32CC"/>
                </a:solidFill>
                <a:latin typeface="Times New Roman"/>
                <a:cs typeface="Times New Roman"/>
              </a:rPr>
              <a:t>&amp; </a:t>
            </a:r>
            <a:r>
              <a:rPr sz="2400" dirty="0">
                <a:solidFill>
                  <a:srgbClr val="0000CC"/>
                </a:solidFill>
                <a:latin typeface="Times New Roman"/>
                <a:cs typeface="Times New Roman"/>
              </a:rPr>
              <a:t>elem</a:t>
            </a:r>
            <a:r>
              <a:rPr sz="24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: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/>
                <a:cs typeface="Times New Roman"/>
              </a:rPr>
              <a:t>tableau</a:t>
            </a:r>
            <a:r>
              <a:rPr sz="24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)	</a:t>
            </a:r>
            <a:r>
              <a:rPr sz="2400" spc="-5" dirty="0">
                <a:solidFill>
                  <a:srgbClr val="0000CC"/>
                </a:solidFill>
                <a:latin typeface="Times New Roman"/>
                <a:cs typeface="Times New Roman"/>
              </a:rPr>
              <a:t>instruction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2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notes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[6]={</a:t>
            </a:r>
            <a:r>
              <a:rPr sz="2200" spc="-5" dirty="0">
                <a:solidFill>
                  <a:srgbClr val="FF32CC"/>
                </a:solidFill>
                <a:latin typeface="Times New Roman"/>
                <a:cs typeface="Times New Roman"/>
              </a:rPr>
              <a:t>15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16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17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18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19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20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200">
              <a:latin typeface="Times New Roman"/>
              <a:cs typeface="Times New Roman"/>
            </a:endParaRPr>
          </a:p>
          <a:p>
            <a:pPr marL="12700" marR="3057525">
              <a:lnSpc>
                <a:spcPct val="100000"/>
              </a:lnSpc>
            </a:pPr>
            <a:r>
              <a:rPr sz="22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cout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&lt;&lt; </a:t>
            </a:r>
            <a:r>
              <a:rPr sz="2200" spc="-5" dirty="0">
                <a:solidFill>
                  <a:srgbClr val="0000CC"/>
                </a:solidFill>
                <a:latin typeface="Times New Roman"/>
                <a:cs typeface="Times New Roman"/>
              </a:rPr>
              <a:t>"</a:t>
            </a:r>
            <a:r>
              <a:rPr sz="2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200" spc="-60" dirty="0">
                <a:solidFill>
                  <a:srgbClr val="0000CC"/>
                </a:solidFill>
                <a:latin typeface="Times New Roman"/>
                <a:cs typeface="Times New Roman"/>
              </a:rPr>
              <a:t>Voici</a:t>
            </a:r>
            <a:r>
              <a:rPr sz="22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2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00CC"/>
                </a:solidFill>
                <a:latin typeface="Times New Roman"/>
                <a:cs typeface="Times New Roman"/>
              </a:rPr>
              <a:t>contenu </a:t>
            </a:r>
            <a:r>
              <a:rPr sz="2200" dirty="0">
                <a:solidFill>
                  <a:srgbClr val="0000CC"/>
                </a:solidFill>
                <a:latin typeface="Times New Roman"/>
                <a:cs typeface="Times New Roman"/>
              </a:rPr>
              <a:t>du</a:t>
            </a:r>
            <a:r>
              <a:rPr sz="2200" spc="-5" dirty="0">
                <a:solidFill>
                  <a:srgbClr val="0000CC"/>
                </a:solidFill>
                <a:latin typeface="Times New Roman"/>
                <a:cs typeface="Times New Roman"/>
              </a:rPr>
              <a:t> tableau</a:t>
            </a:r>
            <a:r>
              <a:rPr sz="22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00CC"/>
                </a:solidFill>
                <a:latin typeface="Times New Roman"/>
                <a:cs typeface="Times New Roman"/>
              </a:rPr>
              <a:t>:</a:t>
            </a:r>
            <a:r>
              <a:rPr sz="22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00CC"/>
                </a:solidFill>
                <a:latin typeface="Times New Roman"/>
                <a:cs typeface="Times New Roman"/>
              </a:rPr>
              <a:t>"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200" spc="-5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for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auto</a:t>
            </a:r>
            <a:r>
              <a:rPr sz="22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FF32CC"/>
                </a:solidFill>
                <a:latin typeface="Times New Roman"/>
                <a:cs typeface="Times New Roman"/>
              </a:rPr>
              <a:t>&amp;</a:t>
            </a:r>
            <a:r>
              <a:rPr sz="2200" spc="-5" dirty="0">
                <a:latin typeface="Times New Roman"/>
                <a:cs typeface="Times New Roman"/>
              </a:rPr>
              <a:t>note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notes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  <a:p>
            <a:pPr marL="291465">
              <a:lnSpc>
                <a:spcPct val="100000"/>
              </a:lnSpc>
            </a:pPr>
            <a:r>
              <a:rPr sz="22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2200" b="1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00CC"/>
                </a:solidFill>
                <a:latin typeface="Times New Roman"/>
                <a:cs typeface="Times New Roman"/>
              </a:rPr>
              <a:t>"</a:t>
            </a:r>
            <a:r>
              <a:rPr sz="22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00CC"/>
                </a:solidFill>
                <a:latin typeface="Times New Roman"/>
                <a:cs typeface="Times New Roman"/>
              </a:rPr>
              <a:t>"</a:t>
            </a:r>
            <a:r>
              <a:rPr sz="2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065" y="1621535"/>
            <a:ext cx="533400" cy="245745"/>
          </a:xfrm>
          <a:custGeom>
            <a:avLst/>
            <a:gdLst/>
            <a:ahLst/>
            <a:cxnLst/>
            <a:rect l="l" t="t" r="r" b="b"/>
            <a:pathLst>
              <a:path w="533400" h="245744">
                <a:moveTo>
                  <a:pt x="533400" y="0"/>
                </a:moveTo>
                <a:lnTo>
                  <a:pt x="0" y="0"/>
                </a:lnTo>
                <a:lnTo>
                  <a:pt x="0" y="240792"/>
                </a:lnTo>
                <a:lnTo>
                  <a:pt x="0" y="245364"/>
                </a:lnTo>
                <a:lnTo>
                  <a:pt x="533400" y="245364"/>
                </a:lnTo>
                <a:lnTo>
                  <a:pt x="533400" y="240792"/>
                </a:lnTo>
                <a:lnTo>
                  <a:pt x="533400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006FC0"/>
                </a:solidFill>
                <a:latin typeface="Arial"/>
                <a:cs typeface="Arial"/>
              </a:rPr>
              <a:t>2</a:t>
            </a:r>
            <a:r>
              <a:rPr sz="1200" b="1" spc="-35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5212" y="759967"/>
            <a:ext cx="56254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80" dirty="0"/>
              <a:t>T</a:t>
            </a:r>
            <a:r>
              <a:rPr spc="-110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350" dirty="0"/>
              <a:t>m</a:t>
            </a:r>
            <a:r>
              <a:rPr spc="-295" dirty="0"/>
              <a:t>u</a:t>
            </a:r>
            <a:r>
              <a:rPr spc="-135" dirty="0"/>
              <a:t>lti</a:t>
            </a:r>
            <a:r>
              <a:rPr spc="-285" dirty="0"/>
              <a:t>d</a:t>
            </a:r>
            <a:r>
              <a:rPr spc="-100" dirty="0"/>
              <a:t>i</a:t>
            </a:r>
            <a:r>
              <a:rPr spc="-315" dirty="0"/>
              <a:t>m</a:t>
            </a:r>
            <a:r>
              <a:rPr spc="-280" dirty="0"/>
              <a:t>e</a:t>
            </a:r>
            <a:r>
              <a:rPr spc="-295" dirty="0"/>
              <a:t>n</a:t>
            </a:r>
            <a:r>
              <a:rPr spc="-475" dirty="0"/>
              <a:t>s</a:t>
            </a:r>
            <a:r>
              <a:rPr spc="-114" dirty="0"/>
              <a:t>i</a:t>
            </a:r>
            <a:r>
              <a:rPr spc="-250" dirty="0"/>
              <a:t>o</a:t>
            </a:r>
            <a:r>
              <a:rPr spc="-295" dirty="0"/>
              <a:t>nn</a:t>
            </a:r>
            <a:r>
              <a:rPr spc="-280" dirty="0"/>
              <a:t>e</a:t>
            </a:r>
            <a:r>
              <a:rPr spc="-270" dirty="0"/>
              <a:t>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5900" y="2023363"/>
            <a:ext cx="8272780" cy="1185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Comment</a:t>
            </a:r>
            <a:r>
              <a:rPr sz="2800" b="1" spc="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déclarer</a:t>
            </a:r>
            <a:r>
              <a:rPr sz="28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un</a:t>
            </a:r>
            <a:r>
              <a:rPr sz="280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tableau</a:t>
            </a:r>
            <a:r>
              <a:rPr sz="2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à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plusieurs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dimensions?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400" spc="-5" dirty="0">
                <a:latin typeface="Times New Roman"/>
                <a:cs typeface="Times New Roman"/>
              </a:rPr>
              <a:t>On</a:t>
            </a:r>
            <a:r>
              <a:rPr sz="2400" dirty="0">
                <a:latin typeface="Times New Roman"/>
                <a:cs typeface="Times New Roman"/>
              </a:rPr>
              <a:t> ajoute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seulement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crochet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[]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plus: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C’est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fait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tableaux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tableaux,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tableaux,…)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065" y="1621535"/>
            <a:ext cx="533400" cy="245745"/>
          </a:xfrm>
          <a:custGeom>
            <a:avLst/>
            <a:gdLst/>
            <a:ahLst/>
            <a:cxnLst/>
            <a:rect l="l" t="t" r="r" b="b"/>
            <a:pathLst>
              <a:path w="533400" h="245744">
                <a:moveTo>
                  <a:pt x="533400" y="0"/>
                </a:moveTo>
                <a:lnTo>
                  <a:pt x="0" y="0"/>
                </a:lnTo>
                <a:lnTo>
                  <a:pt x="0" y="240792"/>
                </a:lnTo>
                <a:lnTo>
                  <a:pt x="0" y="245364"/>
                </a:lnTo>
                <a:lnTo>
                  <a:pt x="533400" y="245364"/>
                </a:lnTo>
                <a:lnTo>
                  <a:pt x="533400" y="240792"/>
                </a:lnTo>
                <a:lnTo>
                  <a:pt x="533400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006FC0"/>
                </a:solidFill>
                <a:latin typeface="Arial"/>
                <a:cs typeface="Arial"/>
              </a:rPr>
              <a:t>2</a:t>
            </a:r>
            <a:r>
              <a:rPr sz="1200" b="1" spc="-35" dirty="0">
                <a:solidFill>
                  <a:srgbClr val="006FC0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5212" y="759967"/>
            <a:ext cx="56254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80" dirty="0"/>
              <a:t>T</a:t>
            </a:r>
            <a:r>
              <a:rPr spc="-110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350" dirty="0"/>
              <a:t>m</a:t>
            </a:r>
            <a:r>
              <a:rPr spc="-295" dirty="0"/>
              <a:t>u</a:t>
            </a:r>
            <a:r>
              <a:rPr spc="-135" dirty="0"/>
              <a:t>lti</a:t>
            </a:r>
            <a:r>
              <a:rPr spc="-285" dirty="0"/>
              <a:t>d</a:t>
            </a:r>
            <a:r>
              <a:rPr spc="-100" dirty="0"/>
              <a:t>i</a:t>
            </a:r>
            <a:r>
              <a:rPr spc="-315" dirty="0"/>
              <a:t>m</a:t>
            </a:r>
            <a:r>
              <a:rPr spc="-280" dirty="0"/>
              <a:t>e</a:t>
            </a:r>
            <a:r>
              <a:rPr spc="-295" dirty="0"/>
              <a:t>n</a:t>
            </a:r>
            <a:r>
              <a:rPr spc="-475" dirty="0"/>
              <a:t>s</a:t>
            </a:r>
            <a:r>
              <a:rPr spc="-114" dirty="0"/>
              <a:t>i</a:t>
            </a:r>
            <a:r>
              <a:rPr spc="-250" dirty="0"/>
              <a:t>o</a:t>
            </a:r>
            <a:r>
              <a:rPr spc="-295" dirty="0"/>
              <a:t>nn</a:t>
            </a:r>
            <a:r>
              <a:rPr spc="-280" dirty="0"/>
              <a:t>e</a:t>
            </a:r>
            <a:r>
              <a:rPr spc="-270" dirty="0"/>
              <a:t>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7095" y="1978152"/>
            <a:ext cx="7949370" cy="302513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74065" y="1621535"/>
            <a:ext cx="533400" cy="245745"/>
          </a:xfrm>
          <a:custGeom>
            <a:avLst/>
            <a:gdLst/>
            <a:ahLst/>
            <a:cxnLst/>
            <a:rect l="l" t="t" r="r" b="b"/>
            <a:pathLst>
              <a:path w="533400" h="245744">
                <a:moveTo>
                  <a:pt x="533400" y="0"/>
                </a:moveTo>
                <a:lnTo>
                  <a:pt x="0" y="0"/>
                </a:lnTo>
                <a:lnTo>
                  <a:pt x="0" y="240792"/>
                </a:lnTo>
                <a:lnTo>
                  <a:pt x="0" y="245364"/>
                </a:lnTo>
                <a:lnTo>
                  <a:pt x="533400" y="245364"/>
                </a:lnTo>
                <a:lnTo>
                  <a:pt x="533400" y="240792"/>
                </a:lnTo>
                <a:lnTo>
                  <a:pt x="533400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006FC0"/>
                </a:solidFill>
                <a:latin typeface="Arial"/>
                <a:cs typeface="Arial"/>
              </a:rPr>
              <a:t>2</a:t>
            </a:r>
            <a:r>
              <a:rPr sz="1200" b="1" spc="-35" dirty="0">
                <a:solidFill>
                  <a:srgbClr val="006FC0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2936" y="1907619"/>
            <a:ext cx="8427085" cy="385826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Syntaxe</a:t>
            </a:r>
            <a:r>
              <a:rPr sz="28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générale</a:t>
            </a:r>
            <a:endParaRPr sz="280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  <a:spcBef>
                <a:spcPts val="535"/>
              </a:spcBef>
            </a:pPr>
            <a:r>
              <a:rPr sz="2000" b="1" spc="-35" dirty="0">
                <a:solidFill>
                  <a:srgbClr val="001F5F"/>
                </a:solidFill>
                <a:latin typeface="Times New Roman"/>
                <a:cs typeface="Times New Roman"/>
              </a:rPr>
              <a:t>Type</a:t>
            </a:r>
            <a:r>
              <a:rPr sz="2000" b="1" spc="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nomDuTableau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000" spc="-10" dirty="0">
                <a:solidFill>
                  <a:srgbClr val="FF32CC"/>
                </a:solidFill>
                <a:latin typeface="Times New Roman"/>
                <a:cs typeface="Times New Roman"/>
              </a:rPr>
              <a:t>taille_maximale1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sz="20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000" spc="-10" dirty="0">
                <a:solidFill>
                  <a:srgbClr val="FF32CC"/>
                </a:solidFill>
                <a:latin typeface="Times New Roman"/>
                <a:cs typeface="Times New Roman"/>
              </a:rPr>
              <a:t>taille_maximale2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]…[</a:t>
            </a:r>
            <a:r>
              <a:rPr sz="2000" spc="-10" dirty="0">
                <a:solidFill>
                  <a:srgbClr val="FF32CC"/>
                </a:solidFill>
                <a:latin typeface="Times New Roman"/>
                <a:cs typeface="Times New Roman"/>
              </a:rPr>
              <a:t>taille_maximaleN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marL="431800">
              <a:lnSpc>
                <a:spcPct val="100000"/>
              </a:lnSpc>
              <a:spcBef>
                <a:spcPts val="1330"/>
              </a:spcBef>
            </a:pP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400">
              <a:latin typeface="Times New Roman"/>
              <a:cs typeface="Times New Roman"/>
            </a:endParaRPr>
          </a:p>
          <a:p>
            <a:pPr marL="413384">
              <a:lnSpc>
                <a:spcPct val="100000"/>
              </a:lnSpc>
              <a:spcBef>
                <a:spcPts val="505"/>
              </a:spcBef>
              <a:tabLst>
                <a:tab pos="3662045" algn="l"/>
              </a:tabLst>
            </a:pPr>
            <a:r>
              <a:rPr sz="2400" b="1" dirty="0">
                <a:latin typeface="Times New Roman"/>
                <a:cs typeface="Times New Roman"/>
              </a:rPr>
              <a:t>1)</a:t>
            </a:r>
            <a:r>
              <a:rPr sz="2400" b="1" spc="1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b="1" spc="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matrice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b="1" spc="-5" dirty="0">
                <a:solidFill>
                  <a:srgbClr val="FF32CC"/>
                </a:solidFill>
                <a:latin typeface="Times New Roman"/>
                <a:cs typeface="Times New Roman"/>
              </a:rPr>
              <a:t>3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][</a:t>
            </a:r>
            <a:r>
              <a:rPr sz="2400" b="1" spc="-5" dirty="0">
                <a:solidFill>
                  <a:srgbClr val="FF32CC"/>
                </a:solidFill>
                <a:latin typeface="Times New Roman"/>
                <a:cs typeface="Times New Roman"/>
              </a:rPr>
              <a:t>4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];	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4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tableau</a:t>
            </a:r>
            <a:r>
              <a:rPr sz="2400" spc="-5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B04F"/>
                </a:solidFill>
                <a:latin typeface="Times New Roman"/>
                <a:cs typeface="Times New Roman"/>
              </a:rPr>
              <a:t>bidimensionnel</a:t>
            </a:r>
            <a:endParaRPr sz="2400">
              <a:latin typeface="Times New Roman"/>
              <a:cs typeface="Times New Roman"/>
            </a:endParaRPr>
          </a:p>
          <a:p>
            <a:pPr marL="413384">
              <a:lnSpc>
                <a:spcPct val="100000"/>
              </a:lnSpc>
              <a:spcBef>
                <a:spcPts val="490"/>
              </a:spcBef>
            </a:pPr>
            <a:r>
              <a:rPr sz="2400" b="1" dirty="0">
                <a:latin typeface="Times New Roman"/>
                <a:cs typeface="Times New Roman"/>
              </a:rPr>
              <a:t>2)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mat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b="1" dirty="0">
                <a:solidFill>
                  <a:srgbClr val="FF32CC"/>
                </a:solidFill>
                <a:latin typeface="Times New Roman"/>
                <a:cs typeface="Times New Roman"/>
              </a:rPr>
              <a:t>10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][</a:t>
            </a:r>
            <a:r>
              <a:rPr sz="2400" b="1" dirty="0">
                <a:solidFill>
                  <a:srgbClr val="FF32CC"/>
                </a:solidFill>
                <a:latin typeface="Times New Roman"/>
                <a:cs typeface="Times New Roman"/>
              </a:rPr>
              <a:t>10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];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350">
              <a:latin typeface="Times New Roman"/>
              <a:cs typeface="Times New Roman"/>
            </a:endParaRPr>
          </a:p>
          <a:p>
            <a:pPr marL="870585" marR="401955" indent="-853440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N.B</a:t>
            </a:r>
            <a:r>
              <a:rPr sz="2400" b="1" dirty="0">
                <a:latin typeface="Times New Roman"/>
                <a:cs typeface="Times New Roman"/>
              </a:rPr>
              <a:t> :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Aucune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limitation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pèse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nombre</a:t>
            </a:r>
            <a:r>
              <a:rPr sz="2400" dirty="0">
                <a:latin typeface="Times New Roman"/>
                <a:cs typeface="Times New Roman"/>
              </a:rPr>
              <a:t> d’indices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peut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comporter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 tableau.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83680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D</a:t>
            </a:r>
            <a:r>
              <a:rPr spc="-280" dirty="0"/>
              <a:t>é</a:t>
            </a:r>
            <a:r>
              <a:rPr spc="-555" dirty="0"/>
              <a:t>c</a:t>
            </a:r>
            <a:r>
              <a:rPr spc="-60" dirty="0"/>
              <a:t>l</a:t>
            </a:r>
            <a:r>
              <a:rPr spc="-120" dirty="0"/>
              <a:t>a</a:t>
            </a:r>
            <a:r>
              <a:rPr spc="-240" dirty="0"/>
              <a:t>r</a:t>
            </a:r>
            <a:r>
              <a:rPr spc="-40" dirty="0"/>
              <a:t>a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0" dirty="0"/>
              <a:t>n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14" dirty="0"/>
              <a:t>’</a:t>
            </a:r>
            <a:r>
              <a:rPr spc="-250" dirty="0"/>
              <a:t>u</a:t>
            </a:r>
            <a:r>
              <a:rPr spc="-290" dirty="0"/>
              <a:t>n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140" dirty="0"/>
              <a:t>t</a:t>
            </a:r>
            <a:r>
              <a:rPr spc="-235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0" dirty="0"/>
              <a:t>u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350" dirty="0"/>
              <a:t>m</a:t>
            </a:r>
            <a:r>
              <a:rPr spc="-295" dirty="0"/>
              <a:t>u</a:t>
            </a:r>
            <a:r>
              <a:rPr spc="-135" dirty="0"/>
              <a:t>lti</a:t>
            </a:r>
            <a:r>
              <a:rPr spc="-285" dirty="0"/>
              <a:t>d</a:t>
            </a:r>
            <a:r>
              <a:rPr spc="-100" dirty="0"/>
              <a:t>i</a:t>
            </a:r>
            <a:r>
              <a:rPr spc="-315" dirty="0"/>
              <a:t>m</a:t>
            </a:r>
            <a:r>
              <a:rPr spc="-280" dirty="0"/>
              <a:t>e</a:t>
            </a:r>
            <a:r>
              <a:rPr spc="-295" dirty="0"/>
              <a:t>n</a:t>
            </a:r>
            <a:r>
              <a:rPr spc="-475" dirty="0"/>
              <a:t>s</a:t>
            </a:r>
            <a:r>
              <a:rPr spc="-114" dirty="0"/>
              <a:t>i</a:t>
            </a:r>
            <a:r>
              <a:rPr spc="-250" dirty="0"/>
              <a:t>o</a:t>
            </a:r>
            <a:r>
              <a:rPr spc="-295" dirty="0"/>
              <a:t>nn</a:t>
            </a:r>
            <a:r>
              <a:rPr spc="-280" dirty="0"/>
              <a:t>e</a:t>
            </a:r>
            <a:r>
              <a:rPr spc="-65" dirty="0"/>
              <a:t>l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7904" y="1884844"/>
            <a:ext cx="8331834" cy="331724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680"/>
              </a:spcBef>
            </a:pP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Initialisation</a:t>
            </a:r>
            <a:r>
              <a:rPr sz="2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de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tableaux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à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plusieurs</a:t>
            </a:r>
            <a:r>
              <a:rPr sz="28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indices</a:t>
            </a:r>
            <a:endParaRPr sz="2800">
              <a:latin typeface="Times New Roman"/>
              <a:cs typeface="Times New Roman"/>
            </a:endParaRPr>
          </a:p>
          <a:p>
            <a:pPr marL="232410" marR="1315085" indent="-232410">
              <a:lnSpc>
                <a:spcPct val="116799"/>
              </a:lnSpc>
              <a:spcBef>
                <a:spcPts val="15"/>
              </a:spcBef>
              <a:buClr>
                <a:srgbClr val="006FC0"/>
              </a:buClr>
              <a:buSzPct val="59090"/>
              <a:buFont typeface="Wingdings"/>
              <a:buChar char=""/>
              <a:tabLst>
                <a:tab pos="232410" algn="l"/>
              </a:tabLst>
            </a:pPr>
            <a:r>
              <a:rPr sz="2200" spc="-5" dirty="0">
                <a:latin typeface="Times New Roman"/>
                <a:cs typeface="Times New Roman"/>
              </a:rPr>
              <a:t>La première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forme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revient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à considérer</a:t>
            </a:r>
            <a:r>
              <a:rPr sz="2200" dirty="0">
                <a:latin typeface="Times New Roman"/>
                <a:cs typeface="Times New Roman"/>
              </a:rPr>
              <a:t> notre</a:t>
            </a:r>
            <a:r>
              <a:rPr sz="2200" spc="-5" dirty="0">
                <a:latin typeface="Times New Roman"/>
                <a:cs typeface="Times New Roman"/>
              </a:rPr>
              <a:t> tableau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comme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composé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trois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tableaux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 </a:t>
            </a:r>
            <a:r>
              <a:rPr sz="2200" spc="-5" dirty="0">
                <a:latin typeface="Times New Roman"/>
                <a:cs typeface="Times New Roman"/>
              </a:rPr>
              <a:t>quatre </a:t>
            </a:r>
            <a:r>
              <a:rPr sz="2200" spc="-10" dirty="0">
                <a:latin typeface="Times New Roman"/>
                <a:cs typeface="Times New Roman"/>
              </a:rPr>
              <a:t>éléments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chacun:</a:t>
            </a:r>
            <a:endParaRPr sz="2200">
              <a:latin typeface="Times New Roman"/>
              <a:cs typeface="Times New Roman"/>
            </a:endParaRPr>
          </a:p>
          <a:p>
            <a:pPr marL="81280">
              <a:lnSpc>
                <a:spcPct val="100000"/>
              </a:lnSpc>
              <a:spcBef>
                <a:spcPts val="400"/>
              </a:spcBef>
            </a:pP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6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tab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200" spc="-5" dirty="0">
                <a:solidFill>
                  <a:srgbClr val="FF32CC"/>
                </a:solidFill>
                <a:latin typeface="Times New Roman"/>
                <a:cs typeface="Times New Roman"/>
              </a:rPr>
              <a:t>3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sz="220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200" spc="-5" dirty="0">
                <a:solidFill>
                  <a:srgbClr val="FF32CC"/>
                </a:solidFill>
                <a:latin typeface="Times New Roman"/>
                <a:cs typeface="Times New Roman"/>
              </a:rPr>
              <a:t>4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sz="22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= 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1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2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3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32CC"/>
                </a:solidFill>
                <a:latin typeface="Times New Roman"/>
                <a:cs typeface="Times New Roman"/>
              </a:rPr>
              <a:t>4</a:t>
            </a:r>
            <a:r>
              <a:rPr sz="2200" spc="5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,{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5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6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7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32CC"/>
                </a:solidFill>
                <a:latin typeface="Times New Roman"/>
                <a:cs typeface="Times New Roman"/>
              </a:rPr>
              <a:t>8</a:t>
            </a:r>
            <a:r>
              <a:rPr sz="2200" spc="5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},{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9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10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30" dirty="0">
                <a:solidFill>
                  <a:srgbClr val="FF32CC"/>
                </a:solidFill>
                <a:latin typeface="Times New Roman"/>
                <a:cs typeface="Times New Roman"/>
              </a:rPr>
              <a:t>11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12</a:t>
            </a:r>
            <a:r>
              <a:rPr sz="2200" spc="-5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200">
              <a:latin typeface="Times New Roman"/>
              <a:cs typeface="Times New Roman"/>
            </a:endParaRPr>
          </a:p>
          <a:p>
            <a:pPr marL="220979" marR="5080" indent="-208915">
              <a:lnSpc>
                <a:spcPct val="116599"/>
              </a:lnSpc>
              <a:buClr>
                <a:srgbClr val="006FC0"/>
              </a:buClr>
              <a:buSzPct val="59090"/>
              <a:buFont typeface="Wingdings"/>
              <a:buChar char=""/>
              <a:tabLst>
                <a:tab pos="232410" algn="l"/>
              </a:tabLst>
            </a:pPr>
            <a:r>
              <a:rPr sz="2200" spc="-5" dirty="0">
                <a:latin typeface="Times New Roman"/>
                <a:cs typeface="Times New Roman"/>
              </a:rPr>
              <a:t>La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seconde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exploite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manière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dont</a:t>
            </a:r>
            <a:r>
              <a:rPr sz="2200" spc="-5" dirty="0">
                <a:latin typeface="Times New Roman"/>
                <a:cs typeface="Times New Roman"/>
              </a:rPr>
              <a:t> les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éléments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sont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effectivement </a:t>
            </a:r>
            <a:r>
              <a:rPr sz="2200" spc="-5" dirty="0">
                <a:latin typeface="Times New Roman"/>
                <a:cs typeface="Times New Roman"/>
              </a:rPr>
              <a:t> rangés en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mémoire,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elle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contente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d’énumérer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valeurs</a:t>
            </a:r>
            <a:r>
              <a:rPr sz="2200" dirty="0">
                <a:latin typeface="Times New Roman"/>
                <a:cs typeface="Times New Roman"/>
              </a:rPr>
              <a:t> du </a:t>
            </a:r>
            <a:r>
              <a:rPr sz="2200" spc="-5" dirty="0">
                <a:latin typeface="Times New Roman"/>
                <a:cs typeface="Times New Roman"/>
              </a:rPr>
              <a:t>tableau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suivant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cet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ordre:</a:t>
            </a:r>
            <a:endParaRPr sz="2200">
              <a:latin typeface="Times New Roman"/>
              <a:cs typeface="Times New Roman"/>
            </a:endParaRPr>
          </a:p>
          <a:p>
            <a:pPr marL="111760">
              <a:lnSpc>
                <a:spcPct val="100000"/>
              </a:lnSpc>
              <a:spcBef>
                <a:spcPts val="400"/>
              </a:spcBef>
            </a:pP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tab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200" spc="-5" dirty="0">
                <a:solidFill>
                  <a:srgbClr val="FF32CC"/>
                </a:solidFill>
                <a:latin typeface="Times New Roman"/>
                <a:cs typeface="Times New Roman"/>
              </a:rPr>
              <a:t>3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sz="22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200" spc="-5" dirty="0">
                <a:solidFill>
                  <a:srgbClr val="FF32CC"/>
                </a:solidFill>
                <a:latin typeface="Times New Roman"/>
                <a:cs typeface="Times New Roman"/>
              </a:rPr>
              <a:t>4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sz="22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= 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{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1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2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3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4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5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6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7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8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9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10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30" dirty="0">
                <a:solidFill>
                  <a:srgbClr val="FF32CC"/>
                </a:solidFill>
                <a:latin typeface="Times New Roman"/>
                <a:cs typeface="Times New Roman"/>
              </a:rPr>
              <a:t>11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12</a:t>
            </a:r>
            <a:r>
              <a:rPr sz="2200" spc="-5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77952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5" dirty="0"/>
              <a:t>C</a:t>
            </a:r>
            <a:r>
              <a:rPr spc="-275" dirty="0"/>
              <a:t>r</a:t>
            </a:r>
            <a:r>
              <a:rPr spc="-280" dirty="0"/>
              <a:t>é</a:t>
            </a:r>
            <a:r>
              <a:rPr spc="-40" dirty="0"/>
              <a:t>a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0" dirty="0"/>
              <a:t>n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14" dirty="0"/>
              <a:t>’</a:t>
            </a:r>
            <a:r>
              <a:rPr spc="-250" dirty="0"/>
              <a:t>u</a:t>
            </a:r>
            <a:r>
              <a:rPr spc="-290" dirty="0"/>
              <a:t>n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65" dirty="0"/>
              <a:t>t</a:t>
            </a:r>
            <a:r>
              <a:rPr spc="-110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0" dirty="0"/>
              <a:t>u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350" dirty="0"/>
              <a:t>m</a:t>
            </a:r>
            <a:r>
              <a:rPr spc="-295" dirty="0"/>
              <a:t>u</a:t>
            </a:r>
            <a:r>
              <a:rPr spc="-135" dirty="0"/>
              <a:t>lti</a:t>
            </a:r>
            <a:r>
              <a:rPr spc="-285" dirty="0"/>
              <a:t>d</a:t>
            </a:r>
            <a:r>
              <a:rPr spc="-100" dirty="0"/>
              <a:t>i</a:t>
            </a:r>
            <a:r>
              <a:rPr spc="-315" dirty="0"/>
              <a:t>m</a:t>
            </a:r>
            <a:r>
              <a:rPr spc="-280" dirty="0"/>
              <a:t>e</a:t>
            </a:r>
            <a:r>
              <a:rPr spc="-295" dirty="0"/>
              <a:t>n</a:t>
            </a:r>
            <a:r>
              <a:rPr spc="-475" dirty="0"/>
              <a:t>s</a:t>
            </a:r>
            <a:r>
              <a:rPr spc="-114" dirty="0"/>
              <a:t>i</a:t>
            </a:r>
            <a:r>
              <a:rPr spc="-250" dirty="0"/>
              <a:t>o</a:t>
            </a:r>
            <a:r>
              <a:rPr spc="-295" dirty="0"/>
              <a:t>nn</a:t>
            </a:r>
            <a:r>
              <a:rPr spc="-280" dirty="0"/>
              <a:t>e</a:t>
            </a:r>
            <a:r>
              <a:rPr spc="-65" dirty="0"/>
              <a:t>l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7028" y="1830263"/>
            <a:ext cx="8352790" cy="328231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885"/>
              </a:spcBef>
            </a:pP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Initialisation</a:t>
            </a:r>
            <a:r>
              <a:rPr sz="2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de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tableaux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à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plusieurs</a:t>
            </a:r>
            <a:r>
              <a:rPr sz="28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indices</a:t>
            </a:r>
            <a:endParaRPr sz="2800">
              <a:latin typeface="Times New Roman"/>
              <a:cs typeface="Times New Roman"/>
            </a:endParaRPr>
          </a:p>
          <a:p>
            <a:pPr marL="80645" marR="5080" indent="-44450">
              <a:lnSpc>
                <a:spcPts val="3620"/>
              </a:lnSpc>
              <a:spcBef>
                <a:spcPts val="180"/>
              </a:spcBef>
            </a:pPr>
            <a:r>
              <a:rPr sz="2400" spc="-5" dirty="0">
                <a:latin typeface="Times New Roman"/>
                <a:cs typeface="Times New Roman"/>
              </a:rPr>
              <a:t>Là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encore,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chacun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deux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niveaux,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dernières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valeurs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peuvent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être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omises.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400">
              <a:latin typeface="Times New Roman"/>
              <a:cs typeface="Times New Roman"/>
            </a:endParaRPr>
          </a:p>
          <a:p>
            <a:pPr marL="80645">
              <a:lnSpc>
                <a:spcPct val="100000"/>
              </a:lnSpc>
              <a:spcBef>
                <a:spcPts val="730"/>
              </a:spcBef>
            </a:pPr>
            <a:r>
              <a:rPr sz="2400" spc="-5" dirty="0">
                <a:latin typeface="Times New Roman"/>
                <a:cs typeface="Times New Roman"/>
              </a:rPr>
              <a:t>Les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déclarations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suivantes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correctes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(mais</a:t>
            </a:r>
            <a:r>
              <a:rPr sz="2400" dirty="0">
                <a:latin typeface="Times New Roman"/>
                <a:cs typeface="Times New Roman"/>
              </a:rPr>
              <a:t> non </a:t>
            </a:r>
            <a:r>
              <a:rPr sz="2400" spc="-5" dirty="0">
                <a:latin typeface="Times New Roman"/>
                <a:cs typeface="Times New Roman"/>
              </a:rPr>
              <a:t>équivalentes):</a:t>
            </a:r>
            <a:endParaRPr sz="2400">
              <a:latin typeface="Times New Roman"/>
              <a:cs typeface="Times New Roman"/>
            </a:endParaRPr>
          </a:p>
          <a:p>
            <a:pPr marL="80645">
              <a:lnSpc>
                <a:spcPct val="100000"/>
              </a:lnSpc>
              <a:spcBef>
                <a:spcPts val="710"/>
              </a:spcBef>
            </a:pP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tab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spc="-5" dirty="0">
                <a:solidFill>
                  <a:srgbClr val="FF32CC"/>
                </a:solidFill>
                <a:latin typeface="Times New Roman"/>
                <a:cs typeface="Times New Roman"/>
              </a:rPr>
              <a:t>3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spc="-5" dirty="0">
                <a:solidFill>
                  <a:srgbClr val="FF32CC"/>
                </a:solidFill>
                <a:latin typeface="Times New Roman"/>
                <a:cs typeface="Times New Roman"/>
              </a:rPr>
              <a:t>4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sz="24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2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3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4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5</a:t>
            </a:r>
            <a:r>
              <a:rPr sz="2400" spc="-5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 ;</a:t>
            </a:r>
            <a:endParaRPr sz="2400">
              <a:latin typeface="Times New Roman"/>
              <a:cs typeface="Times New Roman"/>
            </a:endParaRPr>
          </a:p>
          <a:p>
            <a:pPr marL="80645">
              <a:lnSpc>
                <a:spcPct val="100000"/>
              </a:lnSpc>
              <a:spcBef>
                <a:spcPts val="695"/>
              </a:spcBef>
            </a:pP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tab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spc="-5" dirty="0">
                <a:solidFill>
                  <a:srgbClr val="FF32CC"/>
                </a:solidFill>
                <a:latin typeface="Times New Roman"/>
                <a:cs typeface="Times New Roman"/>
              </a:rPr>
              <a:t>3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spc="-5" dirty="0">
                <a:solidFill>
                  <a:srgbClr val="FF32CC"/>
                </a:solidFill>
                <a:latin typeface="Times New Roman"/>
                <a:cs typeface="Times New Roman"/>
              </a:rPr>
              <a:t>4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sz="24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2</a:t>
            </a:r>
            <a:r>
              <a:rPr sz="2400" spc="-5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3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4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5</a:t>
            </a:r>
            <a:r>
              <a:rPr sz="2400" spc="-5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77952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5" dirty="0"/>
              <a:t>C</a:t>
            </a:r>
            <a:r>
              <a:rPr spc="-275" dirty="0"/>
              <a:t>r</a:t>
            </a:r>
            <a:r>
              <a:rPr spc="-280" dirty="0"/>
              <a:t>é</a:t>
            </a:r>
            <a:r>
              <a:rPr spc="-40" dirty="0"/>
              <a:t>a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0" dirty="0"/>
              <a:t>n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14" dirty="0"/>
              <a:t>’</a:t>
            </a:r>
            <a:r>
              <a:rPr spc="-250" dirty="0"/>
              <a:t>u</a:t>
            </a:r>
            <a:r>
              <a:rPr spc="-290" dirty="0"/>
              <a:t>n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140" dirty="0"/>
              <a:t>t</a:t>
            </a:r>
            <a:r>
              <a:rPr spc="-235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0" dirty="0"/>
              <a:t>u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350" dirty="0"/>
              <a:t>m</a:t>
            </a:r>
            <a:r>
              <a:rPr spc="-295" dirty="0"/>
              <a:t>u</a:t>
            </a:r>
            <a:r>
              <a:rPr spc="-135" dirty="0"/>
              <a:t>lti</a:t>
            </a:r>
            <a:r>
              <a:rPr spc="-285" dirty="0"/>
              <a:t>d</a:t>
            </a:r>
            <a:r>
              <a:rPr spc="-100" dirty="0"/>
              <a:t>i</a:t>
            </a:r>
            <a:r>
              <a:rPr spc="-315" dirty="0"/>
              <a:t>m</a:t>
            </a:r>
            <a:r>
              <a:rPr spc="-280" dirty="0"/>
              <a:t>e</a:t>
            </a:r>
            <a:r>
              <a:rPr spc="-295" dirty="0"/>
              <a:t>n</a:t>
            </a:r>
            <a:r>
              <a:rPr spc="-475" dirty="0"/>
              <a:t>s</a:t>
            </a:r>
            <a:r>
              <a:rPr spc="-114" dirty="0"/>
              <a:t>i</a:t>
            </a:r>
            <a:r>
              <a:rPr spc="-250" dirty="0"/>
              <a:t>o</a:t>
            </a:r>
            <a:r>
              <a:rPr spc="-295" dirty="0"/>
              <a:t>nn</a:t>
            </a:r>
            <a:r>
              <a:rPr spc="-280" dirty="0"/>
              <a:t>e</a:t>
            </a:r>
            <a:r>
              <a:rPr spc="-65" dirty="0"/>
              <a:t>l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8720" y="1867915"/>
            <a:ext cx="8910955" cy="253873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82905" indent="-370840">
              <a:lnSpc>
                <a:spcPct val="100000"/>
              </a:lnSpc>
              <a:spcBef>
                <a:spcPts val="600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382905" algn="l"/>
                <a:tab pos="383540" algn="l"/>
              </a:tabLst>
            </a:pP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impossible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d’écrire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 </a:t>
            </a:r>
            <a:r>
              <a:rPr sz="2400" spc="-5" dirty="0">
                <a:latin typeface="Times New Roman"/>
                <a:cs typeface="Times New Roman"/>
              </a:rPr>
              <a:t>fonction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qui renvoie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 tableau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statique.</a:t>
            </a:r>
            <a:endParaRPr sz="2400">
              <a:latin typeface="Times New Roman"/>
              <a:cs typeface="Times New Roman"/>
            </a:endParaRPr>
          </a:p>
          <a:p>
            <a:pPr marL="382905" indent="-370840">
              <a:lnSpc>
                <a:spcPct val="100000"/>
              </a:lnSpc>
              <a:spcBef>
                <a:spcPts val="505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382905" algn="l"/>
                <a:tab pos="383540" algn="l"/>
              </a:tabLst>
            </a:pPr>
            <a:r>
              <a:rPr sz="2400" spc="-5" dirty="0">
                <a:latin typeface="Times New Roman"/>
                <a:cs typeface="Times New Roman"/>
              </a:rPr>
              <a:t>Un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statique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toujours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6F2FA0"/>
                </a:solidFill>
                <a:latin typeface="Times New Roman"/>
                <a:cs typeface="Times New Roman"/>
              </a:rPr>
              <a:t>passé</a:t>
            </a:r>
            <a:r>
              <a:rPr sz="2400" b="1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6F2FA0"/>
                </a:solidFill>
                <a:latin typeface="Times New Roman"/>
                <a:cs typeface="Times New Roman"/>
              </a:rPr>
              <a:t>par</a:t>
            </a:r>
            <a:r>
              <a:rPr sz="2400" b="1" spc="-55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6F2FA0"/>
                </a:solidFill>
                <a:latin typeface="Times New Roman"/>
                <a:cs typeface="Times New Roman"/>
              </a:rPr>
              <a:t>référence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93700" marR="1906270" indent="-381000">
              <a:lnSpc>
                <a:spcPts val="3379"/>
              </a:lnSpc>
              <a:spcBef>
                <a:spcPts val="190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382905" algn="l"/>
                <a:tab pos="383540" algn="l"/>
              </a:tabLst>
            </a:pPr>
            <a:r>
              <a:rPr sz="2400" dirty="0">
                <a:latin typeface="Times New Roman"/>
                <a:cs typeface="Times New Roman"/>
              </a:rPr>
              <a:t>Il </a:t>
            </a:r>
            <a:r>
              <a:rPr sz="2400" spc="-5" dirty="0">
                <a:latin typeface="Times New Roman"/>
                <a:cs typeface="Times New Roman"/>
              </a:rPr>
              <a:t>n'y </a:t>
            </a:r>
            <a:r>
              <a:rPr sz="2400" dirty="0">
                <a:latin typeface="Times New Roman"/>
                <a:cs typeface="Times New Roman"/>
              </a:rPr>
              <a:t>a pas besoin </a:t>
            </a:r>
            <a:r>
              <a:rPr sz="2400" spc="-5" dirty="0">
                <a:latin typeface="Times New Roman"/>
                <a:cs typeface="Times New Roman"/>
              </a:rPr>
              <a:t>d'utiliser l'esperluette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&amp;</a:t>
            </a:r>
            <a:r>
              <a:rPr sz="2400" dirty="0">
                <a:latin typeface="Times New Roman"/>
                <a:cs typeface="Times New Roman"/>
              </a:rPr>
              <a:t>) : </a:t>
            </a:r>
            <a:r>
              <a:rPr sz="2400" spc="-5" dirty="0">
                <a:latin typeface="Times New Roman"/>
                <a:cs typeface="Times New Roman"/>
              </a:rPr>
              <a:t>c'est fait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automatiquement.</a:t>
            </a:r>
            <a:endParaRPr sz="2400">
              <a:latin typeface="Times New Roman"/>
              <a:cs typeface="Times New Roman"/>
            </a:endParaRPr>
          </a:p>
          <a:p>
            <a:pPr marL="382905" marR="116205" indent="-370840">
              <a:lnSpc>
                <a:spcPct val="100000"/>
              </a:lnSpc>
              <a:spcBef>
                <a:spcPts val="310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382905" algn="l"/>
                <a:tab pos="383540" algn="l"/>
              </a:tabLst>
            </a:pPr>
            <a:r>
              <a:rPr sz="2400" spc="-5" dirty="0">
                <a:latin typeface="Times New Roman"/>
                <a:cs typeface="Times New Roman"/>
              </a:rPr>
              <a:t>Dans </a:t>
            </a:r>
            <a:r>
              <a:rPr sz="2400" dirty="0">
                <a:latin typeface="Times New Roman"/>
                <a:cs typeface="Times New Roman"/>
              </a:rPr>
              <a:t>ce cas,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lorsqu'on</a:t>
            </a:r>
            <a:r>
              <a:rPr sz="2400" dirty="0">
                <a:latin typeface="Times New Roman"/>
                <a:cs typeface="Times New Roman"/>
              </a:rPr>
              <a:t> passe un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5" dirty="0">
                <a:latin typeface="Times New Roman"/>
                <a:cs typeface="Times New Roman"/>
              </a:rPr>
              <a:t> fonction,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cette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dernière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peut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modifier.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7213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75" dirty="0"/>
              <a:t>Les</a:t>
            </a:r>
            <a:r>
              <a:rPr spc="-45" dirty="0"/>
              <a:t> </a:t>
            </a:r>
            <a:r>
              <a:rPr spc="-190" dirty="0"/>
              <a:t>tableaux</a:t>
            </a:r>
            <a:r>
              <a:rPr spc="-20" dirty="0"/>
              <a:t> </a:t>
            </a:r>
            <a:r>
              <a:rPr spc="-275" dirty="0"/>
              <a:t>statiques</a:t>
            </a:r>
            <a:r>
              <a:rPr spc="-20" dirty="0"/>
              <a:t> </a:t>
            </a:r>
            <a:r>
              <a:rPr spc="-275" dirty="0"/>
              <a:t>et</a:t>
            </a:r>
            <a:r>
              <a:rPr spc="-40" dirty="0"/>
              <a:t> </a:t>
            </a:r>
            <a:r>
              <a:rPr spc="-270" dirty="0"/>
              <a:t>les</a:t>
            </a:r>
            <a:r>
              <a:rPr spc="-40" dirty="0"/>
              <a:t> </a:t>
            </a:r>
            <a:r>
              <a:rPr spc="-295" dirty="0"/>
              <a:t>fonctions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8720" y="1867915"/>
            <a:ext cx="8747125" cy="2172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5080" indent="-381000">
              <a:lnSpc>
                <a:spcPct val="117500"/>
              </a:lnSpc>
              <a:spcBef>
                <a:spcPts val="100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382905" algn="l"/>
                <a:tab pos="383540" algn="l"/>
                <a:tab pos="5408930" algn="l"/>
              </a:tabLst>
            </a:pP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d’une</a:t>
            </a:r>
            <a:r>
              <a:rPr sz="24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fonction qui</a:t>
            </a:r>
            <a:r>
              <a:rPr sz="24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passe</a:t>
            </a:r>
            <a:r>
              <a:rPr sz="24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en</a:t>
            </a:r>
            <a:r>
              <a:rPr sz="24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argument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tableau statique: </a:t>
            </a:r>
            <a:r>
              <a:rPr sz="2400" b="1" spc="-5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4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fonctionStatique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tableau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[],	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tailleDuTableau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490"/>
              </a:spcBef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  <a:spcBef>
                <a:spcPts val="505"/>
              </a:spcBef>
            </a:pPr>
            <a:r>
              <a:rPr sz="2400" spc="-5" dirty="0">
                <a:latin typeface="Times New Roman"/>
                <a:cs typeface="Times New Roman"/>
              </a:rPr>
              <a:t>Bloc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d’instructions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505"/>
              </a:spcBef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7213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75" dirty="0"/>
              <a:t>Les</a:t>
            </a:r>
            <a:r>
              <a:rPr spc="-45" dirty="0"/>
              <a:t> </a:t>
            </a:r>
            <a:r>
              <a:rPr spc="-190" dirty="0"/>
              <a:t>tableaux</a:t>
            </a:r>
            <a:r>
              <a:rPr spc="-20" dirty="0"/>
              <a:t> </a:t>
            </a:r>
            <a:r>
              <a:rPr spc="-275" dirty="0"/>
              <a:t>statiques</a:t>
            </a:r>
            <a:r>
              <a:rPr spc="-20" dirty="0"/>
              <a:t> </a:t>
            </a:r>
            <a:r>
              <a:rPr spc="-275" dirty="0"/>
              <a:t>et</a:t>
            </a:r>
            <a:r>
              <a:rPr spc="-40" dirty="0"/>
              <a:t> </a:t>
            </a:r>
            <a:r>
              <a:rPr spc="-270" dirty="0"/>
              <a:t>les</a:t>
            </a:r>
            <a:r>
              <a:rPr spc="-40" dirty="0"/>
              <a:t> </a:t>
            </a:r>
            <a:r>
              <a:rPr spc="-295" dirty="0"/>
              <a:t>fonctions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8720" y="1859957"/>
            <a:ext cx="8733790" cy="251333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2600" b="1" dirty="0">
                <a:solidFill>
                  <a:srgbClr val="C00000"/>
                </a:solidFill>
                <a:latin typeface="Times New Roman"/>
                <a:cs typeface="Times New Roman"/>
              </a:rPr>
              <a:t>Appel</a:t>
            </a:r>
            <a:r>
              <a:rPr sz="26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Times New Roman"/>
                <a:cs typeface="Times New Roman"/>
              </a:rPr>
              <a:t>d’une</a:t>
            </a:r>
            <a:r>
              <a:rPr sz="26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Times New Roman"/>
                <a:cs typeface="Times New Roman"/>
              </a:rPr>
              <a:t>fonction</a:t>
            </a:r>
            <a:r>
              <a:rPr sz="26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Times New Roman"/>
                <a:cs typeface="Times New Roman"/>
              </a:rPr>
              <a:t>qui</a:t>
            </a:r>
            <a:r>
              <a:rPr sz="26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Times New Roman"/>
                <a:cs typeface="Times New Roman"/>
              </a:rPr>
              <a:t>passe</a:t>
            </a:r>
            <a:r>
              <a:rPr sz="26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en </a:t>
            </a:r>
            <a:r>
              <a:rPr sz="2600" b="1" dirty="0">
                <a:solidFill>
                  <a:srgbClr val="C00000"/>
                </a:solidFill>
                <a:latin typeface="Times New Roman"/>
                <a:cs typeface="Times New Roman"/>
              </a:rPr>
              <a:t>argument</a:t>
            </a:r>
            <a:r>
              <a:rPr sz="26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Times New Roman"/>
                <a:cs typeface="Times New Roman"/>
              </a:rPr>
              <a:t>tableau</a:t>
            </a:r>
            <a:r>
              <a:rPr sz="26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statique:</a:t>
            </a:r>
            <a:endParaRPr sz="26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830"/>
              </a:lnSpc>
              <a:spcBef>
                <a:spcPts val="650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431165" algn="l"/>
                <a:tab pos="431800" algn="l"/>
              </a:tabLst>
            </a:pPr>
            <a:r>
              <a:rPr dirty="0"/>
              <a:t>	</a:t>
            </a:r>
            <a:r>
              <a:rPr sz="2400" spc="-5" dirty="0">
                <a:latin typeface="Times New Roman"/>
                <a:cs typeface="Times New Roman"/>
              </a:rPr>
              <a:t>Pour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appeler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fonction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recevant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statique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taille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argument,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n'y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rien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 </a:t>
            </a:r>
            <a:r>
              <a:rPr sz="2400" spc="-5" dirty="0">
                <a:latin typeface="Times New Roman"/>
                <a:cs typeface="Times New Roman"/>
              </a:rPr>
              <a:t>particulier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faire</a:t>
            </a:r>
            <a:r>
              <a:rPr sz="2400" spc="-25" dirty="0">
                <a:latin typeface="Microsoft Sans Serif"/>
                <a:cs typeface="Microsoft Sans Serif"/>
              </a:rPr>
              <a:t>.</a:t>
            </a:r>
            <a:endParaRPr sz="2400">
              <a:latin typeface="Microsoft Sans Serif"/>
              <a:cs typeface="Microsoft Sans Serif"/>
            </a:endParaRPr>
          </a:p>
          <a:p>
            <a:pPr marL="355600" marR="625475" indent="-342900">
              <a:lnSpc>
                <a:spcPct val="101200"/>
              </a:lnSpc>
              <a:spcBef>
                <a:spcPts val="385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438784" algn="l"/>
                <a:tab pos="439420" algn="l"/>
              </a:tabLst>
            </a:pPr>
            <a:r>
              <a:rPr dirty="0"/>
              <a:t>	</a:t>
            </a: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15" dirty="0">
                <a:latin typeface="Times New Roman"/>
                <a:cs typeface="Times New Roman"/>
              </a:rPr>
              <a:t> suffit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 </a:t>
            </a:r>
            <a:r>
              <a:rPr sz="2400" spc="-5" dirty="0">
                <a:latin typeface="Times New Roman"/>
                <a:cs typeface="Times New Roman"/>
              </a:rPr>
              <a:t>mettre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statique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</a:t>
            </a:r>
            <a:r>
              <a:rPr sz="2400" spc="-5" dirty="0">
                <a:latin typeface="Times New Roman"/>
                <a:cs typeface="Times New Roman"/>
              </a:rPr>
              <a:t> taille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comme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paramètres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entre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parenthèses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lors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5" dirty="0">
                <a:latin typeface="Times New Roman"/>
                <a:cs typeface="Times New Roman"/>
              </a:rPr>
              <a:t> l'appel.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05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1120" y="4411470"/>
            <a:ext cx="45942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tableau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[]={</a:t>
            </a:r>
            <a:r>
              <a:rPr sz="2400" spc="-5" dirty="0">
                <a:solidFill>
                  <a:srgbClr val="FF32CC"/>
                </a:solidFill>
                <a:latin typeface="Times New Roman"/>
                <a:cs typeface="Times New Roman"/>
              </a:rPr>
              <a:t>1.5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2.5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3.5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4.5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27151" y="4461762"/>
            <a:ext cx="3111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//On</a:t>
            </a:r>
            <a:r>
              <a:rPr sz="20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crée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un</a:t>
            </a:r>
            <a:r>
              <a:rPr sz="20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tableau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4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réels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1120" y="4839713"/>
            <a:ext cx="3509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fonctionStatique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spc="-5" dirty="0">
                <a:latin typeface="Times New Roman"/>
                <a:cs typeface="Times New Roman"/>
              </a:rPr>
              <a:t>tableau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4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73939" y="4890006"/>
            <a:ext cx="45548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//On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passe</a:t>
            </a:r>
            <a:r>
              <a:rPr sz="20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le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tableau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et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sa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taille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à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fonction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7213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75" dirty="0"/>
              <a:t>Les</a:t>
            </a:r>
            <a:r>
              <a:rPr spc="-45" dirty="0"/>
              <a:t> </a:t>
            </a:r>
            <a:r>
              <a:rPr spc="-190" dirty="0"/>
              <a:t>tableaux</a:t>
            </a:r>
            <a:r>
              <a:rPr spc="-20" dirty="0"/>
              <a:t> </a:t>
            </a:r>
            <a:r>
              <a:rPr spc="-275" dirty="0"/>
              <a:t>statiques</a:t>
            </a:r>
            <a:r>
              <a:rPr spc="-20" dirty="0"/>
              <a:t> </a:t>
            </a:r>
            <a:r>
              <a:rPr spc="-275" dirty="0"/>
              <a:t>et</a:t>
            </a:r>
            <a:r>
              <a:rPr spc="-40" dirty="0"/>
              <a:t> </a:t>
            </a:r>
            <a:r>
              <a:rPr spc="-270" dirty="0"/>
              <a:t>les</a:t>
            </a:r>
            <a:r>
              <a:rPr spc="-40" dirty="0"/>
              <a:t> </a:t>
            </a:r>
            <a:r>
              <a:rPr spc="-295" dirty="0"/>
              <a:t>fonctions</a:t>
            </a:r>
          </a:p>
        </p:txBody>
      </p:sp>
      <p:sp>
        <p:nvSpPr>
          <p:cNvPr id="9" name="object 9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8720" y="1939543"/>
            <a:ext cx="8458200" cy="431863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82905" indent="-370840">
              <a:lnSpc>
                <a:spcPct val="100000"/>
              </a:lnSpc>
              <a:spcBef>
                <a:spcPts val="600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382905" algn="l"/>
                <a:tab pos="383540" algn="l"/>
              </a:tabLst>
            </a:pP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24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2:</a:t>
            </a:r>
            <a:endParaRPr sz="2400">
              <a:latin typeface="Times New Roman"/>
              <a:cs typeface="Times New Roman"/>
            </a:endParaRPr>
          </a:p>
          <a:p>
            <a:pPr marL="393700" marR="5080">
              <a:lnSpc>
                <a:spcPct val="117100"/>
              </a:lnSpc>
              <a:spcBef>
                <a:spcPts val="15"/>
              </a:spcBef>
            </a:pPr>
            <a:r>
              <a:rPr sz="2400" spc="-5" dirty="0">
                <a:latin typeface="Times New Roman"/>
                <a:cs typeface="Times New Roman"/>
              </a:rPr>
              <a:t>Ecrire </a:t>
            </a:r>
            <a:r>
              <a:rPr sz="2400" dirty="0">
                <a:latin typeface="Times New Roman"/>
                <a:cs typeface="Times New Roman"/>
              </a:rPr>
              <a:t>une </a:t>
            </a:r>
            <a:r>
              <a:rPr sz="2400" spc="-5" dirty="0">
                <a:latin typeface="Times New Roman"/>
                <a:cs typeface="Times New Roman"/>
              </a:rPr>
              <a:t>fonction </a:t>
            </a:r>
            <a:r>
              <a:rPr sz="2400" spc="-25" dirty="0">
                <a:latin typeface="Times New Roman"/>
                <a:cs typeface="Times New Roman"/>
              </a:rPr>
              <a:t>maxTab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() </a:t>
            </a:r>
            <a:r>
              <a:rPr sz="2400" dirty="0">
                <a:latin typeface="Times New Roman"/>
                <a:cs typeface="Times New Roman"/>
              </a:rPr>
              <a:t>qui calcule le </a:t>
            </a:r>
            <a:r>
              <a:rPr sz="2400" spc="-10" dirty="0">
                <a:latin typeface="Times New Roman"/>
                <a:cs typeface="Times New Roman"/>
              </a:rPr>
              <a:t>maximum </a:t>
            </a:r>
            <a:r>
              <a:rPr sz="2400" dirty="0">
                <a:latin typeface="Times New Roman"/>
                <a:cs typeface="Times New Roman"/>
              </a:rPr>
              <a:t>des valeurs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d'un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tableau.</a:t>
            </a:r>
            <a:endParaRPr sz="240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  <a:spcBef>
                <a:spcPts val="505"/>
              </a:spcBef>
            </a:pP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maxTab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tab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[],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tailleDuTableau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){</a:t>
            </a:r>
            <a:endParaRPr sz="240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  <a:spcBef>
                <a:spcPts val="500"/>
              </a:spcBef>
            </a:pP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b="1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max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spc="-5" dirty="0">
                <a:latin typeface="Times New Roman"/>
                <a:cs typeface="Times New Roman"/>
              </a:rPr>
              <a:t>tab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spc="-5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]);</a:t>
            </a:r>
            <a:endParaRPr sz="240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  <a:spcBef>
                <a:spcPts val="495"/>
              </a:spcBef>
            </a:pP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for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i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spc="-15" dirty="0">
                <a:latin typeface="Times New Roman"/>
                <a:cs typeface="Times New Roman"/>
              </a:rPr>
              <a:t>tailleDuTableau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++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){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05"/>
              </a:spcBef>
            </a:pP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if</a:t>
            </a:r>
            <a:r>
              <a:rPr sz="24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spc="-5" dirty="0">
                <a:latin typeface="Times New Roman"/>
                <a:cs typeface="Times New Roman"/>
              </a:rPr>
              <a:t>max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spc="-5" dirty="0">
                <a:latin typeface="Times New Roman"/>
                <a:cs typeface="Times New Roman"/>
              </a:rPr>
              <a:t>tab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spc="-5" dirty="0">
                <a:latin typeface="Times New Roman"/>
                <a:cs typeface="Times New Roman"/>
              </a:rPr>
              <a:t>i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])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max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tab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spc="-5" dirty="0">
                <a:latin typeface="Times New Roman"/>
                <a:cs typeface="Times New Roman"/>
              </a:rPr>
              <a:t>i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];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00"/>
              </a:spcBef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  <a:spcBef>
                <a:spcPts val="495"/>
              </a:spcBef>
            </a:pPr>
            <a:r>
              <a:rPr sz="24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400" b="1" spc="-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max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05"/>
              </a:spcBef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7213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75" dirty="0"/>
              <a:t>Les</a:t>
            </a:r>
            <a:r>
              <a:rPr spc="-45" dirty="0"/>
              <a:t> </a:t>
            </a:r>
            <a:r>
              <a:rPr spc="-190" dirty="0"/>
              <a:t>tableaux</a:t>
            </a:r>
            <a:r>
              <a:rPr spc="-20" dirty="0"/>
              <a:t> </a:t>
            </a:r>
            <a:r>
              <a:rPr spc="-275" dirty="0"/>
              <a:t>statiques</a:t>
            </a:r>
            <a:r>
              <a:rPr spc="-20" dirty="0"/>
              <a:t> </a:t>
            </a:r>
            <a:r>
              <a:rPr spc="-275" dirty="0"/>
              <a:t>et</a:t>
            </a:r>
            <a:r>
              <a:rPr spc="-40" dirty="0"/>
              <a:t> </a:t>
            </a:r>
            <a:r>
              <a:rPr spc="-270" dirty="0"/>
              <a:t>les</a:t>
            </a:r>
            <a:r>
              <a:rPr spc="-40" dirty="0"/>
              <a:t> </a:t>
            </a:r>
            <a:r>
              <a:rPr spc="-295" dirty="0"/>
              <a:t>fonctions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272" y="1905129"/>
            <a:ext cx="8253095" cy="279400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865"/>
              </a:spcBef>
            </a:pPr>
            <a:r>
              <a:rPr sz="2600" b="1" dirty="0">
                <a:solidFill>
                  <a:srgbClr val="C00000"/>
                </a:solidFill>
                <a:latin typeface="Times New Roman"/>
                <a:cs typeface="Times New Roman"/>
              </a:rPr>
              <a:t>Déclaration</a:t>
            </a:r>
            <a:r>
              <a:rPr sz="26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Times New Roman"/>
                <a:cs typeface="Times New Roman"/>
              </a:rPr>
              <a:t>d’un</a:t>
            </a:r>
            <a:r>
              <a:rPr sz="26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Times New Roman"/>
                <a:cs typeface="Times New Roman"/>
              </a:rPr>
              <a:t>tableau</a:t>
            </a:r>
            <a:r>
              <a:rPr sz="26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Times New Roman"/>
                <a:cs typeface="Times New Roman"/>
              </a:rPr>
              <a:t>de</a:t>
            </a:r>
            <a:r>
              <a:rPr sz="26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taille </a:t>
            </a:r>
            <a:r>
              <a:rPr sz="2600" b="1" dirty="0">
                <a:solidFill>
                  <a:srgbClr val="C00000"/>
                </a:solidFill>
                <a:latin typeface="Times New Roman"/>
                <a:cs typeface="Times New Roman"/>
              </a:rPr>
              <a:t>fixe</a:t>
            </a:r>
            <a:endParaRPr sz="26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705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400" spc="-5" dirty="0">
                <a:latin typeface="Times New Roman"/>
                <a:cs typeface="Times New Roman"/>
              </a:rPr>
              <a:t>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défini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bibliothèque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500"/>
                </a:solidFill>
                <a:latin typeface="Times New Roman"/>
                <a:cs typeface="Times New Roman"/>
              </a:rPr>
              <a:t>array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705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400" spc="-5" dirty="0">
                <a:latin typeface="Times New Roman"/>
                <a:cs typeface="Times New Roman"/>
              </a:rPr>
              <a:t>Pour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15" dirty="0">
                <a:latin typeface="Times New Roman"/>
                <a:cs typeface="Times New Roman"/>
              </a:rPr>
              <a:t> utiliser,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faut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ajouter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 début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5" dirty="0">
                <a:latin typeface="Times New Roman"/>
                <a:cs typeface="Times New Roman"/>
              </a:rPr>
              <a:t> programme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700"/>
              </a:spcBef>
            </a:pPr>
            <a:r>
              <a:rPr sz="24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#include</a:t>
            </a:r>
            <a:r>
              <a:rPr sz="2400" b="1" spc="-45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500"/>
                </a:solidFill>
                <a:latin typeface="Times New Roman"/>
                <a:cs typeface="Times New Roman"/>
              </a:rPr>
              <a:t>&lt;array&gt;</a:t>
            </a:r>
            <a:endParaRPr sz="2400">
              <a:latin typeface="Times New Roman"/>
              <a:cs typeface="Times New Roman"/>
            </a:endParaRPr>
          </a:p>
          <a:p>
            <a:pPr marL="319405" indent="-319405">
              <a:lnSpc>
                <a:spcPct val="100000"/>
              </a:lnSpc>
              <a:spcBef>
                <a:spcPts val="695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19405" algn="l"/>
                <a:tab pos="332740" algn="l"/>
              </a:tabLst>
            </a:pPr>
            <a:r>
              <a:rPr sz="2400" spc="-5" dirty="0">
                <a:latin typeface="Times New Roman"/>
                <a:cs typeface="Times New Roman"/>
              </a:rPr>
              <a:t>La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syntaxe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pour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déclarer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5" dirty="0">
                <a:latin typeface="Times New Roman"/>
                <a:cs typeface="Times New Roman"/>
              </a:rPr>
              <a:t> taille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fixe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suivante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78740" algn="ctr">
              <a:lnSpc>
                <a:spcPct val="100000"/>
              </a:lnSpc>
              <a:spcBef>
                <a:spcPts val="705"/>
              </a:spcBef>
            </a:pPr>
            <a:r>
              <a:rPr sz="24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array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type_du_tableau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32CC"/>
                </a:solidFill>
                <a:latin typeface="Times New Roman"/>
                <a:cs typeface="Times New Roman"/>
              </a:rPr>
              <a:t>taille_du_tableau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nom_du_tableau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2832" y="805687"/>
            <a:ext cx="63169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L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140" dirty="0"/>
              <a:t>t</a:t>
            </a:r>
            <a:r>
              <a:rPr spc="-235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475" dirty="0"/>
              <a:t>s</a:t>
            </a:r>
            <a:r>
              <a:rPr spc="-140" dirty="0"/>
              <a:t>t</a:t>
            </a:r>
            <a:r>
              <a:rPr spc="-165" dirty="0"/>
              <a:t>a</a:t>
            </a:r>
            <a:r>
              <a:rPr spc="-160" dirty="0"/>
              <a:t>ti</a:t>
            </a:r>
            <a:r>
              <a:rPr spc="-32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80" dirty="0"/>
              <a:t>e</a:t>
            </a:r>
            <a:r>
              <a:rPr spc="-290" dirty="0"/>
              <a:t>n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505" dirty="0"/>
              <a:t>C</a:t>
            </a:r>
            <a:r>
              <a:rPr spc="290" dirty="0"/>
              <a:t>++</a:t>
            </a:r>
            <a:r>
              <a:rPr spc="-100" dirty="0"/>
              <a:t>1</a:t>
            </a:r>
            <a:r>
              <a:rPr spc="-95" dirty="0"/>
              <a:t>1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416" y="1896564"/>
            <a:ext cx="7222490" cy="328739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925"/>
              </a:spcBef>
            </a:pP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Déclaration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d’un</a:t>
            </a:r>
            <a:r>
              <a:rPr sz="28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tableau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 de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taille</a:t>
            </a:r>
            <a:r>
              <a:rPr sz="28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fixe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4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#include</a:t>
            </a:r>
            <a:r>
              <a:rPr sz="2400" b="1" spc="-45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500"/>
                </a:solidFill>
                <a:latin typeface="Times New Roman"/>
                <a:cs typeface="Times New Roman"/>
              </a:rPr>
              <a:t>&lt;array&gt;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dirty="0">
                <a:latin typeface="Times New Roman"/>
                <a:cs typeface="Times New Roman"/>
              </a:rPr>
              <a:t>...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array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5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&gt; </a:t>
            </a:r>
            <a:r>
              <a:rPr sz="2400" dirty="0">
                <a:latin typeface="Times New Roman"/>
                <a:cs typeface="Times New Roman"/>
              </a:rPr>
              <a:t>vecteur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déclaration</a:t>
            </a:r>
            <a:r>
              <a:rPr sz="20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d’un</a:t>
            </a:r>
            <a:r>
              <a:rPr sz="20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tableau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5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double.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  <a:r>
              <a:rPr sz="24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size_t</a:t>
            </a:r>
            <a:r>
              <a:rPr sz="24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spc="-5" dirty="0">
                <a:solidFill>
                  <a:srgbClr val="FF32CC"/>
                </a:solidFill>
                <a:latin typeface="Times New Roman"/>
                <a:cs typeface="Times New Roman"/>
              </a:rPr>
              <a:t>10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array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24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ages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déclaration</a:t>
            </a:r>
            <a:r>
              <a:rPr sz="20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d’un</a:t>
            </a:r>
            <a:r>
              <a:rPr sz="20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tableau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10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 entiers.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2832" y="805687"/>
            <a:ext cx="63169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L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140" dirty="0"/>
              <a:t>t</a:t>
            </a:r>
            <a:r>
              <a:rPr spc="-235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475" dirty="0"/>
              <a:t>s</a:t>
            </a:r>
            <a:r>
              <a:rPr spc="-140" dirty="0"/>
              <a:t>t</a:t>
            </a:r>
            <a:r>
              <a:rPr spc="-165" dirty="0"/>
              <a:t>a</a:t>
            </a:r>
            <a:r>
              <a:rPr spc="-160" dirty="0"/>
              <a:t>ti</a:t>
            </a:r>
            <a:r>
              <a:rPr spc="-32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80" dirty="0"/>
              <a:t>e</a:t>
            </a:r>
            <a:r>
              <a:rPr spc="-290" dirty="0"/>
              <a:t>n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505" dirty="0"/>
              <a:t>C</a:t>
            </a:r>
            <a:r>
              <a:rPr spc="290" dirty="0"/>
              <a:t>++</a:t>
            </a:r>
            <a:r>
              <a:rPr spc="-100" dirty="0"/>
              <a:t>1</a:t>
            </a:r>
            <a:r>
              <a:rPr spc="-95" dirty="0"/>
              <a:t>1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236" y="1884827"/>
            <a:ext cx="9130030" cy="213233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15"/>
              </a:spcBef>
            </a:pP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Initialisation</a:t>
            </a:r>
            <a:r>
              <a:rPr sz="2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d’un</a:t>
            </a:r>
            <a:r>
              <a:rPr sz="280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tableau</a:t>
            </a:r>
            <a:r>
              <a:rPr sz="28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de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taille</a:t>
            </a:r>
            <a:r>
              <a:rPr sz="2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fixe</a:t>
            </a:r>
            <a:endParaRPr sz="28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720"/>
              </a:spcBef>
              <a:buClr>
                <a:srgbClr val="006FC0"/>
              </a:buClr>
              <a:buSzPct val="59090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200" spc="-5" dirty="0">
                <a:latin typeface="Times New Roman"/>
                <a:cs typeface="Times New Roman"/>
              </a:rPr>
              <a:t>Un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tableau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 </a:t>
            </a:r>
            <a:r>
              <a:rPr sz="2200" spc="-5" dirty="0">
                <a:latin typeface="Times New Roman"/>
                <a:cs typeface="Times New Roman"/>
              </a:rPr>
              <a:t>taille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fixe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peut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être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initialisé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directement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lors</a:t>
            </a:r>
            <a:r>
              <a:rPr sz="2200" dirty="0">
                <a:latin typeface="Times New Roman"/>
                <a:cs typeface="Times New Roman"/>
              </a:rPr>
              <a:t> de </a:t>
            </a:r>
            <a:r>
              <a:rPr sz="2200" spc="-5" dirty="0">
                <a:latin typeface="Times New Roman"/>
                <a:cs typeface="Times New Roman"/>
              </a:rPr>
              <a:t>sa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déclaration: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9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array</a:t>
            </a:r>
            <a:r>
              <a:rPr sz="19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19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type_du_tableau</a:t>
            </a:r>
            <a:r>
              <a:rPr sz="1900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1900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spc="-5" dirty="0">
                <a:solidFill>
                  <a:srgbClr val="FF32CC"/>
                </a:solidFill>
                <a:latin typeface="Times New Roman"/>
                <a:cs typeface="Times New Roman"/>
              </a:rPr>
              <a:t>taille_tableau</a:t>
            </a:r>
            <a:r>
              <a:rPr sz="1900" spc="-5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19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spc="-5" dirty="0">
                <a:solidFill>
                  <a:srgbClr val="6F2FA0"/>
                </a:solidFill>
                <a:latin typeface="Times New Roman"/>
                <a:cs typeface="Times New Roman"/>
              </a:rPr>
              <a:t>nom_du_tableau</a:t>
            </a:r>
            <a:r>
              <a:rPr sz="1900" spc="-5" dirty="0">
                <a:solidFill>
                  <a:srgbClr val="FF0000"/>
                </a:solidFill>
                <a:latin typeface="Times New Roman"/>
                <a:cs typeface="Times New Roman"/>
              </a:rPr>
              <a:t>({</a:t>
            </a:r>
            <a:r>
              <a:rPr sz="1900" spc="-5" dirty="0">
                <a:solidFill>
                  <a:srgbClr val="FF32CC"/>
                </a:solidFill>
                <a:latin typeface="Times New Roman"/>
                <a:cs typeface="Times New Roman"/>
              </a:rPr>
              <a:t>val_1</a:t>
            </a:r>
            <a:r>
              <a:rPr sz="1900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1900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0000"/>
                </a:solidFill>
                <a:latin typeface="Times New Roman"/>
                <a:cs typeface="Times New Roman"/>
              </a:rPr>
              <a:t>...</a:t>
            </a:r>
            <a:r>
              <a:rPr sz="1900" spc="-5" dirty="0">
                <a:solidFill>
                  <a:srgbClr val="FF0000"/>
                </a:solidFill>
                <a:latin typeface="Times New Roman"/>
                <a:cs typeface="Times New Roman"/>
              </a:rPr>
              <a:t> ,</a:t>
            </a:r>
            <a:r>
              <a:rPr sz="19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FF32CC"/>
                </a:solidFill>
                <a:latin typeface="Times New Roman"/>
                <a:cs typeface="Times New Roman"/>
              </a:rPr>
              <a:t>val_tailleTableau</a:t>
            </a:r>
            <a:r>
              <a:rPr sz="1900" spc="-10" dirty="0">
                <a:solidFill>
                  <a:srgbClr val="FF0000"/>
                </a:solidFill>
                <a:latin typeface="Times New Roman"/>
                <a:cs typeface="Times New Roman"/>
              </a:rPr>
              <a:t>});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900" spc="-5" dirty="0">
                <a:latin typeface="Times New Roman"/>
                <a:cs typeface="Times New Roman"/>
              </a:rPr>
              <a:t>Ou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9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array</a:t>
            </a:r>
            <a:r>
              <a:rPr sz="19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19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type_du_tableau</a:t>
            </a:r>
            <a:r>
              <a:rPr sz="1900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1900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spc="-5" dirty="0">
                <a:solidFill>
                  <a:srgbClr val="FF32CC"/>
                </a:solidFill>
                <a:latin typeface="Times New Roman"/>
                <a:cs typeface="Times New Roman"/>
              </a:rPr>
              <a:t>taille_tableau</a:t>
            </a:r>
            <a:r>
              <a:rPr sz="1900" spc="-5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19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spc="-5" dirty="0">
                <a:solidFill>
                  <a:srgbClr val="6F2FA0"/>
                </a:solidFill>
                <a:latin typeface="Times New Roman"/>
                <a:cs typeface="Times New Roman"/>
              </a:rPr>
              <a:t>nom_du_tableau</a:t>
            </a:r>
            <a:r>
              <a:rPr sz="1900" b="1" spc="50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9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1900" spc="-5" dirty="0">
                <a:solidFill>
                  <a:srgbClr val="FF32CC"/>
                </a:solidFill>
                <a:latin typeface="Times New Roman"/>
                <a:cs typeface="Times New Roman"/>
              </a:rPr>
              <a:t>val_1</a:t>
            </a:r>
            <a:r>
              <a:rPr sz="1900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1900" dirty="0">
                <a:solidFill>
                  <a:srgbClr val="FF0000"/>
                </a:solidFill>
                <a:latin typeface="Times New Roman"/>
                <a:cs typeface="Times New Roman"/>
              </a:rPr>
              <a:t> ...</a:t>
            </a:r>
            <a:r>
              <a:rPr sz="19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19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FF32CC"/>
                </a:solidFill>
                <a:latin typeface="Times New Roman"/>
                <a:cs typeface="Times New Roman"/>
              </a:rPr>
              <a:t>val_tailleTableau</a:t>
            </a:r>
            <a:r>
              <a:rPr sz="1900" spc="-10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2832" y="805687"/>
            <a:ext cx="63169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L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140" dirty="0"/>
              <a:t>t</a:t>
            </a:r>
            <a:r>
              <a:rPr spc="-235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475" dirty="0"/>
              <a:t>s</a:t>
            </a:r>
            <a:r>
              <a:rPr spc="-140" dirty="0"/>
              <a:t>t</a:t>
            </a:r>
            <a:r>
              <a:rPr spc="-165" dirty="0"/>
              <a:t>a</a:t>
            </a:r>
            <a:r>
              <a:rPr spc="-160" dirty="0"/>
              <a:t>ti</a:t>
            </a:r>
            <a:r>
              <a:rPr spc="-32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80" dirty="0"/>
              <a:t>e</a:t>
            </a:r>
            <a:r>
              <a:rPr spc="-290" dirty="0"/>
              <a:t>n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505" dirty="0"/>
              <a:t>C</a:t>
            </a:r>
            <a:r>
              <a:rPr spc="290" dirty="0"/>
              <a:t>++</a:t>
            </a:r>
            <a:r>
              <a:rPr spc="-100" dirty="0"/>
              <a:t>1</a:t>
            </a:r>
            <a:r>
              <a:rPr spc="-95" dirty="0"/>
              <a:t>1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2436" y="1896564"/>
            <a:ext cx="8454390" cy="283337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925"/>
              </a:spcBef>
            </a:pP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Initialisation</a:t>
            </a:r>
            <a:r>
              <a:rPr sz="2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d’un</a:t>
            </a:r>
            <a:r>
              <a:rPr sz="280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tableau</a:t>
            </a:r>
            <a:r>
              <a:rPr sz="28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de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taille</a:t>
            </a:r>
            <a:r>
              <a:rPr sz="2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fixe</a:t>
            </a:r>
            <a:endParaRPr sz="28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  <a:spcBef>
                <a:spcPts val="710"/>
              </a:spcBef>
            </a:pP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4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  <a:spcBef>
                <a:spcPts val="710"/>
              </a:spcBef>
            </a:pP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  <a:r>
              <a:rPr sz="24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size_t</a:t>
            </a:r>
            <a:r>
              <a:rPr sz="24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taille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spc="-5" dirty="0">
                <a:latin typeface="Times New Roman"/>
                <a:cs typeface="Times New Roman"/>
              </a:rPr>
              <a:t>7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4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  <a:spcBef>
                <a:spcPts val="695"/>
              </a:spcBef>
            </a:pPr>
            <a:r>
              <a:rPr sz="24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array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taille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({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16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16.75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17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17.75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18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18.75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19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400" spc="-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ou</a:t>
            </a:r>
            <a:r>
              <a:rPr sz="24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4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array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taille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ages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={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16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16.75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17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17.75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18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18.75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19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2832" y="805687"/>
            <a:ext cx="63169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L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140" dirty="0"/>
              <a:t>t</a:t>
            </a:r>
            <a:r>
              <a:rPr spc="-235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475" dirty="0"/>
              <a:t>s</a:t>
            </a:r>
            <a:r>
              <a:rPr spc="-140" dirty="0"/>
              <a:t>t</a:t>
            </a:r>
            <a:r>
              <a:rPr spc="-165" dirty="0"/>
              <a:t>a</a:t>
            </a:r>
            <a:r>
              <a:rPr spc="-160" dirty="0"/>
              <a:t>ti</a:t>
            </a:r>
            <a:r>
              <a:rPr spc="-32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80" dirty="0"/>
              <a:t>e</a:t>
            </a:r>
            <a:r>
              <a:rPr spc="-290" dirty="0"/>
              <a:t>n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505" dirty="0"/>
              <a:t>C</a:t>
            </a:r>
            <a:r>
              <a:rPr spc="290" dirty="0"/>
              <a:t>++</a:t>
            </a:r>
            <a:r>
              <a:rPr spc="-100" dirty="0"/>
              <a:t>1</a:t>
            </a:r>
            <a:r>
              <a:rPr spc="-95" dirty="0"/>
              <a:t>1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236" y="1896564"/>
            <a:ext cx="8872220" cy="274320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925"/>
              </a:spcBef>
            </a:pP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Utilisations</a:t>
            </a:r>
            <a:r>
              <a:rPr sz="28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d’un</a:t>
            </a:r>
            <a:r>
              <a:rPr sz="2800" b="1" spc="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tableau</a:t>
            </a:r>
            <a:r>
              <a:rPr sz="2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de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taille</a:t>
            </a:r>
            <a:r>
              <a:rPr sz="2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fixe</a:t>
            </a:r>
            <a:endParaRPr sz="2800">
              <a:latin typeface="Times New Roman"/>
              <a:cs typeface="Times New Roman"/>
            </a:endParaRPr>
          </a:p>
          <a:p>
            <a:pPr marL="332105" marR="5080" indent="-320040">
              <a:lnSpc>
                <a:spcPct val="100000"/>
              </a:lnSpc>
              <a:spcBef>
                <a:spcPts val="710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400" spc="-35" dirty="0">
                <a:latin typeface="Times New Roman"/>
                <a:cs typeface="Times New Roman"/>
              </a:rPr>
              <a:t>L’accès </a:t>
            </a:r>
            <a:r>
              <a:rPr sz="2400" dirty="0">
                <a:latin typeface="Times New Roman"/>
                <a:cs typeface="Times New Roman"/>
              </a:rPr>
              <a:t>aux </a:t>
            </a:r>
            <a:r>
              <a:rPr sz="2400" spc="-5" dirty="0">
                <a:latin typeface="Times New Roman"/>
                <a:cs typeface="Times New Roman"/>
              </a:rPr>
              <a:t>éléments </a:t>
            </a:r>
            <a:r>
              <a:rPr sz="2400" dirty="0">
                <a:latin typeface="Times New Roman"/>
                <a:cs typeface="Times New Roman"/>
              </a:rPr>
              <a:t>d’un tableau de </a:t>
            </a:r>
            <a:r>
              <a:rPr sz="2400" spc="-5" dirty="0">
                <a:latin typeface="Times New Roman"/>
                <a:cs typeface="Times New Roman"/>
              </a:rPr>
              <a:t>taille fixe </a:t>
            </a:r>
            <a:r>
              <a:rPr sz="2400" dirty="0">
                <a:latin typeface="Times New Roman"/>
                <a:cs typeface="Times New Roman"/>
              </a:rPr>
              <a:t>en </a:t>
            </a:r>
            <a:r>
              <a:rPr sz="2400" spc="-20" dirty="0">
                <a:latin typeface="Times New Roman"/>
                <a:cs typeface="Times New Roman"/>
              </a:rPr>
              <a:t>C++11 </a:t>
            </a:r>
            <a:r>
              <a:rPr sz="2400" dirty="0">
                <a:latin typeface="Times New Roman"/>
                <a:cs typeface="Times New Roman"/>
              </a:rPr>
              <a:t>se </a:t>
            </a:r>
            <a:r>
              <a:rPr sz="2400" spc="-5" dirty="0">
                <a:latin typeface="Times New Roman"/>
                <a:cs typeface="Times New Roman"/>
              </a:rPr>
              <a:t>fait </a:t>
            </a:r>
            <a:r>
              <a:rPr sz="2400" dirty="0">
                <a:latin typeface="Times New Roman"/>
                <a:cs typeface="Times New Roman"/>
              </a:rPr>
              <a:t>de la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façon </a:t>
            </a:r>
            <a:r>
              <a:rPr sz="2400" dirty="0">
                <a:latin typeface="Times New Roman"/>
                <a:cs typeface="Times New Roman"/>
              </a:rPr>
              <a:t>suivante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710"/>
              </a:spcBef>
              <a:buClr>
                <a:srgbClr val="006FC0"/>
              </a:buClr>
              <a:buSzPct val="58333"/>
              <a:buFont typeface="Wingdings"/>
              <a:buChar char=""/>
              <a:tabLst>
                <a:tab pos="332105" algn="l"/>
                <a:tab pos="332740" algn="l"/>
              </a:tabLst>
            </a:pPr>
            <a:r>
              <a:rPr sz="2400" spc="-5" dirty="0">
                <a:latin typeface="Times New Roman"/>
                <a:cs typeface="Times New Roman"/>
              </a:rPr>
              <a:t>directement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6F2FA0"/>
                </a:solidFill>
                <a:latin typeface="Times New Roman"/>
                <a:cs typeface="Times New Roman"/>
              </a:rPr>
              <a:t>tableau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spc="-5" dirty="0">
                <a:latin typeface="Times New Roman"/>
                <a:cs typeface="Times New Roman"/>
              </a:rPr>
              <a:t>i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endParaRPr sz="24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006FC0"/>
              </a:buClr>
              <a:buSzPct val="58333"/>
              <a:buFont typeface="Wingdings"/>
              <a:buChar char=""/>
              <a:tabLst>
                <a:tab pos="332105" algn="l"/>
                <a:tab pos="332740" algn="l"/>
              </a:tabLst>
            </a:pPr>
            <a:r>
              <a:rPr sz="2400" dirty="0">
                <a:latin typeface="Times New Roman"/>
                <a:cs typeface="Times New Roman"/>
              </a:rPr>
              <a:t>par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boucle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for-each</a:t>
            </a:r>
            <a:r>
              <a:rPr sz="2400" b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for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auto</a:t>
            </a:r>
            <a:r>
              <a:rPr sz="24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element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6F2FA0"/>
                </a:solidFill>
                <a:latin typeface="Times New Roman"/>
                <a:cs typeface="Times New Roman"/>
              </a:rPr>
              <a:t>tableau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006FC0"/>
              </a:buClr>
              <a:buSzPct val="58333"/>
              <a:buFont typeface="Wingdings"/>
              <a:buChar char=""/>
              <a:tabLst>
                <a:tab pos="332105" algn="l"/>
                <a:tab pos="332740" algn="l"/>
              </a:tabLst>
            </a:pPr>
            <a:r>
              <a:rPr sz="2400" dirty="0">
                <a:latin typeface="Times New Roman"/>
                <a:cs typeface="Times New Roman"/>
              </a:rPr>
              <a:t>par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boucle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for</a:t>
            </a:r>
            <a:r>
              <a:rPr sz="24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«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classique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»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2832" y="805687"/>
            <a:ext cx="63169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L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140" dirty="0"/>
              <a:t>t</a:t>
            </a:r>
            <a:r>
              <a:rPr spc="-235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475" dirty="0"/>
              <a:t>s</a:t>
            </a:r>
            <a:r>
              <a:rPr spc="-140" dirty="0"/>
              <a:t>t</a:t>
            </a:r>
            <a:r>
              <a:rPr spc="-165" dirty="0"/>
              <a:t>a</a:t>
            </a:r>
            <a:r>
              <a:rPr spc="-160" dirty="0"/>
              <a:t>ti</a:t>
            </a:r>
            <a:r>
              <a:rPr spc="-32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80" dirty="0"/>
              <a:t>e</a:t>
            </a:r>
            <a:r>
              <a:rPr spc="-290" dirty="0"/>
              <a:t>n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505" dirty="0"/>
              <a:t>C</a:t>
            </a:r>
            <a:r>
              <a:rPr spc="290" dirty="0"/>
              <a:t>++</a:t>
            </a:r>
            <a:r>
              <a:rPr spc="-100" dirty="0"/>
              <a:t>1</a:t>
            </a:r>
            <a:r>
              <a:rPr spc="-95" dirty="0"/>
              <a:t>1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236" y="1896564"/>
            <a:ext cx="8267065" cy="401891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925"/>
              </a:spcBef>
            </a:pP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Utilisations</a:t>
            </a:r>
            <a:r>
              <a:rPr sz="28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d’un</a:t>
            </a:r>
            <a:r>
              <a:rPr sz="2800" b="1" spc="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tableau</a:t>
            </a:r>
            <a:r>
              <a:rPr sz="2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de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taille</a:t>
            </a:r>
            <a:r>
              <a:rPr sz="2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fixe</a:t>
            </a:r>
            <a:endParaRPr sz="2800">
              <a:latin typeface="Times New Roman"/>
              <a:cs typeface="Times New Roman"/>
            </a:endParaRPr>
          </a:p>
          <a:p>
            <a:pPr marL="332740" marR="5080" indent="-320040">
              <a:lnSpc>
                <a:spcPct val="100000"/>
              </a:lnSpc>
              <a:spcBef>
                <a:spcPts val="710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400" spc="-5" dirty="0">
                <a:latin typeface="Times New Roman"/>
                <a:cs typeface="Times New Roman"/>
              </a:rPr>
              <a:t>Les </a:t>
            </a:r>
            <a:r>
              <a:rPr sz="2400" dirty="0">
                <a:latin typeface="Times New Roman"/>
                <a:cs typeface="Times New Roman"/>
              </a:rPr>
              <a:t>tableaux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taille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fixe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500"/>
                </a:solidFill>
                <a:latin typeface="Times New Roman"/>
                <a:cs typeface="Times New Roman"/>
              </a:rPr>
              <a:t>array</a:t>
            </a:r>
            <a:r>
              <a:rPr sz="24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aussi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fonction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F0"/>
                </a:solidFill>
                <a:latin typeface="Times New Roman"/>
                <a:cs typeface="Times New Roman"/>
              </a:rPr>
              <a:t>size()</a:t>
            </a:r>
            <a:r>
              <a:rPr sz="2400" spc="-2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qui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renvoie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leur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taille.</a:t>
            </a:r>
            <a:endParaRPr sz="2400">
              <a:latin typeface="Times New Roman"/>
              <a:cs typeface="Times New Roman"/>
            </a:endParaRPr>
          </a:p>
          <a:p>
            <a:pPr marL="332740" marR="376555" indent="-320040">
              <a:lnSpc>
                <a:spcPct val="100000"/>
              </a:lnSpc>
              <a:spcBef>
                <a:spcPts val="710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408305" algn="l"/>
                <a:tab pos="408940" algn="l"/>
              </a:tabLst>
            </a:pPr>
            <a:r>
              <a:rPr dirty="0"/>
              <a:t>	</a:t>
            </a:r>
            <a:r>
              <a:rPr sz="2400" spc="-5" dirty="0">
                <a:latin typeface="Times New Roman"/>
                <a:cs typeface="Times New Roman"/>
              </a:rPr>
              <a:t>Les </a:t>
            </a:r>
            <a:r>
              <a:rPr sz="2400" spc="-10" dirty="0">
                <a:latin typeface="Times New Roman"/>
                <a:cs typeface="Times New Roman"/>
              </a:rPr>
              <a:t>affectations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globales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tableaux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 </a:t>
            </a:r>
            <a:r>
              <a:rPr sz="2400" spc="-5" dirty="0">
                <a:latin typeface="Times New Roman"/>
                <a:cs typeface="Times New Roman"/>
              </a:rPr>
              <a:t>taille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fixe </a:t>
            </a:r>
            <a:r>
              <a:rPr sz="2400" b="1" dirty="0">
                <a:solidFill>
                  <a:srgbClr val="006500"/>
                </a:solidFill>
                <a:latin typeface="Times New Roman"/>
                <a:cs typeface="Times New Roman"/>
              </a:rPr>
              <a:t>array</a:t>
            </a:r>
            <a:r>
              <a:rPr sz="2400" b="1" spc="-15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sont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acceptables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393065" marR="1469390">
              <a:lnSpc>
                <a:spcPct val="124200"/>
              </a:lnSpc>
            </a:pPr>
            <a:r>
              <a:rPr sz="24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array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5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tableau1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10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20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30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40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50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400" b="1" spc="-5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array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5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&gt; </a:t>
            </a:r>
            <a:r>
              <a:rPr sz="2400" dirty="0">
                <a:latin typeface="Times New Roman"/>
                <a:cs typeface="Times New Roman"/>
              </a:rPr>
              <a:t>tableau2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  <a:spcBef>
                <a:spcPts val="705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...</a:t>
            </a:r>
            <a:endParaRPr sz="2400">
              <a:latin typeface="Times New Roman"/>
              <a:cs typeface="Times New Roman"/>
            </a:endParaRPr>
          </a:p>
          <a:p>
            <a:pPr marL="393065">
              <a:lnSpc>
                <a:spcPct val="100000"/>
              </a:lnSpc>
              <a:spcBef>
                <a:spcPts val="700"/>
              </a:spcBef>
            </a:pPr>
            <a:r>
              <a:rPr sz="2400" dirty="0">
                <a:latin typeface="Times New Roman"/>
                <a:cs typeface="Times New Roman"/>
              </a:rPr>
              <a:t>tableau2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tableau1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4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copie</a:t>
            </a:r>
            <a:r>
              <a:rPr sz="24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4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tout</a:t>
            </a:r>
            <a:r>
              <a:rPr sz="24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tableau1</a:t>
            </a:r>
            <a:r>
              <a:rPr sz="24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dans</a:t>
            </a:r>
            <a:r>
              <a:rPr sz="24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4F"/>
                </a:solidFill>
                <a:latin typeface="Times New Roman"/>
                <a:cs typeface="Times New Roman"/>
              </a:rPr>
              <a:t>tableau2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2832" y="805687"/>
            <a:ext cx="63169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L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140" dirty="0"/>
              <a:t>t</a:t>
            </a:r>
            <a:r>
              <a:rPr spc="-235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475" dirty="0"/>
              <a:t>s</a:t>
            </a:r>
            <a:r>
              <a:rPr spc="-140" dirty="0"/>
              <a:t>t</a:t>
            </a:r>
            <a:r>
              <a:rPr spc="-165" dirty="0"/>
              <a:t>a</a:t>
            </a:r>
            <a:r>
              <a:rPr spc="-160" dirty="0"/>
              <a:t>ti</a:t>
            </a:r>
            <a:r>
              <a:rPr spc="-32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80" dirty="0"/>
              <a:t>e</a:t>
            </a:r>
            <a:r>
              <a:rPr spc="-290" dirty="0"/>
              <a:t>n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505" dirty="0"/>
              <a:t>C</a:t>
            </a:r>
            <a:r>
              <a:rPr spc="290" dirty="0"/>
              <a:t>++</a:t>
            </a:r>
            <a:r>
              <a:rPr spc="-100" dirty="0"/>
              <a:t>1</a:t>
            </a:r>
            <a:r>
              <a:rPr spc="-95" dirty="0"/>
              <a:t>1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236" y="1898913"/>
            <a:ext cx="9098280" cy="469709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905"/>
              </a:spcBef>
            </a:pPr>
            <a:r>
              <a:rPr sz="2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Tableaux</a:t>
            </a:r>
            <a:r>
              <a:rPr sz="28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multidimensionnels</a:t>
            </a:r>
            <a:endParaRPr sz="28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720"/>
              </a:spcBef>
              <a:buClr>
                <a:srgbClr val="006FC0"/>
              </a:buClr>
              <a:buSzPct val="60000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500" spc="-5" dirty="0">
                <a:latin typeface="Times New Roman"/>
                <a:cs typeface="Times New Roman"/>
              </a:rPr>
              <a:t>On peut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déclarer</a:t>
            </a:r>
            <a:r>
              <a:rPr sz="2500" spc="6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des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tableaux</a:t>
            </a:r>
            <a:r>
              <a:rPr sz="2500" spc="3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de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taille</a:t>
            </a:r>
            <a:r>
              <a:rPr sz="2500" spc="3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fixe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multidimentionnels.</a:t>
            </a:r>
            <a:endParaRPr sz="2500">
              <a:latin typeface="Times New Roman"/>
              <a:cs typeface="Times New Roman"/>
            </a:endParaRPr>
          </a:p>
          <a:p>
            <a:pPr marL="329565">
              <a:lnSpc>
                <a:spcPct val="100000"/>
              </a:lnSpc>
              <a:spcBef>
                <a:spcPts val="695"/>
              </a:spcBef>
            </a:pPr>
            <a:r>
              <a:rPr sz="25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Exemples:</a:t>
            </a:r>
            <a:endParaRPr sz="2500">
              <a:latin typeface="Times New Roman"/>
              <a:cs typeface="Times New Roman"/>
            </a:endParaRPr>
          </a:p>
          <a:p>
            <a:pPr marL="329565">
              <a:lnSpc>
                <a:spcPct val="100000"/>
              </a:lnSpc>
              <a:spcBef>
                <a:spcPts val="700"/>
              </a:spcBef>
            </a:pPr>
            <a:r>
              <a:rPr sz="25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array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5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array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5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500" spc="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FF32CC"/>
                </a:solidFill>
                <a:latin typeface="Times New Roman"/>
                <a:cs typeface="Times New Roman"/>
              </a:rPr>
              <a:t>4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&gt;,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FF32CC"/>
                </a:solidFill>
                <a:latin typeface="Times New Roman"/>
                <a:cs typeface="Times New Roman"/>
              </a:rPr>
              <a:t>4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6F2FA0"/>
                </a:solidFill>
                <a:latin typeface="Times New Roman"/>
                <a:cs typeface="Times New Roman"/>
              </a:rPr>
              <a:t>matrice</a:t>
            </a:r>
            <a:r>
              <a:rPr sz="2500" spc="-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500">
              <a:latin typeface="Times New Roman"/>
              <a:cs typeface="Times New Roman"/>
            </a:endParaRPr>
          </a:p>
          <a:p>
            <a:pPr marL="329565">
              <a:lnSpc>
                <a:spcPct val="100000"/>
              </a:lnSpc>
              <a:spcBef>
                <a:spcPts val="705"/>
              </a:spcBef>
            </a:pPr>
            <a:r>
              <a:rPr sz="25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array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5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array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5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500" spc="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32CC"/>
                </a:solidFill>
                <a:latin typeface="Times New Roman"/>
                <a:cs typeface="Times New Roman"/>
              </a:rPr>
              <a:t>N</a:t>
            </a:r>
            <a:r>
              <a:rPr sz="2500" spc="-10" dirty="0">
                <a:solidFill>
                  <a:srgbClr val="FF0000"/>
                </a:solidFill>
                <a:latin typeface="Times New Roman"/>
                <a:cs typeface="Times New Roman"/>
              </a:rPr>
              <a:t>&gt;, </a:t>
            </a:r>
            <a:r>
              <a:rPr sz="2500" spc="-5" dirty="0">
                <a:solidFill>
                  <a:srgbClr val="FF32CC"/>
                </a:solidFill>
                <a:latin typeface="Times New Roman"/>
                <a:cs typeface="Times New Roman"/>
              </a:rPr>
              <a:t>M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25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6F2FA0"/>
                </a:solidFill>
                <a:latin typeface="Times New Roman"/>
                <a:cs typeface="Times New Roman"/>
              </a:rPr>
              <a:t>statistiques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500">
              <a:latin typeface="Times New Roman"/>
              <a:cs typeface="Times New Roman"/>
            </a:endParaRPr>
          </a:p>
          <a:p>
            <a:pPr marL="329565">
              <a:lnSpc>
                <a:spcPct val="100000"/>
              </a:lnSpc>
              <a:spcBef>
                <a:spcPts val="695"/>
              </a:spcBef>
            </a:pPr>
            <a:r>
              <a:rPr sz="25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array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5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array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5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array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5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500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FF32CC"/>
                </a:solidFill>
                <a:latin typeface="Times New Roman"/>
                <a:cs typeface="Times New Roman"/>
              </a:rPr>
              <a:t>4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&gt;,</a:t>
            </a:r>
            <a:r>
              <a:rPr sz="25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FF32CC"/>
                </a:solidFill>
                <a:latin typeface="Times New Roman"/>
                <a:cs typeface="Times New Roman"/>
              </a:rPr>
              <a:t>2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&gt;,</a:t>
            </a:r>
            <a:r>
              <a:rPr sz="25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FF32CC"/>
                </a:solidFill>
                <a:latin typeface="Times New Roman"/>
                <a:cs typeface="Times New Roman"/>
              </a:rPr>
              <a:t>3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6F2FA0"/>
                </a:solidFill>
                <a:latin typeface="Times New Roman"/>
                <a:cs typeface="Times New Roman"/>
              </a:rPr>
              <a:t>tenseur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500">
              <a:latin typeface="Times New Roman"/>
              <a:cs typeface="Times New Roman"/>
            </a:endParaRPr>
          </a:p>
          <a:p>
            <a:pPr marL="329565">
              <a:lnSpc>
                <a:spcPct val="100000"/>
              </a:lnSpc>
              <a:spcBef>
                <a:spcPts val="700"/>
              </a:spcBef>
            </a:pPr>
            <a:r>
              <a:rPr sz="2500" spc="-5" dirty="0">
                <a:latin typeface="Times New Roman"/>
                <a:cs typeface="Times New Roman"/>
              </a:rPr>
              <a:t>matrice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500" spc="-5" dirty="0">
                <a:solidFill>
                  <a:srgbClr val="FF32CC"/>
                </a:solidFill>
                <a:latin typeface="Times New Roman"/>
                <a:cs typeface="Times New Roman"/>
              </a:rPr>
              <a:t>1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][</a:t>
            </a:r>
            <a:r>
              <a:rPr sz="2500" spc="-5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sz="25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= </a:t>
            </a:r>
            <a:r>
              <a:rPr sz="2500" spc="-5" dirty="0">
                <a:solidFill>
                  <a:srgbClr val="FF32CC"/>
                </a:solidFill>
                <a:latin typeface="Times New Roman"/>
                <a:cs typeface="Times New Roman"/>
              </a:rPr>
              <a:t>20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500">
              <a:latin typeface="Times New Roman"/>
              <a:cs typeface="Times New Roman"/>
            </a:endParaRPr>
          </a:p>
          <a:p>
            <a:pPr marL="332105" marR="5080" lvl="1" indent="-228600">
              <a:lnSpc>
                <a:spcPct val="100000"/>
              </a:lnSpc>
              <a:spcBef>
                <a:spcPts val="705"/>
              </a:spcBef>
              <a:buClr>
                <a:srgbClr val="006FC0"/>
              </a:buClr>
              <a:buSzPct val="60000"/>
              <a:buFont typeface="Wingdings"/>
              <a:buChar char=""/>
              <a:tabLst>
                <a:tab pos="411480" algn="l"/>
                <a:tab pos="412115" algn="l"/>
              </a:tabLst>
            </a:pPr>
            <a:r>
              <a:rPr dirty="0"/>
              <a:t>	</a:t>
            </a:r>
            <a:r>
              <a:rPr sz="2500" spc="-5" dirty="0">
                <a:solidFill>
                  <a:srgbClr val="6F2FA0"/>
                </a:solidFill>
                <a:latin typeface="Times New Roman"/>
                <a:cs typeface="Times New Roman"/>
              </a:rPr>
              <a:t>statistiques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500" spc="-5" dirty="0">
                <a:solidFill>
                  <a:srgbClr val="FF32CC"/>
                </a:solidFill>
                <a:latin typeface="Times New Roman"/>
                <a:cs typeface="Times New Roman"/>
              </a:rPr>
              <a:t>i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sz="2500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est</a:t>
            </a:r>
            <a:r>
              <a:rPr sz="2500" spc="3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un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« </a:t>
            </a:r>
            <a:r>
              <a:rPr sz="25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array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5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500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32CC"/>
                </a:solidFill>
                <a:latin typeface="Times New Roman"/>
                <a:cs typeface="Times New Roman"/>
              </a:rPr>
              <a:t>N</a:t>
            </a:r>
            <a:r>
              <a:rPr sz="2500" spc="-10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25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»,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c’est-à-dire</a:t>
            </a:r>
            <a:r>
              <a:rPr sz="2500" spc="5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un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tableau</a:t>
            </a:r>
            <a:r>
              <a:rPr sz="2500" spc="4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de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FF32CC"/>
                </a:solidFill>
                <a:latin typeface="Times New Roman"/>
                <a:cs typeface="Times New Roman"/>
              </a:rPr>
              <a:t>N </a:t>
            </a:r>
            <a:r>
              <a:rPr sz="2500" spc="-610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entiers.</a:t>
            </a:r>
            <a:endParaRPr sz="2500">
              <a:latin typeface="Times New Roman"/>
              <a:cs typeface="Times New Roman"/>
            </a:endParaRPr>
          </a:p>
          <a:p>
            <a:pPr marL="411480" lvl="1" indent="-308610">
              <a:lnSpc>
                <a:spcPct val="100000"/>
              </a:lnSpc>
              <a:spcBef>
                <a:spcPts val="695"/>
              </a:spcBef>
              <a:buClr>
                <a:srgbClr val="006FC0"/>
              </a:buClr>
              <a:buSzPct val="60000"/>
              <a:buFont typeface="Wingdings"/>
              <a:buChar char=""/>
              <a:tabLst>
                <a:tab pos="411480" algn="l"/>
                <a:tab pos="412115" algn="l"/>
              </a:tabLst>
            </a:pPr>
            <a:r>
              <a:rPr sz="2500" spc="-5" dirty="0">
                <a:solidFill>
                  <a:srgbClr val="6F2FA0"/>
                </a:solidFill>
                <a:latin typeface="Times New Roman"/>
                <a:cs typeface="Times New Roman"/>
              </a:rPr>
              <a:t>statistiques</a:t>
            </a:r>
            <a:r>
              <a:rPr sz="2500" spc="40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est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bien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un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tableau</a:t>
            </a:r>
            <a:r>
              <a:rPr sz="2500" spc="3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de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tableaux.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2832" y="805687"/>
            <a:ext cx="63169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L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140" dirty="0"/>
              <a:t>t</a:t>
            </a:r>
            <a:r>
              <a:rPr spc="-235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475" dirty="0"/>
              <a:t>s</a:t>
            </a:r>
            <a:r>
              <a:rPr spc="-140" dirty="0"/>
              <a:t>t</a:t>
            </a:r>
            <a:r>
              <a:rPr spc="-165" dirty="0"/>
              <a:t>a</a:t>
            </a:r>
            <a:r>
              <a:rPr spc="-160" dirty="0"/>
              <a:t>ti</a:t>
            </a:r>
            <a:r>
              <a:rPr spc="-32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80" dirty="0"/>
              <a:t>e</a:t>
            </a:r>
            <a:r>
              <a:rPr spc="-290" dirty="0"/>
              <a:t>n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505" dirty="0"/>
              <a:t>C</a:t>
            </a:r>
            <a:r>
              <a:rPr spc="290" dirty="0"/>
              <a:t>++</a:t>
            </a:r>
            <a:r>
              <a:rPr spc="-100" dirty="0"/>
              <a:t>1</a:t>
            </a:r>
            <a:r>
              <a:rPr spc="-95" dirty="0"/>
              <a:t>1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236" y="1898913"/>
            <a:ext cx="8416925" cy="469709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905"/>
              </a:spcBef>
            </a:pPr>
            <a:r>
              <a:rPr sz="2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Tableaux</a:t>
            </a:r>
            <a:r>
              <a:rPr sz="28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multidimensionnels</a:t>
            </a:r>
            <a:endParaRPr sz="2800">
              <a:latin typeface="Times New Roman"/>
              <a:cs typeface="Times New Roman"/>
            </a:endParaRPr>
          </a:p>
          <a:p>
            <a:pPr marL="332740" marR="5080" indent="-320040">
              <a:lnSpc>
                <a:spcPct val="100000"/>
              </a:lnSpc>
              <a:spcBef>
                <a:spcPts val="720"/>
              </a:spcBef>
              <a:buClr>
                <a:srgbClr val="006FC0"/>
              </a:buClr>
              <a:buSzPct val="60000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500" spc="-10" dirty="0">
                <a:latin typeface="Times New Roman"/>
                <a:cs typeface="Times New Roman"/>
              </a:rPr>
              <a:t>Les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tableaux</a:t>
            </a:r>
            <a:r>
              <a:rPr sz="2500" spc="5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multidimensionnels</a:t>
            </a:r>
            <a:r>
              <a:rPr sz="2500" spc="80" dirty="0">
                <a:latin typeface="Times New Roman"/>
                <a:cs typeface="Times New Roman"/>
              </a:rPr>
              <a:t> </a:t>
            </a:r>
            <a:r>
              <a:rPr sz="25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array</a:t>
            </a:r>
            <a:r>
              <a:rPr sz="2500" b="1" spc="25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peuvent</a:t>
            </a:r>
            <a:r>
              <a:rPr sz="2500" spc="3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également</a:t>
            </a:r>
            <a:r>
              <a:rPr sz="2500" spc="6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être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initialisés</a:t>
            </a:r>
            <a:r>
              <a:rPr sz="2500" spc="4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lors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de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leur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déclaration.</a:t>
            </a:r>
            <a:endParaRPr sz="2500">
              <a:latin typeface="Times New Roman"/>
              <a:cs typeface="Times New Roman"/>
            </a:endParaRPr>
          </a:p>
          <a:p>
            <a:pPr marL="329565" marR="4836795">
              <a:lnSpc>
                <a:spcPct val="123200"/>
              </a:lnSpc>
            </a:pPr>
            <a:r>
              <a:rPr sz="25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array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5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array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5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5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FF32CC"/>
                </a:solidFill>
                <a:latin typeface="Times New Roman"/>
                <a:cs typeface="Times New Roman"/>
              </a:rPr>
              <a:t>3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&gt;,</a:t>
            </a:r>
            <a:r>
              <a:rPr sz="25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FF32CC"/>
                </a:solidFill>
                <a:latin typeface="Times New Roman"/>
                <a:cs typeface="Times New Roman"/>
              </a:rPr>
              <a:t>4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&gt; </a:t>
            </a:r>
            <a:r>
              <a:rPr sz="2500" spc="-6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matrice</a:t>
            </a:r>
            <a:r>
              <a:rPr sz="2500" spc="50" dirty="0"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500">
              <a:latin typeface="Times New Roman"/>
              <a:cs typeface="Times New Roman"/>
            </a:endParaRPr>
          </a:p>
          <a:p>
            <a:pPr marL="1758950">
              <a:lnSpc>
                <a:spcPct val="100000"/>
              </a:lnSpc>
              <a:spcBef>
                <a:spcPts val="710"/>
              </a:spcBef>
            </a:pPr>
            <a:r>
              <a:rPr sz="2500" spc="-5" dirty="0">
                <a:latin typeface="Times New Roman"/>
                <a:cs typeface="Times New Roman"/>
              </a:rPr>
              <a:t>1,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2,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3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,</a:t>
            </a:r>
            <a:endParaRPr sz="2500">
              <a:latin typeface="Times New Roman"/>
              <a:cs typeface="Times New Roman"/>
            </a:endParaRPr>
          </a:p>
          <a:p>
            <a:pPr marL="1758950">
              <a:lnSpc>
                <a:spcPct val="100000"/>
              </a:lnSpc>
              <a:spcBef>
                <a:spcPts val="695"/>
              </a:spcBef>
            </a:pPr>
            <a:r>
              <a:rPr sz="2500" spc="-5" dirty="0">
                <a:latin typeface="Times New Roman"/>
                <a:cs typeface="Times New Roman"/>
              </a:rPr>
              <a:t>4,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5,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6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,</a:t>
            </a:r>
            <a:endParaRPr sz="2500">
              <a:latin typeface="Times New Roman"/>
              <a:cs typeface="Times New Roman"/>
            </a:endParaRPr>
          </a:p>
          <a:p>
            <a:pPr marL="1758950">
              <a:lnSpc>
                <a:spcPct val="100000"/>
              </a:lnSpc>
              <a:spcBef>
                <a:spcPts val="695"/>
              </a:spcBef>
            </a:pPr>
            <a:r>
              <a:rPr sz="2500" spc="-5" dirty="0">
                <a:latin typeface="Times New Roman"/>
                <a:cs typeface="Times New Roman"/>
              </a:rPr>
              <a:t>7,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8,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9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,</a:t>
            </a:r>
            <a:endParaRPr sz="2500">
              <a:latin typeface="Times New Roman"/>
              <a:cs typeface="Times New Roman"/>
            </a:endParaRPr>
          </a:p>
          <a:p>
            <a:pPr marL="1758950">
              <a:lnSpc>
                <a:spcPct val="100000"/>
              </a:lnSpc>
              <a:spcBef>
                <a:spcPts val="710"/>
              </a:spcBef>
            </a:pPr>
            <a:r>
              <a:rPr sz="2500" spc="-5" dirty="0">
                <a:latin typeface="Times New Roman"/>
                <a:cs typeface="Times New Roman"/>
              </a:rPr>
              <a:t>10,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-35" dirty="0">
                <a:latin typeface="Times New Roman"/>
                <a:cs typeface="Times New Roman"/>
              </a:rPr>
              <a:t>11,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12</a:t>
            </a:r>
            <a:endParaRPr sz="2500">
              <a:latin typeface="Times New Roman"/>
              <a:cs typeface="Times New Roman"/>
            </a:endParaRPr>
          </a:p>
          <a:p>
            <a:pPr marL="408305">
              <a:lnSpc>
                <a:spcPct val="100000"/>
              </a:lnSpc>
              <a:spcBef>
                <a:spcPts val="695"/>
              </a:spcBef>
            </a:pP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2832" y="805687"/>
            <a:ext cx="63169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L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140" dirty="0"/>
              <a:t>t</a:t>
            </a:r>
            <a:r>
              <a:rPr spc="-235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475" dirty="0"/>
              <a:t>s</a:t>
            </a:r>
            <a:r>
              <a:rPr spc="-140" dirty="0"/>
              <a:t>t</a:t>
            </a:r>
            <a:r>
              <a:rPr spc="-165" dirty="0"/>
              <a:t>a</a:t>
            </a:r>
            <a:r>
              <a:rPr spc="-160" dirty="0"/>
              <a:t>ti</a:t>
            </a:r>
            <a:r>
              <a:rPr spc="-32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80" dirty="0"/>
              <a:t>e</a:t>
            </a:r>
            <a:r>
              <a:rPr spc="-290" dirty="0"/>
              <a:t>n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505" dirty="0"/>
              <a:t>C</a:t>
            </a:r>
            <a:r>
              <a:rPr spc="290" dirty="0"/>
              <a:t>++</a:t>
            </a:r>
            <a:r>
              <a:rPr spc="-100" dirty="0"/>
              <a:t>1</a:t>
            </a:r>
            <a:r>
              <a:rPr spc="-95" dirty="0"/>
              <a:t>1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67316" y="4059426"/>
            <a:ext cx="51962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710" dirty="0"/>
              <a:t>T</a:t>
            </a:r>
            <a:r>
              <a:rPr sz="4400" spc="-125" dirty="0"/>
              <a:t>a</a:t>
            </a:r>
            <a:r>
              <a:rPr sz="4400" spc="-355" dirty="0"/>
              <a:t>b</a:t>
            </a:r>
            <a:r>
              <a:rPr sz="4400" spc="-85" dirty="0"/>
              <a:t>l</a:t>
            </a:r>
            <a:r>
              <a:rPr sz="4400" spc="-340" dirty="0"/>
              <a:t>e</a:t>
            </a:r>
            <a:r>
              <a:rPr sz="4400" spc="-125" dirty="0"/>
              <a:t>a</a:t>
            </a:r>
            <a:r>
              <a:rPr sz="4400" spc="-355" dirty="0"/>
              <a:t>u</a:t>
            </a:r>
            <a:r>
              <a:rPr sz="4400" spc="-110" dirty="0"/>
              <a:t>x</a:t>
            </a:r>
            <a:r>
              <a:rPr sz="4400" b="0" spc="65" dirty="0">
                <a:latin typeface="Times New Roman"/>
                <a:cs typeface="Times New Roman"/>
              </a:rPr>
              <a:t> </a:t>
            </a:r>
            <a:r>
              <a:rPr sz="4400" spc="-355" dirty="0"/>
              <a:t>d</a:t>
            </a:r>
            <a:r>
              <a:rPr sz="4400" spc="-110" dirty="0"/>
              <a:t>y</a:t>
            </a:r>
            <a:r>
              <a:rPr sz="4400" spc="-355" dirty="0"/>
              <a:t>n</a:t>
            </a:r>
            <a:r>
              <a:rPr sz="4400" spc="-125" dirty="0"/>
              <a:t>a</a:t>
            </a:r>
            <a:r>
              <a:rPr sz="4400" spc="-425" dirty="0"/>
              <a:t>m</a:t>
            </a:r>
            <a:r>
              <a:rPr sz="4400" spc="-85" dirty="0"/>
              <a:t>i</a:t>
            </a:r>
            <a:r>
              <a:rPr sz="4400" spc="-365" dirty="0"/>
              <a:t>q</a:t>
            </a:r>
            <a:r>
              <a:rPr sz="4400" spc="-355" dirty="0"/>
              <a:t>u</a:t>
            </a:r>
            <a:r>
              <a:rPr sz="4400" spc="-340" dirty="0"/>
              <a:t>e</a:t>
            </a:r>
            <a:r>
              <a:rPr sz="4400" spc="-570" dirty="0"/>
              <a:t>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864" y="1813232"/>
            <a:ext cx="8672830" cy="388048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Déclaration</a:t>
            </a:r>
            <a:r>
              <a:rPr sz="28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d’un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tableau</a:t>
            </a:r>
            <a:r>
              <a:rPr sz="2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dynamique</a:t>
            </a:r>
            <a:endParaRPr sz="2800">
              <a:latin typeface="Times New Roman"/>
              <a:cs typeface="Times New Roman"/>
            </a:endParaRPr>
          </a:p>
          <a:p>
            <a:pPr marL="332740" marR="142240" indent="-320040">
              <a:lnSpc>
                <a:spcPct val="80000"/>
              </a:lnSpc>
              <a:spcBef>
                <a:spcPts val="720"/>
              </a:spcBef>
              <a:buClr>
                <a:srgbClr val="006FC0"/>
              </a:buClr>
              <a:buSzPct val="5909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200" spc="-5" dirty="0">
                <a:latin typeface="Times New Roman"/>
                <a:cs typeface="Times New Roman"/>
              </a:rPr>
              <a:t>Un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F0"/>
                </a:solidFill>
                <a:latin typeface="Times New Roman"/>
                <a:cs typeface="Times New Roman"/>
              </a:rPr>
              <a:t>tableau</a:t>
            </a:r>
            <a:r>
              <a:rPr sz="2200" spc="1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F0"/>
                </a:solidFill>
                <a:latin typeface="Times New Roman"/>
                <a:cs typeface="Times New Roman"/>
              </a:rPr>
              <a:t>dynamique</a:t>
            </a:r>
            <a:r>
              <a:rPr sz="2200" spc="-5" dirty="0">
                <a:latin typeface="Times New Roman"/>
                <a:cs typeface="Times New Roman"/>
              </a:rPr>
              <a:t>, est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collection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 </a:t>
            </a:r>
            <a:r>
              <a:rPr sz="2200" spc="-5" dirty="0">
                <a:latin typeface="Times New Roman"/>
                <a:cs typeface="Times New Roman"/>
              </a:rPr>
              <a:t>données homogènes,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dont</a:t>
            </a:r>
            <a:r>
              <a:rPr sz="2200" spc="-5" dirty="0">
                <a:latin typeface="Times New Roman"/>
                <a:cs typeface="Times New Roman"/>
              </a:rPr>
              <a:t> la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taille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peut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varier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au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cours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du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déroulement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du</a:t>
            </a:r>
            <a:r>
              <a:rPr sz="2200" spc="-5" dirty="0">
                <a:latin typeface="Times New Roman"/>
                <a:cs typeface="Times New Roman"/>
              </a:rPr>
              <a:t> programme.</a:t>
            </a:r>
            <a:endParaRPr sz="2200">
              <a:latin typeface="Times New Roman"/>
              <a:cs typeface="Times New Roman"/>
            </a:endParaRPr>
          </a:p>
          <a:p>
            <a:pPr marL="332740" marR="5080" indent="-320040">
              <a:lnSpc>
                <a:spcPct val="80000"/>
              </a:lnSpc>
              <a:spcBef>
                <a:spcPts val="710"/>
              </a:spcBef>
              <a:buClr>
                <a:srgbClr val="006FC0"/>
              </a:buClr>
              <a:buSzPct val="59090"/>
              <a:buFont typeface="Wingdings"/>
              <a:buChar char=""/>
              <a:tabLst>
                <a:tab pos="332105" algn="l"/>
                <a:tab pos="332740" algn="l"/>
                <a:tab pos="7301865" algn="l"/>
              </a:tabLst>
            </a:pPr>
            <a:r>
              <a:rPr sz="2200" spc="-5" dirty="0">
                <a:latin typeface="Times New Roman"/>
                <a:cs typeface="Times New Roman"/>
              </a:rPr>
              <a:t>La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première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à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faire,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il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faut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ajouter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la</a:t>
            </a:r>
            <a:r>
              <a:rPr sz="2200" dirty="0">
                <a:latin typeface="Times New Roman"/>
                <a:cs typeface="Times New Roman"/>
              </a:rPr>
              <a:t> ligne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b="1" i="1" spc="-5" dirty="0">
                <a:solidFill>
                  <a:srgbClr val="006500"/>
                </a:solidFill>
                <a:latin typeface="Times New Roman"/>
                <a:cs typeface="Times New Roman"/>
              </a:rPr>
              <a:t>#include</a:t>
            </a:r>
            <a:r>
              <a:rPr sz="2200" b="1" i="1" spc="5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200" b="1" i="1" spc="-5" dirty="0">
                <a:solidFill>
                  <a:srgbClr val="006500"/>
                </a:solidFill>
                <a:latin typeface="Times New Roman"/>
                <a:cs typeface="Times New Roman"/>
              </a:rPr>
              <a:t>&lt;vector&gt;	</a:t>
            </a:r>
            <a:r>
              <a:rPr sz="2200" dirty="0">
                <a:latin typeface="Times New Roman"/>
                <a:cs typeface="Times New Roman"/>
              </a:rPr>
              <a:t>pour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utiliser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les </a:t>
            </a:r>
            <a:r>
              <a:rPr sz="2200" spc="-5" dirty="0">
                <a:solidFill>
                  <a:srgbClr val="00B0F0"/>
                </a:solidFill>
                <a:latin typeface="Times New Roman"/>
                <a:cs typeface="Times New Roman"/>
              </a:rPr>
              <a:t>tableaux</a:t>
            </a:r>
            <a:r>
              <a:rPr sz="2200" spc="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F0"/>
                </a:solidFill>
                <a:latin typeface="Times New Roman"/>
                <a:cs typeface="Times New Roman"/>
              </a:rPr>
              <a:t>dynamiques.</a:t>
            </a:r>
            <a:endParaRPr sz="22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165"/>
              </a:spcBef>
              <a:buClr>
                <a:srgbClr val="006FC0"/>
              </a:buClr>
              <a:buSzPct val="59090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200" spc="-5" dirty="0">
                <a:latin typeface="Times New Roman"/>
                <a:cs typeface="Times New Roman"/>
              </a:rPr>
              <a:t>La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syntaxe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pour</a:t>
            </a:r>
            <a:r>
              <a:rPr sz="2200" spc="-5" dirty="0">
                <a:latin typeface="Times New Roman"/>
                <a:cs typeface="Times New Roman"/>
              </a:rPr>
              <a:t> déclarer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 </a:t>
            </a:r>
            <a:r>
              <a:rPr sz="2200" spc="-5" dirty="0">
                <a:latin typeface="Times New Roman"/>
                <a:cs typeface="Times New Roman"/>
              </a:rPr>
              <a:t>tableau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dynamique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est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suivante:</a:t>
            </a:r>
            <a:endParaRPr sz="2200">
              <a:latin typeface="Times New Roman"/>
              <a:cs typeface="Times New Roman"/>
            </a:endParaRPr>
          </a:p>
          <a:p>
            <a:pPr marL="291465">
              <a:lnSpc>
                <a:spcPct val="100000"/>
              </a:lnSpc>
              <a:spcBef>
                <a:spcPts val="170"/>
              </a:spcBef>
              <a:tabLst>
                <a:tab pos="3435350" algn="l"/>
              </a:tabLst>
            </a:pPr>
            <a:r>
              <a:rPr sz="2200" b="1" i="1" spc="-5" dirty="0">
                <a:solidFill>
                  <a:srgbClr val="006500"/>
                </a:solidFill>
                <a:latin typeface="Times New Roman"/>
                <a:cs typeface="Times New Roman"/>
              </a:rPr>
              <a:t>vector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type_du_tableau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&gt;	</a:t>
            </a:r>
            <a:r>
              <a:rPr sz="2200" spc="-5" dirty="0">
                <a:latin typeface="Times New Roman"/>
                <a:cs typeface="Times New Roman"/>
              </a:rPr>
              <a:t>nom_du_tableau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5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ou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spécifiant la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taille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du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tableau: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5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  <a:tabLst>
                <a:tab pos="3505200" algn="l"/>
              </a:tabLst>
            </a:pPr>
            <a:r>
              <a:rPr sz="2200" b="1" i="1" spc="-5" dirty="0">
                <a:solidFill>
                  <a:srgbClr val="006500"/>
                </a:solidFill>
                <a:latin typeface="Times New Roman"/>
                <a:cs typeface="Times New Roman"/>
              </a:rPr>
              <a:t>vector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type_du_tableau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&gt;	</a:t>
            </a:r>
            <a:r>
              <a:rPr sz="2200" spc="-5" dirty="0">
                <a:latin typeface="Times New Roman"/>
                <a:cs typeface="Times New Roman"/>
              </a:rPr>
              <a:t>nom_du_tableau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spc="-5" dirty="0">
                <a:solidFill>
                  <a:srgbClr val="FF32CC"/>
                </a:solidFill>
                <a:latin typeface="Times New Roman"/>
                <a:cs typeface="Times New Roman"/>
              </a:rPr>
              <a:t>taille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38112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80" dirty="0"/>
              <a:t>T</a:t>
            </a:r>
            <a:r>
              <a:rPr spc="-110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0" dirty="0"/>
              <a:t>u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00" dirty="0"/>
              <a:t>y</a:t>
            </a:r>
            <a:r>
              <a:rPr spc="-295" dirty="0"/>
              <a:t>n</a:t>
            </a:r>
            <a:r>
              <a:rPr spc="-110" dirty="0"/>
              <a:t>a</a:t>
            </a:r>
            <a:r>
              <a:rPr spc="-350" dirty="0"/>
              <a:t>m</a:t>
            </a:r>
            <a:r>
              <a:rPr spc="-114" dirty="0"/>
              <a:t>i</a:t>
            </a:r>
            <a:r>
              <a:rPr spc="-26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5336" y="1888655"/>
            <a:ext cx="3114040" cy="3033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75945" indent="86360">
              <a:lnSpc>
                <a:spcPct val="117500"/>
              </a:lnSpc>
              <a:spcBef>
                <a:spcPts val="135"/>
              </a:spcBef>
            </a:pP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Exemple: </a:t>
            </a:r>
            <a:r>
              <a:rPr sz="26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500"/>
                </a:solidFill>
                <a:latin typeface="Times New Roman"/>
                <a:cs typeface="Times New Roman"/>
              </a:rPr>
              <a:t>#include</a:t>
            </a:r>
            <a:r>
              <a:rPr sz="2400" spc="-100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6500"/>
                </a:solidFill>
                <a:latin typeface="Times New Roman"/>
                <a:cs typeface="Times New Roman"/>
              </a:rPr>
              <a:t>&lt;iostream&gt; </a:t>
            </a:r>
            <a:r>
              <a:rPr sz="2400" spc="-585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500"/>
                </a:solidFill>
                <a:latin typeface="Times New Roman"/>
                <a:cs typeface="Times New Roman"/>
              </a:rPr>
              <a:t>#include</a:t>
            </a:r>
            <a:r>
              <a:rPr sz="2400" spc="-50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500"/>
                </a:solidFill>
                <a:latin typeface="Times New Roman"/>
                <a:cs typeface="Times New Roman"/>
              </a:rPr>
              <a:t>&lt;vector&gt;</a:t>
            </a:r>
            <a:endParaRPr sz="2400">
              <a:latin typeface="Times New Roman"/>
              <a:cs typeface="Times New Roman"/>
            </a:endParaRPr>
          </a:p>
          <a:p>
            <a:pPr marL="99060">
              <a:lnSpc>
                <a:spcPct val="100000"/>
              </a:lnSpc>
              <a:spcBef>
                <a:spcPts val="409"/>
              </a:spcBef>
            </a:pPr>
            <a:r>
              <a:rPr sz="2400" dirty="0">
                <a:solidFill>
                  <a:srgbClr val="0079D6"/>
                </a:solidFill>
                <a:latin typeface="Times New Roman"/>
                <a:cs typeface="Times New Roman"/>
              </a:rPr>
              <a:t>using</a:t>
            </a:r>
            <a:r>
              <a:rPr sz="2400" spc="-40" dirty="0">
                <a:solidFill>
                  <a:srgbClr val="0079D6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79D6"/>
                </a:solidFill>
                <a:latin typeface="Times New Roman"/>
                <a:cs typeface="Times New Roman"/>
              </a:rPr>
              <a:t>namespace</a:t>
            </a:r>
            <a:r>
              <a:rPr sz="2400" spc="-30" dirty="0">
                <a:solidFill>
                  <a:srgbClr val="0079D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500"/>
                </a:solidFill>
                <a:latin typeface="Times New Roman"/>
                <a:cs typeface="Times New Roman"/>
              </a:rPr>
              <a:t>std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22860">
              <a:lnSpc>
                <a:spcPct val="100000"/>
              </a:lnSpc>
              <a:spcBef>
                <a:spcPts val="409"/>
              </a:spcBef>
            </a:pP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main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endParaRPr sz="2400">
              <a:latin typeface="Times New Roman"/>
              <a:cs typeface="Times New Roman"/>
            </a:endParaRPr>
          </a:p>
          <a:p>
            <a:pPr marL="22860">
              <a:lnSpc>
                <a:spcPct val="100000"/>
              </a:lnSpc>
              <a:spcBef>
                <a:spcPts val="420"/>
              </a:spcBef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22860">
              <a:lnSpc>
                <a:spcPct val="100000"/>
              </a:lnSpc>
              <a:spcBef>
                <a:spcPts val="405"/>
              </a:spcBef>
            </a:pPr>
            <a:r>
              <a:rPr sz="24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vector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24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10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20371" y="2908806"/>
            <a:ext cx="17945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//Ne</a:t>
            </a:r>
            <a:r>
              <a:rPr sz="20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pas</a:t>
            </a:r>
            <a:r>
              <a:rPr sz="20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oublier</a:t>
            </a:r>
            <a:r>
              <a:rPr sz="2000" spc="-5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!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26239" y="4580634"/>
            <a:ext cx="31438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//std::</a:t>
            </a:r>
            <a:r>
              <a:rPr sz="2000" spc="-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vector&lt;double&gt;</a:t>
            </a:r>
            <a:r>
              <a:rPr sz="2000" spc="-6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tab(10);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9809" y="4894577"/>
            <a:ext cx="8607425" cy="128143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520"/>
              </a:spcBef>
            </a:pPr>
            <a:r>
              <a:rPr sz="24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vector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myVector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000" spc="-20" dirty="0">
                <a:solidFill>
                  <a:srgbClr val="00B04F"/>
                </a:solidFill>
                <a:latin typeface="Times New Roman"/>
                <a:cs typeface="Times New Roman"/>
              </a:rPr>
              <a:t>//Déclaration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d'un</a:t>
            </a:r>
            <a:r>
              <a:rPr sz="2000" spc="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vecteur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d'entiers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 de</a:t>
            </a:r>
            <a:r>
              <a:rPr sz="2000" spc="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taille</a:t>
            </a:r>
            <a:r>
              <a:rPr sz="2000" spc="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00B04F"/>
                </a:solidFill>
                <a:latin typeface="Times New Roman"/>
                <a:cs typeface="Times New Roman"/>
              </a:rPr>
              <a:t>non</a:t>
            </a:r>
            <a:r>
              <a:rPr sz="2000" spc="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connue</a:t>
            </a:r>
            <a:endParaRPr sz="20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  <a:spcBef>
                <a:spcPts val="420"/>
              </a:spcBef>
            </a:pPr>
            <a:r>
              <a:rPr sz="24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400" b="1" spc="-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38112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80" dirty="0"/>
              <a:t>T</a:t>
            </a:r>
            <a:r>
              <a:rPr spc="-110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0" dirty="0"/>
              <a:t>u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00" dirty="0"/>
              <a:t>y</a:t>
            </a:r>
            <a:r>
              <a:rPr spc="-295" dirty="0"/>
              <a:t>n</a:t>
            </a:r>
            <a:r>
              <a:rPr spc="-110" dirty="0"/>
              <a:t>a</a:t>
            </a:r>
            <a:r>
              <a:rPr spc="-350" dirty="0"/>
              <a:t>m</a:t>
            </a:r>
            <a:r>
              <a:rPr spc="-114" dirty="0"/>
              <a:t>i</a:t>
            </a:r>
            <a:r>
              <a:rPr spc="-26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</a:p>
        </p:txBody>
      </p:sp>
      <p:sp>
        <p:nvSpPr>
          <p:cNvPr id="8" name="object 8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864" y="1877058"/>
            <a:ext cx="8812530" cy="311912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400" spc="-5" dirty="0">
                <a:latin typeface="Times New Roman"/>
                <a:cs typeface="Times New Roman"/>
              </a:rPr>
              <a:t>En </a:t>
            </a:r>
            <a:r>
              <a:rPr sz="2400" spc="-15" dirty="0">
                <a:solidFill>
                  <a:srgbClr val="008AF2"/>
                </a:solidFill>
                <a:latin typeface="Times New Roman"/>
                <a:cs typeface="Times New Roman"/>
              </a:rPr>
              <a:t>C++11</a:t>
            </a:r>
            <a:r>
              <a:rPr sz="2400" spc="-15" dirty="0">
                <a:latin typeface="Times New Roman"/>
                <a:cs typeface="Times New Roman"/>
              </a:rPr>
              <a:t>, </a:t>
            </a: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 a cinq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façons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d’initialiser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 tableau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dynamique</a:t>
            </a:r>
            <a:r>
              <a:rPr sz="2400" dirty="0">
                <a:latin typeface="Times New Roman"/>
                <a:cs typeface="Times New Roman"/>
              </a:rPr>
              <a:t> :</a:t>
            </a:r>
            <a:endParaRPr sz="24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006FC0"/>
              </a:buClr>
              <a:buSzPct val="58333"/>
              <a:buFont typeface="Wingdings"/>
              <a:buChar char=""/>
              <a:tabLst>
                <a:tab pos="332105" algn="l"/>
                <a:tab pos="332740" algn="l"/>
              </a:tabLst>
            </a:pPr>
            <a:r>
              <a:rPr sz="2400" dirty="0">
                <a:latin typeface="Times New Roman"/>
                <a:cs typeface="Times New Roman"/>
              </a:rPr>
              <a:t>vide</a:t>
            </a:r>
            <a:endParaRPr sz="24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710"/>
              </a:spcBef>
              <a:buClr>
                <a:srgbClr val="006FC0"/>
              </a:buClr>
              <a:buSzPct val="58333"/>
              <a:buFont typeface="Wingdings"/>
              <a:buChar char=""/>
              <a:tabLst>
                <a:tab pos="332105" algn="l"/>
                <a:tab pos="332740" algn="l"/>
              </a:tabLst>
            </a:pPr>
            <a:r>
              <a:rPr sz="2400" dirty="0">
                <a:latin typeface="Times New Roman"/>
                <a:cs typeface="Times New Roman"/>
              </a:rPr>
              <a:t>avec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taille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initiale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donnée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tous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éléments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«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nuls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»</a:t>
            </a:r>
            <a:endParaRPr sz="2400">
              <a:latin typeface="Times New Roman"/>
              <a:cs typeface="Times New Roman"/>
            </a:endParaRPr>
          </a:p>
          <a:p>
            <a:pPr marL="332105" marR="5080" indent="-320040">
              <a:lnSpc>
                <a:spcPct val="100000"/>
              </a:lnSpc>
              <a:spcBef>
                <a:spcPts val="695"/>
              </a:spcBef>
              <a:buClr>
                <a:srgbClr val="006FC0"/>
              </a:buClr>
              <a:buSzPct val="58333"/>
              <a:buFont typeface="Wingdings"/>
              <a:buChar char=""/>
              <a:tabLst>
                <a:tab pos="332105" algn="l"/>
                <a:tab pos="332740" algn="l"/>
              </a:tabLst>
            </a:pPr>
            <a:r>
              <a:rPr sz="2400" dirty="0">
                <a:latin typeface="Times New Roman"/>
                <a:cs typeface="Times New Roman"/>
              </a:rPr>
              <a:t>avec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taille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initiale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donnée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tous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éléments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même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valeur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donnée</a:t>
            </a:r>
            <a:endParaRPr sz="24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006FC0"/>
              </a:buClr>
              <a:buSzPct val="58333"/>
              <a:buFont typeface="Wingdings"/>
              <a:buChar char=""/>
              <a:tabLst>
                <a:tab pos="332105" algn="l"/>
                <a:tab pos="332740" algn="l"/>
              </a:tabLst>
            </a:pPr>
            <a:r>
              <a:rPr sz="2400" dirty="0">
                <a:latin typeface="Times New Roman"/>
                <a:cs typeface="Times New Roman"/>
              </a:rPr>
              <a:t>avec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copie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d’un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autre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</a:t>
            </a:r>
            <a:endParaRPr sz="24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710"/>
              </a:spcBef>
              <a:buClr>
                <a:srgbClr val="006FC0"/>
              </a:buClr>
              <a:buSzPct val="58333"/>
              <a:buFont typeface="Wingdings"/>
              <a:buChar char=""/>
              <a:tabLst>
                <a:tab pos="332105" algn="l"/>
                <a:tab pos="332740" algn="l"/>
              </a:tabLst>
            </a:pPr>
            <a:r>
              <a:rPr sz="2400" dirty="0">
                <a:latin typeface="Times New Roman"/>
                <a:cs typeface="Times New Roman"/>
              </a:rPr>
              <a:t>avec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5" dirty="0">
                <a:latin typeface="Times New Roman"/>
                <a:cs typeface="Times New Roman"/>
              </a:rPr>
              <a:t> ensemble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valeurs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initiales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43545" y="734059"/>
            <a:ext cx="7185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Initialisation</a:t>
            </a:r>
            <a:r>
              <a:rPr spc="-10" dirty="0"/>
              <a:t> </a:t>
            </a:r>
            <a:r>
              <a:rPr spc="-235" dirty="0"/>
              <a:t>d’un</a:t>
            </a:r>
            <a:r>
              <a:rPr spc="-15" dirty="0"/>
              <a:t> </a:t>
            </a:r>
            <a:r>
              <a:rPr spc="-204" dirty="0"/>
              <a:t>tableau</a:t>
            </a:r>
            <a:r>
              <a:rPr spc="-30" dirty="0"/>
              <a:t> </a:t>
            </a:r>
            <a:r>
              <a:rPr spc="-235" dirty="0"/>
              <a:t>dynamique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0744" y="1797811"/>
            <a:ext cx="8456295" cy="5153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329"/>
              </a:lnSpc>
              <a:spcBef>
                <a:spcPts val="95"/>
              </a:spcBef>
            </a:pP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800">
              <a:latin typeface="Times New Roman"/>
              <a:cs typeface="Times New Roman"/>
            </a:endParaRPr>
          </a:p>
          <a:p>
            <a:pPr marL="342900" indent="-330835">
              <a:lnSpc>
                <a:spcPts val="2810"/>
              </a:lnSpc>
              <a:buClr>
                <a:srgbClr val="006FC0"/>
              </a:buClr>
              <a:buFont typeface="Times New Roman"/>
              <a:buAutoNum type="arabicParenR"/>
              <a:tabLst>
                <a:tab pos="343535" algn="l"/>
              </a:tabLst>
            </a:pPr>
            <a:r>
              <a:rPr sz="2400" b="1" i="1" spc="-5" dirty="0">
                <a:solidFill>
                  <a:srgbClr val="006500"/>
                </a:solidFill>
                <a:latin typeface="Times New Roman"/>
                <a:cs typeface="Times New Roman"/>
              </a:rPr>
              <a:t>vector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24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//Crée</a:t>
            </a:r>
            <a:r>
              <a:rPr sz="20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un</a:t>
            </a:r>
            <a:r>
              <a:rPr sz="2000" i="1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tableau</a:t>
            </a:r>
            <a:r>
              <a:rPr sz="2000" i="1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0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 entiers</a:t>
            </a:r>
            <a:endParaRPr sz="2000">
              <a:latin typeface="Times New Roman"/>
              <a:cs typeface="Times New Roman"/>
            </a:endParaRPr>
          </a:p>
          <a:p>
            <a:pPr marL="342900" indent="-330835">
              <a:lnSpc>
                <a:spcPts val="2840"/>
              </a:lnSpc>
              <a:buClr>
                <a:srgbClr val="006FC0"/>
              </a:buClr>
              <a:buFont typeface="Times New Roman"/>
              <a:buAutoNum type="arabicParenR"/>
              <a:tabLst>
                <a:tab pos="343535" algn="l"/>
              </a:tabLst>
            </a:pPr>
            <a:r>
              <a:rPr sz="2400" b="1" i="1" spc="-5" dirty="0">
                <a:solidFill>
                  <a:srgbClr val="006500"/>
                </a:solidFill>
                <a:latin typeface="Times New Roman"/>
                <a:cs typeface="Times New Roman"/>
              </a:rPr>
              <a:t>vector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5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//correspond</a:t>
            </a:r>
            <a:r>
              <a:rPr sz="2000" i="1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à</a:t>
            </a:r>
            <a:r>
              <a:rPr sz="2000" i="1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000" i="1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déclaration</a:t>
            </a:r>
            <a:r>
              <a:rPr sz="2000" i="1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d’un</a:t>
            </a:r>
            <a:r>
              <a:rPr sz="2000" i="1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tableau</a:t>
            </a:r>
            <a:r>
              <a:rPr sz="2000" i="1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initialement</a:t>
            </a:r>
            <a:endParaRPr sz="2000">
              <a:latin typeface="Times New Roman"/>
              <a:cs typeface="Times New Roman"/>
            </a:endParaRPr>
          </a:p>
          <a:p>
            <a:pPr marL="2679700">
              <a:lnSpc>
                <a:spcPts val="2355"/>
              </a:lnSpc>
              <a:spcBef>
                <a:spcPts val="40"/>
              </a:spcBef>
            </a:pP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00" i="1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constitué</a:t>
            </a:r>
            <a:r>
              <a:rPr sz="2000" i="1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5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 entiers,</a:t>
            </a:r>
            <a:r>
              <a:rPr sz="2000" i="1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tous</a:t>
            </a:r>
            <a:r>
              <a:rPr sz="2000" i="1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nuls.</a:t>
            </a:r>
            <a:endParaRPr sz="2000">
              <a:latin typeface="Times New Roman"/>
              <a:cs typeface="Times New Roman"/>
            </a:endParaRPr>
          </a:p>
          <a:p>
            <a:pPr marL="342900" indent="-330835">
              <a:lnSpc>
                <a:spcPts val="2835"/>
              </a:lnSpc>
              <a:buClr>
                <a:srgbClr val="006FC0"/>
              </a:buClr>
              <a:buFont typeface="Times New Roman"/>
              <a:buAutoNum type="arabicParenR" startAt="3"/>
              <a:tabLst>
                <a:tab pos="343535" algn="l"/>
              </a:tabLst>
            </a:pPr>
            <a:r>
              <a:rPr sz="2400" b="1" i="1" spc="-5" dirty="0">
                <a:solidFill>
                  <a:srgbClr val="006500"/>
                </a:solidFill>
                <a:latin typeface="Times New Roman"/>
                <a:cs typeface="Times New Roman"/>
              </a:rPr>
              <a:t>vector</a:t>
            </a:r>
            <a:r>
              <a:rPr sz="24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string</a:t>
            </a:r>
            <a:r>
              <a:rPr sz="24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2400" b="1" i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noms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spc="-5" dirty="0">
                <a:solidFill>
                  <a:srgbClr val="FF32CC"/>
                </a:solidFill>
                <a:latin typeface="Times New Roman"/>
                <a:cs typeface="Times New Roman"/>
              </a:rPr>
              <a:t>10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r>
              <a:rPr sz="24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//Crée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un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tableau</a:t>
            </a:r>
            <a:r>
              <a:rPr sz="2000" i="1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5" dirty="0">
                <a:solidFill>
                  <a:srgbClr val="00B04F"/>
                </a:solidFill>
                <a:latin typeface="Times New Roman"/>
                <a:cs typeface="Times New Roman"/>
              </a:rPr>
              <a:t>dont</a:t>
            </a:r>
            <a:r>
              <a:rPr sz="2000" i="1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les</a:t>
            </a:r>
            <a:r>
              <a:rPr sz="2000" i="1" spc="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éléments</a:t>
            </a:r>
            <a:r>
              <a:rPr sz="2000" i="1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sont</a:t>
            </a:r>
            <a:r>
              <a:rPr sz="2000" i="1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de 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type</a:t>
            </a:r>
            <a:endParaRPr sz="2000">
              <a:latin typeface="Times New Roman"/>
              <a:cs typeface="Times New Roman"/>
            </a:endParaRPr>
          </a:p>
          <a:p>
            <a:pPr marL="3568065">
              <a:lnSpc>
                <a:spcPts val="2355"/>
              </a:lnSpc>
              <a:spcBef>
                <a:spcPts val="30"/>
              </a:spcBef>
            </a:pP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//string</a:t>
            </a:r>
            <a:endParaRPr sz="2000">
              <a:latin typeface="Times New Roman"/>
              <a:cs typeface="Times New Roman"/>
            </a:endParaRPr>
          </a:p>
          <a:p>
            <a:pPr marL="419100" indent="-407034">
              <a:lnSpc>
                <a:spcPts val="2835"/>
              </a:lnSpc>
              <a:buClr>
                <a:srgbClr val="006FC0"/>
              </a:buClr>
              <a:buFont typeface="Times New Roman"/>
              <a:buAutoNum type="arabicParenR" startAt="4"/>
              <a:tabLst>
                <a:tab pos="419100" algn="l"/>
                <a:tab pos="419734" algn="l"/>
              </a:tabLst>
            </a:pPr>
            <a:r>
              <a:rPr sz="2400" b="1" i="1" spc="-5" dirty="0">
                <a:solidFill>
                  <a:srgbClr val="006500"/>
                </a:solidFill>
                <a:latin typeface="Times New Roman"/>
                <a:cs typeface="Times New Roman"/>
              </a:rPr>
              <a:t>vector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24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7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3.5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20"/>
              </a:spcBef>
            </a:pP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//Crée</a:t>
            </a:r>
            <a:r>
              <a:rPr sz="20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un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tableau</a:t>
            </a:r>
            <a:r>
              <a:rPr sz="2000" i="1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7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nombres</a:t>
            </a:r>
            <a:r>
              <a:rPr sz="2000" i="1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à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15" dirty="0">
                <a:solidFill>
                  <a:srgbClr val="00B04F"/>
                </a:solidFill>
                <a:latin typeface="Times New Roman"/>
                <a:cs typeface="Times New Roman"/>
              </a:rPr>
              <a:t>virgules</a:t>
            </a:r>
            <a:r>
              <a:rPr sz="2000" i="1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valant</a:t>
            </a:r>
            <a:r>
              <a:rPr sz="2000" i="1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tous</a:t>
            </a:r>
            <a:r>
              <a:rPr sz="2000" i="1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3.5</a:t>
            </a:r>
            <a:endParaRPr sz="2000">
              <a:latin typeface="Times New Roman"/>
              <a:cs typeface="Times New Roman"/>
            </a:endParaRPr>
          </a:p>
          <a:p>
            <a:pPr marL="342900" indent="-330835">
              <a:lnSpc>
                <a:spcPct val="100000"/>
              </a:lnSpc>
              <a:spcBef>
                <a:spcPts val="210"/>
              </a:spcBef>
              <a:buClr>
                <a:srgbClr val="006FC0"/>
              </a:buClr>
              <a:buFont typeface="Times New Roman"/>
              <a:buAutoNum type="arabicParenR" startAt="5"/>
              <a:tabLst>
                <a:tab pos="343535" algn="l"/>
              </a:tabLst>
            </a:pPr>
            <a:r>
              <a:rPr sz="2400" b="1" i="1" spc="-5" dirty="0">
                <a:solidFill>
                  <a:srgbClr val="006500"/>
                </a:solidFill>
                <a:latin typeface="Times New Roman"/>
                <a:cs typeface="Times New Roman"/>
              </a:rPr>
              <a:t>vector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string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2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listeDesNoms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spc="-5" dirty="0">
                <a:solidFill>
                  <a:srgbClr val="FF32CC"/>
                </a:solidFill>
                <a:latin typeface="Times New Roman"/>
                <a:cs typeface="Times New Roman"/>
              </a:rPr>
              <a:t>10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CC"/>
                </a:solidFill>
                <a:latin typeface="Times New Roman"/>
                <a:cs typeface="Times New Roman"/>
              </a:rPr>
              <a:t>"nom"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4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520"/>
              </a:spcBef>
            </a:pP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//Crée</a:t>
            </a:r>
            <a:r>
              <a:rPr sz="2000" i="1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un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tableau</a:t>
            </a:r>
            <a:r>
              <a:rPr sz="2000" i="1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00" i="1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10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strings</a:t>
            </a:r>
            <a:r>
              <a:rPr sz="2000" i="1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valant</a:t>
            </a:r>
            <a:r>
              <a:rPr sz="2000" i="1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toutes</a:t>
            </a:r>
            <a:r>
              <a:rPr sz="2000" i="1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5" dirty="0">
                <a:solidFill>
                  <a:srgbClr val="00B04F"/>
                </a:solidFill>
                <a:latin typeface="Times New Roman"/>
                <a:cs typeface="Times New Roman"/>
              </a:rPr>
              <a:t>"nom"</a:t>
            </a:r>
            <a:endParaRPr sz="2000">
              <a:latin typeface="Times New Roman"/>
              <a:cs typeface="Times New Roman"/>
            </a:endParaRPr>
          </a:p>
          <a:p>
            <a:pPr marL="342900" indent="-330835">
              <a:lnSpc>
                <a:spcPct val="100000"/>
              </a:lnSpc>
              <a:spcBef>
                <a:spcPts val="200"/>
              </a:spcBef>
              <a:buClr>
                <a:srgbClr val="006FC0"/>
              </a:buClr>
              <a:buFont typeface="Times New Roman"/>
              <a:buAutoNum type="arabicParenR" startAt="6"/>
              <a:tabLst>
                <a:tab pos="343535" algn="l"/>
              </a:tabLst>
            </a:pPr>
            <a:r>
              <a:rPr sz="2400" b="1" i="1" spc="-5" dirty="0">
                <a:solidFill>
                  <a:srgbClr val="006500"/>
                </a:solidFill>
                <a:latin typeface="Times New Roman"/>
                <a:cs typeface="Times New Roman"/>
              </a:rPr>
              <a:t>vector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24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tab2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latin typeface="Times New Roman"/>
                <a:cs typeface="Times New Roman"/>
              </a:rPr>
              <a:t>tab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4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530"/>
              </a:spcBef>
            </a:pP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//Pour</a:t>
            </a:r>
            <a:r>
              <a:rPr sz="2000" i="1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initialiser</a:t>
            </a:r>
            <a:r>
              <a:rPr sz="2000" i="1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les</a:t>
            </a:r>
            <a:r>
              <a:rPr sz="20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éléments</a:t>
            </a:r>
            <a:r>
              <a:rPr sz="2000" i="1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tab2</a:t>
            </a:r>
            <a:r>
              <a:rPr sz="2000" i="1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5" dirty="0">
                <a:solidFill>
                  <a:srgbClr val="00B04F"/>
                </a:solidFill>
                <a:latin typeface="Times New Roman"/>
                <a:cs typeface="Times New Roman"/>
              </a:rPr>
              <a:t>aux</a:t>
            </a:r>
            <a:r>
              <a:rPr sz="2000" i="1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mêmes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valeurs</a:t>
            </a:r>
            <a:r>
              <a:rPr sz="2000" i="1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5" dirty="0">
                <a:solidFill>
                  <a:srgbClr val="00B04F"/>
                </a:solidFill>
                <a:latin typeface="Times New Roman"/>
                <a:cs typeface="Times New Roman"/>
              </a:rPr>
              <a:t>que</a:t>
            </a:r>
            <a:r>
              <a:rPr sz="2000" i="1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tab.</a:t>
            </a:r>
            <a:endParaRPr sz="200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  <a:spcBef>
                <a:spcPts val="200"/>
              </a:spcBef>
              <a:tabLst>
                <a:tab pos="1946275" algn="l"/>
              </a:tabLst>
            </a:pP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7)</a:t>
            </a:r>
            <a:r>
              <a:rPr sz="2400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006500"/>
                </a:solidFill>
                <a:latin typeface="Times New Roman"/>
                <a:cs typeface="Times New Roman"/>
              </a:rPr>
              <a:t>vector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&gt;	</a:t>
            </a:r>
            <a:r>
              <a:rPr sz="2400" spc="-25" dirty="0">
                <a:latin typeface="Times New Roman"/>
                <a:cs typeface="Times New Roman"/>
              </a:rPr>
              <a:t>Tab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({</a:t>
            </a:r>
            <a:r>
              <a:rPr sz="2400" spc="-25" dirty="0">
                <a:solidFill>
                  <a:srgbClr val="FF32CC"/>
                </a:solidFill>
                <a:latin typeface="Times New Roman"/>
                <a:cs typeface="Times New Roman"/>
              </a:rPr>
              <a:t>10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20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30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});</a:t>
            </a:r>
            <a:endParaRPr sz="24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520"/>
              </a:spcBef>
            </a:pP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//initialise</a:t>
            </a:r>
            <a:r>
              <a:rPr sz="2000" i="1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le</a:t>
            </a:r>
            <a:r>
              <a:rPr sz="2000" i="1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tableau</a:t>
            </a:r>
            <a:r>
              <a:rPr sz="2000" i="1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60" dirty="0">
                <a:solidFill>
                  <a:srgbClr val="00B04F"/>
                </a:solidFill>
                <a:latin typeface="Times New Roman"/>
                <a:cs typeface="Times New Roman"/>
              </a:rPr>
              <a:t>Tab</a:t>
            </a:r>
            <a:r>
              <a:rPr sz="2000" i="1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5" dirty="0">
                <a:solidFill>
                  <a:srgbClr val="00B04F"/>
                </a:solidFill>
                <a:latin typeface="Times New Roman"/>
                <a:cs typeface="Times New Roman"/>
              </a:rPr>
              <a:t>par</a:t>
            </a:r>
            <a:r>
              <a:rPr sz="2000" i="1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un</a:t>
            </a:r>
            <a:r>
              <a:rPr sz="20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ensemble</a:t>
            </a:r>
            <a:r>
              <a:rPr sz="2000" i="1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00" i="1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valeurs.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43545" y="734059"/>
            <a:ext cx="7185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Initialisation</a:t>
            </a:r>
            <a:r>
              <a:rPr spc="-10" dirty="0"/>
              <a:t> </a:t>
            </a:r>
            <a:r>
              <a:rPr spc="-235" dirty="0"/>
              <a:t>d’un</a:t>
            </a:r>
            <a:r>
              <a:rPr spc="-15" dirty="0"/>
              <a:t> </a:t>
            </a:r>
            <a:r>
              <a:rPr spc="-204" dirty="0"/>
              <a:t>tableau</a:t>
            </a:r>
            <a:r>
              <a:rPr spc="-30" dirty="0"/>
              <a:t> </a:t>
            </a:r>
            <a:r>
              <a:rPr spc="-235" dirty="0"/>
              <a:t>dynamique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2644" y="1965451"/>
            <a:ext cx="8633460" cy="3484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Depuis </a:t>
            </a:r>
            <a:r>
              <a:rPr sz="2400" dirty="0">
                <a:latin typeface="Times New Roman"/>
                <a:cs typeface="Times New Roman"/>
              </a:rPr>
              <a:t>la </a:t>
            </a:r>
            <a:r>
              <a:rPr sz="2400" spc="-5" dirty="0">
                <a:latin typeface="Times New Roman"/>
                <a:cs typeface="Times New Roman"/>
              </a:rPr>
              <a:t>norme </a:t>
            </a:r>
            <a:r>
              <a:rPr sz="2400" spc="-15" dirty="0">
                <a:solidFill>
                  <a:srgbClr val="008AF2"/>
                </a:solidFill>
                <a:latin typeface="Times New Roman"/>
                <a:cs typeface="Times New Roman"/>
              </a:rPr>
              <a:t>C++11</a:t>
            </a:r>
            <a:r>
              <a:rPr sz="2400" spc="-15" dirty="0">
                <a:latin typeface="Times New Roman"/>
                <a:cs typeface="Times New Roman"/>
              </a:rPr>
              <a:t>, </a:t>
            </a:r>
            <a:r>
              <a:rPr sz="2400" dirty="0">
                <a:latin typeface="Times New Roman"/>
                <a:cs typeface="Times New Roman"/>
              </a:rPr>
              <a:t>on peut </a:t>
            </a:r>
            <a:r>
              <a:rPr sz="2400" spc="-5" dirty="0">
                <a:latin typeface="Times New Roman"/>
                <a:cs typeface="Times New Roman"/>
              </a:rPr>
              <a:t>initialiser </a:t>
            </a:r>
            <a:r>
              <a:rPr sz="2400" dirty="0">
                <a:latin typeface="Times New Roman"/>
                <a:cs typeface="Times New Roman"/>
              </a:rPr>
              <a:t>un tableau </a:t>
            </a:r>
            <a:r>
              <a:rPr sz="2400" spc="-5" dirty="0">
                <a:latin typeface="Times New Roman"/>
                <a:cs typeface="Times New Roman"/>
              </a:rPr>
              <a:t>dynamique </a:t>
            </a:r>
            <a:r>
              <a:rPr sz="2400" dirty="0">
                <a:latin typeface="Times New Roman"/>
                <a:cs typeface="Times New Roman"/>
              </a:rPr>
              <a:t>avec </a:t>
            </a:r>
            <a:r>
              <a:rPr sz="2400" spc="-5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valeurs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initiales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différentes,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voici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syntaxe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3282950" algn="l"/>
              </a:tabLst>
            </a:pPr>
            <a:r>
              <a:rPr sz="2400" b="1" i="1" spc="-5" dirty="0">
                <a:solidFill>
                  <a:srgbClr val="006500"/>
                </a:solidFill>
                <a:latin typeface="Times New Roman"/>
                <a:cs typeface="Times New Roman"/>
              </a:rPr>
              <a:t>vector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spc="-5" dirty="0">
                <a:latin typeface="Times New Roman"/>
                <a:cs typeface="Times New Roman"/>
              </a:rPr>
              <a:t>type_du_tableau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&gt;	</a:t>
            </a:r>
            <a:r>
              <a:rPr sz="2400" spc="-5" dirty="0">
                <a:latin typeface="Times New Roman"/>
                <a:cs typeface="Times New Roman"/>
              </a:rPr>
              <a:t>nom_du_tableau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({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val1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…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valn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})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4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105" algn="l"/>
                <a:tab pos="332740" algn="l"/>
                <a:tab pos="2433955" algn="l"/>
              </a:tabLst>
            </a:pPr>
            <a:r>
              <a:rPr sz="2400" b="1" i="1" spc="-5" dirty="0">
                <a:solidFill>
                  <a:srgbClr val="006500"/>
                </a:solidFill>
                <a:latin typeface="Times New Roman"/>
                <a:cs typeface="Times New Roman"/>
              </a:rPr>
              <a:t>vector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&gt;	</a:t>
            </a:r>
            <a:r>
              <a:rPr sz="2400" dirty="0">
                <a:latin typeface="Times New Roman"/>
                <a:cs typeface="Times New Roman"/>
              </a:rPr>
              <a:t>notes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({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17.5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18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19.5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16.75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15.5</a:t>
            </a:r>
            <a:r>
              <a:rPr sz="2400" spc="-15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});</a:t>
            </a:r>
            <a:endParaRPr sz="24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710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400" spc="-5" dirty="0">
                <a:latin typeface="Times New Roman"/>
                <a:cs typeface="Times New Roman"/>
              </a:rPr>
              <a:t>Ou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avec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cette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manière: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695"/>
              </a:spcBef>
              <a:tabLst>
                <a:tab pos="2418715" algn="l"/>
              </a:tabLst>
            </a:pPr>
            <a:r>
              <a:rPr sz="2400" b="1" i="1" spc="-5" dirty="0">
                <a:solidFill>
                  <a:srgbClr val="006500"/>
                </a:solidFill>
                <a:latin typeface="Times New Roman"/>
                <a:cs typeface="Times New Roman"/>
              </a:rPr>
              <a:t>vector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&gt;	</a:t>
            </a:r>
            <a:r>
              <a:rPr sz="2400" dirty="0">
                <a:latin typeface="Times New Roman"/>
                <a:cs typeface="Times New Roman"/>
              </a:rPr>
              <a:t>notes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17.5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18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19.5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16.75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15.5</a:t>
            </a:r>
            <a:r>
              <a:rPr sz="2400" spc="-15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43545" y="734059"/>
            <a:ext cx="7185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Initialisation</a:t>
            </a:r>
            <a:r>
              <a:rPr spc="-10" dirty="0"/>
              <a:t> </a:t>
            </a:r>
            <a:r>
              <a:rPr spc="-235" dirty="0"/>
              <a:t>d’un</a:t>
            </a:r>
            <a:r>
              <a:rPr spc="-15" dirty="0"/>
              <a:t> </a:t>
            </a:r>
            <a:r>
              <a:rPr spc="-204" dirty="0"/>
              <a:t>tableau</a:t>
            </a:r>
            <a:r>
              <a:rPr spc="-30" dirty="0"/>
              <a:t> </a:t>
            </a:r>
            <a:r>
              <a:rPr spc="-235" dirty="0"/>
              <a:t>dynamique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7592" y="1927351"/>
            <a:ext cx="8389620" cy="1818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3845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Affectation</a:t>
            </a:r>
            <a:r>
              <a:rPr sz="28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globale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7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006FC0"/>
              </a:buClr>
              <a:buSzPct val="58333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400" spc="-5" dirty="0">
                <a:latin typeface="Times New Roman"/>
                <a:cs typeface="Times New Roman"/>
              </a:rPr>
              <a:t>On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ici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l’affectation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d’un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complet,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dans sa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totalité.</a:t>
            </a:r>
            <a:endParaRPr sz="24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400" spc="-5" dirty="0">
                <a:latin typeface="Times New Roman"/>
                <a:cs typeface="Times New Roman"/>
              </a:rPr>
              <a:t>La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syntaxe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02397" y="3807966"/>
            <a:ext cx="2590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B0F0"/>
                </a:solidFill>
                <a:latin typeface="Times New Roman"/>
                <a:cs typeface="Times New Roman"/>
              </a:rPr>
              <a:t>tableau1</a:t>
            </a:r>
            <a:r>
              <a:rPr sz="2400" spc="-7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F0"/>
                </a:solidFill>
                <a:latin typeface="Times New Roman"/>
                <a:cs typeface="Times New Roman"/>
              </a:rPr>
              <a:t>tableau2</a:t>
            </a:r>
            <a:r>
              <a:rPr sz="2400" spc="-6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94364" y="3858258"/>
            <a:ext cx="38512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//copie</a:t>
            </a:r>
            <a:r>
              <a:rPr sz="20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tout</a:t>
            </a:r>
            <a:r>
              <a:rPr sz="20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tableau1</a:t>
            </a:r>
            <a:r>
              <a:rPr sz="20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dans</a:t>
            </a:r>
            <a:r>
              <a:rPr sz="20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tableau2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7592" y="4175250"/>
            <a:ext cx="6976745" cy="229806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795"/>
              </a:spcBef>
            </a:pPr>
            <a:r>
              <a:rPr sz="2400" dirty="0">
                <a:latin typeface="Times New Roman"/>
                <a:cs typeface="Times New Roman"/>
              </a:rPr>
              <a:t>où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F0"/>
                </a:solidFill>
                <a:latin typeface="Times New Roman"/>
                <a:cs typeface="Times New Roman"/>
              </a:rPr>
              <a:t>tableau2</a:t>
            </a:r>
            <a:r>
              <a:rPr sz="2400" spc="-4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0" dirty="0">
                <a:latin typeface="Times New Roman"/>
                <a:cs typeface="Times New Roman"/>
              </a:rPr>
              <a:t> même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B0F0"/>
                </a:solidFill>
                <a:latin typeface="Times New Roman"/>
                <a:cs typeface="Times New Roman"/>
              </a:rPr>
              <a:t>tableau1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4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400" b="1" i="1" spc="-5" dirty="0">
                <a:solidFill>
                  <a:srgbClr val="006500"/>
                </a:solidFill>
                <a:latin typeface="Times New Roman"/>
                <a:cs typeface="Times New Roman"/>
              </a:rPr>
              <a:t>vector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2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tab1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({</a:t>
            </a:r>
            <a:r>
              <a:rPr sz="2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10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20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30</a:t>
            </a:r>
            <a:r>
              <a:rPr sz="2400" spc="-10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})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710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400" b="1" i="1" spc="-5" dirty="0">
                <a:solidFill>
                  <a:srgbClr val="006500"/>
                </a:solidFill>
                <a:latin typeface="Times New Roman"/>
                <a:cs typeface="Times New Roman"/>
              </a:rPr>
              <a:t>vector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24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tab2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695"/>
              </a:spcBef>
            </a:pPr>
            <a:r>
              <a:rPr sz="2400" dirty="0">
                <a:latin typeface="Times New Roman"/>
                <a:cs typeface="Times New Roman"/>
              </a:rPr>
              <a:t>tab2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tab1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copie</a:t>
            </a:r>
            <a:r>
              <a:rPr sz="20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tout</a:t>
            </a:r>
            <a:r>
              <a:rPr sz="20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tab1</a:t>
            </a:r>
            <a:r>
              <a:rPr sz="20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dans</a:t>
            </a:r>
            <a:r>
              <a:rPr sz="20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tab2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38112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80" dirty="0"/>
              <a:t>T</a:t>
            </a:r>
            <a:r>
              <a:rPr spc="-110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0" dirty="0"/>
              <a:t>u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00" dirty="0"/>
              <a:t>y</a:t>
            </a:r>
            <a:r>
              <a:rPr spc="-295" dirty="0"/>
              <a:t>n</a:t>
            </a:r>
            <a:r>
              <a:rPr spc="-110" dirty="0"/>
              <a:t>a</a:t>
            </a:r>
            <a:r>
              <a:rPr spc="-350" dirty="0"/>
              <a:t>m</a:t>
            </a:r>
            <a:r>
              <a:rPr spc="-114" dirty="0"/>
              <a:t>i</a:t>
            </a:r>
            <a:r>
              <a:rPr spc="-26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</a:p>
        </p:txBody>
      </p:sp>
      <p:sp>
        <p:nvSpPr>
          <p:cNvPr id="8" name="object 8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7592" y="1930399"/>
            <a:ext cx="8723630" cy="17297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3845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Accès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aux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éléments</a:t>
            </a:r>
            <a:r>
              <a:rPr sz="28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d'un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tableau</a:t>
            </a:r>
            <a:r>
              <a:rPr sz="2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dynamique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700">
              <a:latin typeface="Times New Roman"/>
              <a:cs typeface="Times New Roman"/>
            </a:endParaRPr>
          </a:p>
          <a:p>
            <a:pPr marL="332740" marR="5080" indent="-320040">
              <a:lnSpc>
                <a:spcPct val="100000"/>
              </a:lnSpc>
              <a:buClr>
                <a:srgbClr val="006FC0"/>
              </a:buClr>
              <a:buSzPct val="58333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400" spc="-5" dirty="0">
                <a:latin typeface="Times New Roman"/>
                <a:cs typeface="Times New Roman"/>
              </a:rPr>
              <a:t>On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utilise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également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crochets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[] </a:t>
            </a:r>
            <a:r>
              <a:rPr sz="2400" dirty="0">
                <a:latin typeface="Times New Roman"/>
                <a:cs typeface="Times New Roman"/>
              </a:rPr>
              <a:t>et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première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possède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aussi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numéro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38112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80" dirty="0"/>
              <a:t>T</a:t>
            </a:r>
            <a:r>
              <a:rPr spc="-110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0" dirty="0"/>
              <a:t>u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00" dirty="0"/>
              <a:t>y</a:t>
            </a:r>
            <a:r>
              <a:rPr spc="-295" dirty="0"/>
              <a:t>n</a:t>
            </a:r>
            <a:r>
              <a:rPr spc="-110" dirty="0"/>
              <a:t>a</a:t>
            </a:r>
            <a:r>
              <a:rPr spc="-350" dirty="0"/>
              <a:t>m</a:t>
            </a:r>
            <a:r>
              <a:rPr spc="-114" dirty="0"/>
              <a:t>i</a:t>
            </a:r>
            <a:r>
              <a:rPr spc="-26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6004" y="1824875"/>
            <a:ext cx="3924300" cy="469709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590"/>
              </a:spcBef>
            </a:pP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endParaRPr sz="2800">
              <a:latin typeface="Times New Roman"/>
              <a:cs typeface="Times New Roman"/>
            </a:endParaRPr>
          </a:p>
          <a:p>
            <a:pPr marL="12700" marR="158115">
              <a:lnSpc>
                <a:spcPct val="114399"/>
              </a:lnSpc>
              <a:spcBef>
                <a:spcPts val="10"/>
              </a:spcBef>
            </a:pPr>
            <a:r>
              <a:rPr sz="2400" b="1" i="1" spc="-5" dirty="0">
                <a:latin typeface="Times New Roman"/>
                <a:cs typeface="Times New Roman"/>
              </a:rPr>
              <a:t>int const </a:t>
            </a:r>
            <a:r>
              <a:rPr sz="2400" spc="-15" dirty="0">
                <a:latin typeface="Times New Roman"/>
                <a:cs typeface="Times New Roman"/>
              </a:rPr>
              <a:t>tailleTab(5</a:t>
            </a:r>
            <a:r>
              <a:rPr sz="2400" b="1" spc="-15" dirty="0">
                <a:latin typeface="Times New Roman"/>
                <a:cs typeface="Times New Roman"/>
              </a:rPr>
              <a:t>); 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vector</a:t>
            </a:r>
            <a:r>
              <a:rPr sz="2400" spc="-5" dirty="0">
                <a:latin typeface="Times New Roman"/>
                <a:cs typeface="Times New Roman"/>
              </a:rPr>
              <a:t>&lt;</a:t>
            </a:r>
            <a:r>
              <a:rPr sz="2400" b="1" i="1" spc="-5" dirty="0">
                <a:latin typeface="Times New Roman"/>
                <a:cs typeface="Times New Roman"/>
              </a:rPr>
              <a:t>int</a:t>
            </a:r>
            <a:r>
              <a:rPr sz="2400" spc="-5" dirty="0">
                <a:latin typeface="Times New Roman"/>
                <a:cs typeface="Times New Roman"/>
              </a:rPr>
              <a:t>&gt; </a:t>
            </a:r>
            <a:r>
              <a:rPr sz="2400" spc="-15" dirty="0">
                <a:latin typeface="Times New Roman"/>
                <a:cs typeface="Times New Roman"/>
              </a:rPr>
              <a:t>tableau(tailleTab);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tableau[0]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828;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400" spc="-5" dirty="0">
                <a:latin typeface="Times New Roman"/>
                <a:cs typeface="Times New Roman"/>
              </a:rPr>
              <a:t>tableau[1]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132;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400" spc="-5" dirty="0">
                <a:latin typeface="Times New Roman"/>
                <a:cs typeface="Times New Roman"/>
              </a:rPr>
              <a:t>tableau[2]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847;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400" spc="-5" dirty="0">
                <a:latin typeface="Times New Roman"/>
                <a:cs typeface="Times New Roman"/>
              </a:rPr>
              <a:t>tableau[3]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623;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400" spc="-5" dirty="0">
                <a:latin typeface="Times New Roman"/>
                <a:cs typeface="Times New Roman"/>
              </a:rPr>
              <a:t>tableau[4]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35;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50">
              <a:latin typeface="Times New Roman"/>
              <a:cs typeface="Times New Roman"/>
            </a:endParaRPr>
          </a:p>
          <a:p>
            <a:pPr marL="12700" marR="5080">
              <a:lnSpc>
                <a:spcPct val="114199"/>
              </a:lnSpc>
            </a:pPr>
            <a:r>
              <a:rPr sz="2400" b="1" i="1" spc="-5" dirty="0">
                <a:latin typeface="Times New Roman"/>
                <a:cs typeface="Times New Roman"/>
              </a:rPr>
              <a:t>vector</a:t>
            </a:r>
            <a:r>
              <a:rPr sz="2400" spc="-5" dirty="0">
                <a:latin typeface="Times New Roman"/>
                <a:cs typeface="Times New Roman"/>
              </a:rPr>
              <a:t>&lt;</a:t>
            </a:r>
            <a:r>
              <a:rPr sz="2400" b="1" i="1" spc="-5" dirty="0">
                <a:latin typeface="Times New Roman"/>
                <a:cs typeface="Times New Roman"/>
              </a:rPr>
              <a:t>int</a:t>
            </a:r>
            <a:r>
              <a:rPr sz="2400" spc="-5" dirty="0">
                <a:latin typeface="Times New Roman"/>
                <a:cs typeface="Times New Roman"/>
              </a:rPr>
              <a:t>&gt; </a:t>
            </a:r>
            <a:r>
              <a:rPr sz="2400" spc="-15" dirty="0">
                <a:latin typeface="Times New Roman"/>
                <a:cs typeface="Times New Roman"/>
              </a:rPr>
              <a:t>tableau2(tailleTab);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tableau2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49427" y="2304388"/>
            <a:ext cx="3669029" cy="295338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000"/>
              </a:spcBef>
            </a:pP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//La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taille</a:t>
            </a:r>
            <a:r>
              <a:rPr sz="20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du</a:t>
            </a:r>
            <a:r>
              <a:rPr sz="20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tableau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//Déclaration</a:t>
            </a:r>
            <a:r>
              <a:rPr sz="2000" spc="-5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du</a:t>
            </a:r>
            <a:r>
              <a:rPr sz="20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tableau</a:t>
            </a:r>
            <a:endParaRPr sz="20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885"/>
              </a:spcBef>
            </a:pP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//Remplissage</a:t>
            </a:r>
            <a:r>
              <a:rPr sz="20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première</a:t>
            </a:r>
            <a:r>
              <a:rPr sz="20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case</a:t>
            </a:r>
            <a:endParaRPr sz="2000">
              <a:latin typeface="Times New Roman"/>
              <a:cs typeface="Times New Roman"/>
            </a:endParaRPr>
          </a:p>
          <a:p>
            <a:pPr marL="121920">
              <a:lnSpc>
                <a:spcPct val="100000"/>
              </a:lnSpc>
              <a:spcBef>
                <a:spcPts val="890"/>
              </a:spcBef>
            </a:pP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//Remplissage</a:t>
            </a:r>
            <a:r>
              <a:rPr sz="20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la deuxième</a:t>
            </a:r>
            <a:r>
              <a:rPr sz="20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case</a:t>
            </a:r>
            <a:endParaRPr sz="20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900"/>
              </a:spcBef>
            </a:pP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//Remplissage</a:t>
            </a:r>
            <a:r>
              <a:rPr sz="20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troisième</a:t>
            </a:r>
            <a:r>
              <a:rPr sz="20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case</a:t>
            </a:r>
            <a:endParaRPr sz="2000">
              <a:latin typeface="Times New Roman"/>
              <a:cs typeface="Times New Roman"/>
            </a:endParaRPr>
          </a:p>
          <a:p>
            <a:pPr marL="71755">
              <a:lnSpc>
                <a:spcPct val="100000"/>
              </a:lnSpc>
              <a:spcBef>
                <a:spcPts val="885"/>
              </a:spcBef>
            </a:pP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//Remplissage</a:t>
            </a:r>
            <a:r>
              <a:rPr sz="20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quatrième</a:t>
            </a:r>
            <a:r>
              <a:rPr sz="20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case</a:t>
            </a:r>
            <a:endParaRPr sz="20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890"/>
              </a:spcBef>
            </a:pP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//Remplissage</a:t>
            </a:r>
            <a:r>
              <a:rPr sz="20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la cinquième</a:t>
            </a:r>
            <a:r>
              <a:rPr sz="20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case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38112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80" dirty="0"/>
              <a:t>T</a:t>
            </a:r>
            <a:r>
              <a:rPr spc="-110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0" dirty="0"/>
              <a:t>u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00" dirty="0"/>
              <a:t>y</a:t>
            </a:r>
            <a:r>
              <a:rPr spc="-295" dirty="0"/>
              <a:t>n</a:t>
            </a:r>
            <a:r>
              <a:rPr spc="-110" dirty="0"/>
              <a:t>a</a:t>
            </a:r>
            <a:r>
              <a:rPr spc="-350" dirty="0"/>
              <a:t>m</a:t>
            </a:r>
            <a:r>
              <a:rPr spc="-114" dirty="0"/>
              <a:t>i</a:t>
            </a:r>
            <a:r>
              <a:rPr spc="-26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</a:p>
        </p:txBody>
      </p:sp>
      <p:sp>
        <p:nvSpPr>
          <p:cNvPr id="6" name="object 6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272" y="1770379"/>
            <a:ext cx="8803640" cy="448056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795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existe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</a:t>
            </a:r>
            <a:r>
              <a:rPr sz="2400" spc="-5" dirty="0">
                <a:latin typeface="Times New Roman"/>
                <a:cs typeface="Times New Roman"/>
              </a:rPr>
              <a:t> fait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moins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trois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façons </a:t>
            </a:r>
            <a:r>
              <a:rPr sz="2400" dirty="0">
                <a:latin typeface="Times New Roman"/>
                <a:cs typeface="Times New Roman"/>
              </a:rPr>
              <a:t>d’itérer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006FC0"/>
              </a:buClr>
              <a:buSzPct val="58333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400" b="1" dirty="0">
                <a:latin typeface="Times New Roman"/>
                <a:cs typeface="Times New Roman"/>
              </a:rPr>
              <a:t>avec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la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boucle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spc="-15" dirty="0">
                <a:latin typeface="Times New Roman"/>
                <a:cs typeface="Times New Roman"/>
              </a:rPr>
              <a:t>for-each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depuis</a:t>
            </a:r>
            <a:r>
              <a:rPr sz="2400" b="1" dirty="0">
                <a:latin typeface="Times New Roman"/>
                <a:cs typeface="Times New Roman"/>
              </a:rPr>
              <a:t> la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norme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C++11:</a:t>
            </a:r>
            <a:endParaRPr sz="2400">
              <a:latin typeface="Times New Roman"/>
              <a:cs typeface="Times New Roman"/>
            </a:endParaRPr>
          </a:p>
          <a:p>
            <a:pPr marL="85725" marR="4343400">
              <a:lnSpc>
                <a:spcPct val="125200"/>
              </a:lnSpc>
              <a:spcBef>
                <a:spcPts val="15"/>
              </a:spcBef>
              <a:tabLst>
                <a:tab pos="3202305" algn="l"/>
              </a:tabLst>
            </a:pPr>
            <a:r>
              <a:rPr sz="2300" b="1" dirty="0">
                <a:solidFill>
                  <a:srgbClr val="C00000"/>
                </a:solidFill>
                <a:latin typeface="Times New Roman"/>
                <a:cs typeface="Times New Roman"/>
              </a:rPr>
              <a:t>for</a:t>
            </a:r>
            <a:r>
              <a:rPr sz="23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300" b="1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2300" b="1" dirty="0">
                <a:solidFill>
                  <a:srgbClr val="001F5F"/>
                </a:solidFill>
                <a:latin typeface="Times New Roman"/>
                <a:cs typeface="Times New Roman"/>
              </a:rPr>
              <a:t>type</a:t>
            </a:r>
            <a:r>
              <a:rPr sz="23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00" spc="-5" dirty="0">
                <a:solidFill>
                  <a:srgbClr val="0000CC"/>
                </a:solidFill>
                <a:latin typeface="Times New Roman"/>
                <a:cs typeface="Times New Roman"/>
              </a:rPr>
              <a:t>ele</a:t>
            </a:r>
            <a:r>
              <a:rPr sz="2300" dirty="0">
                <a:solidFill>
                  <a:srgbClr val="0000CC"/>
                </a:solidFill>
                <a:latin typeface="Times New Roman"/>
                <a:cs typeface="Times New Roman"/>
              </a:rPr>
              <a:t>m</a:t>
            </a:r>
            <a:r>
              <a:rPr sz="23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300" b="1" dirty="0">
                <a:solidFill>
                  <a:srgbClr val="C00000"/>
                </a:solidFill>
                <a:latin typeface="Times New Roman"/>
                <a:cs typeface="Times New Roman"/>
              </a:rPr>
              <a:t>:</a:t>
            </a:r>
            <a:r>
              <a:rPr sz="23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300" spc="-5" dirty="0">
                <a:solidFill>
                  <a:srgbClr val="6F2FA0"/>
                </a:solidFill>
                <a:latin typeface="Times New Roman"/>
                <a:cs typeface="Times New Roman"/>
              </a:rPr>
              <a:t>ta</a:t>
            </a:r>
            <a:r>
              <a:rPr sz="2300" dirty="0">
                <a:solidFill>
                  <a:srgbClr val="6F2FA0"/>
                </a:solidFill>
                <a:latin typeface="Times New Roman"/>
                <a:cs typeface="Times New Roman"/>
              </a:rPr>
              <a:t>b</a:t>
            </a:r>
            <a:r>
              <a:rPr sz="2300" spc="-5" dirty="0">
                <a:solidFill>
                  <a:srgbClr val="6F2FA0"/>
                </a:solidFill>
                <a:latin typeface="Times New Roman"/>
                <a:cs typeface="Times New Roman"/>
              </a:rPr>
              <a:t>lea</a:t>
            </a:r>
            <a:r>
              <a:rPr sz="2300" dirty="0">
                <a:solidFill>
                  <a:srgbClr val="6F2FA0"/>
                </a:solidFill>
                <a:latin typeface="Times New Roman"/>
                <a:cs typeface="Times New Roman"/>
              </a:rPr>
              <a:t>u</a:t>
            </a:r>
            <a:r>
              <a:rPr sz="2300" spc="10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300" b="1" dirty="0">
                <a:solidFill>
                  <a:srgbClr val="C00000"/>
                </a:solidFill>
                <a:latin typeface="Times New Roman"/>
                <a:cs typeface="Times New Roman"/>
              </a:rPr>
              <a:t>)	</a:t>
            </a:r>
            <a:r>
              <a:rPr sz="2300" spc="-5" dirty="0">
                <a:solidFill>
                  <a:srgbClr val="0000CC"/>
                </a:solidFill>
                <a:latin typeface="Times New Roman"/>
                <a:cs typeface="Times New Roman"/>
              </a:rPr>
              <a:t>i</a:t>
            </a:r>
            <a:r>
              <a:rPr sz="2300" dirty="0">
                <a:solidFill>
                  <a:srgbClr val="0000CC"/>
                </a:solidFill>
                <a:latin typeface="Times New Roman"/>
                <a:cs typeface="Times New Roman"/>
              </a:rPr>
              <a:t>ns</a:t>
            </a:r>
            <a:r>
              <a:rPr sz="2300" spc="-5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2300" dirty="0">
                <a:solidFill>
                  <a:srgbClr val="0000CC"/>
                </a:solidFill>
                <a:latin typeface="Times New Roman"/>
                <a:cs typeface="Times New Roman"/>
              </a:rPr>
              <a:t>ru</a:t>
            </a:r>
            <a:r>
              <a:rPr sz="2300" spc="-5" dirty="0">
                <a:solidFill>
                  <a:srgbClr val="0000CC"/>
                </a:solidFill>
                <a:latin typeface="Times New Roman"/>
                <a:cs typeface="Times New Roman"/>
              </a:rPr>
              <a:t>cti</a:t>
            </a:r>
            <a:r>
              <a:rPr sz="2300" dirty="0">
                <a:solidFill>
                  <a:srgbClr val="0000CC"/>
                </a:solidFill>
                <a:latin typeface="Times New Roman"/>
                <a:cs typeface="Times New Roman"/>
              </a:rPr>
              <a:t>on  </a:t>
            </a:r>
            <a:r>
              <a:rPr sz="2300" dirty="0">
                <a:latin typeface="Times New Roman"/>
                <a:cs typeface="Times New Roman"/>
              </a:rPr>
              <a:t>ou</a:t>
            </a:r>
            <a:endParaRPr sz="2300">
              <a:latin typeface="Times New Roman"/>
              <a:cs typeface="Times New Roman"/>
            </a:endParaRPr>
          </a:p>
          <a:p>
            <a:pPr marL="85725" marR="4326890">
              <a:lnSpc>
                <a:spcPts val="3470"/>
              </a:lnSpc>
              <a:spcBef>
                <a:spcPts val="220"/>
              </a:spcBef>
              <a:tabLst>
                <a:tab pos="3218815" algn="l"/>
              </a:tabLst>
            </a:pPr>
            <a:r>
              <a:rPr sz="2300" b="1" dirty="0">
                <a:solidFill>
                  <a:srgbClr val="C00000"/>
                </a:solidFill>
                <a:latin typeface="Times New Roman"/>
                <a:cs typeface="Times New Roman"/>
              </a:rPr>
              <a:t>for</a:t>
            </a:r>
            <a:r>
              <a:rPr sz="23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300" b="1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2300" b="1" dirty="0">
                <a:solidFill>
                  <a:srgbClr val="001F5F"/>
                </a:solidFill>
                <a:latin typeface="Times New Roman"/>
                <a:cs typeface="Times New Roman"/>
              </a:rPr>
              <a:t>auto</a:t>
            </a:r>
            <a:r>
              <a:rPr sz="23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00" spc="-5" dirty="0">
                <a:solidFill>
                  <a:srgbClr val="0000CC"/>
                </a:solidFill>
                <a:latin typeface="Times New Roman"/>
                <a:cs typeface="Times New Roman"/>
              </a:rPr>
              <a:t>ele</a:t>
            </a:r>
            <a:r>
              <a:rPr sz="2300" dirty="0">
                <a:solidFill>
                  <a:srgbClr val="0000CC"/>
                </a:solidFill>
                <a:latin typeface="Times New Roman"/>
                <a:cs typeface="Times New Roman"/>
              </a:rPr>
              <a:t>m</a:t>
            </a:r>
            <a:r>
              <a:rPr sz="23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300" b="1" dirty="0">
                <a:solidFill>
                  <a:srgbClr val="C00000"/>
                </a:solidFill>
                <a:latin typeface="Times New Roman"/>
                <a:cs typeface="Times New Roman"/>
              </a:rPr>
              <a:t>:</a:t>
            </a:r>
            <a:r>
              <a:rPr sz="23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300" spc="-5" dirty="0">
                <a:solidFill>
                  <a:srgbClr val="6F2FA0"/>
                </a:solidFill>
                <a:latin typeface="Times New Roman"/>
                <a:cs typeface="Times New Roman"/>
              </a:rPr>
              <a:t>ta</a:t>
            </a:r>
            <a:r>
              <a:rPr sz="2300" dirty="0">
                <a:solidFill>
                  <a:srgbClr val="6F2FA0"/>
                </a:solidFill>
                <a:latin typeface="Times New Roman"/>
                <a:cs typeface="Times New Roman"/>
              </a:rPr>
              <a:t>b</a:t>
            </a:r>
            <a:r>
              <a:rPr sz="2300" spc="-5" dirty="0">
                <a:solidFill>
                  <a:srgbClr val="6F2FA0"/>
                </a:solidFill>
                <a:latin typeface="Times New Roman"/>
                <a:cs typeface="Times New Roman"/>
              </a:rPr>
              <a:t>lea</a:t>
            </a:r>
            <a:r>
              <a:rPr sz="2300" dirty="0">
                <a:solidFill>
                  <a:srgbClr val="6F2FA0"/>
                </a:solidFill>
                <a:latin typeface="Times New Roman"/>
                <a:cs typeface="Times New Roman"/>
              </a:rPr>
              <a:t>u</a:t>
            </a:r>
            <a:r>
              <a:rPr sz="2300" spc="10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300" b="1" dirty="0">
                <a:solidFill>
                  <a:srgbClr val="C00000"/>
                </a:solidFill>
                <a:latin typeface="Times New Roman"/>
                <a:cs typeface="Times New Roman"/>
              </a:rPr>
              <a:t>)	</a:t>
            </a:r>
            <a:r>
              <a:rPr sz="2300" spc="-5" dirty="0">
                <a:solidFill>
                  <a:srgbClr val="0000CC"/>
                </a:solidFill>
                <a:latin typeface="Times New Roman"/>
                <a:cs typeface="Times New Roman"/>
              </a:rPr>
              <a:t>i</a:t>
            </a:r>
            <a:r>
              <a:rPr sz="2300" dirty="0">
                <a:solidFill>
                  <a:srgbClr val="0000CC"/>
                </a:solidFill>
                <a:latin typeface="Times New Roman"/>
                <a:cs typeface="Times New Roman"/>
              </a:rPr>
              <a:t>ns</a:t>
            </a:r>
            <a:r>
              <a:rPr sz="2300" spc="-5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2300" dirty="0">
                <a:solidFill>
                  <a:srgbClr val="0000CC"/>
                </a:solidFill>
                <a:latin typeface="Times New Roman"/>
                <a:cs typeface="Times New Roman"/>
              </a:rPr>
              <a:t>ru</a:t>
            </a:r>
            <a:r>
              <a:rPr sz="2300" spc="-5" dirty="0">
                <a:solidFill>
                  <a:srgbClr val="0000CC"/>
                </a:solidFill>
                <a:latin typeface="Times New Roman"/>
                <a:cs typeface="Times New Roman"/>
              </a:rPr>
              <a:t>cti</a:t>
            </a:r>
            <a:r>
              <a:rPr sz="2300" dirty="0">
                <a:solidFill>
                  <a:srgbClr val="0000CC"/>
                </a:solidFill>
                <a:latin typeface="Times New Roman"/>
                <a:cs typeface="Times New Roman"/>
              </a:rPr>
              <a:t>on  </a:t>
            </a:r>
            <a:r>
              <a:rPr sz="2300" dirty="0">
                <a:latin typeface="Times New Roman"/>
                <a:cs typeface="Times New Roman"/>
              </a:rPr>
              <a:t>ou</a:t>
            </a:r>
            <a:endParaRPr sz="23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  <a:spcBef>
                <a:spcPts val="459"/>
              </a:spcBef>
              <a:tabLst>
                <a:tab pos="3461385" algn="l"/>
              </a:tabLst>
            </a:pPr>
            <a:r>
              <a:rPr sz="2300" b="1" dirty="0">
                <a:solidFill>
                  <a:srgbClr val="C00000"/>
                </a:solidFill>
                <a:latin typeface="Times New Roman"/>
                <a:cs typeface="Times New Roman"/>
              </a:rPr>
              <a:t>for</a:t>
            </a:r>
            <a:r>
              <a:rPr sz="23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300" b="1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2300" b="1" dirty="0">
                <a:solidFill>
                  <a:srgbClr val="001F5F"/>
                </a:solidFill>
                <a:latin typeface="Times New Roman"/>
                <a:cs typeface="Times New Roman"/>
              </a:rPr>
              <a:t>auto</a:t>
            </a:r>
            <a:r>
              <a:rPr sz="2300" b="1" dirty="0">
                <a:solidFill>
                  <a:srgbClr val="FF32CC"/>
                </a:solidFill>
                <a:latin typeface="Times New Roman"/>
                <a:cs typeface="Times New Roman"/>
              </a:rPr>
              <a:t>&amp;</a:t>
            </a:r>
            <a:r>
              <a:rPr sz="2300" b="1" spc="-30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300" spc="-5" dirty="0">
                <a:solidFill>
                  <a:srgbClr val="0000CC"/>
                </a:solidFill>
                <a:latin typeface="Times New Roman"/>
                <a:cs typeface="Times New Roman"/>
              </a:rPr>
              <a:t>elem</a:t>
            </a:r>
            <a:r>
              <a:rPr sz="23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300" b="1" dirty="0">
                <a:solidFill>
                  <a:srgbClr val="C00000"/>
                </a:solidFill>
                <a:latin typeface="Times New Roman"/>
                <a:cs typeface="Times New Roman"/>
              </a:rPr>
              <a:t>:</a:t>
            </a:r>
            <a:r>
              <a:rPr sz="23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300" spc="-5" dirty="0">
                <a:solidFill>
                  <a:srgbClr val="6F2FA0"/>
                </a:solidFill>
                <a:latin typeface="Times New Roman"/>
                <a:cs typeface="Times New Roman"/>
              </a:rPr>
              <a:t>tableau</a:t>
            </a:r>
            <a:r>
              <a:rPr sz="2300" spc="15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300" b="1" dirty="0">
                <a:solidFill>
                  <a:srgbClr val="C00000"/>
                </a:solidFill>
                <a:latin typeface="Times New Roman"/>
                <a:cs typeface="Times New Roman"/>
              </a:rPr>
              <a:t>)	</a:t>
            </a:r>
            <a:r>
              <a:rPr sz="2300" spc="-5" dirty="0">
                <a:solidFill>
                  <a:srgbClr val="0000CC"/>
                </a:solidFill>
                <a:latin typeface="Times New Roman"/>
                <a:cs typeface="Times New Roman"/>
              </a:rPr>
              <a:t>instruction</a:t>
            </a:r>
            <a:endParaRPr sz="23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006FC0"/>
              </a:buClr>
              <a:buSzPct val="58333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400" b="1" dirty="0">
                <a:latin typeface="Times New Roman"/>
                <a:cs typeface="Times New Roman"/>
              </a:rPr>
              <a:t>avec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la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boucle </a:t>
            </a:r>
            <a:r>
              <a:rPr sz="2400" b="1" dirty="0">
                <a:latin typeface="Times New Roman"/>
                <a:cs typeface="Times New Roman"/>
              </a:rPr>
              <a:t>for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«</a:t>
            </a:r>
            <a:r>
              <a:rPr sz="2400" b="1" spc="-5" dirty="0">
                <a:latin typeface="Times New Roman"/>
                <a:cs typeface="Times New Roman"/>
              </a:rPr>
              <a:t> classique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»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  <a:spcBef>
                <a:spcPts val="810"/>
              </a:spcBef>
              <a:tabLst>
                <a:tab pos="4163695" algn="l"/>
              </a:tabLst>
            </a:pPr>
            <a:r>
              <a:rPr sz="2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for(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200" b="1" spc="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spc="-5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200" b="1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2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6F2FA0"/>
                </a:solidFill>
                <a:latin typeface="Times New Roman"/>
                <a:cs typeface="Times New Roman"/>
              </a:rPr>
              <a:t>tableau</a:t>
            </a:r>
            <a:r>
              <a:rPr sz="2200" spc="-5" dirty="0">
                <a:latin typeface="Times New Roman"/>
                <a:cs typeface="Times New Roman"/>
              </a:rPr>
              <a:t>.</a:t>
            </a:r>
            <a:r>
              <a:rPr sz="2200" spc="-5" dirty="0">
                <a:solidFill>
                  <a:srgbClr val="00B0F0"/>
                </a:solidFill>
                <a:latin typeface="Times New Roman"/>
                <a:cs typeface="Times New Roman"/>
              </a:rPr>
              <a:t>size()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200" b="1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32CC"/>
                </a:solidFill>
                <a:latin typeface="Times New Roman"/>
                <a:cs typeface="Times New Roman"/>
              </a:rPr>
              <a:t>++</a:t>
            </a:r>
            <a:r>
              <a:rPr sz="2200" spc="-5" dirty="0">
                <a:latin typeface="Times New Roman"/>
                <a:cs typeface="Times New Roman"/>
              </a:rPr>
              <a:t>i</a:t>
            </a:r>
            <a:r>
              <a:rPr sz="2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)	</a:t>
            </a:r>
            <a:r>
              <a:rPr sz="2200" dirty="0">
                <a:latin typeface="Times New Roman"/>
                <a:cs typeface="Times New Roman"/>
              </a:rPr>
              <a:t>ou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for(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size_t</a:t>
            </a:r>
            <a:r>
              <a:rPr sz="2200" b="1" spc="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spc="-5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2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 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&lt; </a:t>
            </a:r>
            <a:r>
              <a:rPr sz="2200" spc="-5" dirty="0">
                <a:solidFill>
                  <a:srgbClr val="6F2FA0"/>
                </a:solidFill>
                <a:latin typeface="Times New Roman"/>
                <a:cs typeface="Times New Roman"/>
              </a:rPr>
              <a:t>tableau</a:t>
            </a:r>
            <a:r>
              <a:rPr sz="2200" spc="-5" dirty="0">
                <a:latin typeface="Times New Roman"/>
                <a:cs typeface="Times New Roman"/>
              </a:rPr>
              <a:t>.</a:t>
            </a:r>
            <a:r>
              <a:rPr sz="2200" spc="-5" dirty="0">
                <a:solidFill>
                  <a:srgbClr val="00B0F0"/>
                </a:solidFill>
                <a:latin typeface="Times New Roman"/>
                <a:cs typeface="Times New Roman"/>
              </a:rPr>
              <a:t>size()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2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32CC"/>
                </a:solidFill>
                <a:latin typeface="Times New Roman"/>
                <a:cs typeface="Times New Roman"/>
              </a:rPr>
              <a:t>++</a:t>
            </a:r>
            <a:r>
              <a:rPr sz="2200" spc="-5" dirty="0">
                <a:latin typeface="Times New Roman"/>
                <a:cs typeface="Times New Roman"/>
              </a:rPr>
              <a:t>i</a:t>
            </a:r>
            <a:r>
              <a:rPr sz="2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715"/>
              </a:spcBef>
              <a:buClr>
                <a:srgbClr val="006FC0"/>
              </a:buClr>
              <a:buSzPct val="58333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400" b="1" dirty="0">
                <a:latin typeface="Times New Roman"/>
                <a:cs typeface="Times New Roman"/>
              </a:rPr>
              <a:t>avec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des itérateurs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(voir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chapitres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suivants)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64293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80" dirty="0"/>
              <a:t>P</a:t>
            </a:r>
            <a:r>
              <a:rPr spc="-110" dirty="0"/>
              <a:t>a</a:t>
            </a:r>
            <a:r>
              <a:rPr spc="-275" dirty="0"/>
              <a:t>r</a:t>
            </a:r>
            <a:r>
              <a:rPr spc="-555" dirty="0"/>
              <a:t>c</a:t>
            </a:r>
            <a:r>
              <a:rPr spc="-295" dirty="0"/>
              <a:t>ou</a:t>
            </a:r>
            <a:r>
              <a:rPr spc="-275" dirty="0"/>
              <a:t>r</a:t>
            </a:r>
            <a:r>
              <a:rPr spc="-470" dirty="0"/>
              <a:t>s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14" dirty="0"/>
              <a:t>’</a:t>
            </a:r>
            <a:r>
              <a:rPr spc="-250" dirty="0"/>
              <a:t>u</a:t>
            </a:r>
            <a:r>
              <a:rPr spc="-290" dirty="0"/>
              <a:t>n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140" dirty="0"/>
              <a:t>t</a:t>
            </a:r>
            <a:r>
              <a:rPr spc="-235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0" dirty="0"/>
              <a:t>u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00" dirty="0"/>
              <a:t>y</a:t>
            </a:r>
            <a:r>
              <a:rPr spc="-295" dirty="0"/>
              <a:t>n</a:t>
            </a:r>
            <a:r>
              <a:rPr spc="-110" dirty="0"/>
              <a:t>a</a:t>
            </a:r>
            <a:r>
              <a:rPr spc="-350" dirty="0"/>
              <a:t>m</a:t>
            </a:r>
            <a:r>
              <a:rPr spc="-114" dirty="0"/>
              <a:t>i</a:t>
            </a:r>
            <a:r>
              <a:rPr spc="-26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272" y="1751784"/>
            <a:ext cx="5415280" cy="465137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2197735">
              <a:lnSpc>
                <a:spcPct val="122900"/>
              </a:lnSpc>
              <a:spcBef>
                <a:spcPts val="155"/>
              </a:spcBef>
            </a:pP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Exemple: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vector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24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notes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4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); </a:t>
            </a:r>
            <a:r>
              <a:rPr sz="2400" spc="-5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for</a:t>
            </a:r>
            <a:r>
              <a:rPr sz="2400" b="1" spc="-6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auto</a:t>
            </a:r>
            <a:r>
              <a:rPr sz="2400" b="1" spc="-5" dirty="0">
                <a:solidFill>
                  <a:srgbClr val="FF32CC"/>
                </a:solidFill>
                <a:latin typeface="Times New Roman"/>
                <a:cs typeface="Times New Roman"/>
              </a:rPr>
              <a:t>&amp;</a:t>
            </a:r>
            <a:r>
              <a:rPr sz="2400" b="1" spc="-30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notes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695"/>
              </a:spcBef>
              <a:tabLst>
                <a:tab pos="3694429" algn="l"/>
              </a:tabLst>
            </a:pPr>
            <a:r>
              <a:rPr sz="24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2400" b="1" spc="5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/>
                <a:cs typeface="Times New Roman"/>
              </a:rPr>
              <a:t>"</a:t>
            </a:r>
            <a:r>
              <a:rPr sz="24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CC"/>
                </a:solidFill>
                <a:latin typeface="Times New Roman"/>
                <a:cs typeface="Times New Roman"/>
              </a:rPr>
              <a:t>Saisir</a:t>
            </a:r>
            <a:r>
              <a:rPr sz="24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/>
                <a:cs typeface="Times New Roman"/>
              </a:rPr>
              <a:t>une</a:t>
            </a:r>
            <a:r>
              <a:rPr sz="24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/>
                <a:cs typeface="Times New Roman"/>
              </a:rPr>
              <a:t>note</a:t>
            </a:r>
            <a:r>
              <a:rPr sz="24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/>
                <a:cs typeface="Times New Roman"/>
              </a:rPr>
              <a:t>:	"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695"/>
              </a:spcBef>
            </a:pPr>
            <a:r>
              <a:rPr sz="2400" b="1" dirty="0">
                <a:solidFill>
                  <a:srgbClr val="006500"/>
                </a:solidFill>
                <a:latin typeface="Times New Roman"/>
                <a:cs typeface="Times New Roman"/>
              </a:rPr>
              <a:t>cin</a:t>
            </a:r>
            <a:r>
              <a:rPr sz="2400" b="1" spc="-45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&gt;&gt;</a:t>
            </a:r>
            <a:r>
              <a:rPr sz="24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note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24200"/>
              </a:lnSpc>
            </a:pPr>
            <a:r>
              <a:rPr sz="24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2400" b="1" spc="-10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/>
                <a:cs typeface="Times New Roman"/>
              </a:rPr>
              <a:t>"</a:t>
            </a:r>
            <a:r>
              <a:rPr sz="2400" spc="-65" dirty="0">
                <a:solidFill>
                  <a:srgbClr val="0000CC"/>
                </a:solidFill>
                <a:latin typeface="Times New Roman"/>
                <a:cs typeface="Times New Roman"/>
              </a:rPr>
              <a:t> Voici</a:t>
            </a:r>
            <a:r>
              <a:rPr sz="24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24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/>
                <a:cs typeface="Times New Roman"/>
              </a:rPr>
              <a:t>notes</a:t>
            </a:r>
            <a:r>
              <a:rPr sz="24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/>
                <a:cs typeface="Times New Roman"/>
              </a:rPr>
              <a:t>saisies</a:t>
            </a:r>
            <a:r>
              <a:rPr sz="24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/>
                <a:cs typeface="Times New Roman"/>
              </a:rPr>
              <a:t>:</a:t>
            </a:r>
            <a:r>
              <a:rPr sz="24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/>
                <a:cs typeface="Times New Roman"/>
              </a:rPr>
              <a:t>"</a:t>
            </a:r>
            <a:r>
              <a:rPr sz="24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400" spc="-5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for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auto</a:t>
            </a:r>
            <a:r>
              <a:rPr sz="24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notes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710"/>
              </a:spcBef>
            </a:pPr>
            <a:r>
              <a:rPr sz="24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2400" b="1" spc="-10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/>
                <a:cs typeface="Times New Roman"/>
              </a:rPr>
              <a:t>"</a:t>
            </a:r>
            <a:r>
              <a:rPr sz="24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CC"/>
                </a:solidFill>
                <a:latin typeface="Times New Roman"/>
                <a:cs typeface="Times New Roman"/>
              </a:rPr>
              <a:t>"</a:t>
            </a:r>
            <a:r>
              <a:rPr sz="24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64293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80" dirty="0"/>
              <a:t>P</a:t>
            </a:r>
            <a:r>
              <a:rPr spc="-110" dirty="0"/>
              <a:t>a</a:t>
            </a:r>
            <a:r>
              <a:rPr spc="-275" dirty="0"/>
              <a:t>r</a:t>
            </a:r>
            <a:r>
              <a:rPr spc="-555" dirty="0"/>
              <a:t>c</a:t>
            </a:r>
            <a:r>
              <a:rPr spc="-295" dirty="0"/>
              <a:t>ou</a:t>
            </a:r>
            <a:r>
              <a:rPr spc="-275" dirty="0"/>
              <a:t>r</a:t>
            </a:r>
            <a:r>
              <a:rPr spc="-470" dirty="0"/>
              <a:t>s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14" dirty="0"/>
              <a:t>’</a:t>
            </a:r>
            <a:r>
              <a:rPr spc="-250" dirty="0"/>
              <a:t>u</a:t>
            </a:r>
            <a:r>
              <a:rPr spc="-290" dirty="0"/>
              <a:t>n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140" dirty="0"/>
              <a:t>t</a:t>
            </a:r>
            <a:r>
              <a:rPr spc="-235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0" dirty="0"/>
              <a:t>u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00" dirty="0"/>
              <a:t>y</a:t>
            </a:r>
            <a:r>
              <a:rPr spc="-295" dirty="0"/>
              <a:t>n</a:t>
            </a:r>
            <a:r>
              <a:rPr spc="-110" dirty="0"/>
              <a:t>a</a:t>
            </a:r>
            <a:r>
              <a:rPr spc="-350" dirty="0"/>
              <a:t>m</a:t>
            </a:r>
            <a:r>
              <a:rPr spc="-114" dirty="0"/>
              <a:t>i</a:t>
            </a:r>
            <a:r>
              <a:rPr spc="-26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272" y="1751784"/>
            <a:ext cx="8112759" cy="313817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Remarque:</a:t>
            </a:r>
            <a:r>
              <a:rPr sz="28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(la</a:t>
            </a:r>
            <a:r>
              <a:rPr sz="28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norme</a:t>
            </a:r>
            <a:r>
              <a:rPr sz="28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C++11)</a:t>
            </a:r>
            <a:endParaRPr sz="2800">
              <a:latin typeface="Times New Roman"/>
              <a:cs typeface="Times New Roman"/>
            </a:endParaRPr>
          </a:p>
          <a:p>
            <a:pPr marL="12700" marR="146050">
              <a:lnSpc>
                <a:spcPct val="100000"/>
              </a:lnSpc>
              <a:spcBef>
                <a:spcPts val="710"/>
              </a:spcBef>
            </a:pP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bien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c’est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bonne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idée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rendre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votre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élément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constant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vous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avez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l’intention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 </a:t>
            </a:r>
            <a:r>
              <a:rPr sz="2400" spc="-5" dirty="0">
                <a:latin typeface="Times New Roman"/>
                <a:cs typeface="Times New Roman"/>
              </a:rPr>
              <a:t>l’utiliser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lecture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seule: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array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spc="-5" dirty="0">
                <a:solidFill>
                  <a:srgbClr val="FF32CC"/>
                </a:solidFill>
                <a:latin typeface="Times New Roman"/>
                <a:cs typeface="Times New Roman"/>
              </a:rPr>
              <a:t>5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9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7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5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3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1</a:t>
            </a:r>
            <a:r>
              <a:rPr sz="2400" spc="-5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for</a:t>
            </a:r>
            <a:r>
              <a:rPr sz="24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auto </a:t>
            </a:r>
            <a:r>
              <a:rPr sz="2400" spc="-5" dirty="0">
                <a:solidFill>
                  <a:srgbClr val="FF32CC"/>
                </a:solidFill>
                <a:latin typeface="Times New Roman"/>
                <a:cs typeface="Times New Roman"/>
              </a:rPr>
              <a:t>&amp;</a:t>
            </a:r>
            <a:r>
              <a:rPr sz="2400" spc="-5" dirty="0">
                <a:latin typeface="Times New Roman"/>
                <a:cs typeface="Times New Roman"/>
              </a:rPr>
              <a:t>element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sz="2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array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element est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00B04F"/>
                </a:solidFill>
                <a:latin typeface="Times New Roman"/>
                <a:cs typeface="Times New Roman"/>
              </a:rPr>
              <a:t>une</a:t>
            </a:r>
            <a:r>
              <a:rPr sz="20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référence</a:t>
            </a:r>
            <a:r>
              <a:rPr sz="20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constante</a:t>
            </a:r>
            <a:r>
              <a:rPr sz="2000" spc="-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à</a:t>
            </a:r>
            <a:endParaRPr sz="2000">
              <a:latin typeface="Times New Roman"/>
              <a:cs typeface="Times New Roman"/>
            </a:endParaRPr>
          </a:p>
          <a:p>
            <a:pPr marL="4076700">
              <a:lnSpc>
                <a:spcPct val="100000"/>
              </a:lnSpc>
              <a:spcBef>
                <a:spcPts val="715"/>
              </a:spcBef>
            </a:pP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l'élément</a:t>
            </a:r>
            <a:r>
              <a:rPr sz="200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tableau</a:t>
            </a:r>
            <a:r>
              <a:rPr sz="20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itéré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4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std::cout</a:t>
            </a:r>
            <a:r>
              <a:rPr sz="2400" b="1" spc="-20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element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4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64293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80" dirty="0"/>
              <a:t>P</a:t>
            </a:r>
            <a:r>
              <a:rPr spc="-110" dirty="0"/>
              <a:t>a</a:t>
            </a:r>
            <a:r>
              <a:rPr spc="-275" dirty="0"/>
              <a:t>r</a:t>
            </a:r>
            <a:r>
              <a:rPr spc="-555" dirty="0"/>
              <a:t>c</a:t>
            </a:r>
            <a:r>
              <a:rPr spc="-295" dirty="0"/>
              <a:t>ou</a:t>
            </a:r>
            <a:r>
              <a:rPr spc="-275" dirty="0"/>
              <a:t>r</a:t>
            </a:r>
            <a:r>
              <a:rPr spc="-470" dirty="0"/>
              <a:t>s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14" dirty="0"/>
              <a:t>’</a:t>
            </a:r>
            <a:r>
              <a:rPr spc="-250" dirty="0"/>
              <a:t>u</a:t>
            </a:r>
            <a:r>
              <a:rPr spc="-290" dirty="0"/>
              <a:t>n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140" dirty="0"/>
              <a:t>t</a:t>
            </a:r>
            <a:r>
              <a:rPr spc="-235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0" dirty="0"/>
              <a:t>u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00" dirty="0"/>
              <a:t>y</a:t>
            </a:r>
            <a:r>
              <a:rPr spc="-295" dirty="0"/>
              <a:t>n</a:t>
            </a:r>
            <a:r>
              <a:rPr spc="-110" dirty="0"/>
              <a:t>a</a:t>
            </a:r>
            <a:r>
              <a:rPr spc="-350" dirty="0"/>
              <a:t>m</a:t>
            </a:r>
            <a:r>
              <a:rPr spc="-114" dirty="0"/>
              <a:t>i</a:t>
            </a:r>
            <a:r>
              <a:rPr spc="-26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8908" y="2003551"/>
            <a:ext cx="8976995" cy="1640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5285" indent="-363220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375285" algn="l"/>
                <a:tab pos="375920" algn="l"/>
              </a:tabLst>
            </a:pP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 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 certain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nombre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fonctions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prédéfinies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dans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</a:t>
            </a:r>
            <a:endParaRPr sz="2400">
              <a:latin typeface="Times New Roman"/>
              <a:cs typeface="Times New Roman"/>
            </a:endParaRPr>
          </a:p>
          <a:p>
            <a:pPr marL="375285">
              <a:lnSpc>
                <a:spcPct val="100000"/>
              </a:lnSpc>
            </a:pPr>
            <a:r>
              <a:rPr sz="2400" b="1" dirty="0">
                <a:solidFill>
                  <a:srgbClr val="006500"/>
                </a:solidFill>
                <a:latin typeface="Times New Roman"/>
                <a:cs typeface="Times New Roman"/>
              </a:rPr>
              <a:t>vector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75285" marR="5080" indent="-375285">
              <a:lnSpc>
                <a:spcPts val="3579"/>
              </a:lnSpc>
              <a:buClr>
                <a:srgbClr val="006FC0"/>
              </a:buClr>
              <a:buSzPct val="75000"/>
              <a:buFont typeface="Wingdings"/>
              <a:buChar char=""/>
              <a:tabLst>
                <a:tab pos="375285" algn="l"/>
                <a:tab pos="375920" algn="l"/>
              </a:tabLst>
            </a:pPr>
            <a:r>
              <a:rPr sz="2400" spc="-20" dirty="0">
                <a:latin typeface="Times New Roman"/>
                <a:cs typeface="Times New Roman"/>
              </a:rPr>
              <a:t>L’utilisation </a:t>
            </a:r>
            <a:r>
              <a:rPr sz="2400" dirty="0">
                <a:latin typeface="Times New Roman"/>
                <a:cs typeface="Times New Roman"/>
              </a:rPr>
              <a:t>d’une </a:t>
            </a:r>
            <a:r>
              <a:rPr sz="2400" spc="-5" dirty="0">
                <a:latin typeface="Times New Roman"/>
                <a:cs typeface="Times New Roman"/>
              </a:rPr>
              <a:t>fonction spécifique </a:t>
            </a:r>
            <a:r>
              <a:rPr sz="2400" dirty="0">
                <a:latin typeface="Times New Roman"/>
                <a:cs typeface="Times New Roman"/>
              </a:rPr>
              <a:t>se </a:t>
            </a:r>
            <a:r>
              <a:rPr sz="2400" spc="-5" dirty="0">
                <a:latin typeface="Times New Roman"/>
                <a:cs typeface="Times New Roman"/>
              </a:rPr>
              <a:t>fait </a:t>
            </a:r>
            <a:r>
              <a:rPr sz="2400" dirty="0">
                <a:latin typeface="Times New Roman"/>
                <a:cs typeface="Times New Roman"/>
              </a:rPr>
              <a:t>avec la syntaxe suivante: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6F2FA0"/>
                </a:solidFill>
                <a:latin typeface="Times New Roman"/>
                <a:cs typeface="Times New Roman"/>
              </a:rPr>
              <a:t>nom_de_tableau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400" spc="-5" dirty="0">
                <a:solidFill>
                  <a:srgbClr val="008AF2"/>
                </a:solidFill>
                <a:latin typeface="Times New Roman"/>
                <a:cs typeface="Times New Roman"/>
              </a:rPr>
              <a:t>nom_de_fonction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spc="-5" dirty="0">
                <a:latin typeface="Times New Roman"/>
                <a:cs typeface="Times New Roman"/>
              </a:rPr>
              <a:t>arg1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arg2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 ...);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40627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80" dirty="0"/>
              <a:t>F</a:t>
            </a:r>
            <a:r>
              <a:rPr spc="-295" dirty="0"/>
              <a:t>on</a:t>
            </a:r>
            <a:r>
              <a:rPr spc="-555" dirty="0"/>
              <a:t>c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5" dirty="0"/>
              <a:t>n</a:t>
            </a:r>
            <a:r>
              <a:rPr spc="-470" dirty="0"/>
              <a:t>s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475" dirty="0"/>
              <a:t>s</a:t>
            </a:r>
            <a:r>
              <a:rPr spc="-295" dirty="0"/>
              <a:t>p</a:t>
            </a:r>
            <a:r>
              <a:rPr spc="-280" dirty="0"/>
              <a:t>é</a:t>
            </a:r>
            <a:r>
              <a:rPr spc="-555" dirty="0"/>
              <a:t>c</a:t>
            </a:r>
            <a:r>
              <a:rPr spc="-70" dirty="0"/>
              <a:t>if</a:t>
            </a:r>
            <a:r>
              <a:rPr spc="-114" dirty="0"/>
              <a:t>i</a:t>
            </a:r>
            <a:r>
              <a:rPr spc="-26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  <a:r>
              <a:rPr spc="-470" dirty="0"/>
              <a:t>s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1100" y="1924972"/>
            <a:ext cx="8484870" cy="26142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17830">
              <a:lnSpc>
                <a:spcPct val="100000"/>
              </a:lnSpc>
              <a:spcBef>
                <a:spcPts val="700"/>
              </a:spcBef>
            </a:pP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Ajout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des cases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à la</a:t>
            </a:r>
            <a:r>
              <a:rPr sz="28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fin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 du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tableau</a:t>
            </a:r>
            <a:endParaRPr sz="2800">
              <a:latin typeface="Times New Roman"/>
              <a:cs typeface="Times New Roman"/>
            </a:endParaRPr>
          </a:p>
          <a:p>
            <a:pPr marL="527685" marR="5080" indent="-515620">
              <a:lnSpc>
                <a:spcPct val="100000"/>
              </a:lnSpc>
              <a:spcBef>
                <a:spcPts val="520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527685" algn="l"/>
                <a:tab pos="528320" algn="l"/>
              </a:tabLst>
            </a:pPr>
            <a:r>
              <a:rPr sz="2400" spc="-5" dirty="0">
                <a:latin typeface="Times New Roman"/>
                <a:cs typeface="Times New Roman"/>
              </a:rPr>
              <a:t>Pour </a:t>
            </a:r>
            <a:r>
              <a:rPr sz="2400" dirty="0">
                <a:latin typeface="Times New Roman"/>
                <a:cs typeface="Times New Roman"/>
              </a:rPr>
              <a:t>ajouter des </a:t>
            </a:r>
            <a:r>
              <a:rPr sz="2400" spc="-5" dirty="0">
                <a:latin typeface="Times New Roman"/>
                <a:cs typeface="Times New Roman"/>
              </a:rPr>
              <a:t>éléments </a:t>
            </a:r>
            <a:r>
              <a:rPr sz="2400" b="1" dirty="0">
                <a:latin typeface="Times New Roman"/>
                <a:cs typeface="Times New Roman"/>
              </a:rPr>
              <a:t>à la fin </a:t>
            </a:r>
            <a:r>
              <a:rPr sz="2400" b="1" spc="-5" dirty="0">
                <a:latin typeface="Times New Roman"/>
                <a:cs typeface="Times New Roman"/>
              </a:rPr>
              <a:t>d‘un tableau</a:t>
            </a:r>
            <a:r>
              <a:rPr sz="2400" spc="-5" dirty="0">
                <a:latin typeface="Times New Roman"/>
                <a:cs typeface="Times New Roman"/>
              </a:rPr>
              <a:t>. </a:t>
            </a:r>
            <a:r>
              <a:rPr sz="2400" dirty="0">
                <a:latin typeface="Times New Roman"/>
                <a:cs typeface="Times New Roman"/>
              </a:rPr>
              <a:t>Il </a:t>
            </a:r>
            <a:r>
              <a:rPr sz="2400" spc="-5" dirty="0">
                <a:latin typeface="Times New Roman"/>
                <a:cs typeface="Times New Roman"/>
              </a:rPr>
              <a:t>faut utiliser </a:t>
            </a:r>
            <a:r>
              <a:rPr sz="2400" dirty="0">
                <a:latin typeface="Times New Roman"/>
                <a:cs typeface="Times New Roman"/>
              </a:rPr>
              <a:t>la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fonction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8AF2"/>
                </a:solidFill>
                <a:latin typeface="Times New Roman"/>
                <a:cs typeface="Times New Roman"/>
              </a:rPr>
              <a:t>push_back().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06FC0"/>
              </a:buClr>
              <a:buFont typeface="Wingdings"/>
              <a:buChar char=""/>
            </a:pPr>
            <a:endParaRPr sz="3350">
              <a:latin typeface="Times New Roman"/>
              <a:cs typeface="Times New Roman"/>
            </a:endParaRPr>
          </a:p>
          <a:p>
            <a:pPr marL="603885" indent="-591820">
              <a:lnSpc>
                <a:spcPct val="100000"/>
              </a:lnSpc>
              <a:buClr>
                <a:srgbClr val="006FC0"/>
              </a:buClr>
              <a:buSzPct val="75000"/>
              <a:buFont typeface="Wingdings"/>
              <a:buChar char=""/>
              <a:tabLst>
                <a:tab pos="603885" algn="l"/>
                <a:tab pos="604520" algn="l"/>
              </a:tabLst>
            </a:pPr>
            <a:r>
              <a:rPr sz="2400" spc="-5" dirty="0">
                <a:latin typeface="Times New Roman"/>
                <a:cs typeface="Times New Roman"/>
              </a:rPr>
              <a:t>La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syntaxe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suivante:</a:t>
            </a:r>
            <a:endParaRPr sz="24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505"/>
              </a:spcBef>
            </a:pPr>
            <a:r>
              <a:rPr sz="2400" spc="-5" dirty="0">
                <a:solidFill>
                  <a:srgbClr val="6F2FA0"/>
                </a:solidFill>
                <a:latin typeface="Times New Roman"/>
                <a:cs typeface="Times New Roman"/>
              </a:rPr>
              <a:t>nom_du_tableau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8AF2"/>
                </a:solidFill>
                <a:latin typeface="Times New Roman"/>
                <a:cs typeface="Times New Roman"/>
              </a:rPr>
              <a:t>push_back(</a:t>
            </a:r>
            <a:r>
              <a:rPr sz="2400" spc="-5" dirty="0">
                <a:latin typeface="Times New Roman"/>
                <a:cs typeface="Times New Roman"/>
              </a:rPr>
              <a:t>valeur_a_ajouter</a:t>
            </a:r>
            <a:r>
              <a:rPr sz="2400" spc="-5" dirty="0">
                <a:solidFill>
                  <a:srgbClr val="008AF2"/>
                </a:solidFill>
                <a:latin typeface="Times New Roman"/>
                <a:cs typeface="Times New Roman"/>
              </a:rPr>
              <a:t>)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40627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80" dirty="0"/>
              <a:t>F</a:t>
            </a:r>
            <a:r>
              <a:rPr spc="-295" dirty="0"/>
              <a:t>on</a:t>
            </a:r>
            <a:r>
              <a:rPr spc="-555" dirty="0"/>
              <a:t>c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5" dirty="0"/>
              <a:t>n</a:t>
            </a:r>
            <a:r>
              <a:rPr spc="-470" dirty="0"/>
              <a:t>s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475" dirty="0"/>
              <a:t>s</a:t>
            </a:r>
            <a:r>
              <a:rPr spc="-295" dirty="0"/>
              <a:t>p</a:t>
            </a:r>
            <a:r>
              <a:rPr spc="-280" dirty="0"/>
              <a:t>é</a:t>
            </a:r>
            <a:r>
              <a:rPr spc="-555" dirty="0"/>
              <a:t>c</a:t>
            </a:r>
            <a:r>
              <a:rPr spc="-70" dirty="0"/>
              <a:t>if</a:t>
            </a:r>
            <a:r>
              <a:rPr spc="-114" dirty="0"/>
              <a:t>i</a:t>
            </a:r>
            <a:r>
              <a:rPr spc="-26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  <a:r>
              <a:rPr spc="-470" dirty="0"/>
              <a:t>s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2209" y="1853344"/>
            <a:ext cx="5176520" cy="9607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Ajout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des cases à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la fin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du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tableau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22209" y="2788411"/>
            <a:ext cx="2606675" cy="934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200"/>
              </a:lnSpc>
              <a:spcBef>
                <a:spcPts val="100"/>
              </a:spcBef>
            </a:pPr>
            <a:r>
              <a:rPr sz="2400" b="1" i="1" spc="-5" dirty="0">
                <a:latin typeface="Times New Roman"/>
                <a:cs typeface="Times New Roman"/>
              </a:rPr>
              <a:t>vector</a:t>
            </a:r>
            <a:r>
              <a:rPr sz="2400" b="1" spc="-5" dirty="0">
                <a:latin typeface="Times New Roman"/>
                <a:cs typeface="Times New Roman"/>
              </a:rPr>
              <a:t>&lt;</a:t>
            </a:r>
            <a:r>
              <a:rPr sz="2400" b="1" i="1" spc="-5" dirty="0">
                <a:latin typeface="Times New Roman"/>
                <a:cs typeface="Times New Roman"/>
              </a:rPr>
              <a:t>int</a:t>
            </a:r>
            <a:r>
              <a:rPr sz="2400" b="1" spc="-5" dirty="0">
                <a:latin typeface="Times New Roman"/>
                <a:cs typeface="Times New Roman"/>
              </a:rPr>
              <a:t>&gt;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tab(3,2)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400" b="1" spc="-5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tab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400" b="1" i="1" spc="-5" dirty="0">
                <a:latin typeface="Times New Roman"/>
                <a:cs typeface="Times New Roman"/>
              </a:rPr>
              <a:t>push_back</a:t>
            </a:r>
            <a:r>
              <a:rPr sz="2400" spc="-5" dirty="0">
                <a:latin typeface="Times New Roman"/>
                <a:cs typeface="Times New Roman"/>
              </a:rPr>
              <a:t>(5)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17907" y="2778352"/>
            <a:ext cx="4022090" cy="1341120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275"/>
              </a:spcBef>
            </a:pP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//Un</a:t>
            </a:r>
            <a:r>
              <a:rPr sz="2000" i="1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tableau</a:t>
            </a:r>
            <a:r>
              <a:rPr sz="2000" i="1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00" i="1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3</a:t>
            </a:r>
            <a:r>
              <a:rPr sz="20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entiers</a:t>
            </a:r>
            <a:r>
              <a:rPr sz="2000" i="1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valant</a:t>
            </a:r>
            <a:r>
              <a:rPr sz="2000" i="1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tous</a:t>
            </a:r>
            <a:r>
              <a:rPr sz="2000" i="1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  <a:spcBef>
                <a:spcPts val="1175"/>
              </a:spcBef>
            </a:pP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//On</a:t>
            </a:r>
            <a:r>
              <a:rPr sz="2000" i="1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ajoute</a:t>
            </a:r>
            <a:r>
              <a:rPr sz="2000" i="1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5" dirty="0">
                <a:solidFill>
                  <a:srgbClr val="00B04F"/>
                </a:solidFill>
                <a:latin typeface="Times New Roman"/>
                <a:cs typeface="Times New Roman"/>
              </a:rPr>
              <a:t>une</a:t>
            </a:r>
            <a:r>
              <a:rPr sz="2000" i="1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4ème</a:t>
            </a:r>
            <a:r>
              <a:rPr sz="2000" i="1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case</a:t>
            </a:r>
            <a:r>
              <a:rPr sz="2000" i="1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au</a:t>
            </a:r>
            <a:r>
              <a:rPr sz="2000" i="1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tableau.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0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//Cette</a:t>
            </a:r>
            <a:r>
              <a:rPr sz="2000" i="1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case</a:t>
            </a:r>
            <a:r>
              <a:rPr sz="2000" i="1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contient</a:t>
            </a:r>
            <a:r>
              <a:rPr sz="2000" i="1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0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valeur</a:t>
            </a:r>
            <a:r>
              <a:rPr sz="2000" i="1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10649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8235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40627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80" dirty="0"/>
              <a:t>F</a:t>
            </a:r>
            <a:r>
              <a:rPr spc="-295" dirty="0"/>
              <a:t>on</a:t>
            </a:r>
            <a:r>
              <a:rPr spc="-555" dirty="0"/>
              <a:t>c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5" dirty="0"/>
              <a:t>n</a:t>
            </a:r>
            <a:r>
              <a:rPr spc="-470" dirty="0"/>
              <a:t>s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475" dirty="0"/>
              <a:t>s</a:t>
            </a:r>
            <a:r>
              <a:rPr spc="-295" dirty="0"/>
              <a:t>p</a:t>
            </a:r>
            <a:r>
              <a:rPr spc="-280" dirty="0"/>
              <a:t>é</a:t>
            </a:r>
            <a:r>
              <a:rPr spc="-555" dirty="0"/>
              <a:t>c</a:t>
            </a:r>
            <a:r>
              <a:rPr spc="-70" dirty="0"/>
              <a:t>if</a:t>
            </a:r>
            <a:r>
              <a:rPr spc="-114" dirty="0"/>
              <a:t>i</a:t>
            </a:r>
            <a:r>
              <a:rPr spc="-26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  <a:r>
              <a:rPr spc="-470" dirty="0"/>
              <a:t>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2209" y="1872487"/>
            <a:ext cx="8360409" cy="1278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199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Donc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bien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sûr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avec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cette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technique,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peut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ajouter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plusieurs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cases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suite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 autres.</a:t>
            </a:r>
            <a:endParaRPr sz="24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  <a:spcBef>
                <a:spcPts val="405"/>
              </a:spcBef>
            </a:pP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98409" y="3126738"/>
            <a:ext cx="2757805" cy="861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199"/>
              </a:lnSpc>
              <a:spcBef>
                <a:spcPts val="100"/>
              </a:spcBef>
            </a:pPr>
            <a:r>
              <a:rPr sz="2400" b="1" i="1" spc="-5" dirty="0">
                <a:latin typeface="Times New Roman"/>
                <a:cs typeface="Times New Roman"/>
              </a:rPr>
              <a:t>vector&lt;int</a:t>
            </a:r>
            <a:r>
              <a:rPr sz="2400" spc="-5" dirty="0">
                <a:latin typeface="Times New Roman"/>
                <a:cs typeface="Times New Roman"/>
              </a:rPr>
              <a:t>&gt;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tab(3,12)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400" b="1" spc="-5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tab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400" b="1" i="1" spc="-5" dirty="0">
                <a:latin typeface="Times New Roman"/>
                <a:cs typeface="Times New Roman"/>
              </a:rPr>
              <a:t>push_back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spc="-5" dirty="0">
                <a:latin typeface="Times New Roman"/>
                <a:cs typeface="Times New Roman"/>
              </a:rPr>
              <a:t>5</a:t>
            </a:r>
            <a:r>
              <a:rPr sz="2400" b="1" spc="-5" dirty="0">
                <a:latin typeface="Times New Roman"/>
                <a:cs typeface="Times New Roman"/>
              </a:rPr>
              <a:t>)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00915" y="3116679"/>
            <a:ext cx="4389120" cy="1235710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985"/>
              </a:spcBef>
            </a:pP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//Un</a:t>
            </a:r>
            <a:r>
              <a:rPr sz="2000" i="1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tableau</a:t>
            </a:r>
            <a:r>
              <a:rPr sz="2000" i="1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00" i="1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3</a:t>
            </a:r>
            <a:r>
              <a:rPr sz="20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entiers</a:t>
            </a:r>
            <a:r>
              <a:rPr sz="2000" i="1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valant</a:t>
            </a:r>
            <a:r>
              <a:rPr sz="2000" i="1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tous</a:t>
            </a:r>
            <a:r>
              <a:rPr sz="2000" i="1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12</a:t>
            </a:r>
            <a:endParaRPr sz="20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  <a:spcBef>
                <a:spcPts val="890"/>
              </a:spcBef>
            </a:pP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//On</a:t>
            </a:r>
            <a:r>
              <a:rPr sz="2000" i="1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ajoute</a:t>
            </a:r>
            <a:r>
              <a:rPr sz="2000" i="1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5" dirty="0">
                <a:solidFill>
                  <a:srgbClr val="00B04F"/>
                </a:solidFill>
                <a:latin typeface="Times New Roman"/>
                <a:cs typeface="Times New Roman"/>
              </a:rPr>
              <a:t>une</a:t>
            </a:r>
            <a:r>
              <a:rPr sz="2000" i="1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4ème</a:t>
            </a:r>
            <a:r>
              <a:rPr sz="2000" i="1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case</a:t>
            </a:r>
            <a:r>
              <a:rPr sz="2000" i="1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au</a:t>
            </a:r>
            <a:r>
              <a:rPr sz="2000" i="1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tableau.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0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//Cette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 case</a:t>
            </a:r>
            <a:r>
              <a:rPr sz="2000" i="1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contient</a:t>
            </a:r>
            <a:r>
              <a:rPr sz="2000" i="1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0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valeur</a:t>
            </a:r>
            <a:r>
              <a:rPr sz="2000" i="1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98409" y="4326126"/>
            <a:ext cx="2288540" cy="861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199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tab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400" b="1" i="1" spc="-5" dirty="0">
                <a:latin typeface="Times New Roman"/>
                <a:cs typeface="Times New Roman"/>
              </a:rPr>
              <a:t>push_back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spc="-5" dirty="0">
                <a:latin typeface="Times New Roman"/>
                <a:cs typeface="Times New Roman"/>
              </a:rPr>
              <a:t>3)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400" b="1" spc="-5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tab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400" b="1" i="1" spc="-5" dirty="0">
                <a:latin typeface="Times New Roman"/>
                <a:cs typeface="Times New Roman"/>
              </a:rPr>
              <a:t>push_back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spc="-5" dirty="0">
                <a:latin typeface="Times New Roman"/>
                <a:cs typeface="Times New Roman"/>
              </a:rPr>
              <a:t>4</a:t>
            </a:r>
            <a:r>
              <a:rPr sz="2400" b="1" spc="-5" dirty="0">
                <a:latin typeface="Times New Roman"/>
                <a:cs typeface="Times New Roman"/>
              </a:rPr>
              <a:t>)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87100" y="4316067"/>
            <a:ext cx="5276850" cy="861060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985"/>
              </a:spcBef>
            </a:pP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//On</a:t>
            </a:r>
            <a:r>
              <a:rPr sz="20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ajoute</a:t>
            </a:r>
            <a:r>
              <a:rPr sz="2000" i="1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5" dirty="0">
                <a:solidFill>
                  <a:srgbClr val="00B04F"/>
                </a:solidFill>
                <a:latin typeface="Times New Roman"/>
                <a:cs typeface="Times New Roman"/>
              </a:rPr>
              <a:t>une</a:t>
            </a:r>
            <a:r>
              <a:rPr sz="2000" i="1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5ème</a:t>
            </a:r>
            <a:r>
              <a:rPr sz="20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case</a:t>
            </a:r>
            <a:r>
              <a:rPr sz="20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5" dirty="0">
                <a:solidFill>
                  <a:srgbClr val="00B04F"/>
                </a:solidFill>
                <a:latin typeface="Times New Roman"/>
                <a:cs typeface="Times New Roman"/>
              </a:rPr>
              <a:t>qui</a:t>
            </a:r>
            <a:r>
              <a:rPr sz="2000" i="1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contient</a:t>
            </a:r>
            <a:r>
              <a:rPr sz="2000" i="1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le</a:t>
            </a:r>
            <a:r>
              <a:rPr sz="20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15" dirty="0">
                <a:solidFill>
                  <a:srgbClr val="00B04F"/>
                </a:solidFill>
                <a:latin typeface="Times New Roman"/>
                <a:cs typeface="Times New Roman"/>
              </a:rPr>
              <a:t>chiffre</a:t>
            </a:r>
            <a:r>
              <a:rPr sz="2000" i="1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5" dirty="0">
                <a:solidFill>
                  <a:srgbClr val="00B04F"/>
                </a:solidFill>
                <a:latin typeface="Times New Roman"/>
                <a:cs typeface="Times New Roman"/>
              </a:rPr>
              <a:t>3.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//Et</a:t>
            </a:r>
            <a:r>
              <a:rPr sz="20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15" dirty="0">
                <a:solidFill>
                  <a:srgbClr val="00B04F"/>
                </a:solidFill>
                <a:latin typeface="Times New Roman"/>
                <a:cs typeface="Times New Roman"/>
              </a:rPr>
              <a:t>encore</a:t>
            </a:r>
            <a:r>
              <a:rPr sz="2000" i="1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5" dirty="0">
                <a:solidFill>
                  <a:srgbClr val="00B04F"/>
                </a:solidFill>
                <a:latin typeface="Times New Roman"/>
                <a:cs typeface="Times New Roman"/>
              </a:rPr>
              <a:t>une</a:t>
            </a:r>
            <a:r>
              <a:rPr sz="20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avec</a:t>
            </a:r>
            <a:r>
              <a:rPr sz="2000" i="1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le </a:t>
            </a:r>
            <a:r>
              <a:rPr sz="20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nombre</a:t>
            </a:r>
            <a:r>
              <a:rPr sz="2000" i="1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4</a:t>
            </a:r>
            <a:r>
              <a:rPr sz="20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cette</a:t>
            </a:r>
            <a:r>
              <a:rPr sz="20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fois.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98409" y="5220713"/>
            <a:ext cx="62731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//Le</a:t>
            </a:r>
            <a:r>
              <a:rPr sz="20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tableau</a:t>
            </a:r>
            <a:r>
              <a:rPr sz="2000" i="1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contient</a:t>
            </a:r>
            <a:r>
              <a:rPr sz="2000" i="1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maintenant</a:t>
            </a:r>
            <a:r>
              <a:rPr sz="2000" i="1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les</a:t>
            </a:r>
            <a:r>
              <a:rPr sz="20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 nombres</a:t>
            </a:r>
            <a:r>
              <a:rPr sz="2000" i="1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: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12</a:t>
            </a:r>
            <a:r>
              <a:rPr sz="20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12</a:t>
            </a:r>
            <a:r>
              <a:rPr sz="2000" i="1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12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5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3 4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66281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A</a:t>
            </a:r>
            <a:r>
              <a:rPr spc="-114" dirty="0"/>
              <a:t>j</a:t>
            </a:r>
            <a:r>
              <a:rPr spc="-250" dirty="0"/>
              <a:t>o</a:t>
            </a:r>
            <a:r>
              <a:rPr spc="-295" dirty="0"/>
              <a:t>u</a:t>
            </a:r>
            <a:r>
              <a:rPr spc="-265" dirty="0"/>
              <a:t>t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555" dirty="0"/>
              <a:t>c</a:t>
            </a:r>
            <a:r>
              <a:rPr spc="-110" dirty="0"/>
              <a:t>a</a:t>
            </a:r>
            <a:r>
              <a:rPr spc="-475" dirty="0"/>
              <a:t>s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105" dirty="0"/>
              <a:t>à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85" dirty="0"/>
              <a:t>la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75" dirty="0"/>
              <a:t>f</a:t>
            </a:r>
            <a:r>
              <a:rPr spc="-180" dirty="0"/>
              <a:t>in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290" dirty="0"/>
              <a:t>u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140" dirty="0"/>
              <a:t>t</a:t>
            </a:r>
            <a:r>
              <a:rPr spc="-235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0" dirty="0"/>
              <a:t>u</a:t>
            </a:r>
          </a:p>
        </p:txBody>
      </p:sp>
      <p:sp>
        <p:nvSpPr>
          <p:cNvPr id="10" name="object 10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9220" y="1808172"/>
            <a:ext cx="8707755" cy="237744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2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Supression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 de</a:t>
            </a:r>
            <a:r>
              <a:rPr sz="2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la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dernière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case</a:t>
            </a:r>
            <a:r>
              <a:rPr sz="2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du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tableau</a:t>
            </a:r>
            <a:endParaRPr sz="2800">
              <a:latin typeface="Times New Roman"/>
              <a:cs typeface="Times New Roman"/>
            </a:endParaRPr>
          </a:p>
          <a:p>
            <a:pPr marL="332105" marR="5080" indent="-332105">
              <a:lnSpc>
                <a:spcPct val="124600"/>
              </a:lnSpc>
              <a:spcBef>
                <a:spcPts val="5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400" spc="-5" dirty="0">
                <a:latin typeface="Times New Roman"/>
                <a:cs typeface="Times New Roman"/>
              </a:rPr>
              <a:t>Pour supprimer </a:t>
            </a:r>
            <a:r>
              <a:rPr sz="2400" b="1" dirty="0">
                <a:latin typeface="Times New Roman"/>
                <a:cs typeface="Times New Roman"/>
              </a:rPr>
              <a:t>la </a:t>
            </a:r>
            <a:r>
              <a:rPr sz="2400" b="1" spc="-10" dirty="0">
                <a:latin typeface="Times New Roman"/>
                <a:cs typeface="Times New Roman"/>
              </a:rPr>
              <a:t>dernière </a:t>
            </a:r>
            <a:r>
              <a:rPr sz="2400" b="1" dirty="0">
                <a:latin typeface="Times New Roman"/>
                <a:cs typeface="Times New Roman"/>
              </a:rPr>
              <a:t>case </a:t>
            </a:r>
            <a:r>
              <a:rPr sz="2400" b="1" spc="-5" dirty="0">
                <a:latin typeface="Times New Roman"/>
                <a:cs typeface="Times New Roman"/>
              </a:rPr>
              <a:t>d'un tableau</a:t>
            </a:r>
            <a:r>
              <a:rPr sz="2400" spc="-5" dirty="0">
                <a:latin typeface="Times New Roman"/>
                <a:cs typeface="Times New Roman"/>
              </a:rPr>
              <a:t>, </a:t>
            </a:r>
            <a:r>
              <a:rPr sz="2400" dirty="0">
                <a:latin typeface="Times New Roman"/>
                <a:cs typeface="Times New Roman"/>
              </a:rPr>
              <a:t>on utilise la </a:t>
            </a:r>
            <a:r>
              <a:rPr sz="2400" spc="-5" dirty="0">
                <a:latin typeface="Times New Roman"/>
                <a:cs typeface="Times New Roman"/>
              </a:rPr>
              <a:t>fonction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8AF2"/>
                </a:solidFill>
                <a:latin typeface="Times New Roman"/>
                <a:cs typeface="Times New Roman"/>
              </a:rPr>
              <a:t>pop_back()</a:t>
            </a:r>
            <a:r>
              <a:rPr sz="2400" spc="-25" dirty="0">
                <a:solidFill>
                  <a:srgbClr val="008AF2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 la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même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manière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8AF2"/>
                </a:solidFill>
                <a:latin typeface="Times New Roman"/>
                <a:cs typeface="Times New Roman"/>
              </a:rPr>
              <a:t>push_back().</a:t>
            </a:r>
            <a:endParaRPr sz="24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n'y</a:t>
            </a:r>
            <a:r>
              <a:rPr sz="2400" dirty="0">
                <a:latin typeface="Times New Roman"/>
                <a:cs typeface="Times New Roman"/>
              </a:rPr>
              <a:t> 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rien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mettre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entre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parenthèses.</a:t>
            </a:r>
            <a:endParaRPr sz="24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  <a:spcBef>
                <a:spcPts val="695"/>
              </a:spcBef>
            </a:pP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50225" y="4161534"/>
            <a:ext cx="2757805" cy="1388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200"/>
              </a:lnSpc>
              <a:spcBef>
                <a:spcPts val="100"/>
              </a:spcBef>
            </a:pPr>
            <a:r>
              <a:rPr sz="2400" b="1" i="1" spc="-5" dirty="0">
                <a:latin typeface="Times New Roman"/>
                <a:cs typeface="Times New Roman"/>
              </a:rPr>
              <a:t>vector&lt;int</a:t>
            </a:r>
            <a:r>
              <a:rPr sz="2400" spc="-5" dirty="0">
                <a:latin typeface="Times New Roman"/>
                <a:cs typeface="Times New Roman"/>
              </a:rPr>
              <a:t>&gt;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tab(3,12)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400" b="1" spc="-5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400" b="1" i="1" dirty="0">
                <a:latin typeface="Times New Roman"/>
                <a:cs typeface="Times New Roman"/>
              </a:rPr>
              <a:t>pop_back</a:t>
            </a:r>
            <a:r>
              <a:rPr sz="2400" dirty="0">
                <a:latin typeface="Times New Roman"/>
                <a:cs typeface="Times New Roman"/>
              </a:rPr>
              <a:t>()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4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400" b="1" i="1" dirty="0">
                <a:latin typeface="Times New Roman"/>
                <a:cs typeface="Times New Roman"/>
              </a:rPr>
              <a:t>pop_back</a:t>
            </a:r>
            <a:r>
              <a:rPr sz="2400" dirty="0">
                <a:latin typeface="Times New Roman"/>
                <a:cs typeface="Times New Roman"/>
              </a:rPr>
              <a:t>()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1791" y="4151476"/>
            <a:ext cx="4442460" cy="1388110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407034">
              <a:lnSpc>
                <a:spcPct val="100000"/>
              </a:lnSpc>
              <a:spcBef>
                <a:spcPts val="1275"/>
              </a:spcBef>
            </a:pP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//Un</a:t>
            </a:r>
            <a:r>
              <a:rPr sz="2000" i="1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tableau</a:t>
            </a:r>
            <a:r>
              <a:rPr sz="2000" i="1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00" i="1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3</a:t>
            </a:r>
            <a:r>
              <a:rPr sz="20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entiers</a:t>
            </a:r>
            <a:r>
              <a:rPr sz="2000" i="1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valant</a:t>
            </a:r>
            <a:r>
              <a:rPr sz="2000" i="1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tous</a:t>
            </a:r>
            <a:r>
              <a:rPr sz="2000" i="1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12</a:t>
            </a:r>
            <a:endParaRPr sz="200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  <a:spcBef>
                <a:spcPts val="1175"/>
              </a:spcBef>
            </a:pP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//Plus</a:t>
            </a:r>
            <a:r>
              <a:rPr sz="2000" i="1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5" dirty="0">
                <a:solidFill>
                  <a:srgbClr val="00B04F"/>
                </a:solidFill>
                <a:latin typeface="Times New Roman"/>
                <a:cs typeface="Times New Roman"/>
              </a:rPr>
              <a:t>que</a:t>
            </a:r>
            <a:r>
              <a:rPr sz="2000" i="1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2</a:t>
            </a:r>
            <a:r>
              <a:rPr sz="2000" i="1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cases.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//Plus</a:t>
            </a:r>
            <a:r>
              <a:rPr sz="2000" i="1" spc="-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5" dirty="0">
                <a:solidFill>
                  <a:srgbClr val="00B04F"/>
                </a:solidFill>
                <a:latin typeface="Times New Roman"/>
                <a:cs typeface="Times New Roman"/>
              </a:rPr>
              <a:t>qu'une</a:t>
            </a:r>
            <a:r>
              <a:rPr sz="2000" i="1" spc="-6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case.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40627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80" dirty="0"/>
              <a:t>F</a:t>
            </a:r>
            <a:r>
              <a:rPr spc="-295" dirty="0"/>
              <a:t>on</a:t>
            </a:r>
            <a:r>
              <a:rPr spc="-555" dirty="0"/>
              <a:t>c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5" dirty="0"/>
              <a:t>n</a:t>
            </a:r>
            <a:r>
              <a:rPr spc="-470" dirty="0"/>
              <a:t>s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475" dirty="0"/>
              <a:t>s</a:t>
            </a:r>
            <a:r>
              <a:rPr spc="-295" dirty="0"/>
              <a:t>p</a:t>
            </a:r>
            <a:r>
              <a:rPr spc="-280" dirty="0"/>
              <a:t>é</a:t>
            </a:r>
            <a:r>
              <a:rPr spc="-555" dirty="0"/>
              <a:t>c</a:t>
            </a:r>
            <a:r>
              <a:rPr spc="-70" dirty="0"/>
              <a:t>if</a:t>
            </a:r>
            <a:r>
              <a:rPr spc="-114" dirty="0"/>
              <a:t>i</a:t>
            </a:r>
            <a:r>
              <a:rPr spc="-26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  <a:r>
              <a:rPr spc="-470" dirty="0"/>
              <a:t>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1016" y="1803601"/>
            <a:ext cx="8590915" cy="265493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La</a:t>
            </a:r>
            <a:r>
              <a:rPr sz="2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taille</a:t>
            </a:r>
            <a:r>
              <a:rPr sz="28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d'un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tableau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dynamique</a:t>
            </a:r>
            <a:endParaRPr sz="2800">
              <a:latin typeface="Times New Roman"/>
              <a:cs typeface="Times New Roman"/>
            </a:endParaRPr>
          </a:p>
          <a:p>
            <a:pPr marL="332740" marR="344805" indent="-320040">
              <a:lnSpc>
                <a:spcPct val="100000"/>
              </a:lnSpc>
              <a:spcBef>
                <a:spcPts val="710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400" spc="-10" dirty="0">
                <a:latin typeface="Times New Roman"/>
                <a:cs typeface="Times New Roman"/>
              </a:rPr>
              <a:t>Comme </a:t>
            </a:r>
            <a:r>
              <a:rPr sz="2400" dirty="0">
                <a:latin typeface="Times New Roman"/>
                <a:cs typeface="Times New Roman"/>
              </a:rPr>
              <a:t>la </a:t>
            </a:r>
            <a:r>
              <a:rPr sz="2400" spc="-5" dirty="0">
                <a:latin typeface="Times New Roman"/>
                <a:cs typeface="Times New Roman"/>
              </a:rPr>
              <a:t>taille </a:t>
            </a:r>
            <a:r>
              <a:rPr sz="2400" dirty="0">
                <a:latin typeface="Times New Roman"/>
                <a:cs typeface="Times New Roman"/>
              </a:rPr>
              <a:t>peut </a:t>
            </a:r>
            <a:r>
              <a:rPr sz="2400" spc="-15" dirty="0">
                <a:latin typeface="Times New Roman"/>
                <a:cs typeface="Times New Roman"/>
              </a:rPr>
              <a:t>changer, </a:t>
            </a:r>
            <a:r>
              <a:rPr sz="2400" dirty="0">
                <a:latin typeface="Times New Roman"/>
                <a:cs typeface="Times New Roman"/>
              </a:rPr>
              <a:t>il y a une </a:t>
            </a:r>
            <a:r>
              <a:rPr sz="2400" spc="-5" dirty="0">
                <a:latin typeface="Times New Roman"/>
                <a:cs typeface="Times New Roman"/>
              </a:rPr>
              <a:t>fonction </a:t>
            </a:r>
            <a:r>
              <a:rPr sz="2400" dirty="0">
                <a:latin typeface="Times New Roman"/>
                <a:cs typeface="Times New Roman"/>
              </a:rPr>
              <a:t>pour </a:t>
            </a:r>
            <a:r>
              <a:rPr sz="2400" spc="-5" dirty="0">
                <a:latin typeface="Times New Roman"/>
                <a:cs typeface="Times New Roman"/>
              </a:rPr>
              <a:t>calculer </a:t>
            </a:r>
            <a:r>
              <a:rPr sz="2400" dirty="0">
                <a:latin typeface="Times New Roman"/>
                <a:cs typeface="Times New Roman"/>
              </a:rPr>
              <a:t>la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taille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exacte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d’un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 savoir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fonction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8AF2"/>
                </a:solidFill>
                <a:latin typeface="Times New Roman"/>
                <a:cs typeface="Times New Roman"/>
              </a:rPr>
              <a:t>size().</a:t>
            </a:r>
            <a:endParaRPr sz="2400">
              <a:latin typeface="Times New Roman"/>
              <a:cs typeface="Times New Roman"/>
            </a:endParaRPr>
          </a:p>
          <a:p>
            <a:pPr marL="332740" marR="5080" indent="-320040">
              <a:lnSpc>
                <a:spcPct val="100000"/>
              </a:lnSpc>
              <a:spcBef>
                <a:spcPts val="710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105" algn="l"/>
                <a:tab pos="332740" algn="l"/>
                <a:tab pos="772795" algn="l"/>
              </a:tabLst>
            </a:pPr>
            <a:r>
              <a:rPr sz="2400" spc="-5" dirty="0">
                <a:solidFill>
                  <a:srgbClr val="6F2FA0"/>
                </a:solidFill>
                <a:latin typeface="Times New Roman"/>
                <a:cs typeface="Times New Roman"/>
              </a:rPr>
              <a:t>nom_du_tableau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400" spc="-5" dirty="0">
                <a:solidFill>
                  <a:srgbClr val="008AF2"/>
                </a:solidFill>
                <a:latin typeface="Times New Roman"/>
                <a:cs typeface="Times New Roman"/>
              </a:rPr>
              <a:t>size()</a:t>
            </a:r>
            <a:r>
              <a:rPr sz="2400" spc="-40" dirty="0">
                <a:solidFill>
                  <a:srgbClr val="008AF2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permet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récupèrer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entier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correspondant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	</a:t>
            </a:r>
            <a:r>
              <a:rPr sz="2400" spc="-5" dirty="0">
                <a:latin typeface="Times New Roman"/>
                <a:cs typeface="Times New Roman"/>
              </a:rPr>
              <a:t>nombre d'éléments</a:t>
            </a:r>
            <a:r>
              <a:rPr sz="2400" dirty="0">
                <a:latin typeface="Times New Roman"/>
                <a:cs typeface="Times New Roman"/>
              </a:rPr>
              <a:t> de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tableau.</a:t>
            </a:r>
            <a:endParaRPr sz="2400">
              <a:latin typeface="Times New Roman"/>
              <a:cs typeface="Times New Roman"/>
            </a:endParaRPr>
          </a:p>
          <a:p>
            <a:pPr marL="774700">
              <a:lnSpc>
                <a:spcPct val="100000"/>
              </a:lnSpc>
              <a:spcBef>
                <a:spcPts val="695"/>
              </a:spcBef>
            </a:pP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10829" y="4431282"/>
            <a:ext cx="3696335" cy="93726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805"/>
              </a:spcBef>
            </a:pPr>
            <a:r>
              <a:rPr sz="2400" b="1" i="1" spc="-5" dirty="0">
                <a:latin typeface="Times New Roman"/>
                <a:cs typeface="Times New Roman"/>
              </a:rPr>
              <a:t>vector</a:t>
            </a:r>
            <a:r>
              <a:rPr sz="2400" b="1" spc="-5" dirty="0">
                <a:latin typeface="Times New Roman"/>
                <a:cs typeface="Times New Roman"/>
              </a:rPr>
              <a:t>&lt;</a:t>
            </a:r>
            <a:r>
              <a:rPr sz="2400" b="1" i="1" spc="-5" dirty="0">
                <a:latin typeface="Times New Roman"/>
                <a:cs typeface="Times New Roman"/>
              </a:rPr>
              <a:t>int</a:t>
            </a:r>
            <a:r>
              <a:rPr sz="2400" b="1" spc="-5" dirty="0">
                <a:latin typeface="Times New Roman"/>
                <a:cs typeface="Times New Roman"/>
              </a:rPr>
              <a:t>&gt;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tab(5,8);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400" b="1" i="1" spc="-5" dirty="0">
                <a:latin typeface="Times New Roman"/>
                <a:cs typeface="Times New Roman"/>
              </a:rPr>
              <a:t>int</a:t>
            </a:r>
            <a:r>
              <a:rPr sz="2400" b="1" i="1" spc="-30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const</a:t>
            </a:r>
            <a:r>
              <a:rPr sz="2400" b="1" i="1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tailleTab=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</a:t>
            </a:r>
            <a:r>
              <a:rPr sz="2400" b="1" i="1" dirty="0">
                <a:latin typeface="Times New Roman"/>
                <a:cs typeface="Times New Roman"/>
              </a:rPr>
              <a:t>.size</a:t>
            </a:r>
            <a:r>
              <a:rPr sz="2400" b="1" dirty="0">
                <a:latin typeface="Times New Roman"/>
                <a:cs typeface="Times New Roman"/>
              </a:rPr>
              <a:t>();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59511" y="4421223"/>
            <a:ext cx="3991610" cy="134239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285"/>
              </a:spcBef>
            </a:pP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//Un</a:t>
            </a:r>
            <a:r>
              <a:rPr sz="20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tableau</a:t>
            </a:r>
            <a:r>
              <a:rPr sz="2000" i="1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00" i="1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5</a:t>
            </a:r>
            <a:r>
              <a:rPr sz="20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entiers</a:t>
            </a:r>
            <a:r>
              <a:rPr sz="2000" i="1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valant</a:t>
            </a:r>
            <a:r>
              <a:rPr sz="2000" i="1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tous</a:t>
            </a:r>
            <a:r>
              <a:rPr sz="2000" i="1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8</a:t>
            </a:r>
            <a:endParaRPr sz="2000">
              <a:latin typeface="Times New Roman"/>
              <a:cs typeface="Times New Roman"/>
            </a:endParaRPr>
          </a:p>
          <a:p>
            <a:pPr marL="34925">
              <a:lnSpc>
                <a:spcPct val="100000"/>
              </a:lnSpc>
              <a:spcBef>
                <a:spcPts val="1190"/>
              </a:spcBef>
            </a:pP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//Une</a:t>
            </a:r>
            <a:r>
              <a:rPr sz="2000" i="1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variable</a:t>
            </a:r>
            <a:r>
              <a:rPr sz="2000" i="1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5" dirty="0">
                <a:solidFill>
                  <a:srgbClr val="00B04F"/>
                </a:solidFill>
                <a:latin typeface="Times New Roman"/>
                <a:cs typeface="Times New Roman"/>
              </a:rPr>
              <a:t>pour</a:t>
            </a:r>
            <a:r>
              <a:rPr sz="2000" i="1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contenir</a:t>
            </a:r>
            <a:r>
              <a:rPr sz="2000" i="1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la taille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0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//du</a:t>
            </a:r>
            <a:r>
              <a:rPr sz="2000" i="1" spc="-5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B04F"/>
                </a:solidFill>
                <a:latin typeface="Times New Roman"/>
                <a:cs typeface="Times New Roman"/>
              </a:rPr>
              <a:t>tableau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229240" y="734059"/>
            <a:ext cx="40627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80" dirty="0"/>
              <a:t>F</a:t>
            </a:r>
            <a:r>
              <a:rPr spc="-295" dirty="0"/>
              <a:t>on</a:t>
            </a:r>
            <a:r>
              <a:rPr spc="-555" dirty="0"/>
              <a:t>c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5" dirty="0"/>
              <a:t>n</a:t>
            </a:r>
            <a:r>
              <a:rPr spc="-470" dirty="0"/>
              <a:t>s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475" dirty="0"/>
              <a:t>s</a:t>
            </a:r>
            <a:r>
              <a:rPr spc="-295" dirty="0"/>
              <a:t>p</a:t>
            </a:r>
            <a:r>
              <a:rPr spc="-280" dirty="0"/>
              <a:t>é</a:t>
            </a:r>
            <a:r>
              <a:rPr spc="-555" dirty="0"/>
              <a:t>c</a:t>
            </a:r>
            <a:r>
              <a:rPr spc="-70" dirty="0"/>
              <a:t>if</a:t>
            </a:r>
            <a:r>
              <a:rPr spc="-114" dirty="0"/>
              <a:t>i</a:t>
            </a:r>
            <a:r>
              <a:rPr spc="-26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  <a:r>
              <a:rPr spc="-470" dirty="0"/>
              <a:t>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4148" y="1796529"/>
            <a:ext cx="8869680" cy="1444625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150"/>
              </a:spcBef>
            </a:pPr>
            <a:r>
              <a:rPr sz="28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Exercice:</a:t>
            </a:r>
            <a:endParaRPr sz="2800">
              <a:latin typeface="Times New Roman"/>
              <a:cs typeface="Times New Roman"/>
            </a:endParaRPr>
          </a:p>
          <a:p>
            <a:pPr marL="76200" marR="5080" indent="-64135">
              <a:lnSpc>
                <a:spcPct val="103299"/>
              </a:lnSpc>
              <a:spcBef>
                <a:spcPts val="810"/>
              </a:spcBef>
            </a:pPr>
            <a:r>
              <a:rPr sz="2400" spc="-5" dirty="0">
                <a:latin typeface="Times New Roman"/>
                <a:cs typeface="Times New Roman"/>
              </a:rPr>
              <a:t>Ecrire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5" dirty="0">
                <a:latin typeface="Times New Roman"/>
                <a:cs typeface="Times New Roman"/>
              </a:rPr>
              <a:t> programme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utilisant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classe</a:t>
            </a:r>
            <a:r>
              <a:rPr sz="2400" b="1" i="1" spc="-3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vector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permet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calculer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moyenne</a:t>
            </a:r>
            <a:r>
              <a:rPr sz="2400" dirty="0">
                <a:latin typeface="Times New Roman"/>
                <a:cs typeface="Times New Roman"/>
              </a:rPr>
              <a:t> des notes.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38112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80" dirty="0"/>
              <a:t>T</a:t>
            </a:r>
            <a:r>
              <a:rPr spc="-110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0" dirty="0"/>
              <a:t>u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00" dirty="0"/>
              <a:t>y</a:t>
            </a:r>
            <a:r>
              <a:rPr spc="-295" dirty="0"/>
              <a:t>n</a:t>
            </a:r>
            <a:r>
              <a:rPr spc="-110" dirty="0"/>
              <a:t>a</a:t>
            </a:r>
            <a:r>
              <a:rPr spc="-350" dirty="0"/>
              <a:t>m</a:t>
            </a:r>
            <a:r>
              <a:rPr spc="-114" dirty="0"/>
              <a:t>i</a:t>
            </a:r>
            <a:r>
              <a:rPr spc="-26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indent="76200">
              <a:lnSpc>
                <a:spcPct val="129900"/>
              </a:lnSpc>
              <a:spcBef>
                <a:spcPts val="220"/>
              </a:spcBef>
            </a:pPr>
            <a:r>
              <a:rPr sz="2400" i="0" spc="-5" dirty="0">
                <a:solidFill>
                  <a:srgbClr val="FF0000"/>
                </a:solidFill>
                <a:latin typeface="Times New Roman"/>
                <a:cs typeface="Times New Roman"/>
              </a:rPr>
              <a:t>Solution de </a:t>
            </a:r>
            <a:r>
              <a:rPr sz="2400" i="0" spc="-10" dirty="0">
                <a:solidFill>
                  <a:srgbClr val="FF0000"/>
                </a:solidFill>
                <a:latin typeface="Times New Roman"/>
                <a:cs typeface="Times New Roman"/>
              </a:rPr>
              <a:t>l’exercice: </a:t>
            </a:r>
            <a:r>
              <a:rPr sz="2400" i="0" spc="-5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pc="-5" dirty="0"/>
              <a:t>#include &lt;iostream&gt; </a:t>
            </a:r>
            <a:r>
              <a:rPr dirty="0"/>
              <a:t> </a:t>
            </a:r>
            <a:r>
              <a:rPr spc="-5" dirty="0"/>
              <a:t>#include</a:t>
            </a:r>
            <a:r>
              <a:rPr spc="-10" dirty="0"/>
              <a:t> </a:t>
            </a:r>
            <a:r>
              <a:rPr spc="-5" dirty="0"/>
              <a:t>&lt;vector&gt;</a:t>
            </a:r>
            <a:endParaRPr sz="2400">
              <a:latin typeface="Times New Roman"/>
              <a:cs typeface="Times New Roman"/>
            </a:endParaRPr>
          </a:p>
          <a:p>
            <a:pPr marL="88265" marR="410845">
              <a:lnSpc>
                <a:spcPct val="126400"/>
              </a:lnSpc>
            </a:pPr>
            <a:r>
              <a:rPr spc="-5" dirty="0"/>
              <a:t>using namespace std; </a:t>
            </a:r>
            <a:r>
              <a:rPr spc="-540" dirty="0"/>
              <a:t> </a:t>
            </a:r>
            <a:r>
              <a:rPr spc="-5" dirty="0"/>
              <a:t>int main</a:t>
            </a:r>
            <a:r>
              <a:rPr i="0" spc="-5" dirty="0">
                <a:latin typeface="Times New Roman"/>
                <a:cs typeface="Times New Roman"/>
              </a:rPr>
              <a:t>()</a:t>
            </a:r>
            <a:r>
              <a:rPr b="0" i="0" spc="-5" dirty="0">
                <a:latin typeface="Times New Roman"/>
                <a:cs typeface="Times New Roman"/>
              </a:rPr>
              <a:t>{</a:t>
            </a:r>
          </a:p>
          <a:p>
            <a:pPr marL="158750" marR="10160">
              <a:lnSpc>
                <a:spcPct val="126499"/>
              </a:lnSpc>
              <a:spcBef>
                <a:spcPts val="10"/>
              </a:spcBef>
            </a:pPr>
            <a:r>
              <a:rPr spc="-5" dirty="0"/>
              <a:t>vector</a:t>
            </a:r>
            <a:r>
              <a:rPr i="0" spc="-5" dirty="0">
                <a:latin typeface="Times New Roman"/>
                <a:cs typeface="Times New Roman"/>
              </a:rPr>
              <a:t>&lt;</a:t>
            </a:r>
            <a:r>
              <a:rPr spc="-5" dirty="0"/>
              <a:t>double</a:t>
            </a:r>
            <a:r>
              <a:rPr i="0" spc="-5" dirty="0">
                <a:latin typeface="Times New Roman"/>
                <a:cs typeface="Times New Roman"/>
              </a:rPr>
              <a:t>&gt; </a:t>
            </a:r>
            <a:r>
              <a:rPr b="0" i="0" spc="-5" dirty="0">
                <a:latin typeface="Times New Roman"/>
                <a:cs typeface="Times New Roman"/>
              </a:rPr>
              <a:t>notes; </a:t>
            </a:r>
            <a:r>
              <a:rPr b="0" i="0" dirty="0">
                <a:latin typeface="Times New Roman"/>
                <a:cs typeface="Times New Roman"/>
              </a:rPr>
              <a:t> </a:t>
            </a:r>
            <a:r>
              <a:rPr b="0" i="0" spc="-5" dirty="0">
                <a:latin typeface="Times New Roman"/>
                <a:cs typeface="Times New Roman"/>
              </a:rPr>
              <a:t>notes.</a:t>
            </a:r>
            <a:r>
              <a:rPr spc="-5" dirty="0"/>
              <a:t>push_back</a:t>
            </a:r>
            <a:r>
              <a:rPr b="0" i="0" spc="-5" dirty="0">
                <a:latin typeface="Times New Roman"/>
                <a:cs typeface="Times New Roman"/>
              </a:rPr>
              <a:t>(14.5); </a:t>
            </a:r>
            <a:r>
              <a:rPr b="0" i="0" dirty="0">
                <a:latin typeface="Times New Roman"/>
                <a:cs typeface="Times New Roman"/>
              </a:rPr>
              <a:t> </a:t>
            </a:r>
            <a:r>
              <a:rPr b="0" i="0" spc="-5" dirty="0">
                <a:latin typeface="Times New Roman"/>
                <a:cs typeface="Times New Roman"/>
              </a:rPr>
              <a:t>notes.</a:t>
            </a:r>
            <a:r>
              <a:rPr spc="-5" dirty="0"/>
              <a:t>push_back</a:t>
            </a:r>
            <a:r>
              <a:rPr b="0" i="0" spc="-5" dirty="0">
                <a:latin typeface="Times New Roman"/>
                <a:cs typeface="Times New Roman"/>
              </a:rPr>
              <a:t>(17.5); </a:t>
            </a:r>
            <a:r>
              <a:rPr b="0" i="0" dirty="0">
                <a:latin typeface="Times New Roman"/>
                <a:cs typeface="Times New Roman"/>
              </a:rPr>
              <a:t> </a:t>
            </a:r>
            <a:r>
              <a:rPr b="0" i="0" spc="-5" dirty="0">
                <a:latin typeface="Times New Roman"/>
                <a:cs typeface="Times New Roman"/>
              </a:rPr>
              <a:t>notes.</a:t>
            </a:r>
            <a:r>
              <a:rPr spc="-5" dirty="0"/>
              <a:t>push_back</a:t>
            </a:r>
            <a:r>
              <a:rPr b="0" i="0" spc="-5" dirty="0">
                <a:latin typeface="Times New Roman"/>
                <a:cs typeface="Times New Roman"/>
              </a:rPr>
              <a:t>(16.75); </a:t>
            </a:r>
            <a:r>
              <a:rPr b="0" i="0" spc="-535" dirty="0">
                <a:latin typeface="Times New Roman"/>
                <a:cs typeface="Times New Roman"/>
              </a:rPr>
              <a:t> </a:t>
            </a:r>
            <a:r>
              <a:rPr b="0" i="0" spc="-5" dirty="0">
                <a:latin typeface="Times New Roman"/>
                <a:cs typeface="Times New Roman"/>
              </a:rPr>
              <a:t>notes.</a:t>
            </a:r>
            <a:r>
              <a:rPr spc="-5" dirty="0"/>
              <a:t>push_back</a:t>
            </a:r>
            <a:r>
              <a:rPr b="0" i="0" spc="-5" dirty="0">
                <a:latin typeface="Times New Roman"/>
                <a:cs typeface="Times New Roman"/>
              </a:rPr>
              <a:t>(19); </a:t>
            </a:r>
            <a:r>
              <a:rPr b="0" i="0" dirty="0">
                <a:latin typeface="Times New Roman"/>
                <a:cs typeface="Times New Roman"/>
              </a:rPr>
              <a:t> </a:t>
            </a:r>
            <a:r>
              <a:rPr b="0" i="0" spc="-5" dirty="0">
                <a:latin typeface="Times New Roman"/>
                <a:cs typeface="Times New Roman"/>
              </a:rPr>
              <a:t>notes.</a:t>
            </a:r>
            <a:r>
              <a:rPr spc="-5" dirty="0"/>
              <a:t>push_back</a:t>
            </a:r>
            <a:r>
              <a:rPr b="0" i="0" spc="-5" dirty="0">
                <a:latin typeface="Times New Roman"/>
                <a:cs typeface="Times New Roman"/>
              </a:rPr>
              <a:t>(18.5); </a:t>
            </a:r>
            <a:r>
              <a:rPr b="0" i="0" dirty="0">
                <a:latin typeface="Times New Roman"/>
                <a:cs typeface="Times New Roman"/>
              </a:rPr>
              <a:t> </a:t>
            </a:r>
            <a:r>
              <a:rPr b="0" i="0" spc="-5" dirty="0">
                <a:latin typeface="Times New Roman"/>
                <a:cs typeface="Times New Roman"/>
              </a:rPr>
              <a:t>notes.</a:t>
            </a:r>
            <a:r>
              <a:rPr spc="-5" dirty="0"/>
              <a:t>push_back</a:t>
            </a:r>
            <a:r>
              <a:rPr b="0" i="0" spc="-5" dirty="0">
                <a:latin typeface="Times New Roman"/>
                <a:cs typeface="Times New Roman"/>
              </a:rPr>
              <a:t>(15);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72543" y="2732022"/>
            <a:ext cx="20815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//Ne</a:t>
            </a:r>
            <a:r>
              <a:rPr sz="2200" i="1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00B04F"/>
                </a:solidFill>
                <a:latin typeface="Times New Roman"/>
                <a:cs typeface="Times New Roman"/>
              </a:rPr>
              <a:t>pas</a:t>
            </a:r>
            <a:r>
              <a:rPr sz="2200" i="1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oublier</a:t>
            </a:r>
            <a:r>
              <a:rPr sz="2200" i="1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00B04F"/>
                </a:solidFill>
                <a:latin typeface="Times New Roman"/>
                <a:cs typeface="Times New Roman"/>
              </a:rPr>
              <a:t>!!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32919" y="3915560"/>
            <a:ext cx="4481195" cy="87312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2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//Un</a:t>
            </a:r>
            <a:r>
              <a:rPr sz="2200" i="1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tableau</a:t>
            </a:r>
            <a:r>
              <a:rPr sz="2200" i="1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vide</a:t>
            </a:r>
            <a:endParaRPr sz="2200">
              <a:latin typeface="Times New Roman"/>
              <a:cs typeface="Times New Roman"/>
            </a:endParaRPr>
          </a:p>
          <a:p>
            <a:pPr marL="70485">
              <a:lnSpc>
                <a:spcPct val="100000"/>
              </a:lnSpc>
              <a:spcBef>
                <a:spcPts val="695"/>
              </a:spcBef>
            </a:pPr>
            <a:r>
              <a:rPr sz="22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//On</a:t>
            </a:r>
            <a:r>
              <a:rPr sz="2200" i="1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00B04F"/>
                </a:solidFill>
                <a:latin typeface="Times New Roman"/>
                <a:cs typeface="Times New Roman"/>
              </a:rPr>
              <a:t>ajoute</a:t>
            </a:r>
            <a:r>
              <a:rPr sz="2200" i="1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des</a:t>
            </a:r>
            <a:r>
              <a:rPr sz="2200" i="1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00B04F"/>
                </a:solidFill>
                <a:latin typeface="Times New Roman"/>
                <a:cs typeface="Times New Roman"/>
              </a:rPr>
              <a:t>notes avec push_back()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38112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80" dirty="0"/>
              <a:t>T</a:t>
            </a:r>
            <a:r>
              <a:rPr spc="-110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0" dirty="0"/>
              <a:t>u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00" dirty="0"/>
              <a:t>y</a:t>
            </a:r>
            <a:r>
              <a:rPr spc="-295" dirty="0"/>
              <a:t>n</a:t>
            </a:r>
            <a:r>
              <a:rPr spc="-110" dirty="0"/>
              <a:t>a</a:t>
            </a:r>
            <a:r>
              <a:rPr spc="-350" dirty="0"/>
              <a:t>m</a:t>
            </a:r>
            <a:r>
              <a:rPr spc="-114" dirty="0"/>
              <a:t>i</a:t>
            </a:r>
            <a:r>
              <a:rPr spc="-26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</a:p>
        </p:txBody>
      </p:sp>
      <p:sp>
        <p:nvSpPr>
          <p:cNvPr id="7" name="object 7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8572" y="1877059"/>
            <a:ext cx="7991475" cy="171513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615"/>
              </a:spcBef>
            </a:pP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de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l’exercice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(suite):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2400" b="1" i="1" spc="-5" dirty="0">
                <a:latin typeface="Times New Roman"/>
                <a:cs typeface="Times New Roman"/>
              </a:rPr>
              <a:t>double</a:t>
            </a:r>
            <a:r>
              <a:rPr sz="2400" b="1" i="1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moyenne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(0);</a:t>
            </a:r>
            <a:endParaRPr sz="24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420"/>
              </a:spcBef>
            </a:pPr>
            <a:r>
              <a:rPr sz="2400" b="1" i="1" spc="-5" dirty="0">
                <a:latin typeface="Times New Roman"/>
                <a:cs typeface="Times New Roman"/>
              </a:rPr>
              <a:t>for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int</a:t>
            </a:r>
            <a:r>
              <a:rPr sz="2400" b="1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i(0);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</a:t>
            </a:r>
            <a:r>
              <a:rPr sz="2400" b="1" i="1" spc="-5" dirty="0">
                <a:latin typeface="Times New Roman"/>
                <a:cs typeface="Times New Roman"/>
              </a:rPr>
              <a:t>&lt;</a:t>
            </a:r>
            <a:r>
              <a:rPr sz="2400" spc="-5" dirty="0">
                <a:latin typeface="Times New Roman"/>
                <a:cs typeface="Times New Roman"/>
              </a:rPr>
              <a:t>notes</a:t>
            </a:r>
            <a:r>
              <a:rPr sz="2400" b="1" i="1" spc="-5" dirty="0">
                <a:latin typeface="Times New Roman"/>
                <a:cs typeface="Times New Roman"/>
              </a:rPr>
              <a:t>.size</a:t>
            </a:r>
            <a:r>
              <a:rPr sz="2400" b="1" spc="-5" dirty="0">
                <a:latin typeface="Times New Roman"/>
                <a:cs typeface="Times New Roman"/>
              </a:rPr>
              <a:t>()</a:t>
            </a:r>
            <a:r>
              <a:rPr sz="2400" spc="-5" dirty="0">
                <a:latin typeface="Times New Roman"/>
                <a:cs typeface="Times New Roman"/>
              </a:rPr>
              <a:t>;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++i</a:t>
            </a:r>
            <a:r>
              <a:rPr sz="2400" b="1" dirty="0">
                <a:latin typeface="Times New Roman"/>
                <a:cs typeface="Times New Roman"/>
              </a:rPr>
              <a:t>)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{</a:t>
            </a:r>
            <a:r>
              <a:rPr sz="2400" b="1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//on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utilise</a:t>
            </a:r>
            <a:r>
              <a:rPr sz="20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notes.size()</a:t>
            </a:r>
            <a:r>
              <a:rPr sz="20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00B04F"/>
                </a:solidFill>
                <a:latin typeface="Times New Roman"/>
                <a:cs typeface="Times New Roman"/>
              </a:rPr>
              <a:t>pour</a:t>
            </a:r>
            <a:r>
              <a:rPr sz="20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00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limite</a:t>
            </a:r>
            <a:endParaRPr sz="2000">
              <a:latin typeface="Times New Roman"/>
              <a:cs typeface="Times New Roman"/>
            </a:endParaRPr>
          </a:p>
          <a:p>
            <a:pPr marL="4127500">
              <a:lnSpc>
                <a:spcPct val="100000"/>
              </a:lnSpc>
              <a:spcBef>
                <a:spcPts val="810"/>
              </a:spcBef>
            </a:pP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//de</a:t>
            </a:r>
            <a:r>
              <a:rPr sz="20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notre</a:t>
            </a:r>
            <a:r>
              <a:rPr sz="2000" spc="-5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boucle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63627" y="3678426"/>
            <a:ext cx="31661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//on</a:t>
            </a:r>
            <a:r>
              <a:rPr sz="20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additionne</a:t>
            </a:r>
            <a:r>
              <a:rPr sz="20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toutes</a:t>
            </a:r>
            <a:r>
              <a:rPr sz="20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les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notes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0977" y="3574794"/>
            <a:ext cx="8275955" cy="248094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2400" spc="-5" dirty="0">
                <a:latin typeface="Times New Roman"/>
                <a:cs typeface="Times New Roman"/>
              </a:rPr>
              <a:t>moyenne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+=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notes[i];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400" b="1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405"/>
              </a:spcBef>
            </a:pPr>
            <a:r>
              <a:rPr sz="2400" spc="-5" dirty="0">
                <a:latin typeface="Times New Roman"/>
                <a:cs typeface="Times New Roman"/>
              </a:rPr>
              <a:t>moyenne</a:t>
            </a:r>
            <a:r>
              <a:rPr sz="2400" dirty="0">
                <a:latin typeface="Times New Roman"/>
                <a:cs typeface="Times New Roman"/>
              </a:rPr>
              <a:t> /=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notes.size();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//on</a:t>
            </a:r>
            <a:r>
              <a:rPr sz="20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utilise</a:t>
            </a:r>
            <a:r>
              <a:rPr sz="20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à</a:t>
            </a:r>
            <a:r>
              <a:rPr sz="20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nouveau</a:t>
            </a:r>
            <a:r>
              <a:rPr sz="20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notes.size()</a:t>
            </a:r>
            <a:r>
              <a:rPr sz="20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00B04F"/>
                </a:solidFill>
                <a:latin typeface="Times New Roman"/>
                <a:cs typeface="Times New Roman"/>
              </a:rPr>
              <a:t>pour</a:t>
            </a:r>
            <a:r>
              <a:rPr sz="2000" spc="47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obtenir</a:t>
            </a:r>
            <a:r>
              <a:rPr sz="20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le</a:t>
            </a:r>
            <a:endParaRPr sz="2000">
              <a:latin typeface="Times New Roman"/>
              <a:cs typeface="Times New Roman"/>
            </a:endParaRPr>
          </a:p>
          <a:p>
            <a:pPr marL="3162300">
              <a:lnSpc>
                <a:spcPct val="100000"/>
              </a:lnSpc>
              <a:spcBef>
                <a:spcPts val="475"/>
              </a:spcBef>
            </a:pPr>
            <a:r>
              <a:rPr sz="2000" spc="-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nombre</a:t>
            </a:r>
            <a:r>
              <a:rPr sz="20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4F"/>
                </a:solidFill>
                <a:latin typeface="Times New Roman"/>
                <a:cs typeface="Times New Roman"/>
              </a:rPr>
              <a:t>notes</a:t>
            </a:r>
            <a:endParaRPr sz="2000">
              <a:latin typeface="Times New Roman"/>
              <a:cs typeface="Times New Roman"/>
            </a:endParaRPr>
          </a:p>
          <a:p>
            <a:pPr marL="88265" marR="795655">
              <a:lnSpc>
                <a:spcPts val="3290"/>
              </a:lnSpc>
              <a:spcBef>
                <a:spcPts val="90"/>
              </a:spcBef>
            </a:pPr>
            <a:r>
              <a:rPr sz="2400" b="1" i="1" spc="-5" dirty="0">
                <a:latin typeface="Times New Roman"/>
                <a:cs typeface="Times New Roman"/>
              </a:rPr>
              <a:t>cout</a:t>
            </a:r>
            <a:r>
              <a:rPr sz="2400" b="1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&lt;&lt;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"La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moyenne</a:t>
            </a:r>
            <a:r>
              <a:rPr sz="2400" dirty="0">
                <a:latin typeface="Times New Roman"/>
                <a:cs typeface="Times New Roman"/>
              </a:rPr>
              <a:t> des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&lt;&lt;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moyenne </a:t>
            </a:r>
            <a:r>
              <a:rPr sz="2400" dirty="0">
                <a:latin typeface="Times New Roman"/>
                <a:cs typeface="Times New Roman"/>
              </a:rPr>
              <a:t>&lt;&lt;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endl</a:t>
            </a:r>
            <a:r>
              <a:rPr sz="2400" dirty="0">
                <a:latin typeface="Times New Roman"/>
                <a:cs typeface="Times New Roman"/>
              </a:rPr>
              <a:t>;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return</a:t>
            </a:r>
            <a:r>
              <a:rPr sz="2400" b="1" i="1" spc="-1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0;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9977" y="6081773"/>
            <a:ext cx="146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38112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80" dirty="0"/>
              <a:t>T</a:t>
            </a:r>
            <a:r>
              <a:rPr spc="-110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0" dirty="0"/>
              <a:t>u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00" dirty="0"/>
              <a:t>y</a:t>
            </a:r>
            <a:r>
              <a:rPr spc="-295" dirty="0"/>
              <a:t>n</a:t>
            </a:r>
            <a:r>
              <a:rPr spc="-110" dirty="0"/>
              <a:t>a</a:t>
            </a:r>
            <a:r>
              <a:rPr spc="-350" dirty="0"/>
              <a:t>m</a:t>
            </a:r>
            <a:r>
              <a:rPr spc="-114" dirty="0"/>
              <a:t>i</a:t>
            </a:r>
            <a:r>
              <a:rPr spc="-26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</a:p>
        </p:txBody>
      </p:sp>
      <p:sp>
        <p:nvSpPr>
          <p:cNvPr id="8" name="object 8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41116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M</a:t>
            </a:r>
            <a:r>
              <a:rPr spc="-280" dirty="0"/>
              <a:t>é</a:t>
            </a:r>
            <a:r>
              <a:rPr spc="-195" dirty="0"/>
              <a:t>t</a:t>
            </a:r>
            <a:r>
              <a:rPr spc="-365" dirty="0"/>
              <a:t>h</a:t>
            </a:r>
            <a:r>
              <a:rPr spc="-295" dirty="0"/>
              <a:t>od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475" dirty="0"/>
              <a:t>s</a:t>
            </a:r>
            <a:r>
              <a:rPr spc="-295" dirty="0"/>
              <a:t>p</a:t>
            </a:r>
            <a:r>
              <a:rPr spc="-280" dirty="0"/>
              <a:t>é</a:t>
            </a:r>
            <a:r>
              <a:rPr spc="-555" dirty="0"/>
              <a:t>c</a:t>
            </a:r>
            <a:r>
              <a:rPr spc="-70" dirty="0"/>
              <a:t>if</a:t>
            </a:r>
            <a:r>
              <a:rPr spc="-114" dirty="0"/>
              <a:t>i</a:t>
            </a:r>
            <a:r>
              <a:rPr spc="-26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  <a:r>
              <a:rPr spc="-470" dirty="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7864" y="1928875"/>
            <a:ext cx="8554720" cy="441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solidFill>
                  <a:srgbClr val="6F2FA0"/>
                </a:solidFill>
                <a:latin typeface="Times New Roman"/>
                <a:cs typeface="Times New Roman"/>
              </a:rPr>
              <a:t>tableau</a:t>
            </a:r>
            <a:r>
              <a:rPr sz="2400" i="1" spc="-5" dirty="0">
                <a:latin typeface="Times New Roman"/>
                <a:cs typeface="Times New Roman"/>
              </a:rPr>
              <a:t>.</a:t>
            </a:r>
            <a:r>
              <a:rPr sz="2400" i="1" spc="-5" dirty="0">
                <a:solidFill>
                  <a:srgbClr val="FF3200"/>
                </a:solidFill>
                <a:latin typeface="Times New Roman"/>
                <a:cs typeface="Times New Roman"/>
              </a:rPr>
              <a:t>insert</a:t>
            </a:r>
            <a:r>
              <a:rPr sz="2400" i="1" spc="-5" dirty="0">
                <a:solidFill>
                  <a:srgbClr val="6500CC"/>
                </a:solidFill>
                <a:latin typeface="Times New Roman"/>
                <a:cs typeface="Times New Roman"/>
              </a:rPr>
              <a:t>(position,</a:t>
            </a:r>
            <a:r>
              <a:rPr sz="2400" i="1" spc="-40" dirty="0">
                <a:solidFill>
                  <a:srgbClr val="6500CC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6500CC"/>
                </a:solidFill>
                <a:latin typeface="Times New Roman"/>
                <a:cs typeface="Times New Roman"/>
              </a:rPr>
              <a:t>valeur)</a:t>
            </a:r>
            <a:r>
              <a:rPr sz="2400" i="1" spc="-5" dirty="0">
                <a:solidFill>
                  <a:srgbClr val="6F2FA0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6390640" algn="l"/>
              </a:tabLst>
            </a:pPr>
            <a:r>
              <a:rPr sz="2400" dirty="0">
                <a:latin typeface="Times New Roman"/>
                <a:cs typeface="Times New Roman"/>
              </a:rPr>
              <a:t>insert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l'élément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valeur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devant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l'élément </a:t>
            </a:r>
            <a:r>
              <a:rPr sz="2400" dirty="0">
                <a:latin typeface="Times New Roman"/>
                <a:cs typeface="Times New Roman"/>
              </a:rPr>
              <a:t>désigné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	position.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6F2FA0"/>
                </a:solidFill>
                <a:latin typeface="Times New Roman"/>
                <a:cs typeface="Times New Roman"/>
              </a:rPr>
              <a:t>tableau</a:t>
            </a:r>
            <a:r>
              <a:rPr sz="2400" dirty="0">
                <a:latin typeface="Times New Roman"/>
                <a:cs typeface="Times New Roman"/>
              </a:rPr>
              <a:t>.</a:t>
            </a:r>
            <a:r>
              <a:rPr sz="2400" i="1" dirty="0">
                <a:solidFill>
                  <a:srgbClr val="FF3200"/>
                </a:solidFill>
                <a:latin typeface="Times New Roman"/>
                <a:cs typeface="Times New Roman"/>
              </a:rPr>
              <a:t>insert</a:t>
            </a:r>
            <a:r>
              <a:rPr sz="2400" i="1" spc="-85" dirty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6500CC"/>
                </a:solidFill>
                <a:latin typeface="Times New Roman"/>
                <a:cs typeface="Times New Roman"/>
              </a:rPr>
              <a:t>(position)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2700" marR="4584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insert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5" dirty="0">
                <a:latin typeface="Times New Roman"/>
                <a:cs typeface="Times New Roman"/>
              </a:rPr>
              <a:t> élément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construit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défaut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devant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l'élément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désigné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position.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i="1" spc="-5" dirty="0">
                <a:solidFill>
                  <a:srgbClr val="6F2FA0"/>
                </a:solidFill>
                <a:latin typeface="Times New Roman"/>
                <a:cs typeface="Times New Roman"/>
              </a:rPr>
              <a:t>tableau</a:t>
            </a:r>
            <a:r>
              <a:rPr sz="2400" i="1" spc="-5" dirty="0">
                <a:latin typeface="Times New Roman"/>
                <a:cs typeface="Times New Roman"/>
              </a:rPr>
              <a:t>.</a:t>
            </a:r>
            <a:r>
              <a:rPr sz="2400" i="1" spc="-5" dirty="0">
                <a:solidFill>
                  <a:srgbClr val="FF3200"/>
                </a:solidFill>
                <a:latin typeface="Times New Roman"/>
                <a:cs typeface="Times New Roman"/>
              </a:rPr>
              <a:t>insert</a:t>
            </a:r>
            <a:r>
              <a:rPr sz="2400" i="1" spc="-5" dirty="0">
                <a:solidFill>
                  <a:srgbClr val="6500CC"/>
                </a:solidFill>
                <a:latin typeface="Times New Roman"/>
                <a:cs typeface="Times New Roman"/>
              </a:rPr>
              <a:t>(position,</a:t>
            </a:r>
            <a:r>
              <a:rPr sz="2400" i="1" spc="-40" dirty="0">
                <a:solidFill>
                  <a:srgbClr val="6500CC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6500CC"/>
                </a:solidFill>
                <a:latin typeface="Times New Roman"/>
                <a:cs typeface="Times New Roman"/>
              </a:rPr>
              <a:t>first,</a:t>
            </a:r>
            <a:r>
              <a:rPr sz="2400" i="1" spc="-40" dirty="0">
                <a:solidFill>
                  <a:srgbClr val="6500CC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6500CC"/>
                </a:solidFill>
                <a:latin typeface="Times New Roman"/>
                <a:cs typeface="Times New Roman"/>
              </a:rPr>
              <a:t>last)</a:t>
            </a:r>
            <a:r>
              <a:rPr sz="2400" i="1" spc="-5" dirty="0">
                <a:solidFill>
                  <a:srgbClr val="6F2FA0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insert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séquence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d'élément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désigné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first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devant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l'élément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désigné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 position.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i="1" spc="-5" dirty="0">
                <a:solidFill>
                  <a:srgbClr val="6F2FA0"/>
                </a:solidFill>
                <a:latin typeface="Times New Roman"/>
                <a:cs typeface="Times New Roman"/>
              </a:rPr>
              <a:t>tableau</a:t>
            </a:r>
            <a:r>
              <a:rPr sz="2400" i="1" spc="-5" dirty="0">
                <a:latin typeface="Times New Roman"/>
                <a:cs typeface="Times New Roman"/>
              </a:rPr>
              <a:t>.</a:t>
            </a:r>
            <a:r>
              <a:rPr sz="2400" i="1" spc="-5" dirty="0">
                <a:solidFill>
                  <a:srgbClr val="FF3200"/>
                </a:solidFill>
                <a:latin typeface="Times New Roman"/>
                <a:cs typeface="Times New Roman"/>
              </a:rPr>
              <a:t>erase</a:t>
            </a:r>
            <a:r>
              <a:rPr sz="2400" i="1" spc="-5" dirty="0">
                <a:solidFill>
                  <a:srgbClr val="6500CC"/>
                </a:solidFill>
                <a:latin typeface="Times New Roman"/>
                <a:cs typeface="Times New Roman"/>
              </a:rPr>
              <a:t>(position)</a:t>
            </a:r>
            <a:r>
              <a:rPr sz="2400" i="1" spc="-5" dirty="0">
                <a:solidFill>
                  <a:srgbClr val="6F2FA0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15" dirty="0">
                <a:latin typeface="Times New Roman"/>
                <a:cs typeface="Times New Roman"/>
              </a:rPr>
              <a:t>efface </a:t>
            </a:r>
            <a:r>
              <a:rPr sz="2400" spc="-5" dirty="0">
                <a:latin typeface="Times New Roman"/>
                <a:cs typeface="Times New Roman"/>
              </a:rPr>
              <a:t>l'élément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position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donnée.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i="1" spc="-5" dirty="0">
                <a:solidFill>
                  <a:srgbClr val="6F2FA0"/>
                </a:solidFill>
                <a:latin typeface="Times New Roman"/>
                <a:cs typeface="Times New Roman"/>
              </a:rPr>
              <a:t>tableau</a:t>
            </a:r>
            <a:r>
              <a:rPr sz="2400" i="1" spc="-5" dirty="0">
                <a:latin typeface="Times New Roman"/>
                <a:cs typeface="Times New Roman"/>
              </a:rPr>
              <a:t>.</a:t>
            </a:r>
            <a:r>
              <a:rPr sz="2400" i="1" spc="-5" dirty="0">
                <a:solidFill>
                  <a:srgbClr val="FF3200"/>
                </a:solidFill>
                <a:latin typeface="Times New Roman"/>
                <a:cs typeface="Times New Roman"/>
              </a:rPr>
              <a:t>erase</a:t>
            </a:r>
            <a:r>
              <a:rPr sz="2400" i="1" spc="-5" dirty="0">
                <a:solidFill>
                  <a:srgbClr val="6500CC"/>
                </a:solidFill>
                <a:latin typeface="Times New Roman"/>
                <a:cs typeface="Times New Roman"/>
              </a:rPr>
              <a:t>(first,last)</a:t>
            </a:r>
            <a:r>
              <a:rPr sz="2400" i="1" spc="-5" dirty="0">
                <a:solidFill>
                  <a:srgbClr val="6F2FA0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15" dirty="0">
                <a:latin typeface="Times New Roman"/>
                <a:cs typeface="Times New Roman"/>
              </a:rPr>
              <a:t>efface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éléments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entre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first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exclus.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41116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M</a:t>
            </a:r>
            <a:r>
              <a:rPr spc="-280" dirty="0"/>
              <a:t>é</a:t>
            </a:r>
            <a:r>
              <a:rPr spc="-195" dirty="0"/>
              <a:t>t</a:t>
            </a:r>
            <a:r>
              <a:rPr spc="-365" dirty="0"/>
              <a:t>h</a:t>
            </a:r>
            <a:r>
              <a:rPr spc="-295" dirty="0"/>
              <a:t>od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475" dirty="0"/>
              <a:t>s</a:t>
            </a:r>
            <a:r>
              <a:rPr spc="-295" dirty="0"/>
              <a:t>p</a:t>
            </a:r>
            <a:r>
              <a:rPr spc="-280" dirty="0"/>
              <a:t>é</a:t>
            </a:r>
            <a:r>
              <a:rPr spc="-555" dirty="0"/>
              <a:t>c</a:t>
            </a:r>
            <a:r>
              <a:rPr spc="-70" dirty="0"/>
              <a:t>if</a:t>
            </a:r>
            <a:r>
              <a:rPr spc="-114" dirty="0"/>
              <a:t>i</a:t>
            </a:r>
            <a:r>
              <a:rPr spc="-26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  <a:r>
              <a:rPr spc="-470" dirty="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7864" y="2000503"/>
            <a:ext cx="8920480" cy="368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7700" marR="5080" indent="-19050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solidFill>
                  <a:srgbClr val="6F2FA0"/>
                </a:solidFill>
                <a:latin typeface="Times New Roman"/>
                <a:cs typeface="Times New Roman"/>
              </a:rPr>
              <a:t>tableau</a:t>
            </a:r>
            <a:r>
              <a:rPr sz="2400" i="1" spc="-5" dirty="0">
                <a:latin typeface="Times New Roman"/>
                <a:cs typeface="Times New Roman"/>
              </a:rPr>
              <a:t>.</a:t>
            </a:r>
            <a:r>
              <a:rPr sz="2400" i="1" spc="-5" dirty="0">
                <a:solidFill>
                  <a:srgbClr val="FF3200"/>
                </a:solidFill>
                <a:latin typeface="Times New Roman"/>
                <a:cs typeface="Times New Roman"/>
              </a:rPr>
              <a:t>clear</a:t>
            </a:r>
            <a:r>
              <a:rPr sz="2400" i="1" spc="-5" dirty="0">
                <a:solidFill>
                  <a:srgbClr val="6500CC"/>
                </a:solidFill>
                <a:latin typeface="Times New Roman"/>
                <a:cs typeface="Times New Roman"/>
              </a:rPr>
              <a:t>()</a:t>
            </a:r>
            <a:r>
              <a:rPr sz="2400" i="1" spc="-5" dirty="0">
                <a:solidFill>
                  <a:srgbClr val="6F2FA0"/>
                </a:solidFill>
                <a:latin typeface="Times New Roman"/>
                <a:cs typeface="Times New Roman"/>
              </a:rPr>
              <a:t>: </a:t>
            </a:r>
            <a:r>
              <a:rPr sz="2400" spc="-15" dirty="0">
                <a:latin typeface="Times New Roman"/>
                <a:cs typeface="Times New Roman"/>
              </a:rPr>
              <a:t>efface </a:t>
            </a:r>
            <a:r>
              <a:rPr sz="2400" dirty="0">
                <a:latin typeface="Times New Roman"/>
                <a:cs typeface="Times New Roman"/>
              </a:rPr>
              <a:t>tous les </a:t>
            </a:r>
            <a:r>
              <a:rPr sz="2400" spc="-5" dirty="0">
                <a:latin typeface="Times New Roman"/>
                <a:cs typeface="Times New Roman"/>
              </a:rPr>
              <a:t>éléments </a:t>
            </a:r>
            <a:r>
              <a:rPr sz="2400" dirty="0">
                <a:latin typeface="Times New Roman"/>
                <a:cs typeface="Times New Roman"/>
              </a:rPr>
              <a:t>du vecteur et le </a:t>
            </a:r>
            <a:r>
              <a:rPr sz="2400" spc="-5" dirty="0">
                <a:latin typeface="Times New Roman"/>
                <a:cs typeface="Times New Roman"/>
              </a:rPr>
              <a:t>transforme </a:t>
            </a:r>
            <a:r>
              <a:rPr sz="2400" dirty="0">
                <a:latin typeface="Times New Roman"/>
                <a:cs typeface="Times New Roman"/>
              </a:rPr>
              <a:t>donc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vecteur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vide.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i="1" spc="-5" dirty="0">
                <a:solidFill>
                  <a:srgbClr val="6F2FA0"/>
                </a:solidFill>
                <a:latin typeface="Times New Roman"/>
                <a:cs typeface="Times New Roman"/>
              </a:rPr>
              <a:t>tableau.</a:t>
            </a:r>
            <a:r>
              <a:rPr sz="2400" i="1" spc="-5" dirty="0">
                <a:solidFill>
                  <a:srgbClr val="FF3200"/>
                </a:solidFill>
                <a:latin typeface="Times New Roman"/>
                <a:cs typeface="Times New Roman"/>
              </a:rPr>
              <a:t>empty</a:t>
            </a:r>
            <a:r>
              <a:rPr sz="2400" i="1" spc="-5" dirty="0">
                <a:solidFill>
                  <a:srgbClr val="6500CC"/>
                </a:solidFill>
                <a:latin typeface="Times New Roman"/>
                <a:cs typeface="Times New Roman"/>
              </a:rPr>
              <a:t>()</a:t>
            </a:r>
            <a:r>
              <a:rPr sz="2400" i="1" spc="-40" dirty="0">
                <a:solidFill>
                  <a:srgbClr val="6500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 </a:t>
            </a:r>
            <a:r>
              <a:rPr sz="2400" spc="-5" dirty="0">
                <a:latin typeface="Times New Roman"/>
                <a:cs typeface="Times New Roman"/>
              </a:rPr>
              <a:t>détermine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 non (bool).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993900" marR="1041400" indent="-1981200">
              <a:lnSpc>
                <a:spcPct val="100000"/>
              </a:lnSpc>
            </a:pPr>
            <a:r>
              <a:rPr sz="2400" i="1" spc="-10" dirty="0">
                <a:solidFill>
                  <a:srgbClr val="6F2FA0"/>
                </a:solidFill>
                <a:latin typeface="Times New Roman"/>
                <a:cs typeface="Times New Roman"/>
              </a:rPr>
              <a:t>tableau</a:t>
            </a:r>
            <a:r>
              <a:rPr sz="2400" i="1" spc="-10" dirty="0">
                <a:latin typeface="Times New Roman"/>
                <a:cs typeface="Times New Roman"/>
              </a:rPr>
              <a:t>.</a:t>
            </a:r>
            <a:r>
              <a:rPr sz="2400" i="1" spc="-10" dirty="0">
                <a:solidFill>
                  <a:srgbClr val="FF3200"/>
                </a:solidFill>
                <a:latin typeface="Times New Roman"/>
                <a:cs typeface="Times New Roman"/>
              </a:rPr>
              <a:t>front</a:t>
            </a:r>
            <a:r>
              <a:rPr sz="2400" i="1" spc="-10" dirty="0">
                <a:solidFill>
                  <a:srgbClr val="6500CC"/>
                </a:solidFill>
                <a:latin typeface="Times New Roman"/>
                <a:cs typeface="Times New Roman"/>
              </a:rPr>
              <a:t>()</a:t>
            </a:r>
            <a:r>
              <a:rPr sz="2400" i="1" spc="-10" dirty="0">
                <a:solidFill>
                  <a:srgbClr val="6F2FA0"/>
                </a:solidFill>
                <a:latin typeface="Times New Roman"/>
                <a:cs typeface="Times New Roman"/>
              </a:rPr>
              <a:t>:</a:t>
            </a:r>
            <a:r>
              <a:rPr sz="2400" i="1" spc="-15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renvoie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valeur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</a:t>
            </a:r>
            <a:r>
              <a:rPr sz="2400" spc="-5" dirty="0">
                <a:latin typeface="Times New Roman"/>
                <a:cs typeface="Times New Roman"/>
              </a:rPr>
              <a:t> premier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élément.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donc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équivalent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6F2FA0"/>
                </a:solidFill>
                <a:latin typeface="Times New Roman"/>
                <a:cs typeface="Times New Roman"/>
              </a:rPr>
              <a:t>tableau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spc="-5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].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993900" marR="1132840" indent="-1981200">
              <a:lnSpc>
                <a:spcPct val="100000"/>
              </a:lnSpc>
            </a:pPr>
            <a:r>
              <a:rPr sz="2400" i="1" spc="-5" dirty="0">
                <a:solidFill>
                  <a:srgbClr val="6F2FA0"/>
                </a:solidFill>
                <a:latin typeface="Times New Roman"/>
                <a:cs typeface="Times New Roman"/>
              </a:rPr>
              <a:t>tableau</a:t>
            </a:r>
            <a:r>
              <a:rPr sz="2400" i="1" spc="-5" dirty="0">
                <a:latin typeface="Times New Roman"/>
                <a:cs typeface="Times New Roman"/>
              </a:rPr>
              <a:t>.</a:t>
            </a:r>
            <a:r>
              <a:rPr sz="2400" i="1" spc="-5" dirty="0">
                <a:solidFill>
                  <a:srgbClr val="FF3200"/>
                </a:solidFill>
                <a:latin typeface="Times New Roman"/>
                <a:cs typeface="Times New Roman"/>
              </a:rPr>
              <a:t>back</a:t>
            </a:r>
            <a:r>
              <a:rPr sz="2400" i="1" spc="-5" dirty="0">
                <a:solidFill>
                  <a:srgbClr val="6500CC"/>
                </a:solidFill>
                <a:latin typeface="Times New Roman"/>
                <a:cs typeface="Times New Roman"/>
              </a:rPr>
              <a:t>()</a:t>
            </a:r>
            <a:r>
              <a:rPr sz="2400" i="1" spc="-5" dirty="0">
                <a:solidFill>
                  <a:srgbClr val="6F2FA0"/>
                </a:solidFill>
                <a:latin typeface="Times New Roman"/>
                <a:cs typeface="Times New Roman"/>
              </a:rPr>
              <a:t>:</a:t>
            </a:r>
            <a:r>
              <a:rPr sz="2400" i="1" spc="-15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renvoie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valeur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 dernier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élément.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donc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équivalent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6F2FA0"/>
                </a:solidFill>
                <a:latin typeface="Times New Roman"/>
                <a:cs typeface="Times New Roman"/>
              </a:rPr>
              <a:t>tableau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400" i="1" spc="-5" dirty="0">
                <a:solidFill>
                  <a:srgbClr val="6F2FA0"/>
                </a:solidFill>
                <a:latin typeface="Times New Roman"/>
                <a:cs typeface="Times New Roman"/>
              </a:rPr>
              <a:t>tableau.size()-1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].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336" y="1741423"/>
            <a:ext cx="9032875" cy="3006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0690" marR="36830" indent="-440690">
              <a:lnSpc>
                <a:spcPct val="122900"/>
              </a:lnSpc>
              <a:spcBef>
                <a:spcPts val="100"/>
              </a:spcBef>
              <a:buClr>
                <a:srgbClr val="006FC0"/>
              </a:buClr>
              <a:buSzPct val="87500"/>
              <a:buFont typeface="Wingdings"/>
              <a:buChar char=""/>
              <a:tabLst>
                <a:tab pos="440690" algn="l"/>
                <a:tab pos="441325" algn="l"/>
              </a:tabLst>
            </a:pPr>
            <a:r>
              <a:rPr sz="2400" spc="-5" dirty="0">
                <a:latin typeface="Times New Roman"/>
                <a:cs typeface="Times New Roman"/>
              </a:rPr>
              <a:t>On</a:t>
            </a:r>
            <a:r>
              <a:rPr sz="2400" dirty="0">
                <a:latin typeface="Times New Roman"/>
                <a:cs typeface="Times New Roman"/>
              </a:rPr>
              <a:t> peut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aussi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déclarer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éléments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eux-même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vector: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490"/>
              </a:spcBef>
              <a:tabLst>
                <a:tab pos="3637279" algn="l"/>
              </a:tabLst>
            </a:pPr>
            <a:r>
              <a:rPr sz="2400" dirty="0">
                <a:latin typeface="Times New Roman"/>
                <a:cs typeface="Times New Roman"/>
              </a:rPr>
              <a:t>vector&lt;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vector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&lt;double&gt;	&gt;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Matrix(4);</a:t>
            </a:r>
            <a:endParaRPr sz="2400">
              <a:latin typeface="Times New Roman"/>
              <a:cs typeface="Times New Roman"/>
            </a:endParaRPr>
          </a:p>
          <a:p>
            <a:pPr marL="317500" indent="-304800">
              <a:lnSpc>
                <a:spcPct val="100000"/>
              </a:lnSpc>
              <a:spcBef>
                <a:spcPts val="505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317500" algn="l"/>
              </a:tabLst>
            </a:pPr>
            <a:r>
              <a:rPr sz="2400" dirty="0">
                <a:latin typeface="Times New Roman"/>
                <a:cs typeface="Times New Roman"/>
              </a:rPr>
              <a:t>Matrix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éléments.</a:t>
            </a:r>
            <a:endParaRPr sz="2400">
              <a:latin typeface="Times New Roman"/>
              <a:cs typeface="Times New Roman"/>
            </a:endParaRPr>
          </a:p>
          <a:p>
            <a:pPr marL="240665" marR="5080" indent="-228600">
              <a:lnSpc>
                <a:spcPct val="100000"/>
              </a:lnSpc>
              <a:spcBef>
                <a:spcPts val="505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317500" algn="l"/>
              </a:tabLst>
            </a:pPr>
            <a:r>
              <a:rPr sz="2400" spc="-5" dirty="0">
                <a:latin typeface="Times New Roman"/>
                <a:cs typeface="Times New Roman"/>
              </a:rPr>
              <a:t>Chaque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élément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 tableau.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Plus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exactement,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chaque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élément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vide.</a:t>
            </a:r>
            <a:endParaRPr sz="2400">
              <a:latin typeface="Times New Roman"/>
              <a:cs typeface="Times New Roman"/>
            </a:endParaRPr>
          </a:p>
          <a:p>
            <a:pPr marL="5346700">
              <a:lnSpc>
                <a:spcPct val="100000"/>
              </a:lnSpc>
              <a:spcBef>
                <a:spcPts val="490"/>
              </a:spcBef>
            </a:pPr>
            <a:r>
              <a:rPr sz="2400" b="1" dirty="0">
                <a:solidFill>
                  <a:srgbClr val="6F2FA0"/>
                </a:solidFill>
                <a:latin typeface="Times New Roman"/>
                <a:cs typeface="Times New Roman"/>
              </a:rPr>
              <a:t>Matrix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spc="-580" dirty="0"/>
              <a:t>T</a:t>
            </a:r>
            <a:r>
              <a:rPr spc="-110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00" dirty="0"/>
              <a:t>y</a:t>
            </a:r>
            <a:r>
              <a:rPr spc="-295" dirty="0"/>
              <a:t>n</a:t>
            </a:r>
            <a:r>
              <a:rPr spc="-110" dirty="0"/>
              <a:t>a</a:t>
            </a:r>
            <a:r>
              <a:rPr spc="-350" dirty="0"/>
              <a:t>m</a:t>
            </a:r>
            <a:r>
              <a:rPr spc="-114" dirty="0"/>
              <a:t>i</a:t>
            </a:r>
            <a:r>
              <a:rPr spc="-26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350" dirty="0"/>
              <a:t>m</a:t>
            </a:r>
            <a:r>
              <a:rPr spc="-295" dirty="0"/>
              <a:t>u</a:t>
            </a:r>
            <a:r>
              <a:rPr spc="-135" dirty="0"/>
              <a:t>lti</a:t>
            </a:r>
            <a:r>
              <a:rPr spc="-285" dirty="0"/>
              <a:t>d</a:t>
            </a:r>
            <a:r>
              <a:rPr spc="-100" dirty="0"/>
              <a:t>i</a:t>
            </a:r>
            <a:r>
              <a:rPr spc="-315" dirty="0"/>
              <a:t>m</a:t>
            </a:r>
            <a:r>
              <a:rPr spc="-280" dirty="0"/>
              <a:t>e</a:t>
            </a:r>
            <a:r>
              <a:rPr spc="-295" dirty="0"/>
              <a:t>n</a:t>
            </a:r>
            <a:r>
              <a:rPr spc="-475" dirty="0"/>
              <a:t>s</a:t>
            </a:r>
            <a:r>
              <a:rPr spc="-114" dirty="0"/>
              <a:t>i</a:t>
            </a:r>
            <a:r>
              <a:rPr spc="-250" dirty="0"/>
              <a:t>o</a:t>
            </a:r>
            <a:r>
              <a:rPr spc="-295" dirty="0"/>
              <a:t>nn</a:t>
            </a:r>
            <a:r>
              <a:rPr spc="-280" dirty="0"/>
              <a:t>e</a:t>
            </a:r>
            <a:r>
              <a:rPr spc="-270" dirty="0"/>
              <a:t>ls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4257" y="4779043"/>
            <a:ext cx="1906929" cy="2351973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spc="-580" dirty="0"/>
              <a:t>T</a:t>
            </a:r>
            <a:r>
              <a:rPr spc="-110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00" dirty="0"/>
              <a:t>y</a:t>
            </a:r>
            <a:r>
              <a:rPr spc="-295" dirty="0"/>
              <a:t>n</a:t>
            </a:r>
            <a:r>
              <a:rPr spc="-110" dirty="0"/>
              <a:t>a</a:t>
            </a:r>
            <a:r>
              <a:rPr spc="-350" dirty="0"/>
              <a:t>m</a:t>
            </a:r>
            <a:r>
              <a:rPr spc="-114" dirty="0"/>
              <a:t>i</a:t>
            </a:r>
            <a:r>
              <a:rPr spc="-26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350" dirty="0"/>
              <a:t>m</a:t>
            </a:r>
            <a:r>
              <a:rPr spc="-295" dirty="0"/>
              <a:t>u</a:t>
            </a:r>
            <a:r>
              <a:rPr spc="-135" dirty="0"/>
              <a:t>lti</a:t>
            </a:r>
            <a:r>
              <a:rPr spc="-285" dirty="0"/>
              <a:t>d</a:t>
            </a:r>
            <a:r>
              <a:rPr spc="-100" dirty="0"/>
              <a:t>i</a:t>
            </a:r>
            <a:r>
              <a:rPr spc="-315" dirty="0"/>
              <a:t>m</a:t>
            </a:r>
            <a:r>
              <a:rPr spc="-280" dirty="0"/>
              <a:t>e</a:t>
            </a:r>
            <a:r>
              <a:rPr spc="-295" dirty="0"/>
              <a:t>n</a:t>
            </a:r>
            <a:r>
              <a:rPr spc="-475" dirty="0"/>
              <a:t>s</a:t>
            </a:r>
            <a:r>
              <a:rPr spc="-114" dirty="0"/>
              <a:t>i</a:t>
            </a:r>
            <a:r>
              <a:rPr spc="-250" dirty="0"/>
              <a:t>o</a:t>
            </a:r>
            <a:r>
              <a:rPr spc="-295" dirty="0"/>
              <a:t>nn</a:t>
            </a:r>
            <a:r>
              <a:rPr spc="-280" dirty="0"/>
              <a:t>e</a:t>
            </a:r>
            <a:r>
              <a:rPr spc="-270" dirty="0"/>
              <a:t>ls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3230" y="4481991"/>
            <a:ext cx="2196324" cy="266556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42372" y="1901443"/>
            <a:ext cx="7842250" cy="303085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600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317500" algn="l"/>
              </a:tabLst>
            </a:pPr>
            <a:r>
              <a:rPr sz="2400" spc="-5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peut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faire: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505"/>
              </a:spcBef>
            </a:pPr>
            <a:r>
              <a:rPr sz="2400" dirty="0">
                <a:latin typeface="Times New Roman"/>
                <a:cs typeface="Times New Roman"/>
              </a:rPr>
              <a:t>Matrix(0)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vector&lt;double&gt;(3);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495"/>
              </a:spcBef>
            </a:pPr>
            <a:r>
              <a:rPr sz="2400" dirty="0">
                <a:latin typeface="Times New Roman"/>
                <a:cs typeface="Times New Roman"/>
              </a:rPr>
              <a:t>pour</a:t>
            </a:r>
            <a:r>
              <a:rPr sz="2400" spc="-5" dirty="0">
                <a:latin typeface="Times New Roman"/>
                <a:cs typeface="Times New Roman"/>
              </a:rPr>
              <a:t> initialiser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premier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élément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à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 tableau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 3 </a:t>
            </a:r>
            <a:r>
              <a:rPr sz="2400" spc="-5" dirty="0">
                <a:latin typeface="Times New Roman"/>
                <a:cs typeface="Times New Roman"/>
              </a:rPr>
              <a:t>éléments.</a:t>
            </a:r>
            <a:endParaRPr sz="2400">
              <a:latin typeface="Times New Roman"/>
              <a:cs typeface="Times New Roman"/>
            </a:endParaRPr>
          </a:p>
          <a:p>
            <a:pPr marL="317500" indent="-304800">
              <a:lnSpc>
                <a:spcPct val="100000"/>
              </a:lnSpc>
              <a:spcBef>
                <a:spcPts val="500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317500" algn="l"/>
              </a:tabLst>
            </a:pPr>
            <a:r>
              <a:rPr sz="2400" spc="-5" dirty="0">
                <a:latin typeface="Times New Roman"/>
                <a:cs typeface="Times New Roman"/>
              </a:rPr>
              <a:t>Matrix[0]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maintenant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 tableau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 3 </a:t>
            </a:r>
            <a:r>
              <a:rPr sz="2400" spc="-5" dirty="0">
                <a:latin typeface="Times New Roman"/>
                <a:cs typeface="Times New Roman"/>
              </a:rPr>
              <a:t>éléments.</a:t>
            </a:r>
            <a:endParaRPr sz="2400">
              <a:latin typeface="Times New Roman"/>
              <a:cs typeface="Times New Roman"/>
            </a:endParaRPr>
          </a:p>
          <a:p>
            <a:pPr marL="317500" indent="-304800">
              <a:lnSpc>
                <a:spcPct val="100000"/>
              </a:lnSpc>
              <a:spcBef>
                <a:spcPts val="505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317500" algn="l"/>
              </a:tabLst>
            </a:pPr>
            <a:r>
              <a:rPr sz="2400" spc="-5" dirty="0">
                <a:latin typeface="Times New Roman"/>
                <a:cs typeface="Times New Roman"/>
              </a:rPr>
              <a:t>Matrix[0][1]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l'élément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d'indice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 du tableau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Matrix[0]</a:t>
            </a:r>
            <a:endParaRPr sz="2400">
              <a:latin typeface="Times New Roman"/>
              <a:cs typeface="Times New Roman"/>
            </a:endParaRPr>
          </a:p>
          <a:p>
            <a:pPr marL="3049905">
              <a:lnSpc>
                <a:spcPct val="100000"/>
              </a:lnSpc>
              <a:spcBef>
                <a:spcPts val="315"/>
              </a:spcBef>
            </a:pPr>
            <a:r>
              <a:rPr sz="2400" b="1" dirty="0">
                <a:solidFill>
                  <a:srgbClr val="6F2FA0"/>
                </a:solidFill>
                <a:latin typeface="Times New Roman"/>
                <a:cs typeface="Times New Roman"/>
              </a:rPr>
              <a:t>Matrix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5996940" algn="l"/>
              </a:tabLst>
            </a:pPr>
            <a:r>
              <a:rPr sz="2400" spc="-5" dirty="0">
                <a:solidFill>
                  <a:srgbClr val="6F2FA0"/>
                </a:solidFill>
                <a:latin typeface="Times New Roman"/>
                <a:cs typeface="Times New Roman"/>
              </a:rPr>
              <a:t>Matrix[0]	Matrix[0][1]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56566" y="4619244"/>
            <a:ext cx="1161415" cy="262255"/>
            <a:chOff x="2456566" y="4619244"/>
            <a:chExt cx="1161415" cy="262255"/>
          </a:xfrm>
        </p:grpSpPr>
        <p:sp>
          <p:nvSpPr>
            <p:cNvPr id="7" name="object 7"/>
            <p:cNvSpPr/>
            <p:nvPr/>
          </p:nvSpPr>
          <p:spPr>
            <a:xfrm>
              <a:off x="2465710" y="4642103"/>
              <a:ext cx="1138555" cy="216535"/>
            </a:xfrm>
            <a:custGeom>
              <a:avLst/>
              <a:gdLst/>
              <a:ahLst/>
              <a:cxnLst/>
              <a:rect l="l" t="t" r="r" b="b"/>
              <a:pathLst>
                <a:path w="1138554" h="216535">
                  <a:moveTo>
                    <a:pt x="1138427" y="108203"/>
                  </a:moveTo>
                  <a:lnTo>
                    <a:pt x="1030223" y="0"/>
                  </a:lnTo>
                  <a:lnTo>
                    <a:pt x="1030223" y="54863"/>
                  </a:lnTo>
                  <a:lnTo>
                    <a:pt x="0" y="54863"/>
                  </a:lnTo>
                  <a:lnTo>
                    <a:pt x="0" y="163067"/>
                  </a:lnTo>
                  <a:lnTo>
                    <a:pt x="1030223" y="163067"/>
                  </a:lnTo>
                  <a:lnTo>
                    <a:pt x="1030223" y="216407"/>
                  </a:lnTo>
                  <a:lnTo>
                    <a:pt x="1138427" y="108203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56566" y="4619244"/>
              <a:ext cx="1161415" cy="262255"/>
            </a:xfrm>
            <a:custGeom>
              <a:avLst/>
              <a:gdLst/>
              <a:ahLst/>
              <a:cxnLst/>
              <a:rect l="l" t="t" r="r" b="b"/>
              <a:pathLst>
                <a:path w="1161414" h="262254">
                  <a:moveTo>
                    <a:pt x="1039368" y="68580"/>
                  </a:moveTo>
                  <a:lnTo>
                    <a:pt x="0" y="68580"/>
                  </a:lnTo>
                  <a:lnTo>
                    <a:pt x="0" y="195072"/>
                  </a:lnTo>
                  <a:lnTo>
                    <a:pt x="9144" y="195072"/>
                  </a:lnTo>
                  <a:lnTo>
                    <a:pt x="9144" y="86868"/>
                  </a:lnTo>
                  <a:lnTo>
                    <a:pt x="19812" y="77724"/>
                  </a:lnTo>
                  <a:lnTo>
                    <a:pt x="19812" y="86868"/>
                  </a:lnTo>
                  <a:lnTo>
                    <a:pt x="1030224" y="86868"/>
                  </a:lnTo>
                  <a:lnTo>
                    <a:pt x="1030224" y="77724"/>
                  </a:lnTo>
                  <a:lnTo>
                    <a:pt x="1039368" y="68580"/>
                  </a:lnTo>
                  <a:close/>
                </a:path>
                <a:path w="1161414" h="262254">
                  <a:moveTo>
                    <a:pt x="19812" y="86868"/>
                  </a:moveTo>
                  <a:lnTo>
                    <a:pt x="19812" y="77724"/>
                  </a:lnTo>
                  <a:lnTo>
                    <a:pt x="9144" y="86868"/>
                  </a:lnTo>
                  <a:lnTo>
                    <a:pt x="19812" y="86868"/>
                  </a:lnTo>
                  <a:close/>
                </a:path>
                <a:path w="1161414" h="262254">
                  <a:moveTo>
                    <a:pt x="19812" y="176784"/>
                  </a:moveTo>
                  <a:lnTo>
                    <a:pt x="19812" y="86868"/>
                  </a:lnTo>
                  <a:lnTo>
                    <a:pt x="9144" y="86868"/>
                  </a:lnTo>
                  <a:lnTo>
                    <a:pt x="9144" y="176784"/>
                  </a:lnTo>
                  <a:lnTo>
                    <a:pt x="19812" y="176784"/>
                  </a:lnTo>
                  <a:close/>
                </a:path>
                <a:path w="1161414" h="262254">
                  <a:moveTo>
                    <a:pt x="1048512" y="217932"/>
                  </a:moveTo>
                  <a:lnTo>
                    <a:pt x="1048512" y="176784"/>
                  </a:lnTo>
                  <a:lnTo>
                    <a:pt x="9144" y="176784"/>
                  </a:lnTo>
                  <a:lnTo>
                    <a:pt x="19812" y="185928"/>
                  </a:lnTo>
                  <a:lnTo>
                    <a:pt x="19812" y="195072"/>
                  </a:lnTo>
                  <a:lnTo>
                    <a:pt x="1030224" y="195072"/>
                  </a:lnTo>
                  <a:lnTo>
                    <a:pt x="1030224" y="185928"/>
                  </a:lnTo>
                  <a:lnTo>
                    <a:pt x="1039368" y="195072"/>
                  </a:lnTo>
                  <a:lnTo>
                    <a:pt x="1039368" y="227076"/>
                  </a:lnTo>
                  <a:lnTo>
                    <a:pt x="1048512" y="217932"/>
                  </a:lnTo>
                  <a:close/>
                </a:path>
                <a:path w="1161414" h="262254">
                  <a:moveTo>
                    <a:pt x="19812" y="195072"/>
                  </a:moveTo>
                  <a:lnTo>
                    <a:pt x="19812" y="185928"/>
                  </a:lnTo>
                  <a:lnTo>
                    <a:pt x="9144" y="176784"/>
                  </a:lnTo>
                  <a:lnTo>
                    <a:pt x="9144" y="195072"/>
                  </a:lnTo>
                  <a:lnTo>
                    <a:pt x="19812" y="195072"/>
                  </a:lnTo>
                  <a:close/>
                </a:path>
                <a:path w="1161414" h="262254">
                  <a:moveTo>
                    <a:pt x="1161288" y="131064"/>
                  </a:moveTo>
                  <a:lnTo>
                    <a:pt x="1030224" y="0"/>
                  </a:lnTo>
                  <a:lnTo>
                    <a:pt x="1030224" y="68580"/>
                  </a:lnTo>
                  <a:lnTo>
                    <a:pt x="1033272" y="68580"/>
                  </a:lnTo>
                  <a:lnTo>
                    <a:pt x="1033272" y="30480"/>
                  </a:lnTo>
                  <a:lnTo>
                    <a:pt x="1048512" y="22860"/>
                  </a:lnTo>
                  <a:lnTo>
                    <a:pt x="1048512" y="45720"/>
                  </a:lnTo>
                  <a:lnTo>
                    <a:pt x="1134618" y="131826"/>
                  </a:lnTo>
                  <a:lnTo>
                    <a:pt x="1141476" y="124968"/>
                  </a:lnTo>
                  <a:lnTo>
                    <a:pt x="1141476" y="150876"/>
                  </a:lnTo>
                  <a:lnTo>
                    <a:pt x="1161288" y="131064"/>
                  </a:lnTo>
                  <a:close/>
                </a:path>
                <a:path w="1161414" h="262254">
                  <a:moveTo>
                    <a:pt x="1039368" y="86868"/>
                  </a:moveTo>
                  <a:lnTo>
                    <a:pt x="1039368" y="68580"/>
                  </a:lnTo>
                  <a:lnTo>
                    <a:pt x="1030224" y="77724"/>
                  </a:lnTo>
                  <a:lnTo>
                    <a:pt x="1030224" y="86868"/>
                  </a:lnTo>
                  <a:lnTo>
                    <a:pt x="1039368" y="86868"/>
                  </a:lnTo>
                  <a:close/>
                </a:path>
                <a:path w="1161414" h="262254">
                  <a:moveTo>
                    <a:pt x="1039368" y="195072"/>
                  </a:moveTo>
                  <a:lnTo>
                    <a:pt x="1030224" y="185928"/>
                  </a:lnTo>
                  <a:lnTo>
                    <a:pt x="1030224" y="195072"/>
                  </a:lnTo>
                  <a:lnTo>
                    <a:pt x="1039368" y="195072"/>
                  </a:lnTo>
                  <a:close/>
                </a:path>
                <a:path w="1161414" h="262254">
                  <a:moveTo>
                    <a:pt x="1039368" y="227076"/>
                  </a:moveTo>
                  <a:lnTo>
                    <a:pt x="1039368" y="195072"/>
                  </a:lnTo>
                  <a:lnTo>
                    <a:pt x="1030224" y="195072"/>
                  </a:lnTo>
                  <a:lnTo>
                    <a:pt x="1030224" y="262128"/>
                  </a:lnTo>
                  <a:lnTo>
                    <a:pt x="1033272" y="259080"/>
                  </a:lnTo>
                  <a:lnTo>
                    <a:pt x="1033272" y="233172"/>
                  </a:lnTo>
                  <a:lnTo>
                    <a:pt x="1039368" y="227076"/>
                  </a:lnTo>
                  <a:close/>
                </a:path>
                <a:path w="1161414" h="262254">
                  <a:moveTo>
                    <a:pt x="1048512" y="45720"/>
                  </a:moveTo>
                  <a:lnTo>
                    <a:pt x="1048512" y="22860"/>
                  </a:lnTo>
                  <a:lnTo>
                    <a:pt x="1033272" y="30480"/>
                  </a:lnTo>
                  <a:lnTo>
                    <a:pt x="1048512" y="45720"/>
                  </a:lnTo>
                  <a:close/>
                </a:path>
                <a:path w="1161414" h="262254">
                  <a:moveTo>
                    <a:pt x="1048512" y="86868"/>
                  </a:moveTo>
                  <a:lnTo>
                    <a:pt x="1048512" y="45720"/>
                  </a:lnTo>
                  <a:lnTo>
                    <a:pt x="1033272" y="30480"/>
                  </a:lnTo>
                  <a:lnTo>
                    <a:pt x="1033272" y="68580"/>
                  </a:lnTo>
                  <a:lnTo>
                    <a:pt x="1039368" y="68580"/>
                  </a:lnTo>
                  <a:lnTo>
                    <a:pt x="1039368" y="86868"/>
                  </a:lnTo>
                  <a:lnTo>
                    <a:pt x="1048512" y="86868"/>
                  </a:lnTo>
                  <a:close/>
                </a:path>
                <a:path w="1161414" h="262254">
                  <a:moveTo>
                    <a:pt x="1141476" y="150876"/>
                  </a:moveTo>
                  <a:lnTo>
                    <a:pt x="1141476" y="138684"/>
                  </a:lnTo>
                  <a:lnTo>
                    <a:pt x="1134618" y="131826"/>
                  </a:lnTo>
                  <a:lnTo>
                    <a:pt x="1033272" y="233172"/>
                  </a:lnTo>
                  <a:lnTo>
                    <a:pt x="1048512" y="239268"/>
                  </a:lnTo>
                  <a:lnTo>
                    <a:pt x="1048512" y="243840"/>
                  </a:lnTo>
                  <a:lnTo>
                    <a:pt x="1141476" y="150876"/>
                  </a:lnTo>
                  <a:close/>
                </a:path>
                <a:path w="1161414" h="262254">
                  <a:moveTo>
                    <a:pt x="1048512" y="243840"/>
                  </a:moveTo>
                  <a:lnTo>
                    <a:pt x="1048512" y="239268"/>
                  </a:lnTo>
                  <a:lnTo>
                    <a:pt x="1033272" y="233172"/>
                  </a:lnTo>
                  <a:lnTo>
                    <a:pt x="1033272" y="259080"/>
                  </a:lnTo>
                  <a:lnTo>
                    <a:pt x="1048512" y="243840"/>
                  </a:lnTo>
                  <a:close/>
                </a:path>
                <a:path w="1161414" h="262254">
                  <a:moveTo>
                    <a:pt x="1141476" y="138684"/>
                  </a:moveTo>
                  <a:lnTo>
                    <a:pt x="1141476" y="124968"/>
                  </a:lnTo>
                  <a:lnTo>
                    <a:pt x="1134618" y="131826"/>
                  </a:lnTo>
                  <a:lnTo>
                    <a:pt x="1141476" y="138684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4763902" y="4700016"/>
            <a:ext cx="2383790" cy="100965"/>
          </a:xfrm>
          <a:custGeom>
            <a:avLst/>
            <a:gdLst/>
            <a:ahLst/>
            <a:cxnLst/>
            <a:rect l="l" t="t" r="r" b="b"/>
            <a:pathLst>
              <a:path w="2383790" h="100964">
                <a:moveTo>
                  <a:pt x="91440" y="6096"/>
                </a:moveTo>
                <a:lnTo>
                  <a:pt x="89916" y="4572"/>
                </a:lnTo>
                <a:lnTo>
                  <a:pt x="88392" y="1524"/>
                </a:lnTo>
                <a:lnTo>
                  <a:pt x="85344" y="0"/>
                </a:lnTo>
                <a:lnTo>
                  <a:pt x="83820" y="1524"/>
                </a:lnTo>
                <a:lnTo>
                  <a:pt x="0" y="50292"/>
                </a:lnTo>
                <a:lnTo>
                  <a:pt x="9144" y="55612"/>
                </a:lnTo>
                <a:lnTo>
                  <a:pt x="9144" y="45720"/>
                </a:lnTo>
                <a:lnTo>
                  <a:pt x="27957" y="45720"/>
                </a:lnTo>
                <a:lnTo>
                  <a:pt x="88392" y="10668"/>
                </a:lnTo>
                <a:lnTo>
                  <a:pt x="89916" y="9144"/>
                </a:lnTo>
                <a:lnTo>
                  <a:pt x="91440" y="6096"/>
                </a:lnTo>
                <a:close/>
              </a:path>
              <a:path w="2383790" h="100964">
                <a:moveTo>
                  <a:pt x="27957" y="45720"/>
                </a:moveTo>
                <a:lnTo>
                  <a:pt x="9144" y="45720"/>
                </a:lnTo>
                <a:lnTo>
                  <a:pt x="9144" y="55612"/>
                </a:lnTo>
                <a:lnTo>
                  <a:pt x="10477" y="56388"/>
                </a:lnTo>
                <a:lnTo>
                  <a:pt x="12192" y="56388"/>
                </a:lnTo>
                <a:lnTo>
                  <a:pt x="12192" y="47244"/>
                </a:lnTo>
                <a:lnTo>
                  <a:pt x="18760" y="51054"/>
                </a:lnTo>
                <a:lnTo>
                  <a:pt x="27957" y="45720"/>
                </a:lnTo>
                <a:close/>
              </a:path>
              <a:path w="2383790" h="100964">
                <a:moveTo>
                  <a:pt x="10477" y="56388"/>
                </a:moveTo>
                <a:lnTo>
                  <a:pt x="9144" y="55612"/>
                </a:lnTo>
                <a:lnTo>
                  <a:pt x="9144" y="56388"/>
                </a:lnTo>
                <a:lnTo>
                  <a:pt x="10477" y="56388"/>
                </a:lnTo>
                <a:close/>
              </a:path>
              <a:path w="2383790" h="100964">
                <a:moveTo>
                  <a:pt x="91440" y="96012"/>
                </a:moveTo>
                <a:lnTo>
                  <a:pt x="89916" y="92964"/>
                </a:lnTo>
                <a:lnTo>
                  <a:pt x="88392" y="91440"/>
                </a:lnTo>
                <a:lnTo>
                  <a:pt x="27957" y="56388"/>
                </a:lnTo>
                <a:lnTo>
                  <a:pt x="10477" y="56388"/>
                </a:lnTo>
                <a:lnTo>
                  <a:pt x="83820" y="99060"/>
                </a:lnTo>
                <a:lnTo>
                  <a:pt x="85344" y="100584"/>
                </a:lnTo>
                <a:lnTo>
                  <a:pt x="88392" y="100584"/>
                </a:lnTo>
                <a:lnTo>
                  <a:pt x="89916" y="97536"/>
                </a:lnTo>
                <a:lnTo>
                  <a:pt x="91440" y="96012"/>
                </a:lnTo>
                <a:close/>
              </a:path>
              <a:path w="2383790" h="100964">
                <a:moveTo>
                  <a:pt x="18760" y="51054"/>
                </a:moveTo>
                <a:lnTo>
                  <a:pt x="12192" y="47244"/>
                </a:lnTo>
                <a:lnTo>
                  <a:pt x="12192" y="54864"/>
                </a:lnTo>
                <a:lnTo>
                  <a:pt x="18760" y="51054"/>
                </a:lnTo>
                <a:close/>
              </a:path>
              <a:path w="2383790" h="100964">
                <a:moveTo>
                  <a:pt x="27957" y="56388"/>
                </a:moveTo>
                <a:lnTo>
                  <a:pt x="18760" y="51054"/>
                </a:lnTo>
                <a:lnTo>
                  <a:pt x="12192" y="54864"/>
                </a:lnTo>
                <a:lnTo>
                  <a:pt x="12192" y="56388"/>
                </a:lnTo>
                <a:lnTo>
                  <a:pt x="27957" y="56388"/>
                </a:lnTo>
                <a:close/>
              </a:path>
              <a:path w="2383790" h="100964">
                <a:moveTo>
                  <a:pt x="2383536" y="56388"/>
                </a:moveTo>
                <a:lnTo>
                  <a:pt x="2383536" y="45720"/>
                </a:lnTo>
                <a:lnTo>
                  <a:pt x="27957" y="45720"/>
                </a:lnTo>
                <a:lnTo>
                  <a:pt x="18760" y="51054"/>
                </a:lnTo>
                <a:lnTo>
                  <a:pt x="27957" y="56388"/>
                </a:lnTo>
                <a:lnTo>
                  <a:pt x="2383536" y="56388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2372" y="1901443"/>
            <a:ext cx="4944110" cy="303085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600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317500" algn="l"/>
              </a:tabLst>
            </a:pPr>
            <a:r>
              <a:rPr sz="2400" spc="-5" dirty="0">
                <a:latin typeface="Times New Roman"/>
                <a:cs typeface="Times New Roman"/>
              </a:rPr>
              <a:t>Si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fait:</a:t>
            </a:r>
            <a:endParaRPr sz="2400">
              <a:latin typeface="Times New Roman"/>
              <a:cs typeface="Times New Roman"/>
            </a:endParaRPr>
          </a:p>
          <a:p>
            <a:pPr marL="241300" marR="5080" indent="76200">
              <a:lnSpc>
                <a:spcPct val="117300"/>
              </a:lnSpc>
              <a:spcBef>
                <a:spcPts val="10"/>
              </a:spcBef>
              <a:tabLst>
                <a:tab pos="3408679" algn="l"/>
              </a:tabLst>
            </a:pPr>
            <a:r>
              <a:rPr sz="2400" dirty="0">
                <a:latin typeface="Times New Roman"/>
                <a:cs typeface="Times New Roman"/>
              </a:rPr>
              <a:t>vector&lt;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vector&lt;double&gt;	&gt;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Matrix(4);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Matrix[0]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5" dirty="0">
                <a:latin typeface="Times New Roman"/>
                <a:cs typeface="Times New Roman"/>
              </a:rPr>
              <a:t>vector&lt;double&gt; </a:t>
            </a:r>
            <a:r>
              <a:rPr sz="2400" dirty="0">
                <a:latin typeface="Times New Roman"/>
                <a:cs typeface="Times New Roman"/>
              </a:rPr>
              <a:t>(3);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Matrix[1]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5" dirty="0">
                <a:latin typeface="Times New Roman"/>
                <a:cs typeface="Times New Roman"/>
              </a:rPr>
              <a:t>vector&lt;double&gt; </a:t>
            </a:r>
            <a:r>
              <a:rPr sz="2400" dirty="0">
                <a:latin typeface="Times New Roman"/>
                <a:cs typeface="Times New Roman"/>
              </a:rPr>
              <a:t>(2);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Matrix[2]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5" dirty="0">
                <a:latin typeface="Times New Roman"/>
                <a:cs typeface="Times New Roman"/>
              </a:rPr>
              <a:t>vector&lt;double&gt; </a:t>
            </a:r>
            <a:r>
              <a:rPr sz="2400" dirty="0">
                <a:latin typeface="Times New Roman"/>
                <a:cs typeface="Times New Roman"/>
              </a:rPr>
              <a:t>(5);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Matrix[3]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5" dirty="0">
                <a:latin typeface="Times New Roman"/>
                <a:cs typeface="Times New Roman"/>
              </a:rPr>
              <a:t>vector&lt;double&gt;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(3);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00"/>
              </a:spcBef>
            </a:pP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obtient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tableaux: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37078" y="2823463"/>
            <a:ext cx="941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6F2FA0"/>
                </a:solidFill>
                <a:latin typeface="Times New Roman"/>
                <a:cs typeface="Times New Roman"/>
              </a:rPr>
              <a:t>Matrix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spc="-580" dirty="0"/>
              <a:t>T</a:t>
            </a:r>
            <a:r>
              <a:rPr spc="-110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00" dirty="0"/>
              <a:t>y</a:t>
            </a:r>
            <a:r>
              <a:rPr spc="-295" dirty="0"/>
              <a:t>n</a:t>
            </a:r>
            <a:r>
              <a:rPr spc="-110" dirty="0"/>
              <a:t>a</a:t>
            </a:r>
            <a:r>
              <a:rPr spc="-350" dirty="0"/>
              <a:t>m</a:t>
            </a:r>
            <a:r>
              <a:rPr spc="-114" dirty="0"/>
              <a:t>i</a:t>
            </a:r>
            <a:r>
              <a:rPr spc="-26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350" dirty="0"/>
              <a:t>m</a:t>
            </a:r>
            <a:r>
              <a:rPr spc="-295" dirty="0"/>
              <a:t>u</a:t>
            </a:r>
            <a:r>
              <a:rPr spc="-135" dirty="0"/>
              <a:t>lti</a:t>
            </a:r>
            <a:r>
              <a:rPr spc="-285" dirty="0"/>
              <a:t>d</a:t>
            </a:r>
            <a:r>
              <a:rPr spc="-100" dirty="0"/>
              <a:t>i</a:t>
            </a:r>
            <a:r>
              <a:rPr spc="-315" dirty="0"/>
              <a:t>m</a:t>
            </a:r>
            <a:r>
              <a:rPr spc="-280" dirty="0"/>
              <a:t>e</a:t>
            </a:r>
            <a:r>
              <a:rPr spc="-295" dirty="0"/>
              <a:t>n</a:t>
            </a:r>
            <a:r>
              <a:rPr spc="-475" dirty="0"/>
              <a:t>s</a:t>
            </a:r>
            <a:r>
              <a:rPr spc="-114" dirty="0"/>
              <a:t>i</a:t>
            </a:r>
            <a:r>
              <a:rPr spc="-250" dirty="0"/>
              <a:t>o</a:t>
            </a:r>
            <a:r>
              <a:rPr spc="-295" dirty="0"/>
              <a:t>nn</a:t>
            </a:r>
            <a:r>
              <a:rPr spc="-280" dirty="0"/>
              <a:t>e</a:t>
            </a:r>
            <a:r>
              <a:rPr spc="-270" dirty="0"/>
              <a:t>ls</a:t>
            </a:r>
          </a:p>
        </p:txBody>
      </p:sp>
      <p:sp>
        <p:nvSpPr>
          <p:cNvPr id="6" name="object 6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8051" y="3357834"/>
            <a:ext cx="3003597" cy="3636743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2372" y="1858464"/>
            <a:ext cx="4893945" cy="323723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925"/>
              </a:spcBef>
              <a:buClr>
                <a:srgbClr val="006FC0"/>
              </a:buClr>
              <a:buSzPct val="64285"/>
              <a:buFont typeface="Wingdings"/>
              <a:buChar char=""/>
              <a:tabLst>
                <a:tab pos="317500" algn="l"/>
              </a:tabLst>
            </a:pP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Cas</a:t>
            </a:r>
            <a:r>
              <a:rPr sz="2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particulier:</a:t>
            </a:r>
            <a:endParaRPr sz="2800">
              <a:latin typeface="Times New Roman"/>
              <a:cs typeface="Times New Roman"/>
            </a:endParaRPr>
          </a:p>
          <a:p>
            <a:pPr marL="165100" marR="7620" indent="76200">
              <a:lnSpc>
                <a:spcPct val="124600"/>
              </a:lnSpc>
              <a:spcBef>
                <a:spcPts val="5"/>
              </a:spcBef>
              <a:tabLst>
                <a:tab pos="3337560" algn="l"/>
              </a:tabLst>
            </a:pPr>
            <a:r>
              <a:rPr sz="2400" dirty="0">
                <a:latin typeface="Times New Roman"/>
                <a:cs typeface="Times New Roman"/>
              </a:rPr>
              <a:t>vector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vector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spc="-5" dirty="0">
                <a:latin typeface="Times New Roman"/>
                <a:cs typeface="Times New Roman"/>
              </a:rPr>
              <a:t>double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&gt;	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2400" b="1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Matrix(4)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400" b="1" spc="-5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 </a:t>
            </a:r>
            <a:r>
              <a:rPr sz="2400" dirty="0">
                <a:latin typeface="Times New Roman"/>
                <a:cs typeface="Times New Roman"/>
              </a:rPr>
              <a:t>(int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i(0);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&lt;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4;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++i)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695"/>
              </a:spcBef>
            </a:pPr>
            <a:r>
              <a:rPr sz="2400" spc="-5" dirty="0">
                <a:latin typeface="Times New Roman"/>
                <a:cs typeface="Times New Roman"/>
              </a:rPr>
              <a:t>Matrix[i]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5" dirty="0">
                <a:latin typeface="Times New Roman"/>
                <a:cs typeface="Times New Roman"/>
              </a:rPr>
              <a:t>vector&lt;double&gt;(3);</a:t>
            </a:r>
            <a:endParaRPr sz="24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695"/>
              </a:spcBef>
            </a:pP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317500" marR="5080" indent="-304800">
              <a:lnSpc>
                <a:spcPct val="117500"/>
              </a:lnSpc>
              <a:buClr>
                <a:srgbClr val="006FC0"/>
              </a:buClr>
              <a:buSzPct val="75000"/>
              <a:buFont typeface="Wingdings"/>
              <a:buChar char=""/>
              <a:tabLst>
                <a:tab pos="317500" algn="l"/>
              </a:tabLst>
            </a:pPr>
            <a:r>
              <a:rPr sz="2400" spc="-5" dirty="0">
                <a:latin typeface="Times New Roman"/>
                <a:cs typeface="Times New Roman"/>
              </a:rPr>
              <a:t>Matrix[i][j] </a:t>
            </a:r>
            <a:r>
              <a:rPr sz="2400" dirty="0">
                <a:latin typeface="Times New Roman"/>
                <a:cs typeface="Times New Roman"/>
              </a:rPr>
              <a:t>est </a:t>
            </a:r>
            <a:r>
              <a:rPr sz="2400" spc="-5" dirty="0">
                <a:latin typeface="Times New Roman"/>
                <a:cs typeface="Times New Roman"/>
              </a:rPr>
              <a:t>l'élément d'indice </a:t>
            </a:r>
            <a:r>
              <a:rPr sz="2400" dirty="0">
                <a:latin typeface="Times New Roman"/>
                <a:cs typeface="Times New Roman"/>
              </a:rPr>
              <a:t>j du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d'indice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56534" y="2480563"/>
            <a:ext cx="941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6F2FA0"/>
                </a:solidFill>
                <a:latin typeface="Times New Roman"/>
                <a:cs typeface="Times New Roman"/>
              </a:rPr>
              <a:t>Matrix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spc="-580" dirty="0"/>
              <a:t>T</a:t>
            </a:r>
            <a:r>
              <a:rPr spc="-110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00" dirty="0"/>
              <a:t>y</a:t>
            </a:r>
            <a:r>
              <a:rPr spc="-295" dirty="0"/>
              <a:t>n</a:t>
            </a:r>
            <a:r>
              <a:rPr spc="-110" dirty="0"/>
              <a:t>a</a:t>
            </a:r>
            <a:r>
              <a:rPr spc="-350" dirty="0"/>
              <a:t>m</a:t>
            </a:r>
            <a:r>
              <a:rPr spc="-114" dirty="0"/>
              <a:t>i</a:t>
            </a:r>
            <a:r>
              <a:rPr spc="-26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350" dirty="0"/>
              <a:t>m</a:t>
            </a:r>
            <a:r>
              <a:rPr spc="-295" dirty="0"/>
              <a:t>u</a:t>
            </a:r>
            <a:r>
              <a:rPr spc="-135" dirty="0"/>
              <a:t>lti</a:t>
            </a:r>
            <a:r>
              <a:rPr spc="-285" dirty="0"/>
              <a:t>d</a:t>
            </a:r>
            <a:r>
              <a:rPr spc="-100" dirty="0"/>
              <a:t>i</a:t>
            </a:r>
            <a:r>
              <a:rPr spc="-315" dirty="0"/>
              <a:t>m</a:t>
            </a:r>
            <a:r>
              <a:rPr spc="-280" dirty="0"/>
              <a:t>e</a:t>
            </a:r>
            <a:r>
              <a:rPr spc="-295" dirty="0"/>
              <a:t>n</a:t>
            </a:r>
            <a:r>
              <a:rPr spc="-475" dirty="0"/>
              <a:t>s</a:t>
            </a:r>
            <a:r>
              <a:rPr spc="-114" dirty="0"/>
              <a:t>i</a:t>
            </a:r>
            <a:r>
              <a:rPr spc="-250" dirty="0"/>
              <a:t>o</a:t>
            </a:r>
            <a:r>
              <a:rPr spc="-295" dirty="0"/>
              <a:t>nn</a:t>
            </a:r>
            <a:r>
              <a:rPr spc="-280" dirty="0"/>
              <a:t>e</a:t>
            </a:r>
            <a:r>
              <a:rPr spc="-270" dirty="0"/>
              <a:t>ls</a:t>
            </a:r>
          </a:p>
        </p:txBody>
      </p:sp>
      <p:sp>
        <p:nvSpPr>
          <p:cNvPr id="6" name="object 6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4557" y="2842259"/>
            <a:ext cx="2702051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864" y="1858464"/>
            <a:ext cx="9037955" cy="3653154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283845">
              <a:lnSpc>
                <a:spcPct val="100000"/>
              </a:lnSpc>
              <a:spcBef>
                <a:spcPts val="925"/>
              </a:spcBef>
            </a:pP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Initialiser</a:t>
            </a:r>
            <a:r>
              <a:rPr sz="2800" b="1" spc="-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les </a:t>
            </a:r>
            <a:r>
              <a:rPr sz="2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éléments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à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  <a:p>
            <a:pPr marL="332105" marR="5080" indent="-320040">
              <a:lnSpc>
                <a:spcPct val="100000"/>
              </a:lnSpc>
              <a:spcBef>
                <a:spcPts val="710"/>
              </a:spcBef>
              <a:buClr>
                <a:srgbClr val="006FC0"/>
              </a:buClr>
              <a:buSzPct val="58333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400" spc="-5" dirty="0">
                <a:latin typeface="Times New Roman"/>
                <a:cs typeface="Times New Roman"/>
              </a:rPr>
              <a:t>Pour initialiser </a:t>
            </a:r>
            <a:r>
              <a:rPr sz="2400" dirty="0">
                <a:latin typeface="Times New Roman"/>
                <a:cs typeface="Times New Roman"/>
              </a:rPr>
              <a:t>tous les </a:t>
            </a:r>
            <a:r>
              <a:rPr sz="2400" spc="-5" dirty="0">
                <a:latin typeface="Times New Roman"/>
                <a:cs typeface="Times New Roman"/>
              </a:rPr>
              <a:t>éléments </a:t>
            </a:r>
            <a:r>
              <a:rPr sz="2400" dirty="0">
                <a:latin typeface="Times New Roman"/>
                <a:cs typeface="Times New Roman"/>
              </a:rPr>
              <a:t>des tableaux de </a:t>
            </a:r>
            <a:r>
              <a:rPr sz="2400" b="1" dirty="0">
                <a:solidFill>
                  <a:srgbClr val="6F2FA0"/>
                </a:solidFill>
                <a:latin typeface="Times New Roman"/>
                <a:cs typeface="Times New Roman"/>
              </a:rPr>
              <a:t>Matrix</a:t>
            </a:r>
            <a:r>
              <a:rPr sz="2400" dirty="0">
                <a:latin typeface="Times New Roman"/>
                <a:cs typeface="Times New Roman"/>
              </a:rPr>
              <a:t>, il </a:t>
            </a:r>
            <a:r>
              <a:rPr sz="2400" spc="-5" dirty="0">
                <a:latin typeface="Times New Roman"/>
                <a:cs typeface="Times New Roman"/>
              </a:rPr>
              <a:t>faut utiliser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deux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boucles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Times New Roman"/>
                <a:cs typeface="Times New Roman"/>
              </a:rPr>
              <a:t>for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imbriquées: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710"/>
              </a:spcBef>
            </a:pPr>
            <a:r>
              <a:rPr sz="2400" spc="-5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(int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i(0);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&lt;</a:t>
            </a:r>
            <a:r>
              <a:rPr sz="2400" spc="-5" dirty="0">
                <a:latin typeface="Times New Roman"/>
                <a:cs typeface="Times New Roman"/>
              </a:rPr>
              <a:t> Matrix.size();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++i)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1841500" marR="3460750" indent="-914400">
              <a:lnSpc>
                <a:spcPct val="124200"/>
              </a:lnSpc>
            </a:pPr>
            <a:r>
              <a:rPr sz="2400" spc="-5" dirty="0">
                <a:latin typeface="Times New Roman"/>
                <a:cs typeface="Times New Roman"/>
              </a:rPr>
              <a:t>for(int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j(0);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&lt;</a:t>
            </a:r>
            <a:r>
              <a:rPr sz="2400" spc="-5" dirty="0">
                <a:latin typeface="Times New Roman"/>
                <a:cs typeface="Times New Roman"/>
              </a:rPr>
              <a:t> Matrix[i].size();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++j)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Matrix[i][j]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0;</a:t>
            </a:r>
            <a:endParaRPr sz="24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705"/>
              </a:spcBef>
            </a:pP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700"/>
              </a:spcBef>
            </a:pP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spc="-580" dirty="0"/>
              <a:t>T</a:t>
            </a:r>
            <a:r>
              <a:rPr spc="-110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00" dirty="0"/>
              <a:t>y</a:t>
            </a:r>
            <a:r>
              <a:rPr spc="-295" dirty="0"/>
              <a:t>n</a:t>
            </a:r>
            <a:r>
              <a:rPr spc="-110" dirty="0"/>
              <a:t>a</a:t>
            </a:r>
            <a:r>
              <a:rPr spc="-350" dirty="0"/>
              <a:t>m</a:t>
            </a:r>
            <a:r>
              <a:rPr spc="-114" dirty="0"/>
              <a:t>i</a:t>
            </a:r>
            <a:r>
              <a:rPr spc="-26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350" dirty="0"/>
              <a:t>m</a:t>
            </a:r>
            <a:r>
              <a:rPr spc="-295" dirty="0"/>
              <a:t>u</a:t>
            </a:r>
            <a:r>
              <a:rPr spc="-135" dirty="0"/>
              <a:t>lti</a:t>
            </a:r>
            <a:r>
              <a:rPr spc="-285" dirty="0"/>
              <a:t>d</a:t>
            </a:r>
            <a:r>
              <a:rPr spc="-100" dirty="0"/>
              <a:t>i</a:t>
            </a:r>
            <a:r>
              <a:rPr spc="-315" dirty="0"/>
              <a:t>m</a:t>
            </a:r>
            <a:r>
              <a:rPr spc="-280" dirty="0"/>
              <a:t>e</a:t>
            </a:r>
            <a:r>
              <a:rPr spc="-295" dirty="0"/>
              <a:t>n</a:t>
            </a:r>
            <a:r>
              <a:rPr spc="-475" dirty="0"/>
              <a:t>s</a:t>
            </a:r>
            <a:r>
              <a:rPr spc="-114" dirty="0"/>
              <a:t>i</a:t>
            </a:r>
            <a:r>
              <a:rPr spc="-250" dirty="0"/>
              <a:t>o</a:t>
            </a:r>
            <a:r>
              <a:rPr spc="-295" dirty="0"/>
              <a:t>nn</a:t>
            </a:r>
            <a:r>
              <a:rPr spc="-280" dirty="0"/>
              <a:t>e</a:t>
            </a:r>
            <a:r>
              <a:rPr spc="-270" dirty="0"/>
              <a:t>ls</a:t>
            </a: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/>
              <a:t>Initialisation</a:t>
            </a:r>
            <a:r>
              <a:rPr spc="-55" dirty="0"/>
              <a:t> </a:t>
            </a:r>
            <a:r>
              <a:rPr dirty="0"/>
              <a:t>en</a:t>
            </a:r>
            <a:r>
              <a:rPr spc="-30" dirty="0"/>
              <a:t> </a:t>
            </a:r>
            <a:r>
              <a:rPr dirty="0"/>
              <a:t>version</a:t>
            </a:r>
            <a:r>
              <a:rPr spc="-45" dirty="0"/>
              <a:t> </a:t>
            </a:r>
            <a:r>
              <a:rPr spc="-35" dirty="0"/>
              <a:t>C++11</a:t>
            </a:r>
          </a:p>
          <a:p>
            <a:pPr marL="22860">
              <a:lnSpc>
                <a:spcPct val="100000"/>
              </a:lnSpc>
              <a:spcBef>
                <a:spcPts val="305"/>
              </a:spcBef>
            </a:pPr>
            <a:r>
              <a:rPr sz="1800" b="0" spc="-50" dirty="0">
                <a:solidFill>
                  <a:srgbClr val="000000"/>
                </a:solidFill>
                <a:latin typeface="Times New Roman"/>
                <a:cs typeface="Times New Roman"/>
              </a:rPr>
              <a:t>Voici</a:t>
            </a:r>
            <a:r>
              <a:rPr sz="18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un</a:t>
            </a:r>
            <a:r>
              <a:rPr sz="1800" b="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exemple</a:t>
            </a:r>
            <a:r>
              <a:rPr sz="1800" b="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d’initialisation</a:t>
            </a:r>
            <a:r>
              <a:rPr sz="1800" b="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d’un</a:t>
            </a:r>
            <a:r>
              <a:rPr sz="1800" b="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tableau</a:t>
            </a:r>
            <a:r>
              <a:rPr sz="1800" b="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dynamique</a:t>
            </a:r>
            <a:r>
              <a:rPr sz="18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 multidimensionnel</a:t>
            </a:r>
            <a:r>
              <a:rPr sz="1800" b="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en </a:t>
            </a:r>
            <a:r>
              <a:rPr sz="18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version</a:t>
            </a:r>
            <a:r>
              <a:rPr sz="1800" b="0" spc="4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spc="-15" dirty="0">
                <a:solidFill>
                  <a:srgbClr val="000000"/>
                </a:solidFill>
                <a:latin typeface="Times New Roman"/>
                <a:cs typeface="Times New Roman"/>
              </a:rPr>
              <a:t>C++11:</a:t>
            </a:r>
            <a:endParaRPr sz="1800">
              <a:latin typeface="Times New Roman"/>
              <a:cs typeface="Times New Roman"/>
            </a:endParaRPr>
          </a:p>
          <a:p>
            <a:pPr marL="26034">
              <a:lnSpc>
                <a:spcPct val="100000"/>
              </a:lnSpc>
              <a:spcBef>
                <a:spcPts val="280"/>
              </a:spcBef>
            </a:pPr>
            <a:r>
              <a:rPr sz="1800" dirty="0">
                <a:solidFill>
                  <a:srgbClr val="006500"/>
                </a:solidFill>
              </a:rPr>
              <a:t>vecto</a:t>
            </a:r>
            <a:r>
              <a:rPr sz="1800" spc="5" dirty="0">
                <a:solidFill>
                  <a:srgbClr val="006500"/>
                </a:solidFill>
              </a:rPr>
              <a:t>r</a:t>
            </a:r>
            <a:r>
              <a:rPr sz="1800" b="0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1800" dirty="0">
                <a:solidFill>
                  <a:srgbClr val="006500"/>
                </a:solidFill>
              </a:rPr>
              <a:t>vecto</a:t>
            </a:r>
            <a:r>
              <a:rPr sz="1800" spc="5" dirty="0">
                <a:solidFill>
                  <a:srgbClr val="006500"/>
                </a:solidFill>
              </a:rPr>
              <a:t>r</a:t>
            </a:r>
            <a:r>
              <a:rPr sz="1800" b="0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1800" dirty="0">
                <a:solidFill>
                  <a:srgbClr val="001F5F"/>
                </a:solidFill>
              </a:rPr>
              <a:t>i</a:t>
            </a:r>
            <a:r>
              <a:rPr sz="1800" spc="-5" dirty="0">
                <a:solidFill>
                  <a:srgbClr val="001F5F"/>
                </a:solidFill>
              </a:rPr>
              <a:t>n</a:t>
            </a:r>
            <a:r>
              <a:rPr sz="1800" dirty="0">
                <a:solidFill>
                  <a:srgbClr val="001F5F"/>
                </a:solidFill>
              </a:rPr>
              <a:t>t</a:t>
            </a:r>
            <a:r>
              <a:rPr sz="1800" b="0" dirty="0">
                <a:solidFill>
                  <a:srgbClr val="FF0000"/>
                </a:solidFill>
                <a:latin typeface="Times New Roman"/>
                <a:cs typeface="Times New Roman"/>
              </a:rPr>
              <a:t>&gt;&gt;</a:t>
            </a:r>
            <a:r>
              <a:rPr sz="1800" b="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6F2FA0"/>
                </a:solidFill>
                <a:latin typeface="Times New Roman"/>
                <a:cs typeface="Times New Roman"/>
              </a:rPr>
              <a:t>tableau</a:t>
            </a:r>
            <a:r>
              <a:rPr sz="1800" b="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endParaRPr sz="1800">
              <a:latin typeface="Times New Roman"/>
              <a:cs typeface="Times New Roman"/>
            </a:endParaRPr>
          </a:p>
          <a:p>
            <a:pPr marL="541020">
              <a:lnSpc>
                <a:spcPct val="100000"/>
              </a:lnSpc>
              <a:spcBef>
                <a:spcPts val="260"/>
              </a:spcBef>
            </a:pPr>
            <a:r>
              <a:rPr sz="1800" b="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1800" b="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1800" b="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10,</a:t>
            </a:r>
            <a:r>
              <a:rPr sz="1800" b="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spc="-25" dirty="0">
                <a:solidFill>
                  <a:srgbClr val="000000"/>
                </a:solidFill>
                <a:latin typeface="Times New Roman"/>
                <a:cs typeface="Times New Roman"/>
              </a:rPr>
              <a:t>11,</a:t>
            </a:r>
            <a:r>
              <a:rPr sz="1800" b="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12,</a:t>
            </a:r>
            <a:r>
              <a:rPr sz="1800" b="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13,</a:t>
            </a:r>
            <a:r>
              <a:rPr sz="1800" b="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142</a:t>
            </a:r>
            <a:r>
              <a:rPr sz="18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FF0000"/>
                </a:solidFill>
                <a:latin typeface="Times New Roman"/>
                <a:cs typeface="Times New Roman"/>
              </a:rPr>
              <a:t>},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15400" y="3172459"/>
            <a:ext cx="1107440" cy="95250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18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14,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15,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16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18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17,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18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18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19,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10,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imes New Roman"/>
                <a:cs typeface="Times New Roman"/>
              </a:rPr>
              <a:t>11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46308" y="3172459"/>
            <a:ext cx="245110" cy="95250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375"/>
              </a:spcBef>
            </a:pP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},</a:t>
            </a:r>
            <a:endParaRPr sz="18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275"/>
              </a:spcBef>
            </a:pP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},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}}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3213" y="4097526"/>
            <a:ext cx="6400165" cy="311023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375"/>
              </a:spcBef>
            </a:pP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1800">
              <a:latin typeface="Times New Roman"/>
              <a:cs typeface="Times New Roman"/>
            </a:endParaRPr>
          </a:p>
          <a:p>
            <a:pPr marL="68580" marR="3843654" algn="r">
              <a:lnSpc>
                <a:spcPct val="112200"/>
              </a:lnSpc>
              <a:spcBef>
                <a:spcPts val="10"/>
              </a:spcBef>
            </a:pPr>
            <a:r>
              <a:rPr sz="1800" b="1" dirty="0">
                <a:solidFill>
                  <a:srgbClr val="001F5F"/>
                </a:solidFill>
                <a:latin typeface="Times New Roman"/>
                <a:cs typeface="Times New Roman"/>
              </a:rPr>
              <a:t>for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800" b="1" dirty="0">
                <a:solidFill>
                  <a:srgbClr val="001F5F"/>
                </a:solidFill>
                <a:latin typeface="Times New Roman"/>
                <a:cs typeface="Times New Roman"/>
              </a:rPr>
              <a:t>auto </a:t>
            </a:r>
            <a:r>
              <a:rPr sz="1800" dirty="0">
                <a:latin typeface="Times New Roman"/>
                <a:cs typeface="Times New Roman"/>
              </a:rPr>
              <a:t>ligne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: </a:t>
            </a:r>
            <a:r>
              <a:rPr sz="1800" dirty="0">
                <a:solidFill>
                  <a:srgbClr val="6F2FA0"/>
                </a:solidFill>
                <a:latin typeface="Times New Roman"/>
                <a:cs typeface="Times New Roman"/>
              </a:rPr>
              <a:t>tableau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) { </a:t>
            </a:r>
            <a:r>
              <a:rPr sz="18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1F5F"/>
                </a:solidFill>
                <a:latin typeface="Times New Roman"/>
                <a:cs typeface="Times New Roman"/>
              </a:rPr>
              <a:t>for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800" b="1" dirty="0">
                <a:solidFill>
                  <a:srgbClr val="001F5F"/>
                </a:solidFill>
                <a:latin typeface="Times New Roman"/>
                <a:cs typeface="Times New Roman"/>
              </a:rPr>
              <a:t>auto </a:t>
            </a:r>
            <a:r>
              <a:rPr sz="1800" spc="-5" dirty="0">
                <a:latin typeface="Times New Roman"/>
                <a:cs typeface="Times New Roman"/>
              </a:rPr>
              <a:t>element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: </a:t>
            </a:r>
            <a:r>
              <a:rPr sz="1800" dirty="0">
                <a:latin typeface="Times New Roman"/>
                <a:cs typeface="Times New Roman"/>
              </a:rPr>
              <a:t>ligne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) { </a:t>
            </a:r>
            <a:r>
              <a:rPr sz="1800" spc="-43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1800" b="1" spc="-20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element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18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800">
              <a:latin typeface="Times New Roman"/>
              <a:cs typeface="Times New Roman"/>
            </a:endParaRPr>
          </a:p>
          <a:p>
            <a:pPr marL="68580">
              <a:lnSpc>
                <a:spcPct val="100000"/>
              </a:lnSpc>
              <a:spcBef>
                <a:spcPts val="280"/>
              </a:spcBef>
            </a:pP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68580">
              <a:lnSpc>
                <a:spcPct val="100000"/>
              </a:lnSpc>
              <a:spcBef>
                <a:spcPts val="260"/>
              </a:spcBef>
            </a:pPr>
            <a:r>
              <a:rPr sz="18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1800" b="1" spc="-20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8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800">
              <a:latin typeface="Times New Roman"/>
              <a:cs typeface="Times New Roman"/>
            </a:endParaRPr>
          </a:p>
          <a:p>
            <a:pPr marL="68580">
              <a:lnSpc>
                <a:spcPct val="100000"/>
              </a:lnSpc>
              <a:spcBef>
                <a:spcPts val="265"/>
              </a:spcBef>
            </a:pP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68580">
              <a:lnSpc>
                <a:spcPct val="100000"/>
              </a:lnSpc>
              <a:spcBef>
                <a:spcPts val="275"/>
              </a:spcBef>
            </a:pPr>
            <a:r>
              <a:rPr sz="18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for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8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size_t</a:t>
            </a:r>
            <a:r>
              <a:rPr sz="18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800" dirty="0">
                <a:latin typeface="Times New Roman"/>
                <a:cs typeface="Times New Roman"/>
              </a:rPr>
              <a:t>0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r>
              <a:rPr sz="1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1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6F2FA0"/>
                </a:solidFill>
                <a:latin typeface="Times New Roman"/>
                <a:cs typeface="Times New Roman"/>
              </a:rPr>
              <a:t>tableau</a:t>
            </a:r>
            <a:r>
              <a:rPr sz="1800" dirty="0">
                <a:solidFill>
                  <a:srgbClr val="006FC0"/>
                </a:solidFill>
                <a:latin typeface="Times New Roman"/>
                <a:cs typeface="Times New Roman"/>
              </a:rPr>
              <a:t>.size()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18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++i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18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354965">
              <a:lnSpc>
                <a:spcPct val="100000"/>
              </a:lnSpc>
              <a:spcBef>
                <a:spcPts val="265"/>
              </a:spcBef>
            </a:pPr>
            <a:r>
              <a:rPr sz="18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1800" b="1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8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Times New Roman"/>
                <a:cs typeface="Times New Roman"/>
              </a:rPr>
              <a:t>"tableau["</a:t>
            </a:r>
            <a:r>
              <a:rPr sz="180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800" spc="-5" dirty="0">
                <a:solidFill>
                  <a:srgbClr val="006FC0"/>
                </a:solidFill>
                <a:latin typeface="Times New Roman"/>
                <a:cs typeface="Times New Roman"/>
              </a:rPr>
              <a:t>"].size()="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8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6F2FA0"/>
                </a:solidFill>
                <a:latin typeface="Times New Roman"/>
                <a:cs typeface="Times New Roman"/>
              </a:rPr>
              <a:t>tableau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1800" spc="-5" dirty="0">
                <a:latin typeface="Times New Roman"/>
                <a:cs typeface="Times New Roman"/>
              </a:rPr>
              <a:t>i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].</a:t>
            </a:r>
            <a:r>
              <a:rPr sz="1800" spc="-5" dirty="0">
                <a:solidFill>
                  <a:srgbClr val="006FC0"/>
                </a:solidFill>
                <a:latin typeface="Times New Roman"/>
                <a:cs typeface="Times New Roman"/>
              </a:rPr>
              <a:t>size()</a:t>
            </a:r>
            <a:r>
              <a:rPr sz="18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8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spc="-580" dirty="0"/>
              <a:t>T</a:t>
            </a:r>
            <a:r>
              <a:rPr spc="-110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00" dirty="0"/>
              <a:t>y</a:t>
            </a:r>
            <a:r>
              <a:rPr spc="-295" dirty="0"/>
              <a:t>n</a:t>
            </a:r>
            <a:r>
              <a:rPr spc="-110" dirty="0"/>
              <a:t>a</a:t>
            </a:r>
            <a:r>
              <a:rPr spc="-350" dirty="0"/>
              <a:t>m</a:t>
            </a:r>
            <a:r>
              <a:rPr spc="-114" dirty="0"/>
              <a:t>i</a:t>
            </a:r>
            <a:r>
              <a:rPr spc="-26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350" dirty="0"/>
              <a:t>m</a:t>
            </a:r>
            <a:r>
              <a:rPr spc="-295" dirty="0"/>
              <a:t>u</a:t>
            </a:r>
            <a:r>
              <a:rPr spc="-135" dirty="0"/>
              <a:t>lti</a:t>
            </a:r>
            <a:r>
              <a:rPr spc="-285" dirty="0"/>
              <a:t>d</a:t>
            </a:r>
            <a:r>
              <a:rPr spc="-100" dirty="0"/>
              <a:t>i</a:t>
            </a:r>
            <a:r>
              <a:rPr spc="-315" dirty="0"/>
              <a:t>m</a:t>
            </a:r>
            <a:r>
              <a:rPr spc="-280" dirty="0"/>
              <a:t>e</a:t>
            </a:r>
            <a:r>
              <a:rPr spc="-295" dirty="0"/>
              <a:t>n</a:t>
            </a:r>
            <a:r>
              <a:rPr spc="-475" dirty="0"/>
              <a:t>s</a:t>
            </a:r>
            <a:r>
              <a:rPr spc="-114" dirty="0"/>
              <a:t>i</a:t>
            </a:r>
            <a:r>
              <a:rPr spc="-250" dirty="0"/>
              <a:t>o</a:t>
            </a:r>
            <a:r>
              <a:rPr spc="-295" dirty="0"/>
              <a:t>nn</a:t>
            </a:r>
            <a:r>
              <a:rPr spc="-280" dirty="0"/>
              <a:t>e</a:t>
            </a:r>
            <a:r>
              <a:rPr spc="-270" dirty="0"/>
              <a:t>ls</a:t>
            </a:r>
          </a:p>
        </p:txBody>
      </p:sp>
      <p:sp>
        <p:nvSpPr>
          <p:cNvPr id="8" name="object 8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7861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L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140" dirty="0"/>
              <a:t>t</a:t>
            </a:r>
            <a:r>
              <a:rPr spc="-235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00" dirty="0"/>
              <a:t>y</a:t>
            </a:r>
            <a:r>
              <a:rPr spc="-295" dirty="0"/>
              <a:t>n</a:t>
            </a:r>
            <a:r>
              <a:rPr spc="-110" dirty="0"/>
              <a:t>a</a:t>
            </a:r>
            <a:r>
              <a:rPr spc="-350" dirty="0"/>
              <a:t>m</a:t>
            </a:r>
            <a:r>
              <a:rPr spc="-114" dirty="0"/>
              <a:t>i</a:t>
            </a:r>
            <a:r>
              <a:rPr spc="-26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80" dirty="0"/>
              <a:t>e</a:t>
            </a:r>
            <a:r>
              <a:rPr spc="-265" dirty="0"/>
              <a:t>t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75" dirty="0"/>
              <a:t>le</a:t>
            </a:r>
            <a:r>
              <a:rPr spc="-470" dirty="0"/>
              <a:t>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295" dirty="0"/>
              <a:t>on</a:t>
            </a:r>
            <a:r>
              <a:rPr spc="-555" dirty="0"/>
              <a:t>c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5" dirty="0"/>
              <a:t>n</a:t>
            </a:r>
            <a:r>
              <a:rPr spc="-470" dirty="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8720" y="1853344"/>
            <a:ext cx="8817610" cy="396430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49250">
              <a:lnSpc>
                <a:spcPct val="100000"/>
              </a:lnSpc>
              <a:spcBef>
                <a:spcPts val="700"/>
              </a:spcBef>
            </a:pP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vector</a:t>
            </a:r>
            <a:r>
              <a:rPr sz="28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 paramètre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d'une</a:t>
            </a:r>
            <a:r>
              <a:rPr sz="2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fonction</a:t>
            </a:r>
            <a:endParaRPr sz="2800">
              <a:latin typeface="Times New Roman"/>
              <a:cs typeface="Times New Roman"/>
            </a:endParaRPr>
          </a:p>
          <a:p>
            <a:pPr marL="393700" marR="5080" indent="-381000">
              <a:lnSpc>
                <a:spcPct val="117100"/>
              </a:lnSpc>
              <a:spcBef>
                <a:spcPts val="30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382905" algn="l"/>
                <a:tab pos="383540" algn="l"/>
                <a:tab pos="5633085" algn="l"/>
              </a:tabLst>
            </a:pP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d’une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fonction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passant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en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argument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 un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tableau</a:t>
            </a:r>
            <a:r>
              <a:rPr sz="24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dynamique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: </a:t>
            </a:r>
            <a:r>
              <a:rPr sz="2400" spc="-5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void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fonctionDynamique(vector&lt;double&gt;	</a:t>
            </a:r>
            <a:r>
              <a:rPr sz="2400" spc="-5" dirty="0">
                <a:solidFill>
                  <a:srgbClr val="FF0065"/>
                </a:solidFill>
                <a:latin typeface="Times New Roman"/>
                <a:cs typeface="Times New Roman"/>
              </a:rPr>
              <a:t>&amp;</a:t>
            </a:r>
            <a:r>
              <a:rPr sz="2400" spc="-5" dirty="0">
                <a:latin typeface="Times New Roman"/>
                <a:cs typeface="Times New Roman"/>
              </a:rPr>
              <a:t>tableau)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505"/>
              </a:spcBef>
            </a:pPr>
            <a:r>
              <a:rPr sz="240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  <a:spcBef>
                <a:spcPts val="500"/>
              </a:spcBef>
            </a:pPr>
            <a:r>
              <a:rPr sz="2400" spc="-5" dirty="0">
                <a:latin typeface="Times New Roman"/>
                <a:cs typeface="Times New Roman"/>
              </a:rPr>
              <a:t>Bloc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d’instructions;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495"/>
              </a:spcBef>
            </a:pP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50">
              <a:latin typeface="Times New Roman"/>
              <a:cs typeface="Times New Roman"/>
            </a:endParaRPr>
          </a:p>
          <a:p>
            <a:pPr marL="698500" marR="623570" indent="-685800">
              <a:lnSpc>
                <a:spcPct val="118700"/>
              </a:lnSpc>
              <a:spcBef>
                <a:spcPts val="5"/>
              </a:spcBef>
            </a:pPr>
            <a:r>
              <a:rPr sz="2400" b="1" spc="-85" dirty="0">
                <a:latin typeface="Arial"/>
                <a:cs typeface="Arial"/>
              </a:rPr>
              <a:t>N</a:t>
            </a:r>
            <a:r>
              <a:rPr sz="2400" b="1" spc="-45" dirty="0">
                <a:latin typeface="Arial"/>
                <a:cs typeface="Arial"/>
              </a:rPr>
              <a:t>.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b="1" spc="-320" dirty="0">
                <a:latin typeface="Arial"/>
                <a:cs typeface="Arial"/>
              </a:rPr>
              <a:t>B: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 besoin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passer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tail</a:t>
            </a:r>
            <a:r>
              <a:rPr sz="2400" spc="-10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 tableau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 para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ètre,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</a:t>
            </a:r>
            <a:r>
              <a:rPr sz="2400" spc="-60" dirty="0">
                <a:latin typeface="Times New Roman"/>
                <a:cs typeface="Times New Roman"/>
              </a:rPr>
              <a:t>f</a:t>
            </a:r>
            <a:r>
              <a:rPr sz="2400" spc="-10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it  </a:t>
            </a:r>
            <a:r>
              <a:rPr sz="2400" spc="-5" dirty="0">
                <a:latin typeface="Times New Roman"/>
                <a:cs typeface="Times New Roman"/>
              </a:rPr>
              <a:t>d'utiliser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fonction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8AF2"/>
                </a:solidFill>
                <a:latin typeface="Times New Roman"/>
                <a:cs typeface="Times New Roman"/>
              </a:rPr>
              <a:t>size().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7861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L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140" dirty="0"/>
              <a:t>t</a:t>
            </a:r>
            <a:r>
              <a:rPr spc="-235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00" dirty="0"/>
              <a:t>y</a:t>
            </a:r>
            <a:r>
              <a:rPr spc="-295" dirty="0"/>
              <a:t>n</a:t>
            </a:r>
            <a:r>
              <a:rPr spc="-110" dirty="0"/>
              <a:t>a</a:t>
            </a:r>
            <a:r>
              <a:rPr spc="-350" dirty="0"/>
              <a:t>m</a:t>
            </a:r>
            <a:r>
              <a:rPr spc="-114" dirty="0"/>
              <a:t>i</a:t>
            </a:r>
            <a:r>
              <a:rPr spc="-26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80" dirty="0"/>
              <a:t>e</a:t>
            </a:r>
            <a:r>
              <a:rPr spc="-265" dirty="0"/>
              <a:t>t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75" dirty="0"/>
              <a:t>le</a:t>
            </a:r>
            <a:r>
              <a:rPr spc="-470" dirty="0"/>
              <a:t>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295" dirty="0"/>
              <a:t>on</a:t>
            </a:r>
            <a:r>
              <a:rPr spc="-555" dirty="0"/>
              <a:t>c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5" dirty="0"/>
              <a:t>n</a:t>
            </a:r>
            <a:r>
              <a:rPr spc="-470" dirty="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8720" y="1853344"/>
            <a:ext cx="8817610" cy="353631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49250">
              <a:lnSpc>
                <a:spcPct val="100000"/>
              </a:lnSpc>
              <a:spcBef>
                <a:spcPts val="700"/>
              </a:spcBef>
            </a:pP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vector</a:t>
            </a:r>
            <a:r>
              <a:rPr sz="28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en paramètre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d'une</a:t>
            </a:r>
            <a:r>
              <a:rPr sz="2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fonction</a:t>
            </a:r>
            <a:endParaRPr sz="2800">
              <a:latin typeface="Times New Roman"/>
              <a:cs typeface="Times New Roman"/>
            </a:endParaRPr>
          </a:p>
          <a:p>
            <a:pPr marL="393700" marR="5080" indent="-381000">
              <a:lnSpc>
                <a:spcPct val="117100"/>
              </a:lnSpc>
              <a:spcBef>
                <a:spcPts val="30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382905" algn="l"/>
                <a:tab pos="383540" algn="l"/>
                <a:tab pos="4796155" algn="l"/>
              </a:tabLst>
            </a:pP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d’une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fonction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passant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en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argument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 un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tableau</a:t>
            </a:r>
            <a:r>
              <a:rPr sz="24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dynamique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: </a:t>
            </a:r>
            <a:r>
              <a:rPr sz="2400" spc="-5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void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initialiserTab(vector&lt;double&gt;	</a:t>
            </a:r>
            <a:r>
              <a:rPr sz="2400" dirty="0">
                <a:solidFill>
                  <a:srgbClr val="FF0065"/>
                </a:solidFill>
                <a:latin typeface="Times New Roman"/>
                <a:cs typeface="Times New Roman"/>
              </a:rPr>
              <a:t>&amp;</a:t>
            </a:r>
            <a:r>
              <a:rPr sz="2400" spc="-10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tableau)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505"/>
              </a:spcBef>
            </a:pPr>
            <a:r>
              <a:rPr sz="240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93700" marR="4011295">
              <a:lnSpc>
                <a:spcPct val="117100"/>
              </a:lnSpc>
              <a:spcBef>
                <a:spcPts val="10"/>
              </a:spcBef>
            </a:pPr>
            <a:r>
              <a:rPr sz="2400" spc="-5" dirty="0">
                <a:latin typeface="Times New Roman"/>
                <a:cs typeface="Times New Roman"/>
              </a:rPr>
              <a:t>for(int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i(0);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&lt; </a:t>
            </a:r>
            <a:r>
              <a:rPr sz="2400" spc="-5" dirty="0">
                <a:latin typeface="Times New Roman"/>
                <a:cs typeface="Times New Roman"/>
              </a:rPr>
              <a:t>tableau.</a:t>
            </a:r>
            <a:r>
              <a:rPr sz="2400" spc="-5" dirty="0">
                <a:solidFill>
                  <a:srgbClr val="008AF2"/>
                </a:solidFill>
                <a:latin typeface="Times New Roman"/>
                <a:cs typeface="Times New Roman"/>
              </a:rPr>
              <a:t>size()</a:t>
            </a:r>
            <a:r>
              <a:rPr sz="2400" spc="-5" dirty="0">
                <a:latin typeface="Times New Roman"/>
                <a:cs typeface="Times New Roman"/>
              </a:rPr>
              <a:t>;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++i)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tableau[i]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* 2;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505"/>
              </a:spcBef>
            </a:pP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500"/>
              </a:spcBef>
            </a:pP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7861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L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140" dirty="0"/>
              <a:t>t</a:t>
            </a:r>
            <a:r>
              <a:rPr spc="-235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00" dirty="0"/>
              <a:t>y</a:t>
            </a:r>
            <a:r>
              <a:rPr spc="-295" dirty="0"/>
              <a:t>n</a:t>
            </a:r>
            <a:r>
              <a:rPr spc="-110" dirty="0"/>
              <a:t>a</a:t>
            </a:r>
            <a:r>
              <a:rPr spc="-350" dirty="0"/>
              <a:t>m</a:t>
            </a:r>
            <a:r>
              <a:rPr spc="-114" dirty="0"/>
              <a:t>i</a:t>
            </a:r>
            <a:r>
              <a:rPr spc="-26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80" dirty="0"/>
              <a:t>e</a:t>
            </a:r>
            <a:r>
              <a:rPr spc="-265" dirty="0"/>
              <a:t>t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75" dirty="0"/>
              <a:t>le</a:t>
            </a:r>
            <a:r>
              <a:rPr spc="-470" dirty="0"/>
              <a:t>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295" dirty="0"/>
              <a:t>on</a:t>
            </a:r>
            <a:r>
              <a:rPr spc="-555" dirty="0"/>
              <a:t>c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5" dirty="0"/>
              <a:t>n</a:t>
            </a:r>
            <a:r>
              <a:rPr spc="-470" dirty="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8720" y="1931923"/>
            <a:ext cx="8852535" cy="4128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2905" marR="1116330" indent="-370840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382905" algn="l"/>
                <a:tab pos="383540" algn="l"/>
              </a:tabLst>
            </a:pP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Exemple d’une</a:t>
            </a:r>
            <a:r>
              <a:rPr sz="24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fonction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passant</a:t>
            </a:r>
            <a:r>
              <a:rPr sz="2400" b="1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en</a:t>
            </a:r>
            <a:r>
              <a:rPr sz="24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argument</a:t>
            </a:r>
            <a:r>
              <a:rPr sz="24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un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tableau </a:t>
            </a:r>
            <a:r>
              <a:rPr sz="2400" b="1" spc="-5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dynamique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  <a:spcBef>
                <a:spcPts val="500"/>
              </a:spcBef>
              <a:tabLst>
                <a:tab pos="5633085" algn="l"/>
              </a:tabLst>
            </a:pPr>
            <a:r>
              <a:rPr sz="2400" dirty="0">
                <a:latin typeface="Times New Roman"/>
                <a:cs typeface="Times New Roman"/>
              </a:rPr>
              <a:t>void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fonctionDynamique(vector&lt;double&gt;	</a:t>
            </a:r>
            <a:r>
              <a:rPr sz="2400" dirty="0">
                <a:solidFill>
                  <a:srgbClr val="FF0065"/>
                </a:solidFill>
                <a:latin typeface="Times New Roman"/>
                <a:cs typeface="Times New Roman"/>
              </a:rPr>
              <a:t>const&amp;</a:t>
            </a:r>
            <a:r>
              <a:rPr sz="2400" spc="-60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tableau)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495"/>
              </a:spcBef>
            </a:pPr>
            <a:r>
              <a:rPr sz="240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  <a:spcBef>
                <a:spcPts val="505"/>
              </a:spcBef>
            </a:pPr>
            <a:r>
              <a:rPr sz="2400" spc="-5" dirty="0">
                <a:latin typeface="Times New Roman"/>
                <a:cs typeface="Times New Roman"/>
              </a:rPr>
              <a:t>Bloc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d’instructions;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500"/>
              </a:spcBef>
            </a:pP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495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2400" b="1" spc="-5" dirty="0">
                <a:solidFill>
                  <a:srgbClr val="6F2FA0"/>
                </a:solidFill>
                <a:latin typeface="Times New Roman"/>
                <a:cs typeface="Times New Roman"/>
              </a:rPr>
              <a:t>Passage</a:t>
            </a:r>
            <a:r>
              <a:rPr sz="2400" b="1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6F2FA0"/>
                </a:solidFill>
                <a:latin typeface="Times New Roman"/>
                <a:cs typeface="Times New Roman"/>
              </a:rPr>
              <a:t>par</a:t>
            </a:r>
            <a:r>
              <a:rPr sz="2400" b="1" spc="-45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6F2FA0"/>
                </a:solidFill>
                <a:latin typeface="Times New Roman"/>
                <a:cs typeface="Times New Roman"/>
              </a:rPr>
              <a:t>référence</a:t>
            </a:r>
            <a:r>
              <a:rPr sz="2400" b="1" spc="-30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6F2FA0"/>
                </a:solidFill>
                <a:latin typeface="Times New Roman"/>
                <a:cs typeface="Times New Roman"/>
              </a:rPr>
              <a:t>constante</a:t>
            </a:r>
            <a:r>
              <a:rPr sz="2400" b="1" spc="5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pour</a:t>
            </a:r>
            <a:r>
              <a:rPr sz="2400" spc="-5" dirty="0">
                <a:latin typeface="Times New Roman"/>
                <a:cs typeface="Times New Roman"/>
              </a:rPr>
              <a:t> optimiser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copie.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05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dynamique</a:t>
            </a:r>
            <a:r>
              <a:rPr sz="2400" dirty="0">
                <a:latin typeface="Times New Roman"/>
                <a:cs typeface="Times New Roman"/>
              </a:rPr>
              <a:t> ne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peut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être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modifié </a:t>
            </a:r>
            <a:r>
              <a:rPr sz="2400" dirty="0">
                <a:latin typeface="Times New Roman"/>
                <a:cs typeface="Times New Roman"/>
              </a:rPr>
              <a:t>par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fonction.</a:t>
            </a:r>
            <a:endParaRPr sz="240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100000"/>
              </a:lnSpc>
              <a:spcBef>
                <a:spcPts val="500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Pour modifier </a:t>
            </a:r>
            <a:r>
              <a:rPr sz="2400" dirty="0">
                <a:latin typeface="Times New Roman"/>
                <a:cs typeface="Times New Roman"/>
              </a:rPr>
              <a:t>le contenu du tableau passé en </a:t>
            </a:r>
            <a:r>
              <a:rPr sz="2400" spc="-10" dirty="0">
                <a:latin typeface="Times New Roman"/>
                <a:cs typeface="Times New Roman"/>
              </a:rPr>
              <a:t>argument, </a:t>
            </a:r>
            <a:r>
              <a:rPr sz="2400" dirty="0">
                <a:latin typeface="Times New Roman"/>
                <a:cs typeface="Times New Roman"/>
              </a:rPr>
              <a:t>il </a:t>
            </a:r>
            <a:r>
              <a:rPr sz="2400" spc="-5" dirty="0">
                <a:latin typeface="Times New Roman"/>
                <a:cs typeface="Times New Roman"/>
              </a:rPr>
              <a:t>faut utiliser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passage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référence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tout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simple.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7861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L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140" dirty="0"/>
              <a:t>t</a:t>
            </a:r>
            <a:r>
              <a:rPr spc="-235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00" dirty="0"/>
              <a:t>y</a:t>
            </a:r>
            <a:r>
              <a:rPr spc="-295" dirty="0"/>
              <a:t>n</a:t>
            </a:r>
            <a:r>
              <a:rPr spc="-110" dirty="0"/>
              <a:t>a</a:t>
            </a:r>
            <a:r>
              <a:rPr spc="-350" dirty="0"/>
              <a:t>m</a:t>
            </a:r>
            <a:r>
              <a:rPr spc="-114" dirty="0"/>
              <a:t>i</a:t>
            </a:r>
            <a:r>
              <a:rPr spc="-26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80" dirty="0"/>
              <a:t>e</a:t>
            </a:r>
            <a:r>
              <a:rPr spc="-265" dirty="0"/>
              <a:t>t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75" dirty="0"/>
              <a:t>le</a:t>
            </a:r>
            <a:r>
              <a:rPr spc="-470" dirty="0"/>
              <a:t>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295" dirty="0"/>
              <a:t>on</a:t>
            </a:r>
            <a:r>
              <a:rPr spc="-555" dirty="0"/>
              <a:t>c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5" dirty="0"/>
              <a:t>n</a:t>
            </a:r>
            <a:r>
              <a:rPr spc="-470" dirty="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8720" y="1867915"/>
            <a:ext cx="8538845" cy="428244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82905" indent="-370840">
              <a:lnSpc>
                <a:spcPct val="100000"/>
              </a:lnSpc>
              <a:spcBef>
                <a:spcPts val="315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382905" algn="l"/>
                <a:tab pos="383540" algn="l"/>
              </a:tabLst>
            </a:pP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24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2: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ts val="2590"/>
              </a:lnSpc>
              <a:spcBef>
                <a:spcPts val="545"/>
              </a:spcBef>
            </a:pPr>
            <a:r>
              <a:rPr sz="2400" spc="-5" dirty="0">
                <a:latin typeface="Times New Roman"/>
                <a:cs typeface="Times New Roman"/>
              </a:rPr>
              <a:t>Ecrire </a:t>
            </a:r>
            <a:r>
              <a:rPr sz="2400" dirty="0">
                <a:latin typeface="Times New Roman"/>
                <a:cs typeface="Times New Roman"/>
              </a:rPr>
              <a:t>une </a:t>
            </a:r>
            <a:r>
              <a:rPr sz="2400" spc="-5" dirty="0">
                <a:latin typeface="Times New Roman"/>
                <a:cs typeface="Times New Roman"/>
              </a:rPr>
              <a:t>fonction </a:t>
            </a:r>
            <a:r>
              <a:rPr sz="2400" spc="-15" dirty="0">
                <a:latin typeface="Times New Roman"/>
                <a:cs typeface="Times New Roman"/>
              </a:rPr>
              <a:t>maxTabDynamique() </a:t>
            </a:r>
            <a:r>
              <a:rPr sz="2400" dirty="0">
                <a:latin typeface="Times New Roman"/>
                <a:cs typeface="Times New Roman"/>
              </a:rPr>
              <a:t>qui calcule le </a:t>
            </a:r>
            <a:r>
              <a:rPr sz="2400" spc="-10" dirty="0">
                <a:latin typeface="Times New Roman"/>
                <a:cs typeface="Times New Roman"/>
              </a:rPr>
              <a:t>maximum </a:t>
            </a:r>
            <a:r>
              <a:rPr sz="2400" dirty="0">
                <a:latin typeface="Times New Roman"/>
                <a:cs typeface="Times New Roman"/>
              </a:rPr>
              <a:t>des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valeurs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d'un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tableau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dynamique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 la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vector.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50">
              <a:latin typeface="Times New Roman"/>
              <a:cs typeface="Times New Roman"/>
            </a:endParaRPr>
          </a:p>
          <a:p>
            <a:pPr marL="241300" marR="1299845">
              <a:lnSpc>
                <a:spcPct val="107500"/>
              </a:lnSpc>
            </a:pPr>
            <a:r>
              <a:rPr sz="2400" dirty="0">
                <a:latin typeface="Times New Roman"/>
                <a:cs typeface="Times New Roman"/>
              </a:rPr>
              <a:t>double </a:t>
            </a:r>
            <a:r>
              <a:rPr sz="2400" spc="-10" dirty="0">
                <a:latin typeface="Times New Roman"/>
                <a:cs typeface="Times New Roman"/>
              </a:rPr>
              <a:t>maxTabDynamique(vector&lt;double&gt; </a:t>
            </a:r>
            <a:r>
              <a:rPr sz="2400" dirty="0">
                <a:solidFill>
                  <a:srgbClr val="FF0065"/>
                </a:solidFill>
                <a:latin typeface="Times New Roman"/>
                <a:cs typeface="Times New Roman"/>
              </a:rPr>
              <a:t>const&amp; </a:t>
            </a:r>
            <a:r>
              <a:rPr sz="2400" dirty="0">
                <a:latin typeface="Times New Roman"/>
                <a:cs typeface="Times New Roman"/>
              </a:rPr>
              <a:t>tab){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double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max(tab[0]);</a:t>
            </a:r>
            <a:endParaRPr sz="2400">
              <a:latin typeface="Times New Roman"/>
              <a:cs typeface="Times New Roman"/>
            </a:endParaRPr>
          </a:p>
          <a:p>
            <a:pPr marL="469900" marR="4482465" indent="-228600">
              <a:lnSpc>
                <a:spcPts val="3100"/>
              </a:lnSpc>
              <a:spcBef>
                <a:spcPts val="125"/>
              </a:spcBef>
            </a:pPr>
            <a:r>
              <a:rPr sz="2400" spc="-5" dirty="0">
                <a:latin typeface="Times New Roman"/>
                <a:cs typeface="Times New Roman"/>
              </a:rPr>
              <a:t>for(int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i(1);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i&lt;tabe.size();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++i){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(max&lt;tab[i])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max</a:t>
            </a:r>
            <a:r>
              <a:rPr sz="2400" dirty="0">
                <a:latin typeface="Times New Roman"/>
                <a:cs typeface="Times New Roman"/>
              </a:rPr>
              <a:t> =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tab[i];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70"/>
              </a:spcBef>
            </a:pP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204"/>
              </a:spcBef>
            </a:pPr>
            <a:r>
              <a:rPr sz="2400" dirty="0">
                <a:latin typeface="Times New Roman"/>
                <a:cs typeface="Times New Roman"/>
              </a:rPr>
              <a:t>return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max;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215"/>
              </a:spcBef>
            </a:pP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00873" y="734059"/>
            <a:ext cx="7861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L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140" dirty="0"/>
              <a:t>t</a:t>
            </a:r>
            <a:r>
              <a:rPr spc="-235" dirty="0"/>
              <a:t>a</a:t>
            </a:r>
            <a:r>
              <a:rPr spc="-295" dirty="0"/>
              <a:t>b</a:t>
            </a:r>
            <a:r>
              <a:rPr spc="-175" dirty="0"/>
              <a:t>le</a:t>
            </a:r>
            <a:r>
              <a:rPr spc="-110" dirty="0"/>
              <a:t>a</a:t>
            </a:r>
            <a:r>
              <a:rPr spc="-295" dirty="0"/>
              <a:t>u</a:t>
            </a:r>
            <a:r>
              <a:rPr spc="-95" dirty="0"/>
              <a:t>x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95" dirty="0"/>
              <a:t>d</a:t>
            </a:r>
            <a:r>
              <a:rPr spc="-100" dirty="0"/>
              <a:t>y</a:t>
            </a:r>
            <a:r>
              <a:rPr spc="-295" dirty="0"/>
              <a:t>n</a:t>
            </a:r>
            <a:r>
              <a:rPr spc="-110" dirty="0"/>
              <a:t>a</a:t>
            </a:r>
            <a:r>
              <a:rPr spc="-350" dirty="0"/>
              <a:t>m</a:t>
            </a:r>
            <a:r>
              <a:rPr spc="-114" dirty="0"/>
              <a:t>i</a:t>
            </a:r>
            <a:r>
              <a:rPr spc="-260" dirty="0"/>
              <a:t>q</a:t>
            </a:r>
            <a:r>
              <a:rPr spc="-295" dirty="0"/>
              <a:t>u</a:t>
            </a:r>
            <a:r>
              <a:rPr spc="-280" dirty="0"/>
              <a:t>e</a:t>
            </a:r>
            <a:r>
              <a:rPr spc="-470" dirty="0"/>
              <a:t>s</a:t>
            </a:r>
            <a:r>
              <a:rPr b="0" spc="80" dirty="0">
                <a:latin typeface="Times New Roman"/>
                <a:cs typeface="Times New Roman"/>
              </a:rPr>
              <a:t> </a:t>
            </a:r>
            <a:r>
              <a:rPr spc="-280" dirty="0"/>
              <a:t>e</a:t>
            </a:r>
            <a:r>
              <a:rPr spc="-265" dirty="0"/>
              <a:t>t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75" dirty="0"/>
              <a:t>le</a:t>
            </a:r>
            <a:r>
              <a:rPr spc="-470" dirty="0"/>
              <a:t>s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295" dirty="0"/>
              <a:t>on</a:t>
            </a:r>
            <a:r>
              <a:rPr spc="-555" dirty="0"/>
              <a:t>c</a:t>
            </a:r>
            <a:r>
              <a:rPr spc="-155" dirty="0"/>
              <a:t>ti</a:t>
            </a:r>
            <a:r>
              <a:rPr spc="-315" dirty="0"/>
              <a:t>o</a:t>
            </a:r>
            <a:r>
              <a:rPr spc="-295" dirty="0"/>
              <a:t>n</a:t>
            </a:r>
            <a:r>
              <a:rPr spc="-470" dirty="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8720" y="1867915"/>
            <a:ext cx="8119745" cy="131318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82905" indent="-370840">
              <a:lnSpc>
                <a:spcPct val="100000"/>
              </a:lnSpc>
              <a:spcBef>
                <a:spcPts val="600"/>
              </a:spcBef>
              <a:buClr>
                <a:srgbClr val="006FC0"/>
              </a:buClr>
              <a:buSzPct val="75000"/>
              <a:buFont typeface="Wingdings"/>
              <a:buChar char=""/>
              <a:tabLst>
                <a:tab pos="382905" algn="l"/>
                <a:tab pos="383540" algn="l"/>
              </a:tabLst>
            </a:pP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2: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(suite)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17100"/>
              </a:lnSpc>
              <a:spcBef>
                <a:spcPts val="15"/>
              </a:spcBef>
              <a:tabLst>
                <a:tab pos="3538854" algn="l"/>
              </a:tabLst>
            </a:pPr>
            <a:r>
              <a:rPr sz="2400" spc="-5" dirty="0">
                <a:latin typeface="Times New Roman"/>
                <a:cs typeface="Times New Roman"/>
              </a:rPr>
              <a:t>Pour</a:t>
            </a:r>
            <a:r>
              <a:rPr sz="2400" dirty="0">
                <a:latin typeface="Times New Roman"/>
                <a:cs typeface="Times New Roman"/>
              </a:rPr>
              <a:t> appeler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fonction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maxTabDynamique(),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il</a:t>
            </a:r>
            <a:r>
              <a:rPr sz="2400" spc="-15" dirty="0">
                <a:latin typeface="Times New Roman"/>
                <a:cs typeface="Times New Roman"/>
              </a:rPr>
              <a:t> suffit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d’écrire: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8E3F"/>
                </a:solidFill>
                <a:latin typeface="Times New Roman"/>
                <a:cs typeface="Times New Roman"/>
              </a:rPr>
              <a:t>vector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400" spc="-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latin typeface="Times New Roman"/>
                <a:cs typeface="Times New Roman"/>
              </a:rPr>
              <a:t>4,2.5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);	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//On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crée</a:t>
            </a:r>
            <a:r>
              <a:rPr sz="220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un 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tableau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 de</a:t>
            </a:r>
            <a:r>
              <a:rPr sz="22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4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réels</a:t>
            </a:r>
            <a:r>
              <a:rPr sz="220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valant</a:t>
            </a:r>
            <a:r>
              <a:rPr sz="22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2.5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720" y="3219702"/>
            <a:ext cx="3100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Times New Roman"/>
                <a:cs typeface="Times New Roman"/>
              </a:rPr>
              <a:t>maxTabDynamique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spc="-15" dirty="0">
                <a:latin typeface="Times New Roman"/>
                <a:cs typeface="Times New Roman"/>
              </a:rPr>
              <a:t>tab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00103" y="3245610"/>
            <a:ext cx="484124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//Appel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 de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 la fonction en</a:t>
            </a:r>
            <a:r>
              <a:rPr sz="220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passant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le tableau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548BB8"/>
                </a:solidFill>
                <a:latin typeface="Arial"/>
                <a:cs typeface="Arial"/>
              </a:rPr>
              <a:t>7</a:t>
            </a:r>
            <a:r>
              <a:rPr sz="1200" b="1" spc="-35" dirty="0">
                <a:solidFill>
                  <a:srgbClr val="548BB8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00868" y="1022095"/>
            <a:ext cx="12115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40" dirty="0">
                <a:solidFill>
                  <a:srgbClr val="548BB8"/>
                </a:solidFill>
                <a:latin typeface="Arial"/>
                <a:cs typeface="Arial"/>
              </a:rPr>
              <a:t>Q</a:t>
            </a:r>
            <a:r>
              <a:rPr sz="3600" spc="55" dirty="0">
                <a:solidFill>
                  <a:srgbClr val="548BB8"/>
                </a:solidFill>
                <a:latin typeface="Times New Roman"/>
                <a:cs typeface="Times New Roman"/>
              </a:rPr>
              <a:t> </a:t>
            </a:r>
            <a:r>
              <a:rPr sz="3600" b="1" spc="-325" dirty="0">
                <a:solidFill>
                  <a:srgbClr val="548BB8"/>
                </a:solidFill>
                <a:latin typeface="Arial"/>
                <a:cs typeface="Arial"/>
              </a:rPr>
              <a:t>&amp;</a:t>
            </a:r>
            <a:r>
              <a:rPr sz="3600" spc="60" dirty="0">
                <a:solidFill>
                  <a:srgbClr val="548BB8"/>
                </a:solidFill>
                <a:latin typeface="Times New Roman"/>
                <a:cs typeface="Times New Roman"/>
              </a:rPr>
              <a:t> </a:t>
            </a:r>
            <a:r>
              <a:rPr sz="3600" b="1" spc="-125" dirty="0">
                <a:solidFill>
                  <a:srgbClr val="548BB8"/>
                </a:solidFill>
                <a:latin typeface="Arial"/>
                <a:cs typeface="Arial"/>
              </a:rPr>
              <a:t>A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4073" y="2107691"/>
            <a:ext cx="9143996" cy="491185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0685" y="820927"/>
            <a:ext cx="20878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Références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774065" y="1616976"/>
            <a:ext cx="539750" cy="254635"/>
          </a:xfrm>
          <a:custGeom>
            <a:avLst/>
            <a:gdLst/>
            <a:ahLst/>
            <a:cxnLst/>
            <a:rect l="l" t="t" r="r" b="b"/>
            <a:pathLst>
              <a:path w="539750" h="254635">
                <a:moveTo>
                  <a:pt x="539496" y="3048"/>
                </a:moveTo>
                <a:lnTo>
                  <a:pt x="536448" y="0"/>
                </a:lnTo>
                <a:lnTo>
                  <a:pt x="0" y="0"/>
                </a:lnTo>
                <a:lnTo>
                  <a:pt x="0" y="4559"/>
                </a:lnTo>
                <a:lnTo>
                  <a:pt x="0" y="9144"/>
                </a:lnTo>
                <a:lnTo>
                  <a:pt x="0" y="245364"/>
                </a:lnTo>
                <a:lnTo>
                  <a:pt x="0" y="249923"/>
                </a:lnTo>
                <a:lnTo>
                  <a:pt x="0" y="254508"/>
                </a:lnTo>
                <a:lnTo>
                  <a:pt x="6096" y="254508"/>
                </a:lnTo>
                <a:lnTo>
                  <a:pt x="528828" y="254508"/>
                </a:lnTo>
                <a:lnTo>
                  <a:pt x="533400" y="254508"/>
                </a:lnTo>
                <a:lnTo>
                  <a:pt x="536448" y="254508"/>
                </a:lnTo>
                <a:lnTo>
                  <a:pt x="539496" y="251460"/>
                </a:lnTo>
                <a:lnTo>
                  <a:pt x="539496" y="3048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8476" y="1649583"/>
            <a:ext cx="16192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b="1" spc="-40" dirty="0">
                <a:solidFill>
                  <a:srgbClr val="548BB8"/>
                </a:solidFill>
                <a:latin typeface="Arial"/>
                <a:cs typeface="Arial"/>
              </a:rPr>
              <a:t>7</a:t>
            </a:r>
            <a:r>
              <a:rPr sz="1200" b="1" spc="-35" dirty="0">
                <a:solidFill>
                  <a:srgbClr val="548BB8"/>
                </a:solidFill>
                <a:latin typeface="Arial"/>
                <a:cs typeface="Arial"/>
              </a:rPr>
              <a:t>8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4272" y="1930399"/>
            <a:ext cx="8587105" cy="3074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AutoNum type="arabicParenR"/>
              <a:tabLst>
                <a:tab pos="469265" algn="l"/>
                <a:tab pos="469900" algn="l"/>
              </a:tabLst>
            </a:pPr>
            <a:r>
              <a:rPr sz="2000" u="sng" spc="-10" dirty="0">
                <a:solidFill>
                  <a:srgbClr val="F7B614"/>
                </a:solidFill>
                <a:uFill>
                  <a:solidFill>
                    <a:srgbClr val="F7B514"/>
                  </a:solidFill>
                </a:uFill>
                <a:latin typeface="Times New Roman"/>
                <a:cs typeface="Times New Roman"/>
                <a:hlinkClick r:id="rId2"/>
              </a:rPr>
              <a:t>http://www.cplusplus.com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Clr>
                <a:srgbClr val="000000"/>
              </a:buClr>
              <a:buAutoNum type="arabicParenR"/>
              <a:tabLst>
                <a:tab pos="469265" algn="l"/>
                <a:tab pos="469900" algn="l"/>
              </a:tabLst>
            </a:pPr>
            <a:r>
              <a:rPr sz="2000" u="sng" spc="-10" dirty="0">
                <a:solidFill>
                  <a:srgbClr val="F7B614"/>
                </a:solidFill>
                <a:uFill>
                  <a:solidFill>
                    <a:srgbClr val="F7B514"/>
                  </a:solidFill>
                </a:uFill>
                <a:latin typeface="Times New Roman"/>
                <a:cs typeface="Times New Roman"/>
              </a:rPr>
              <a:t>https://isocpp.org/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Clr>
                <a:srgbClr val="000000"/>
              </a:buClr>
              <a:buAutoNum type="arabicParenR"/>
              <a:tabLst>
                <a:tab pos="469265" algn="l"/>
                <a:tab pos="469900" algn="l"/>
              </a:tabLst>
            </a:pPr>
            <a:r>
              <a:rPr sz="2000" u="sng" spc="-5" dirty="0">
                <a:solidFill>
                  <a:srgbClr val="F7B614"/>
                </a:solidFill>
                <a:uFill>
                  <a:solidFill>
                    <a:srgbClr val="F7B514"/>
                  </a:solidFill>
                </a:uFill>
                <a:latin typeface="Times New Roman"/>
                <a:cs typeface="Times New Roman"/>
              </a:rPr>
              <a:t>https://openclassrooms.com/fr/courses/1894236-programmez-avec-le-langage-c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Clr>
                <a:srgbClr val="000000"/>
              </a:buClr>
              <a:buAutoNum type="arabicParenR"/>
              <a:tabLst>
                <a:tab pos="469265" algn="l"/>
                <a:tab pos="469900" algn="l"/>
              </a:tabLst>
            </a:pPr>
            <a:r>
              <a:rPr sz="2000" u="sng" spc="-10" dirty="0">
                <a:solidFill>
                  <a:srgbClr val="F7B614"/>
                </a:solidFill>
                <a:uFill>
                  <a:solidFill>
                    <a:srgbClr val="F7B514"/>
                  </a:solidFill>
                </a:uFill>
                <a:latin typeface="Times New Roman"/>
                <a:cs typeface="Times New Roman"/>
              </a:rPr>
              <a:t>https://</a:t>
            </a:r>
            <a:r>
              <a:rPr sz="2000" u="sng" spc="-10" dirty="0">
                <a:solidFill>
                  <a:srgbClr val="F7B614"/>
                </a:solidFill>
                <a:uFill>
                  <a:solidFill>
                    <a:srgbClr val="F7B514"/>
                  </a:solidFill>
                </a:uFill>
                <a:latin typeface="Times New Roman"/>
                <a:cs typeface="Times New Roman"/>
                <a:hlinkClick r:id="rId3"/>
              </a:rPr>
              <a:t>www.tutorialspoint.com/cplusplus/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Clr>
                <a:srgbClr val="000000"/>
              </a:buClr>
              <a:buAutoNum type="arabicParenR"/>
              <a:tabLst>
                <a:tab pos="469265" algn="l"/>
                <a:tab pos="469900" algn="l"/>
              </a:tabLst>
            </a:pPr>
            <a:r>
              <a:rPr sz="2000" u="sng" spc="-5" dirty="0">
                <a:solidFill>
                  <a:srgbClr val="F7B614"/>
                </a:solidFill>
                <a:uFill>
                  <a:solidFill>
                    <a:srgbClr val="F7B514"/>
                  </a:solidFill>
                </a:uFill>
                <a:latin typeface="Times New Roman"/>
                <a:cs typeface="Times New Roman"/>
              </a:rPr>
              <a:t>https://en.cppreference.com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rabicParenR"/>
              <a:tabLst>
                <a:tab pos="469265" algn="l"/>
                <a:tab pos="469900" algn="l"/>
              </a:tabLst>
            </a:pPr>
            <a:r>
              <a:rPr sz="2000" spc="-5" dirty="0">
                <a:latin typeface="Times New Roman"/>
                <a:cs typeface="Times New Roman"/>
              </a:rPr>
              <a:t>Programmer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en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C++, </a:t>
            </a:r>
            <a:r>
              <a:rPr sz="2000" dirty="0">
                <a:latin typeface="Times New Roman"/>
                <a:cs typeface="Times New Roman"/>
              </a:rPr>
              <a:t>Claude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Delannoy,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éditions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Eyrolles,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2014.</a:t>
            </a:r>
            <a:endParaRPr sz="2000">
              <a:latin typeface="Times New Roman"/>
              <a:cs typeface="Times New Roman"/>
            </a:endParaRPr>
          </a:p>
          <a:p>
            <a:pPr marL="469265" marR="14604" indent="-457200">
              <a:lnSpc>
                <a:spcPct val="100000"/>
              </a:lnSpc>
              <a:buAutoNum type="arabicParenR"/>
              <a:tabLst>
                <a:tab pos="469265" algn="l"/>
                <a:tab pos="469900" algn="l"/>
              </a:tabLst>
            </a:pPr>
            <a:r>
              <a:rPr sz="2000" spc="-5" dirty="0">
                <a:latin typeface="Times New Roman"/>
                <a:cs typeface="Times New Roman"/>
              </a:rPr>
              <a:t>Initiation </a:t>
            </a:r>
            <a:r>
              <a:rPr sz="2000" dirty="0">
                <a:latin typeface="Times New Roman"/>
                <a:cs typeface="Times New Roman"/>
              </a:rPr>
              <a:t>à </a:t>
            </a:r>
            <a:r>
              <a:rPr sz="2000" spc="-5" dirty="0">
                <a:latin typeface="Times New Roman"/>
                <a:cs typeface="Times New Roman"/>
              </a:rPr>
              <a:t>la programmation </a:t>
            </a:r>
            <a:r>
              <a:rPr sz="2000" dirty="0">
                <a:latin typeface="Times New Roman"/>
                <a:cs typeface="Times New Roman"/>
              </a:rPr>
              <a:t>(en </a:t>
            </a:r>
            <a:r>
              <a:rPr sz="2000" spc="-5" dirty="0">
                <a:latin typeface="Times New Roman"/>
                <a:cs typeface="Times New Roman"/>
              </a:rPr>
              <a:t>C++), </a:t>
            </a:r>
            <a:r>
              <a:rPr sz="2000" dirty="0">
                <a:latin typeface="Times New Roman"/>
                <a:cs typeface="Times New Roman"/>
              </a:rPr>
              <a:t>Jean-Cédric </a:t>
            </a:r>
            <a:r>
              <a:rPr sz="2000" spc="-10" dirty="0">
                <a:latin typeface="Times New Roman"/>
                <a:cs typeface="Times New Roman"/>
              </a:rPr>
              <a:t>Chappelier, </a:t>
            </a:r>
            <a:r>
              <a:rPr sz="2000" dirty="0">
                <a:latin typeface="Times New Roman"/>
                <a:cs typeface="Times New Roman"/>
              </a:rPr>
              <a:t>&amp; </a:t>
            </a:r>
            <a:r>
              <a:rPr sz="2000" spc="-10" dirty="0">
                <a:latin typeface="Times New Roman"/>
                <a:cs typeface="Times New Roman"/>
              </a:rPr>
              <a:t>Jamila Sam,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coursera,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2018.</a:t>
            </a:r>
            <a:endParaRPr sz="2000">
              <a:latin typeface="Times New Roman"/>
              <a:cs typeface="Times New Roman"/>
            </a:endParaRPr>
          </a:p>
          <a:p>
            <a:pPr marL="469265" marR="206375" indent="-457200">
              <a:lnSpc>
                <a:spcPct val="100000"/>
              </a:lnSpc>
              <a:buAutoNum type="arabicParenR"/>
              <a:tabLst>
                <a:tab pos="469265" algn="l"/>
                <a:tab pos="469900" algn="l"/>
              </a:tabLst>
            </a:pPr>
            <a:r>
              <a:rPr sz="2000" spc="-5" dirty="0">
                <a:latin typeface="Times New Roman"/>
                <a:cs typeface="Times New Roman"/>
              </a:rPr>
              <a:t>Introduction </a:t>
            </a:r>
            <a:r>
              <a:rPr sz="2000" dirty="0">
                <a:latin typeface="Times New Roman"/>
                <a:cs typeface="Times New Roman"/>
              </a:rPr>
              <a:t>à </a:t>
            </a:r>
            <a:r>
              <a:rPr sz="2000" spc="-5" dirty="0">
                <a:latin typeface="Times New Roman"/>
                <a:cs typeface="Times New Roman"/>
              </a:rPr>
              <a:t>la programmation orientée </a:t>
            </a:r>
            <a:r>
              <a:rPr sz="2000" dirty="0">
                <a:latin typeface="Times New Roman"/>
                <a:cs typeface="Times New Roman"/>
              </a:rPr>
              <a:t>objet (en </a:t>
            </a:r>
            <a:r>
              <a:rPr sz="2000" spc="-5" dirty="0">
                <a:latin typeface="Times New Roman"/>
                <a:cs typeface="Times New Roman"/>
              </a:rPr>
              <a:t>C++), </a:t>
            </a:r>
            <a:r>
              <a:rPr sz="2000" spc="-10" dirty="0">
                <a:latin typeface="Times New Roman"/>
                <a:cs typeface="Times New Roman"/>
              </a:rPr>
              <a:t>Jamila </a:t>
            </a:r>
            <a:r>
              <a:rPr sz="2000" dirty="0">
                <a:latin typeface="Times New Roman"/>
                <a:cs typeface="Times New Roman"/>
              </a:rPr>
              <a:t>Sam &amp; Jean-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Cédric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Chappelier,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coursera,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2018.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1693" y="1618487"/>
            <a:ext cx="533400" cy="243840"/>
          </a:xfrm>
          <a:custGeom>
            <a:avLst/>
            <a:gdLst/>
            <a:ahLst/>
            <a:cxnLst/>
            <a:rect l="l" t="t" r="r" b="b"/>
            <a:pathLst>
              <a:path w="533400" h="243839">
                <a:moveTo>
                  <a:pt x="533399" y="243839"/>
                </a:moveTo>
                <a:lnTo>
                  <a:pt x="533399" y="0"/>
                </a:lnTo>
                <a:lnTo>
                  <a:pt x="0" y="0"/>
                </a:lnTo>
                <a:lnTo>
                  <a:pt x="0" y="243839"/>
                </a:lnTo>
                <a:lnTo>
                  <a:pt x="533399" y="2438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51872" y="161188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7B61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3509</Words>
  <Application>Microsoft Office PowerPoint</Application>
  <PresentationFormat>Personnalisé</PresentationFormat>
  <Paragraphs>701</Paragraphs>
  <Slides>73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73</vt:i4>
      </vt:variant>
    </vt:vector>
  </HeadingPairs>
  <TitlesOfParts>
    <vt:vector size="79" baseType="lpstr">
      <vt:lpstr>Arial</vt:lpstr>
      <vt:lpstr>Calibri</vt:lpstr>
      <vt:lpstr>Microsoft Sans Serif</vt:lpstr>
      <vt:lpstr>Times New Roman</vt:lpstr>
      <vt:lpstr>Wingdings</vt:lpstr>
      <vt:lpstr>Office Theme</vt:lpstr>
      <vt:lpstr>Programmation Orientée Objet (C++):  Les tableaux</vt:lpstr>
      <vt:lpstr>Notion de Tableaux</vt:lpstr>
      <vt:lpstr>Notion de Tableaux</vt:lpstr>
      <vt:lpstr>Tableaux statiques</vt:lpstr>
      <vt:lpstr>Déclaration d‘un tableau</vt:lpstr>
      <vt:lpstr>Déclaration d‘un tableau</vt:lpstr>
      <vt:lpstr>Création d’un tableau</vt:lpstr>
      <vt:lpstr>Création d’un tableau</vt:lpstr>
      <vt:lpstr>Création d’un tableau</vt:lpstr>
      <vt:lpstr>Création d’un tableau</vt:lpstr>
      <vt:lpstr>Création d’un tableau</vt:lpstr>
      <vt:lpstr>Création d’un tableau</vt:lpstr>
      <vt:lpstr>Utilisation des Tableaux</vt:lpstr>
      <vt:lpstr>Utilisation des Tableaux</vt:lpstr>
      <vt:lpstr>Utilisation des Tableaux</vt:lpstr>
      <vt:lpstr>Utilisation des Tableaux</vt:lpstr>
      <vt:lpstr>Utilisation des Tableaux</vt:lpstr>
      <vt:lpstr>Utilisation des Tableaux</vt:lpstr>
      <vt:lpstr>Utilisation des Tableaux</vt:lpstr>
      <vt:lpstr>Utilisation des Tableaux</vt:lpstr>
      <vt:lpstr>Tableaux multidimensionnels</vt:lpstr>
      <vt:lpstr>Tableaux multidimensionnels</vt:lpstr>
      <vt:lpstr>Déclaration d’un tableau multidimensionnel</vt:lpstr>
      <vt:lpstr>Création d’un tableau multidimensionnel</vt:lpstr>
      <vt:lpstr>Création d’un tableau multidimensionnel</vt:lpstr>
      <vt:lpstr>Les tableaux statiques et les fonctions</vt:lpstr>
      <vt:lpstr>Les tableaux statiques et les fonctions</vt:lpstr>
      <vt:lpstr>Les tableaux statiques et les fonctions</vt:lpstr>
      <vt:lpstr>Les tableaux statiques et les fonctions</vt:lpstr>
      <vt:lpstr>Les tableaux statiques en C++11</vt:lpstr>
      <vt:lpstr>Les tableaux statiques en C++11</vt:lpstr>
      <vt:lpstr>Les tableaux statiques en C++11</vt:lpstr>
      <vt:lpstr>Les tableaux statiques en C++11</vt:lpstr>
      <vt:lpstr>Les tableaux statiques en C++11</vt:lpstr>
      <vt:lpstr>Les tableaux statiques en C++11</vt:lpstr>
      <vt:lpstr>Les tableaux statiques en C++11</vt:lpstr>
      <vt:lpstr>Les tableaux statiques en C++11</vt:lpstr>
      <vt:lpstr>Tableaux dynamiques</vt:lpstr>
      <vt:lpstr>Tableau dynamique</vt:lpstr>
      <vt:lpstr>Tableau dynamique</vt:lpstr>
      <vt:lpstr>Initialisation d’un tableau dynamique</vt:lpstr>
      <vt:lpstr>Initialisation d’un tableau dynamique</vt:lpstr>
      <vt:lpstr>Initialisation d’un tableau dynamique</vt:lpstr>
      <vt:lpstr>Tableau dynamique</vt:lpstr>
      <vt:lpstr>Tableau dynamique</vt:lpstr>
      <vt:lpstr>Tableau dynamique</vt:lpstr>
      <vt:lpstr>Parcours d’un tableau dynamique</vt:lpstr>
      <vt:lpstr>Parcours d’un tableau dynamique</vt:lpstr>
      <vt:lpstr>Parcours d’un tableau dynamique</vt:lpstr>
      <vt:lpstr>Fonctions spécifiques</vt:lpstr>
      <vt:lpstr>Fonctions spécifiques</vt:lpstr>
      <vt:lpstr>Fonctions spécifiques</vt:lpstr>
      <vt:lpstr>Ajout des cases à la fin du tableau</vt:lpstr>
      <vt:lpstr>Fonctions spécifiques</vt:lpstr>
      <vt:lpstr>Fonctions spécifiques</vt:lpstr>
      <vt:lpstr>Tableau dynamique</vt:lpstr>
      <vt:lpstr>Tableau dynamique</vt:lpstr>
      <vt:lpstr>Tableau dynamique</vt:lpstr>
      <vt:lpstr>Méthodes spécifiques</vt:lpstr>
      <vt:lpstr>Méthodes spécifiques</vt:lpstr>
      <vt:lpstr>Tableaux dynamiques multidimensionnels</vt:lpstr>
      <vt:lpstr>Tableaux dynamiques multidimensionnels</vt:lpstr>
      <vt:lpstr>Tableaux dynamiques multidimensionnels</vt:lpstr>
      <vt:lpstr>Tableaux dynamiques multidimensionnels</vt:lpstr>
      <vt:lpstr>Tableaux dynamiques multidimensionnels</vt:lpstr>
      <vt:lpstr>Tableaux dynamiques multidimensionnels</vt:lpstr>
      <vt:lpstr>Les tableaux dynamiques et les fonctions</vt:lpstr>
      <vt:lpstr>Les tableaux dynamiques et les fonctions</vt:lpstr>
      <vt:lpstr>Les tableaux dynamiques et les fonctions</vt:lpstr>
      <vt:lpstr>Les tableaux dynamiques et les fonctions</vt:lpstr>
      <vt:lpstr>Les tableaux dynamiques et les fonctions</vt:lpstr>
      <vt:lpstr>Présentation PowerPoint</vt:lpstr>
      <vt:lpstr>Références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Chapitre3TableauxCpp</dc:title>
  <dc:creator>hp</dc:creator>
  <cp:keywords>()</cp:keywords>
  <cp:lastModifiedBy>Utilisateur Windows</cp:lastModifiedBy>
  <cp:revision>1</cp:revision>
  <dcterms:created xsi:type="dcterms:W3CDTF">2024-02-28T11:45:17Z</dcterms:created>
  <dcterms:modified xsi:type="dcterms:W3CDTF">2024-02-28T12:14:14Z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2018-11-11T00:00:00Z</vt:filetime>
  </property>
  <property fmtid="{D5CDD505-2E9C-101B-9397-08002B2CF9AE}" pid="3" name="Creator">
    <vt:lpwstr>PDFCreator Version 1.7.2</vt:lpwstr>
  </property>
  <property fmtid="{D5CDD505-2E9C-101B-9397-08002B2CF9AE}" pid="4" name="LastSaved">
    <vt:filetime>2024-02-28T00:00:00Z</vt:filetime>
  </property>
</Properties>
</file>