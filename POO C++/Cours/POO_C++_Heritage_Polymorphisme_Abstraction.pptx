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7" r:id="rId29"/>
    <p:sldId id="288" r:id="rId30"/>
    <p:sldId id="289" r:id="rId31"/>
  </p:sldIdLst>
  <p:sldSz cx="10693400" cy="7562850"/>
  <p:notesSz cx="10693400" cy="7562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168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-40" dirty="0"/>
              <a:t>Cours</a:t>
            </a:r>
            <a:r>
              <a:rPr spc="60" dirty="0"/>
              <a:t> </a:t>
            </a:r>
            <a:r>
              <a:rPr spc="170" dirty="0"/>
              <a:t>C/C++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60" dirty="0"/>
              <a:t>tv </a:t>
            </a:r>
            <a:r>
              <a:rPr spc="140" dirty="0"/>
              <a:t> </a:t>
            </a:r>
            <a:r>
              <a:rPr spc="55" dirty="0"/>
              <a:t>(BTS</a:t>
            </a:r>
            <a:r>
              <a:rPr spc="100" dirty="0"/>
              <a:t> </a:t>
            </a:r>
            <a:r>
              <a:rPr spc="-25" dirty="0"/>
              <a:t>IRIS</a:t>
            </a:r>
            <a:r>
              <a:rPr spc="105" dirty="0"/>
              <a:t> </a:t>
            </a:r>
            <a:r>
              <a:rPr spc="5" dirty="0"/>
              <a:t>Avignon)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309"/>
              </a:spcBef>
            </a:pPr>
            <a:fld id="{81D60167-4931-47E6-BA6A-407CBD079E47}" type="slidenum">
              <a:rPr spc="-30" dirty="0"/>
              <a:t>‹N°›</a:t>
            </a:fld>
            <a:r>
              <a:rPr spc="80" dirty="0"/>
              <a:t> </a:t>
            </a:r>
            <a:r>
              <a:rPr spc="330" dirty="0"/>
              <a:t>/</a:t>
            </a:r>
            <a:r>
              <a:rPr spc="85" dirty="0"/>
              <a:t> </a:t>
            </a:r>
            <a:r>
              <a:rPr spc="-30" dirty="0"/>
              <a:t>37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-40" dirty="0"/>
              <a:t>Cours</a:t>
            </a:r>
            <a:r>
              <a:rPr spc="60" dirty="0"/>
              <a:t> </a:t>
            </a:r>
            <a:r>
              <a:rPr spc="170" dirty="0"/>
              <a:t>C/C++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60" dirty="0"/>
              <a:t>tv </a:t>
            </a:r>
            <a:r>
              <a:rPr spc="140" dirty="0"/>
              <a:t> </a:t>
            </a:r>
            <a:r>
              <a:rPr spc="55" dirty="0"/>
              <a:t>(BTS</a:t>
            </a:r>
            <a:r>
              <a:rPr spc="100" dirty="0"/>
              <a:t> </a:t>
            </a:r>
            <a:r>
              <a:rPr spc="-25" dirty="0"/>
              <a:t>IRIS</a:t>
            </a:r>
            <a:r>
              <a:rPr spc="105" dirty="0"/>
              <a:t> </a:t>
            </a:r>
            <a:r>
              <a:rPr spc="5" dirty="0"/>
              <a:t>Avignon)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309"/>
              </a:spcBef>
            </a:pPr>
            <a:fld id="{81D60167-4931-47E6-BA6A-407CBD079E47}" type="slidenum">
              <a:rPr spc="-30" dirty="0"/>
              <a:t>‹N°›</a:t>
            </a:fld>
            <a:r>
              <a:rPr spc="80" dirty="0"/>
              <a:t> </a:t>
            </a:r>
            <a:r>
              <a:rPr spc="330" dirty="0"/>
              <a:t>/</a:t>
            </a:r>
            <a:r>
              <a:rPr spc="85" dirty="0"/>
              <a:t> </a:t>
            </a:r>
            <a:r>
              <a:rPr spc="-30" dirty="0"/>
              <a:t>37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-40" dirty="0"/>
              <a:t>Cours</a:t>
            </a:r>
            <a:r>
              <a:rPr spc="60" dirty="0"/>
              <a:t> </a:t>
            </a:r>
            <a:r>
              <a:rPr spc="170" dirty="0"/>
              <a:t>C/C++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60" dirty="0"/>
              <a:t>tv </a:t>
            </a:r>
            <a:r>
              <a:rPr spc="140" dirty="0"/>
              <a:t> </a:t>
            </a:r>
            <a:r>
              <a:rPr spc="55" dirty="0"/>
              <a:t>(BTS</a:t>
            </a:r>
            <a:r>
              <a:rPr spc="100" dirty="0"/>
              <a:t> </a:t>
            </a:r>
            <a:r>
              <a:rPr spc="-25" dirty="0"/>
              <a:t>IRIS</a:t>
            </a:r>
            <a:r>
              <a:rPr spc="105" dirty="0"/>
              <a:t> </a:t>
            </a:r>
            <a:r>
              <a:rPr spc="5" dirty="0"/>
              <a:t>Avignon)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309"/>
              </a:spcBef>
            </a:pPr>
            <a:fld id="{81D60167-4931-47E6-BA6A-407CBD079E47}" type="slidenum">
              <a:rPr spc="-30" dirty="0"/>
              <a:t>‹N°›</a:t>
            </a:fld>
            <a:r>
              <a:rPr spc="80" dirty="0"/>
              <a:t> </a:t>
            </a:r>
            <a:r>
              <a:rPr spc="330" dirty="0"/>
              <a:t>/</a:t>
            </a:r>
            <a:r>
              <a:rPr spc="85" dirty="0"/>
              <a:t> </a:t>
            </a:r>
            <a:r>
              <a:rPr spc="-30" dirty="0"/>
              <a:t>37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-40" dirty="0"/>
              <a:t>Cours</a:t>
            </a:r>
            <a:r>
              <a:rPr spc="60" dirty="0"/>
              <a:t> </a:t>
            </a:r>
            <a:r>
              <a:rPr spc="170" dirty="0"/>
              <a:t>C/C++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60" dirty="0"/>
              <a:t>tv </a:t>
            </a:r>
            <a:r>
              <a:rPr spc="140" dirty="0"/>
              <a:t> </a:t>
            </a:r>
            <a:r>
              <a:rPr spc="55" dirty="0"/>
              <a:t>(BTS</a:t>
            </a:r>
            <a:r>
              <a:rPr spc="100" dirty="0"/>
              <a:t> </a:t>
            </a:r>
            <a:r>
              <a:rPr spc="-25" dirty="0"/>
              <a:t>IRIS</a:t>
            </a:r>
            <a:r>
              <a:rPr spc="105" dirty="0"/>
              <a:t> </a:t>
            </a:r>
            <a:r>
              <a:rPr spc="5" dirty="0"/>
              <a:t>Avignon)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309"/>
              </a:spcBef>
            </a:pPr>
            <a:fld id="{81D60167-4931-47E6-BA6A-407CBD079E47}" type="slidenum">
              <a:rPr spc="-30" dirty="0"/>
              <a:t>‹N°›</a:t>
            </a:fld>
            <a:r>
              <a:rPr spc="80" dirty="0"/>
              <a:t> </a:t>
            </a:r>
            <a:r>
              <a:rPr spc="330" dirty="0"/>
              <a:t>/</a:t>
            </a:r>
            <a:r>
              <a:rPr spc="85" dirty="0"/>
              <a:t> </a:t>
            </a:r>
            <a:r>
              <a:rPr spc="-30" dirty="0"/>
              <a:t>37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34045" y="6575721"/>
            <a:ext cx="1544404" cy="29218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80357" y="7117096"/>
            <a:ext cx="117554" cy="11630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72746" y="7108373"/>
            <a:ext cx="155617" cy="12226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39658" y="7108373"/>
            <a:ext cx="155617" cy="122262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303330" y="0"/>
            <a:ext cx="5043170" cy="240029"/>
          </a:xfrm>
          <a:custGeom>
            <a:avLst/>
            <a:gdLst/>
            <a:ahLst/>
            <a:cxnLst/>
            <a:rect l="l" t="t" r="r" b="b"/>
            <a:pathLst>
              <a:path w="5043170" h="240029">
                <a:moveTo>
                  <a:pt x="5042663" y="0"/>
                </a:moveTo>
                <a:lnTo>
                  <a:pt x="0" y="0"/>
                </a:lnTo>
                <a:lnTo>
                  <a:pt x="0" y="239990"/>
                </a:lnTo>
                <a:lnTo>
                  <a:pt x="5042663" y="239990"/>
                </a:lnTo>
                <a:lnTo>
                  <a:pt x="5042663" y="0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-40" dirty="0"/>
              <a:t>Cours</a:t>
            </a:r>
            <a:r>
              <a:rPr spc="60" dirty="0"/>
              <a:t> </a:t>
            </a:r>
            <a:r>
              <a:rPr spc="170" dirty="0"/>
              <a:t>C/C++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60" dirty="0"/>
              <a:t>tv </a:t>
            </a:r>
            <a:r>
              <a:rPr spc="140" dirty="0"/>
              <a:t> </a:t>
            </a:r>
            <a:r>
              <a:rPr spc="55" dirty="0"/>
              <a:t>(BTS</a:t>
            </a:r>
            <a:r>
              <a:rPr spc="100" dirty="0"/>
              <a:t> </a:t>
            </a:r>
            <a:r>
              <a:rPr spc="-25" dirty="0"/>
              <a:t>IRIS</a:t>
            </a:r>
            <a:r>
              <a:rPr spc="105" dirty="0"/>
              <a:t> </a:t>
            </a:r>
            <a:r>
              <a:rPr spc="5" dirty="0"/>
              <a:t>Avignon)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309"/>
              </a:spcBef>
            </a:pPr>
            <a:fld id="{81D60167-4931-47E6-BA6A-407CBD079E47}" type="slidenum">
              <a:rPr spc="-30" dirty="0"/>
              <a:t>‹N°›</a:t>
            </a:fld>
            <a:r>
              <a:rPr spc="80" dirty="0"/>
              <a:t> </a:t>
            </a:r>
            <a:r>
              <a:rPr spc="330" dirty="0"/>
              <a:t>/</a:t>
            </a:r>
            <a:r>
              <a:rPr spc="85" dirty="0"/>
              <a:t> </a:t>
            </a:r>
            <a:r>
              <a:rPr spc="-30" dirty="0"/>
              <a:t>37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34045" y="6575721"/>
            <a:ext cx="1544404" cy="29218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980357" y="7117096"/>
            <a:ext cx="117554" cy="11630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772746" y="7108373"/>
            <a:ext cx="155617" cy="12226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139658" y="7108373"/>
            <a:ext cx="155617" cy="12226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4369" y="1279147"/>
            <a:ext cx="9464660" cy="114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1910" y="1200373"/>
            <a:ext cx="9509578" cy="5083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799471" y="7283716"/>
            <a:ext cx="1092835" cy="269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-40" dirty="0"/>
              <a:t>Cours</a:t>
            </a:r>
            <a:r>
              <a:rPr spc="60" dirty="0"/>
              <a:t> </a:t>
            </a:r>
            <a:r>
              <a:rPr spc="170" dirty="0"/>
              <a:t>C/C++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91682" y="7283716"/>
            <a:ext cx="1784985" cy="269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60" dirty="0"/>
              <a:t>tv </a:t>
            </a:r>
            <a:r>
              <a:rPr spc="140" dirty="0"/>
              <a:t> </a:t>
            </a:r>
            <a:r>
              <a:rPr spc="55" dirty="0"/>
              <a:t>(BTS</a:t>
            </a:r>
            <a:r>
              <a:rPr spc="100" dirty="0"/>
              <a:t> </a:t>
            </a:r>
            <a:r>
              <a:rPr spc="-25" dirty="0"/>
              <a:t>IRIS</a:t>
            </a:r>
            <a:r>
              <a:rPr spc="105" dirty="0"/>
              <a:t> </a:t>
            </a:r>
            <a:r>
              <a:rPr spc="5" dirty="0"/>
              <a:t>Avignon)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43359" y="7283716"/>
            <a:ext cx="648334" cy="269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309"/>
              </a:spcBef>
            </a:pPr>
            <a:fld id="{81D60167-4931-47E6-BA6A-407CBD079E47}" type="slidenum">
              <a:rPr spc="-30" dirty="0"/>
              <a:t>‹N°›</a:t>
            </a:fld>
            <a:r>
              <a:rPr spc="80" dirty="0"/>
              <a:t> </a:t>
            </a:r>
            <a:r>
              <a:rPr spc="330" dirty="0"/>
              <a:t>/</a:t>
            </a:r>
            <a:r>
              <a:rPr spc="85" dirty="0"/>
              <a:t> </a:t>
            </a:r>
            <a:r>
              <a:rPr spc="-30" dirty="0"/>
              <a:t>37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hyperlink" Target="mailto:tvaira@free.fr" TargetMode="External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hyperlink" Target="mailto:tvaira@free.fr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hyperlink" Target="mailto:tvaira@free.fr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tvaira@free.fr" TargetMode="External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hyperlink" Target="mailto:tvaira@free.fr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5" Type="http://schemas.openxmlformats.org/officeDocument/2006/relationships/hyperlink" Target="mailto:tvaira@free.fr" TargetMode="Externa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tvaira@free.fr" TargetMode="External"/><Relationship Id="rId4" Type="http://schemas.openxmlformats.org/officeDocument/2006/relationships/image" Target="../media/image2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tvaira@free.fr" TargetMode="External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hyperlink" Target="mailto:tvaira@free.fr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tvaira@free.fr" TargetMode="Externa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tvaira@free.fr" TargetMode="Externa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hyperlink" Target="mailto:tvaira@free.fr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tvaira@free.fr" TargetMode="Externa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tvaira@free.fr" TargetMode="External"/><Relationship Id="rId5" Type="http://schemas.openxmlformats.org/officeDocument/2006/relationships/hyperlink" Target="http://loic-joly.developpez.com/articles/heritage-multiple/#L4-B" TargetMode="Externa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tvaira@free.fr" TargetMode="Externa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tvaira@free.fr" TargetMode="External"/><Relationship Id="rId5" Type="http://schemas.openxmlformats.org/officeDocument/2006/relationships/image" Target="../media/image31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tvaira@free.fr" TargetMode="External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tvaira@free.fr" TargetMode="Externa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tvaira@free.fr" TargetMode="External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tvaira@free.fr" TargetMode="External"/><Relationship Id="rId5" Type="http://schemas.openxmlformats.org/officeDocument/2006/relationships/image" Target="../media/image32.png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tvaira@free.fr" TargetMode="Externa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tvaira@free.fr" TargetMode="External"/><Relationship Id="rId5" Type="http://schemas.openxmlformats.org/officeDocument/2006/relationships/image" Target="../media/image36.pn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tvaira@free.fr" TargetMode="External"/><Relationship Id="rId5" Type="http://schemas.openxmlformats.org/officeDocument/2006/relationships/image" Target="../media/image37.png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tvaira@free.fr" TargetMode="Externa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tvaira@free.fr" TargetMode="External"/><Relationship Id="rId5" Type="http://schemas.openxmlformats.org/officeDocument/2006/relationships/image" Target="../media/image36.png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tvaira@free.fr" TargetMode="Externa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hyperlink" Target="mailto:tvaira@free.fr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tvaira@free.fr" TargetMode="External"/><Relationship Id="rId5" Type="http://schemas.openxmlformats.org/officeDocument/2006/relationships/image" Target="../media/image40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80357" y="7117096"/>
            <a:ext cx="117554" cy="11630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72746" y="7108373"/>
            <a:ext cx="155617" cy="12226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39658" y="7108373"/>
            <a:ext cx="155617" cy="12226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03330" y="0"/>
            <a:ext cx="10085705" cy="240029"/>
            <a:chOff x="303330" y="0"/>
            <a:chExt cx="10085705" cy="240029"/>
          </a:xfrm>
        </p:grpSpPr>
        <p:sp>
          <p:nvSpPr>
            <p:cNvPr id="7" name="object 7"/>
            <p:cNvSpPr/>
            <p:nvPr/>
          </p:nvSpPr>
          <p:spPr>
            <a:xfrm>
              <a:off x="303330" y="0"/>
              <a:ext cx="5043170" cy="240029"/>
            </a:xfrm>
            <a:custGeom>
              <a:avLst/>
              <a:gdLst/>
              <a:ahLst/>
              <a:cxnLst/>
              <a:rect l="l" t="t" r="r" b="b"/>
              <a:pathLst>
                <a:path w="5043170" h="240029">
                  <a:moveTo>
                    <a:pt x="5042663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5042663" y="239990"/>
                  </a:lnTo>
                  <a:lnTo>
                    <a:pt x="504266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45993" y="0"/>
              <a:ext cx="5043170" cy="240029"/>
            </a:xfrm>
            <a:custGeom>
              <a:avLst/>
              <a:gdLst/>
              <a:ahLst/>
              <a:cxnLst/>
              <a:rect l="l" t="t" r="r" b="b"/>
              <a:pathLst>
                <a:path w="5043170" h="240029">
                  <a:moveTo>
                    <a:pt x="5042663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5042663" y="239990"/>
                  </a:lnTo>
                  <a:lnTo>
                    <a:pt x="504266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493425" y="1888267"/>
            <a:ext cx="9705340" cy="180340"/>
          </a:xfrm>
          <a:custGeom>
            <a:avLst/>
            <a:gdLst/>
            <a:ahLst/>
            <a:cxnLst/>
            <a:rect l="l" t="t" r="r" b="b"/>
            <a:pathLst>
              <a:path w="9705340" h="180339">
                <a:moveTo>
                  <a:pt x="9594072" y="0"/>
                </a:moveTo>
                <a:lnTo>
                  <a:pt x="111185" y="0"/>
                </a:lnTo>
                <a:lnTo>
                  <a:pt x="68014" y="8773"/>
                </a:lnTo>
                <a:lnTo>
                  <a:pt x="32660" y="32660"/>
                </a:lnTo>
                <a:lnTo>
                  <a:pt x="8773" y="68013"/>
                </a:lnTo>
                <a:lnTo>
                  <a:pt x="0" y="111184"/>
                </a:lnTo>
                <a:lnTo>
                  <a:pt x="0" y="180312"/>
                </a:lnTo>
                <a:lnTo>
                  <a:pt x="9705258" y="180312"/>
                </a:lnTo>
                <a:lnTo>
                  <a:pt x="9705258" y="111184"/>
                </a:lnTo>
                <a:lnTo>
                  <a:pt x="9696484" y="68013"/>
                </a:lnTo>
                <a:lnTo>
                  <a:pt x="9672596" y="32660"/>
                </a:lnTo>
                <a:lnTo>
                  <a:pt x="9637243" y="8773"/>
                </a:lnTo>
                <a:lnTo>
                  <a:pt x="9594072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493425" y="1985501"/>
            <a:ext cx="9816465" cy="1337945"/>
            <a:chOff x="493425" y="1985501"/>
            <a:chExt cx="9816465" cy="1337945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4610" y="3100561"/>
              <a:ext cx="222367" cy="22236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5796" y="3072765"/>
              <a:ext cx="9593949" cy="2501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98683" y="1998951"/>
              <a:ext cx="111061" cy="110161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93425" y="1985501"/>
              <a:ext cx="9705340" cy="1226820"/>
            </a:xfrm>
            <a:custGeom>
              <a:avLst/>
              <a:gdLst/>
              <a:ahLst/>
              <a:cxnLst/>
              <a:rect l="l" t="t" r="r" b="b"/>
              <a:pathLst>
                <a:path w="9705340" h="1226820">
                  <a:moveTo>
                    <a:pt x="9705258" y="0"/>
                  </a:moveTo>
                  <a:lnTo>
                    <a:pt x="0" y="0"/>
                  </a:lnTo>
                  <a:lnTo>
                    <a:pt x="0" y="1115060"/>
                  </a:lnTo>
                  <a:lnTo>
                    <a:pt x="8773" y="1158231"/>
                  </a:lnTo>
                  <a:lnTo>
                    <a:pt x="32660" y="1193584"/>
                  </a:lnTo>
                  <a:lnTo>
                    <a:pt x="68014" y="1217472"/>
                  </a:lnTo>
                  <a:lnTo>
                    <a:pt x="111185" y="1226245"/>
                  </a:lnTo>
                  <a:lnTo>
                    <a:pt x="9594072" y="1226245"/>
                  </a:lnTo>
                  <a:lnTo>
                    <a:pt x="9637243" y="1217472"/>
                  </a:lnTo>
                  <a:lnTo>
                    <a:pt x="9672596" y="1193584"/>
                  </a:lnTo>
                  <a:lnTo>
                    <a:pt x="9696484" y="1158231"/>
                  </a:lnTo>
                  <a:lnTo>
                    <a:pt x="9705258" y="1115060"/>
                  </a:lnTo>
                  <a:lnTo>
                    <a:pt x="9705258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198683" y="2082321"/>
              <a:ext cx="0" cy="1060450"/>
            </a:xfrm>
            <a:custGeom>
              <a:avLst/>
              <a:gdLst/>
              <a:ahLst/>
              <a:cxnLst/>
              <a:rect l="l" t="t" r="r" b="b"/>
              <a:pathLst>
                <a:path h="1060450">
                  <a:moveTo>
                    <a:pt x="0" y="105993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198683" y="2054525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39">
                  <a:moveTo>
                    <a:pt x="0" y="277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198683" y="2026729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39">
                  <a:moveTo>
                    <a:pt x="0" y="277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198683" y="1998933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39">
                  <a:moveTo>
                    <a:pt x="0" y="277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266936" y="2016682"/>
            <a:ext cx="8158480" cy="100266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633220" marR="5080" indent="-1621155">
              <a:lnSpc>
                <a:spcPts val="3920"/>
              </a:lnSpc>
              <a:spcBef>
                <a:spcPts val="50"/>
              </a:spcBef>
            </a:pPr>
            <a:r>
              <a:rPr sz="3100" spc="-100" dirty="0">
                <a:solidFill>
                  <a:srgbClr val="FFFFFF"/>
                </a:solidFill>
              </a:rPr>
              <a:t>Cours</a:t>
            </a:r>
            <a:r>
              <a:rPr sz="3100" spc="45" dirty="0">
                <a:solidFill>
                  <a:srgbClr val="FFFFFF"/>
                </a:solidFill>
              </a:rPr>
              <a:t> </a:t>
            </a:r>
            <a:r>
              <a:rPr sz="3100" spc="-145" dirty="0">
                <a:solidFill>
                  <a:srgbClr val="FFFFFF"/>
                </a:solidFill>
              </a:rPr>
              <a:t>Langage</a:t>
            </a:r>
            <a:r>
              <a:rPr sz="3100" spc="50" dirty="0">
                <a:solidFill>
                  <a:srgbClr val="FFFFFF"/>
                </a:solidFill>
              </a:rPr>
              <a:t> </a:t>
            </a:r>
            <a:r>
              <a:rPr sz="3100" spc="120" dirty="0">
                <a:solidFill>
                  <a:srgbClr val="FFFFFF"/>
                </a:solidFill>
              </a:rPr>
              <a:t>C++</a:t>
            </a:r>
            <a:r>
              <a:rPr sz="3100" spc="50" dirty="0">
                <a:solidFill>
                  <a:srgbClr val="FFFFFF"/>
                </a:solidFill>
              </a:rPr>
              <a:t> </a:t>
            </a:r>
            <a:r>
              <a:rPr sz="3100" spc="-245" dirty="0">
                <a:solidFill>
                  <a:srgbClr val="FFFFFF"/>
                </a:solidFill>
              </a:rPr>
              <a:t>:</a:t>
            </a:r>
            <a:r>
              <a:rPr sz="3100" spc="50" dirty="0">
                <a:solidFill>
                  <a:srgbClr val="FFFFFF"/>
                </a:solidFill>
              </a:rPr>
              <a:t> </a:t>
            </a:r>
            <a:r>
              <a:rPr sz="3100" spc="-100" dirty="0">
                <a:solidFill>
                  <a:srgbClr val="FFFFFF"/>
                </a:solidFill>
              </a:rPr>
              <a:t>Héritage</a:t>
            </a:r>
            <a:r>
              <a:rPr sz="3100" spc="55" dirty="0">
                <a:solidFill>
                  <a:srgbClr val="FFFFFF"/>
                </a:solidFill>
              </a:rPr>
              <a:t> </a:t>
            </a:r>
            <a:r>
              <a:rPr sz="3100" spc="-100" dirty="0">
                <a:solidFill>
                  <a:srgbClr val="FFFFFF"/>
                </a:solidFill>
              </a:rPr>
              <a:t>et</a:t>
            </a:r>
            <a:r>
              <a:rPr sz="3100" spc="55" dirty="0">
                <a:solidFill>
                  <a:srgbClr val="FFFFFF"/>
                </a:solidFill>
              </a:rPr>
              <a:t> </a:t>
            </a:r>
            <a:r>
              <a:rPr sz="3100" spc="-135" dirty="0">
                <a:solidFill>
                  <a:srgbClr val="FFFFFF"/>
                </a:solidFill>
              </a:rPr>
              <a:t>polymorphisme </a:t>
            </a:r>
            <a:r>
              <a:rPr sz="3100" spc="-955" dirty="0">
                <a:solidFill>
                  <a:srgbClr val="FFFFFF"/>
                </a:solidFill>
              </a:rPr>
              <a:t> </a:t>
            </a:r>
            <a:r>
              <a:rPr sz="3100" spc="-90" dirty="0">
                <a:solidFill>
                  <a:srgbClr val="FFFFFF"/>
                </a:solidFill>
              </a:rPr>
              <a:t>Programmation</a:t>
            </a:r>
            <a:r>
              <a:rPr sz="3100" spc="50" dirty="0">
                <a:solidFill>
                  <a:srgbClr val="FFFFFF"/>
                </a:solidFill>
              </a:rPr>
              <a:t> </a:t>
            </a:r>
            <a:r>
              <a:rPr sz="3100" spc="-85" dirty="0">
                <a:solidFill>
                  <a:srgbClr val="FFFFFF"/>
                </a:solidFill>
              </a:rPr>
              <a:t>Orienté</a:t>
            </a:r>
            <a:r>
              <a:rPr sz="3100" spc="50" dirty="0">
                <a:solidFill>
                  <a:srgbClr val="FFFFFF"/>
                </a:solidFill>
              </a:rPr>
              <a:t> </a:t>
            </a:r>
            <a:r>
              <a:rPr sz="3100" spc="-65" dirty="0">
                <a:solidFill>
                  <a:srgbClr val="FFFFFF"/>
                </a:solidFill>
              </a:rPr>
              <a:t>Objet</a:t>
            </a:r>
            <a:endParaRPr sz="3100"/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3330" y="0"/>
            <a:ext cx="10085705" cy="240029"/>
            <a:chOff x="303330" y="0"/>
            <a:chExt cx="10085705" cy="240029"/>
          </a:xfrm>
        </p:grpSpPr>
        <p:sp>
          <p:nvSpPr>
            <p:cNvPr id="3" name="object 3"/>
            <p:cNvSpPr/>
            <p:nvPr/>
          </p:nvSpPr>
          <p:spPr>
            <a:xfrm>
              <a:off x="303330" y="0"/>
              <a:ext cx="5043170" cy="240029"/>
            </a:xfrm>
            <a:custGeom>
              <a:avLst/>
              <a:gdLst/>
              <a:ahLst/>
              <a:cxnLst/>
              <a:rect l="l" t="t" r="r" b="b"/>
              <a:pathLst>
                <a:path w="5043170" h="240029">
                  <a:moveTo>
                    <a:pt x="5042663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5042663" y="239990"/>
                  </a:lnTo>
                  <a:lnTo>
                    <a:pt x="504266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5993" y="0"/>
              <a:ext cx="5043170" cy="240029"/>
            </a:xfrm>
            <a:custGeom>
              <a:avLst/>
              <a:gdLst/>
              <a:ahLst/>
              <a:cxnLst/>
              <a:rect l="l" t="t" r="r" b="b"/>
              <a:pathLst>
                <a:path w="5043170" h="240029">
                  <a:moveTo>
                    <a:pt x="5042663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5042663" y="239990"/>
                  </a:lnTo>
                  <a:lnTo>
                    <a:pt x="504266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25959" y="1268998"/>
            <a:ext cx="1640205" cy="5041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00" spc="-125" dirty="0"/>
              <a:t>Sommaire</a:t>
            </a:r>
            <a:endParaRPr sz="310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0802" y="2304012"/>
            <a:ext cx="350396" cy="35039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34456" y="2317660"/>
            <a:ext cx="143510" cy="291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50" spc="-50" dirty="0">
                <a:solidFill>
                  <a:srgbClr val="EAEAF7"/>
                </a:solidFill>
                <a:latin typeface="Microsoft Sans Serif"/>
                <a:cs typeface="Microsoft Sans Serif"/>
              </a:rPr>
              <a:t>1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6526" y="2311620"/>
            <a:ext cx="1791970" cy="324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50" spc="-150" dirty="0">
                <a:solidFill>
                  <a:srgbClr val="3333B2"/>
                </a:solidFill>
                <a:latin typeface="Microsoft Sans Serif"/>
                <a:cs typeface="Microsoft Sans Serif"/>
              </a:rPr>
              <a:t>Classes</a:t>
            </a:r>
            <a:r>
              <a:rPr sz="1950" spc="125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1950" spc="-5" dirty="0">
                <a:solidFill>
                  <a:srgbClr val="3333B2"/>
                </a:solidFill>
                <a:latin typeface="Microsoft Sans Serif"/>
                <a:cs typeface="Microsoft Sans Serif"/>
              </a:rPr>
              <a:t>et</a:t>
            </a:r>
            <a:r>
              <a:rPr sz="1950" spc="125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1950" spc="-45" dirty="0">
                <a:solidFill>
                  <a:srgbClr val="3333B2"/>
                </a:solidFill>
                <a:latin typeface="Microsoft Sans Serif"/>
                <a:cs typeface="Microsoft Sans Serif"/>
              </a:rPr>
              <a:t>objets</a:t>
            </a:r>
            <a:endParaRPr sz="1950">
              <a:latin typeface="Microsoft Sans Serif"/>
              <a:cs typeface="Microsoft Sans Serif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0802" y="2992852"/>
            <a:ext cx="350396" cy="35039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34456" y="3006500"/>
            <a:ext cx="143510" cy="291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50" spc="-50" dirty="0">
                <a:solidFill>
                  <a:srgbClr val="EAEAF7"/>
                </a:solidFill>
                <a:latin typeface="Microsoft Sans Serif"/>
                <a:cs typeface="Microsoft Sans Serif"/>
              </a:rPr>
              <a:t>2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6526" y="3000460"/>
            <a:ext cx="1089660" cy="324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50" spc="-25" dirty="0">
                <a:solidFill>
                  <a:srgbClr val="3333B2"/>
                </a:solidFill>
                <a:latin typeface="Microsoft Sans Serif"/>
                <a:cs typeface="Microsoft Sans Serif"/>
              </a:rPr>
              <a:t>L’héritage</a:t>
            </a:r>
            <a:endParaRPr sz="1950">
              <a:latin typeface="Microsoft Sans Serif"/>
              <a:cs typeface="Microsoft Sans Serif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0802" y="3681692"/>
            <a:ext cx="350396" cy="35039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34456" y="3695340"/>
            <a:ext cx="143510" cy="291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50" spc="-50" dirty="0">
                <a:solidFill>
                  <a:srgbClr val="EAEAF7"/>
                </a:solidFill>
                <a:latin typeface="Microsoft Sans Serif"/>
                <a:cs typeface="Microsoft Sans Serif"/>
              </a:rPr>
              <a:t>3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6526" y="3689300"/>
            <a:ext cx="1642745" cy="324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50" spc="-60" dirty="0">
                <a:solidFill>
                  <a:srgbClr val="3333B2"/>
                </a:solidFill>
                <a:latin typeface="Microsoft Sans Serif"/>
                <a:cs typeface="Microsoft Sans Serif"/>
              </a:rPr>
              <a:t>Polymorphisme</a:t>
            </a:r>
            <a:endParaRPr sz="1950">
              <a:latin typeface="Microsoft Sans Serif"/>
              <a:cs typeface="Microsoft Sans Serif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0802" y="4370532"/>
            <a:ext cx="350396" cy="35039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534456" y="4384180"/>
            <a:ext cx="143510" cy="291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50" spc="-50" dirty="0">
                <a:solidFill>
                  <a:srgbClr val="EAEAF7"/>
                </a:solidFill>
                <a:latin typeface="Microsoft Sans Serif"/>
                <a:cs typeface="Microsoft Sans Serif"/>
              </a:rPr>
              <a:t>4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96526" y="4378140"/>
            <a:ext cx="1692910" cy="324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50" spc="-140" dirty="0">
                <a:solidFill>
                  <a:srgbClr val="3333B2"/>
                </a:solidFill>
                <a:latin typeface="Microsoft Sans Serif"/>
                <a:cs typeface="Microsoft Sans Serif"/>
              </a:rPr>
              <a:t>Classe</a:t>
            </a:r>
            <a:r>
              <a:rPr sz="1950" spc="100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1950" spc="-30" dirty="0">
                <a:solidFill>
                  <a:srgbClr val="3333B2"/>
                </a:solidFill>
                <a:latin typeface="Microsoft Sans Serif"/>
                <a:cs typeface="Microsoft Sans Serif"/>
              </a:rPr>
              <a:t>abstraite</a:t>
            </a:r>
            <a:endParaRPr sz="195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4456" y="5073020"/>
            <a:ext cx="143510" cy="291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50" spc="-50" dirty="0">
                <a:solidFill>
                  <a:srgbClr val="EAEAF7"/>
                </a:solidFill>
                <a:latin typeface="Microsoft Sans Serif"/>
                <a:cs typeface="Microsoft Sans Serif"/>
              </a:rPr>
              <a:t>5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60" dirty="0"/>
              <a:t>tv </a:t>
            </a:r>
            <a:r>
              <a:rPr spc="140" dirty="0"/>
              <a:t> </a:t>
            </a:r>
            <a:r>
              <a:rPr spc="55" dirty="0"/>
              <a:t>(BTS</a:t>
            </a:r>
            <a:r>
              <a:rPr spc="100" dirty="0"/>
              <a:t> </a:t>
            </a:r>
            <a:r>
              <a:rPr spc="-25" dirty="0"/>
              <a:t>IRIS</a:t>
            </a:r>
            <a:r>
              <a:rPr spc="105" dirty="0"/>
              <a:t> </a:t>
            </a:r>
            <a:r>
              <a:rPr spc="5" dirty="0"/>
              <a:t>Avignon)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-40" dirty="0"/>
              <a:t>Cours</a:t>
            </a:r>
            <a:r>
              <a:rPr spc="60" dirty="0"/>
              <a:t> </a:t>
            </a:r>
            <a:r>
              <a:rPr spc="170" dirty="0"/>
              <a:t>C/C++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9"/>
              </a:spcBef>
            </a:pPr>
            <a:fld id="{81D60167-4931-47E6-BA6A-407CBD079E47}" type="slidenum">
              <a:rPr spc="-30" dirty="0"/>
              <a:t>2</a:t>
            </a:fld>
            <a:r>
              <a:rPr spc="80" dirty="0"/>
              <a:t> </a:t>
            </a:r>
            <a:r>
              <a:rPr spc="330" dirty="0"/>
              <a:t>/</a:t>
            </a:r>
            <a:r>
              <a:rPr spc="85" dirty="0"/>
              <a:t> </a:t>
            </a:r>
            <a:r>
              <a:rPr spc="-30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3330" y="0"/>
            <a:ext cx="5043170" cy="203200"/>
          </a:xfrm>
          <a:custGeom>
            <a:avLst/>
            <a:gdLst/>
            <a:ahLst/>
            <a:cxnLst/>
            <a:rect l="l" t="t" r="r" b="b"/>
            <a:pathLst>
              <a:path w="5043170" h="203200">
                <a:moveTo>
                  <a:pt x="0" y="203077"/>
                </a:moveTo>
                <a:lnTo>
                  <a:pt x="5042663" y="203077"/>
                </a:lnTo>
                <a:lnTo>
                  <a:pt x="5042663" y="0"/>
                </a:lnTo>
                <a:lnTo>
                  <a:pt x="0" y="0"/>
                </a:lnTo>
                <a:lnTo>
                  <a:pt x="0" y="203077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611098" y="0"/>
            <a:ext cx="600075" cy="224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Rap</a:t>
            </a:r>
            <a:r>
              <a:rPr sz="13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13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els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3330" y="0"/>
            <a:ext cx="10085705" cy="812800"/>
            <a:chOff x="303330" y="0"/>
            <a:chExt cx="10085705" cy="812800"/>
          </a:xfrm>
        </p:grpSpPr>
        <p:sp>
          <p:nvSpPr>
            <p:cNvPr id="5" name="object 5"/>
            <p:cNvSpPr/>
            <p:nvPr/>
          </p:nvSpPr>
          <p:spPr>
            <a:xfrm>
              <a:off x="5345993" y="0"/>
              <a:ext cx="5043170" cy="203200"/>
            </a:xfrm>
            <a:custGeom>
              <a:avLst/>
              <a:gdLst/>
              <a:ahLst/>
              <a:cxnLst/>
              <a:rect l="l" t="t" r="r" b="b"/>
              <a:pathLst>
                <a:path w="5043170" h="203200">
                  <a:moveTo>
                    <a:pt x="0" y="203077"/>
                  </a:moveTo>
                  <a:lnTo>
                    <a:pt x="5042663" y="203077"/>
                  </a:lnTo>
                  <a:lnTo>
                    <a:pt x="5042663" y="0"/>
                  </a:lnTo>
                  <a:lnTo>
                    <a:pt x="0" y="0"/>
                  </a:lnTo>
                  <a:lnTo>
                    <a:pt x="0" y="20307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330" y="201079"/>
              <a:ext cx="10085354" cy="1476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3330" y="311846"/>
              <a:ext cx="10085705" cy="498475"/>
            </a:xfrm>
            <a:custGeom>
              <a:avLst/>
              <a:gdLst/>
              <a:ahLst/>
              <a:cxnLst/>
              <a:rect l="l" t="t" r="r" b="b"/>
              <a:pathLst>
                <a:path w="10085705" h="498475">
                  <a:moveTo>
                    <a:pt x="0" y="498437"/>
                  </a:moveTo>
                  <a:lnTo>
                    <a:pt x="10085354" y="498437"/>
                  </a:lnTo>
                  <a:lnTo>
                    <a:pt x="10085354" y="0"/>
                  </a:lnTo>
                  <a:lnTo>
                    <a:pt x="0" y="0"/>
                  </a:lnTo>
                  <a:lnTo>
                    <a:pt x="0" y="49843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27007" y="249275"/>
            <a:ext cx="2711450" cy="5041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00" spc="-140" dirty="0">
                <a:solidFill>
                  <a:srgbClr val="FFFFFF"/>
                </a:solidFill>
              </a:rPr>
              <a:t>Classes</a:t>
            </a:r>
            <a:r>
              <a:rPr sz="3100" spc="25" dirty="0">
                <a:solidFill>
                  <a:srgbClr val="FFFFFF"/>
                </a:solidFill>
              </a:rPr>
              <a:t> </a:t>
            </a:r>
            <a:r>
              <a:rPr sz="3100" spc="-100" dirty="0">
                <a:solidFill>
                  <a:srgbClr val="FFFFFF"/>
                </a:solidFill>
              </a:rPr>
              <a:t>et</a:t>
            </a:r>
            <a:r>
              <a:rPr sz="3100" spc="25" dirty="0">
                <a:solidFill>
                  <a:srgbClr val="FFFFFF"/>
                </a:solidFill>
              </a:rPr>
              <a:t> </a:t>
            </a:r>
            <a:r>
              <a:rPr sz="3100" spc="-130" dirty="0">
                <a:solidFill>
                  <a:srgbClr val="FFFFFF"/>
                </a:solidFill>
              </a:rPr>
              <a:t>objets</a:t>
            </a:r>
            <a:endParaRPr sz="310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3330" y="810284"/>
            <a:ext cx="10085354" cy="7385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6620" y="1367926"/>
            <a:ext cx="142843" cy="14284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6620" y="2813707"/>
            <a:ext cx="142843" cy="14284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6620" y="3573733"/>
            <a:ext cx="142843" cy="142843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493425" y="4525077"/>
            <a:ext cx="9816465" cy="2155825"/>
            <a:chOff x="493425" y="4525077"/>
            <a:chExt cx="9816465" cy="2155825"/>
          </a:xfrm>
        </p:grpSpPr>
        <p:sp>
          <p:nvSpPr>
            <p:cNvPr id="14" name="object 14"/>
            <p:cNvSpPr/>
            <p:nvPr/>
          </p:nvSpPr>
          <p:spPr>
            <a:xfrm>
              <a:off x="493425" y="4525077"/>
              <a:ext cx="9705340" cy="438150"/>
            </a:xfrm>
            <a:custGeom>
              <a:avLst/>
              <a:gdLst/>
              <a:ahLst/>
              <a:cxnLst/>
              <a:rect l="l" t="t" r="r" b="b"/>
              <a:pathLst>
                <a:path w="9705340" h="438150">
                  <a:moveTo>
                    <a:pt x="9594072" y="0"/>
                  </a:moveTo>
                  <a:lnTo>
                    <a:pt x="111185" y="0"/>
                  </a:lnTo>
                  <a:lnTo>
                    <a:pt x="68014" y="8773"/>
                  </a:lnTo>
                  <a:lnTo>
                    <a:pt x="32660" y="32660"/>
                  </a:lnTo>
                  <a:lnTo>
                    <a:pt x="8773" y="68013"/>
                  </a:lnTo>
                  <a:lnTo>
                    <a:pt x="0" y="111184"/>
                  </a:lnTo>
                  <a:lnTo>
                    <a:pt x="0" y="437911"/>
                  </a:lnTo>
                  <a:lnTo>
                    <a:pt x="9705258" y="437911"/>
                  </a:lnTo>
                  <a:lnTo>
                    <a:pt x="9705258" y="111184"/>
                  </a:lnTo>
                  <a:lnTo>
                    <a:pt x="9696484" y="68013"/>
                  </a:lnTo>
                  <a:lnTo>
                    <a:pt x="9672596" y="32660"/>
                  </a:lnTo>
                  <a:lnTo>
                    <a:pt x="9637243" y="8773"/>
                  </a:lnTo>
                  <a:lnTo>
                    <a:pt x="9594072" y="0"/>
                  </a:lnTo>
                  <a:close/>
                </a:path>
              </a:pathLst>
            </a:custGeom>
            <a:solidFill>
              <a:srgbClr val="005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3426" y="4935291"/>
              <a:ext cx="9705256" cy="11076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4610" y="6458261"/>
              <a:ext cx="222367" cy="22236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5796" y="6430464"/>
              <a:ext cx="9593949" cy="25016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198683" y="4621891"/>
              <a:ext cx="111061" cy="183636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93425" y="5032201"/>
              <a:ext cx="9705340" cy="1537335"/>
            </a:xfrm>
            <a:custGeom>
              <a:avLst/>
              <a:gdLst/>
              <a:ahLst/>
              <a:cxnLst/>
              <a:rect l="l" t="t" r="r" b="b"/>
              <a:pathLst>
                <a:path w="9705340" h="1537334">
                  <a:moveTo>
                    <a:pt x="9705258" y="0"/>
                  </a:moveTo>
                  <a:lnTo>
                    <a:pt x="0" y="0"/>
                  </a:lnTo>
                  <a:lnTo>
                    <a:pt x="0" y="1426059"/>
                  </a:lnTo>
                  <a:lnTo>
                    <a:pt x="8773" y="1469230"/>
                  </a:lnTo>
                  <a:lnTo>
                    <a:pt x="32660" y="1504583"/>
                  </a:lnTo>
                  <a:lnTo>
                    <a:pt x="68014" y="1528470"/>
                  </a:lnTo>
                  <a:lnTo>
                    <a:pt x="111185" y="1537244"/>
                  </a:lnTo>
                  <a:lnTo>
                    <a:pt x="9594072" y="1537244"/>
                  </a:lnTo>
                  <a:lnTo>
                    <a:pt x="9637243" y="1528470"/>
                  </a:lnTo>
                  <a:lnTo>
                    <a:pt x="9672596" y="1504583"/>
                  </a:lnTo>
                  <a:lnTo>
                    <a:pt x="9696484" y="1469230"/>
                  </a:lnTo>
                  <a:lnTo>
                    <a:pt x="9705258" y="1426059"/>
                  </a:lnTo>
                  <a:lnTo>
                    <a:pt x="9705258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198683" y="4705267"/>
              <a:ext cx="0" cy="1795145"/>
            </a:xfrm>
            <a:custGeom>
              <a:avLst/>
              <a:gdLst/>
              <a:ahLst/>
              <a:cxnLst/>
              <a:rect l="l" t="t" r="r" b="b"/>
              <a:pathLst>
                <a:path h="1795145">
                  <a:moveTo>
                    <a:pt x="0" y="179468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198683" y="4677471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39">
                  <a:moveTo>
                    <a:pt x="0" y="277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198683" y="4649675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39">
                  <a:moveTo>
                    <a:pt x="0" y="277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198683" y="4621879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39">
                  <a:moveTo>
                    <a:pt x="0" y="277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19125" marR="79375">
              <a:lnSpc>
                <a:spcPts val="2970"/>
              </a:lnSpc>
              <a:spcBef>
                <a:spcPts val="110"/>
              </a:spcBef>
            </a:pPr>
            <a:r>
              <a:rPr spc="-70" dirty="0"/>
              <a:t>Les</a:t>
            </a:r>
            <a:r>
              <a:rPr spc="55" dirty="0"/>
              <a:t> </a:t>
            </a:r>
            <a:r>
              <a:rPr spc="-95" dirty="0"/>
              <a:t>classes</a:t>
            </a:r>
            <a:r>
              <a:rPr spc="60" dirty="0"/>
              <a:t> </a:t>
            </a:r>
            <a:r>
              <a:rPr spc="-55" dirty="0"/>
              <a:t>sont</a:t>
            </a:r>
            <a:r>
              <a:rPr spc="60" dirty="0"/>
              <a:t> </a:t>
            </a:r>
            <a:r>
              <a:rPr spc="-100" dirty="0"/>
              <a:t>les</a:t>
            </a:r>
            <a:r>
              <a:rPr spc="55" dirty="0"/>
              <a:t> </a:t>
            </a:r>
            <a:r>
              <a:rPr spc="-90" dirty="0"/>
              <a:t>éléments</a:t>
            </a:r>
            <a:r>
              <a:rPr spc="60" dirty="0"/>
              <a:t> </a:t>
            </a:r>
            <a:r>
              <a:rPr spc="-125" dirty="0"/>
              <a:t>de</a:t>
            </a:r>
            <a:r>
              <a:rPr spc="60" dirty="0"/>
              <a:t> </a:t>
            </a:r>
            <a:r>
              <a:rPr spc="-120" dirty="0"/>
              <a:t>base</a:t>
            </a:r>
            <a:r>
              <a:rPr spc="55" dirty="0"/>
              <a:t> </a:t>
            </a:r>
            <a:r>
              <a:rPr spc="-125" dirty="0"/>
              <a:t>de</a:t>
            </a:r>
            <a:r>
              <a:rPr spc="60" dirty="0"/>
              <a:t> </a:t>
            </a:r>
            <a:r>
              <a:rPr spc="-30" dirty="0"/>
              <a:t>la</a:t>
            </a:r>
            <a:r>
              <a:rPr spc="55" dirty="0"/>
              <a:t> </a:t>
            </a:r>
            <a:r>
              <a:rPr b="1" spc="-55" dirty="0">
                <a:solidFill>
                  <a:srgbClr val="000099"/>
                </a:solidFill>
                <a:latin typeface="Arial"/>
                <a:cs typeface="Arial"/>
              </a:rPr>
              <a:t>programmation</a:t>
            </a:r>
            <a:r>
              <a:rPr b="1" spc="21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b="1" spc="-55" dirty="0">
                <a:solidFill>
                  <a:srgbClr val="000099"/>
                </a:solidFill>
                <a:latin typeface="Arial"/>
                <a:cs typeface="Arial"/>
              </a:rPr>
              <a:t>orientée </a:t>
            </a:r>
            <a:r>
              <a:rPr b="1" spc="-63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b="1" spc="-20" dirty="0">
                <a:solidFill>
                  <a:srgbClr val="000099"/>
                </a:solidFill>
                <a:latin typeface="Arial"/>
                <a:cs typeface="Arial"/>
              </a:rPr>
              <a:t>objet</a:t>
            </a:r>
            <a:r>
              <a:rPr b="1" spc="2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b="1" spc="140" dirty="0">
                <a:solidFill>
                  <a:srgbClr val="000099"/>
                </a:solidFill>
                <a:latin typeface="Arial"/>
                <a:cs typeface="Arial"/>
              </a:rPr>
              <a:t>(POO)</a:t>
            </a:r>
            <a:r>
              <a:rPr b="1" spc="14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pc="-130" dirty="0"/>
              <a:t>en</a:t>
            </a:r>
            <a:r>
              <a:rPr spc="60" dirty="0"/>
              <a:t> </a:t>
            </a:r>
            <a:r>
              <a:rPr spc="85" dirty="0"/>
              <a:t>C++.</a:t>
            </a:r>
            <a:r>
              <a:rPr spc="60" dirty="0"/>
              <a:t> </a:t>
            </a:r>
            <a:r>
              <a:rPr spc="-45" dirty="0"/>
              <a:t>Dans</a:t>
            </a:r>
            <a:r>
              <a:rPr spc="60" dirty="0"/>
              <a:t> </a:t>
            </a:r>
            <a:r>
              <a:rPr spc="-114" dirty="0"/>
              <a:t>une</a:t>
            </a:r>
            <a:r>
              <a:rPr spc="60" dirty="0"/>
              <a:t> </a:t>
            </a:r>
            <a:r>
              <a:rPr spc="-85" dirty="0"/>
              <a:t>classe,</a:t>
            </a:r>
            <a:r>
              <a:rPr spc="60" dirty="0"/>
              <a:t> </a:t>
            </a:r>
            <a:r>
              <a:rPr spc="-80" dirty="0"/>
              <a:t>on</a:t>
            </a:r>
            <a:r>
              <a:rPr spc="60" dirty="0"/>
              <a:t> </a:t>
            </a:r>
            <a:r>
              <a:rPr spc="-50" dirty="0"/>
              <a:t>réunit</a:t>
            </a:r>
            <a:r>
              <a:rPr spc="60" dirty="0"/>
              <a:t> </a:t>
            </a:r>
            <a:r>
              <a:rPr spc="-170" dirty="0"/>
              <a:t>:</a:t>
            </a:r>
          </a:p>
          <a:p>
            <a:pPr marL="789940" indent="-171450">
              <a:lnSpc>
                <a:spcPts val="2225"/>
              </a:lnSpc>
              <a:buChar char="-"/>
              <a:tabLst>
                <a:tab pos="790575" algn="l"/>
                <a:tab pos="3375025" algn="l"/>
              </a:tabLst>
            </a:pPr>
            <a:r>
              <a:rPr sz="1950" spc="-150" dirty="0">
                <a:solidFill>
                  <a:srgbClr val="3333B2"/>
                </a:solidFill>
                <a:latin typeface="Microsoft Sans Serif"/>
                <a:cs typeface="Microsoft Sans Serif"/>
              </a:rPr>
              <a:t>des</a:t>
            </a:r>
            <a:r>
              <a:rPr sz="1950" spc="160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1950" spc="-120" dirty="0">
                <a:solidFill>
                  <a:srgbClr val="3333B2"/>
                </a:solidFill>
                <a:latin typeface="Microsoft Sans Serif"/>
                <a:cs typeface="Microsoft Sans Serif"/>
              </a:rPr>
              <a:t>données</a:t>
            </a:r>
            <a:r>
              <a:rPr sz="1950" spc="165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1950" spc="-75" dirty="0">
                <a:solidFill>
                  <a:srgbClr val="3333B2"/>
                </a:solidFill>
                <a:latin typeface="Microsoft Sans Serif"/>
                <a:cs typeface="Microsoft Sans Serif"/>
              </a:rPr>
              <a:t>variables</a:t>
            </a:r>
            <a:r>
              <a:rPr sz="1950" spc="170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1950" spc="15" dirty="0">
                <a:solidFill>
                  <a:srgbClr val="3333B2"/>
                </a:solidFill>
                <a:latin typeface="Microsoft Sans Serif"/>
                <a:cs typeface="Microsoft Sans Serif"/>
              </a:rPr>
              <a:t>:	</a:t>
            </a:r>
            <a:r>
              <a:rPr sz="1950" spc="-120" dirty="0">
                <a:latin typeface="Microsoft Sans Serif"/>
                <a:cs typeface="Microsoft Sans Serif"/>
              </a:rPr>
              <a:t>les</a:t>
            </a:r>
            <a:r>
              <a:rPr sz="1950" spc="155" dirty="0">
                <a:latin typeface="Microsoft Sans Serif"/>
                <a:cs typeface="Microsoft Sans Serif"/>
              </a:rPr>
              <a:t> </a:t>
            </a:r>
            <a:r>
              <a:rPr sz="1950" spc="-120" dirty="0">
                <a:latin typeface="Microsoft Sans Serif"/>
                <a:cs typeface="Microsoft Sans Serif"/>
              </a:rPr>
              <a:t>données</a:t>
            </a:r>
            <a:r>
              <a:rPr sz="1950" spc="150" dirty="0">
                <a:latin typeface="Microsoft Sans Serif"/>
                <a:cs typeface="Microsoft Sans Serif"/>
              </a:rPr>
              <a:t> </a:t>
            </a:r>
            <a:r>
              <a:rPr sz="1950" spc="-85" dirty="0">
                <a:latin typeface="Microsoft Sans Serif"/>
                <a:cs typeface="Microsoft Sans Serif"/>
              </a:rPr>
              <a:t>membres,</a:t>
            </a:r>
            <a:r>
              <a:rPr sz="1950" spc="150" dirty="0">
                <a:latin typeface="Microsoft Sans Serif"/>
                <a:cs typeface="Microsoft Sans Serif"/>
              </a:rPr>
              <a:t> </a:t>
            </a:r>
            <a:r>
              <a:rPr sz="1950" spc="-65" dirty="0">
                <a:latin typeface="Microsoft Sans Serif"/>
                <a:cs typeface="Microsoft Sans Serif"/>
              </a:rPr>
              <a:t>ou</a:t>
            </a:r>
            <a:r>
              <a:rPr sz="1950" spc="150" dirty="0">
                <a:latin typeface="Microsoft Sans Serif"/>
                <a:cs typeface="Microsoft Sans Serif"/>
              </a:rPr>
              <a:t> </a:t>
            </a:r>
            <a:r>
              <a:rPr sz="1950" spc="-120" dirty="0">
                <a:latin typeface="Microsoft Sans Serif"/>
                <a:cs typeface="Microsoft Sans Serif"/>
              </a:rPr>
              <a:t>les</a:t>
            </a:r>
            <a:r>
              <a:rPr sz="1950" spc="155" dirty="0">
                <a:latin typeface="Microsoft Sans Serif"/>
                <a:cs typeface="Microsoft Sans Serif"/>
              </a:rPr>
              <a:t> </a:t>
            </a:r>
            <a:r>
              <a:rPr sz="1950" b="1" spc="-15" dirty="0">
                <a:solidFill>
                  <a:srgbClr val="7F0000"/>
                </a:solidFill>
                <a:latin typeface="Arial"/>
                <a:cs typeface="Arial"/>
              </a:rPr>
              <a:t>attributs</a:t>
            </a:r>
            <a:r>
              <a:rPr sz="1950" b="1" spc="130" dirty="0">
                <a:solidFill>
                  <a:srgbClr val="7F0000"/>
                </a:solidFill>
                <a:latin typeface="Arial"/>
                <a:cs typeface="Arial"/>
              </a:rPr>
              <a:t> </a:t>
            </a:r>
            <a:r>
              <a:rPr sz="1950" spc="-120" dirty="0">
                <a:latin typeface="Microsoft Sans Serif"/>
                <a:cs typeface="Microsoft Sans Serif"/>
              </a:rPr>
              <a:t>de</a:t>
            </a:r>
            <a:r>
              <a:rPr sz="1950" spc="145" dirty="0">
                <a:latin typeface="Microsoft Sans Serif"/>
                <a:cs typeface="Microsoft Sans Serif"/>
              </a:rPr>
              <a:t> </a:t>
            </a:r>
            <a:r>
              <a:rPr sz="1950" spc="-40" dirty="0">
                <a:latin typeface="Microsoft Sans Serif"/>
                <a:cs typeface="Microsoft Sans Serif"/>
              </a:rPr>
              <a:t>la</a:t>
            </a:r>
            <a:r>
              <a:rPr sz="1950" spc="150" dirty="0">
                <a:latin typeface="Microsoft Sans Serif"/>
                <a:cs typeface="Microsoft Sans Serif"/>
              </a:rPr>
              <a:t> </a:t>
            </a:r>
            <a:r>
              <a:rPr sz="1950" spc="-110" dirty="0">
                <a:latin typeface="Microsoft Sans Serif"/>
                <a:cs typeface="Microsoft Sans Serif"/>
              </a:rPr>
              <a:t>classe.</a:t>
            </a:r>
            <a:endParaRPr sz="1950">
              <a:latin typeface="Microsoft Sans Serif"/>
              <a:cs typeface="Microsoft Sans Serif"/>
            </a:endParaRPr>
          </a:p>
          <a:p>
            <a:pPr marL="789940" indent="-171450">
              <a:lnSpc>
                <a:spcPct val="100000"/>
              </a:lnSpc>
              <a:spcBef>
                <a:spcPts val="625"/>
              </a:spcBef>
              <a:buChar char="-"/>
              <a:tabLst>
                <a:tab pos="790575" algn="l"/>
                <a:tab pos="2492375" algn="l"/>
              </a:tabLst>
            </a:pPr>
            <a:r>
              <a:rPr sz="1950" spc="-150" dirty="0">
                <a:solidFill>
                  <a:srgbClr val="3333B2"/>
                </a:solidFill>
                <a:latin typeface="Microsoft Sans Serif"/>
                <a:cs typeface="Microsoft Sans Serif"/>
              </a:rPr>
              <a:t>des</a:t>
            </a:r>
            <a:r>
              <a:rPr sz="1950" spc="155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1950" spc="-25" dirty="0">
                <a:solidFill>
                  <a:srgbClr val="3333B2"/>
                </a:solidFill>
                <a:latin typeface="Microsoft Sans Serif"/>
                <a:cs typeface="Microsoft Sans Serif"/>
              </a:rPr>
              <a:t>fonctions</a:t>
            </a:r>
            <a:r>
              <a:rPr sz="1950" spc="165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1950" spc="15" dirty="0">
                <a:solidFill>
                  <a:srgbClr val="3333B2"/>
                </a:solidFill>
                <a:latin typeface="Microsoft Sans Serif"/>
                <a:cs typeface="Microsoft Sans Serif"/>
              </a:rPr>
              <a:t>:	</a:t>
            </a:r>
            <a:r>
              <a:rPr sz="1950" spc="-120" dirty="0">
                <a:latin typeface="Microsoft Sans Serif"/>
                <a:cs typeface="Microsoft Sans Serif"/>
              </a:rPr>
              <a:t>les</a:t>
            </a:r>
            <a:r>
              <a:rPr sz="1950" spc="155" dirty="0">
                <a:latin typeface="Microsoft Sans Serif"/>
                <a:cs typeface="Microsoft Sans Serif"/>
              </a:rPr>
              <a:t> </a:t>
            </a:r>
            <a:r>
              <a:rPr sz="1950" spc="-25" dirty="0">
                <a:latin typeface="Microsoft Sans Serif"/>
                <a:cs typeface="Microsoft Sans Serif"/>
              </a:rPr>
              <a:t>fonctions</a:t>
            </a:r>
            <a:r>
              <a:rPr sz="1950" spc="145" dirty="0">
                <a:latin typeface="Microsoft Sans Serif"/>
                <a:cs typeface="Microsoft Sans Serif"/>
              </a:rPr>
              <a:t> </a:t>
            </a:r>
            <a:r>
              <a:rPr sz="1950" spc="-85" dirty="0">
                <a:latin typeface="Microsoft Sans Serif"/>
                <a:cs typeface="Microsoft Sans Serif"/>
              </a:rPr>
              <a:t>membres,</a:t>
            </a:r>
            <a:r>
              <a:rPr sz="1950" spc="150" dirty="0">
                <a:latin typeface="Microsoft Sans Serif"/>
                <a:cs typeface="Microsoft Sans Serif"/>
              </a:rPr>
              <a:t> </a:t>
            </a:r>
            <a:r>
              <a:rPr sz="1950" spc="-65" dirty="0">
                <a:latin typeface="Microsoft Sans Serif"/>
                <a:cs typeface="Microsoft Sans Serif"/>
              </a:rPr>
              <a:t>ou</a:t>
            </a:r>
            <a:r>
              <a:rPr sz="1950" spc="155" dirty="0">
                <a:latin typeface="Microsoft Sans Serif"/>
                <a:cs typeface="Microsoft Sans Serif"/>
              </a:rPr>
              <a:t> </a:t>
            </a:r>
            <a:r>
              <a:rPr sz="1950" spc="-120" dirty="0">
                <a:latin typeface="Microsoft Sans Serif"/>
                <a:cs typeface="Microsoft Sans Serif"/>
              </a:rPr>
              <a:t>les</a:t>
            </a:r>
            <a:r>
              <a:rPr sz="1950" spc="150" dirty="0">
                <a:latin typeface="Microsoft Sans Serif"/>
                <a:cs typeface="Microsoft Sans Serif"/>
              </a:rPr>
              <a:t> </a:t>
            </a:r>
            <a:r>
              <a:rPr sz="1950" b="1" spc="-75" dirty="0">
                <a:solidFill>
                  <a:srgbClr val="7F0000"/>
                </a:solidFill>
                <a:latin typeface="Arial"/>
                <a:cs typeface="Arial"/>
              </a:rPr>
              <a:t>méthodes</a:t>
            </a:r>
            <a:r>
              <a:rPr sz="1950" b="1" spc="130" dirty="0">
                <a:solidFill>
                  <a:srgbClr val="7F0000"/>
                </a:solidFill>
                <a:latin typeface="Arial"/>
                <a:cs typeface="Arial"/>
              </a:rPr>
              <a:t> </a:t>
            </a:r>
            <a:r>
              <a:rPr sz="1950" spc="-120" dirty="0">
                <a:latin typeface="Microsoft Sans Serif"/>
                <a:cs typeface="Microsoft Sans Serif"/>
              </a:rPr>
              <a:t>de</a:t>
            </a:r>
            <a:r>
              <a:rPr sz="1950" spc="150" dirty="0">
                <a:latin typeface="Microsoft Sans Serif"/>
                <a:cs typeface="Microsoft Sans Serif"/>
              </a:rPr>
              <a:t> </a:t>
            </a:r>
            <a:r>
              <a:rPr sz="1950" spc="-40" dirty="0">
                <a:latin typeface="Microsoft Sans Serif"/>
                <a:cs typeface="Microsoft Sans Serif"/>
              </a:rPr>
              <a:t>la</a:t>
            </a:r>
            <a:r>
              <a:rPr sz="1950" spc="150" dirty="0">
                <a:latin typeface="Microsoft Sans Serif"/>
                <a:cs typeface="Microsoft Sans Serif"/>
              </a:rPr>
              <a:t> </a:t>
            </a:r>
            <a:r>
              <a:rPr sz="1950" spc="-110" dirty="0">
                <a:latin typeface="Microsoft Sans Serif"/>
                <a:cs typeface="Microsoft Sans Serif"/>
              </a:rPr>
              <a:t>classe.</a:t>
            </a:r>
            <a:endParaRPr sz="1950">
              <a:latin typeface="Microsoft Sans Serif"/>
              <a:cs typeface="Microsoft Sans Serif"/>
            </a:endParaRPr>
          </a:p>
          <a:p>
            <a:pPr marL="619125" marR="5080">
              <a:lnSpc>
                <a:spcPct val="105200"/>
              </a:lnSpc>
              <a:spcBef>
                <a:spcPts val="135"/>
              </a:spcBef>
            </a:pPr>
            <a:r>
              <a:rPr spc="-55" dirty="0"/>
              <a:t>Une</a:t>
            </a:r>
            <a:r>
              <a:rPr spc="55" dirty="0"/>
              <a:t> </a:t>
            </a:r>
            <a:r>
              <a:rPr spc="-90" dirty="0"/>
              <a:t>classe</a:t>
            </a:r>
            <a:r>
              <a:rPr spc="60" dirty="0"/>
              <a:t> </a:t>
            </a:r>
            <a:r>
              <a:rPr spc="75" dirty="0">
                <a:latin typeface="SimSun"/>
                <a:cs typeface="SimSun"/>
              </a:rPr>
              <a:t>A</a:t>
            </a:r>
            <a:r>
              <a:rPr spc="-380" dirty="0">
                <a:latin typeface="SimSun"/>
                <a:cs typeface="SimSun"/>
              </a:rPr>
              <a:t> </a:t>
            </a:r>
            <a:r>
              <a:rPr spc="-65" dirty="0"/>
              <a:t>apporte</a:t>
            </a:r>
            <a:r>
              <a:rPr spc="60" dirty="0"/>
              <a:t> </a:t>
            </a:r>
            <a:r>
              <a:rPr spc="-80" dirty="0"/>
              <a:t>un</a:t>
            </a:r>
            <a:r>
              <a:rPr spc="60" dirty="0"/>
              <a:t> </a:t>
            </a:r>
            <a:r>
              <a:rPr spc="-95" dirty="0"/>
              <a:t>nouveau</a:t>
            </a:r>
            <a:r>
              <a:rPr spc="60" dirty="0"/>
              <a:t> </a:t>
            </a:r>
            <a:r>
              <a:rPr spc="-60" dirty="0"/>
              <a:t>type</a:t>
            </a:r>
            <a:r>
              <a:rPr spc="60" dirty="0"/>
              <a:t> </a:t>
            </a:r>
            <a:r>
              <a:rPr b="1" spc="50" dirty="0">
                <a:latin typeface="Arial"/>
                <a:cs typeface="Arial"/>
              </a:rPr>
              <a:t>A</a:t>
            </a:r>
            <a:r>
              <a:rPr b="1" spc="140" dirty="0">
                <a:latin typeface="Arial"/>
                <a:cs typeface="Arial"/>
              </a:rPr>
              <a:t> </a:t>
            </a:r>
            <a:r>
              <a:rPr spc="-70" dirty="0"/>
              <a:t>ajouté</a:t>
            </a:r>
            <a:r>
              <a:rPr spc="55" dirty="0"/>
              <a:t> </a:t>
            </a:r>
            <a:r>
              <a:rPr spc="-80" dirty="0"/>
              <a:t>aux</a:t>
            </a:r>
            <a:r>
              <a:rPr spc="60" dirty="0"/>
              <a:t> </a:t>
            </a:r>
            <a:r>
              <a:rPr spc="-75" dirty="0"/>
              <a:t>types</a:t>
            </a:r>
            <a:r>
              <a:rPr spc="60" dirty="0"/>
              <a:t> </a:t>
            </a:r>
            <a:r>
              <a:rPr spc="-65" dirty="0"/>
              <a:t>(pré)définis </a:t>
            </a:r>
            <a:r>
              <a:rPr spc="-720" dirty="0"/>
              <a:t> </a:t>
            </a:r>
            <a:r>
              <a:rPr spc="-125" dirty="0"/>
              <a:t>de</a:t>
            </a:r>
            <a:r>
              <a:rPr spc="55" dirty="0"/>
              <a:t> </a:t>
            </a:r>
            <a:r>
              <a:rPr spc="-120" dirty="0"/>
              <a:t>base</a:t>
            </a:r>
            <a:r>
              <a:rPr spc="60" dirty="0"/>
              <a:t> </a:t>
            </a:r>
            <a:r>
              <a:rPr spc="-85" dirty="0"/>
              <a:t>par</a:t>
            </a:r>
            <a:r>
              <a:rPr spc="60" dirty="0"/>
              <a:t> </a:t>
            </a:r>
            <a:r>
              <a:rPr spc="85" dirty="0"/>
              <a:t>C++.</a:t>
            </a:r>
          </a:p>
          <a:p>
            <a:pPr marL="619125">
              <a:lnSpc>
                <a:spcPct val="100000"/>
              </a:lnSpc>
              <a:spcBef>
                <a:spcPts val="195"/>
              </a:spcBef>
            </a:pPr>
            <a:r>
              <a:rPr spc="-55" dirty="0"/>
              <a:t>Une</a:t>
            </a:r>
            <a:r>
              <a:rPr spc="55" dirty="0"/>
              <a:t> </a:t>
            </a:r>
            <a:r>
              <a:rPr spc="-70" dirty="0"/>
              <a:t>variable</a:t>
            </a:r>
            <a:r>
              <a:rPr spc="65" dirty="0"/>
              <a:t> </a:t>
            </a:r>
            <a:r>
              <a:rPr spc="75" dirty="0">
                <a:latin typeface="SimSun"/>
                <a:cs typeface="SimSun"/>
              </a:rPr>
              <a:t>a</a:t>
            </a:r>
            <a:r>
              <a:rPr spc="-380" dirty="0">
                <a:latin typeface="SimSun"/>
                <a:cs typeface="SimSun"/>
              </a:rPr>
              <a:t> </a:t>
            </a:r>
            <a:r>
              <a:rPr spc="-120" dirty="0"/>
              <a:t>créée</a:t>
            </a:r>
            <a:r>
              <a:rPr spc="65" dirty="0"/>
              <a:t> </a:t>
            </a:r>
            <a:r>
              <a:rPr spc="-90" dirty="0"/>
              <a:t>à</a:t>
            </a:r>
            <a:r>
              <a:rPr spc="60" dirty="0"/>
              <a:t> </a:t>
            </a:r>
            <a:r>
              <a:rPr spc="-35" dirty="0"/>
              <a:t>partir</a:t>
            </a:r>
            <a:r>
              <a:rPr spc="60" dirty="0"/>
              <a:t> </a:t>
            </a:r>
            <a:r>
              <a:rPr spc="-75" dirty="0"/>
              <a:t>du</a:t>
            </a:r>
            <a:r>
              <a:rPr spc="65" dirty="0"/>
              <a:t> </a:t>
            </a:r>
            <a:r>
              <a:rPr spc="-60" dirty="0"/>
              <a:t>type</a:t>
            </a:r>
            <a:r>
              <a:rPr spc="60" dirty="0"/>
              <a:t> </a:t>
            </a:r>
            <a:r>
              <a:rPr spc="-125" dirty="0"/>
              <a:t>de</a:t>
            </a:r>
            <a:r>
              <a:rPr spc="60" dirty="0"/>
              <a:t> </a:t>
            </a:r>
            <a:r>
              <a:rPr spc="-90" dirty="0"/>
              <a:t>classe</a:t>
            </a:r>
            <a:r>
              <a:rPr spc="60" dirty="0"/>
              <a:t> </a:t>
            </a:r>
            <a:r>
              <a:rPr spc="75" dirty="0">
                <a:latin typeface="SimSun"/>
                <a:cs typeface="SimSun"/>
              </a:rPr>
              <a:t>A</a:t>
            </a:r>
            <a:r>
              <a:rPr spc="-380" dirty="0">
                <a:latin typeface="SimSun"/>
                <a:cs typeface="SimSun"/>
              </a:rPr>
              <a:t> </a:t>
            </a:r>
            <a:r>
              <a:rPr spc="-80" dirty="0"/>
              <a:t>est</a:t>
            </a:r>
            <a:r>
              <a:rPr spc="60" dirty="0"/>
              <a:t> </a:t>
            </a:r>
            <a:r>
              <a:rPr spc="-95" dirty="0"/>
              <a:t>appelée</a:t>
            </a:r>
            <a:r>
              <a:rPr spc="65" dirty="0"/>
              <a:t> </a:t>
            </a:r>
            <a:r>
              <a:rPr b="1" spc="-85" dirty="0">
                <a:solidFill>
                  <a:srgbClr val="000099"/>
                </a:solidFill>
                <a:latin typeface="Arial"/>
                <a:cs typeface="Arial"/>
              </a:rPr>
              <a:t>instance</a:t>
            </a:r>
          </a:p>
          <a:p>
            <a:pPr marL="619125">
              <a:lnSpc>
                <a:spcPct val="100000"/>
              </a:lnSpc>
              <a:spcBef>
                <a:spcPts val="145"/>
              </a:spcBef>
            </a:pPr>
            <a:r>
              <a:rPr spc="-50" dirty="0"/>
              <a:t>(ou</a:t>
            </a:r>
            <a:r>
              <a:rPr spc="50" dirty="0"/>
              <a:t> </a:t>
            </a:r>
            <a:r>
              <a:rPr b="1" spc="-15" dirty="0">
                <a:solidFill>
                  <a:srgbClr val="7F0000"/>
                </a:solidFill>
                <a:latin typeface="Arial"/>
                <a:cs typeface="Arial"/>
              </a:rPr>
              <a:t>objet</a:t>
            </a:r>
            <a:r>
              <a:rPr spc="-15" dirty="0"/>
              <a:t>)</a:t>
            </a:r>
            <a:r>
              <a:rPr spc="55" dirty="0"/>
              <a:t> </a:t>
            </a:r>
            <a:r>
              <a:rPr spc="-125" dirty="0"/>
              <a:t>de</a:t>
            </a:r>
            <a:r>
              <a:rPr spc="55" dirty="0"/>
              <a:t> </a:t>
            </a:r>
            <a:r>
              <a:rPr spc="-30" dirty="0"/>
              <a:t>la</a:t>
            </a:r>
            <a:r>
              <a:rPr spc="55" dirty="0"/>
              <a:t> </a:t>
            </a:r>
            <a:r>
              <a:rPr spc="-90" dirty="0"/>
              <a:t>classe</a:t>
            </a:r>
            <a:r>
              <a:rPr spc="55" dirty="0"/>
              <a:t> </a:t>
            </a:r>
            <a:r>
              <a:rPr spc="60" dirty="0"/>
              <a:t>A.</a:t>
            </a:r>
          </a:p>
          <a:p>
            <a:pPr marL="12700">
              <a:lnSpc>
                <a:spcPct val="100000"/>
              </a:lnSpc>
              <a:spcBef>
                <a:spcPts val="2955"/>
              </a:spcBef>
            </a:pPr>
            <a:r>
              <a:rPr spc="-60" dirty="0">
                <a:solidFill>
                  <a:srgbClr val="FFFFFF"/>
                </a:solidFill>
              </a:rPr>
              <a:t>Exemple</a:t>
            </a:r>
            <a:r>
              <a:rPr spc="25" dirty="0">
                <a:solidFill>
                  <a:srgbClr val="FFFFFF"/>
                </a:solidFill>
              </a:rPr>
              <a:t> </a:t>
            </a:r>
            <a:r>
              <a:rPr spc="-55" dirty="0">
                <a:solidFill>
                  <a:srgbClr val="FFFFFF"/>
                </a:solidFill>
              </a:rPr>
              <a:t>(non</a:t>
            </a:r>
            <a:r>
              <a:rPr spc="30" dirty="0">
                <a:solidFill>
                  <a:srgbClr val="FFFFFF"/>
                </a:solidFill>
              </a:rPr>
              <a:t> </a:t>
            </a:r>
            <a:r>
              <a:rPr spc="-45" dirty="0">
                <a:solidFill>
                  <a:srgbClr val="FFFFFF"/>
                </a:solidFill>
              </a:rPr>
              <a:t>compilable*)</a:t>
            </a:r>
            <a:r>
              <a:rPr spc="30" dirty="0">
                <a:solidFill>
                  <a:srgbClr val="FFFFFF"/>
                </a:solidFill>
              </a:rPr>
              <a:t> </a:t>
            </a:r>
            <a:r>
              <a:rPr spc="-170" dirty="0">
                <a:solidFill>
                  <a:srgbClr val="FFFFFF"/>
                </a:solidFill>
              </a:rPr>
              <a:t>:</a:t>
            </a:r>
          </a:p>
          <a:p>
            <a:pPr marL="12700">
              <a:lnSpc>
                <a:spcPct val="100000"/>
              </a:lnSpc>
              <a:spcBef>
                <a:spcPts val="2550"/>
              </a:spcBef>
            </a:pP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class</a:t>
            </a:r>
            <a:r>
              <a:rPr sz="1750" spc="45" dirty="0">
                <a:solidFill>
                  <a:srgbClr val="FF0000"/>
                </a:solidFill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A; </a:t>
            </a:r>
            <a:r>
              <a:rPr sz="1750" b="1" spc="229" dirty="0">
                <a:solidFill>
                  <a:srgbClr val="595959"/>
                </a:solidFill>
                <a:latin typeface="Trebuchet MS"/>
                <a:cs typeface="Trebuchet MS"/>
              </a:rPr>
              <a:t>//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40" dirty="0">
                <a:solidFill>
                  <a:srgbClr val="595959"/>
                </a:solidFill>
                <a:latin typeface="Trebuchet MS"/>
                <a:cs typeface="Trebuchet MS"/>
              </a:rPr>
              <a:t>déclare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10" dirty="0">
                <a:solidFill>
                  <a:srgbClr val="595959"/>
                </a:solidFill>
                <a:latin typeface="Trebuchet MS"/>
                <a:cs typeface="Trebuchet MS"/>
              </a:rPr>
              <a:t>une</a:t>
            </a:r>
            <a:r>
              <a:rPr sz="1750" b="1" spc="-2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05" dirty="0">
                <a:solidFill>
                  <a:srgbClr val="595959"/>
                </a:solidFill>
                <a:latin typeface="Trebuchet MS"/>
                <a:cs typeface="Trebuchet MS"/>
              </a:rPr>
              <a:t>classe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95" dirty="0">
                <a:solidFill>
                  <a:srgbClr val="595959"/>
                </a:solidFill>
                <a:latin typeface="Trebuchet MS"/>
                <a:cs typeface="Trebuchet MS"/>
              </a:rPr>
              <a:t>A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215" dirty="0">
                <a:solidFill>
                  <a:srgbClr val="595959"/>
                </a:solidFill>
                <a:latin typeface="Trebuchet MS"/>
                <a:cs typeface="Trebuchet MS"/>
              </a:rPr>
              <a:t>(*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55" dirty="0">
                <a:solidFill>
                  <a:srgbClr val="595959"/>
                </a:solidFill>
                <a:latin typeface="Trebuchet MS"/>
                <a:cs typeface="Trebuchet MS"/>
              </a:rPr>
              <a:t>car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50" dirty="0">
                <a:solidFill>
                  <a:srgbClr val="595959"/>
                </a:solidFill>
                <a:latin typeface="Trebuchet MS"/>
                <a:cs typeface="Trebuchet MS"/>
              </a:rPr>
              <a:t>elle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90" dirty="0">
                <a:solidFill>
                  <a:srgbClr val="595959"/>
                </a:solidFill>
                <a:latin typeface="Trebuchet MS"/>
                <a:cs typeface="Trebuchet MS"/>
              </a:rPr>
              <a:t>n’est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0" dirty="0">
                <a:solidFill>
                  <a:srgbClr val="595959"/>
                </a:solidFill>
                <a:latin typeface="Trebuchet MS"/>
                <a:cs typeface="Trebuchet MS"/>
              </a:rPr>
              <a:t>pas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14" dirty="0">
                <a:solidFill>
                  <a:srgbClr val="595959"/>
                </a:solidFill>
                <a:latin typeface="Trebuchet MS"/>
                <a:cs typeface="Trebuchet MS"/>
              </a:rPr>
              <a:t>définie)</a:t>
            </a:r>
            <a:endParaRPr sz="1750">
              <a:latin typeface="Trebuchet MS"/>
              <a:cs typeface="Trebuchet MS"/>
            </a:endParaRPr>
          </a:p>
          <a:p>
            <a:pPr marL="12700">
              <a:lnSpc>
                <a:spcPts val="2085"/>
              </a:lnSpc>
              <a:spcBef>
                <a:spcPts val="2045"/>
              </a:spcBef>
            </a:pPr>
            <a:r>
              <a:rPr sz="1750" spc="50" dirty="0">
                <a:latin typeface="SimSun"/>
                <a:cs typeface="SimSun"/>
              </a:rPr>
              <a:t>A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a1; </a:t>
            </a:r>
            <a:r>
              <a:rPr sz="1750" b="1" spc="229" dirty="0">
                <a:solidFill>
                  <a:srgbClr val="595959"/>
                </a:solidFill>
                <a:latin typeface="Trebuchet MS"/>
                <a:cs typeface="Trebuchet MS"/>
              </a:rPr>
              <a:t>//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90" dirty="0">
                <a:solidFill>
                  <a:srgbClr val="595959"/>
                </a:solidFill>
                <a:latin typeface="Trebuchet MS"/>
                <a:cs typeface="Trebuchet MS"/>
              </a:rPr>
              <a:t>instancie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20" dirty="0">
                <a:solidFill>
                  <a:srgbClr val="595959"/>
                </a:solidFill>
                <a:latin typeface="Trebuchet MS"/>
                <a:cs typeface="Trebuchet MS"/>
              </a:rPr>
              <a:t>un</a:t>
            </a:r>
            <a:r>
              <a:rPr sz="1750" b="1" spc="-1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45" dirty="0">
                <a:solidFill>
                  <a:srgbClr val="595959"/>
                </a:solidFill>
                <a:latin typeface="Trebuchet MS"/>
                <a:cs typeface="Trebuchet MS"/>
              </a:rPr>
              <a:t>objet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65" dirty="0">
                <a:solidFill>
                  <a:srgbClr val="595959"/>
                </a:solidFill>
                <a:latin typeface="Trebuchet MS"/>
                <a:cs typeface="Trebuchet MS"/>
              </a:rPr>
              <a:t>a1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00" dirty="0">
                <a:solidFill>
                  <a:srgbClr val="595959"/>
                </a:solidFill>
                <a:latin typeface="Trebuchet MS"/>
                <a:cs typeface="Trebuchet MS"/>
              </a:rPr>
              <a:t>de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595959"/>
                </a:solidFill>
                <a:latin typeface="Trebuchet MS"/>
                <a:cs typeface="Trebuchet MS"/>
              </a:rPr>
              <a:t>type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95" dirty="0">
                <a:solidFill>
                  <a:srgbClr val="595959"/>
                </a:solidFill>
                <a:latin typeface="Trebuchet MS"/>
                <a:cs typeface="Trebuchet MS"/>
              </a:rPr>
              <a:t>A</a:t>
            </a:r>
            <a:endParaRPr sz="1750">
              <a:latin typeface="Trebuchet MS"/>
              <a:cs typeface="Trebuchet MS"/>
            </a:endParaRPr>
          </a:p>
          <a:p>
            <a:pPr marL="12700">
              <a:lnSpc>
                <a:spcPts val="2085"/>
              </a:lnSpc>
            </a:pPr>
            <a:r>
              <a:rPr sz="1750" spc="50" dirty="0">
                <a:latin typeface="SimSun"/>
                <a:cs typeface="SimSun"/>
              </a:rPr>
              <a:t>A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a2;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b="1" spc="229" dirty="0">
                <a:solidFill>
                  <a:srgbClr val="595959"/>
                </a:solidFill>
                <a:latin typeface="Trebuchet MS"/>
                <a:cs typeface="Trebuchet MS"/>
              </a:rPr>
              <a:t>//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595959"/>
                </a:solidFill>
                <a:latin typeface="Trebuchet MS"/>
                <a:cs typeface="Trebuchet MS"/>
              </a:rPr>
              <a:t>crée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10" dirty="0">
                <a:solidFill>
                  <a:srgbClr val="595959"/>
                </a:solidFill>
                <a:latin typeface="Trebuchet MS"/>
                <a:cs typeface="Trebuchet MS"/>
              </a:rPr>
              <a:t>une</a:t>
            </a:r>
            <a:r>
              <a:rPr sz="1750" b="1" spc="-3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55" dirty="0">
                <a:solidFill>
                  <a:srgbClr val="595959"/>
                </a:solidFill>
                <a:latin typeface="Trebuchet MS"/>
                <a:cs typeface="Trebuchet MS"/>
              </a:rPr>
              <a:t>instance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65" dirty="0">
                <a:solidFill>
                  <a:srgbClr val="595959"/>
                </a:solidFill>
                <a:latin typeface="Trebuchet MS"/>
                <a:cs typeface="Trebuchet MS"/>
              </a:rPr>
              <a:t>a2</a:t>
            </a:r>
            <a:r>
              <a:rPr sz="1750" b="1" spc="38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00" dirty="0">
                <a:solidFill>
                  <a:srgbClr val="595959"/>
                </a:solidFill>
                <a:latin typeface="Trebuchet MS"/>
                <a:cs typeface="Trebuchet MS"/>
              </a:rPr>
              <a:t>de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595959"/>
                </a:solidFill>
                <a:latin typeface="Trebuchet MS"/>
                <a:cs typeface="Trebuchet MS"/>
              </a:rPr>
              <a:t>type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95" dirty="0">
                <a:solidFill>
                  <a:srgbClr val="595959"/>
                </a:solidFill>
                <a:latin typeface="Trebuchet MS"/>
                <a:cs typeface="Trebuchet MS"/>
              </a:rPr>
              <a:t>A</a:t>
            </a:r>
            <a:endParaRPr sz="1750">
              <a:latin typeface="Trebuchet MS"/>
              <a:cs typeface="Trebuchet M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03330" y="7322021"/>
            <a:ext cx="10085705" cy="240029"/>
            <a:chOff x="303330" y="7322021"/>
            <a:chExt cx="10085705" cy="240029"/>
          </a:xfrm>
        </p:grpSpPr>
        <p:sp>
          <p:nvSpPr>
            <p:cNvPr id="26" name="object 26"/>
            <p:cNvSpPr/>
            <p:nvPr/>
          </p:nvSpPr>
          <p:spPr>
            <a:xfrm>
              <a:off x="303330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665059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026788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60" dirty="0"/>
              <a:t>tv </a:t>
            </a:r>
            <a:r>
              <a:rPr spc="140" dirty="0"/>
              <a:t> </a:t>
            </a:r>
            <a:r>
              <a:rPr spc="55" dirty="0"/>
              <a:t>(BTS</a:t>
            </a:r>
            <a:r>
              <a:rPr spc="100" dirty="0"/>
              <a:t> </a:t>
            </a:r>
            <a:r>
              <a:rPr spc="-25" dirty="0"/>
              <a:t>IRIS</a:t>
            </a:r>
            <a:r>
              <a:rPr spc="105" dirty="0"/>
              <a:t> </a:t>
            </a:r>
            <a:r>
              <a:rPr spc="5" dirty="0"/>
              <a:t>Avignon)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-40" dirty="0"/>
              <a:t>Cours</a:t>
            </a:r>
            <a:r>
              <a:rPr spc="60" dirty="0"/>
              <a:t> </a:t>
            </a:r>
            <a:r>
              <a:rPr spc="170" dirty="0"/>
              <a:t>C/C++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7481423" y="7283716"/>
            <a:ext cx="1800860" cy="27051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300" spc="40" dirty="0">
                <a:solidFill>
                  <a:srgbClr val="FFFFFF"/>
                </a:solidFill>
                <a:latin typeface="SimSun"/>
                <a:cs typeface="SimSun"/>
                <a:hlinkClick r:id="rId10"/>
              </a:rPr>
              <a:t>tvaira@free.fr</a:t>
            </a:r>
            <a:r>
              <a:rPr sz="1300" spc="-190" dirty="0">
                <a:solidFill>
                  <a:srgbClr val="FFFFFF"/>
                </a:solidFill>
                <a:latin typeface="SimSun"/>
                <a:cs typeface="SimSun"/>
                <a:hlinkClick r:id="rId10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©</a:t>
            </a:r>
            <a:r>
              <a:rPr sz="130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v0.1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9"/>
              </a:spcBef>
            </a:pPr>
            <a:fld id="{81D60167-4931-47E6-BA6A-407CBD079E47}" type="slidenum">
              <a:rPr spc="-30" dirty="0"/>
              <a:t>3</a:t>
            </a:fld>
            <a:r>
              <a:rPr spc="80" dirty="0"/>
              <a:t> </a:t>
            </a:r>
            <a:r>
              <a:rPr spc="330" dirty="0"/>
              <a:t>/</a:t>
            </a:r>
            <a:r>
              <a:rPr spc="85" dirty="0"/>
              <a:t> </a:t>
            </a:r>
            <a:r>
              <a:rPr spc="-30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3330" y="0"/>
            <a:ext cx="5043170" cy="203200"/>
          </a:xfrm>
          <a:custGeom>
            <a:avLst/>
            <a:gdLst/>
            <a:ahLst/>
            <a:cxnLst/>
            <a:rect l="l" t="t" r="r" b="b"/>
            <a:pathLst>
              <a:path w="5043170" h="203200">
                <a:moveTo>
                  <a:pt x="0" y="203077"/>
                </a:moveTo>
                <a:lnTo>
                  <a:pt x="5042663" y="203077"/>
                </a:lnTo>
                <a:lnTo>
                  <a:pt x="5042663" y="0"/>
                </a:lnTo>
                <a:lnTo>
                  <a:pt x="0" y="0"/>
                </a:lnTo>
                <a:lnTo>
                  <a:pt x="0" y="203077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611098" y="0"/>
            <a:ext cx="600075" cy="224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Rap</a:t>
            </a:r>
            <a:r>
              <a:rPr sz="13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13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els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3330" y="0"/>
            <a:ext cx="10085705" cy="812800"/>
            <a:chOff x="303330" y="0"/>
            <a:chExt cx="10085705" cy="812800"/>
          </a:xfrm>
        </p:grpSpPr>
        <p:sp>
          <p:nvSpPr>
            <p:cNvPr id="5" name="object 5"/>
            <p:cNvSpPr/>
            <p:nvPr/>
          </p:nvSpPr>
          <p:spPr>
            <a:xfrm>
              <a:off x="5345993" y="0"/>
              <a:ext cx="5043170" cy="203200"/>
            </a:xfrm>
            <a:custGeom>
              <a:avLst/>
              <a:gdLst/>
              <a:ahLst/>
              <a:cxnLst/>
              <a:rect l="l" t="t" r="r" b="b"/>
              <a:pathLst>
                <a:path w="5043170" h="203200">
                  <a:moveTo>
                    <a:pt x="0" y="203077"/>
                  </a:moveTo>
                  <a:lnTo>
                    <a:pt x="5042663" y="203077"/>
                  </a:lnTo>
                  <a:lnTo>
                    <a:pt x="5042663" y="0"/>
                  </a:lnTo>
                  <a:lnTo>
                    <a:pt x="0" y="0"/>
                  </a:lnTo>
                  <a:lnTo>
                    <a:pt x="0" y="20307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330" y="201079"/>
              <a:ext cx="10085354" cy="1476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3330" y="311846"/>
              <a:ext cx="10085705" cy="498475"/>
            </a:xfrm>
            <a:custGeom>
              <a:avLst/>
              <a:gdLst/>
              <a:ahLst/>
              <a:cxnLst/>
              <a:rect l="l" t="t" r="r" b="b"/>
              <a:pathLst>
                <a:path w="10085705" h="498475">
                  <a:moveTo>
                    <a:pt x="0" y="498437"/>
                  </a:moveTo>
                  <a:lnTo>
                    <a:pt x="10085354" y="498437"/>
                  </a:lnTo>
                  <a:lnTo>
                    <a:pt x="10085354" y="0"/>
                  </a:lnTo>
                  <a:lnTo>
                    <a:pt x="0" y="0"/>
                  </a:lnTo>
                  <a:lnTo>
                    <a:pt x="0" y="49843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27007" y="249275"/>
            <a:ext cx="1457960" cy="5041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00" spc="-90" dirty="0">
                <a:solidFill>
                  <a:srgbClr val="FFFFFF"/>
                </a:solidFill>
              </a:rPr>
              <a:t>Classifier</a:t>
            </a:r>
            <a:endParaRPr sz="310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3330" y="810284"/>
            <a:ext cx="10085354" cy="7385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6620" y="1407286"/>
            <a:ext cx="142843" cy="14284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98391" y="1239732"/>
            <a:ext cx="8641080" cy="13074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50" spc="-70" dirty="0">
                <a:latin typeface="Tahoma"/>
                <a:cs typeface="Tahoma"/>
              </a:rPr>
              <a:t>Regrouper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130" dirty="0">
                <a:latin typeface="Tahoma"/>
                <a:cs typeface="Tahoma"/>
              </a:rPr>
              <a:t>des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70" dirty="0">
                <a:latin typeface="Tahoma"/>
                <a:cs typeface="Tahoma"/>
              </a:rPr>
              <a:t>objets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60" dirty="0">
                <a:latin typeface="Tahoma"/>
                <a:cs typeface="Tahoma"/>
              </a:rPr>
              <a:t>suivants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130" dirty="0">
                <a:latin typeface="Tahoma"/>
                <a:cs typeface="Tahoma"/>
              </a:rPr>
              <a:t>des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60" dirty="0">
                <a:latin typeface="Tahoma"/>
                <a:cs typeface="Tahoma"/>
              </a:rPr>
              <a:t>critères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00" dirty="0">
                <a:latin typeface="Tahoma"/>
                <a:cs typeface="Tahoma"/>
              </a:rPr>
              <a:t>ressemblance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45" dirty="0">
                <a:latin typeface="Tahoma"/>
                <a:cs typeface="Tahoma"/>
              </a:rPr>
              <a:t>s’appelle</a:t>
            </a:r>
            <a:endParaRPr sz="2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2350" b="1" spc="-140" dirty="0">
                <a:solidFill>
                  <a:srgbClr val="000099"/>
                </a:solidFill>
                <a:latin typeface="Arial"/>
                <a:cs typeface="Arial"/>
              </a:rPr>
              <a:t>classer</a:t>
            </a:r>
            <a:r>
              <a:rPr sz="2350" b="1" spc="1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spc="-90" dirty="0">
                <a:latin typeface="Tahoma"/>
                <a:cs typeface="Tahoma"/>
              </a:rPr>
              <a:t>(</a:t>
            </a:r>
            <a:r>
              <a:rPr sz="2350" b="1" spc="-90" dirty="0">
                <a:solidFill>
                  <a:srgbClr val="000099"/>
                </a:solidFill>
                <a:latin typeface="Arial"/>
                <a:cs typeface="Arial"/>
              </a:rPr>
              <a:t>classifier</a:t>
            </a:r>
            <a:r>
              <a:rPr sz="2350" spc="-90" dirty="0">
                <a:latin typeface="Tahoma"/>
                <a:cs typeface="Tahoma"/>
              </a:rPr>
              <a:t>)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170" dirty="0">
                <a:latin typeface="Tahoma"/>
                <a:cs typeface="Tahoma"/>
              </a:rPr>
              <a:t>:</a:t>
            </a:r>
            <a:endParaRPr sz="2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2350" spc="15" dirty="0">
                <a:latin typeface="Tahoma"/>
                <a:cs typeface="Tahoma"/>
              </a:rPr>
              <a:t>La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classe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est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114" dirty="0">
                <a:latin typeface="Tahoma"/>
                <a:cs typeface="Tahoma"/>
              </a:rPr>
              <a:t>une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b="1" spc="-80" dirty="0">
                <a:solidFill>
                  <a:srgbClr val="7F0000"/>
                </a:solidFill>
                <a:latin typeface="Arial"/>
                <a:cs typeface="Arial"/>
              </a:rPr>
              <a:t>description</a:t>
            </a:r>
            <a:r>
              <a:rPr sz="2350" b="1" spc="225" dirty="0">
                <a:solidFill>
                  <a:srgbClr val="7F0000"/>
                </a:solidFill>
                <a:latin typeface="Arial"/>
                <a:cs typeface="Arial"/>
              </a:rPr>
              <a:t> </a:t>
            </a:r>
            <a:r>
              <a:rPr sz="2350" b="1" spc="-35" dirty="0">
                <a:solidFill>
                  <a:srgbClr val="7F0000"/>
                </a:solidFill>
                <a:latin typeface="Arial"/>
                <a:cs typeface="Arial"/>
              </a:rPr>
              <a:t>abstraite</a:t>
            </a:r>
            <a:r>
              <a:rPr sz="2350" b="1" spc="225" dirty="0">
                <a:solidFill>
                  <a:srgbClr val="7F0000"/>
                </a:solidFill>
                <a:latin typeface="Arial"/>
                <a:cs typeface="Arial"/>
              </a:rPr>
              <a:t> </a:t>
            </a:r>
            <a:r>
              <a:rPr sz="2350" b="1" spc="-55" dirty="0">
                <a:solidFill>
                  <a:srgbClr val="7F0000"/>
                </a:solidFill>
                <a:latin typeface="Arial"/>
                <a:cs typeface="Arial"/>
              </a:rPr>
              <a:t>d’un</a:t>
            </a:r>
            <a:r>
              <a:rPr sz="2350" b="1" spc="220" dirty="0">
                <a:solidFill>
                  <a:srgbClr val="7F0000"/>
                </a:solidFill>
                <a:latin typeface="Arial"/>
                <a:cs typeface="Arial"/>
              </a:rPr>
              <a:t> </a:t>
            </a:r>
            <a:r>
              <a:rPr sz="2350" b="1" spc="-105" dirty="0">
                <a:solidFill>
                  <a:srgbClr val="7F0000"/>
                </a:solidFill>
                <a:latin typeface="Arial"/>
                <a:cs typeface="Arial"/>
              </a:rPr>
              <a:t>ensemble</a:t>
            </a:r>
            <a:r>
              <a:rPr sz="2350" b="1" spc="225" dirty="0">
                <a:solidFill>
                  <a:srgbClr val="7F0000"/>
                </a:solidFill>
                <a:latin typeface="Arial"/>
                <a:cs typeface="Arial"/>
              </a:rPr>
              <a:t> </a:t>
            </a:r>
            <a:r>
              <a:rPr sz="2350" b="1" spc="-55" dirty="0">
                <a:solidFill>
                  <a:srgbClr val="7F0000"/>
                </a:solidFill>
                <a:latin typeface="Arial"/>
                <a:cs typeface="Arial"/>
              </a:rPr>
              <a:t>d’objets</a:t>
            </a:r>
            <a:endParaRPr sz="235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6620" y="2325471"/>
            <a:ext cx="142843" cy="14284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64287" y="2970510"/>
            <a:ext cx="6154839" cy="3925458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303330" y="7322021"/>
            <a:ext cx="10085705" cy="240029"/>
            <a:chOff x="303330" y="7322021"/>
            <a:chExt cx="10085705" cy="240029"/>
          </a:xfrm>
        </p:grpSpPr>
        <p:sp>
          <p:nvSpPr>
            <p:cNvPr id="15" name="object 15"/>
            <p:cNvSpPr/>
            <p:nvPr/>
          </p:nvSpPr>
          <p:spPr>
            <a:xfrm>
              <a:off x="303330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65059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26788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60" dirty="0"/>
              <a:t>tv </a:t>
            </a:r>
            <a:r>
              <a:rPr spc="140" dirty="0"/>
              <a:t> </a:t>
            </a:r>
            <a:r>
              <a:rPr spc="55" dirty="0"/>
              <a:t>(BTS</a:t>
            </a:r>
            <a:r>
              <a:rPr spc="100" dirty="0"/>
              <a:t> </a:t>
            </a:r>
            <a:r>
              <a:rPr spc="-25" dirty="0"/>
              <a:t>IRIS</a:t>
            </a:r>
            <a:r>
              <a:rPr spc="105" dirty="0"/>
              <a:t> </a:t>
            </a:r>
            <a:r>
              <a:rPr spc="5" dirty="0"/>
              <a:t>Avignon)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-40" dirty="0"/>
              <a:t>Cours</a:t>
            </a:r>
            <a:r>
              <a:rPr spc="60" dirty="0"/>
              <a:t> </a:t>
            </a:r>
            <a:r>
              <a:rPr spc="170" dirty="0"/>
              <a:t>C/C++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481423" y="7283716"/>
            <a:ext cx="1800860" cy="27051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300" spc="40" dirty="0">
                <a:solidFill>
                  <a:srgbClr val="FFFFFF"/>
                </a:solidFill>
                <a:latin typeface="SimSun"/>
                <a:cs typeface="SimSun"/>
                <a:hlinkClick r:id="rId7"/>
              </a:rPr>
              <a:t>tvaira@free.fr</a:t>
            </a:r>
            <a:r>
              <a:rPr sz="1300" spc="-190" dirty="0">
                <a:solidFill>
                  <a:srgbClr val="FFFFFF"/>
                </a:solidFill>
                <a:latin typeface="SimSun"/>
                <a:cs typeface="SimSun"/>
                <a:hlinkClick r:id="rId7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©</a:t>
            </a:r>
            <a:r>
              <a:rPr sz="130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v0.1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9"/>
              </a:spcBef>
            </a:pPr>
            <a:fld id="{81D60167-4931-47E6-BA6A-407CBD079E47}" type="slidenum">
              <a:rPr spc="-30" dirty="0"/>
              <a:t>4</a:t>
            </a:fld>
            <a:r>
              <a:rPr spc="80" dirty="0"/>
              <a:t> </a:t>
            </a:r>
            <a:r>
              <a:rPr spc="330" dirty="0"/>
              <a:t>/</a:t>
            </a:r>
            <a:r>
              <a:rPr spc="85" dirty="0"/>
              <a:t> </a:t>
            </a:r>
            <a:r>
              <a:rPr spc="-30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3330" y="0"/>
            <a:ext cx="5043170" cy="203200"/>
          </a:xfrm>
          <a:custGeom>
            <a:avLst/>
            <a:gdLst/>
            <a:ahLst/>
            <a:cxnLst/>
            <a:rect l="l" t="t" r="r" b="b"/>
            <a:pathLst>
              <a:path w="5043170" h="203200">
                <a:moveTo>
                  <a:pt x="0" y="203077"/>
                </a:moveTo>
                <a:lnTo>
                  <a:pt x="5042663" y="203077"/>
                </a:lnTo>
                <a:lnTo>
                  <a:pt x="5042663" y="0"/>
                </a:lnTo>
                <a:lnTo>
                  <a:pt x="0" y="0"/>
                </a:lnTo>
                <a:lnTo>
                  <a:pt x="0" y="203077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611098" y="0"/>
            <a:ext cx="600075" cy="224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Rap</a:t>
            </a:r>
            <a:r>
              <a:rPr sz="13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13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els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3330" y="0"/>
            <a:ext cx="10085705" cy="812800"/>
            <a:chOff x="303330" y="0"/>
            <a:chExt cx="10085705" cy="812800"/>
          </a:xfrm>
        </p:grpSpPr>
        <p:sp>
          <p:nvSpPr>
            <p:cNvPr id="5" name="object 5"/>
            <p:cNvSpPr/>
            <p:nvPr/>
          </p:nvSpPr>
          <p:spPr>
            <a:xfrm>
              <a:off x="5345993" y="0"/>
              <a:ext cx="5043170" cy="203200"/>
            </a:xfrm>
            <a:custGeom>
              <a:avLst/>
              <a:gdLst/>
              <a:ahLst/>
              <a:cxnLst/>
              <a:rect l="l" t="t" r="r" b="b"/>
              <a:pathLst>
                <a:path w="5043170" h="203200">
                  <a:moveTo>
                    <a:pt x="0" y="203077"/>
                  </a:moveTo>
                  <a:lnTo>
                    <a:pt x="5042663" y="203077"/>
                  </a:lnTo>
                  <a:lnTo>
                    <a:pt x="5042663" y="0"/>
                  </a:lnTo>
                  <a:lnTo>
                    <a:pt x="0" y="0"/>
                  </a:lnTo>
                  <a:lnTo>
                    <a:pt x="0" y="20307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330" y="201079"/>
              <a:ext cx="10085354" cy="1476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3330" y="311846"/>
              <a:ext cx="10085705" cy="498475"/>
            </a:xfrm>
            <a:custGeom>
              <a:avLst/>
              <a:gdLst/>
              <a:ahLst/>
              <a:cxnLst/>
              <a:rect l="l" t="t" r="r" b="b"/>
              <a:pathLst>
                <a:path w="10085705" h="498475">
                  <a:moveTo>
                    <a:pt x="0" y="498437"/>
                  </a:moveTo>
                  <a:lnTo>
                    <a:pt x="10085354" y="498437"/>
                  </a:lnTo>
                  <a:lnTo>
                    <a:pt x="10085354" y="0"/>
                  </a:lnTo>
                  <a:lnTo>
                    <a:pt x="0" y="0"/>
                  </a:lnTo>
                  <a:lnTo>
                    <a:pt x="0" y="49843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27007" y="249275"/>
            <a:ext cx="3646170" cy="5041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00" spc="20" dirty="0">
                <a:solidFill>
                  <a:srgbClr val="FFFFFF"/>
                </a:solidFill>
              </a:rPr>
              <a:t>État </a:t>
            </a:r>
            <a:r>
              <a:rPr sz="3100" spc="-100" dirty="0">
                <a:solidFill>
                  <a:srgbClr val="FFFFFF"/>
                </a:solidFill>
              </a:rPr>
              <a:t>et</a:t>
            </a:r>
            <a:r>
              <a:rPr sz="3100" spc="25" dirty="0">
                <a:solidFill>
                  <a:srgbClr val="FFFFFF"/>
                </a:solidFill>
              </a:rPr>
              <a:t> </a:t>
            </a:r>
            <a:r>
              <a:rPr sz="3100" spc="-125" dirty="0">
                <a:solidFill>
                  <a:srgbClr val="FFFFFF"/>
                </a:solidFill>
              </a:rPr>
              <a:t>comportement</a:t>
            </a:r>
            <a:endParaRPr sz="310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3330" y="810284"/>
            <a:ext cx="10085354" cy="7385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6620" y="1354334"/>
            <a:ext cx="142843" cy="14284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98391" y="1186781"/>
            <a:ext cx="8901430" cy="2272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ts val="2970"/>
              </a:lnSpc>
              <a:spcBef>
                <a:spcPts val="110"/>
              </a:spcBef>
            </a:pPr>
            <a:r>
              <a:rPr sz="2350" spc="10" dirty="0">
                <a:latin typeface="Tahoma"/>
                <a:cs typeface="Tahoma"/>
              </a:rPr>
              <a:t>Un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55" dirty="0">
                <a:latin typeface="Tahoma"/>
                <a:cs typeface="Tahoma"/>
              </a:rPr>
              <a:t>objet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110" dirty="0">
                <a:latin typeface="Tahoma"/>
                <a:cs typeface="Tahoma"/>
              </a:rPr>
              <a:t>posséde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114" dirty="0">
                <a:latin typeface="Tahoma"/>
                <a:cs typeface="Tahoma"/>
              </a:rPr>
              <a:t>une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b="1" spc="-15" dirty="0">
                <a:solidFill>
                  <a:srgbClr val="000099"/>
                </a:solidFill>
                <a:latin typeface="Arial"/>
                <a:cs typeface="Arial"/>
              </a:rPr>
              <a:t>identité</a:t>
            </a:r>
            <a:r>
              <a:rPr sz="2350" b="1" spc="14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spc="-40" dirty="0">
                <a:latin typeface="Tahoma"/>
                <a:cs typeface="Tahoma"/>
              </a:rPr>
              <a:t>qui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70" dirty="0">
                <a:latin typeface="Tahoma"/>
                <a:cs typeface="Tahoma"/>
              </a:rPr>
              <a:t>permet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60" dirty="0">
                <a:latin typeface="Tahoma"/>
                <a:cs typeface="Tahoma"/>
              </a:rPr>
              <a:t>distinguer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un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55" dirty="0">
                <a:latin typeface="Tahoma"/>
                <a:cs typeface="Tahoma"/>
              </a:rPr>
              <a:t>objet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20" dirty="0">
                <a:latin typeface="Tahoma"/>
                <a:cs typeface="Tahoma"/>
              </a:rPr>
              <a:t>d’un </a:t>
            </a:r>
            <a:r>
              <a:rPr sz="2350" spc="-715" dirty="0">
                <a:latin typeface="Tahoma"/>
                <a:cs typeface="Tahoma"/>
              </a:rPr>
              <a:t> </a:t>
            </a:r>
            <a:r>
              <a:rPr sz="2350" spc="-65" dirty="0">
                <a:latin typeface="Tahoma"/>
                <a:cs typeface="Tahoma"/>
              </a:rPr>
              <a:t>autre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55" dirty="0">
                <a:latin typeface="Tahoma"/>
                <a:cs typeface="Tahoma"/>
              </a:rPr>
              <a:t>objet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70" dirty="0">
                <a:latin typeface="Tahoma"/>
                <a:cs typeface="Tahoma"/>
              </a:rPr>
              <a:t>(son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nom,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14" dirty="0">
                <a:latin typeface="Tahoma"/>
                <a:cs typeface="Tahoma"/>
              </a:rPr>
              <a:t>une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120" dirty="0">
                <a:latin typeface="Tahoma"/>
                <a:cs typeface="Tahoma"/>
              </a:rPr>
              <a:t>adresse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70" dirty="0">
                <a:latin typeface="Tahoma"/>
                <a:cs typeface="Tahoma"/>
              </a:rPr>
              <a:t>mémoire).</a:t>
            </a:r>
            <a:endParaRPr sz="2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350" spc="10" dirty="0">
                <a:latin typeface="Tahoma"/>
                <a:cs typeface="Tahoma"/>
              </a:rPr>
              <a:t>Un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55" dirty="0">
                <a:latin typeface="Tahoma"/>
                <a:cs typeface="Tahoma"/>
              </a:rPr>
              <a:t>objet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10" dirty="0">
                <a:latin typeface="Tahoma"/>
                <a:cs typeface="Tahoma"/>
              </a:rPr>
              <a:t>posséde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un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b="1" spc="55" dirty="0">
                <a:solidFill>
                  <a:srgbClr val="000099"/>
                </a:solidFill>
                <a:latin typeface="Arial"/>
                <a:cs typeface="Arial"/>
              </a:rPr>
              <a:t>état</a:t>
            </a:r>
            <a:r>
              <a:rPr sz="2350" b="1" spc="13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spc="-70" dirty="0">
                <a:latin typeface="Tahoma"/>
                <a:cs typeface="Tahoma"/>
              </a:rPr>
              <a:t>(les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valeurs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85" dirty="0">
                <a:latin typeface="Tahoma"/>
                <a:cs typeface="Tahoma"/>
              </a:rPr>
              <a:t>contenues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95" dirty="0">
                <a:latin typeface="Tahoma"/>
                <a:cs typeface="Tahoma"/>
              </a:rPr>
              <a:t>dans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00" dirty="0">
                <a:latin typeface="Tahoma"/>
                <a:cs typeface="Tahoma"/>
              </a:rPr>
              <a:t>les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20" dirty="0">
                <a:latin typeface="Tahoma"/>
                <a:cs typeface="Tahoma"/>
              </a:rPr>
              <a:t>attributs</a:t>
            </a:r>
            <a:endParaRPr sz="2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2350" spc="-110" dirty="0">
                <a:latin typeface="Tahoma"/>
                <a:cs typeface="Tahoma"/>
              </a:rPr>
              <a:t>propres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à</a:t>
            </a:r>
            <a:r>
              <a:rPr sz="2350" spc="45" dirty="0">
                <a:latin typeface="Tahoma"/>
                <a:cs typeface="Tahoma"/>
              </a:rPr>
              <a:t> </a:t>
            </a:r>
            <a:r>
              <a:rPr sz="2350" spc="-45" dirty="0">
                <a:latin typeface="Tahoma"/>
                <a:cs typeface="Tahoma"/>
              </a:rPr>
              <a:t>cet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45" dirty="0">
                <a:latin typeface="Tahoma"/>
                <a:cs typeface="Tahoma"/>
              </a:rPr>
              <a:t>objet).</a:t>
            </a:r>
            <a:endParaRPr sz="2350">
              <a:latin typeface="Tahoma"/>
              <a:cs typeface="Tahoma"/>
            </a:endParaRPr>
          </a:p>
          <a:p>
            <a:pPr marL="12700" marR="5080">
              <a:lnSpc>
                <a:spcPts val="2970"/>
              </a:lnSpc>
              <a:spcBef>
                <a:spcPts val="95"/>
              </a:spcBef>
            </a:pPr>
            <a:r>
              <a:rPr sz="2350" spc="10" dirty="0">
                <a:latin typeface="Tahoma"/>
                <a:cs typeface="Tahoma"/>
              </a:rPr>
              <a:t>Un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55" dirty="0">
                <a:latin typeface="Tahoma"/>
                <a:cs typeface="Tahoma"/>
              </a:rPr>
              <a:t>objet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114" dirty="0">
                <a:latin typeface="Tahoma"/>
                <a:cs typeface="Tahoma"/>
              </a:rPr>
              <a:t>posséde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un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b="1" spc="-40" dirty="0">
                <a:solidFill>
                  <a:srgbClr val="000099"/>
                </a:solidFill>
                <a:latin typeface="Arial"/>
                <a:cs typeface="Arial"/>
              </a:rPr>
              <a:t>comportement</a:t>
            </a:r>
            <a:r>
              <a:rPr sz="2350" b="1" spc="13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spc="-5" dirty="0">
                <a:latin typeface="Tahoma"/>
                <a:cs typeface="Tahoma"/>
              </a:rPr>
              <a:t>(l’utilisation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150" dirty="0">
                <a:latin typeface="Tahoma"/>
                <a:cs typeface="Tahoma"/>
              </a:rPr>
              <a:t>ses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85" dirty="0">
                <a:latin typeface="Tahoma"/>
                <a:cs typeface="Tahoma"/>
              </a:rPr>
              <a:t>méthodes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10" dirty="0">
                <a:latin typeface="Tahoma"/>
                <a:cs typeface="Tahoma"/>
              </a:rPr>
              <a:t>lui </a:t>
            </a:r>
            <a:r>
              <a:rPr sz="2350" spc="-720" dirty="0">
                <a:latin typeface="Tahoma"/>
                <a:cs typeface="Tahoma"/>
              </a:rPr>
              <a:t> </a:t>
            </a:r>
            <a:r>
              <a:rPr sz="2350" spc="-85" dirty="0">
                <a:latin typeface="Tahoma"/>
                <a:cs typeface="Tahoma"/>
              </a:rPr>
              <a:t>fera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85" dirty="0">
                <a:latin typeface="Tahoma"/>
                <a:cs typeface="Tahoma"/>
              </a:rPr>
              <a:t>changer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0" dirty="0">
                <a:latin typeface="Tahoma"/>
                <a:cs typeface="Tahoma"/>
              </a:rPr>
              <a:t>d’état).</a:t>
            </a:r>
            <a:endParaRPr sz="235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6620" y="2107550"/>
            <a:ext cx="142843" cy="14284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6620" y="2860793"/>
            <a:ext cx="142843" cy="14284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00366" y="3655494"/>
            <a:ext cx="7090767" cy="3604375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303330" y="7322021"/>
            <a:ext cx="10085705" cy="240029"/>
            <a:chOff x="303330" y="7322021"/>
            <a:chExt cx="10085705" cy="240029"/>
          </a:xfrm>
        </p:grpSpPr>
        <p:sp>
          <p:nvSpPr>
            <p:cNvPr id="16" name="object 16"/>
            <p:cNvSpPr/>
            <p:nvPr/>
          </p:nvSpPr>
          <p:spPr>
            <a:xfrm>
              <a:off x="303330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65059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26788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60" dirty="0"/>
              <a:t>tv </a:t>
            </a:r>
            <a:r>
              <a:rPr spc="140" dirty="0"/>
              <a:t> </a:t>
            </a:r>
            <a:r>
              <a:rPr spc="55" dirty="0"/>
              <a:t>(BTS</a:t>
            </a:r>
            <a:r>
              <a:rPr spc="100" dirty="0"/>
              <a:t> </a:t>
            </a:r>
            <a:r>
              <a:rPr spc="-25" dirty="0"/>
              <a:t>IRIS</a:t>
            </a:r>
            <a:r>
              <a:rPr spc="105" dirty="0"/>
              <a:t> </a:t>
            </a:r>
            <a:r>
              <a:rPr spc="5" dirty="0"/>
              <a:t>Avignon)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-40" dirty="0"/>
              <a:t>Cours</a:t>
            </a:r>
            <a:r>
              <a:rPr spc="60" dirty="0"/>
              <a:t> </a:t>
            </a:r>
            <a:r>
              <a:rPr spc="170" dirty="0"/>
              <a:t>C/C++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481423" y="7283716"/>
            <a:ext cx="1800860" cy="27051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300" spc="40" dirty="0">
                <a:solidFill>
                  <a:srgbClr val="FFFFFF"/>
                </a:solidFill>
                <a:latin typeface="SimSun"/>
                <a:cs typeface="SimSun"/>
                <a:hlinkClick r:id="rId7"/>
              </a:rPr>
              <a:t>tvaira@free.fr</a:t>
            </a:r>
            <a:r>
              <a:rPr sz="1300" spc="-190" dirty="0">
                <a:solidFill>
                  <a:srgbClr val="FFFFFF"/>
                </a:solidFill>
                <a:latin typeface="SimSun"/>
                <a:cs typeface="SimSun"/>
                <a:hlinkClick r:id="rId7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©</a:t>
            </a:r>
            <a:r>
              <a:rPr sz="130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v0.1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9"/>
              </a:spcBef>
            </a:pPr>
            <a:fld id="{81D60167-4931-47E6-BA6A-407CBD079E47}" type="slidenum">
              <a:rPr spc="-30" dirty="0"/>
              <a:t>5</a:t>
            </a:fld>
            <a:r>
              <a:rPr spc="80" dirty="0"/>
              <a:t> </a:t>
            </a:r>
            <a:r>
              <a:rPr spc="330" dirty="0"/>
              <a:t>/</a:t>
            </a:r>
            <a:r>
              <a:rPr spc="85" dirty="0"/>
              <a:t> </a:t>
            </a:r>
            <a:r>
              <a:rPr spc="-30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3330" y="0"/>
            <a:ext cx="5043170" cy="203200"/>
          </a:xfrm>
          <a:custGeom>
            <a:avLst/>
            <a:gdLst/>
            <a:ahLst/>
            <a:cxnLst/>
            <a:rect l="l" t="t" r="r" b="b"/>
            <a:pathLst>
              <a:path w="5043170" h="203200">
                <a:moveTo>
                  <a:pt x="0" y="203077"/>
                </a:moveTo>
                <a:lnTo>
                  <a:pt x="5042663" y="203077"/>
                </a:lnTo>
                <a:lnTo>
                  <a:pt x="5042663" y="0"/>
                </a:lnTo>
                <a:lnTo>
                  <a:pt x="0" y="0"/>
                </a:lnTo>
                <a:lnTo>
                  <a:pt x="0" y="203077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611098" y="0"/>
            <a:ext cx="600075" cy="224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Rap</a:t>
            </a:r>
            <a:r>
              <a:rPr sz="13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13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els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3330" y="0"/>
            <a:ext cx="10085705" cy="812800"/>
            <a:chOff x="303330" y="0"/>
            <a:chExt cx="10085705" cy="812800"/>
          </a:xfrm>
        </p:grpSpPr>
        <p:sp>
          <p:nvSpPr>
            <p:cNvPr id="5" name="object 5"/>
            <p:cNvSpPr/>
            <p:nvPr/>
          </p:nvSpPr>
          <p:spPr>
            <a:xfrm>
              <a:off x="5345993" y="0"/>
              <a:ext cx="5043170" cy="203200"/>
            </a:xfrm>
            <a:custGeom>
              <a:avLst/>
              <a:gdLst/>
              <a:ahLst/>
              <a:cxnLst/>
              <a:rect l="l" t="t" r="r" b="b"/>
              <a:pathLst>
                <a:path w="5043170" h="203200">
                  <a:moveTo>
                    <a:pt x="0" y="203077"/>
                  </a:moveTo>
                  <a:lnTo>
                    <a:pt x="5042663" y="203077"/>
                  </a:lnTo>
                  <a:lnTo>
                    <a:pt x="5042663" y="0"/>
                  </a:lnTo>
                  <a:lnTo>
                    <a:pt x="0" y="0"/>
                  </a:lnTo>
                  <a:lnTo>
                    <a:pt x="0" y="20307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330" y="201079"/>
              <a:ext cx="10085354" cy="1476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3330" y="311846"/>
              <a:ext cx="10085705" cy="498475"/>
            </a:xfrm>
            <a:custGeom>
              <a:avLst/>
              <a:gdLst/>
              <a:ahLst/>
              <a:cxnLst/>
              <a:rect l="l" t="t" r="r" b="b"/>
              <a:pathLst>
                <a:path w="10085705" h="498475">
                  <a:moveTo>
                    <a:pt x="0" y="498437"/>
                  </a:moveTo>
                  <a:lnTo>
                    <a:pt x="10085354" y="498437"/>
                  </a:lnTo>
                  <a:lnTo>
                    <a:pt x="10085354" y="0"/>
                  </a:lnTo>
                  <a:lnTo>
                    <a:pt x="0" y="0"/>
                  </a:lnTo>
                  <a:lnTo>
                    <a:pt x="0" y="49843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27007" y="249275"/>
            <a:ext cx="4575810" cy="5041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00" spc="-40" dirty="0">
                <a:solidFill>
                  <a:srgbClr val="FFFFFF"/>
                </a:solidFill>
              </a:rPr>
              <a:t>Droits</a:t>
            </a:r>
            <a:r>
              <a:rPr sz="3100" spc="30" dirty="0">
                <a:solidFill>
                  <a:srgbClr val="FFFFFF"/>
                </a:solidFill>
              </a:rPr>
              <a:t> </a:t>
            </a:r>
            <a:r>
              <a:rPr sz="3100" spc="-100" dirty="0">
                <a:solidFill>
                  <a:srgbClr val="FFFFFF"/>
                </a:solidFill>
              </a:rPr>
              <a:t>d’accès</a:t>
            </a:r>
            <a:r>
              <a:rPr sz="3100" spc="30" dirty="0">
                <a:solidFill>
                  <a:srgbClr val="FFFFFF"/>
                </a:solidFill>
              </a:rPr>
              <a:t> </a:t>
            </a:r>
            <a:r>
              <a:rPr sz="3100" spc="-150" dirty="0">
                <a:solidFill>
                  <a:srgbClr val="FFFFFF"/>
                </a:solidFill>
              </a:rPr>
              <a:t>aux</a:t>
            </a:r>
            <a:r>
              <a:rPr sz="3100" spc="30" dirty="0">
                <a:solidFill>
                  <a:srgbClr val="FFFFFF"/>
                </a:solidFill>
              </a:rPr>
              <a:t> </a:t>
            </a:r>
            <a:r>
              <a:rPr sz="3100" spc="-200" dirty="0">
                <a:solidFill>
                  <a:srgbClr val="FFFFFF"/>
                </a:solidFill>
              </a:rPr>
              <a:t>membres</a:t>
            </a:r>
            <a:endParaRPr sz="310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3330" y="810284"/>
            <a:ext cx="10085354" cy="7385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6620" y="1846296"/>
            <a:ext cx="142843" cy="14284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98391" y="1678742"/>
            <a:ext cx="9232265" cy="4671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372745">
              <a:lnSpc>
                <a:spcPts val="2970"/>
              </a:lnSpc>
              <a:spcBef>
                <a:spcPts val="110"/>
              </a:spcBef>
            </a:pPr>
            <a:r>
              <a:rPr sz="2350" spc="-70" dirty="0">
                <a:latin typeface="Tahoma"/>
                <a:cs typeface="Tahoma"/>
              </a:rPr>
              <a:t>Les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40" dirty="0">
                <a:latin typeface="Tahoma"/>
                <a:cs typeface="Tahoma"/>
              </a:rPr>
              <a:t>droits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55" dirty="0">
                <a:latin typeface="Tahoma"/>
                <a:cs typeface="Tahoma"/>
              </a:rPr>
              <a:t>d’accès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aux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20" dirty="0">
                <a:latin typeface="Tahoma"/>
                <a:cs typeface="Tahoma"/>
              </a:rPr>
              <a:t>membres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50" dirty="0">
                <a:latin typeface="Tahoma"/>
                <a:cs typeface="Tahoma"/>
              </a:rPr>
              <a:t>d’une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classe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70" dirty="0">
                <a:latin typeface="Tahoma"/>
                <a:cs typeface="Tahoma"/>
              </a:rPr>
              <a:t>concernent</a:t>
            </a:r>
            <a:r>
              <a:rPr sz="2350" spc="70" dirty="0">
                <a:latin typeface="Tahoma"/>
                <a:cs typeface="Tahoma"/>
              </a:rPr>
              <a:t> </a:t>
            </a:r>
            <a:r>
              <a:rPr sz="2350" spc="-85" dirty="0">
                <a:latin typeface="Tahoma"/>
                <a:cs typeface="Tahoma"/>
              </a:rPr>
              <a:t>aussi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bien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100" dirty="0">
                <a:latin typeface="Tahoma"/>
                <a:cs typeface="Tahoma"/>
              </a:rPr>
              <a:t>les </a:t>
            </a:r>
            <a:r>
              <a:rPr sz="2350" spc="-720" dirty="0">
                <a:latin typeface="Tahoma"/>
                <a:cs typeface="Tahoma"/>
              </a:rPr>
              <a:t> </a:t>
            </a:r>
            <a:r>
              <a:rPr sz="2350" spc="-85" dirty="0">
                <a:latin typeface="Tahoma"/>
                <a:cs typeface="Tahoma"/>
              </a:rPr>
              <a:t>méthodes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110" dirty="0">
                <a:latin typeface="Tahoma"/>
                <a:cs typeface="Tahoma"/>
              </a:rPr>
              <a:t>que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00" dirty="0">
                <a:latin typeface="Tahoma"/>
                <a:cs typeface="Tahoma"/>
              </a:rPr>
              <a:t>les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25" dirty="0">
                <a:latin typeface="Tahoma"/>
                <a:cs typeface="Tahoma"/>
              </a:rPr>
              <a:t>attributs.</a:t>
            </a:r>
            <a:endParaRPr sz="2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350" spc="15" dirty="0">
                <a:latin typeface="Tahoma"/>
                <a:cs typeface="Tahoma"/>
              </a:rPr>
              <a:t>En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85" dirty="0">
                <a:latin typeface="Tahoma"/>
                <a:cs typeface="Tahoma"/>
              </a:rPr>
              <a:t>C++,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on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85" dirty="0">
                <a:latin typeface="Tahoma"/>
                <a:cs typeface="Tahoma"/>
              </a:rPr>
              <a:t>dispose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30" dirty="0">
                <a:latin typeface="Tahoma"/>
                <a:cs typeface="Tahoma"/>
              </a:rPr>
              <a:t>des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40" dirty="0">
                <a:latin typeface="Tahoma"/>
                <a:cs typeface="Tahoma"/>
              </a:rPr>
              <a:t>droits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55" dirty="0">
                <a:latin typeface="Tahoma"/>
                <a:cs typeface="Tahoma"/>
              </a:rPr>
              <a:t>d’accès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60" dirty="0">
                <a:latin typeface="Tahoma"/>
                <a:cs typeface="Tahoma"/>
              </a:rPr>
              <a:t>suivants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70" dirty="0">
                <a:latin typeface="Tahoma"/>
                <a:cs typeface="Tahoma"/>
              </a:rPr>
              <a:t>:</a:t>
            </a:r>
            <a:endParaRPr sz="2350">
              <a:latin typeface="Tahoma"/>
              <a:cs typeface="Tahoma"/>
            </a:endParaRPr>
          </a:p>
          <a:p>
            <a:pPr marL="215265" marR="476884" indent="-215265">
              <a:lnSpc>
                <a:spcPct val="105200"/>
              </a:lnSpc>
              <a:spcBef>
                <a:spcPts val="434"/>
              </a:spcBef>
              <a:buChar char="-"/>
              <a:tabLst>
                <a:tab pos="215265" algn="l"/>
                <a:tab pos="2323465" algn="l"/>
              </a:tabLst>
            </a:pPr>
            <a:r>
              <a:rPr sz="2350" spc="-55" dirty="0">
                <a:solidFill>
                  <a:srgbClr val="3333B2"/>
                </a:solidFill>
                <a:latin typeface="Tahoma"/>
                <a:cs typeface="Tahoma"/>
              </a:rPr>
              <a:t>Accès</a:t>
            </a:r>
            <a:r>
              <a:rPr sz="2350" spc="8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2350" spc="75" dirty="0">
                <a:solidFill>
                  <a:srgbClr val="3333B2"/>
                </a:solidFill>
                <a:latin typeface="SimSun"/>
                <a:cs typeface="SimSun"/>
              </a:rPr>
              <a:t>public</a:t>
            </a:r>
            <a:r>
              <a:rPr sz="2350" spc="-365" dirty="0">
                <a:solidFill>
                  <a:srgbClr val="3333B2"/>
                </a:solidFill>
                <a:latin typeface="SimSun"/>
                <a:cs typeface="SimSun"/>
              </a:rPr>
              <a:t> </a:t>
            </a:r>
            <a:r>
              <a:rPr sz="2350" spc="-170" dirty="0">
                <a:solidFill>
                  <a:srgbClr val="3333B2"/>
                </a:solidFill>
                <a:latin typeface="Tahoma"/>
                <a:cs typeface="Tahoma"/>
              </a:rPr>
              <a:t>:	</a:t>
            </a:r>
            <a:r>
              <a:rPr sz="2350" spc="-80" dirty="0">
                <a:latin typeface="Tahoma"/>
                <a:cs typeface="Tahoma"/>
              </a:rPr>
              <a:t>on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45" dirty="0">
                <a:latin typeface="Tahoma"/>
                <a:cs typeface="Tahoma"/>
              </a:rPr>
              <a:t>peut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35" dirty="0">
                <a:latin typeface="Tahoma"/>
                <a:cs typeface="Tahoma"/>
              </a:rPr>
              <a:t>utiliser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le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114" dirty="0">
                <a:latin typeface="Tahoma"/>
                <a:cs typeface="Tahoma"/>
              </a:rPr>
              <a:t>membre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30" dirty="0">
                <a:latin typeface="Tahoma"/>
                <a:cs typeface="Tahoma"/>
              </a:rPr>
              <a:t>n’importe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où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95" dirty="0">
                <a:latin typeface="Tahoma"/>
                <a:cs typeface="Tahoma"/>
              </a:rPr>
              <a:t>dans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le </a:t>
            </a:r>
            <a:r>
              <a:rPr sz="2350" spc="-720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programme.</a:t>
            </a:r>
            <a:endParaRPr sz="2350">
              <a:latin typeface="Tahoma"/>
              <a:cs typeface="Tahoma"/>
            </a:endParaRPr>
          </a:p>
          <a:p>
            <a:pPr marL="215265" marR="434975" indent="-215265">
              <a:lnSpc>
                <a:spcPts val="2970"/>
              </a:lnSpc>
              <a:spcBef>
                <a:spcPts val="120"/>
              </a:spcBef>
              <a:buChar char="-"/>
              <a:tabLst>
                <a:tab pos="215265" algn="l"/>
                <a:tab pos="2482215" algn="l"/>
              </a:tabLst>
            </a:pPr>
            <a:r>
              <a:rPr sz="2350" spc="-55" dirty="0">
                <a:solidFill>
                  <a:srgbClr val="3333B2"/>
                </a:solidFill>
                <a:latin typeface="Tahoma"/>
                <a:cs typeface="Tahoma"/>
              </a:rPr>
              <a:t>Accès</a:t>
            </a:r>
            <a:r>
              <a:rPr sz="2350" spc="8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2350" spc="75" dirty="0">
                <a:solidFill>
                  <a:srgbClr val="3333B2"/>
                </a:solidFill>
                <a:latin typeface="SimSun"/>
                <a:cs typeface="SimSun"/>
              </a:rPr>
              <a:t>private</a:t>
            </a:r>
            <a:r>
              <a:rPr sz="2350" spc="-365" dirty="0">
                <a:solidFill>
                  <a:srgbClr val="3333B2"/>
                </a:solidFill>
                <a:latin typeface="SimSun"/>
                <a:cs typeface="SimSun"/>
              </a:rPr>
              <a:t> </a:t>
            </a:r>
            <a:r>
              <a:rPr sz="2350" spc="-170" dirty="0">
                <a:solidFill>
                  <a:srgbClr val="3333B2"/>
                </a:solidFill>
                <a:latin typeface="Tahoma"/>
                <a:cs typeface="Tahoma"/>
              </a:rPr>
              <a:t>:	</a:t>
            </a:r>
            <a:r>
              <a:rPr sz="2350" spc="-110" dirty="0">
                <a:latin typeface="Tahoma"/>
                <a:cs typeface="Tahoma"/>
              </a:rPr>
              <a:t>seule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14" dirty="0">
                <a:latin typeface="Tahoma"/>
                <a:cs typeface="Tahoma"/>
              </a:rPr>
              <a:t>une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40" dirty="0">
                <a:latin typeface="Tahoma"/>
                <a:cs typeface="Tahoma"/>
              </a:rPr>
              <a:t>fonction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14" dirty="0">
                <a:latin typeface="Tahoma"/>
                <a:cs typeface="Tahoma"/>
              </a:rPr>
              <a:t>membre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30" dirty="0">
                <a:latin typeface="Tahoma"/>
                <a:cs typeface="Tahoma"/>
              </a:rPr>
              <a:t>la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130" dirty="0">
                <a:latin typeface="Tahoma"/>
                <a:cs typeface="Tahoma"/>
              </a:rPr>
              <a:t>même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classe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180" dirty="0">
                <a:latin typeface="Tahoma"/>
                <a:cs typeface="Tahoma"/>
              </a:rPr>
              <a:t>A </a:t>
            </a:r>
            <a:r>
              <a:rPr sz="2350" spc="185" dirty="0">
                <a:latin typeface="Tahoma"/>
                <a:cs typeface="Tahoma"/>
              </a:rPr>
              <a:t> </a:t>
            </a:r>
            <a:r>
              <a:rPr sz="2350" dirty="0">
                <a:latin typeface="Tahoma"/>
                <a:cs typeface="Tahoma"/>
              </a:rPr>
              <a:t>p</a:t>
            </a:r>
            <a:r>
              <a:rPr sz="2350" spc="-60" dirty="0">
                <a:latin typeface="Tahoma"/>
                <a:cs typeface="Tahoma"/>
              </a:rPr>
              <a:t>eut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40" dirty="0">
                <a:latin typeface="Tahoma"/>
                <a:cs typeface="Tahoma"/>
              </a:rPr>
              <a:t>utilise</a:t>
            </a:r>
            <a:r>
              <a:rPr sz="2350" spc="-30" dirty="0">
                <a:latin typeface="Tahoma"/>
                <a:cs typeface="Tahoma"/>
              </a:rPr>
              <a:t>r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05" dirty="0">
                <a:latin typeface="Tahoma"/>
                <a:cs typeface="Tahoma"/>
              </a:rPr>
              <a:t>ce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m</a:t>
            </a:r>
            <a:r>
              <a:rPr sz="2350" spc="-185" dirty="0">
                <a:latin typeface="Tahoma"/>
                <a:cs typeface="Tahoma"/>
              </a:rPr>
              <a:t>e</a:t>
            </a:r>
            <a:r>
              <a:rPr sz="2350" spc="-80" dirty="0">
                <a:latin typeface="Tahoma"/>
                <a:cs typeface="Tahoma"/>
              </a:rPr>
              <a:t>m</a:t>
            </a:r>
            <a:r>
              <a:rPr sz="2350" spc="-135" dirty="0">
                <a:latin typeface="Tahoma"/>
                <a:cs typeface="Tahoma"/>
              </a:rPr>
              <a:t>b</a:t>
            </a:r>
            <a:r>
              <a:rPr sz="2350" spc="-90" dirty="0">
                <a:latin typeface="Tahoma"/>
                <a:cs typeface="Tahoma"/>
              </a:rPr>
              <a:t>r</a:t>
            </a:r>
            <a:r>
              <a:rPr sz="2350" spc="-125" dirty="0">
                <a:latin typeface="Tahoma"/>
                <a:cs typeface="Tahoma"/>
              </a:rPr>
              <a:t>e</a:t>
            </a:r>
            <a:r>
              <a:rPr sz="2350" spc="-340" dirty="0">
                <a:latin typeface="Tahoma"/>
                <a:cs typeface="Tahoma"/>
              </a:rPr>
              <a:t> </a:t>
            </a:r>
            <a:r>
              <a:rPr sz="2350" spc="-170" dirty="0">
                <a:latin typeface="Tahoma"/>
                <a:cs typeface="Tahoma"/>
              </a:rPr>
              <a:t>;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25" dirty="0">
                <a:latin typeface="Tahoma"/>
                <a:cs typeface="Tahoma"/>
              </a:rPr>
              <a:t>i</a:t>
            </a:r>
            <a:r>
              <a:rPr sz="2350" spc="30" dirty="0">
                <a:latin typeface="Tahoma"/>
                <a:cs typeface="Tahoma"/>
              </a:rPr>
              <a:t>l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est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50" dirty="0">
                <a:latin typeface="Tahoma"/>
                <a:cs typeface="Tahoma"/>
              </a:rPr>
              <a:t>invisibl</a:t>
            </a:r>
            <a:r>
              <a:rPr sz="2350" spc="-60" dirty="0">
                <a:latin typeface="Tahoma"/>
                <a:cs typeface="Tahoma"/>
              </a:rPr>
              <a:t>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30" dirty="0">
                <a:latin typeface="Tahoma"/>
                <a:cs typeface="Tahoma"/>
              </a:rPr>
              <a:t>d</a:t>
            </a:r>
            <a:r>
              <a:rPr sz="2350" spc="-120" dirty="0">
                <a:latin typeface="Tahoma"/>
                <a:cs typeface="Tahoma"/>
              </a:rPr>
              <a:t>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45" dirty="0">
                <a:latin typeface="Tahoma"/>
                <a:cs typeface="Tahoma"/>
              </a:rPr>
              <a:t>l’extérieu</a:t>
            </a:r>
            <a:r>
              <a:rPr sz="2350" spc="-35" dirty="0">
                <a:latin typeface="Tahoma"/>
                <a:cs typeface="Tahoma"/>
              </a:rPr>
              <a:t>r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05" dirty="0">
                <a:latin typeface="Tahoma"/>
                <a:cs typeface="Tahoma"/>
              </a:rPr>
              <a:t>de  </a:t>
            </a:r>
            <a:r>
              <a:rPr sz="2350" spc="60" dirty="0">
                <a:latin typeface="Tahoma"/>
                <a:cs typeface="Tahoma"/>
              </a:rPr>
              <a:t>A.</a:t>
            </a:r>
            <a:endParaRPr sz="2350">
              <a:latin typeface="Tahoma"/>
              <a:cs typeface="Tahoma"/>
            </a:endParaRPr>
          </a:p>
          <a:p>
            <a:pPr marL="214629" indent="-202565">
              <a:lnSpc>
                <a:spcPct val="100000"/>
              </a:lnSpc>
              <a:spcBef>
                <a:spcPts val="15"/>
              </a:spcBef>
              <a:buChar char="-"/>
              <a:tabLst>
                <a:tab pos="215265" algn="l"/>
                <a:tab pos="2800985" algn="l"/>
              </a:tabLst>
            </a:pPr>
            <a:r>
              <a:rPr sz="2350" spc="-55" dirty="0">
                <a:solidFill>
                  <a:srgbClr val="3333B2"/>
                </a:solidFill>
                <a:latin typeface="Tahoma"/>
                <a:cs typeface="Tahoma"/>
              </a:rPr>
              <a:t>Accès</a:t>
            </a:r>
            <a:r>
              <a:rPr sz="2350" spc="9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2350" spc="75" dirty="0">
                <a:solidFill>
                  <a:srgbClr val="3333B2"/>
                </a:solidFill>
                <a:latin typeface="SimSun"/>
                <a:cs typeface="SimSun"/>
              </a:rPr>
              <a:t>protected</a:t>
            </a:r>
            <a:r>
              <a:rPr sz="2350" spc="-360" dirty="0">
                <a:solidFill>
                  <a:srgbClr val="3333B2"/>
                </a:solidFill>
                <a:latin typeface="SimSun"/>
                <a:cs typeface="SimSun"/>
              </a:rPr>
              <a:t> </a:t>
            </a:r>
            <a:r>
              <a:rPr sz="2350" spc="-170" dirty="0">
                <a:solidFill>
                  <a:srgbClr val="3333B2"/>
                </a:solidFill>
                <a:latin typeface="Tahoma"/>
                <a:cs typeface="Tahoma"/>
              </a:rPr>
              <a:t>:	</a:t>
            </a:r>
            <a:r>
              <a:rPr sz="2350" spc="-105" dirty="0">
                <a:latin typeface="Tahoma"/>
                <a:cs typeface="Tahoma"/>
              </a:rPr>
              <a:t>ce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14" dirty="0">
                <a:latin typeface="Tahoma"/>
                <a:cs typeface="Tahoma"/>
              </a:rPr>
              <a:t>membre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50" dirty="0">
                <a:latin typeface="Tahoma"/>
                <a:cs typeface="Tahoma"/>
              </a:rPr>
              <a:t>peut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être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35" dirty="0">
                <a:latin typeface="Tahoma"/>
                <a:cs typeface="Tahoma"/>
              </a:rPr>
              <a:t>utilisé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85" dirty="0">
                <a:latin typeface="Tahoma"/>
                <a:cs typeface="Tahoma"/>
              </a:rPr>
              <a:t>par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14" dirty="0">
                <a:latin typeface="Tahoma"/>
                <a:cs typeface="Tahoma"/>
              </a:rPr>
              <a:t>une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40" dirty="0">
                <a:latin typeface="Tahoma"/>
                <a:cs typeface="Tahoma"/>
              </a:rPr>
              <a:t>fonction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30" dirty="0">
                <a:latin typeface="Tahoma"/>
                <a:cs typeface="Tahoma"/>
              </a:rPr>
              <a:t>de</a:t>
            </a:r>
            <a:endParaRPr sz="2350">
              <a:latin typeface="Tahoma"/>
              <a:cs typeface="Tahoma"/>
            </a:endParaRPr>
          </a:p>
          <a:p>
            <a:pPr marL="1739900" marR="454025">
              <a:lnSpc>
                <a:spcPts val="2970"/>
              </a:lnSpc>
              <a:spcBef>
                <a:spcPts val="114"/>
              </a:spcBef>
            </a:pPr>
            <a:r>
              <a:rPr sz="2350" spc="-50" dirty="0">
                <a:latin typeface="Tahoma"/>
                <a:cs typeface="Tahoma"/>
              </a:rPr>
              <a:t>cette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130" dirty="0">
                <a:latin typeface="Tahoma"/>
                <a:cs typeface="Tahoma"/>
              </a:rPr>
              <a:t>même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classe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65" dirty="0">
                <a:latin typeface="Tahoma"/>
                <a:cs typeface="Tahoma"/>
              </a:rPr>
              <a:t>A,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55" dirty="0">
                <a:latin typeface="Tahoma"/>
                <a:cs typeface="Tahoma"/>
              </a:rPr>
              <a:t>et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00" dirty="0">
                <a:latin typeface="Tahoma"/>
                <a:cs typeface="Tahoma"/>
              </a:rPr>
              <a:t>pas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55" dirty="0">
                <a:latin typeface="Tahoma"/>
                <a:cs typeface="Tahoma"/>
              </a:rPr>
              <a:t>ailleurs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95" dirty="0">
                <a:latin typeface="Tahoma"/>
                <a:cs typeface="Tahoma"/>
              </a:rPr>
              <a:t>dans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le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95" dirty="0">
                <a:latin typeface="Tahoma"/>
                <a:cs typeface="Tahoma"/>
              </a:rPr>
              <a:t>programme </a:t>
            </a:r>
            <a:r>
              <a:rPr sz="2350" spc="-715" dirty="0">
                <a:latin typeface="Tahoma"/>
                <a:cs typeface="Tahoma"/>
              </a:rPr>
              <a:t> </a:t>
            </a:r>
            <a:r>
              <a:rPr sz="2350" spc="-100" dirty="0">
                <a:latin typeface="Tahoma"/>
                <a:cs typeface="Tahoma"/>
              </a:rPr>
              <a:t>(ressemble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70" dirty="0">
                <a:latin typeface="Tahoma"/>
                <a:cs typeface="Tahoma"/>
              </a:rPr>
              <a:t>donc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à</a:t>
            </a:r>
            <a:r>
              <a:rPr sz="2350" spc="70" dirty="0">
                <a:latin typeface="Tahoma"/>
                <a:cs typeface="Tahoma"/>
              </a:rPr>
              <a:t> </a:t>
            </a:r>
            <a:r>
              <a:rPr sz="2350" spc="55" dirty="0">
                <a:latin typeface="SimSun"/>
                <a:cs typeface="SimSun"/>
              </a:rPr>
              <a:t>private</a:t>
            </a:r>
            <a:r>
              <a:rPr sz="2350" spc="55" dirty="0">
                <a:latin typeface="Tahoma"/>
                <a:cs typeface="Tahoma"/>
              </a:rPr>
              <a:t>),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70" dirty="0">
                <a:latin typeface="Tahoma"/>
                <a:cs typeface="Tahoma"/>
              </a:rPr>
              <a:t>mais</a:t>
            </a:r>
            <a:endParaRPr sz="2350">
              <a:latin typeface="Tahoma"/>
              <a:cs typeface="Tahoma"/>
            </a:endParaRPr>
          </a:p>
          <a:p>
            <a:pPr marL="1739900">
              <a:lnSpc>
                <a:spcPct val="100000"/>
              </a:lnSpc>
              <a:spcBef>
                <a:spcPts val="20"/>
              </a:spcBef>
            </a:pPr>
            <a:r>
              <a:rPr sz="2350" u="sng" spc="3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il</a:t>
            </a:r>
            <a:r>
              <a:rPr sz="2350" u="sng" spc="5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350" u="sng" spc="-4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peut</a:t>
            </a:r>
            <a:r>
              <a:rPr sz="2350" u="sng" spc="6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350" u="sng" spc="-13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en</a:t>
            </a:r>
            <a:r>
              <a:rPr sz="2350" u="sng" spc="6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350" u="sng" spc="-6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plus</a:t>
            </a:r>
            <a:r>
              <a:rPr sz="2350" u="sng" spc="6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350" u="sng" spc="-8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être</a:t>
            </a:r>
            <a:r>
              <a:rPr sz="2350" u="sng" spc="6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350" u="sng" spc="-3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utilisé</a:t>
            </a:r>
            <a:r>
              <a:rPr sz="2350" u="sng" spc="5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350" u="sng" spc="-8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par</a:t>
            </a:r>
            <a:r>
              <a:rPr sz="2350" u="sng" spc="6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350" u="sng" spc="-114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une</a:t>
            </a:r>
            <a:r>
              <a:rPr sz="2350" u="sng" spc="6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350" u="sng" spc="-9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classe</a:t>
            </a:r>
            <a:r>
              <a:rPr sz="2350" u="sng" spc="6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350" u="sng" spc="204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B</a:t>
            </a:r>
            <a:r>
              <a:rPr sz="2350" u="sng" spc="6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350" u="sng" spc="-4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qui</a:t>
            </a:r>
            <a:r>
              <a:rPr sz="2350" u="sng" spc="6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350" u="sng" spc="-6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hérite</a:t>
            </a:r>
            <a:r>
              <a:rPr sz="2350" u="sng" spc="5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350" u="sng" spc="-12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de</a:t>
            </a:r>
            <a:r>
              <a:rPr sz="2350" u="sng" spc="6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350" u="sng" spc="6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sz="2350" spc="65" dirty="0">
                <a:latin typeface="Tahoma"/>
                <a:cs typeface="Tahoma"/>
              </a:rPr>
              <a:t>.</a:t>
            </a:r>
            <a:endParaRPr sz="235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6620" y="2682593"/>
            <a:ext cx="142843" cy="142843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303330" y="7322021"/>
            <a:ext cx="10085705" cy="240029"/>
            <a:chOff x="303330" y="7322021"/>
            <a:chExt cx="10085705" cy="240029"/>
          </a:xfrm>
        </p:grpSpPr>
        <p:sp>
          <p:nvSpPr>
            <p:cNvPr id="14" name="object 14"/>
            <p:cNvSpPr/>
            <p:nvPr/>
          </p:nvSpPr>
          <p:spPr>
            <a:xfrm>
              <a:off x="303330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65059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26788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60" dirty="0"/>
              <a:t>tv </a:t>
            </a:r>
            <a:r>
              <a:rPr spc="140" dirty="0"/>
              <a:t> </a:t>
            </a:r>
            <a:r>
              <a:rPr spc="55" dirty="0"/>
              <a:t>(BTS</a:t>
            </a:r>
            <a:r>
              <a:rPr spc="100" dirty="0"/>
              <a:t> </a:t>
            </a:r>
            <a:r>
              <a:rPr spc="-25" dirty="0"/>
              <a:t>IRIS</a:t>
            </a:r>
            <a:r>
              <a:rPr spc="105" dirty="0"/>
              <a:t> </a:t>
            </a:r>
            <a:r>
              <a:rPr spc="5" dirty="0"/>
              <a:t>Avignon)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-40" dirty="0"/>
              <a:t>Cours</a:t>
            </a:r>
            <a:r>
              <a:rPr spc="60" dirty="0"/>
              <a:t> </a:t>
            </a:r>
            <a:r>
              <a:rPr spc="170" dirty="0"/>
              <a:t>C/C++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481423" y="7283716"/>
            <a:ext cx="1800860" cy="27051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300" spc="40" dirty="0">
                <a:solidFill>
                  <a:srgbClr val="FFFFFF"/>
                </a:solidFill>
                <a:latin typeface="SimSun"/>
                <a:cs typeface="SimSun"/>
                <a:hlinkClick r:id="rId6"/>
              </a:rPr>
              <a:t>tvaira@free.fr</a:t>
            </a:r>
            <a:r>
              <a:rPr sz="1300" spc="-190" dirty="0">
                <a:solidFill>
                  <a:srgbClr val="FFFFFF"/>
                </a:solidFill>
                <a:latin typeface="SimSun"/>
                <a:cs typeface="SimSun"/>
                <a:hlinkClick r:id="rId6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©</a:t>
            </a:r>
            <a:r>
              <a:rPr sz="130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v0.1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9"/>
              </a:spcBef>
            </a:pPr>
            <a:fld id="{81D60167-4931-47E6-BA6A-407CBD079E47}" type="slidenum">
              <a:rPr spc="-30" dirty="0"/>
              <a:t>6</a:t>
            </a:fld>
            <a:r>
              <a:rPr spc="80" dirty="0"/>
              <a:t> </a:t>
            </a:r>
            <a:r>
              <a:rPr spc="330" dirty="0"/>
              <a:t>/</a:t>
            </a:r>
            <a:r>
              <a:rPr spc="85" dirty="0"/>
              <a:t> </a:t>
            </a:r>
            <a:r>
              <a:rPr spc="-30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3330" y="0"/>
            <a:ext cx="5043170" cy="203200"/>
          </a:xfrm>
          <a:custGeom>
            <a:avLst/>
            <a:gdLst/>
            <a:ahLst/>
            <a:cxnLst/>
            <a:rect l="l" t="t" r="r" b="b"/>
            <a:pathLst>
              <a:path w="5043170" h="203200">
                <a:moveTo>
                  <a:pt x="0" y="203077"/>
                </a:moveTo>
                <a:lnTo>
                  <a:pt x="5042663" y="203077"/>
                </a:lnTo>
                <a:lnTo>
                  <a:pt x="5042663" y="0"/>
                </a:lnTo>
                <a:lnTo>
                  <a:pt x="0" y="0"/>
                </a:lnTo>
                <a:lnTo>
                  <a:pt x="0" y="203077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453189" y="0"/>
            <a:ext cx="758190" cy="224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L’héritage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3330" y="0"/>
            <a:ext cx="10085705" cy="812800"/>
            <a:chOff x="303330" y="0"/>
            <a:chExt cx="10085705" cy="812800"/>
          </a:xfrm>
        </p:grpSpPr>
        <p:sp>
          <p:nvSpPr>
            <p:cNvPr id="5" name="object 5"/>
            <p:cNvSpPr/>
            <p:nvPr/>
          </p:nvSpPr>
          <p:spPr>
            <a:xfrm>
              <a:off x="5345993" y="0"/>
              <a:ext cx="5043170" cy="203200"/>
            </a:xfrm>
            <a:custGeom>
              <a:avLst/>
              <a:gdLst/>
              <a:ahLst/>
              <a:cxnLst/>
              <a:rect l="l" t="t" r="r" b="b"/>
              <a:pathLst>
                <a:path w="5043170" h="203200">
                  <a:moveTo>
                    <a:pt x="0" y="203077"/>
                  </a:moveTo>
                  <a:lnTo>
                    <a:pt x="5042663" y="203077"/>
                  </a:lnTo>
                  <a:lnTo>
                    <a:pt x="5042663" y="0"/>
                  </a:lnTo>
                  <a:lnTo>
                    <a:pt x="0" y="0"/>
                  </a:lnTo>
                  <a:lnTo>
                    <a:pt x="0" y="20307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330" y="201079"/>
              <a:ext cx="10085354" cy="1476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3330" y="311846"/>
              <a:ext cx="10085705" cy="498475"/>
            </a:xfrm>
            <a:custGeom>
              <a:avLst/>
              <a:gdLst/>
              <a:ahLst/>
              <a:cxnLst/>
              <a:rect l="l" t="t" r="r" b="b"/>
              <a:pathLst>
                <a:path w="10085705" h="498475">
                  <a:moveTo>
                    <a:pt x="0" y="498437"/>
                  </a:moveTo>
                  <a:lnTo>
                    <a:pt x="10085354" y="498437"/>
                  </a:lnTo>
                  <a:lnTo>
                    <a:pt x="10085354" y="0"/>
                  </a:lnTo>
                  <a:lnTo>
                    <a:pt x="0" y="0"/>
                  </a:lnTo>
                  <a:lnTo>
                    <a:pt x="0" y="49843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27007" y="249275"/>
            <a:ext cx="1609725" cy="5041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00" spc="-60" dirty="0">
                <a:solidFill>
                  <a:srgbClr val="FFFFFF"/>
                </a:solidFill>
              </a:rPr>
              <a:t>Définition</a:t>
            </a:r>
            <a:endParaRPr sz="310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3330" y="810284"/>
            <a:ext cx="10085354" cy="7385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6620" y="1365981"/>
            <a:ext cx="142843" cy="14284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98391" y="1198427"/>
            <a:ext cx="8792845" cy="15252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ts val="2970"/>
              </a:lnSpc>
              <a:spcBef>
                <a:spcPts val="110"/>
              </a:spcBef>
            </a:pPr>
            <a:r>
              <a:rPr sz="2350" spc="-5" dirty="0">
                <a:latin typeface="Tahoma"/>
                <a:cs typeface="Tahoma"/>
              </a:rPr>
              <a:t>L’</a:t>
            </a:r>
            <a:r>
              <a:rPr sz="2350" b="1" spc="-5" dirty="0">
                <a:solidFill>
                  <a:srgbClr val="7F0000"/>
                </a:solidFill>
                <a:latin typeface="Arial"/>
                <a:cs typeface="Arial"/>
              </a:rPr>
              <a:t>héritage</a:t>
            </a:r>
            <a:r>
              <a:rPr sz="2350" b="1" spc="140" dirty="0">
                <a:solidFill>
                  <a:srgbClr val="7F0000"/>
                </a:solidFill>
                <a:latin typeface="Arial"/>
                <a:cs typeface="Arial"/>
              </a:rPr>
              <a:t> </a:t>
            </a:r>
            <a:r>
              <a:rPr sz="2350" spc="-50" dirty="0">
                <a:latin typeface="Tahoma"/>
                <a:cs typeface="Tahoma"/>
              </a:rPr>
              <a:t>(ou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b="1" spc="-85" dirty="0">
                <a:latin typeface="Arial"/>
                <a:cs typeface="Arial"/>
              </a:rPr>
              <a:t>spécialisation</a:t>
            </a:r>
            <a:r>
              <a:rPr sz="2350" spc="-85" dirty="0">
                <a:latin typeface="Tahoma"/>
                <a:cs typeface="Tahoma"/>
              </a:rPr>
              <a:t>,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ou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b="1" spc="-45" dirty="0">
                <a:latin typeface="Arial"/>
                <a:cs typeface="Arial"/>
              </a:rPr>
              <a:t>dérivation</a:t>
            </a:r>
            <a:r>
              <a:rPr sz="2350" spc="-45" dirty="0">
                <a:latin typeface="Tahoma"/>
                <a:cs typeface="Tahoma"/>
              </a:rPr>
              <a:t>)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65" dirty="0">
                <a:latin typeface="Tahoma"/>
                <a:cs typeface="Tahoma"/>
              </a:rPr>
              <a:t>permet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0" dirty="0">
                <a:latin typeface="Tahoma"/>
                <a:cs typeface="Tahoma"/>
              </a:rPr>
              <a:t>d’</a:t>
            </a:r>
            <a:r>
              <a:rPr sz="2350" b="1" spc="-10" dirty="0">
                <a:solidFill>
                  <a:srgbClr val="000099"/>
                </a:solidFill>
                <a:latin typeface="Arial"/>
                <a:cs typeface="Arial"/>
              </a:rPr>
              <a:t>ajouter</a:t>
            </a:r>
            <a:r>
              <a:rPr sz="2350" b="1" spc="2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165" dirty="0">
                <a:solidFill>
                  <a:srgbClr val="000099"/>
                </a:solidFill>
                <a:latin typeface="Arial"/>
                <a:cs typeface="Arial"/>
              </a:rPr>
              <a:t>des </a:t>
            </a:r>
            <a:r>
              <a:rPr sz="2350" b="1" spc="-64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85" dirty="0">
                <a:solidFill>
                  <a:srgbClr val="000099"/>
                </a:solidFill>
                <a:latin typeface="Arial"/>
                <a:cs typeface="Arial"/>
              </a:rPr>
              <a:t>propriétés</a:t>
            </a:r>
            <a:r>
              <a:rPr sz="2350" b="1" spc="2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55" dirty="0">
                <a:solidFill>
                  <a:srgbClr val="000099"/>
                </a:solidFill>
                <a:latin typeface="Arial"/>
                <a:cs typeface="Arial"/>
              </a:rPr>
              <a:t>à</a:t>
            </a:r>
            <a:r>
              <a:rPr sz="2350" b="1" spc="2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95" dirty="0">
                <a:solidFill>
                  <a:srgbClr val="000099"/>
                </a:solidFill>
                <a:latin typeface="Arial"/>
                <a:cs typeface="Arial"/>
              </a:rPr>
              <a:t>une</a:t>
            </a:r>
            <a:r>
              <a:rPr sz="2350" b="1" spc="2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160" dirty="0">
                <a:solidFill>
                  <a:srgbClr val="000099"/>
                </a:solidFill>
                <a:latin typeface="Arial"/>
                <a:cs typeface="Arial"/>
              </a:rPr>
              <a:t>classe</a:t>
            </a:r>
            <a:r>
              <a:rPr sz="2350" b="1" spc="2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50" dirty="0">
                <a:solidFill>
                  <a:srgbClr val="000099"/>
                </a:solidFill>
                <a:latin typeface="Arial"/>
                <a:cs typeface="Arial"/>
              </a:rPr>
              <a:t>existante</a:t>
            </a:r>
            <a:r>
              <a:rPr sz="2350" b="1" spc="2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70" dirty="0">
                <a:solidFill>
                  <a:srgbClr val="000099"/>
                </a:solidFill>
                <a:latin typeface="Arial"/>
                <a:cs typeface="Arial"/>
              </a:rPr>
              <a:t>pour</a:t>
            </a:r>
            <a:r>
              <a:rPr sz="2350" b="1" spc="2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95" dirty="0">
                <a:solidFill>
                  <a:srgbClr val="000099"/>
                </a:solidFill>
                <a:latin typeface="Arial"/>
                <a:cs typeface="Arial"/>
              </a:rPr>
              <a:t>en</a:t>
            </a:r>
            <a:r>
              <a:rPr sz="2350" b="1" spc="2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45" dirty="0">
                <a:solidFill>
                  <a:srgbClr val="000099"/>
                </a:solidFill>
                <a:latin typeface="Arial"/>
                <a:cs typeface="Arial"/>
              </a:rPr>
              <a:t>obtenir</a:t>
            </a:r>
            <a:r>
              <a:rPr sz="2350" b="1" spc="2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95" dirty="0">
                <a:solidFill>
                  <a:srgbClr val="000099"/>
                </a:solidFill>
                <a:latin typeface="Arial"/>
                <a:cs typeface="Arial"/>
              </a:rPr>
              <a:t>une</a:t>
            </a:r>
            <a:r>
              <a:rPr sz="2350" b="1" spc="2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90" dirty="0">
                <a:solidFill>
                  <a:srgbClr val="000099"/>
                </a:solidFill>
                <a:latin typeface="Arial"/>
                <a:cs typeface="Arial"/>
              </a:rPr>
              <a:t>nouvelle </a:t>
            </a:r>
            <a:r>
              <a:rPr sz="2350" b="1" spc="-8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135" dirty="0">
                <a:solidFill>
                  <a:srgbClr val="000099"/>
                </a:solidFill>
                <a:latin typeface="Arial"/>
                <a:cs typeface="Arial"/>
              </a:rPr>
              <a:t>plus</a:t>
            </a:r>
            <a:r>
              <a:rPr sz="2350" b="1" spc="21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114" dirty="0">
                <a:solidFill>
                  <a:srgbClr val="000099"/>
                </a:solidFill>
                <a:latin typeface="Arial"/>
                <a:cs typeface="Arial"/>
              </a:rPr>
              <a:t>précise</a:t>
            </a:r>
            <a:r>
              <a:rPr sz="2350" spc="-114" dirty="0">
                <a:latin typeface="Tahoma"/>
                <a:cs typeface="Tahoma"/>
              </a:rPr>
              <a:t>.</a:t>
            </a:r>
            <a:endParaRPr sz="2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2350" spc="-20" dirty="0">
                <a:latin typeface="Tahoma"/>
                <a:cs typeface="Tahoma"/>
              </a:rPr>
              <a:t>L’idée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est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70" dirty="0">
                <a:latin typeface="Tahoma"/>
                <a:cs typeface="Tahoma"/>
              </a:rPr>
              <a:t>: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25" dirty="0">
                <a:latin typeface="Tahoma"/>
                <a:cs typeface="Tahoma"/>
              </a:rPr>
              <a:t>"un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204" dirty="0">
                <a:latin typeface="Tahoma"/>
                <a:cs typeface="Tahoma"/>
              </a:rPr>
              <a:t>B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b="1" spc="-70" dirty="0">
                <a:solidFill>
                  <a:srgbClr val="7F0000"/>
                </a:solidFill>
                <a:latin typeface="Arial"/>
                <a:cs typeface="Arial"/>
              </a:rPr>
              <a:t>est</a:t>
            </a:r>
            <a:r>
              <a:rPr sz="2350" b="1" spc="220" dirty="0">
                <a:solidFill>
                  <a:srgbClr val="7F0000"/>
                </a:solidFill>
                <a:latin typeface="Arial"/>
                <a:cs typeface="Arial"/>
              </a:rPr>
              <a:t> </a:t>
            </a:r>
            <a:r>
              <a:rPr sz="2350" b="1" spc="-100" dirty="0">
                <a:solidFill>
                  <a:srgbClr val="7F0000"/>
                </a:solidFill>
                <a:latin typeface="Arial"/>
                <a:cs typeface="Arial"/>
              </a:rPr>
              <a:t>un</a:t>
            </a:r>
            <a:r>
              <a:rPr sz="2350" b="1" spc="135" dirty="0">
                <a:solidFill>
                  <a:srgbClr val="7F0000"/>
                </a:solidFill>
                <a:latin typeface="Arial"/>
                <a:cs typeface="Arial"/>
              </a:rPr>
              <a:t> </a:t>
            </a:r>
            <a:r>
              <a:rPr sz="2350" spc="180" dirty="0">
                <a:latin typeface="Tahoma"/>
                <a:cs typeface="Tahoma"/>
              </a:rPr>
              <a:t>A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b="1" spc="-100" dirty="0">
                <a:latin typeface="Arial"/>
                <a:cs typeface="Arial"/>
              </a:rPr>
              <a:t>avec</a:t>
            </a:r>
            <a:r>
              <a:rPr sz="2350" b="1" spc="140" dirty="0">
                <a:latin typeface="Arial"/>
                <a:cs typeface="Arial"/>
              </a:rPr>
              <a:t> </a:t>
            </a:r>
            <a:r>
              <a:rPr sz="2350" u="sng" spc="-13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des</a:t>
            </a:r>
            <a:r>
              <a:rPr sz="2350" u="sng" spc="5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350" u="sng" spc="-10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choses</a:t>
            </a:r>
            <a:r>
              <a:rPr sz="2350" u="sng" spc="6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350" u="sng" spc="-13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en</a:t>
            </a:r>
            <a:r>
              <a:rPr sz="2350" u="sng" spc="5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350" u="sng" spc="-4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plus</a:t>
            </a:r>
            <a:r>
              <a:rPr sz="2350" spc="-40" dirty="0">
                <a:latin typeface="Tahoma"/>
                <a:cs typeface="Tahoma"/>
              </a:rPr>
              <a:t>".</a:t>
            </a:r>
            <a:endParaRPr sz="235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6620" y="2501642"/>
            <a:ext cx="142843" cy="14284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72546" y="3052797"/>
            <a:ext cx="4136515" cy="307906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91910" y="6442890"/>
            <a:ext cx="8476615" cy="766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ts val="2970"/>
              </a:lnSpc>
              <a:spcBef>
                <a:spcPts val="90"/>
              </a:spcBef>
            </a:pPr>
            <a:r>
              <a:rPr sz="2350" i="1" spc="-114" dirty="0">
                <a:latin typeface="Arial"/>
                <a:cs typeface="Arial"/>
              </a:rPr>
              <a:t>Exemple</a:t>
            </a:r>
            <a:r>
              <a:rPr sz="2350" i="1" spc="135" dirty="0">
                <a:latin typeface="Arial"/>
                <a:cs typeface="Arial"/>
              </a:rPr>
              <a:t> </a:t>
            </a:r>
            <a:r>
              <a:rPr sz="2350" i="1" spc="10" dirty="0">
                <a:latin typeface="Arial"/>
                <a:cs typeface="Arial"/>
              </a:rPr>
              <a:t>: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-70" dirty="0">
                <a:latin typeface="Arial"/>
                <a:cs typeface="Arial"/>
              </a:rPr>
              <a:t>Un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-20" dirty="0">
                <a:latin typeface="Arial"/>
                <a:cs typeface="Arial"/>
              </a:rPr>
              <a:t>étudiant</a:t>
            </a:r>
            <a:r>
              <a:rPr sz="2350" i="1" spc="130" dirty="0">
                <a:latin typeface="Arial"/>
                <a:cs typeface="Arial"/>
              </a:rPr>
              <a:t> </a:t>
            </a:r>
            <a:r>
              <a:rPr sz="2350" b="1" i="1" spc="-75" dirty="0">
                <a:solidFill>
                  <a:srgbClr val="7F0000"/>
                </a:solidFill>
                <a:latin typeface="Trebuchet MS"/>
                <a:cs typeface="Trebuchet MS"/>
              </a:rPr>
              <a:t>est</a:t>
            </a:r>
            <a:r>
              <a:rPr sz="2350" b="1" i="1" spc="85" dirty="0">
                <a:solidFill>
                  <a:srgbClr val="7F0000"/>
                </a:solidFill>
                <a:latin typeface="Trebuchet MS"/>
                <a:cs typeface="Trebuchet MS"/>
              </a:rPr>
              <a:t> </a:t>
            </a:r>
            <a:r>
              <a:rPr sz="2350" i="1" spc="-135" dirty="0">
                <a:latin typeface="Arial"/>
                <a:cs typeface="Arial"/>
              </a:rPr>
              <a:t>une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-110" dirty="0">
                <a:latin typeface="Arial"/>
                <a:cs typeface="Arial"/>
              </a:rPr>
              <a:t>personne,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-20" dirty="0">
                <a:latin typeface="Arial"/>
                <a:cs typeface="Arial"/>
              </a:rPr>
              <a:t>et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-160" dirty="0">
                <a:latin typeface="Arial"/>
                <a:cs typeface="Arial"/>
              </a:rPr>
              <a:t>a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-100" dirty="0">
                <a:latin typeface="Arial"/>
                <a:cs typeface="Arial"/>
              </a:rPr>
              <a:t>donc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-75" dirty="0">
                <a:latin typeface="Arial"/>
                <a:cs typeface="Arial"/>
              </a:rPr>
              <a:t>un</a:t>
            </a:r>
            <a:r>
              <a:rPr sz="2350" i="1" spc="135" dirty="0">
                <a:latin typeface="Arial"/>
                <a:cs typeface="Arial"/>
              </a:rPr>
              <a:t> </a:t>
            </a:r>
            <a:r>
              <a:rPr sz="2350" i="1" spc="-90" dirty="0">
                <a:latin typeface="Arial"/>
                <a:cs typeface="Arial"/>
              </a:rPr>
              <a:t>nom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30" dirty="0">
                <a:latin typeface="Arial"/>
                <a:cs typeface="Arial"/>
              </a:rPr>
              <a:t>(et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-80" dirty="0">
                <a:latin typeface="Arial"/>
                <a:cs typeface="Arial"/>
              </a:rPr>
              <a:t>un </a:t>
            </a:r>
            <a:r>
              <a:rPr sz="2350" i="1" spc="-635" dirty="0">
                <a:latin typeface="Arial"/>
                <a:cs typeface="Arial"/>
              </a:rPr>
              <a:t> </a:t>
            </a:r>
            <a:r>
              <a:rPr sz="2350" i="1" spc="-90" dirty="0">
                <a:latin typeface="Arial"/>
                <a:cs typeface="Arial"/>
              </a:rPr>
              <a:t>prénom,</a:t>
            </a:r>
            <a:r>
              <a:rPr sz="2350" i="1" spc="135" dirty="0">
                <a:latin typeface="Arial"/>
                <a:cs typeface="Arial"/>
              </a:rPr>
              <a:t> </a:t>
            </a:r>
            <a:r>
              <a:rPr sz="2350" i="1" spc="30" dirty="0">
                <a:latin typeface="Arial"/>
                <a:cs typeface="Arial"/>
              </a:rPr>
              <a:t>...).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-110" dirty="0">
                <a:latin typeface="Arial"/>
                <a:cs typeface="Arial"/>
              </a:rPr>
              <a:t>De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-75" dirty="0">
                <a:latin typeface="Arial"/>
                <a:cs typeface="Arial"/>
              </a:rPr>
              <a:t>plus,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45" dirty="0">
                <a:latin typeface="Arial"/>
                <a:cs typeface="Arial"/>
              </a:rPr>
              <a:t>il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-160" dirty="0">
                <a:latin typeface="Arial"/>
                <a:cs typeface="Arial"/>
              </a:rPr>
              <a:t>a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u="sng" spc="-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un</a:t>
            </a:r>
            <a:r>
              <a:rPr sz="2350" i="1" u="sng" spc="1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350" i="1" u="sng" spc="-9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numéro</a:t>
            </a:r>
            <a:r>
              <a:rPr sz="2350" i="1" u="sng" spc="1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350" i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INE</a:t>
            </a:r>
            <a:r>
              <a:rPr sz="2350" i="1" spc="-35" dirty="0">
                <a:latin typeface="Arial"/>
                <a:cs typeface="Arial"/>
              </a:rPr>
              <a:t>.</a:t>
            </a:r>
            <a:endParaRPr sz="23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03330" y="7322021"/>
            <a:ext cx="10085705" cy="240029"/>
            <a:chOff x="303330" y="7322021"/>
            <a:chExt cx="10085705" cy="240029"/>
          </a:xfrm>
        </p:grpSpPr>
        <p:sp>
          <p:nvSpPr>
            <p:cNvPr id="16" name="object 16"/>
            <p:cNvSpPr/>
            <p:nvPr/>
          </p:nvSpPr>
          <p:spPr>
            <a:xfrm>
              <a:off x="303330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65059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26788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60" dirty="0"/>
              <a:t>tv </a:t>
            </a:r>
            <a:r>
              <a:rPr spc="140" dirty="0"/>
              <a:t> </a:t>
            </a:r>
            <a:r>
              <a:rPr spc="55" dirty="0"/>
              <a:t>(BTS</a:t>
            </a:r>
            <a:r>
              <a:rPr spc="100" dirty="0"/>
              <a:t> </a:t>
            </a:r>
            <a:r>
              <a:rPr spc="-25" dirty="0"/>
              <a:t>IRIS</a:t>
            </a:r>
            <a:r>
              <a:rPr spc="105" dirty="0"/>
              <a:t> </a:t>
            </a:r>
            <a:r>
              <a:rPr spc="5" dirty="0"/>
              <a:t>Avignon)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-40" dirty="0"/>
              <a:t>Cours</a:t>
            </a:r>
            <a:r>
              <a:rPr spc="60" dirty="0"/>
              <a:t> </a:t>
            </a:r>
            <a:r>
              <a:rPr spc="170" dirty="0"/>
              <a:t>C/C++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481423" y="7283716"/>
            <a:ext cx="1800860" cy="27051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300" spc="40" dirty="0">
                <a:solidFill>
                  <a:srgbClr val="FFFFFF"/>
                </a:solidFill>
                <a:latin typeface="SimSun"/>
                <a:cs typeface="SimSun"/>
                <a:hlinkClick r:id="rId7"/>
              </a:rPr>
              <a:t>tvaira@free.fr</a:t>
            </a:r>
            <a:r>
              <a:rPr sz="1300" spc="-190" dirty="0">
                <a:solidFill>
                  <a:srgbClr val="FFFFFF"/>
                </a:solidFill>
                <a:latin typeface="SimSun"/>
                <a:cs typeface="SimSun"/>
                <a:hlinkClick r:id="rId7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©</a:t>
            </a:r>
            <a:r>
              <a:rPr sz="130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v0.1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9"/>
              </a:spcBef>
            </a:pPr>
            <a:fld id="{81D60167-4931-47E6-BA6A-407CBD079E47}" type="slidenum">
              <a:rPr spc="-30" dirty="0"/>
              <a:t>7</a:t>
            </a:fld>
            <a:r>
              <a:rPr spc="80" dirty="0"/>
              <a:t> </a:t>
            </a:r>
            <a:r>
              <a:rPr spc="330" dirty="0"/>
              <a:t>/</a:t>
            </a:r>
            <a:r>
              <a:rPr spc="85" dirty="0"/>
              <a:t> </a:t>
            </a:r>
            <a:r>
              <a:rPr spc="-30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53189" y="0"/>
            <a:ext cx="758190" cy="224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L’héritage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45993" y="0"/>
            <a:ext cx="5043170" cy="240029"/>
          </a:xfrm>
          <a:custGeom>
            <a:avLst/>
            <a:gdLst/>
            <a:ahLst/>
            <a:cxnLst/>
            <a:rect l="l" t="t" r="r" b="b"/>
            <a:pathLst>
              <a:path w="5043170" h="240029">
                <a:moveTo>
                  <a:pt x="5042663" y="0"/>
                </a:moveTo>
                <a:lnTo>
                  <a:pt x="0" y="0"/>
                </a:lnTo>
                <a:lnTo>
                  <a:pt x="0" y="239990"/>
                </a:lnTo>
                <a:lnTo>
                  <a:pt x="5042663" y="239990"/>
                </a:lnTo>
                <a:lnTo>
                  <a:pt x="5042663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93425" y="661741"/>
            <a:ext cx="9816465" cy="5955030"/>
            <a:chOff x="493425" y="661741"/>
            <a:chExt cx="9816465" cy="5955030"/>
          </a:xfrm>
        </p:grpSpPr>
        <p:sp>
          <p:nvSpPr>
            <p:cNvPr id="5" name="object 5"/>
            <p:cNvSpPr/>
            <p:nvPr/>
          </p:nvSpPr>
          <p:spPr>
            <a:xfrm>
              <a:off x="493425" y="661741"/>
              <a:ext cx="9705340" cy="180340"/>
            </a:xfrm>
            <a:custGeom>
              <a:avLst/>
              <a:gdLst/>
              <a:ahLst/>
              <a:cxnLst/>
              <a:rect l="l" t="t" r="r" b="b"/>
              <a:pathLst>
                <a:path w="9705340" h="180340">
                  <a:moveTo>
                    <a:pt x="9594072" y="0"/>
                  </a:moveTo>
                  <a:lnTo>
                    <a:pt x="111185" y="0"/>
                  </a:lnTo>
                  <a:lnTo>
                    <a:pt x="68014" y="8773"/>
                  </a:lnTo>
                  <a:lnTo>
                    <a:pt x="32660" y="32660"/>
                  </a:lnTo>
                  <a:lnTo>
                    <a:pt x="8773" y="68013"/>
                  </a:lnTo>
                  <a:lnTo>
                    <a:pt x="0" y="111184"/>
                  </a:lnTo>
                  <a:lnTo>
                    <a:pt x="0" y="180312"/>
                  </a:lnTo>
                  <a:lnTo>
                    <a:pt x="9705258" y="180312"/>
                  </a:lnTo>
                  <a:lnTo>
                    <a:pt x="9705258" y="111184"/>
                  </a:lnTo>
                  <a:lnTo>
                    <a:pt x="9696484" y="68013"/>
                  </a:lnTo>
                  <a:lnTo>
                    <a:pt x="9672596" y="32660"/>
                  </a:lnTo>
                  <a:lnTo>
                    <a:pt x="9637243" y="8773"/>
                  </a:lnTo>
                  <a:lnTo>
                    <a:pt x="9594072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4610" y="6394219"/>
              <a:ext cx="222367" cy="22236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5796" y="6366423"/>
              <a:ext cx="9593949" cy="25016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98683" y="772398"/>
              <a:ext cx="111061" cy="562182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93425" y="758900"/>
              <a:ext cx="9705340" cy="5746750"/>
            </a:xfrm>
            <a:custGeom>
              <a:avLst/>
              <a:gdLst/>
              <a:ahLst/>
              <a:cxnLst/>
              <a:rect l="l" t="t" r="r" b="b"/>
              <a:pathLst>
                <a:path w="9705340" h="5746750">
                  <a:moveTo>
                    <a:pt x="9705258" y="0"/>
                  </a:moveTo>
                  <a:lnTo>
                    <a:pt x="0" y="0"/>
                  </a:lnTo>
                  <a:lnTo>
                    <a:pt x="0" y="5635318"/>
                  </a:lnTo>
                  <a:lnTo>
                    <a:pt x="8773" y="5678488"/>
                  </a:lnTo>
                  <a:lnTo>
                    <a:pt x="32660" y="5713842"/>
                  </a:lnTo>
                  <a:lnTo>
                    <a:pt x="68014" y="5737729"/>
                  </a:lnTo>
                  <a:lnTo>
                    <a:pt x="111185" y="5746502"/>
                  </a:lnTo>
                  <a:lnTo>
                    <a:pt x="9594072" y="5746502"/>
                  </a:lnTo>
                  <a:lnTo>
                    <a:pt x="9637243" y="5737729"/>
                  </a:lnTo>
                  <a:lnTo>
                    <a:pt x="9672596" y="5713842"/>
                  </a:lnTo>
                  <a:lnTo>
                    <a:pt x="9696484" y="5678488"/>
                  </a:lnTo>
                  <a:lnTo>
                    <a:pt x="9705258" y="5635318"/>
                  </a:lnTo>
                  <a:lnTo>
                    <a:pt x="9705258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198683" y="855721"/>
              <a:ext cx="0" cy="5580380"/>
            </a:xfrm>
            <a:custGeom>
              <a:avLst/>
              <a:gdLst/>
              <a:ahLst/>
              <a:cxnLst/>
              <a:rect l="l" t="t" r="r" b="b"/>
              <a:pathLst>
                <a:path h="5580380">
                  <a:moveTo>
                    <a:pt x="0" y="558019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98683" y="827925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40">
                  <a:moveTo>
                    <a:pt x="0" y="277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198683" y="800129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40">
                  <a:moveTo>
                    <a:pt x="0" y="277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198683" y="772333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40">
                  <a:moveTo>
                    <a:pt x="0" y="277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91910" y="930418"/>
            <a:ext cx="9244330" cy="5290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085"/>
              </a:lnSpc>
              <a:spcBef>
                <a:spcPts val="95"/>
              </a:spcBef>
            </a:pPr>
            <a:r>
              <a:rPr sz="1750" b="1" spc="229" dirty="0">
                <a:solidFill>
                  <a:srgbClr val="595959"/>
                </a:solidFill>
                <a:latin typeface="Trebuchet MS"/>
                <a:cs typeface="Trebuchet MS"/>
              </a:rPr>
              <a:t>//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35" dirty="0">
                <a:solidFill>
                  <a:srgbClr val="595959"/>
                </a:solidFill>
                <a:latin typeface="Trebuchet MS"/>
                <a:cs typeface="Trebuchet MS"/>
              </a:rPr>
              <a:t>Personne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95" dirty="0">
                <a:solidFill>
                  <a:srgbClr val="595959"/>
                </a:solidFill>
                <a:latin typeface="Trebuchet MS"/>
                <a:cs typeface="Trebuchet MS"/>
              </a:rPr>
              <a:t>est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90" dirty="0">
                <a:solidFill>
                  <a:srgbClr val="595959"/>
                </a:solidFill>
                <a:latin typeface="Trebuchet MS"/>
                <a:cs typeface="Trebuchet MS"/>
              </a:rPr>
              <a:t>la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05" dirty="0">
                <a:solidFill>
                  <a:srgbClr val="595959"/>
                </a:solidFill>
                <a:latin typeface="Trebuchet MS"/>
                <a:cs typeface="Trebuchet MS"/>
              </a:rPr>
              <a:t>classe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5" dirty="0">
                <a:solidFill>
                  <a:srgbClr val="595959"/>
                </a:solidFill>
                <a:latin typeface="Trebuchet MS"/>
                <a:cs typeface="Trebuchet MS"/>
              </a:rPr>
              <a:t>parente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00" dirty="0">
                <a:solidFill>
                  <a:srgbClr val="595959"/>
                </a:solidFill>
                <a:latin typeface="Trebuchet MS"/>
                <a:cs typeface="Trebuchet MS"/>
              </a:rPr>
              <a:t>ou</a:t>
            </a:r>
            <a:r>
              <a:rPr sz="1750" b="1" spc="-3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50" dirty="0">
                <a:solidFill>
                  <a:srgbClr val="595959"/>
                </a:solidFill>
                <a:latin typeface="Trebuchet MS"/>
                <a:cs typeface="Trebuchet MS"/>
              </a:rPr>
              <a:t>mère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00" dirty="0">
                <a:solidFill>
                  <a:srgbClr val="595959"/>
                </a:solidFill>
                <a:latin typeface="Trebuchet MS"/>
                <a:cs typeface="Trebuchet MS"/>
              </a:rPr>
              <a:t>de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50" dirty="0">
                <a:solidFill>
                  <a:srgbClr val="595959"/>
                </a:solidFill>
                <a:latin typeface="Trebuchet MS"/>
                <a:cs typeface="Trebuchet MS"/>
              </a:rPr>
              <a:t>Etudiant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20" dirty="0">
                <a:solidFill>
                  <a:srgbClr val="595959"/>
                </a:solidFill>
                <a:latin typeface="Trebuchet MS"/>
                <a:cs typeface="Trebuchet MS"/>
              </a:rPr>
              <a:t>(en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20" dirty="0">
                <a:solidFill>
                  <a:srgbClr val="595959"/>
                </a:solidFill>
                <a:latin typeface="Trebuchet MS"/>
                <a:cs typeface="Trebuchet MS"/>
              </a:rPr>
              <a:t>anglais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90" dirty="0">
                <a:solidFill>
                  <a:srgbClr val="595959"/>
                </a:solidFill>
                <a:latin typeface="Trebuchet MS"/>
                <a:cs typeface="Trebuchet MS"/>
              </a:rPr>
              <a:t>superclass)</a:t>
            </a:r>
            <a:endParaRPr sz="1750">
              <a:latin typeface="Trebuchet MS"/>
              <a:cs typeface="Trebuchet MS"/>
            </a:endParaRPr>
          </a:p>
          <a:p>
            <a:pPr marL="330200" marR="6560184" indent="-318135">
              <a:lnSpc>
                <a:spcPts val="2070"/>
              </a:lnSpc>
              <a:spcBef>
                <a:spcPts val="80"/>
              </a:spcBef>
            </a:pP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class </a:t>
            </a:r>
            <a:r>
              <a:rPr sz="1750" spc="50" dirty="0">
                <a:latin typeface="SimSun"/>
                <a:cs typeface="SimSun"/>
              </a:rPr>
              <a:t>Personne { </a:t>
            </a:r>
            <a:r>
              <a:rPr sz="1750" spc="55" dirty="0">
                <a:latin typeface="SimSun"/>
                <a:cs typeface="SimSun"/>
              </a:rPr>
              <a:t> </a:t>
            </a: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private</a:t>
            </a:r>
            <a:r>
              <a:rPr sz="1750" spc="50" dirty="0">
                <a:latin typeface="SimSun"/>
                <a:cs typeface="SimSun"/>
              </a:rPr>
              <a:t>:</a:t>
            </a:r>
            <a:r>
              <a:rPr sz="1750" spc="20" dirty="0">
                <a:latin typeface="SimSun"/>
                <a:cs typeface="SimSun"/>
              </a:rPr>
              <a:t> </a:t>
            </a:r>
            <a:r>
              <a:rPr sz="1750" b="1" spc="140" dirty="0">
                <a:solidFill>
                  <a:srgbClr val="0056AD"/>
                </a:solidFill>
                <a:latin typeface="Trebuchet MS"/>
                <a:cs typeface="Trebuchet MS"/>
              </a:rPr>
              <a:t>string</a:t>
            </a:r>
            <a:r>
              <a:rPr sz="1750" b="1" spc="365" dirty="0">
                <a:solidFill>
                  <a:srgbClr val="0056AD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nom;</a:t>
            </a:r>
            <a:endParaRPr sz="1750">
              <a:latin typeface="SimSun"/>
              <a:cs typeface="SimSun"/>
            </a:endParaRPr>
          </a:p>
          <a:p>
            <a:pPr marL="330200">
              <a:lnSpc>
                <a:spcPts val="1995"/>
              </a:lnSpc>
            </a:pP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public</a:t>
            </a:r>
            <a:r>
              <a:rPr sz="1750" spc="50" dirty="0">
                <a:latin typeface="SimSun"/>
                <a:cs typeface="SimSun"/>
              </a:rPr>
              <a:t>:</a:t>
            </a:r>
            <a:r>
              <a:rPr sz="1750" spc="140" dirty="0">
                <a:latin typeface="SimSun"/>
                <a:cs typeface="SimSun"/>
              </a:rPr>
              <a:t> </a:t>
            </a:r>
            <a:r>
              <a:rPr sz="1750" b="1" spc="140" dirty="0">
                <a:solidFill>
                  <a:srgbClr val="0056AD"/>
                </a:solidFill>
                <a:latin typeface="Trebuchet MS"/>
                <a:cs typeface="Trebuchet MS"/>
              </a:rPr>
              <a:t>string</a:t>
            </a:r>
            <a:r>
              <a:rPr sz="1750" b="1" spc="395" dirty="0">
                <a:solidFill>
                  <a:srgbClr val="0056AD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getNom() </a:t>
            </a:r>
            <a:r>
              <a:rPr sz="1750" b="1" spc="40" dirty="0">
                <a:solidFill>
                  <a:srgbClr val="0056AD"/>
                </a:solidFill>
                <a:latin typeface="Trebuchet MS"/>
                <a:cs typeface="Trebuchet MS"/>
              </a:rPr>
              <a:t>const</a:t>
            </a:r>
            <a:r>
              <a:rPr sz="1750" b="1" spc="395" dirty="0">
                <a:solidFill>
                  <a:srgbClr val="0056AD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{ </a:t>
            </a:r>
            <a:r>
              <a:rPr sz="1750" b="1" spc="35" dirty="0">
                <a:latin typeface="Trebuchet MS"/>
                <a:cs typeface="Trebuchet MS"/>
              </a:rPr>
              <a:t>return</a:t>
            </a:r>
            <a:r>
              <a:rPr sz="1750" b="1" spc="395" dirty="0"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nom; }</a:t>
            </a:r>
            <a:endParaRPr sz="1750">
              <a:latin typeface="SimSun"/>
              <a:cs typeface="SimSun"/>
            </a:endParaRPr>
          </a:p>
          <a:p>
            <a:pPr marL="12700">
              <a:lnSpc>
                <a:spcPts val="2085"/>
              </a:lnSpc>
            </a:pPr>
            <a:r>
              <a:rPr sz="1750" spc="50" dirty="0">
                <a:latin typeface="SimSun"/>
                <a:cs typeface="SimSun"/>
              </a:rPr>
              <a:t>};</a:t>
            </a:r>
            <a:endParaRPr sz="17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50">
              <a:latin typeface="SimSun"/>
              <a:cs typeface="SimSun"/>
            </a:endParaRPr>
          </a:p>
          <a:p>
            <a:pPr marL="566420" marR="500380" indent="-554355">
              <a:lnSpc>
                <a:spcPts val="2070"/>
              </a:lnSpc>
            </a:pPr>
            <a:r>
              <a:rPr sz="1750" b="1" spc="229" dirty="0">
                <a:solidFill>
                  <a:srgbClr val="595959"/>
                </a:solidFill>
                <a:latin typeface="Trebuchet MS"/>
                <a:cs typeface="Trebuchet MS"/>
              </a:rPr>
              <a:t>//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50" dirty="0">
                <a:solidFill>
                  <a:srgbClr val="595959"/>
                </a:solidFill>
                <a:latin typeface="Trebuchet MS"/>
                <a:cs typeface="Trebuchet MS"/>
              </a:rPr>
              <a:t>Etudiant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95" dirty="0">
                <a:solidFill>
                  <a:srgbClr val="595959"/>
                </a:solidFill>
                <a:latin typeface="Trebuchet MS"/>
                <a:cs typeface="Trebuchet MS"/>
              </a:rPr>
              <a:t>est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90" dirty="0">
                <a:solidFill>
                  <a:srgbClr val="595959"/>
                </a:solidFill>
                <a:latin typeface="Trebuchet MS"/>
                <a:cs typeface="Trebuchet MS"/>
              </a:rPr>
              <a:t>la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05" dirty="0">
                <a:solidFill>
                  <a:srgbClr val="595959"/>
                </a:solidFill>
                <a:latin typeface="Trebuchet MS"/>
                <a:cs typeface="Trebuchet MS"/>
              </a:rPr>
              <a:t>classe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270" dirty="0">
                <a:solidFill>
                  <a:srgbClr val="595959"/>
                </a:solidFill>
                <a:latin typeface="Trebuchet MS"/>
                <a:cs typeface="Trebuchet MS"/>
              </a:rPr>
              <a:t>fille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00" dirty="0">
                <a:solidFill>
                  <a:srgbClr val="595959"/>
                </a:solidFill>
                <a:latin typeface="Trebuchet MS"/>
                <a:cs typeface="Trebuchet MS"/>
              </a:rPr>
              <a:t>ou</a:t>
            </a:r>
            <a:r>
              <a:rPr sz="1750" b="1" spc="-3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25" dirty="0">
                <a:solidFill>
                  <a:srgbClr val="595959"/>
                </a:solidFill>
                <a:latin typeface="Trebuchet MS"/>
                <a:cs typeface="Trebuchet MS"/>
              </a:rPr>
              <a:t>dérivée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00" dirty="0">
                <a:solidFill>
                  <a:srgbClr val="595959"/>
                </a:solidFill>
                <a:latin typeface="Trebuchet MS"/>
                <a:cs typeface="Trebuchet MS"/>
              </a:rPr>
              <a:t>de</a:t>
            </a:r>
            <a:r>
              <a:rPr sz="1750" b="1" spc="-35" dirty="0">
                <a:solidFill>
                  <a:srgbClr val="595959"/>
                </a:solidFill>
                <a:latin typeface="Trebuchet MS"/>
                <a:cs typeface="Trebuchet MS"/>
              </a:rPr>
              <a:t> Personne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270" dirty="0">
                <a:solidFill>
                  <a:srgbClr val="595959"/>
                </a:solidFill>
                <a:latin typeface="Trebuchet MS"/>
                <a:cs typeface="Trebuchet MS"/>
              </a:rPr>
              <a:t>: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50" dirty="0">
                <a:solidFill>
                  <a:srgbClr val="595959"/>
                </a:solidFill>
                <a:latin typeface="Trebuchet MS"/>
                <a:cs typeface="Trebuchet MS"/>
              </a:rPr>
              <a:t>Etudiant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80" dirty="0">
                <a:solidFill>
                  <a:srgbClr val="595959"/>
                </a:solidFill>
                <a:latin typeface="Trebuchet MS"/>
                <a:cs typeface="Trebuchet MS"/>
              </a:rPr>
              <a:t>hérite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00" dirty="0">
                <a:solidFill>
                  <a:srgbClr val="595959"/>
                </a:solidFill>
                <a:latin typeface="Trebuchet MS"/>
                <a:cs typeface="Trebuchet MS"/>
              </a:rPr>
              <a:t>ou </a:t>
            </a:r>
            <a:r>
              <a:rPr sz="1750" b="1" spc="-51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45" dirty="0">
                <a:solidFill>
                  <a:srgbClr val="595959"/>
                </a:solidFill>
                <a:latin typeface="Trebuchet MS"/>
                <a:cs typeface="Trebuchet MS"/>
              </a:rPr>
              <a:t>descend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00" dirty="0">
                <a:solidFill>
                  <a:srgbClr val="595959"/>
                </a:solidFill>
                <a:latin typeface="Trebuchet MS"/>
                <a:cs typeface="Trebuchet MS"/>
              </a:rPr>
              <a:t>de</a:t>
            </a:r>
            <a:r>
              <a:rPr sz="1750" b="1" spc="-4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35" dirty="0">
                <a:solidFill>
                  <a:srgbClr val="595959"/>
                </a:solidFill>
                <a:latin typeface="Trebuchet MS"/>
                <a:cs typeface="Trebuchet MS"/>
              </a:rPr>
              <a:t>Personne</a:t>
            </a:r>
            <a:endParaRPr sz="1750">
              <a:latin typeface="Trebuchet MS"/>
              <a:cs typeface="Trebuchet MS"/>
            </a:endParaRPr>
          </a:p>
          <a:p>
            <a:pPr marL="330200" marR="5222875" indent="-318135">
              <a:lnSpc>
                <a:spcPts val="2070"/>
              </a:lnSpc>
              <a:spcBef>
                <a:spcPts val="5"/>
              </a:spcBef>
            </a:pP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class</a:t>
            </a:r>
            <a:r>
              <a:rPr sz="1750" spc="35" dirty="0">
                <a:solidFill>
                  <a:srgbClr val="FF0000"/>
                </a:solidFill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Etudiant</a:t>
            </a:r>
            <a:r>
              <a:rPr sz="1750" spc="3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: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public</a:t>
            </a:r>
            <a:r>
              <a:rPr sz="1750" spc="35" dirty="0">
                <a:solidFill>
                  <a:srgbClr val="FF0000"/>
                </a:solidFill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Personne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{ </a:t>
            </a:r>
            <a:r>
              <a:rPr sz="1750" spc="-860" dirty="0">
                <a:latin typeface="SimSun"/>
                <a:cs typeface="SimSun"/>
              </a:rPr>
              <a:t> </a:t>
            </a: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private</a:t>
            </a:r>
            <a:r>
              <a:rPr sz="1750" spc="50" dirty="0">
                <a:latin typeface="SimSun"/>
                <a:cs typeface="SimSun"/>
              </a:rPr>
              <a:t>: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b="1" spc="140" dirty="0">
                <a:solidFill>
                  <a:srgbClr val="0056AD"/>
                </a:solidFill>
                <a:latin typeface="Trebuchet MS"/>
                <a:cs typeface="Trebuchet MS"/>
              </a:rPr>
              <a:t>string</a:t>
            </a:r>
            <a:r>
              <a:rPr sz="1750" b="1" spc="390" dirty="0">
                <a:solidFill>
                  <a:srgbClr val="0056AD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ine;</a:t>
            </a:r>
            <a:endParaRPr sz="1750">
              <a:latin typeface="SimSun"/>
              <a:cs typeface="SimSun"/>
            </a:endParaRPr>
          </a:p>
          <a:p>
            <a:pPr marL="330200">
              <a:lnSpc>
                <a:spcPts val="1995"/>
              </a:lnSpc>
            </a:pP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public</a:t>
            </a:r>
            <a:r>
              <a:rPr sz="1750" spc="50" dirty="0">
                <a:latin typeface="SimSun"/>
                <a:cs typeface="SimSun"/>
              </a:rPr>
              <a:t>:</a:t>
            </a:r>
            <a:r>
              <a:rPr sz="1750" spc="140" dirty="0">
                <a:latin typeface="SimSun"/>
                <a:cs typeface="SimSun"/>
              </a:rPr>
              <a:t> </a:t>
            </a:r>
            <a:r>
              <a:rPr sz="1750" b="1" spc="140" dirty="0">
                <a:solidFill>
                  <a:srgbClr val="0056AD"/>
                </a:solidFill>
                <a:latin typeface="Trebuchet MS"/>
                <a:cs typeface="Trebuchet MS"/>
              </a:rPr>
              <a:t>string</a:t>
            </a:r>
            <a:r>
              <a:rPr sz="1750" b="1" spc="395" dirty="0">
                <a:solidFill>
                  <a:srgbClr val="0056AD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getINE() </a:t>
            </a:r>
            <a:r>
              <a:rPr sz="1750" b="1" spc="40" dirty="0">
                <a:solidFill>
                  <a:srgbClr val="0056AD"/>
                </a:solidFill>
                <a:latin typeface="Trebuchet MS"/>
                <a:cs typeface="Trebuchet MS"/>
              </a:rPr>
              <a:t>const</a:t>
            </a:r>
            <a:r>
              <a:rPr sz="1750" b="1" spc="395" dirty="0">
                <a:solidFill>
                  <a:srgbClr val="0056AD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{ </a:t>
            </a:r>
            <a:r>
              <a:rPr sz="1750" b="1" spc="35" dirty="0">
                <a:latin typeface="Trebuchet MS"/>
                <a:cs typeface="Trebuchet MS"/>
              </a:rPr>
              <a:t>return</a:t>
            </a:r>
            <a:r>
              <a:rPr sz="1750" b="1" spc="395" dirty="0"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ine; }</a:t>
            </a:r>
            <a:endParaRPr sz="1750">
              <a:latin typeface="SimSun"/>
              <a:cs typeface="SimSun"/>
            </a:endParaRPr>
          </a:p>
          <a:p>
            <a:pPr marL="12700">
              <a:lnSpc>
                <a:spcPts val="2085"/>
              </a:lnSpc>
            </a:pPr>
            <a:r>
              <a:rPr sz="1750" spc="50" dirty="0">
                <a:latin typeface="SimSun"/>
                <a:cs typeface="SimSun"/>
              </a:rPr>
              <a:t>};</a:t>
            </a:r>
            <a:endParaRPr sz="1750">
              <a:latin typeface="SimSun"/>
              <a:cs typeface="SimSun"/>
            </a:endParaRPr>
          </a:p>
          <a:p>
            <a:pPr marL="12700" marR="2098040">
              <a:lnSpc>
                <a:spcPct val="197300"/>
              </a:lnSpc>
            </a:pPr>
            <a:r>
              <a:rPr sz="1750" spc="50" dirty="0">
                <a:latin typeface="SimSun"/>
                <a:cs typeface="SimSun"/>
              </a:rPr>
              <a:t>Personne unePersonne; Etudiant unEtudiant; </a:t>
            </a:r>
            <a:r>
              <a:rPr sz="1750" spc="5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unePersonne.getNom(); </a:t>
            </a:r>
            <a:r>
              <a:rPr sz="1750" b="1" spc="229" dirty="0">
                <a:solidFill>
                  <a:srgbClr val="595959"/>
                </a:solidFill>
                <a:latin typeface="Trebuchet MS"/>
                <a:cs typeface="Trebuchet MS"/>
              </a:rPr>
              <a:t>//</a:t>
            </a:r>
            <a:r>
              <a:rPr sz="1750" b="1" spc="38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45" dirty="0">
                <a:solidFill>
                  <a:srgbClr val="595959"/>
                </a:solidFill>
                <a:latin typeface="Trebuchet MS"/>
                <a:cs typeface="Trebuchet MS"/>
              </a:rPr>
              <a:t>légal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270" dirty="0">
                <a:solidFill>
                  <a:srgbClr val="595959"/>
                </a:solidFill>
                <a:latin typeface="Trebuchet MS"/>
                <a:cs typeface="Trebuchet MS"/>
              </a:rPr>
              <a:t>:</a:t>
            </a:r>
            <a:r>
              <a:rPr sz="1750" b="1" spc="38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55" dirty="0">
                <a:solidFill>
                  <a:srgbClr val="595959"/>
                </a:solidFill>
                <a:latin typeface="Trebuchet MS"/>
                <a:cs typeface="Trebuchet MS"/>
              </a:rPr>
              <a:t>unePersonne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95" dirty="0">
                <a:solidFill>
                  <a:srgbClr val="595959"/>
                </a:solidFill>
                <a:latin typeface="Trebuchet MS"/>
                <a:cs typeface="Trebuchet MS"/>
              </a:rPr>
              <a:t>est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10" dirty="0">
                <a:solidFill>
                  <a:srgbClr val="595959"/>
                </a:solidFill>
                <a:latin typeface="Trebuchet MS"/>
                <a:cs typeface="Trebuchet MS"/>
              </a:rPr>
              <a:t>une</a:t>
            </a:r>
            <a:r>
              <a:rPr sz="1750" b="1" spc="-3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35" dirty="0">
                <a:solidFill>
                  <a:srgbClr val="595959"/>
                </a:solidFill>
                <a:latin typeface="Trebuchet MS"/>
                <a:cs typeface="Trebuchet MS"/>
              </a:rPr>
              <a:t>Personne</a:t>
            </a:r>
            <a:endParaRPr sz="1750">
              <a:latin typeface="Trebuchet MS"/>
              <a:cs typeface="Trebuchet MS"/>
            </a:endParaRPr>
          </a:p>
          <a:p>
            <a:pPr marL="12700">
              <a:lnSpc>
                <a:spcPts val="2055"/>
              </a:lnSpc>
            </a:pPr>
            <a:r>
              <a:rPr sz="1750" spc="50" dirty="0">
                <a:latin typeface="SimSun"/>
                <a:cs typeface="SimSun"/>
              </a:rPr>
              <a:t>unEtudiant.getINE(); </a:t>
            </a:r>
            <a:r>
              <a:rPr sz="1750" b="1" spc="229" dirty="0">
                <a:solidFill>
                  <a:srgbClr val="595959"/>
                </a:solidFill>
                <a:latin typeface="Trebuchet MS"/>
                <a:cs typeface="Trebuchet MS"/>
              </a:rPr>
              <a:t>//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45" dirty="0">
                <a:solidFill>
                  <a:srgbClr val="595959"/>
                </a:solidFill>
                <a:latin typeface="Trebuchet MS"/>
                <a:cs typeface="Trebuchet MS"/>
              </a:rPr>
              <a:t>légal</a:t>
            </a:r>
            <a:r>
              <a:rPr sz="1750" b="1" spc="38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270" dirty="0">
                <a:solidFill>
                  <a:srgbClr val="595959"/>
                </a:solidFill>
                <a:latin typeface="Trebuchet MS"/>
                <a:cs typeface="Trebuchet MS"/>
              </a:rPr>
              <a:t>: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5" dirty="0">
                <a:solidFill>
                  <a:srgbClr val="595959"/>
                </a:solidFill>
                <a:latin typeface="Trebuchet MS"/>
                <a:cs typeface="Trebuchet MS"/>
              </a:rPr>
              <a:t>unEtudiant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95" dirty="0">
                <a:solidFill>
                  <a:srgbClr val="595959"/>
                </a:solidFill>
                <a:latin typeface="Trebuchet MS"/>
                <a:cs typeface="Trebuchet MS"/>
              </a:rPr>
              <a:t>est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20" dirty="0">
                <a:solidFill>
                  <a:srgbClr val="595959"/>
                </a:solidFill>
                <a:latin typeface="Trebuchet MS"/>
                <a:cs typeface="Trebuchet MS"/>
              </a:rPr>
              <a:t>un</a:t>
            </a:r>
            <a:r>
              <a:rPr sz="1750" b="1" spc="-2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50" dirty="0">
                <a:solidFill>
                  <a:srgbClr val="595959"/>
                </a:solidFill>
                <a:latin typeface="Trebuchet MS"/>
                <a:cs typeface="Trebuchet MS"/>
              </a:rPr>
              <a:t>Etudiant</a:t>
            </a:r>
            <a:endParaRPr sz="1750">
              <a:latin typeface="Trebuchet MS"/>
              <a:cs typeface="Trebuchet MS"/>
            </a:endParaRPr>
          </a:p>
          <a:p>
            <a:pPr marL="12700">
              <a:lnSpc>
                <a:spcPts val="2070"/>
              </a:lnSpc>
            </a:pPr>
            <a:r>
              <a:rPr sz="1750" spc="50" dirty="0">
                <a:latin typeface="SimSun"/>
                <a:cs typeface="SimSun"/>
              </a:rPr>
              <a:t>unEtudiant.getNom(); </a:t>
            </a:r>
            <a:r>
              <a:rPr sz="1750" b="1" spc="229" dirty="0">
                <a:solidFill>
                  <a:srgbClr val="595959"/>
                </a:solidFill>
                <a:latin typeface="Trebuchet MS"/>
                <a:cs typeface="Trebuchet MS"/>
              </a:rPr>
              <a:t>//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45" dirty="0">
                <a:solidFill>
                  <a:srgbClr val="595959"/>
                </a:solidFill>
                <a:latin typeface="Trebuchet MS"/>
                <a:cs typeface="Trebuchet MS"/>
              </a:rPr>
              <a:t>légal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270" dirty="0">
                <a:solidFill>
                  <a:srgbClr val="595959"/>
                </a:solidFill>
                <a:latin typeface="Trebuchet MS"/>
                <a:cs typeface="Trebuchet MS"/>
              </a:rPr>
              <a:t>: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5" dirty="0">
                <a:solidFill>
                  <a:srgbClr val="595959"/>
                </a:solidFill>
                <a:latin typeface="Trebuchet MS"/>
                <a:cs typeface="Trebuchet MS"/>
              </a:rPr>
              <a:t>unEtudiant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95" dirty="0">
                <a:solidFill>
                  <a:srgbClr val="595959"/>
                </a:solidFill>
                <a:latin typeface="Trebuchet MS"/>
                <a:cs typeface="Trebuchet MS"/>
              </a:rPr>
              <a:t>est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10" dirty="0">
                <a:solidFill>
                  <a:srgbClr val="595959"/>
                </a:solidFill>
                <a:latin typeface="Trebuchet MS"/>
                <a:cs typeface="Trebuchet MS"/>
              </a:rPr>
              <a:t>une</a:t>
            </a:r>
            <a:r>
              <a:rPr sz="1750" b="1" spc="-2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35" dirty="0">
                <a:solidFill>
                  <a:srgbClr val="595959"/>
                </a:solidFill>
                <a:latin typeface="Trebuchet MS"/>
                <a:cs typeface="Trebuchet MS"/>
              </a:rPr>
              <a:t>Personne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80" dirty="0">
                <a:solidFill>
                  <a:srgbClr val="595959"/>
                </a:solidFill>
                <a:latin typeface="Trebuchet MS"/>
                <a:cs typeface="Trebuchet MS"/>
              </a:rPr>
              <a:t>(par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85" dirty="0">
                <a:solidFill>
                  <a:srgbClr val="595959"/>
                </a:solidFill>
                <a:latin typeface="Trebuchet MS"/>
                <a:cs typeface="Trebuchet MS"/>
              </a:rPr>
              <a:t>héritage)</a:t>
            </a:r>
            <a:endParaRPr sz="1750">
              <a:latin typeface="Trebuchet MS"/>
              <a:cs typeface="Trebuchet MS"/>
            </a:endParaRPr>
          </a:p>
          <a:p>
            <a:pPr marL="566420" marR="5080" indent="-554355">
              <a:lnSpc>
                <a:spcPts val="2070"/>
              </a:lnSpc>
              <a:spcBef>
                <a:spcPts val="80"/>
              </a:spcBef>
            </a:pPr>
            <a:r>
              <a:rPr sz="1750" spc="50" dirty="0">
                <a:latin typeface="SimSun"/>
                <a:cs typeface="SimSun"/>
              </a:rPr>
              <a:t>unePersonne.getINE();</a:t>
            </a:r>
            <a:r>
              <a:rPr sz="1750" spc="55" dirty="0">
                <a:latin typeface="SimSun"/>
                <a:cs typeface="SimSun"/>
              </a:rPr>
              <a:t> </a:t>
            </a:r>
            <a:r>
              <a:rPr sz="1750" b="1" spc="229" dirty="0">
                <a:solidFill>
                  <a:srgbClr val="595959"/>
                </a:solidFill>
                <a:latin typeface="Trebuchet MS"/>
                <a:cs typeface="Trebuchet MS"/>
              </a:rPr>
              <a:t>//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215" dirty="0">
                <a:solidFill>
                  <a:srgbClr val="595959"/>
                </a:solidFill>
                <a:latin typeface="Trebuchet MS"/>
                <a:cs typeface="Trebuchet MS"/>
              </a:rPr>
              <a:t>illégal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270" dirty="0">
                <a:solidFill>
                  <a:srgbClr val="595959"/>
                </a:solidFill>
                <a:latin typeface="Trebuchet MS"/>
                <a:cs typeface="Trebuchet MS"/>
              </a:rPr>
              <a:t>: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55" dirty="0">
                <a:solidFill>
                  <a:srgbClr val="595959"/>
                </a:solidFill>
                <a:latin typeface="Trebuchet MS"/>
                <a:cs typeface="Trebuchet MS"/>
              </a:rPr>
              <a:t>unePersonne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90" dirty="0">
                <a:solidFill>
                  <a:srgbClr val="595959"/>
                </a:solidFill>
                <a:latin typeface="Trebuchet MS"/>
                <a:cs typeface="Trebuchet MS"/>
              </a:rPr>
              <a:t>n’est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0" dirty="0">
                <a:solidFill>
                  <a:srgbClr val="595959"/>
                </a:solidFill>
                <a:latin typeface="Trebuchet MS"/>
                <a:cs typeface="Trebuchet MS"/>
              </a:rPr>
              <a:t>pas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20" dirty="0">
                <a:solidFill>
                  <a:srgbClr val="595959"/>
                </a:solidFill>
                <a:latin typeface="Trebuchet MS"/>
                <a:cs typeface="Trebuchet MS"/>
              </a:rPr>
              <a:t>un</a:t>
            </a:r>
            <a:r>
              <a:rPr sz="1750" b="1" spc="-1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50" dirty="0">
                <a:solidFill>
                  <a:srgbClr val="595959"/>
                </a:solidFill>
                <a:latin typeface="Trebuchet MS"/>
                <a:cs typeface="Trebuchet MS"/>
              </a:rPr>
              <a:t>Etudiant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90" dirty="0">
                <a:solidFill>
                  <a:srgbClr val="595959"/>
                </a:solidFill>
                <a:latin typeface="Trebuchet MS"/>
                <a:cs typeface="Trebuchet MS"/>
              </a:rPr>
              <a:t>(erreur: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270" dirty="0">
                <a:solidFill>
                  <a:srgbClr val="595959"/>
                </a:solidFill>
                <a:latin typeface="Trebuchet MS"/>
                <a:cs typeface="Trebuchet MS"/>
              </a:rPr>
              <a:t>’ </a:t>
            </a:r>
            <a:r>
              <a:rPr sz="1750" b="1" spc="-51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45" dirty="0">
                <a:solidFill>
                  <a:srgbClr val="595959"/>
                </a:solidFill>
                <a:latin typeface="Trebuchet MS"/>
                <a:cs typeface="Trebuchet MS"/>
              </a:rPr>
              <a:t>class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595959"/>
                </a:solidFill>
                <a:latin typeface="Trebuchet MS"/>
                <a:cs typeface="Trebuchet MS"/>
              </a:rPr>
              <a:t>Personne’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5" dirty="0">
                <a:solidFill>
                  <a:srgbClr val="595959"/>
                </a:solidFill>
                <a:latin typeface="Trebuchet MS"/>
                <a:cs typeface="Trebuchet MS"/>
              </a:rPr>
              <a:t>has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00" dirty="0">
                <a:solidFill>
                  <a:srgbClr val="595959"/>
                </a:solidFill>
                <a:latin typeface="Trebuchet MS"/>
                <a:cs typeface="Trebuchet MS"/>
              </a:rPr>
              <a:t>no</a:t>
            </a:r>
            <a:r>
              <a:rPr sz="1750" b="1" spc="-3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215" dirty="0">
                <a:solidFill>
                  <a:srgbClr val="595959"/>
                </a:solidFill>
                <a:latin typeface="Trebuchet MS"/>
                <a:cs typeface="Trebuchet MS"/>
              </a:rPr>
              <a:t>member</a:t>
            </a:r>
            <a:r>
              <a:rPr sz="1750" b="1" spc="7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85" dirty="0">
                <a:solidFill>
                  <a:srgbClr val="595959"/>
                </a:solidFill>
                <a:latin typeface="Trebuchet MS"/>
                <a:cs typeface="Trebuchet MS"/>
              </a:rPr>
              <a:t>named</a:t>
            </a:r>
            <a:r>
              <a:rPr sz="1750" b="1" spc="4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20" dirty="0">
                <a:solidFill>
                  <a:srgbClr val="595959"/>
                </a:solidFill>
                <a:latin typeface="Trebuchet MS"/>
                <a:cs typeface="Trebuchet MS"/>
              </a:rPr>
              <a:t>’getINE’)</a:t>
            </a:r>
            <a:endParaRPr sz="175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03330" y="7322021"/>
            <a:ext cx="10085705" cy="240029"/>
            <a:chOff x="303330" y="7322021"/>
            <a:chExt cx="10085705" cy="240029"/>
          </a:xfrm>
        </p:grpSpPr>
        <p:sp>
          <p:nvSpPr>
            <p:cNvPr id="16" name="object 16"/>
            <p:cNvSpPr/>
            <p:nvPr/>
          </p:nvSpPr>
          <p:spPr>
            <a:xfrm>
              <a:off x="303330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65059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26788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60" dirty="0"/>
              <a:t>tv </a:t>
            </a:r>
            <a:r>
              <a:rPr spc="140" dirty="0"/>
              <a:t> </a:t>
            </a:r>
            <a:r>
              <a:rPr spc="55" dirty="0"/>
              <a:t>(BTS</a:t>
            </a:r>
            <a:r>
              <a:rPr spc="100" dirty="0"/>
              <a:t> </a:t>
            </a:r>
            <a:r>
              <a:rPr spc="-25" dirty="0"/>
              <a:t>IRIS</a:t>
            </a:r>
            <a:r>
              <a:rPr spc="105" dirty="0"/>
              <a:t> </a:t>
            </a:r>
            <a:r>
              <a:rPr spc="5" dirty="0"/>
              <a:t>Avignon)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-40" dirty="0"/>
              <a:t>Cours</a:t>
            </a:r>
            <a:r>
              <a:rPr spc="60" dirty="0"/>
              <a:t> </a:t>
            </a:r>
            <a:r>
              <a:rPr spc="170" dirty="0"/>
              <a:t>C/C++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481423" y="7283716"/>
            <a:ext cx="1800860" cy="27051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300" spc="40" dirty="0">
                <a:solidFill>
                  <a:srgbClr val="FFFFFF"/>
                </a:solidFill>
                <a:latin typeface="SimSun"/>
                <a:cs typeface="SimSun"/>
                <a:hlinkClick r:id="rId5"/>
              </a:rPr>
              <a:t>tvaira@free.fr</a:t>
            </a:r>
            <a:r>
              <a:rPr sz="1300" spc="-190" dirty="0">
                <a:solidFill>
                  <a:srgbClr val="FFFFFF"/>
                </a:solidFill>
                <a:latin typeface="SimSun"/>
                <a:cs typeface="SimSun"/>
                <a:hlinkClick r:id="rId5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©</a:t>
            </a:r>
            <a:r>
              <a:rPr sz="130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v0.1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9"/>
              </a:spcBef>
            </a:pPr>
            <a:fld id="{81D60167-4931-47E6-BA6A-407CBD079E47}" type="slidenum">
              <a:rPr spc="-30" dirty="0"/>
              <a:t>8</a:t>
            </a:fld>
            <a:r>
              <a:rPr spc="80" dirty="0"/>
              <a:t> </a:t>
            </a:r>
            <a:r>
              <a:rPr spc="330" dirty="0"/>
              <a:t>/</a:t>
            </a:r>
            <a:r>
              <a:rPr spc="85" dirty="0"/>
              <a:t> </a:t>
            </a:r>
            <a:r>
              <a:rPr spc="-30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3330" y="0"/>
            <a:ext cx="5043170" cy="203200"/>
          </a:xfrm>
          <a:custGeom>
            <a:avLst/>
            <a:gdLst/>
            <a:ahLst/>
            <a:cxnLst/>
            <a:rect l="l" t="t" r="r" b="b"/>
            <a:pathLst>
              <a:path w="5043170" h="203200">
                <a:moveTo>
                  <a:pt x="0" y="203077"/>
                </a:moveTo>
                <a:lnTo>
                  <a:pt x="5042663" y="203077"/>
                </a:lnTo>
                <a:lnTo>
                  <a:pt x="5042663" y="0"/>
                </a:lnTo>
                <a:lnTo>
                  <a:pt x="0" y="0"/>
                </a:lnTo>
                <a:lnTo>
                  <a:pt x="0" y="203077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453189" y="0"/>
            <a:ext cx="758190" cy="224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L’héritage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3330" y="0"/>
            <a:ext cx="10085705" cy="812800"/>
            <a:chOff x="303330" y="0"/>
            <a:chExt cx="10085705" cy="812800"/>
          </a:xfrm>
        </p:grpSpPr>
        <p:sp>
          <p:nvSpPr>
            <p:cNvPr id="5" name="object 5"/>
            <p:cNvSpPr/>
            <p:nvPr/>
          </p:nvSpPr>
          <p:spPr>
            <a:xfrm>
              <a:off x="5345993" y="0"/>
              <a:ext cx="5043170" cy="203200"/>
            </a:xfrm>
            <a:custGeom>
              <a:avLst/>
              <a:gdLst/>
              <a:ahLst/>
              <a:cxnLst/>
              <a:rect l="l" t="t" r="r" b="b"/>
              <a:pathLst>
                <a:path w="5043170" h="203200">
                  <a:moveTo>
                    <a:pt x="0" y="203077"/>
                  </a:moveTo>
                  <a:lnTo>
                    <a:pt x="5042663" y="203077"/>
                  </a:lnTo>
                  <a:lnTo>
                    <a:pt x="5042663" y="0"/>
                  </a:lnTo>
                  <a:lnTo>
                    <a:pt x="0" y="0"/>
                  </a:lnTo>
                  <a:lnTo>
                    <a:pt x="0" y="20307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330" y="201079"/>
              <a:ext cx="10085354" cy="1476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3330" y="311846"/>
              <a:ext cx="10085705" cy="498475"/>
            </a:xfrm>
            <a:custGeom>
              <a:avLst/>
              <a:gdLst/>
              <a:ahLst/>
              <a:cxnLst/>
              <a:rect l="l" t="t" r="r" b="b"/>
              <a:pathLst>
                <a:path w="10085705" h="498475">
                  <a:moveTo>
                    <a:pt x="0" y="498437"/>
                  </a:moveTo>
                  <a:lnTo>
                    <a:pt x="10085354" y="498437"/>
                  </a:lnTo>
                  <a:lnTo>
                    <a:pt x="10085354" y="0"/>
                  </a:lnTo>
                  <a:lnTo>
                    <a:pt x="0" y="0"/>
                  </a:lnTo>
                  <a:lnTo>
                    <a:pt x="0" y="49843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27007" y="249275"/>
            <a:ext cx="2707640" cy="5041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00" spc="-130" dirty="0">
                <a:solidFill>
                  <a:srgbClr val="FFFFFF"/>
                </a:solidFill>
              </a:rPr>
              <a:t>Types</a:t>
            </a:r>
            <a:r>
              <a:rPr sz="3100" spc="-15" dirty="0">
                <a:solidFill>
                  <a:srgbClr val="FFFFFF"/>
                </a:solidFill>
              </a:rPr>
              <a:t> </a:t>
            </a:r>
            <a:r>
              <a:rPr sz="3100" spc="-95" dirty="0">
                <a:solidFill>
                  <a:srgbClr val="FFFFFF"/>
                </a:solidFill>
              </a:rPr>
              <a:t>d’héritage</a:t>
            </a:r>
            <a:endParaRPr sz="310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3330" y="810284"/>
            <a:ext cx="10085354" cy="7385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94346" y="1324518"/>
            <a:ext cx="6282994" cy="4737662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303330" y="7322021"/>
            <a:ext cx="10085705" cy="240029"/>
            <a:chOff x="303330" y="7322021"/>
            <a:chExt cx="10085705" cy="240029"/>
          </a:xfrm>
        </p:grpSpPr>
        <p:sp>
          <p:nvSpPr>
            <p:cNvPr id="13" name="object 13"/>
            <p:cNvSpPr/>
            <p:nvPr/>
          </p:nvSpPr>
          <p:spPr>
            <a:xfrm>
              <a:off x="303330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65059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026788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60" dirty="0"/>
              <a:t>tv </a:t>
            </a:r>
            <a:r>
              <a:rPr spc="140" dirty="0"/>
              <a:t> </a:t>
            </a:r>
            <a:r>
              <a:rPr spc="55" dirty="0"/>
              <a:t>(BTS</a:t>
            </a:r>
            <a:r>
              <a:rPr spc="100" dirty="0"/>
              <a:t> </a:t>
            </a:r>
            <a:r>
              <a:rPr spc="-25" dirty="0"/>
              <a:t>IRIS</a:t>
            </a:r>
            <a:r>
              <a:rPr spc="105" dirty="0"/>
              <a:t> </a:t>
            </a:r>
            <a:r>
              <a:rPr spc="5" dirty="0"/>
              <a:t>Avignon)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-40" dirty="0"/>
              <a:t>Cours</a:t>
            </a:r>
            <a:r>
              <a:rPr spc="60" dirty="0"/>
              <a:t> </a:t>
            </a:r>
            <a:r>
              <a:rPr spc="170" dirty="0"/>
              <a:t>C/C++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481423" y="7283716"/>
            <a:ext cx="1800860" cy="27051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300" spc="40" dirty="0">
                <a:solidFill>
                  <a:srgbClr val="FFFFFF"/>
                </a:solidFill>
                <a:latin typeface="SimSun"/>
                <a:cs typeface="SimSun"/>
                <a:hlinkClick r:id="rId5"/>
              </a:rPr>
              <a:t>tvaira@free.fr</a:t>
            </a:r>
            <a:r>
              <a:rPr sz="1300" spc="-190" dirty="0">
                <a:solidFill>
                  <a:srgbClr val="FFFFFF"/>
                </a:solidFill>
                <a:latin typeface="SimSun"/>
                <a:cs typeface="SimSun"/>
                <a:hlinkClick r:id="rId5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©</a:t>
            </a:r>
            <a:r>
              <a:rPr sz="130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v0.1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9"/>
              </a:spcBef>
            </a:pPr>
            <a:fld id="{81D60167-4931-47E6-BA6A-407CBD079E47}" type="slidenum">
              <a:rPr spc="-30" dirty="0"/>
              <a:t>9</a:t>
            </a:fld>
            <a:r>
              <a:rPr spc="80" dirty="0"/>
              <a:t> </a:t>
            </a:r>
            <a:r>
              <a:rPr spc="330" dirty="0"/>
              <a:t>/</a:t>
            </a:r>
            <a:r>
              <a:rPr spc="85" dirty="0"/>
              <a:t> </a:t>
            </a:r>
            <a:r>
              <a:rPr spc="-30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3330" y="0"/>
            <a:ext cx="5043170" cy="203200"/>
          </a:xfrm>
          <a:custGeom>
            <a:avLst/>
            <a:gdLst/>
            <a:ahLst/>
            <a:cxnLst/>
            <a:rect l="l" t="t" r="r" b="b"/>
            <a:pathLst>
              <a:path w="5043170" h="203200">
                <a:moveTo>
                  <a:pt x="0" y="203077"/>
                </a:moveTo>
                <a:lnTo>
                  <a:pt x="5042663" y="203077"/>
                </a:lnTo>
                <a:lnTo>
                  <a:pt x="5042663" y="0"/>
                </a:lnTo>
                <a:lnTo>
                  <a:pt x="0" y="0"/>
                </a:lnTo>
                <a:lnTo>
                  <a:pt x="0" y="203077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453189" y="0"/>
            <a:ext cx="758190" cy="224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L’héritage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3330" y="0"/>
            <a:ext cx="10085705" cy="812800"/>
            <a:chOff x="303330" y="0"/>
            <a:chExt cx="10085705" cy="812800"/>
          </a:xfrm>
        </p:grpSpPr>
        <p:sp>
          <p:nvSpPr>
            <p:cNvPr id="5" name="object 5"/>
            <p:cNvSpPr/>
            <p:nvPr/>
          </p:nvSpPr>
          <p:spPr>
            <a:xfrm>
              <a:off x="5345993" y="0"/>
              <a:ext cx="5043170" cy="203200"/>
            </a:xfrm>
            <a:custGeom>
              <a:avLst/>
              <a:gdLst/>
              <a:ahLst/>
              <a:cxnLst/>
              <a:rect l="l" t="t" r="r" b="b"/>
              <a:pathLst>
                <a:path w="5043170" h="203200">
                  <a:moveTo>
                    <a:pt x="0" y="203077"/>
                  </a:moveTo>
                  <a:lnTo>
                    <a:pt x="5042663" y="203077"/>
                  </a:lnTo>
                  <a:lnTo>
                    <a:pt x="5042663" y="0"/>
                  </a:lnTo>
                  <a:lnTo>
                    <a:pt x="0" y="0"/>
                  </a:lnTo>
                  <a:lnTo>
                    <a:pt x="0" y="20307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330" y="201079"/>
              <a:ext cx="10085354" cy="1476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3330" y="311846"/>
              <a:ext cx="10085705" cy="498475"/>
            </a:xfrm>
            <a:custGeom>
              <a:avLst/>
              <a:gdLst/>
              <a:ahLst/>
              <a:cxnLst/>
              <a:rect l="l" t="t" r="r" b="b"/>
              <a:pathLst>
                <a:path w="10085705" h="498475">
                  <a:moveTo>
                    <a:pt x="0" y="498437"/>
                  </a:moveTo>
                  <a:lnTo>
                    <a:pt x="10085354" y="498437"/>
                  </a:lnTo>
                  <a:lnTo>
                    <a:pt x="10085354" y="0"/>
                  </a:lnTo>
                  <a:lnTo>
                    <a:pt x="0" y="0"/>
                  </a:lnTo>
                  <a:lnTo>
                    <a:pt x="0" y="49843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27007" y="249275"/>
            <a:ext cx="2517140" cy="5041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00" spc="-65" dirty="0">
                <a:solidFill>
                  <a:srgbClr val="FFFFFF"/>
                </a:solidFill>
              </a:rPr>
              <a:t>Principes</a:t>
            </a:r>
            <a:r>
              <a:rPr sz="3100" spc="-10" dirty="0">
                <a:solidFill>
                  <a:srgbClr val="FFFFFF"/>
                </a:solidFill>
              </a:rPr>
              <a:t> </a:t>
            </a:r>
            <a:r>
              <a:rPr sz="3100" spc="5" dirty="0">
                <a:solidFill>
                  <a:srgbClr val="FFFFFF"/>
                </a:solidFill>
              </a:rPr>
              <a:t>(1/2)</a:t>
            </a:r>
            <a:endParaRPr sz="310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3330" y="810284"/>
            <a:ext cx="10085354" cy="7385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6620" y="3009835"/>
            <a:ext cx="142843" cy="14284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6620" y="3621125"/>
            <a:ext cx="142843" cy="14284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6620" y="4232442"/>
            <a:ext cx="142843" cy="142843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91910" y="2133373"/>
            <a:ext cx="8627745" cy="3406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50" spc="-30" dirty="0">
                <a:latin typeface="Tahoma"/>
                <a:cs typeface="Tahoma"/>
              </a:rPr>
              <a:t>L’héritage</a:t>
            </a:r>
            <a:r>
              <a:rPr sz="2350" spc="30" dirty="0">
                <a:latin typeface="Tahoma"/>
                <a:cs typeface="Tahoma"/>
              </a:rPr>
              <a:t> </a:t>
            </a:r>
            <a:r>
              <a:rPr sz="2350" spc="-65" dirty="0">
                <a:latin typeface="Tahoma"/>
                <a:cs typeface="Tahoma"/>
              </a:rPr>
              <a:t>permet</a:t>
            </a:r>
            <a:r>
              <a:rPr sz="2350" spc="30" dirty="0">
                <a:latin typeface="Tahoma"/>
                <a:cs typeface="Tahoma"/>
              </a:rPr>
              <a:t> </a:t>
            </a:r>
            <a:r>
              <a:rPr sz="2350" spc="-170" dirty="0">
                <a:latin typeface="Tahoma"/>
                <a:cs typeface="Tahoma"/>
              </a:rPr>
              <a:t>:</a:t>
            </a:r>
            <a:endParaRPr sz="2350">
              <a:latin typeface="Tahoma"/>
              <a:cs typeface="Tahoma"/>
            </a:endParaRPr>
          </a:p>
          <a:p>
            <a:pPr marL="619125" marR="3637915">
              <a:lnSpc>
                <a:spcPct val="170700"/>
              </a:lnSpc>
              <a:spcBef>
                <a:spcPts val="770"/>
              </a:spcBef>
            </a:pPr>
            <a:r>
              <a:rPr sz="2350" spc="-30" dirty="0">
                <a:latin typeface="Tahoma"/>
                <a:cs typeface="Tahoma"/>
              </a:rPr>
              <a:t>la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35" dirty="0">
                <a:latin typeface="Tahoma"/>
                <a:cs typeface="Tahoma"/>
              </a:rPr>
              <a:t>réutilisation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du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code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95" dirty="0">
                <a:latin typeface="Tahoma"/>
                <a:cs typeface="Tahoma"/>
              </a:rPr>
              <a:t>déjà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25" dirty="0">
                <a:latin typeface="Tahoma"/>
                <a:cs typeface="Tahoma"/>
              </a:rPr>
              <a:t>écrit </a:t>
            </a:r>
            <a:r>
              <a:rPr sz="2350" spc="-20" dirty="0">
                <a:latin typeface="Tahoma"/>
                <a:cs typeface="Tahoma"/>
              </a:rPr>
              <a:t> </a:t>
            </a:r>
            <a:r>
              <a:rPr sz="2350" spc="-5" dirty="0">
                <a:latin typeface="Tahoma"/>
                <a:cs typeface="Tahoma"/>
              </a:rPr>
              <a:t>l’ajout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85" dirty="0">
                <a:latin typeface="Tahoma"/>
                <a:cs typeface="Tahoma"/>
              </a:rPr>
              <a:t>nouvelles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45" dirty="0">
                <a:latin typeface="Tahoma"/>
                <a:cs typeface="Tahoma"/>
              </a:rPr>
              <a:t>fonctionnalités</a:t>
            </a:r>
            <a:endParaRPr sz="2350">
              <a:latin typeface="Tahoma"/>
              <a:cs typeface="Tahoma"/>
            </a:endParaRPr>
          </a:p>
          <a:p>
            <a:pPr marL="619125">
              <a:lnSpc>
                <a:spcPct val="100000"/>
              </a:lnSpc>
              <a:spcBef>
                <a:spcPts val="1995"/>
              </a:spcBef>
            </a:pPr>
            <a:r>
              <a:rPr sz="2350" spc="-30" dirty="0">
                <a:latin typeface="Tahoma"/>
                <a:cs typeface="Tahoma"/>
              </a:rPr>
              <a:t>la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30" dirty="0">
                <a:latin typeface="Tahoma"/>
                <a:cs typeface="Tahoma"/>
              </a:rPr>
              <a:t>modification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20" dirty="0">
                <a:latin typeface="Tahoma"/>
                <a:cs typeface="Tahoma"/>
              </a:rPr>
              <a:t>d’un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65" dirty="0">
                <a:latin typeface="Tahoma"/>
                <a:cs typeface="Tahoma"/>
              </a:rPr>
              <a:t>comportement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45" dirty="0">
                <a:latin typeface="Tahoma"/>
                <a:cs typeface="Tahoma"/>
              </a:rPr>
              <a:t>existant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40" dirty="0">
                <a:latin typeface="Tahoma"/>
                <a:cs typeface="Tahoma"/>
              </a:rPr>
              <a:t>(redéfinition)</a:t>
            </a:r>
            <a:endParaRPr sz="2350">
              <a:latin typeface="Tahoma"/>
              <a:cs typeface="Tahoma"/>
            </a:endParaRPr>
          </a:p>
          <a:p>
            <a:pPr marL="12700" marR="5080">
              <a:lnSpc>
                <a:spcPct val="105200"/>
              </a:lnSpc>
              <a:spcBef>
                <a:spcPts val="2615"/>
              </a:spcBef>
            </a:pPr>
            <a:r>
              <a:rPr sz="2350" i="1" spc="-135" dirty="0">
                <a:latin typeface="Arial"/>
                <a:cs typeface="Arial"/>
              </a:rPr>
              <a:t>Remarque</a:t>
            </a:r>
            <a:r>
              <a:rPr sz="2350" i="1" spc="145" dirty="0">
                <a:latin typeface="Arial"/>
                <a:cs typeface="Arial"/>
              </a:rPr>
              <a:t> </a:t>
            </a:r>
            <a:r>
              <a:rPr sz="2350" i="1" spc="10" dirty="0">
                <a:latin typeface="Arial"/>
                <a:cs typeface="Arial"/>
              </a:rPr>
              <a:t>:</a:t>
            </a:r>
            <a:r>
              <a:rPr sz="2350" i="1" spc="150" dirty="0">
                <a:latin typeface="Arial"/>
                <a:cs typeface="Arial"/>
              </a:rPr>
              <a:t> </a:t>
            </a:r>
            <a:r>
              <a:rPr sz="2350" i="1" spc="-60" dirty="0">
                <a:latin typeface="Arial"/>
                <a:cs typeface="Arial"/>
              </a:rPr>
              <a:t>la</a:t>
            </a:r>
            <a:r>
              <a:rPr sz="2350" i="1" spc="150" dirty="0">
                <a:latin typeface="Arial"/>
                <a:cs typeface="Arial"/>
              </a:rPr>
              <a:t> </a:t>
            </a:r>
            <a:r>
              <a:rPr sz="2350" i="1" spc="-135" dirty="0">
                <a:latin typeface="Arial"/>
                <a:cs typeface="Arial"/>
              </a:rPr>
              <a:t>suppression</a:t>
            </a:r>
            <a:r>
              <a:rPr sz="2350" i="1" spc="150" dirty="0">
                <a:latin typeface="Arial"/>
                <a:cs typeface="Arial"/>
              </a:rPr>
              <a:t> </a:t>
            </a:r>
            <a:r>
              <a:rPr sz="2350" i="1" spc="-165" dirty="0">
                <a:latin typeface="Arial"/>
                <a:cs typeface="Arial"/>
              </a:rPr>
              <a:t>de</a:t>
            </a:r>
            <a:r>
              <a:rPr sz="2350" i="1" spc="150" dirty="0">
                <a:latin typeface="Arial"/>
                <a:cs typeface="Arial"/>
              </a:rPr>
              <a:t> </a:t>
            </a:r>
            <a:r>
              <a:rPr sz="2350" i="1" spc="-145" dirty="0">
                <a:latin typeface="Arial"/>
                <a:cs typeface="Arial"/>
              </a:rPr>
              <a:t>membres</a:t>
            </a:r>
            <a:r>
              <a:rPr sz="2350" i="1" spc="150" dirty="0">
                <a:latin typeface="Arial"/>
                <a:cs typeface="Arial"/>
              </a:rPr>
              <a:t> </a:t>
            </a:r>
            <a:r>
              <a:rPr sz="2350" i="1" spc="-160" dirty="0">
                <a:latin typeface="Arial"/>
                <a:cs typeface="Arial"/>
              </a:rPr>
              <a:t>en</a:t>
            </a:r>
            <a:r>
              <a:rPr sz="2350" i="1" spc="155" dirty="0">
                <a:latin typeface="Arial"/>
                <a:cs typeface="Arial"/>
              </a:rPr>
              <a:t> </a:t>
            </a:r>
            <a:r>
              <a:rPr sz="2350" i="1" spc="-15" dirty="0">
                <a:latin typeface="Arial"/>
                <a:cs typeface="Arial"/>
              </a:rPr>
              <a:t>utilisation</a:t>
            </a:r>
            <a:r>
              <a:rPr sz="2350" i="1" spc="150" dirty="0">
                <a:latin typeface="Arial"/>
                <a:cs typeface="Arial"/>
              </a:rPr>
              <a:t> </a:t>
            </a:r>
            <a:r>
              <a:rPr sz="2350" i="1" spc="-45" dirty="0">
                <a:latin typeface="Arial"/>
                <a:cs typeface="Arial"/>
              </a:rPr>
              <a:t>l’héritage</a:t>
            </a:r>
            <a:r>
              <a:rPr sz="2350" i="1" spc="150" dirty="0">
                <a:latin typeface="Arial"/>
                <a:cs typeface="Arial"/>
              </a:rPr>
              <a:t> </a:t>
            </a:r>
            <a:r>
              <a:rPr sz="2350" i="1" spc="-85" dirty="0">
                <a:latin typeface="Arial"/>
                <a:cs typeface="Arial"/>
              </a:rPr>
              <a:t>privé </a:t>
            </a:r>
            <a:r>
              <a:rPr sz="2350" i="1" spc="-640" dirty="0">
                <a:latin typeface="Arial"/>
                <a:cs typeface="Arial"/>
              </a:rPr>
              <a:t> </a:t>
            </a:r>
            <a:r>
              <a:rPr sz="2350" i="1" spc="135" dirty="0">
                <a:latin typeface="Arial"/>
                <a:cs typeface="Arial"/>
              </a:rPr>
              <a:t>(</a:t>
            </a:r>
            <a:r>
              <a:rPr sz="2350" i="1" spc="135" dirty="0">
                <a:latin typeface="Georgia"/>
                <a:cs typeface="Georgia"/>
              </a:rPr>
              <a:t>private</a:t>
            </a:r>
            <a:r>
              <a:rPr sz="2350" i="1" spc="135" dirty="0">
                <a:latin typeface="Arial"/>
                <a:cs typeface="Arial"/>
              </a:rPr>
              <a:t>).</a:t>
            </a:r>
            <a:endParaRPr sz="235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03330" y="7322021"/>
            <a:ext cx="10085705" cy="240029"/>
            <a:chOff x="303330" y="7322021"/>
            <a:chExt cx="10085705" cy="240029"/>
          </a:xfrm>
        </p:grpSpPr>
        <p:sp>
          <p:nvSpPr>
            <p:cNvPr id="15" name="object 15"/>
            <p:cNvSpPr/>
            <p:nvPr/>
          </p:nvSpPr>
          <p:spPr>
            <a:xfrm>
              <a:off x="303330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65059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26788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60" dirty="0"/>
              <a:t>tv </a:t>
            </a:r>
            <a:r>
              <a:rPr spc="140" dirty="0"/>
              <a:t> </a:t>
            </a:r>
            <a:r>
              <a:rPr spc="55" dirty="0"/>
              <a:t>(BTS</a:t>
            </a:r>
            <a:r>
              <a:rPr spc="100" dirty="0"/>
              <a:t> </a:t>
            </a:r>
            <a:r>
              <a:rPr spc="-25" dirty="0"/>
              <a:t>IRIS</a:t>
            </a:r>
            <a:r>
              <a:rPr spc="105" dirty="0"/>
              <a:t> </a:t>
            </a:r>
            <a:r>
              <a:rPr spc="5" dirty="0"/>
              <a:t>Avignon)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-40" dirty="0"/>
              <a:t>Cours</a:t>
            </a:r>
            <a:r>
              <a:rPr spc="60" dirty="0"/>
              <a:t> </a:t>
            </a:r>
            <a:r>
              <a:rPr spc="170" dirty="0"/>
              <a:t>C/C++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481423" y="7283716"/>
            <a:ext cx="1800860" cy="27051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300" spc="40" dirty="0">
                <a:solidFill>
                  <a:srgbClr val="FFFFFF"/>
                </a:solidFill>
                <a:latin typeface="SimSun"/>
                <a:cs typeface="SimSun"/>
                <a:hlinkClick r:id="rId6"/>
              </a:rPr>
              <a:t>tvaira@free.fr</a:t>
            </a:r>
            <a:r>
              <a:rPr sz="1300" spc="-190" dirty="0">
                <a:solidFill>
                  <a:srgbClr val="FFFFFF"/>
                </a:solidFill>
                <a:latin typeface="SimSun"/>
                <a:cs typeface="SimSun"/>
                <a:hlinkClick r:id="rId6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©</a:t>
            </a:r>
            <a:r>
              <a:rPr sz="130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v0.1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9"/>
              </a:spcBef>
            </a:pPr>
            <a:fld id="{81D60167-4931-47E6-BA6A-407CBD079E47}" type="slidenum">
              <a:rPr spc="-30" dirty="0"/>
              <a:t>10</a:t>
            </a:fld>
            <a:r>
              <a:rPr spc="80" dirty="0"/>
              <a:t> </a:t>
            </a:r>
            <a:r>
              <a:rPr spc="330" dirty="0"/>
              <a:t>/</a:t>
            </a:r>
            <a:r>
              <a:rPr spc="85" dirty="0"/>
              <a:t> </a:t>
            </a:r>
            <a:r>
              <a:rPr spc="-30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3330" y="0"/>
            <a:ext cx="5043170" cy="203200"/>
          </a:xfrm>
          <a:custGeom>
            <a:avLst/>
            <a:gdLst/>
            <a:ahLst/>
            <a:cxnLst/>
            <a:rect l="l" t="t" r="r" b="b"/>
            <a:pathLst>
              <a:path w="5043170" h="203200">
                <a:moveTo>
                  <a:pt x="0" y="203077"/>
                </a:moveTo>
                <a:lnTo>
                  <a:pt x="5042663" y="203077"/>
                </a:lnTo>
                <a:lnTo>
                  <a:pt x="5042663" y="0"/>
                </a:lnTo>
                <a:lnTo>
                  <a:pt x="0" y="0"/>
                </a:lnTo>
                <a:lnTo>
                  <a:pt x="0" y="203077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453189" y="0"/>
            <a:ext cx="758190" cy="224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L’héritage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3330" y="0"/>
            <a:ext cx="10085705" cy="812800"/>
            <a:chOff x="303330" y="0"/>
            <a:chExt cx="10085705" cy="812800"/>
          </a:xfrm>
        </p:grpSpPr>
        <p:sp>
          <p:nvSpPr>
            <p:cNvPr id="5" name="object 5"/>
            <p:cNvSpPr/>
            <p:nvPr/>
          </p:nvSpPr>
          <p:spPr>
            <a:xfrm>
              <a:off x="5345993" y="0"/>
              <a:ext cx="5043170" cy="203200"/>
            </a:xfrm>
            <a:custGeom>
              <a:avLst/>
              <a:gdLst/>
              <a:ahLst/>
              <a:cxnLst/>
              <a:rect l="l" t="t" r="r" b="b"/>
              <a:pathLst>
                <a:path w="5043170" h="203200">
                  <a:moveTo>
                    <a:pt x="0" y="203077"/>
                  </a:moveTo>
                  <a:lnTo>
                    <a:pt x="5042663" y="203077"/>
                  </a:lnTo>
                  <a:lnTo>
                    <a:pt x="5042663" y="0"/>
                  </a:lnTo>
                  <a:lnTo>
                    <a:pt x="0" y="0"/>
                  </a:lnTo>
                  <a:lnTo>
                    <a:pt x="0" y="20307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330" y="201079"/>
              <a:ext cx="10085354" cy="1476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3330" y="311846"/>
              <a:ext cx="10085705" cy="498475"/>
            </a:xfrm>
            <a:custGeom>
              <a:avLst/>
              <a:gdLst/>
              <a:ahLst/>
              <a:cxnLst/>
              <a:rect l="l" t="t" r="r" b="b"/>
              <a:pathLst>
                <a:path w="10085705" h="498475">
                  <a:moveTo>
                    <a:pt x="0" y="498437"/>
                  </a:moveTo>
                  <a:lnTo>
                    <a:pt x="10085354" y="498437"/>
                  </a:lnTo>
                  <a:lnTo>
                    <a:pt x="10085354" y="0"/>
                  </a:lnTo>
                  <a:lnTo>
                    <a:pt x="0" y="0"/>
                  </a:lnTo>
                  <a:lnTo>
                    <a:pt x="0" y="49843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27007" y="249275"/>
            <a:ext cx="2517140" cy="5041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00" spc="-65" dirty="0">
                <a:solidFill>
                  <a:srgbClr val="FFFFFF"/>
                </a:solidFill>
              </a:rPr>
              <a:t>Principes</a:t>
            </a:r>
            <a:r>
              <a:rPr sz="3100" spc="-10" dirty="0">
                <a:solidFill>
                  <a:srgbClr val="FFFFFF"/>
                </a:solidFill>
              </a:rPr>
              <a:t> </a:t>
            </a:r>
            <a:r>
              <a:rPr sz="3100" spc="5" dirty="0">
                <a:solidFill>
                  <a:srgbClr val="FFFFFF"/>
                </a:solidFill>
              </a:rPr>
              <a:t>(2/2)</a:t>
            </a:r>
            <a:endParaRPr sz="310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3330" y="810284"/>
            <a:ext cx="10085354" cy="73853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493425" y="1292349"/>
            <a:ext cx="9816465" cy="5692140"/>
            <a:chOff x="493425" y="1292349"/>
            <a:chExt cx="9816465" cy="5692140"/>
          </a:xfrm>
        </p:grpSpPr>
        <p:sp>
          <p:nvSpPr>
            <p:cNvPr id="11" name="object 11"/>
            <p:cNvSpPr/>
            <p:nvPr/>
          </p:nvSpPr>
          <p:spPr>
            <a:xfrm>
              <a:off x="493425" y="1292349"/>
              <a:ext cx="9705340" cy="180340"/>
            </a:xfrm>
            <a:custGeom>
              <a:avLst/>
              <a:gdLst/>
              <a:ahLst/>
              <a:cxnLst/>
              <a:rect l="l" t="t" r="r" b="b"/>
              <a:pathLst>
                <a:path w="9705340" h="180340">
                  <a:moveTo>
                    <a:pt x="9594072" y="0"/>
                  </a:moveTo>
                  <a:lnTo>
                    <a:pt x="111185" y="0"/>
                  </a:lnTo>
                  <a:lnTo>
                    <a:pt x="68014" y="8773"/>
                  </a:lnTo>
                  <a:lnTo>
                    <a:pt x="32660" y="32660"/>
                  </a:lnTo>
                  <a:lnTo>
                    <a:pt x="8773" y="68013"/>
                  </a:lnTo>
                  <a:lnTo>
                    <a:pt x="0" y="111184"/>
                  </a:lnTo>
                  <a:lnTo>
                    <a:pt x="0" y="180312"/>
                  </a:lnTo>
                  <a:lnTo>
                    <a:pt x="9705258" y="180312"/>
                  </a:lnTo>
                  <a:lnTo>
                    <a:pt x="9705258" y="111184"/>
                  </a:lnTo>
                  <a:lnTo>
                    <a:pt x="9696484" y="68013"/>
                  </a:lnTo>
                  <a:lnTo>
                    <a:pt x="9672596" y="32660"/>
                  </a:lnTo>
                  <a:lnTo>
                    <a:pt x="9637243" y="8773"/>
                  </a:lnTo>
                  <a:lnTo>
                    <a:pt x="9594072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4610" y="6761765"/>
              <a:ext cx="222367" cy="22236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5796" y="6733969"/>
              <a:ext cx="9593949" cy="25016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198683" y="1403033"/>
              <a:ext cx="111061" cy="535873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93425" y="1389525"/>
              <a:ext cx="9705340" cy="5483860"/>
            </a:xfrm>
            <a:custGeom>
              <a:avLst/>
              <a:gdLst/>
              <a:ahLst/>
              <a:cxnLst/>
              <a:rect l="l" t="t" r="r" b="b"/>
              <a:pathLst>
                <a:path w="9705340" h="5483859">
                  <a:moveTo>
                    <a:pt x="9705258" y="0"/>
                  </a:moveTo>
                  <a:lnTo>
                    <a:pt x="0" y="0"/>
                  </a:lnTo>
                  <a:lnTo>
                    <a:pt x="0" y="5372239"/>
                  </a:lnTo>
                  <a:lnTo>
                    <a:pt x="8773" y="5415410"/>
                  </a:lnTo>
                  <a:lnTo>
                    <a:pt x="32660" y="5450763"/>
                  </a:lnTo>
                  <a:lnTo>
                    <a:pt x="68014" y="5474651"/>
                  </a:lnTo>
                  <a:lnTo>
                    <a:pt x="111185" y="5483424"/>
                  </a:lnTo>
                  <a:lnTo>
                    <a:pt x="9594072" y="5483424"/>
                  </a:lnTo>
                  <a:lnTo>
                    <a:pt x="9637243" y="5474651"/>
                  </a:lnTo>
                  <a:lnTo>
                    <a:pt x="9672596" y="5450763"/>
                  </a:lnTo>
                  <a:lnTo>
                    <a:pt x="9696484" y="5415410"/>
                  </a:lnTo>
                  <a:lnTo>
                    <a:pt x="9705258" y="5372239"/>
                  </a:lnTo>
                  <a:lnTo>
                    <a:pt x="9705258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198683" y="1486346"/>
              <a:ext cx="0" cy="5317490"/>
            </a:xfrm>
            <a:custGeom>
              <a:avLst/>
              <a:gdLst/>
              <a:ahLst/>
              <a:cxnLst/>
              <a:rect l="l" t="t" r="r" b="b"/>
              <a:pathLst>
                <a:path h="5317490">
                  <a:moveTo>
                    <a:pt x="0" y="531711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198683" y="1458550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40">
                  <a:moveTo>
                    <a:pt x="0" y="277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198683" y="1430754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40">
                  <a:moveTo>
                    <a:pt x="0" y="277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198683" y="1402958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40">
                  <a:moveTo>
                    <a:pt x="0" y="277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91910" y="1561053"/>
            <a:ext cx="8194040" cy="5026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085"/>
              </a:lnSpc>
              <a:spcBef>
                <a:spcPts val="95"/>
              </a:spcBef>
            </a:pPr>
            <a:r>
              <a:rPr sz="1750" b="1" spc="229" dirty="0">
                <a:solidFill>
                  <a:srgbClr val="595959"/>
                </a:solidFill>
                <a:latin typeface="Trebuchet MS"/>
                <a:cs typeface="Trebuchet MS"/>
              </a:rPr>
              <a:t>//</a:t>
            </a:r>
            <a:r>
              <a:rPr sz="1750" b="1" spc="37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75" dirty="0">
                <a:solidFill>
                  <a:srgbClr val="595959"/>
                </a:solidFill>
                <a:latin typeface="Trebuchet MS"/>
                <a:cs typeface="Trebuchet MS"/>
              </a:rPr>
              <a:t>Classe</a:t>
            </a:r>
            <a:r>
              <a:rPr sz="1750" b="1" spc="37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00" dirty="0">
                <a:solidFill>
                  <a:srgbClr val="595959"/>
                </a:solidFill>
                <a:latin typeface="Trebuchet MS"/>
                <a:cs typeface="Trebuchet MS"/>
              </a:rPr>
              <a:t>de</a:t>
            </a:r>
            <a:r>
              <a:rPr sz="1750" b="1" spc="-5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5" dirty="0">
                <a:solidFill>
                  <a:srgbClr val="595959"/>
                </a:solidFill>
                <a:latin typeface="Trebuchet MS"/>
                <a:cs typeface="Trebuchet MS"/>
              </a:rPr>
              <a:t>base</a:t>
            </a:r>
            <a:endParaRPr sz="1750">
              <a:latin typeface="Trebuchet MS"/>
              <a:cs typeface="Trebuchet MS"/>
            </a:endParaRPr>
          </a:p>
          <a:p>
            <a:pPr marL="330200" marR="5509895" indent="-318135">
              <a:lnSpc>
                <a:spcPts val="2070"/>
              </a:lnSpc>
              <a:spcBef>
                <a:spcPts val="80"/>
              </a:spcBef>
            </a:pP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class </a:t>
            </a:r>
            <a:r>
              <a:rPr sz="1750" spc="50" dirty="0">
                <a:latin typeface="SimSun"/>
                <a:cs typeface="SimSun"/>
              </a:rPr>
              <a:t>Personne { </a:t>
            </a:r>
            <a:r>
              <a:rPr sz="1750" spc="55" dirty="0">
                <a:latin typeface="SimSun"/>
                <a:cs typeface="SimSun"/>
              </a:rPr>
              <a:t> </a:t>
            </a: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private</a:t>
            </a:r>
            <a:r>
              <a:rPr sz="1750" spc="50" dirty="0">
                <a:latin typeface="SimSun"/>
                <a:cs typeface="SimSun"/>
              </a:rPr>
              <a:t>:</a:t>
            </a:r>
            <a:r>
              <a:rPr sz="1750" spc="20" dirty="0">
                <a:latin typeface="SimSun"/>
                <a:cs typeface="SimSun"/>
              </a:rPr>
              <a:t> </a:t>
            </a:r>
            <a:r>
              <a:rPr sz="1750" b="1" spc="140" dirty="0">
                <a:solidFill>
                  <a:srgbClr val="0056AD"/>
                </a:solidFill>
                <a:latin typeface="Trebuchet MS"/>
                <a:cs typeface="Trebuchet MS"/>
              </a:rPr>
              <a:t>string</a:t>
            </a:r>
            <a:r>
              <a:rPr sz="1750" b="1" spc="365" dirty="0">
                <a:solidFill>
                  <a:srgbClr val="0056AD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nom; </a:t>
            </a:r>
            <a:r>
              <a:rPr sz="1750" spc="-860" dirty="0">
                <a:latin typeface="SimSun"/>
                <a:cs typeface="SimSun"/>
              </a:rPr>
              <a:t> </a:t>
            </a: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public</a:t>
            </a:r>
            <a:r>
              <a:rPr sz="1750" spc="50" dirty="0">
                <a:latin typeface="SimSun"/>
                <a:cs typeface="SimSun"/>
              </a:rPr>
              <a:t>:</a:t>
            </a:r>
            <a:endParaRPr sz="1750">
              <a:latin typeface="SimSun"/>
              <a:cs typeface="SimSun"/>
            </a:endParaRPr>
          </a:p>
          <a:p>
            <a:pPr marL="647700">
              <a:lnSpc>
                <a:spcPts val="1995"/>
              </a:lnSpc>
            </a:pPr>
            <a:r>
              <a:rPr sz="1750" b="1" spc="140" dirty="0">
                <a:solidFill>
                  <a:srgbClr val="0056AD"/>
                </a:solidFill>
                <a:latin typeface="Trebuchet MS"/>
                <a:cs typeface="Trebuchet MS"/>
              </a:rPr>
              <a:t>string</a:t>
            </a:r>
            <a:r>
              <a:rPr sz="1750" b="1" spc="380" dirty="0">
                <a:solidFill>
                  <a:srgbClr val="0056AD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getNom()</a:t>
            </a:r>
            <a:r>
              <a:rPr sz="1750" spc="35" dirty="0">
                <a:latin typeface="SimSun"/>
                <a:cs typeface="SimSun"/>
              </a:rPr>
              <a:t> </a:t>
            </a:r>
            <a:r>
              <a:rPr sz="1750" b="1" spc="40" dirty="0">
                <a:solidFill>
                  <a:srgbClr val="0056AD"/>
                </a:solidFill>
                <a:latin typeface="Trebuchet MS"/>
                <a:cs typeface="Trebuchet MS"/>
              </a:rPr>
              <a:t>const</a:t>
            </a:r>
            <a:r>
              <a:rPr sz="1750" spc="40" dirty="0">
                <a:latin typeface="SimSun"/>
                <a:cs typeface="SimSun"/>
              </a:rPr>
              <a:t>;</a:t>
            </a:r>
            <a:endParaRPr sz="1750">
              <a:latin typeface="SimSun"/>
              <a:cs typeface="SimSun"/>
            </a:endParaRPr>
          </a:p>
          <a:p>
            <a:pPr marL="647700">
              <a:lnSpc>
                <a:spcPts val="2070"/>
              </a:lnSpc>
            </a:pPr>
            <a:r>
              <a:rPr sz="1750" b="1" spc="50" dirty="0">
                <a:solidFill>
                  <a:srgbClr val="0056AD"/>
                </a:solidFill>
                <a:latin typeface="Trebuchet MS"/>
                <a:cs typeface="Trebuchet MS"/>
              </a:rPr>
              <a:t>void</a:t>
            </a:r>
            <a:r>
              <a:rPr sz="1750" b="1" spc="390" dirty="0">
                <a:solidFill>
                  <a:srgbClr val="0056AD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afficher()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b="1" spc="40" dirty="0">
                <a:solidFill>
                  <a:srgbClr val="0056AD"/>
                </a:solidFill>
                <a:latin typeface="Trebuchet MS"/>
                <a:cs typeface="Trebuchet MS"/>
              </a:rPr>
              <a:t>const</a:t>
            </a:r>
            <a:r>
              <a:rPr sz="1750" b="1" spc="395" dirty="0">
                <a:solidFill>
                  <a:srgbClr val="0056AD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{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cout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&lt;&lt;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nom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&lt;&lt;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endl;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}</a:t>
            </a:r>
            <a:endParaRPr sz="1750">
              <a:latin typeface="SimSun"/>
              <a:cs typeface="SimSun"/>
            </a:endParaRPr>
          </a:p>
          <a:p>
            <a:pPr marL="12700">
              <a:lnSpc>
                <a:spcPts val="2085"/>
              </a:lnSpc>
            </a:pPr>
            <a:r>
              <a:rPr sz="1750" spc="50" dirty="0">
                <a:latin typeface="SimSun"/>
                <a:cs typeface="SimSun"/>
              </a:rPr>
              <a:t>};</a:t>
            </a:r>
            <a:endParaRPr sz="1750">
              <a:latin typeface="SimSun"/>
              <a:cs typeface="SimSun"/>
            </a:endParaRPr>
          </a:p>
          <a:p>
            <a:pPr marL="12700">
              <a:lnSpc>
                <a:spcPts val="2085"/>
              </a:lnSpc>
              <a:spcBef>
                <a:spcPts val="2039"/>
              </a:spcBef>
            </a:pPr>
            <a:r>
              <a:rPr sz="1750" b="1" spc="229" dirty="0">
                <a:solidFill>
                  <a:srgbClr val="595959"/>
                </a:solidFill>
                <a:latin typeface="Trebuchet MS"/>
                <a:cs typeface="Trebuchet MS"/>
              </a:rPr>
              <a:t>//</a:t>
            </a:r>
            <a:r>
              <a:rPr sz="1750" b="1" spc="36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75" dirty="0">
                <a:solidFill>
                  <a:srgbClr val="595959"/>
                </a:solidFill>
                <a:latin typeface="Trebuchet MS"/>
                <a:cs typeface="Trebuchet MS"/>
              </a:rPr>
              <a:t>Classe</a:t>
            </a:r>
            <a:r>
              <a:rPr sz="1750" b="1" spc="36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25" dirty="0">
                <a:solidFill>
                  <a:srgbClr val="595959"/>
                </a:solidFill>
                <a:latin typeface="Trebuchet MS"/>
                <a:cs typeface="Trebuchet MS"/>
              </a:rPr>
              <a:t>dérivée</a:t>
            </a:r>
            <a:endParaRPr sz="1750">
              <a:latin typeface="Trebuchet MS"/>
              <a:cs typeface="Trebuchet MS"/>
            </a:endParaRPr>
          </a:p>
          <a:p>
            <a:pPr marL="330200" marR="4172585" indent="-318135">
              <a:lnSpc>
                <a:spcPts val="2070"/>
              </a:lnSpc>
              <a:spcBef>
                <a:spcPts val="80"/>
              </a:spcBef>
            </a:pP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class</a:t>
            </a:r>
            <a:r>
              <a:rPr sz="1750" spc="35" dirty="0">
                <a:solidFill>
                  <a:srgbClr val="FF0000"/>
                </a:solidFill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Etudiant</a:t>
            </a:r>
            <a:r>
              <a:rPr sz="1750" spc="3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: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public</a:t>
            </a:r>
            <a:r>
              <a:rPr sz="1750" spc="35" dirty="0">
                <a:solidFill>
                  <a:srgbClr val="FF0000"/>
                </a:solidFill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Personne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{ </a:t>
            </a:r>
            <a:r>
              <a:rPr sz="1750" spc="-860" dirty="0">
                <a:latin typeface="SimSun"/>
                <a:cs typeface="SimSun"/>
              </a:rPr>
              <a:t> </a:t>
            </a: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private</a:t>
            </a:r>
            <a:r>
              <a:rPr sz="1750" spc="50" dirty="0">
                <a:latin typeface="SimSun"/>
                <a:cs typeface="SimSun"/>
              </a:rPr>
              <a:t>: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b="1" spc="140" dirty="0">
                <a:solidFill>
                  <a:srgbClr val="0056AD"/>
                </a:solidFill>
                <a:latin typeface="Trebuchet MS"/>
                <a:cs typeface="Trebuchet MS"/>
              </a:rPr>
              <a:t>string</a:t>
            </a:r>
            <a:r>
              <a:rPr sz="1750" b="1" spc="390" dirty="0">
                <a:solidFill>
                  <a:srgbClr val="0056AD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ine;</a:t>
            </a:r>
            <a:endParaRPr sz="1750">
              <a:latin typeface="SimSun"/>
              <a:cs typeface="SimSun"/>
            </a:endParaRPr>
          </a:p>
          <a:p>
            <a:pPr marL="330200">
              <a:lnSpc>
                <a:spcPts val="1995"/>
              </a:lnSpc>
            </a:pP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public</a:t>
            </a:r>
            <a:r>
              <a:rPr sz="1750" spc="50" dirty="0">
                <a:latin typeface="SimSun"/>
                <a:cs typeface="SimSun"/>
              </a:rPr>
              <a:t>:</a:t>
            </a:r>
            <a:endParaRPr sz="1750">
              <a:latin typeface="SimSun"/>
              <a:cs typeface="SimSun"/>
            </a:endParaRPr>
          </a:p>
          <a:p>
            <a:pPr marL="647700">
              <a:lnSpc>
                <a:spcPts val="2070"/>
              </a:lnSpc>
            </a:pPr>
            <a:r>
              <a:rPr sz="1750" b="1" spc="140" dirty="0">
                <a:solidFill>
                  <a:srgbClr val="0056AD"/>
                </a:solidFill>
                <a:latin typeface="Trebuchet MS"/>
                <a:cs typeface="Trebuchet MS"/>
              </a:rPr>
              <a:t>string</a:t>
            </a:r>
            <a:r>
              <a:rPr sz="1750" b="1" spc="400" dirty="0">
                <a:solidFill>
                  <a:srgbClr val="0056AD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getINE()</a:t>
            </a:r>
            <a:r>
              <a:rPr sz="1750" spc="60" dirty="0">
                <a:latin typeface="SimSun"/>
                <a:cs typeface="SimSun"/>
              </a:rPr>
              <a:t> </a:t>
            </a:r>
            <a:r>
              <a:rPr sz="1750" b="1" spc="40" dirty="0">
                <a:solidFill>
                  <a:srgbClr val="0056AD"/>
                </a:solidFill>
                <a:latin typeface="Trebuchet MS"/>
                <a:cs typeface="Trebuchet MS"/>
              </a:rPr>
              <a:t>const</a:t>
            </a:r>
            <a:r>
              <a:rPr sz="1750" spc="40" dirty="0">
                <a:latin typeface="SimSun"/>
                <a:cs typeface="SimSun"/>
              </a:rPr>
              <a:t>;</a:t>
            </a:r>
            <a:r>
              <a:rPr sz="1750" spc="55" dirty="0">
                <a:latin typeface="SimSun"/>
                <a:cs typeface="SimSun"/>
              </a:rPr>
              <a:t> </a:t>
            </a:r>
            <a:r>
              <a:rPr sz="1750" b="1" spc="229" dirty="0">
                <a:solidFill>
                  <a:srgbClr val="595959"/>
                </a:solidFill>
                <a:latin typeface="Trebuchet MS"/>
                <a:cs typeface="Trebuchet MS"/>
              </a:rPr>
              <a:t>//</a:t>
            </a:r>
            <a:r>
              <a:rPr sz="1750" b="1" spc="39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55" dirty="0">
                <a:solidFill>
                  <a:srgbClr val="595959"/>
                </a:solidFill>
                <a:latin typeface="Trebuchet MS"/>
                <a:cs typeface="Trebuchet MS"/>
              </a:rPr>
              <a:t>ajout</a:t>
            </a:r>
            <a:r>
              <a:rPr sz="1750" b="1" spc="39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00" dirty="0">
                <a:solidFill>
                  <a:srgbClr val="595959"/>
                </a:solidFill>
                <a:latin typeface="Trebuchet MS"/>
                <a:cs typeface="Trebuchet MS"/>
              </a:rPr>
              <a:t>de</a:t>
            </a:r>
            <a:r>
              <a:rPr sz="1750" b="1" spc="-3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50" dirty="0">
                <a:solidFill>
                  <a:srgbClr val="595959"/>
                </a:solidFill>
                <a:latin typeface="Trebuchet MS"/>
                <a:cs typeface="Trebuchet MS"/>
              </a:rPr>
              <a:t>nouvelles</a:t>
            </a:r>
            <a:r>
              <a:rPr sz="1750" b="1" spc="39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95" dirty="0">
                <a:solidFill>
                  <a:srgbClr val="595959"/>
                </a:solidFill>
                <a:latin typeface="Trebuchet MS"/>
                <a:cs typeface="Trebuchet MS"/>
              </a:rPr>
              <a:t>fonctionnalités</a:t>
            </a:r>
            <a:endParaRPr sz="1750">
              <a:latin typeface="Trebuchet MS"/>
              <a:cs typeface="Trebuchet MS"/>
            </a:endParaRPr>
          </a:p>
          <a:p>
            <a:pPr marL="647700">
              <a:lnSpc>
                <a:spcPts val="2070"/>
              </a:lnSpc>
              <a:tabLst>
                <a:tab pos="3295650" algn="l"/>
              </a:tabLst>
            </a:pPr>
            <a:r>
              <a:rPr sz="1750" b="1" spc="50" dirty="0">
                <a:solidFill>
                  <a:srgbClr val="0056AD"/>
                </a:solidFill>
                <a:latin typeface="Trebuchet MS"/>
                <a:cs typeface="Trebuchet MS"/>
              </a:rPr>
              <a:t>void</a:t>
            </a:r>
            <a:r>
              <a:rPr sz="1750" b="1" spc="405" dirty="0">
                <a:solidFill>
                  <a:srgbClr val="0056AD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afficher()</a:t>
            </a:r>
            <a:r>
              <a:rPr sz="1750" spc="60" dirty="0">
                <a:latin typeface="SimSun"/>
                <a:cs typeface="SimSun"/>
              </a:rPr>
              <a:t> </a:t>
            </a:r>
            <a:r>
              <a:rPr sz="1750" b="1" spc="40" dirty="0">
                <a:solidFill>
                  <a:srgbClr val="0056AD"/>
                </a:solidFill>
                <a:latin typeface="Trebuchet MS"/>
                <a:cs typeface="Trebuchet MS"/>
              </a:rPr>
              <a:t>const	</a:t>
            </a:r>
            <a:r>
              <a:rPr sz="1750" b="1" spc="229" dirty="0">
                <a:solidFill>
                  <a:srgbClr val="595959"/>
                </a:solidFill>
                <a:latin typeface="Trebuchet MS"/>
                <a:cs typeface="Trebuchet MS"/>
              </a:rPr>
              <a:t>//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60" dirty="0">
                <a:solidFill>
                  <a:srgbClr val="595959"/>
                </a:solidFill>
                <a:latin typeface="Trebuchet MS"/>
                <a:cs typeface="Trebuchet MS"/>
              </a:rPr>
              <a:t>modification</a:t>
            </a:r>
            <a:r>
              <a:rPr sz="1750" b="1" spc="38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20" dirty="0">
                <a:solidFill>
                  <a:srgbClr val="595959"/>
                </a:solidFill>
                <a:latin typeface="Trebuchet MS"/>
                <a:cs typeface="Trebuchet MS"/>
              </a:rPr>
              <a:t>d’un</a:t>
            </a:r>
            <a:r>
              <a:rPr sz="1750" b="1" spc="38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95" dirty="0">
                <a:solidFill>
                  <a:srgbClr val="595959"/>
                </a:solidFill>
                <a:latin typeface="Trebuchet MS"/>
                <a:cs typeface="Trebuchet MS"/>
              </a:rPr>
              <a:t>comportement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90" dirty="0">
                <a:solidFill>
                  <a:srgbClr val="595959"/>
                </a:solidFill>
                <a:latin typeface="Trebuchet MS"/>
                <a:cs typeface="Trebuchet MS"/>
              </a:rPr>
              <a:t>existant</a:t>
            </a:r>
            <a:endParaRPr sz="1750">
              <a:latin typeface="Trebuchet MS"/>
              <a:cs typeface="Trebuchet MS"/>
            </a:endParaRPr>
          </a:p>
          <a:p>
            <a:pPr marL="647700">
              <a:lnSpc>
                <a:spcPts val="2070"/>
              </a:lnSpc>
            </a:pPr>
            <a:r>
              <a:rPr sz="1750" spc="50" dirty="0">
                <a:latin typeface="SimSun"/>
                <a:cs typeface="SimSun"/>
              </a:rPr>
              <a:t>{</a:t>
            </a:r>
            <a:endParaRPr sz="1750">
              <a:latin typeface="SimSun"/>
              <a:cs typeface="SimSun"/>
            </a:endParaRPr>
          </a:p>
          <a:p>
            <a:pPr marL="859790">
              <a:lnSpc>
                <a:spcPts val="2070"/>
              </a:lnSpc>
            </a:pPr>
            <a:r>
              <a:rPr sz="1750" spc="50" dirty="0">
                <a:latin typeface="SimSun"/>
                <a:cs typeface="SimSun"/>
              </a:rPr>
              <a:t>Personne::afficher();</a:t>
            </a:r>
            <a:r>
              <a:rPr sz="1750" spc="55" dirty="0">
                <a:latin typeface="SimSun"/>
                <a:cs typeface="SimSun"/>
              </a:rPr>
              <a:t> </a:t>
            </a:r>
            <a:r>
              <a:rPr sz="1750" b="1" spc="229" dirty="0">
                <a:solidFill>
                  <a:srgbClr val="595959"/>
                </a:solidFill>
                <a:latin typeface="Trebuchet MS"/>
                <a:cs typeface="Trebuchet MS"/>
              </a:rPr>
              <a:t>//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45" dirty="0">
                <a:solidFill>
                  <a:srgbClr val="595959"/>
                </a:solidFill>
                <a:latin typeface="Trebuchet MS"/>
                <a:cs typeface="Trebuchet MS"/>
              </a:rPr>
              <a:t>réutilisation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10" dirty="0">
                <a:solidFill>
                  <a:srgbClr val="595959"/>
                </a:solidFill>
                <a:latin typeface="Trebuchet MS"/>
                <a:cs typeface="Trebuchet MS"/>
              </a:rPr>
              <a:t>du</a:t>
            </a:r>
            <a:r>
              <a:rPr sz="1750" b="1" spc="-2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65" dirty="0">
                <a:solidFill>
                  <a:srgbClr val="595959"/>
                </a:solidFill>
                <a:latin typeface="Trebuchet MS"/>
                <a:cs typeface="Trebuchet MS"/>
              </a:rPr>
              <a:t>code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5" dirty="0">
                <a:solidFill>
                  <a:srgbClr val="595959"/>
                </a:solidFill>
                <a:latin typeface="Trebuchet MS"/>
                <a:cs typeface="Trebuchet MS"/>
              </a:rPr>
              <a:t>déjà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40" dirty="0">
                <a:solidFill>
                  <a:srgbClr val="595959"/>
                </a:solidFill>
                <a:latin typeface="Trebuchet MS"/>
                <a:cs typeface="Trebuchet MS"/>
              </a:rPr>
              <a:t>écrit</a:t>
            </a:r>
            <a:endParaRPr sz="1750">
              <a:latin typeface="Trebuchet MS"/>
              <a:cs typeface="Trebuchet MS"/>
            </a:endParaRPr>
          </a:p>
          <a:p>
            <a:pPr marL="859790">
              <a:lnSpc>
                <a:spcPts val="2070"/>
              </a:lnSpc>
            </a:pPr>
            <a:r>
              <a:rPr sz="1750" spc="50" dirty="0">
                <a:latin typeface="SimSun"/>
                <a:cs typeface="SimSun"/>
              </a:rPr>
              <a:t>cout</a:t>
            </a:r>
            <a:r>
              <a:rPr sz="1750" spc="3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&lt;&lt;</a:t>
            </a:r>
            <a:r>
              <a:rPr sz="1750" spc="3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ine</a:t>
            </a:r>
            <a:r>
              <a:rPr sz="1750" spc="3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&lt;&lt;</a:t>
            </a:r>
            <a:r>
              <a:rPr sz="1750" spc="3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endl;</a:t>
            </a:r>
            <a:endParaRPr sz="1750">
              <a:latin typeface="SimSun"/>
              <a:cs typeface="SimSun"/>
            </a:endParaRPr>
          </a:p>
          <a:p>
            <a:pPr marL="647700">
              <a:lnSpc>
                <a:spcPts val="2070"/>
              </a:lnSpc>
            </a:pPr>
            <a:r>
              <a:rPr sz="1750" spc="50" dirty="0">
                <a:latin typeface="SimSun"/>
                <a:cs typeface="SimSun"/>
              </a:rPr>
              <a:t>}</a:t>
            </a:r>
            <a:endParaRPr sz="1750">
              <a:latin typeface="SimSun"/>
              <a:cs typeface="SimSun"/>
            </a:endParaRPr>
          </a:p>
          <a:p>
            <a:pPr marL="12700">
              <a:lnSpc>
                <a:spcPts val="2085"/>
              </a:lnSpc>
            </a:pPr>
            <a:r>
              <a:rPr sz="1750" spc="50" dirty="0">
                <a:latin typeface="SimSun"/>
                <a:cs typeface="SimSun"/>
              </a:rPr>
              <a:t>};</a:t>
            </a:r>
            <a:endParaRPr sz="1750">
              <a:latin typeface="SimSun"/>
              <a:cs typeface="SimSu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03330" y="7322021"/>
            <a:ext cx="10085705" cy="240029"/>
            <a:chOff x="303330" y="7322021"/>
            <a:chExt cx="10085705" cy="240029"/>
          </a:xfrm>
        </p:grpSpPr>
        <p:sp>
          <p:nvSpPr>
            <p:cNvPr id="22" name="object 22"/>
            <p:cNvSpPr/>
            <p:nvPr/>
          </p:nvSpPr>
          <p:spPr>
            <a:xfrm>
              <a:off x="303330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665059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026788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60" dirty="0"/>
              <a:t>tv </a:t>
            </a:r>
            <a:r>
              <a:rPr spc="140" dirty="0"/>
              <a:t> </a:t>
            </a:r>
            <a:r>
              <a:rPr spc="55" dirty="0"/>
              <a:t>(BTS</a:t>
            </a:r>
            <a:r>
              <a:rPr spc="100" dirty="0"/>
              <a:t> </a:t>
            </a:r>
            <a:r>
              <a:rPr spc="-25" dirty="0"/>
              <a:t>IRIS</a:t>
            </a:r>
            <a:r>
              <a:rPr spc="105" dirty="0"/>
              <a:t> </a:t>
            </a:r>
            <a:r>
              <a:rPr spc="5" dirty="0"/>
              <a:t>Avignon)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-40" dirty="0"/>
              <a:t>Cours</a:t>
            </a:r>
            <a:r>
              <a:rPr spc="60" dirty="0"/>
              <a:t> </a:t>
            </a:r>
            <a:r>
              <a:rPr spc="170" dirty="0"/>
              <a:t>C/C++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7481423" y="7283716"/>
            <a:ext cx="1800860" cy="27051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300" spc="40" dirty="0">
                <a:solidFill>
                  <a:srgbClr val="FFFFFF"/>
                </a:solidFill>
                <a:latin typeface="SimSun"/>
                <a:cs typeface="SimSun"/>
                <a:hlinkClick r:id="rId7"/>
              </a:rPr>
              <a:t>tvaira@free.fr</a:t>
            </a:r>
            <a:r>
              <a:rPr sz="1300" spc="-190" dirty="0">
                <a:solidFill>
                  <a:srgbClr val="FFFFFF"/>
                </a:solidFill>
                <a:latin typeface="SimSun"/>
                <a:cs typeface="SimSun"/>
                <a:hlinkClick r:id="rId7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©</a:t>
            </a:r>
            <a:r>
              <a:rPr sz="130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v0.1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9"/>
              </a:spcBef>
            </a:pPr>
            <a:fld id="{81D60167-4931-47E6-BA6A-407CBD079E47}" type="slidenum">
              <a:rPr spc="-30" dirty="0"/>
              <a:t>11</a:t>
            </a:fld>
            <a:r>
              <a:rPr spc="80" dirty="0"/>
              <a:t> </a:t>
            </a:r>
            <a:r>
              <a:rPr spc="330" dirty="0"/>
              <a:t>/</a:t>
            </a:r>
            <a:r>
              <a:rPr spc="85" dirty="0"/>
              <a:t> </a:t>
            </a:r>
            <a:r>
              <a:rPr spc="-30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3330" y="0"/>
            <a:ext cx="5043170" cy="203200"/>
          </a:xfrm>
          <a:custGeom>
            <a:avLst/>
            <a:gdLst/>
            <a:ahLst/>
            <a:cxnLst/>
            <a:rect l="l" t="t" r="r" b="b"/>
            <a:pathLst>
              <a:path w="5043170" h="203200">
                <a:moveTo>
                  <a:pt x="0" y="203077"/>
                </a:moveTo>
                <a:lnTo>
                  <a:pt x="5042663" y="203077"/>
                </a:lnTo>
                <a:lnTo>
                  <a:pt x="5042663" y="0"/>
                </a:lnTo>
                <a:lnTo>
                  <a:pt x="0" y="0"/>
                </a:lnTo>
                <a:lnTo>
                  <a:pt x="0" y="203077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453189" y="0"/>
            <a:ext cx="758190" cy="224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L’héritage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3330" y="0"/>
            <a:ext cx="10085705" cy="812800"/>
            <a:chOff x="303330" y="0"/>
            <a:chExt cx="10085705" cy="812800"/>
          </a:xfrm>
        </p:grpSpPr>
        <p:sp>
          <p:nvSpPr>
            <p:cNvPr id="5" name="object 5"/>
            <p:cNvSpPr/>
            <p:nvPr/>
          </p:nvSpPr>
          <p:spPr>
            <a:xfrm>
              <a:off x="5345993" y="0"/>
              <a:ext cx="5043170" cy="203200"/>
            </a:xfrm>
            <a:custGeom>
              <a:avLst/>
              <a:gdLst/>
              <a:ahLst/>
              <a:cxnLst/>
              <a:rect l="l" t="t" r="r" b="b"/>
              <a:pathLst>
                <a:path w="5043170" h="203200">
                  <a:moveTo>
                    <a:pt x="0" y="203077"/>
                  </a:moveTo>
                  <a:lnTo>
                    <a:pt x="5042663" y="203077"/>
                  </a:lnTo>
                  <a:lnTo>
                    <a:pt x="5042663" y="0"/>
                  </a:lnTo>
                  <a:lnTo>
                    <a:pt x="0" y="0"/>
                  </a:lnTo>
                  <a:lnTo>
                    <a:pt x="0" y="20307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330" y="201079"/>
              <a:ext cx="10085354" cy="1476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3330" y="311846"/>
              <a:ext cx="10085705" cy="498475"/>
            </a:xfrm>
            <a:custGeom>
              <a:avLst/>
              <a:gdLst/>
              <a:ahLst/>
              <a:cxnLst/>
              <a:rect l="l" t="t" r="r" b="b"/>
              <a:pathLst>
                <a:path w="10085705" h="498475">
                  <a:moveTo>
                    <a:pt x="0" y="498437"/>
                  </a:moveTo>
                  <a:lnTo>
                    <a:pt x="10085354" y="498437"/>
                  </a:lnTo>
                  <a:lnTo>
                    <a:pt x="10085354" y="0"/>
                  </a:lnTo>
                  <a:lnTo>
                    <a:pt x="0" y="0"/>
                  </a:lnTo>
                  <a:lnTo>
                    <a:pt x="0" y="49843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27007" y="249275"/>
            <a:ext cx="3565525" cy="5041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00" spc="-45" dirty="0">
                <a:solidFill>
                  <a:srgbClr val="FFFFFF"/>
                </a:solidFill>
              </a:rPr>
              <a:t>Notion</a:t>
            </a:r>
            <a:r>
              <a:rPr sz="3100" spc="40" dirty="0">
                <a:solidFill>
                  <a:srgbClr val="FFFFFF"/>
                </a:solidFill>
              </a:rPr>
              <a:t> </a:t>
            </a:r>
            <a:r>
              <a:rPr sz="3100" spc="-204" dirty="0">
                <a:solidFill>
                  <a:srgbClr val="FFFFFF"/>
                </a:solidFill>
              </a:rPr>
              <a:t>de</a:t>
            </a:r>
            <a:r>
              <a:rPr sz="3100" spc="40" dirty="0">
                <a:solidFill>
                  <a:srgbClr val="FFFFFF"/>
                </a:solidFill>
              </a:rPr>
              <a:t> </a:t>
            </a:r>
            <a:r>
              <a:rPr sz="3100" spc="-105" dirty="0">
                <a:solidFill>
                  <a:srgbClr val="FFFFFF"/>
                </a:solidFill>
              </a:rPr>
              <a:t>redéfinition</a:t>
            </a:r>
            <a:endParaRPr sz="310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3330" y="810284"/>
            <a:ext cx="10085354" cy="7385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6620" y="2513121"/>
            <a:ext cx="142843" cy="14284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6620" y="3864506"/>
            <a:ext cx="142843" cy="14284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91910" y="1636659"/>
            <a:ext cx="9363710" cy="46653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50" spc="-95" dirty="0">
                <a:latin typeface="Tahoma"/>
                <a:cs typeface="Tahoma"/>
              </a:rPr>
              <a:t>Il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130" dirty="0">
                <a:latin typeface="Tahoma"/>
                <a:cs typeface="Tahoma"/>
              </a:rPr>
              <a:t>ne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30" dirty="0">
                <a:latin typeface="Tahoma"/>
                <a:cs typeface="Tahoma"/>
              </a:rPr>
              <a:t>faut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100" dirty="0">
                <a:latin typeface="Tahoma"/>
                <a:cs typeface="Tahoma"/>
              </a:rPr>
              <a:t>pas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mélanger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30" dirty="0">
                <a:latin typeface="Tahoma"/>
                <a:cs typeface="Tahoma"/>
              </a:rPr>
              <a:t>la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50" dirty="0">
                <a:latin typeface="Tahoma"/>
                <a:cs typeface="Tahoma"/>
              </a:rPr>
              <a:t>redéfinition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55" dirty="0">
                <a:latin typeface="Tahoma"/>
                <a:cs typeface="Tahoma"/>
              </a:rPr>
              <a:t>et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30" dirty="0">
                <a:latin typeface="Tahoma"/>
                <a:cs typeface="Tahoma"/>
              </a:rPr>
              <a:t>la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45" dirty="0">
                <a:latin typeface="Tahoma"/>
                <a:cs typeface="Tahoma"/>
              </a:rPr>
              <a:t>surdéfinition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70" dirty="0">
                <a:latin typeface="Tahoma"/>
                <a:cs typeface="Tahoma"/>
              </a:rPr>
              <a:t>:</a:t>
            </a:r>
            <a:endParaRPr sz="2350">
              <a:latin typeface="Tahoma"/>
              <a:cs typeface="Tahoma"/>
            </a:endParaRPr>
          </a:p>
          <a:p>
            <a:pPr marL="619125" marR="313690">
              <a:lnSpc>
                <a:spcPct val="105200"/>
              </a:lnSpc>
              <a:spcBef>
                <a:spcPts val="2615"/>
              </a:spcBef>
            </a:pPr>
            <a:r>
              <a:rPr sz="2350" spc="-55" dirty="0">
                <a:latin typeface="Tahoma"/>
                <a:cs typeface="Tahoma"/>
              </a:rPr>
              <a:t>Une</a:t>
            </a:r>
            <a:r>
              <a:rPr sz="2350" spc="70" dirty="0">
                <a:latin typeface="Tahoma"/>
                <a:cs typeface="Tahoma"/>
              </a:rPr>
              <a:t> </a:t>
            </a:r>
            <a:r>
              <a:rPr sz="2350" b="1" spc="-75" dirty="0">
                <a:solidFill>
                  <a:srgbClr val="7F0000"/>
                </a:solidFill>
                <a:latin typeface="Arial"/>
                <a:cs typeface="Arial"/>
              </a:rPr>
              <a:t>surdéfinition</a:t>
            </a:r>
            <a:r>
              <a:rPr sz="2350" b="1" spc="229" dirty="0">
                <a:solidFill>
                  <a:srgbClr val="7F0000"/>
                </a:solidFill>
                <a:latin typeface="Arial"/>
                <a:cs typeface="Arial"/>
              </a:rPr>
              <a:t> </a:t>
            </a:r>
            <a:r>
              <a:rPr sz="2350" b="1" spc="-110" dirty="0">
                <a:solidFill>
                  <a:srgbClr val="7F0000"/>
                </a:solidFill>
                <a:latin typeface="Arial"/>
                <a:cs typeface="Arial"/>
              </a:rPr>
              <a:t>ou</a:t>
            </a:r>
            <a:r>
              <a:rPr sz="2350" b="1" spc="235" dirty="0">
                <a:solidFill>
                  <a:srgbClr val="7F0000"/>
                </a:solidFill>
                <a:latin typeface="Arial"/>
                <a:cs typeface="Arial"/>
              </a:rPr>
              <a:t> </a:t>
            </a:r>
            <a:r>
              <a:rPr sz="2350" b="1" spc="-120" dirty="0">
                <a:solidFill>
                  <a:srgbClr val="7F0000"/>
                </a:solidFill>
                <a:latin typeface="Arial"/>
                <a:cs typeface="Arial"/>
              </a:rPr>
              <a:t>surcharge</a:t>
            </a:r>
            <a:r>
              <a:rPr sz="2350" b="1" spc="229" dirty="0">
                <a:solidFill>
                  <a:srgbClr val="7F0000"/>
                </a:solidFill>
                <a:latin typeface="Arial"/>
                <a:cs typeface="Arial"/>
              </a:rPr>
              <a:t> </a:t>
            </a:r>
            <a:r>
              <a:rPr sz="2350" b="1" spc="-50" dirty="0">
                <a:solidFill>
                  <a:srgbClr val="7F0000"/>
                </a:solidFill>
                <a:latin typeface="Arial"/>
                <a:cs typeface="Arial"/>
              </a:rPr>
              <a:t>(</a:t>
            </a:r>
            <a:r>
              <a:rPr sz="2350" b="1" i="1" spc="-50" dirty="0">
                <a:solidFill>
                  <a:srgbClr val="7F0000"/>
                </a:solidFill>
                <a:latin typeface="Trebuchet MS"/>
                <a:cs typeface="Trebuchet MS"/>
              </a:rPr>
              <a:t>overloading</a:t>
            </a:r>
            <a:r>
              <a:rPr sz="2350" b="1" i="1" spc="-470" dirty="0">
                <a:solidFill>
                  <a:srgbClr val="7F0000"/>
                </a:solidFill>
                <a:latin typeface="Trebuchet MS"/>
                <a:cs typeface="Trebuchet MS"/>
              </a:rPr>
              <a:t> </a:t>
            </a:r>
            <a:r>
              <a:rPr sz="2350" b="1" spc="235" dirty="0">
                <a:solidFill>
                  <a:srgbClr val="7F0000"/>
                </a:solidFill>
                <a:latin typeface="Arial"/>
                <a:cs typeface="Arial"/>
              </a:rPr>
              <a:t>)</a:t>
            </a:r>
            <a:r>
              <a:rPr sz="2350" b="1" spc="150" dirty="0">
                <a:solidFill>
                  <a:srgbClr val="7F0000"/>
                </a:solidFill>
                <a:latin typeface="Arial"/>
                <a:cs typeface="Arial"/>
              </a:rPr>
              <a:t> </a:t>
            </a:r>
            <a:r>
              <a:rPr sz="2350" spc="-65" dirty="0">
                <a:latin typeface="Tahoma"/>
                <a:cs typeface="Tahoma"/>
              </a:rPr>
              <a:t>permet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b="1" spc="-50" dirty="0">
                <a:solidFill>
                  <a:srgbClr val="000099"/>
                </a:solidFill>
                <a:latin typeface="Arial"/>
                <a:cs typeface="Arial"/>
              </a:rPr>
              <a:t>d’utiliser </a:t>
            </a:r>
            <a:r>
              <a:rPr sz="2350" b="1" spc="-63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125" dirty="0">
                <a:solidFill>
                  <a:srgbClr val="000099"/>
                </a:solidFill>
                <a:latin typeface="Arial"/>
                <a:cs typeface="Arial"/>
              </a:rPr>
              <a:t>plusieurs</a:t>
            </a:r>
            <a:r>
              <a:rPr sz="2350" b="1" spc="-1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75" dirty="0">
                <a:solidFill>
                  <a:srgbClr val="000099"/>
                </a:solidFill>
                <a:latin typeface="Arial"/>
                <a:cs typeface="Arial"/>
              </a:rPr>
              <a:t>méthodes</a:t>
            </a:r>
            <a:r>
              <a:rPr sz="2350" b="1" spc="-7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80" dirty="0">
                <a:solidFill>
                  <a:srgbClr val="000099"/>
                </a:solidFill>
                <a:latin typeface="Arial"/>
                <a:cs typeface="Arial"/>
              </a:rPr>
              <a:t>qui</a:t>
            </a:r>
            <a:r>
              <a:rPr sz="2350" b="1" spc="-7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10" dirty="0">
                <a:solidFill>
                  <a:srgbClr val="000099"/>
                </a:solidFill>
                <a:latin typeface="Arial"/>
                <a:cs typeface="Arial"/>
              </a:rPr>
              <a:t>portent </a:t>
            </a:r>
            <a:r>
              <a:rPr sz="2350" b="1" spc="-70" dirty="0">
                <a:solidFill>
                  <a:srgbClr val="000099"/>
                </a:solidFill>
                <a:latin typeface="Arial"/>
                <a:cs typeface="Arial"/>
              </a:rPr>
              <a:t>le </a:t>
            </a:r>
            <a:r>
              <a:rPr sz="2350" b="1" spc="-60" dirty="0">
                <a:solidFill>
                  <a:srgbClr val="000099"/>
                </a:solidFill>
                <a:latin typeface="Arial"/>
                <a:cs typeface="Arial"/>
              </a:rPr>
              <a:t>même </a:t>
            </a:r>
            <a:r>
              <a:rPr sz="2350" b="1" spc="-80" dirty="0">
                <a:solidFill>
                  <a:srgbClr val="000099"/>
                </a:solidFill>
                <a:latin typeface="Arial"/>
                <a:cs typeface="Arial"/>
              </a:rPr>
              <a:t>nom</a:t>
            </a:r>
            <a:r>
              <a:rPr sz="2350" b="1" spc="-75" dirty="0">
                <a:solidFill>
                  <a:srgbClr val="000099"/>
                </a:solidFill>
                <a:latin typeface="Arial"/>
                <a:cs typeface="Arial"/>
              </a:rPr>
              <a:t> au</a:t>
            </a:r>
            <a:r>
              <a:rPr sz="2350" b="1" spc="-7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135" dirty="0">
                <a:solidFill>
                  <a:srgbClr val="000099"/>
                </a:solidFill>
                <a:latin typeface="Arial"/>
                <a:cs typeface="Arial"/>
              </a:rPr>
              <a:t>sein</a:t>
            </a:r>
            <a:r>
              <a:rPr sz="2350" b="1" spc="-13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60" dirty="0">
                <a:solidFill>
                  <a:srgbClr val="000099"/>
                </a:solidFill>
                <a:latin typeface="Arial"/>
                <a:cs typeface="Arial"/>
              </a:rPr>
              <a:t>d’une </a:t>
            </a:r>
            <a:r>
              <a:rPr sz="2350" b="1" spc="-5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60" dirty="0">
                <a:solidFill>
                  <a:srgbClr val="000099"/>
                </a:solidFill>
                <a:latin typeface="Arial"/>
                <a:cs typeface="Arial"/>
              </a:rPr>
              <a:t>même</a:t>
            </a:r>
            <a:r>
              <a:rPr sz="2350" b="1" spc="2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160" dirty="0">
                <a:solidFill>
                  <a:srgbClr val="000099"/>
                </a:solidFill>
                <a:latin typeface="Arial"/>
                <a:cs typeface="Arial"/>
              </a:rPr>
              <a:t>classe</a:t>
            </a:r>
            <a:r>
              <a:rPr sz="2350" b="1" spc="2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100" dirty="0">
                <a:solidFill>
                  <a:srgbClr val="000099"/>
                </a:solidFill>
                <a:latin typeface="Arial"/>
                <a:cs typeface="Arial"/>
              </a:rPr>
              <a:t>avec</a:t>
            </a:r>
            <a:r>
              <a:rPr sz="2350" b="1" spc="2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95" dirty="0">
                <a:solidFill>
                  <a:srgbClr val="000099"/>
                </a:solidFill>
                <a:latin typeface="Arial"/>
                <a:cs typeface="Arial"/>
              </a:rPr>
              <a:t>une</a:t>
            </a:r>
            <a:r>
              <a:rPr sz="2350" b="1" spc="2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80" dirty="0">
                <a:solidFill>
                  <a:srgbClr val="000099"/>
                </a:solidFill>
                <a:latin typeface="Arial"/>
                <a:cs typeface="Arial"/>
              </a:rPr>
              <a:t>signature</a:t>
            </a:r>
            <a:r>
              <a:rPr sz="2350" b="1" spc="2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40" dirty="0">
                <a:solidFill>
                  <a:srgbClr val="000099"/>
                </a:solidFill>
                <a:latin typeface="Arial"/>
                <a:cs typeface="Arial"/>
              </a:rPr>
              <a:t>différente</a:t>
            </a:r>
            <a:r>
              <a:rPr sz="2350" spc="-40" dirty="0">
                <a:latin typeface="Tahoma"/>
                <a:cs typeface="Tahoma"/>
              </a:rPr>
              <a:t>.</a:t>
            </a:r>
            <a:endParaRPr sz="2350">
              <a:latin typeface="Tahoma"/>
              <a:cs typeface="Tahoma"/>
            </a:endParaRPr>
          </a:p>
          <a:p>
            <a:pPr marL="619125" marR="110489">
              <a:lnSpc>
                <a:spcPct val="105200"/>
              </a:lnSpc>
              <a:spcBef>
                <a:spcPts val="1745"/>
              </a:spcBef>
            </a:pPr>
            <a:r>
              <a:rPr sz="2350" spc="-55" dirty="0">
                <a:latin typeface="Tahoma"/>
                <a:cs typeface="Tahoma"/>
              </a:rPr>
              <a:t>Une </a:t>
            </a:r>
            <a:r>
              <a:rPr sz="2350" b="1" spc="-50" dirty="0">
                <a:solidFill>
                  <a:srgbClr val="7F0000"/>
                </a:solidFill>
                <a:latin typeface="Arial"/>
                <a:cs typeface="Arial"/>
              </a:rPr>
              <a:t>redéfinition </a:t>
            </a:r>
            <a:r>
              <a:rPr sz="2350" b="1" spc="-55" dirty="0">
                <a:solidFill>
                  <a:srgbClr val="7F0000"/>
                </a:solidFill>
                <a:latin typeface="Arial"/>
                <a:cs typeface="Arial"/>
              </a:rPr>
              <a:t>(</a:t>
            </a:r>
            <a:r>
              <a:rPr sz="2350" b="1" i="1" spc="-55" dirty="0">
                <a:solidFill>
                  <a:srgbClr val="7F0000"/>
                </a:solidFill>
                <a:latin typeface="Trebuchet MS"/>
                <a:cs typeface="Trebuchet MS"/>
              </a:rPr>
              <a:t>overriding </a:t>
            </a:r>
            <a:r>
              <a:rPr sz="2350" b="1" spc="235" dirty="0">
                <a:solidFill>
                  <a:srgbClr val="7F0000"/>
                </a:solidFill>
                <a:latin typeface="Arial"/>
                <a:cs typeface="Arial"/>
              </a:rPr>
              <a:t>) </a:t>
            </a:r>
            <a:r>
              <a:rPr sz="2350" spc="-65" dirty="0">
                <a:latin typeface="Tahoma"/>
                <a:cs typeface="Tahoma"/>
              </a:rPr>
              <a:t>permet </a:t>
            </a:r>
            <a:r>
              <a:rPr sz="2350" b="1" spc="-95" dirty="0">
                <a:solidFill>
                  <a:srgbClr val="000099"/>
                </a:solidFill>
                <a:latin typeface="Arial"/>
                <a:cs typeface="Arial"/>
              </a:rPr>
              <a:t>de</a:t>
            </a:r>
            <a:r>
              <a:rPr sz="2350" b="1" spc="-9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60" dirty="0">
                <a:solidFill>
                  <a:srgbClr val="000099"/>
                </a:solidFill>
                <a:latin typeface="Arial"/>
                <a:cs typeface="Arial"/>
              </a:rPr>
              <a:t>fournir </a:t>
            </a:r>
            <a:r>
              <a:rPr sz="2350" b="1" spc="-95" dirty="0">
                <a:solidFill>
                  <a:srgbClr val="000099"/>
                </a:solidFill>
                <a:latin typeface="Arial"/>
                <a:cs typeface="Arial"/>
              </a:rPr>
              <a:t>une</a:t>
            </a:r>
            <a:r>
              <a:rPr sz="2350" b="1" spc="-90" dirty="0">
                <a:solidFill>
                  <a:srgbClr val="000099"/>
                </a:solidFill>
                <a:latin typeface="Arial"/>
                <a:cs typeface="Arial"/>
              </a:rPr>
              <a:t> nouvelle </a:t>
            </a:r>
            <a:r>
              <a:rPr sz="2350" b="1" spc="-8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45" dirty="0">
                <a:solidFill>
                  <a:srgbClr val="000099"/>
                </a:solidFill>
                <a:latin typeface="Arial"/>
                <a:cs typeface="Arial"/>
              </a:rPr>
              <a:t>définition </a:t>
            </a:r>
            <a:r>
              <a:rPr sz="2350" b="1" spc="-60" dirty="0">
                <a:solidFill>
                  <a:srgbClr val="000099"/>
                </a:solidFill>
                <a:latin typeface="Arial"/>
                <a:cs typeface="Arial"/>
              </a:rPr>
              <a:t>d’une</a:t>
            </a:r>
            <a:r>
              <a:rPr sz="2350" b="1" spc="-5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40" dirty="0">
                <a:solidFill>
                  <a:srgbClr val="000099"/>
                </a:solidFill>
                <a:latin typeface="Arial"/>
                <a:cs typeface="Arial"/>
              </a:rPr>
              <a:t>méthode </a:t>
            </a:r>
            <a:r>
              <a:rPr sz="2350" b="1" spc="-60" dirty="0">
                <a:solidFill>
                  <a:srgbClr val="000099"/>
                </a:solidFill>
                <a:latin typeface="Arial"/>
                <a:cs typeface="Arial"/>
              </a:rPr>
              <a:t>d’une</a:t>
            </a:r>
            <a:r>
              <a:rPr sz="2350" b="1" spc="-5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160" dirty="0">
                <a:solidFill>
                  <a:srgbClr val="000099"/>
                </a:solidFill>
                <a:latin typeface="Arial"/>
                <a:cs typeface="Arial"/>
              </a:rPr>
              <a:t>classe</a:t>
            </a:r>
            <a:r>
              <a:rPr sz="2350" b="1" spc="-15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85" dirty="0">
                <a:solidFill>
                  <a:srgbClr val="000099"/>
                </a:solidFill>
                <a:latin typeface="Arial"/>
                <a:cs typeface="Arial"/>
              </a:rPr>
              <a:t>ascendante</a:t>
            </a:r>
            <a:r>
              <a:rPr sz="2350" b="1" spc="-8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70" dirty="0">
                <a:solidFill>
                  <a:srgbClr val="000099"/>
                </a:solidFill>
                <a:latin typeface="Arial"/>
                <a:cs typeface="Arial"/>
              </a:rPr>
              <a:t>pour</a:t>
            </a:r>
            <a:r>
              <a:rPr sz="2350" b="1" spc="-6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55" dirty="0">
                <a:solidFill>
                  <a:srgbClr val="000099"/>
                </a:solidFill>
                <a:latin typeface="Arial"/>
                <a:cs typeface="Arial"/>
              </a:rPr>
              <a:t>la </a:t>
            </a:r>
            <a:r>
              <a:rPr sz="2350" b="1" spc="-5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65" dirty="0">
                <a:solidFill>
                  <a:srgbClr val="000099"/>
                </a:solidFill>
                <a:latin typeface="Arial"/>
                <a:cs typeface="Arial"/>
              </a:rPr>
              <a:t>remplacer</a:t>
            </a:r>
            <a:r>
              <a:rPr sz="2350" spc="-65" dirty="0">
                <a:latin typeface="Tahoma"/>
                <a:cs typeface="Tahoma"/>
              </a:rPr>
              <a:t>.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5" dirty="0">
                <a:latin typeface="Tahoma"/>
                <a:cs typeface="Tahoma"/>
              </a:rPr>
              <a:t>Elle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5" dirty="0">
                <a:latin typeface="Tahoma"/>
                <a:cs typeface="Tahoma"/>
              </a:rPr>
              <a:t>doit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55" dirty="0">
                <a:latin typeface="Tahoma"/>
                <a:cs typeface="Tahoma"/>
              </a:rPr>
              <a:t>avoir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114" dirty="0">
                <a:latin typeface="Tahoma"/>
                <a:cs typeface="Tahoma"/>
              </a:rPr>
              <a:t>une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u="sng" spc="-6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signature</a:t>
            </a:r>
            <a:r>
              <a:rPr sz="2350" u="sng" spc="6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350" u="sng" spc="-8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rigoureusement</a:t>
            </a:r>
            <a:r>
              <a:rPr sz="2350" u="sng" spc="6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350" u="sng" spc="-6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identique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à </a:t>
            </a:r>
            <a:r>
              <a:rPr sz="2350" spc="-720" dirty="0">
                <a:latin typeface="Tahoma"/>
                <a:cs typeface="Tahoma"/>
              </a:rPr>
              <a:t> </a:t>
            </a:r>
            <a:r>
              <a:rPr sz="2350" spc="-30" dirty="0">
                <a:latin typeface="Tahoma"/>
                <a:cs typeface="Tahoma"/>
              </a:rPr>
              <a:t>la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méthode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parente.</a:t>
            </a:r>
            <a:endParaRPr sz="2350">
              <a:latin typeface="Tahoma"/>
              <a:cs typeface="Tahoma"/>
            </a:endParaRPr>
          </a:p>
          <a:p>
            <a:pPr marL="12700" marR="5080">
              <a:lnSpc>
                <a:spcPct val="105200"/>
              </a:lnSpc>
              <a:spcBef>
                <a:spcPts val="2615"/>
              </a:spcBef>
            </a:pPr>
            <a:r>
              <a:rPr sz="2350" spc="10" dirty="0">
                <a:latin typeface="Tahoma"/>
                <a:cs typeface="Tahoma"/>
              </a:rPr>
              <a:t>Un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55" dirty="0">
                <a:latin typeface="Tahoma"/>
                <a:cs typeface="Tahoma"/>
              </a:rPr>
              <a:t>objet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10" dirty="0">
                <a:latin typeface="Tahoma"/>
                <a:cs typeface="Tahoma"/>
              </a:rPr>
              <a:t>garde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55" dirty="0">
                <a:latin typeface="Tahoma"/>
                <a:cs typeface="Tahoma"/>
              </a:rPr>
              <a:t>toujours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30" dirty="0">
                <a:latin typeface="Tahoma"/>
                <a:cs typeface="Tahoma"/>
              </a:rPr>
              <a:t>la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45" dirty="0">
                <a:latin typeface="Tahoma"/>
                <a:cs typeface="Tahoma"/>
              </a:rPr>
              <a:t>capacité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45" dirty="0">
                <a:latin typeface="Tahoma"/>
                <a:cs typeface="Tahoma"/>
              </a:rPr>
              <a:t>pouvoir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65" dirty="0">
                <a:latin typeface="Tahoma"/>
                <a:cs typeface="Tahoma"/>
              </a:rPr>
              <a:t>redéfinir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14" dirty="0">
                <a:latin typeface="Tahoma"/>
                <a:cs typeface="Tahoma"/>
              </a:rPr>
              <a:t>une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méthode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45" dirty="0">
                <a:latin typeface="Tahoma"/>
                <a:cs typeface="Tahoma"/>
              </a:rPr>
              <a:t>afin </a:t>
            </a:r>
            <a:r>
              <a:rPr sz="2350" spc="-720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30" dirty="0">
                <a:latin typeface="Tahoma"/>
                <a:cs typeface="Tahoma"/>
              </a:rPr>
              <a:t>la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85" dirty="0">
                <a:latin typeface="Tahoma"/>
                <a:cs typeface="Tahoma"/>
              </a:rPr>
              <a:t>réécrire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ou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30" dirty="0">
                <a:latin typeface="Tahoma"/>
                <a:cs typeface="Tahoma"/>
              </a:rPr>
              <a:t>la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60" dirty="0">
                <a:latin typeface="Tahoma"/>
                <a:cs typeface="Tahoma"/>
              </a:rPr>
              <a:t>compléter.</a:t>
            </a:r>
            <a:endParaRPr sz="235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03330" y="7322021"/>
            <a:ext cx="10085705" cy="240029"/>
            <a:chOff x="303330" y="7322021"/>
            <a:chExt cx="10085705" cy="240029"/>
          </a:xfrm>
        </p:grpSpPr>
        <p:sp>
          <p:nvSpPr>
            <p:cNvPr id="14" name="object 14"/>
            <p:cNvSpPr/>
            <p:nvPr/>
          </p:nvSpPr>
          <p:spPr>
            <a:xfrm>
              <a:off x="303330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65059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26788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60" dirty="0"/>
              <a:t>tv </a:t>
            </a:r>
            <a:r>
              <a:rPr spc="140" dirty="0"/>
              <a:t> </a:t>
            </a:r>
            <a:r>
              <a:rPr spc="55" dirty="0"/>
              <a:t>(BTS</a:t>
            </a:r>
            <a:r>
              <a:rPr spc="100" dirty="0"/>
              <a:t> </a:t>
            </a:r>
            <a:r>
              <a:rPr spc="-25" dirty="0"/>
              <a:t>IRIS</a:t>
            </a:r>
            <a:r>
              <a:rPr spc="105" dirty="0"/>
              <a:t> </a:t>
            </a:r>
            <a:r>
              <a:rPr spc="5" dirty="0"/>
              <a:t>Avignon)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-40" dirty="0"/>
              <a:t>Cours</a:t>
            </a:r>
            <a:r>
              <a:rPr spc="60" dirty="0"/>
              <a:t> </a:t>
            </a:r>
            <a:r>
              <a:rPr spc="170" dirty="0"/>
              <a:t>C/C++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481423" y="7283716"/>
            <a:ext cx="1800860" cy="27051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300" spc="40" dirty="0">
                <a:solidFill>
                  <a:srgbClr val="FFFFFF"/>
                </a:solidFill>
                <a:latin typeface="SimSun"/>
                <a:cs typeface="SimSun"/>
                <a:hlinkClick r:id="rId5"/>
              </a:rPr>
              <a:t>tvaira@free.fr</a:t>
            </a:r>
            <a:r>
              <a:rPr sz="1300" spc="-190" dirty="0">
                <a:solidFill>
                  <a:srgbClr val="FFFFFF"/>
                </a:solidFill>
                <a:latin typeface="SimSun"/>
                <a:cs typeface="SimSun"/>
                <a:hlinkClick r:id="rId5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©</a:t>
            </a:r>
            <a:r>
              <a:rPr sz="130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v0.1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9"/>
              </a:spcBef>
            </a:pPr>
            <a:fld id="{81D60167-4931-47E6-BA6A-407CBD079E47}" type="slidenum">
              <a:rPr spc="-30" dirty="0"/>
              <a:t>12</a:t>
            </a:fld>
            <a:r>
              <a:rPr spc="80" dirty="0"/>
              <a:t> </a:t>
            </a:r>
            <a:r>
              <a:rPr spc="330" dirty="0"/>
              <a:t>/</a:t>
            </a:r>
            <a:r>
              <a:rPr spc="85" dirty="0"/>
              <a:t> </a:t>
            </a:r>
            <a:r>
              <a:rPr spc="-30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3330" y="0"/>
            <a:ext cx="5043170" cy="203200"/>
          </a:xfrm>
          <a:custGeom>
            <a:avLst/>
            <a:gdLst/>
            <a:ahLst/>
            <a:cxnLst/>
            <a:rect l="l" t="t" r="r" b="b"/>
            <a:pathLst>
              <a:path w="5043170" h="203200">
                <a:moveTo>
                  <a:pt x="0" y="203077"/>
                </a:moveTo>
                <a:lnTo>
                  <a:pt x="5042663" y="203077"/>
                </a:lnTo>
                <a:lnTo>
                  <a:pt x="5042663" y="0"/>
                </a:lnTo>
                <a:lnTo>
                  <a:pt x="0" y="0"/>
                </a:lnTo>
                <a:lnTo>
                  <a:pt x="0" y="203077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453189" y="0"/>
            <a:ext cx="758190" cy="224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L’héritage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3330" y="0"/>
            <a:ext cx="10085705" cy="812800"/>
            <a:chOff x="303330" y="0"/>
            <a:chExt cx="10085705" cy="812800"/>
          </a:xfrm>
        </p:grpSpPr>
        <p:sp>
          <p:nvSpPr>
            <p:cNvPr id="5" name="object 5"/>
            <p:cNvSpPr/>
            <p:nvPr/>
          </p:nvSpPr>
          <p:spPr>
            <a:xfrm>
              <a:off x="5345993" y="0"/>
              <a:ext cx="5043170" cy="203200"/>
            </a:xfrm>
            <a:custGeom>
              <a:avLst/>
              <a:gdLst/>
              <a:ahLst/>
              <a:cxnLst/>
              <a:rect l="l" t="t" r="r" b="b"/>
              <a:pathLst>
                <a:path w="5043170" h="203200">
                  <a:moveTo>
                    <a:pt x="0" y="203077"/>
                  </a:moveTo>
                  <a:lnTo>
                    <a:pt x="5042663" y="203077"/>
                  </a:lnTo>
                  <a:lnTo>
                    <a:pt x="5042663" y="0"/>
                  </a:lnTo>
                  <a:lnTo>
                    <a:pt x="0" y="0"/>
                  </a:lnTo>
                  <a:lnTo>
                    <a:pt x="0" y="20307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330" y="201079"/>
              <a:ext cx="10085354" cy="1476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3330" y="311846"/>
              <a:ext cx="10085705" cy="498475"/>
            </a:xfrm>
            <a:custGeom>
              <a:avLst/>
              <a:gdLst/>
              <a:ahLst/>
              <a:cxnLst/>
              <a:rect l="l" t="t" r="r" b="b"/>
              <a:pathLst>
                <a:path w="10085705" h="498475">
                  <a:moveTo>
                    <a:pt x="0" y="498437"/>
                  </a:moveTo>
                  <a:lnTo>
                    <a:pt x="10085354" y="498437"/>
                  </a:lnTo>
                  <a:lnTo>
                    <a:pt x="10085354" y="0"/>
                  </a:lnTo>
                  <a:lnTo>
                    <a:pt x="0" y="0"/>
                  </a:lnTo>
                  <a:lnTo>
                    <a:pt x="0" y="49843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27007" y="249275"/>
            <a:ext cx="4778375" cy="5041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00" spc="-55" dirty="0">
                <a:solidFill>
                  <a:srgbClr val="FFFFFF"/>
                </a:solidFill>
              </a:rPr>
              <a:t>Appel</a:t>
            </a:r>
            <a:r>
              <a:rPr sz="3100" spc="40" dirty="0">
                <a:solidFill>
                  <a:srgbClr val="FFFFFF"/>
                </a:solidFill>
              </a:rPr>
              <a:t> </a:t>
            </a:r>
            <a:r>
              <a:rPr sz="3100" spc="-204" dirty="0">
                <a:solidFill>
                  <a:srgbClr val="FFFFFF"/>
                </a:solidFill>
              </a:rPr>
              <a:t>de</a:t>
            </a:r>
            <a:r>
              <a:rPr sz="3100" spc="40" dirty="0">
                <a:solidFill>
                  <a:srgbClr val="FFFFFF"/>
                </a:solidFill>
              </a:rPr>
              <a:t> </a:t>
            </a:r>
            <a:r>
              <a:rPr sz="3100" spc="-110" dirty="0">
                <a:solidFill>
                  <a:srgbClr val="FFFFFF"/>
                </a:solidFill>
              </a:rPr>
              <a:t>constructeurs</a:t>
            </a:r>
            <a:r>
              <a:rPr sz="3100" spc="40" dirty="0">
                <a:solidFill>
                  <a:srgbClr val="FFFFFF"/>
                </a:solidFill>
              </a:rPr>
              <a:t> </a:t>
            </a:r>
            <a:r>
              <a:rPr sz="3100" spc="5" dirty="0">
                <a:solidFill>
                  <a:srgbClr val="FFFFFF"/>
                </a:solidFill>
              </a:rPr>
              <a:t>(1/2)</a:t>
            </a:r>
            <a:endParaRPr sz="310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3330" y="810284"/>
            <a:ext cx="10085354" cy="7385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6620" y="2588448"/>
            <a:ext cx="142843" cy="14284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6620" y="4316441"/>
            <a:ext cx="142843" cy="14284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91910" y="2420894"/>
            <a:ext cx="9323705" cy="32029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19125" marR="5080">
              <a:lnSpc>
                <a:spcPts val="2970"/>
              </a:lnSpc>
              <a:spcBef>
                <a:spcPts val="110"/>
              </a:spcBef>
            </a:pPr>
            <a:r>
              <a:rPr sz="2350" spc="-65" dirty="0">
                <a:latin typeface="Tahoma"/>
                <a:cs typeface="Tahoma"/>
              </a:rPr>
              <a:t>Comme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14" dirty="0">
                <a:latin typeface="Tahoma"/>
                <a:cs typeface="Tahoma"/>
              </a:rPr>
              <a:t>une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65" dirty="0">
                <a:latin typeface="Tahoma"/>
                <a:cs typeface="Tahoma"/>
              </a:rPr>
              <a:t>instance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5" dirty="0">
                <a:latin typeface="Tahoma"/>
                <a:cs typeface="Tahoma"/>
              </a:rPr>
              <a:t>Etudiant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(classe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85" dirty="0">
                <a:latin typeface="Tahoma"/>
                <a:cs typeface="Tahoma"/>
              </a:rPr>
              <a:t>dérivée)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est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55" dirty="0">
                <a:latin typeface="Tahoma"/>
                <a:cs typeface="Tahoma"/>
              </a:rPr>
              <a:t>avant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5" dirty="0">
                <a:latin typeface="Tahoma"/>
                <a:cs typeface="Tahoma"/>
              </a:rPr>
              <a:t>tout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14" dirty="0">
                <a:latin typeface="Tahoma"/>
                <a:cs typeface="Tahoma"/>
              </a:rPr>
              <a:t>une </a:t>
            </a:r>
            <a:r>
              <a:rPr sz="2350" spc="-720" dirty="0">
                <a:latin typeface="Tahoma"/>
                <a:cs typeface="Tahoma"/>
              </a:rPr>
              <a:t> </a:t>
            </a:r>
            <a:r>
              <a:rPr sz="2350" spc="-65" dirty="0">
                <a:latin typeface="Tahoma"/>
                <a:cs typeface="Tahoma"/>
              </a:rPr>
              <a:t>instance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Personne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(classe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85" dirty="0">
                <a:latin typeface="Tahoma"/>
                <a:cs typeface="Tahoma"/>
              </a:rPr>
              <a:t>base),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95" dirty="0">
                <a:latin typeface="Tahoma"/>
                <a:cs typeface="Tahoma"/>
              </a:rPr>
              <a:t>dans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le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50" dirty="0">
                <a:latin typeface="Tahoma"/>
                <a:cs typeface="Tahoma"/>
              </a:rPr>
              <a:t>constructeur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30" dirty="0">
                <a:latin typeface="Tahoma"/>
                <a:cs typeface="Tahoma"/>
              </a:rPr>
              <a:t>de </a:t>
            </a:r>
            <a:r>
              <a:rPr sz="2350" spc="-125" dirty="0">
                <a:latin typeface="Tahoma"/>
                <a:cs typeface="Tahoma"/>
              </a:rPr>
              <a:t> </a:t>
            </a:r>
            <a:r>
              <a:rPr sz="2350" spc="-10" dirty="0">
                <a:latin typeface="Tahoma"/>
                <a:cs typeface="Tahoma"/>
              </a:rPr>
              <a:t>Etudiant,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on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40" dirty="0">
                <a:latin typeface="Tahoma"/>
                <a:cs typeface="Tahoma"/>
              </a:rPr>
              <a:t>explicite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30" dirty="0">
                <a:latin typeface="Tahoma"/>
                <a:cs typeface="Tahoma"/>
              </a:rPr>
              <a:t>la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65" dirty="0">
                <a:latin typeface="Tahoma"/>
                <a:cs typeface="Tahoma"/>
              </a:rPr>
              <a:t>façon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créer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35" dirty="0">
                <a:latin typeface="Tahoma"/>
                <a:cs typeface="Tahoma"/>
              </a:rPr>
              <a:t>l’instance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Personne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95" dirty="0">
                <a:latin typeface="Tahoma"/>
                <a:cs typeface="Tahoma"/>
              </a:rPr>
              <a:t>dans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35" dirty="0">
                <a:latin typeface="Tahoma"/>
                <a:cs typeface="Tahoma"/>
              </a:rPr>
              <a:t>la </a:t>
            </a:r>
            <a:r>
              <a:rPr sz="2350" spc="-30" dirty="0">
                <a:latin typeface="Tahoma"/>
                <a:cs typeface="Tahoma"/>
              </a:rPr>
              <a:t> </a:t>
            </a:r>
            <a:r>
              <a:rPr sz="2350" b="1" spc="-65" dirty="0">
                <a:solidFill>
                  <a:srgbClr val="000099"/>
                </a:solidFill>
                <a:latin typeface="Arial"/>
                <a:cs typeface="Arial"/>
              </a:rPr>
              <a:t>liste</a:t>
            </a:r>
            <a:r>
              <a:rPr sz="2350" b="1" spc="2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45" dirty="0">
                <a:solidFill>
                  <a:srgbClr val="000099"/>
                </a:solidFill>
                <a:latin typeface="Arial"/>
                <a:cs typeface="Arial"/>
              </a:rPr>
              <a:t>d’initialisation</a:t>
            </a:r>
            <a:r>
              <a:rPr sz="2350" spc="-45" dirty="0">
                <a:latin typeface="Tahoma"/>
                <a:cs typeface="Tahoma"/>
              </a:rPr>
              <a:t>.</a:t>
            </a:r>
            <a:endParaRPr sz="2350">
              <a:latin typeface="Tahoma"/>
              <a:cs typeface="Tahoma"/>
            </a:endParaRPr>
          </a:p>
          <a:p>
            <a:pPr marL="619125" marR="446405">
              <a:lnSpc>
                <a:spcPct val="105200"/>
              </a:lnSpc>
              <a:spcBef>
                <a:spcPts val="1605"/>
              </a:spcBef>
            </a:pPr>
            <a:r>
              <a:rPr sz="2350" spc="-30" dirty="0">
                <a:latin typeface="Tahoma"/>
                <a:cs typeface="Tahoma"/>
              </a:rPr>
              <a:t>Le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50" dirty="0">
                <a:latin typeface="Tahoma"/>
                <a:cs typeface="Tahoma"/>
              </a:rPr>
              <a:t>constructeur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Personne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(classe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base)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est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appelé</a:t>
            </a:r>
            <a:r>
              <a:rPr sz="2350" spc="45" dirty="0">
                <a:latin typeface="Tahoma"/>
                <a:cs typeface="Tahoma"/>
              </a:rPr>
              <a:t> </a:t>
            </a:r>
            <a:r>
              <a:rPr sz="235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avant</a:t>
            </a:r>
            <a:r>
              <a:rPr sz="2350" b="1" spc="135" dirty="0">
                <a:latin typeface="Arial"/>
                <a:cs typeface="Arial"/>
              </a:rPr>
              <a:t> </a:t>
            </a:r>
            <a:r>
              <a:rPr sz="2350" spc="-80" dirty="0">
                <a:latin typeface="Tahoma"/>
                <a:cs typeface="Tahoma"/>
              </a:rPr>
              <a:t>le </a:t>
            </a:r>
            <a:r>
              <a:rPr sz="2350" spc="-715" dirty="0">
                <a:latin typeface="Tahoma"/>
                <a:cs typeface="Tahoma"/>
              </a:rPr>
              <a:t> </a:t>
            </a:r>
            <a:r>
              <a:rPr sz="2350" spc="-50" dirty="0">
                <a:latin typeface="Tahoma"/>
                <a:cs typeface="Tahoma"/>
              </a:rPr>
              <a:t>constructeur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5" dirty="0">
                <a:latin typeface="Tahoma"/>
                <a:cs typeface="Tahoma"/>
              </a:rPr>
              <a:t>Etudiant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(classe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85" dirty="0">
                <a:latin typeface="Tahoma"/>
                <a:cs typeface="Tahoma"/>
              </a:rPr>
              <a:t>dérivée).</a:t>
            </a:r>
            <a:endParaRPr sz="2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765"/>
              </a:spcBef>
            </a:pPr>
            <a:r>
              <a:rPr sz="2350" i="1" spc="-135" dirty="0">
                <a:latin typeface="Arial"/>
                <a:cs typeface="Arial"/>
              </a:rPr>
              <a:t>Remarque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10" dirty="0">
                <a:latin typeface="Arial"/>
                <a:cs typeface="Arial"/>
              </a:rPr>
              <a:t>:</a:t>
            </a:r>
            <a:r>
              <a:rPr sz="2350" i="1" spc="145" dirty="0">
                <a:latin typeface="Arial"/>
                <a:cs typeface="Arial"/>
              </a:rPr>
              <a:t> </a:t>
            </a:r>
            <a:r>
              <a:rPr sz="2350" i="1" spc="-160" dirty="0">
                <a:latin typeface="Arial"/>
                <a:cs typeface="Arial"/>
              </a:rPr>
              <a:t>les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-80" dirty="0">
                <a:latin typeface="Arial"/>
                <a:cs typeface="Arial"/>
              </a:rPr>
              <a:t>destructeurs</a:t>
            </a:r>
            <a:r>
              <a:rPr sz="2350" i="1" spc="145" dirty="0">
                <a:latin typeface="Arial"/>
                <a:cs typeface="Arial"/>
              </a:rPr>
              <a:t> </a:t>
            </a:r>
            <a:r>
              <a:rPr sz="2350" i="1" spc="-60" dirty="0">
                <a:latin typeface="Arial"/>
                <a:cs typeface="Arial"/>
              </a:rPr>
              <a:t>sont</a:t>
            </a:r>
            <a:r>
              <a:rPr sz="2350" i="1" spc="145" dirty="0">
                <a:latin typeface="Arial"/>
                <a:cs typeface="Arial"/>
              </a:rPr>
              <a:t> </a:t>
            </a:r>
            <a:r>
              <a:rPr sz="2350" i="1" spc="-140" dirty="0">
                <a:latin typeface="Arial"/>
                <a:cs typeface="Arial"/>
              </a:rPr>
              <a:t>appelés</a:t>
            </a:r>
            <a:r>
              <a:rPr sz="2350" i="1" spc="150" dirty="0">
                <a:latin typeface="Arial"/>
                <a:cs typeface="Arial"/>
              </a:rPr>
              <a:t> </a:t>
            </a:r>
            <a:r>
              <a:rPr sz="2350" i="1" spc="-145" dirty="0">
                <a:latin typeface="Arial"/>
                <a:cs typeface="Arial"/>
              </a:rPr>
              <a:t>dans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-40" dirty="0">
                <a:latin typeface="Arial"/>
                <a:cs typeface="Arial"/>
              </a:rPr>
              <a:t>l’ordre</a:t>
            </a:r>
            <a:r>
              <a:rPr sz="2350" i="1" spc="145" dirty="0">
                <a:latin typeface="Arial"/>
                <a:cs typeface="Arial"/>
              </a:rPr>
              <a:t> </a:t>
            </a:r>
            <a:r>
              <a:rPr sz="2350" i="1" spc="-110" dirty="0">
                <a:latin typeface="Arial"/>
                <a:cs typeface="Arial"/>
              </a:rPr>
              <a:t>inverse.</a:t>
            </a:r>
            <a:endParaRPr sz="235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03330" y="7322021"/>
            <a:ext cx="10085705" cy="240029"/>
            <a:chOff x="303330" y="7322021"/>
            <a:chExt cx="10085705" cy="240029"/>
          </a:xfrm>
        </p:grpSpPr>
        <p:sp>
          <p:nvSpPr>
            <p:cNvPr id="14" name="object 14"/>
            <p:cNvSpPr/>
            <p:nvPr/>
          </p:nvSpPr>
          <p:spPr>
            <a:xfrm>
              <a:off x="303330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65059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26788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60" dirty="0"/>
              <a:t>tv </a:t>
            </a:r>
            <a:r>
              <a:rPr spc="140" dirty="0"/>
              <a:t> </a:t>
            </a:r>
            <a:r>
              <a:rPr spc="55" dirty="0"/>
              <a:t>(BTS</a:t>
            </a:r>
            <a:r>
              <a:rPr spc="100" dirty="0"/>
              <a:t> </a:t>
            </a:r>
            <a:r>
              <a:rPr spc="-25" dirty="0"/>
              <a:t>IRIS</a:t>
            </a:r>
            <a:r>
              <a:rPr spc="105" dirty="0"/>
              <a:t> </a:t>
            </a:r>
            <a:r>
              <a:rPr spc="5" dirty="0"/>
              <a:t>Avignon)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-40" dirty="0"/>
              <a:t>Cours</a:t>
            </a:r>
            <a:r>
              <a:rPr spc="60" dirty="0"/>
              <a:t> </a:t>
            </a:r>
            <a:r>
              <a:rPr spc="170" dirty="0"/>
              <a:t>C/C++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481423" y="7283716"/>
            <a:ext cx="1800860" cy="27051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300" spc="40" dirty="0">
                <a:solidFill>
                  <a:srgbClr val="FFFFFF"/>
                </a:solidFill>
                <a:latin typeface="SimSun"/>
                <a:cs typeface="SimSun"/>
                <a:hlinkClick r:id="rId5"/>
              </a:rPr>
              <a:t>tvaira@free.fr</a:t>
            </a:r>
            <a:r>
              <a:rPr sz="1300" spc="-190" dirty="0">
                <a:solidFill>
                  <a:srgbClr val="FFFFFF"/>
                </a:solidFill>
                <a:latin typeface="SimSun"/>
                <a:cs typeface="SimSun"/>
                <a:hlinkClick r:id="rId5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©</a:t>
            </a:r>
            <a:r>
              <a:rPr sz="130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v0.1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9"/>
              </a:spcBef>
            </a:pPr>
            <a:fld id="{81D60167-4931-47E6-BA6A-407CBD079E47}" type="slidenum">
              <a:rPr spc="-30" dirty="0"/>
              <a:t>13</a:t>
            </a:fld>
            <a:r>
              <a:rPr spc="80" dirty="0"/>
              <a:t> </a:t>
            </a:r>
            <a:r>
              <a:rPr spc="330" dirty="0"/>
              <a:t>/</a:t>
            </a:r>
            <a:r>
              <a:rPr spc="85" dirty="0"/>
              <a:t> </a:t>
            </a:r>
            <a:r>
              <a:rPr spc="-30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3330" y="0"/>
            <a:ext cx="5043170" cy="203200"/>
          </a:xfrm>
          <a:custGeom>
            <a:avLst/>
            <a:gdLst/>
            <a:ahLst/>
            <a:cxnLst/>
            <a:rect l="l" t="t" r="r" b="b"/>
            <a:pathLst>
              <a:path w="5043170" h="203200">
                <a:moveTo>
                  <a:pt x="0" y="203077"/>
                </a:moveTo>
                <a:lnTo>
                  <a:pt x="5042663" y="203077"/>
                </a:lnTo>
                <a:lnTo>
                  <a:pt x="5042663" y="0"/>
                </a:lnTo>
                <a:lnTo>
                  <a:pt x="0" y="0"/>
                </a:lnTo>
                <a:lnTo>
                  <a:pt x="0" y="203077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453189" y="0"/>
            <a:ext cx="758190" cy="224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L’héritage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3330" y="0"/>
            <a:ext cx="10085705" cy="812800"/>
            <a:chOff x="303330" y="0"/>
            <a:chExt cx="10085705" cy="812800"/>
          </a:xfrm>
        </p:grpSpPr>
        <p:sp>
          <p:nvSpPr>
            <p:cNvPr id="5" name="object 5"/>
            <p:cNvSpPr/>
            <p:nvPr/>
          </p:nvSpPr>
          <p:spPr>
            <a:xfrm>
              <a:off x="5345993" y="0"/>
              <a:ext cx="5043170" cy="203200"/>
            </a:xfrm>
            <a:custGeom>
              <a:avLst/>
              <a:gdLst/>
              <a:ahLst/>
              <a:cxnLst/>
              <a:rect l="l" t="t" r="r" b="b"/>
              <a:pathLst>
                <a:path w="5043170" h="203200">
                  <a:moveTo>
                    <a:pt x="0" y="203077"/>
                  </a:moveTo>
                  <a:lnTo>
                    <a:pt x="5042663" y="203077"/>
                  </a:lnTo>
                  <a:lnTo>
                    <a:pt x="5042663" y="0"/>
                  </a:lnTo>
                  <a:lnTo>
                    <a:pt x="0" y="0"/>
                  </a:lnTo>
                  <a:lnTo>
                    <a:pt x="0" y="20307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330" y="201079"/>
              <a:ext cx="10085354" cy="1476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3330" y="311846"/>
              <a:ext cx="10085705" cy="498475"/>
            </a:xfrm>
            <a:custGeom>
              <a:avLst/>
              <a:gdLst/>
              <a:ahLst/>
              <a:cxnLst/>
              <a:rect l="l" t="t" r="r" b="b"/>
              <a:pathLst>
                <a:path w="10085705" h="498475">
                  <a:moveTo>
                    <a:pt x="0" y="498437"/>
                  </a:moveTo>
                  <a:lnTo>
                    <a:pt x="10085354" y="498437"/>
                  </a:lnTo>
                  <a:lnTo>
                    <a:pt x="10085354" y="0"/>
                  </a:lnTo>
                  <a:lnTo>
                    <a:pt x="0" y="0"/>
                  </a:lnTo>
                  <a:lnTo>
                    <a:pt x="0" y="49843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27007" y="249275"/>
            <a:ext cx="4778375" cy="5041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00" spc="-55" dirty="0">
                <a:solidFill>
                  <a:srgbClr val="FFFFFF"/>
                </a:solidFill>
              </a:rPr>
              <a:t>Appel</a:t>
            </a:r>
            <a:r>
              <a:rPr sz="3100" spc="40" dirty="0">
                <a:solidFill>
                  <a:srgbClr val="FFFFFF"/>
                </a:solidFill>
              </a:rPr>
              <a:t> </a:t>
            </a:r>
            <a:r>
              <a:rPr sz="3100" spc="-204" dirty="0">
                <a:solidFill>
                  <a:srgbClr val="FFFFFF"/>
                </a:solidFill>
              </a:rPr>
              <a:t>de</a:t>
            </a:r>
            <a:r>
              <a:rPr sz="3100" spc="40" dirty="0">
                <a:solidFill>
                  <a:srgbClr val="FFFFFF"/>
                </a:solidFill>
              </a:rPr>
              <a:t> </a:t>
            </a:r>
            <a:r>
              <a:rPr sz="3100" spc="-110" dirty="0">
                <a:solidFill>
                  <a:srgbClr val="FFFFFF"/>
                </a:solidFill>
              </a:rPr>
              <a:t>constructeurs</a:t>
            </a:r>
            <a:r>
              <a:rPr sz="3100" spc="40" dirty="0">
                <a:solidFill>
                  <a:srgbClr val="FFFFFF"/>
                </a:solidFill>
              </a:rPr>
              <a:t> </a:t>
            </a:r>
            <a:r>
              <a:rPr sz="3100" spc="5" dirty="0">
                <a:solidFill>
                  <a:srgbClr val="FFFFFF"/>
                </a:solidFill>
              </a:rPr>
              <a:t>(2/2)</a:t>
            </a:r>
            <a:endParaRPr sz="310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3330" y="810284"/>
            <a:ext cx="10085354" cy="73853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493425" y="1864056"/>
            <a:ext cx="9816465" cy="4113529"/>
            <a:chOff x="493425" y="1864056"/>
            <a:chExt cx="9816465" cy="4113529"/>
          </a:xfrm>
        </p:grpSpPr>
        <p:sp>
          <p:nvSpPr>
            <p:cNvPr id="11" name="object 11"/>
            <p:cNvSpPr/>
            <p:nvPr/>
          </p:nvSpPr>
          <p:spPr>
            <a:xfrm>
              <a:off x="493425" y="1864056"/>
              <a:ext cx="9705340" cy="180340"/>
            </a:xfrm>
            <a:custGeom>
              <a:avLst/>
              <a:gdLst/>
              <a:ahLst/>
              <a:cxnLst/>
              <a:rect l="l" t="t" r="r" b="b"/>
              <a:pathLst>
                <a:path w="9705340" h="180339">
                  <a:moveTo>
                    <a:pt x="9594072" y="0"/>
                  </a:moveTo>
                  <a:lnTo>
                    <a:pt x="111185" y="0"/>
                  </a:lnTo>
                  <a:lnTo>
                    <a:pt x="68014" y="8773"/>
                  </a:lnTo>
                  <a:lnTo>
                    <a:pt x="32660" y="32660"/>
                  </a:lnTo>
                  <a:lnTo>
                    <a:pt x="8773" y="68013"/>
                  </a:lnTo>
                  <a:lnTo>
                    <a:pt x="0" y="111184"/>
                  </a:lnTo>
                  <a:lnTo>
                    <a:pt x="0" y="180312"/>
                  </a:lnTo>
                  <a:lnTo>
                    <a:pt x="9705258" y="180312"/>
                  </a:lnTo>
                  <a:lnTo>
                    <a:pt x="9705258" y="111184"/>
                  </a:lnTo>
                  <a:lnTo>
                    <a:pt x="9696484" y="68013"/>
                  </a:lnTo>
                  <a:lnTo>
                    <a:pt x="9672596" y="32660"/>
                  </a:lnTo>
                  <a:lnTo>
                    <a:pt x="9637243" y="8773"/>
                  </a:lnTo>
                  <a:lnTo>
                    <a:pt x="9594072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4610" y="5755022"/>
              <a:ext cx="222367" cy="22236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5796" y="5727226"/>
              <a:ext cx="9593949" cy="25016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198683" y="1974741"/>
              <a:ext cx="111061" cy="378028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93425" y="1961255"/>
              <a:ext cx="9705340" cy="3905250"/>
            </a:xfrm>
            <a:custGeom>
              <a:avLst/>
              <a:gdLst/>
              <a:ahLst/>
              <a:cxnLst/>
              <a:rect l="l" t="t" r="r" b="b"/>
              <a:pathLst>
                <a:path w="9705340" h="3905250">
                  <a:moveTo>
                    <a:pt x="9705258" y="0"/>
                  </a:moveTo>
                  <a:lnTo>
                    <a:pt x="0" y="0"/>
                  </a:lnTo>
                  <a:lnTo>
                    <a:pt x="0" y="3793767"/>
                  </a:lnTo>
                  <a:lnTo>
                    <a:pt x="8773" y="3836938"/>
                  </a:lnTo>
                  <a:lnTo>
                    <a:pt x="32660" y="3872291"/>
                  </a:lnTo>
                  <a:lnTo>
                    <a:pt x="68014" y="3896179"/>
                  </a:lnTo>
                  <a:lnTo>
                    <a:pt x="111185" y="3904952"/>
                  </a:lnTo>
                  <a:lnTo>
                    <a:pt x="9594072" y="3904952"/>
                  </a:lnTo>
                  <a:lnTo>
                    <a:pt x="9637243" y="3896179"/>
                  </a:lnTo>
                  <a:lnTo>
                    <a:pt x="9672596" y="3872291"/>
                  </a:lnTo>
                  <a:lnTo>
                    <a:pt x="9696484" y="3836938"/>
                  </a:lnTo>
                  <a:lnTo>
                    <a:pt x="9705258" y="3793767"/>
                  </a:lnTo>
                  <a:lnTo>
                    <a:pt x="9705258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198683" y="2058075"/>
              <a:ext cx="0" cy="3738879"/>
            </a:xfrm>
            <a:custGeom>
              <a:avLst/>
              <a:gdLst/>
              <a:ahLst/>
              <a:cxnLst/>
              <a:rect l="l" t="t" r="r" b="b"/>
              <a:pathLst>
                <a:path h="3738879">
                  <a:moveTo>
                    <a:pt x="0" y="373864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198683" y="2030279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39">
                  <a:moveTo>
                    <a:pt x="0" y="277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198683" y="2002483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39">
                  <a:moveTo>
                    <a:pt x="0" y="277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198683" y="1974687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39">
                  <a:moveTo>
                    <a:pt x="0" y="277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91910" y="2132761"/>
            <a:ext cx="7940675" cy="3448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085"/>
              </a:lnSpc>
              <a:spcBef>
                <a:spcPts val="95"/>
              </a:spcBef>
            </a:pPr>
            <a:r>
              <a:rPr sz="1750" b="1" spc="229" dirty="0">
                <a:solidFill>
                  <a:srgbClr val="595959"/>
                </a:solidFill>
                <a:latin typeface="Trebuchet MS"/>
                <a:cs typeface="Trebuchet MS"/>
              </a:rPr>
              <a:t>//</a:t>
            </a:r>
            <a:r>
              <a:rPr sz="1750" b="1" spc="37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75" dirty="0">
                <a:solidFill>
                  <a:srgbClr val="595959"/>
                </a:solidFill>
                <a:latin typeface="Trebuchet MS"/>
                <a:cs typeface="Trebuchet MS"/>
              </a:rPr>
              <a:t>Classe</a:t>
            </a:r>
            <a:r>
              <a:rPr sz="1750" b="1" spc="37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00" dirty="0">
                <a:solidFill>
                  <a:srgbClr val="595959"/>
                </a:solidFill>
                <a:latin typeface="Trebuchet MS"/>
                <a:cs typeface="Trebuchet MS"/>
              </a:rPr>
              <a:t>de</a:t>
            </a:r>
            <a:r>
              <a:rPr sz="1750" b="1" spc="-5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5" dirty="0">
                <a:solidFill>
                  <a:srgbClr val="595959"/>
                </a:solidFill>
                <a:latin typeface="Trebuchet MS"/>
                <a:cs typeface="Trebuchet MS"/>
              </a:rPr>
              <a:t>base</a:t>
            </a:r>
            <a:endParaRPr sz="1750">
              <a:latin typeface="Trebuchet MS"/>
              <a:cs typeface="Trebuchet MS"/>
            </a:endParaRPr>
          </a:p>
          <a:p>
            <a:pPr marL="330200" marR="5256530" indent="-318135">
              <a:lnSpc>
                <a:spcPts val="2070"/>
              </a:lnSpc>
              <a:spcBef>
                <a:spcPts val="80"/>
              </a:spcBef>
            </a:pP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class </a:t>
            </a:r>
            <a:r>
              <a:rPr sz="1750" spc="50" dirty="0">
                <a:latin typeface="SimSun"/>
                <a:cs typeface="SimSun"/>
              </a:rPr>
              <a:t>Personne { </a:t>
            </a:r>
            <a:r>
              <a:rPr sz="1750" spc="55" dirty="0">
                <a:latin typeface="SimSun"/>
                <a:cs typeface="SimSun"/>
              </a:rPr>
              <a:t> </a:t>
            </a: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private</a:t>
            </a:r>
            <a:r>
              <a:rPr sz="1750" spc="50" dirty="0">
                <a:latin typeface="SimSun"/>
                <a:cs typeface="SimSun"/>
              </a:rPr>
              <a:t>:</a:t>
            </a:r>
            <a:r>
              <a:rPr sz="1750" spc="20" dirty="0">
                <a:latin typeface="SimSun"/>
                <a:cs typeface="SimSun"/>
              </a:rPr>
              <a:t> </a:t>
            </a:r>
            <a:r>
              <a:rPr sz="1750" b="1" spc="140" dirty="0">
                <a:solidFill>
                  <a:srgbClr val="0056AD"/>
                </a:solidFill>
                <a:latin typeface="Trebuchet MS"/>
                <a:cs typeface="Trebuchet MS"/>
              </a:rPr>
              <a:t>string</a:t>
            </a:r>
            <a:r>
              <a:rPr sz="1750" b="1" spc="365" dirty="0">
                <a:solidFill>
                  <a:srgbClr val="0056AD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nom; </a:t>
            </a:r>
            <a:r>
              <a:rPr sz="1750" spc="-860" dirty="0">
                <a:latin typeface="SimSun"/>
                <a:cs typeface="SimSun"/>
              </a:rPr>
              <a:t> </a:t>
            </a: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public</a:t>
            </a:r>
            <a:r>
              <a:rPr sz="1750" spc="50" dirty="0">
                <a:latin typeface="SimSun"/>
                <a:cs typeface="SimSun"/>
              </a:rPr>
              <a:t>:</a:t>
            </a:r>
            <a:endParaRPr sz="1750">
              <a:latin typeface="SimSun"/>
              <a:cs typeface="SimSun"/>
            </a:endParaRPr>
          </a:p>
          <a:p>
            <a:pPr marL="647700">
              <a:lnSpc>
                <a:spcPts val="1995"/>
              </a:lnSpc>
            </a:pPr>
            <a:r>
              <a:rPr sz="1750" spc="85" dirty="0">
                <a:latin typeface="SimSun"/>
                <a:cs typeface="SimSun"/>
              </a:rPr>
              <a:t>Personne(</a:t>
            </a:r>
            <a:r>
              <a:rPr sz="1750" b="1" spc="85" dirty="0">
                <a:solidFill>
                  <a:srgbClr val="0056AD"/>
                </a:solidFill>
                <a:latin typeface="Trebuchet MS"/>
                <a:cs typeface="Trebuchet MS"/>
              </a:rPr>
              <a:t>string</a:t>
            </a:r>
            <a:r>
              <a:rPr sz="1750" b="1" spc="390" dirty="0">
                <a:solidFill>
                  <a:srgbClr val="0056AD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n)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{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nom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=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n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}</a:t>
            </a:r>
            <a:endParaRPr sz="1750">
              <a:latin typeface="SimSun"/>
              <a:cs typeface="SimSun"/>
            </a:endParaRPr>
          </a:p>
          <a:p>
            <a:pPr marL="12700">
              <a:lnSpc>
                <a:spcPts val="2085"/>
              </a:lnSpc>
            </a:pPr>
            <a:r>
              <a:rPr sz="1750" spc="50" dirty="0">
                <a:latin typeface="SimSun"/>
                <a:cs typeface="SimSun"/>
              </a:rPr>
              <a:t>};</a:t>
            </a:r>
            <a:endParaRPr sz="1750">
              <a:latin typeface="SimSun"/>
              <a:cs typeface="SimSun"/>
            </a:endParaRPr>
          </a:p>
          <a:p>
            <a:pPr marL="12700">
              <a:lnSpc>
                <a:spcPts val="2085"/>
              </a:lnSpc>
              <a:spcBef>
                <a:spcPts val="2039"/>
              </a:spcBef>
            </a:pPr>
            <a:r>
              <a:rPr sz="1750" b="1" spc="229" dirty="0">
                <a:solidFill>
                  <a:srgbClr val="595959"/>
                </a:solidFill>
                <a:latin typeface="Trebuchet MS"/>
                <a:cs typeface="Trebuchet MS"/>
              </a:rPr>
              <a:t>//</a:t>
            </a:r>
            <a:r>
              <a:rPr sz="1750" b="1" spc="36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75" dirty="0">
                <a:solidFill>
                  <a:srgbClr val="595959"/>
                </a:solidFill>
                <a:latin typeface="Trebuchet MS"/>
                <a:cs typeface="Trebuchet MS"/>
              </a:rPr>
              <a:t>Classe</a:t>
            </a:r>
            <a:r>
              <a:rPr sz="1750" b="1" spc="36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25" dirty="0">
                <a:solidFill>
                  <a:srgbClr val="595959"/>
                </a:solidFill>
                <a:latin typeface="Trebuchet MS"/>
                <a:cs typeface="Trebuchet MS"/>
              </a:rPr>
              <a:t>dérivée</a:t>
            </a:r>
            <a:endParaRPr sz="1750">
              <a:latin typeface="Trebuchet MS"/>
              <a:cs typeface="Trebuchet MS"/>
            </a:endParaRPr>
          </a:p>
          <a:p>
            <a:pPr marL="330200" marR="3919220" indent="-318135">
              <a:lnSpc>
                <a:spcPts val="2070"/>
              </a:lnSpc>
              <a:spcBef>
                <a:spcPts val="80"/>
              </a:spcBef>
            </a:pP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class</a:t>
            </a:r>
            <a:r>
              <a:rPr sz="1750" spc="35" dirty="0">
                <a:solidFill>
                  <a:srgbClr val="FF0000"/>
                </a:solidFill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Etudiant</a:t>
            </a:r>
            <a:r>
              <a:rPr sz="1750" spc="3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: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public</a:t>
            </a:r>
            <a:r>
              <a:rPr sz="1750" spc="35" dirty="0">
                <a:solidFill>
                  <a:srgbClr val="FF0000"/>
                </a:solidFill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Personne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{ </a:t>
            </a:r>
            <a:r>
              <a:rPr sz="1750" spc="-860" dirty="0">
                <a:latin typeface="SimSun"/>
                <a:cs typeface="SimSun"/>
              </a:rPr>
              <a:t> </a:t>
            </a: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private</a:t>
            </a:r>
            <a:r>
              <a:rPr sz="1750" spc="50" dirty="0">
                <a:latin typeface="SimSun"/>
                <a:cs typeface="SimSun"/>
              </a:rPr>
              <a:t>: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b="1" spc="140" dirty="0">
                <a:solidFill>
                  <a:srgbClr val="0056AD"/>
                </a:solidFill>
                <a:latin typeface="Trebuchet MS"/>
                <a:cs typeface="Trebuchet MS"/>
              </a:rPr>
              <a:t>string</a:t>
            </a:r>
            <a:r>
              <a:rPr sz="1750" b="1" spc="390" dirty="0">
                <a:solidFill>
                  <a:srgbClr val="0056AD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ine;</a:t>
            </a:r>
            <a:endParaRPr sz="1750">
              <a:latin typeface="SimSun"/>
              <a:cs typeface="SimSun"/>
            </a:endParaRPr>
          </a:p>
          <a:p>
            <a:pPr marL="330200">
              <a:lnSpc>
                <a:spcPts val="1995"/>
              </a:lnSpc>
            </a:pP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public</a:t>
            </a:r>
            <a:r>
              <a:rPr sz="1750" spc="50" dirty="0">
                <a:latin typeface="SimSun"/>
                <a:cs typeface="SimSun"/>
              </a:rPr>
              <a:t>:</a:t>
            </a:r>
            <a:endParaRPr sz="1750">
              <a:latin typeface="SimSun"/>
              <a:cs typeface="SimSun"/>
            </a:endParaRPr>
          </a:p>
          <a:p>
            <a:pPr marL="647700">
              <a:lnSpc>
                <a:spcPts val="2070"/>
              </a:lnSpc>
            </a:pPr>
            <a:r>
              <a:rPr sz="1750" spc="85" dirty="0">
                <a:latin typeface="SimSun"/>
                <a:cs typeface="SimSun"/>
              </a:rPr>
              <a:t>Etudiant(</a:t>
            </a:r>
            <a:r>
              <a:rPr sz="1750" b="1" spc="85" dirty="0">
                <a:solidFill>
                  <a:srgbClr val="0056AD"/>
                </a:solidFill>
                <a:latin typeface="Trebuchet MS"/>
                <a:cs typeface="Trebuchet MS"/>
              </a:rPr>
              <a:t>string</a:t>
            </a:r>
            <a:r>
              <a:rPr sz="1750" b="1" spc="395" dirty="0">
                <a:solidFill>
                  <a:srgbClr val="0056AD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nom,</a:t>
            </a:r>
            <a:r>
              <a:rPr sz="1750" spc="55" dirty="0">
                <a:latin typeface="SimSun"/>
                <a:cs typeface="SimSun"/>
              </a:rPr>
              <a:t> </a:t>
            </a:r>
            <a:r>
              <a:rPr sz="1750" b="1" spc="140" dirty="0">
                <a:solidFill>
                  <a:srgbClr val="0056AD"/>
                </a:solidFill>
                <a:latin typeface="Trebuchet MS"/>
                <a:cs typeface="Trebuchet MS"/>
              </a:rPr>
              <a:t>string</a:t>
            </a:r>
            <a:r>
              <a:rPr sz="1750" b="1" spc="400" dirty="0">
                <a:solidFill>
                  <a:srgbClr val="0056AD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ine) : Personne(nom),</a:t>
            </a:r>
            <a:r>
              <a:rPr sz="1750" spc="5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ine(ine) { }</a:t>
            </a:r>
            <a:endParaRPr sz="1750">
              <a:latin typeface="SimSun"/>
              <a:cs typeface="SimSun"/>
            </a:endParaRPr>
          </a:p>
          <a:p>
            <a:pPr marL="12700">
              <a:lnSpc>
                <a:spcPts val="2085"/>
              </a:lnSpc>
            </a:pPr>
            <a:r>
              <a:rPr sz="1750" spc="50" dirty="0">
                <a:latin typeface="SimSun"/>
                <a:cs typeface="SimSun"/>
              </a:rPr>
              <a:t>};</a:t>
            </a:r>
            <a:endParaRPr sz="1750">
              <a:latin typeface="SimSun"/>
              <a:cs typeface="SimSu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03330" y="7322021"/>
            <a:ext cx="10085705" cy="240029"/>
            <a:chOff x="303330" y="7322021"/>
            <a:chExt cx="10085705" cy="240029"/>
          </a:xfrm>
        </p:grpSpPr>
        <p:sp>
          <p:nvSpPr>
            <p:cNvPr id="22" name="object 22"/>
            <p:cNvSpPr/>
            <p:nvPr/>
          </p:nvSpPr>
          <p:spPr>
            <a:xfrm>
              <a:off x="303330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665059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026788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60" dirty="0"/>
              <a:t>tv </a:t>
            </a:r>
            <a:r>
              <a:rPr spc="140" dirty="0"/>
              <a:t> </a:t>
            </a:r>
            <a:r>
              <a:rPr spc="55" dirty="0"/>
              <a:t>(BTS</a:t>
            </a:r>
            <a:r>
              <a:rPr spc="100" dirty="0"/>
              <a:t> </a:t>
            </a:r>
            <a:r>
              <a:rPr spc="-25" dirty="0"/>
              <a:t>IRIS</a:t>
            </a:r>
            <a:r>
              <a:rPr spc="105" dirty="0"/>
              <a:t> </a:t>
            </a:r>
            <a:r>
              <a:rPr spc="5" dirty="0"/>
              <a:t>Avignon)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-40" dirty="0"/>
              <a:t>Cours</a:t>
            </a:r>
            <a:r>
              <a:rPr spc="60" dirty="0"/>
              <a:t> </a:t>
            </a:r>
            <a:r>
              <a:rPr spc="170" dirty="0"/>
              <a:t>C/C++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7481423" y="7283716"/>
            <a:ext cx="1800860" cy="27051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300" spc="40" dirty="0">
                <a:solidFill>
                  <a:srgbClr val="FFFFFF"/>
                </a:solidFill>
                <a:latin typeface="SimSun"/>
                <a:cs typeface="SimSun"/>
                <a:hlinkClick r:id="rId7"/>
              </a:rPr>
              <a:t>tvaira@free.fr</a:t>
            </a:r>
            <a:r>
              <a:rPr sz="1300" spc="-190" dirty="0">
                <a:solidFill>
                  <a:srgbClr val="FFFFFF"/>
                </a:solidFill>
                <a:latin typeface="SimSun"/>
                <a:cs typeface="SimSun"/>
                <a:hlinkClick r:id="rId7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©</a:t>
            </a:r>
            <a:r>
              <a:rPr sz="130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v0.1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9"/>
              </a:spcBef>
            </a:pPr>
            <a:fld id="{81D60167-4931-47E6-BA6A-407CBD079E47}" type="slidenum">
              <a:rPr spc="-30" dirty="0"/>
              <a:t>14</a:t>
            </a:fld>
            <a:r>
              <a:rPr spc="80" dirty="0"/>
              <a:t> </a:t>
            </a:r>
            <a:r>
              <a:rPr spc="330" dirty="0"/>
              <a:t>/</a:t>
            </a:r>
            <a:r>
              <a:rPr spc="85" dirty="0"/>
              <a:t> </a:t>
            </a:r>
            <a:r>
              <a:rPr spc="-30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3330" y="0"/>
            <a:ext cx="5043170" cy="203200"/>
          </a:xfrm>
          <a:custGeom>
            <a:avLst/>
            <a:gdLst/>
            <a:ahLst/>
            <a:cxnLst/>
            <a:rect l="l" t="t" r="r" b="b"/>
            <a:pathLst>
              <a:path w="5043170" h="203200">
                <a:moveTo>
                  <a:pt x="0" y="203077"/>
                </a:moveTo>
                <a:lnTo>
                  <a:pt x="5042663" y="203077"/>
                </a:lnTo>
                <a:lnTo>
                  <a:pt x="5042663" y="0"/>
                </a:lnTo>
                <a:lnTo>
                  <a:pt x="0" y="0"/>
                </a:lnTo>
                <a:lnTo>
                  <a:pt x="0" y="203077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453189" y="0"/>
            <a:ext cx="758190" cy="224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L’héritage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3330" y="0"/>
            <a:ext cx="10085705" cy="812800"/>
            <a:chOff x="303330" y="0"/>
            <a:chExt cx="10085705" cy="812800"/>
          </a:xfrm>
        </p:grpSpPr>
        <p:sp>
          <p:nvSpPr>
            <p:cNvPr id="5" name="object 5"/>
            <p:cNvSpPr/>
            <p:nvPr/>
          </p:nvSpPr>
          <p:spPr>
            <a:xfrm>
              <a:off x="5345993" y="0"/>
              <a:ext cx="5043170" cy="203200"/>
            </a:xfrm>
            <a:custGeom>
              <a:avLst/>
              <a:gdLst/>
              <a:ahLst/>
              <a:cxnLst/>
              <a:rect l="l" t="t" r="r" b="b"/>
              <a:pathLst>
                <a:path w="5043170" h="203200">
                  <a:moveTo>
                    <a:pt x="0" y="203077"/>
                  </a:moveTo>
                  <a:lnTo>
                    <a:pt x="5042663" y="203077"/>
                  </a:lnTo>
                  <a:lnTo>
                    <a:pt x="5042663" y="0"/>
                  </a:lnTo>
                  <a:lnTo>
                    <a:pt x="0" y="0"/>
                  </a:lnTo>
                  <a:lnTo>
                    <a:pt x="0" y="20307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330" y="201079"/>
              <a:ext cx="10085354" cy="1476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3330" y="311846"/>
              <a:ext cx="10085705" cy="498475"/>
            </a:xfrm>
            <a:custGeom>
              <a:avLst/>
              <a:gdLst/>
              <a:ahLst/>
              <a:cxnLst/>
              <a:rect l="l" t="t" r="r" b="b"/>
              <a:pathLst>
                <a:path w="10085705" h="498475">
                  <a:moveTo>
                    <a:pt x="0" y="498437"/>
                  </a:moveTo>
                  <a:lnTo>
                    <a:pt x="10085354" y="498437"/>
                  </a:lnTo>
                  <a:lnTo>
                    <a:pt x="10085354" y="0"/>
                  </a:lnTo>
                  <a:lnTo>
                    <a:pt x="0" y="0"/>
                  </a:lnTo>
                  <a:lnTo>
                    <a:pt x="0" y="49843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27007" y="249275"/>
            <a:ext cx="4904740" cy="5041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00" spc="-100" dirty="0">
                <a:solidFill>
                  <a:srgbClr val="FFFFFF"/>
                </a:solidFill>
              </a:rPr>
              <a:t>Propriétés</a:t>
            </a:r>
            <a:r>
              <a:rPr sz="3100" spc="50" dirty="0">
                <a:solidFill>
                  <a:srgbClr val="FFFFFF"/>
                </a:solidFill>
              </a:rPr>
              <a:t> </a:t>
            </a:r>
            <a:r>
              <a:rPr sz="3100" spc="-204" dirty="0">
                <a:solidFill>
                  <a:srgbClr val="FFFFFF"/>
                </a:solidFill>
              </a:rPr>
              <a:t>de</a:t>
            </a:r>
            <a:r>
              <a:rPr sz="3100" spc="60" dirty="0">
                <a:solidFill>
                  <a:srgbClr val="FFFFFF"/>
                </a:solidFill>
              </a:rPr>
              <a:t> </a:t>
            </a:r>
            <a:r>
              <a:rPr sz="3100" spc="-75" dirty="0">
                <a:solidFill>
                  <a:srgbClr val="FFFFFF"/>
                </a:solidFill>
              </a:rPr>
              <a:t>la</a:t>
            </a:r>
            <a:r>
              <a:rPr sz="3100" spc="60" dirty="0">
                <a:solidFill>
                  <a:srgbClr val="FFFFFF"/>
                </a:solidFill>
              </a:rPr>
              <a:t> </a:t>
            </a:r>
            <a:r>
              <a:rPr sz="3100" spc="-125" dirty="0">
                <a:solidFill>
                  <a:srgbClr val="FFFFFF"/>
                </a:solidFill>
              </a:rPr>
              <a:t>généralisation</a:t>
            </a:r>
            <a:endParaRPr sz="310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3330" y="810284"/>
            <a:ext cx="10085354" cy="7385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3878" y="1272692"/>
            <a:ext cx="9295554" cy="215221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91910" y="3753851"/>
            <a:ext cx="8923020" cy="766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ts val="2970"/>
              </a:lnSpc>
              <a:spcBef>
                <a:spcPts val="90"/>
              </a:spcBef>
            </a:pPr>
            <a:r>
              <a:rPr sz="2350" i="1" spc="-135" dirty="0">
                <a:latin typeface="Arial"/>
                <a:cs typeface="Arial"/>
              </a:rPr>
              <a:t>Remarque</a:t>
            </a:r>
            <a:r>
              <a:rPr sz="2350" i="1" spc="135" dirty="0">
                <a:latin typeface="Arial"/>
                <a:cs typeface="Arial"/>
              </a:rPr>
              <a:t> </a:t>
            </a:r>
            <a:r>
              <a:rPr sz="2350" i="1" spc="10" dirty="0">
                <a:latin typeface="Arial"/>
                <a:cs typeface="Arial"/>
              </a:rPr>
              <a:t>: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-160" dirty="0">
                <a:latin typeface="Arial"/>
                <a:cs typeface="Arial"/>
              </a:rPr>
              <a:t>en</a:t>
            </a:r>
            <a:r>
              <a:rPr sz="2350" i="1" spc="135" dirty="0">
                <a:latin typeface="Arial"/>
                <a:cs typeface="Arial"/>
              </a:rPr>
              <a:t> </a:t>
            </a:r>
            <a:r>
              <a:rPr sz="2350" i="1" spc="195" dirty="0">
                <a:latin typeface="Arial"/>
                <a:cs typeface="Arial"/>
              </a:rPr>
              <a:t>C++,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-135" dirty="0">
                <a:latin typeface="Arial"/>
                <a:cs typeface="Arial"/>
              </a:rPr>
              <a:t>une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-170" dirty="0">
                <a:latin typeface="Arial"/>
                <a:cs typeface="Arial"/>
              </a:rPr>
              <a:t>classe</a:t>
            </a:r>
            <a:r>
              <a:rPr sz="2350" i="1" spc="135" dirty="0">
                <a:latin typeface="Arial"/>
                <a:cs typeface="Arial"/>
              </a:rPr>
              <a:t> </a:t>
            </a:r>
            <a:r>
              <a:rPr sz="2350" i="1" spc="-30" dirty="0">
                <a:latin typeface="Arial"/>
                <a:cs typeface="Arial"/>
              </a:rPr>
              <a:t>peut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-65" dirty="0">
                <a:latin typeface="Arial"/>
                <a:cs typeface="Arial"/>
              </a:rPr>
              <a:t>être</a:t>
            </a:r>
            <a:r>
              <a:rPr sz="2350" i="1" spc="135" dirty="0">
                <a:latin typeface="Arial"/>
                <a:cs typeface="Arial"/>
              </a:rPr>
              <a:t> </a:t>
            </a:r>
            <a:r>
              <a:rPr sz="2350" i="1" spc="-120" dirty="0">
                <a:latin typeface="Arial"/>
                <a:cs typeface="Arial"/>
              </a:rPr>
              <a:t>dérivée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-160" dirty="0">
                <a:latin typeface="Arial"/>
                <a:cs typeface="Arial"/>
              </a:rPr>
              <a:t>à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dirty="0">
                <a:latin typeface="Arial"/>
                <a:cs typeface="Arial"/>
              </a:rPr>
              <a:t>partir</a:t>
            </a:r>
            <a:r>
              <a:rPr sz="2350" i="1" spc="135" dirty="0">
                <a:latin typeface="Arial"/>
                <a:cs typeface="Arial"/>
              </a:rPr>
              <a:t> </a:t>
            </a:r>
            <a:r>
              <a:rPr sz="2350" i="1" spc="-165" dirty="0">
                <a:latin typeface="Arial"/>
                <a:cs typeface="Arial"/>
              </a:rPr>
              <a:t>de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-100" dirty="0">
                <a:latin typeface="Arial"/>
                <a:cs typeface="Arial"/>
              </a:rPr>
              <a:t>plusieurs </a:t>
            </a:r>
            <a:r>
              <a:rPr sz="2350" i="1" spc="-640" dirty="0">
                <a:latin typeface="Arial"/>
                <a:cs typeface="Arial"/>
              </a:rPr>
              <a:t> </a:t>
            </a:r>
            <a:r>
              <a:rPr sz="2350" i="1" spc="-180" dirty="0">
                <a:latin typeface="Arial"/>
                <a:cs typeface="Arial"/>
              </a:rPr>
              <a:t>classes</a:t>
            </a:r>
            <a:r>
              <a:rPr sz="2350" i="1" spc="135" dirty="0">
                <a:latin typeface="Arial"/>
                <a:cs typeface="Arial"/>
              </a:rPr>
              <a:t> </a:t>
            </a:r>
            <a:r>
              <a:rPr sz="2350" i="1" spc="-165" dirty="0">
                <a:latin typeface="Arial"/>
                <a:cs typeface="Arial"/>
              </a:rPr>
              <a:t>de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-204" dirty="0">
                <a:latin typeface="Arial"/>
                <a:cs typeface="Arial"/>
              </a:rPr>
              <a:t>bases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-50" dirty="0">
                <a:latin typeface="Arial"/>
                <a:cs typeface="Arial"/>
              </a:rPr>
              <a:t>(héritage</a:t>
            </a:r>
            <a:r>
              <a:rPr sz="2350" i="1" spc="135" dirty="0">
                <a:latin typeface="Arial"/>
                <a:cs typeface="Arial"/>
              </a:rPr>
              <a:t> </a:t>
            </a:r>
            <a:r>
              <a:rPr sz="2350" i="1" spc="5" dirty="0">
                <a:latin typeface="Arial"/>
                <a:cs typeface="Arial"/>
              </a:rPr>
              <a:t>multiple)</a:t>
            </a:r>
            <a:endParaRPr sz="235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75213" y="4812489"/>
            <a:ext cx="2924090" cy="2153671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303330" y="7322021"/>
            <a:ext cx="10085705" cy="240029"/>
            <a:chOff x="303330" y="7322021"/>
            <a:chExt cx="10085705" cy="240029"/>
          </a:xfrm>
        </p:grpSpPr>
        <p:sp>
          <p:nvSpPr>
            <p:cNvPr id="14" name="object 14"/>
            <p:cNvSpPr/>
            <p:nvPr/>
          </p:nvSpPr>
          <p:spPr>
            <a:xfrm>
              <a:off x="303330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65059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26788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60" dirty="0"/>
              <a:t>tv </a:t>
            </a:r>
            <a:r>
              <a:rPr spc="140" dirty="0"/>
              <a:t> </a:t>
            </a:r>
            <a:r>
              <a:rPr spc="55" dirty="0"/>
              <a:t>(BTS</a:t>
            </a:r>
            <a:r>
              <a:rPr spc="100" dirty="0"/>
              <a:t> </a:t>
            </a:r>
            <a:r>
              <a:rPr spc="-25" dirty="0"/>
              <a:t>IRIS</a:t>
            </a:r>
            <a:r>
              <a:rPr spc="105" dirty="0"/>
              <a:t> </a:t>
            </a:r>
            <a:r>
              <a:rPr spc="5" dirty="0"/>
              <a:t>Avignon)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-40" dirty="0"/>
              <a:t>Cours</a:t>
            </a:r>
            <a:r>
              <a:rPr spc="60" dirty="0"/>
              <a:t> </a:t>
            </a:r>
            <a:r>
              <a:rPr spc="170" dirty="0"/>
              <a:t>C/C++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481423" y="7283716"/>
            <a:ext cx="1800860" cy="27051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300" spc="40" dirty="0">
                <a:solidFill>
                  <a:srgbClr val="FFFFFF"/>
                </a:solidFill>
                <a:latin typeface="SimSun"/>
                <a:cs typeface="SimSun"/>
                <a:hlinkClick r:id="rId6"/>
              </a:rPr>
              <a:t>tvaira@free.fr</a:t>
            </a:r>
            <a:r>
              <a:rPr sz="1300" spc="-190" dirty="0">
                <a:solidFill>
                  <a:srgbClr val="FFFFFF"/>
                </a:solidFill>
                <a:latin typeface="SimSun"/>
                <a:cs typeface="SimSun"/>
                <a:hlinkClick r:id="rId6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©</a:t>
            </a:r>
            <a:r>
              <a:rPr sz="130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v0.1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9"/>
              </a:spcBef>
            </a:pPr>
            <a:fld id="{81D60167-4931-47E6-BA6A-407CBD079E47}" type="slidenum">
              <a:rPr spc="-30" dirty="0"/>
              <a:t>15</a:t>
            </a:fld>
            <a:r>
              <a:rPr spc="80" dirty="0"/>
              <a:t> </a:t>
            </a:r>
            <a:r>
              <a:rPr spc="330" dirty="0"/>
              <a:t>/</a:t>
            </a:r>
            <a:r>
              <a:rPr spc="85" dirty="0"/>
              <a:t> </a:t>
            </a:r>
            <a:r>
              <a:rPr spc="-30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3330" y="0"/>
            <a:ext cx="5043170" cy="203200"/>
          </a:xfrm>
          <a:custGeom>
            <a:avLst/>
            <a:gdLst/>
            <a:ahLst/>
            <a:cxnLst/>
            <a:rect l="l" t="t" r="r" b="b"/>
            <a:pathLst>
              <a:path w="5043170" h="203200">
                <a:moveTo>
                  <a:pt x="0" y="203077"/>
                </a:moveTo>
                <a:lnTo>
                  <a:pt x="5042663" y="203077"/>
                </a:lnTo>
                <a:lnTo>
                  <a:pt x="5042663" y="0"/>
                </a:lnTo>
                <a:lnTo>
                  <a:pt x="0" y="0"/>
                </a:lnTo>
                <a:lnTo>
                  <a:pt x="0" y="203077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453189" y="0"/>
            <a:ext cx="758190" cy="224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L’héritage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3330" y="0"/>
            <a:ext cx="10085705" cy="812800"/>
            <a:chOff x="303330" y="0"/>
            <a:chExt cx="10085705" cy="812800"/>
          </a:xfrm>
        </p:grpSpPr>
        <p:sp>
          <p:nvSpPr>
            <p:cNvPr id="5" name="object 5"/>
            <p:cNvSpPr/>
            <p:nvPr/>
          </p:nvSpPr>
          <p:spPr>
            <a:xfrm>
              <a:off x="5345993" y="0"/>
              <a:ext cx="5043170" cy="203200"/>
            </a:xfrm>
            <a:custGeom>
              <a:avLst/>
              <a:gdLst/>
              <a:ahLst/>
              <a:cxnLst/>
              <a:rect l="l" t="t" r="r" b="b"/>
              <a:pathLst>
                <a:path w="5043170" h="203200">
                  <a:moveTo>
                    <a:pt x="0" y="203077"/>
                  </a:moveTo>
                  <a:lnTo>
                    <a:pt x="5042663" y="203077"/>
                  </a:lnTo>
                  <a:lnTo>
                    <a:pt x="5042663" y="0"/>
                  </a:lnTo>
                  <a:lnTo>
                    <a:pt x="0" y="0"/>
                  </a:lnTo>
                  <a:lnTo>
                    <a:pt x="0" y="20307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330" y="201079"/>
              <a:ext cx="10085354" cy="1476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3330" y="311846"/>
              <a:ext cx="10085705" cy="498475"/>
            </a:xfrm>
            <a:custGeom>
              <a:avLst/>
              <a:gdLst/>
              <a:ahLst/>
              <a:cxnLst/>
              <a:rect l="l" t="t" r="r" b="b"/>
              <a:pathLst>
                <a:path w="10085705" h="498475">
                  <a:moveTo>
                    <a:pt x="0" y="498437"/>
                  </a:moveTo>
                  <a:lnTo>
                    <a:pt x="10085354" y="498437"/>
                  </a:lnTo>
                  <a:lnTo>
                    <a:pt x="10085354" y="0"/>
                  </a:lnTo>
                  <a:lnTo>
                    <a:pt x="0" y="0"/>
                  </a:lnTo>
                  <a:lnTo>
                    <a:pt x="0" y="49843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27007" y="249275"/>
            <a:ext cx="2825115" cy="5041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00" spc="-100" dirty="0">
                <a:solidFill>
                  <a:srgbClr val="FFFFFF"/>
                </a:solidFill>
              </a:rPr>
              <a:t>Héritage</a:t>
            </a:r>
            <a:r>
              <a:rPr sz="3100" dirty="0">
                <a:solidFill>
                  <a:srgbClr val="FFFFFF"/>
                </a:solidFill>
              </a:rPr>
              <a:t> </a:t>
            </a:r>
            <a:r>
              <a:rPr sz="3100" spc="-80" dirty="0">
                <a:solidFill>
                  <a:srgbClr val="FFFFFF"/>
                </a:solidFill>
              </a:rPr>
              <a:t>multiple</a:t>
            </a:r>
            <a:endParaRPr sz="310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3330" y="810284"/>
            <a:ext cx="10085354" cy="7385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9474" y="1219824"/>
            <a:ext cx="9372410" cy="378818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91910" y="5321488"/>
            <a:ext cx="9438005" cy="18961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ts val="2970"/>
              </a:lnSpc>
              <a:spcBef>
                <a:spcPts val="110"/>
              </a:spcBef>
            </a:pPr>
            <a:r>
              <a:rPr sz="2350" i="1" spc="-135" dirty="0">
                <a:latin typeface="Arial"/>
                <a:cs typeface="Arial"/>
              </a:rPr>
              <a:t>Remarque</a:t>
            </a:r>
            <a:r>
              <a:rPr sz="2350" i="1" spc="-130" dirty="0">
                <a:latin typeface="Arial"/>
                <a:cs typeface="Arial"/>
              </a:rPr>
              <a:t> </a:t>
            </a:r>
            <a:r>
              <a:rPr sz="2350" i="1" spc="10" dirty="0">
                <a:latin typeface="Arial"/>
                <a:cs typeface="Arial"/>
              </a:rPr>
              <a:t>: </a:t>
            </a:r>
            <a:r>
              <a:rPr sz="2350" i="1" spc="-160" dirty="0">
                <a:latin typeface="Arial"/>
                <a:cs typeface="Arial"/>
              </a:rPr>
              <a:t>en</a:t>
            </a:r>
            <a:r>
              <a:rPr sz="2350" i="1" spc="-155" dirty="0">
                <a:latin typeface="Arial"/>
                <a:cs typeface="Arial"/>
              </a:rPr>
              <a:t> </a:t>
            </a:r>
            <a:r>
              <a:rPr sz="2350" i="1" spc="195" dirty="0">
                <a:latin typeface="Arial"/>
                <a:cs typeface="Arial"/>
              </a:rPr>
              <a:t>C++, </a:t>
            </a:r>
            <a:r>
              <a:rPr sz="2350" i="1" spc="-135" dirty="0">
                <a:latin typeface="Arial"/>
                <a:cs typeface="Arial"/>
              </a:rPr>
              <a:t>une</a:t>
            </a:r>
            <a:r>
              <a:rPr sz="2350" i="1" spc="-130" dirty="0">
                <a:latin typeface="Arial"/>
                <a:cs typeface="Arial"/>
              </a:rPr>
              <a:t> </a:t>
            </a:r>
            <a:r>
              <a:rPr sz="2350" i="1" spc="-170" dirty="0">
                <a:latin typeface="Arial"/>
                <a:cs typeface="Arial"/>
              </a:rPr>
              <a:t>classe</a:t>
            </a:r>
            <a:r>
              <a:rPr sz="2350" i="1" spc="-165" dirty="0">
                <a:latin typeface="Arial"/>
                <a:cs typeface="Arial"/>
              </a:rPr>
              <a:t> </a:t>
            </a:r>
            <a:r>
              <a:rPr sz="2350" i="1" spc="-30" dirty="0">
                <a:latin typeface="Arial"/>
                <a:cs typeface="Arial"/>
              </a:rPr>
              <a:t>peut </a:t>
            </a:r>
            <a:r>
              <a:rPr sz="2350" i="1" spc="-65" dirty="0">
                <a:latin typeface="Arial"/>
                <a:cs typeface="Arial"/>
              </a:rPr>
              <a:t>être </a:t>
            </a:r>
            <a:r>
              <a:rPr sz="2350" i="1" spc="-120" dirty="0">
                <a:latin typeface="Arial"/>
                <a:cs typeface="Arial"/>
              </a:rPr>
              <a:t>dérivée </a:t>
            </a:r>
            <a:r>
              <a:rPr sz="2350" i="1" spc="-160" dirty="0">
                <a:latin typeface="Arial"/>
                <a:cs typeface="Arial"/>
              </a:rPr>
              <a:t>à</a:t>
            </a:r>
            <a:r>
              <a:rPr sz="2350" i="1" spc="-155" dirty="0">
                <a:latin typeface="Arial"/>
                <a:cs typeface="Arial"/>
              </a:rPr>
              <a:t> </a:t>
            </a:r>
            <a:r>
              <a:rPr sz="2350" i="1" dirty="0">
                <a:latin typeface="Arial"/>
                <a:cs typeface="Arial"/>
              </a:rPr>
              <a:t>partir </a:t>
            </a:r>
            <a:r>
              <a:rPr sz="2350" i="1" spc="-165" dirty="0">
                <a:latin typeface="Arial"/>
                <a:cs typeface="Arial"/>
              </a:rPr>
              <a:t>de</a:t>
            </a:r>
            <a:r>
              <a:rPr sz="2350" i="1" spc="320" dirty="0">
                <a:latin typeface="Arial"/>
                <a:cs typeface="Arial"/>
              </a:rPr>
              <a:t> </a:t>
            </a:r>
            <a:r>
              <a:rPr sz="2350" i="1" spc="-100" dirty="0">
                <a:latin typeface="Arial"/>
                <a:cs typeface="Arial"/>
              </a:rPr>
              <a:t>plusieurs </a:t>
            </a:r>
            <a:r>
              <a:rPr sz="2350" i="1" spc="-95" dirty="0">
                <a:latin typeface="Arial"/>
                <a:cs typeface="Arial"/>
              </a:rPr>
              <a:t> </a:t>
            </a:r>
            <a:r>
              <a:rPr sz="2350" i="1" spc="-180" dirty="0">
                <a:latin typeface="Arial"/>
                <a:cs typeface="Arial"/>
              </a:rPr>
              <a:t>classes</a:t>
            </a:r>
            <a:r>
              <a:rPr sz="2350" i="1" spc="135" dirty="0">
                <a:latin typeface="Arial"/>
                <a:cs typeface="Arial"/>
              </a:rPr>
              <a:t> </a:t>
            </a:r>
            <a:r>
              <a:rPr sz="2350" i="1" spc="-165" dirty="0">
                <a:latin typeface="Arial"/>
                <a:cs typeface="Arial"/>
              </a:rPr>
              <a:t>de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-204" dirty="0">
                <a:latin typeface="Arial"/>
                <a:cs typeface="Arial"/>
              </a:rPr>
              <a:t>bases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-110" dirty="0">
                <a:latin typeface="Arial"/>
                <a:cs typeface="Arial"/>
              </a:rPr>
              <a:t>mais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-100" dirty="0">
                <a:latin typeface="Arial"/>
                <a:cs typeface="Arial"/>
              </a:rPr>
              <a:t>elle</a:t>
            </a:r>
            <a:r>
              <a:rPr sz="2350" i="1" spc="145" dirty="0">
                <a:latin typeface="Arial"/>
                <a:cs typeface="Arial"/>
              </a:rPr>
              <a:t> </a:t>
            </a:r>
            <a:r>
              <a:rPr sz="2350" i="1" spc="-35" dirty="0">
                <a:latin typeface="Arial"/>
                <a:cs typeface="Arial"/>
              </a:rPr>
              <a:t>peut</a:t>
            </a:r>
            <a:r>
              <a:rPr sz="2350" i="1" spc="145" dirty="0">
                <a:latin typeface="Arial"/>
                <a:cs typeface="Arial"/>
              </a:rPr>
              <a:t> </a:t>
            </a:r>
            <a:r>
              <a:rPr sz="2350" i="1" spc="-145" dirty="0">
                <a:latin typeface="Arial"/>
                <a:cs typeface="Arial"/>
              </a:rPr>
              <a:t>aussi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-65" dirty="0">
                <a:latin typeface="Arial"/>
                <a:cs typeface="Arial"/>
              </a:rPr>
              <a:t>être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-120" dirty="0">
                <a:latin typeface="Arial"/>
                <a:cs typeface="Arial"/>
              </a:rPr>
              <a:t>dérivée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-100" dirty="0">
                <a:latin typeface="Arial"/>
                <a:cs typeface="Arial"/>
              </a:rPr>
              <a:t>plusieurs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-70" dirty="0">
                <a:latin typeface="Arial"/>
                <a:cs typeface="Arial"/>
              </a:rPr>
              <a:t>fois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-165" dirty="0">
                <a:latin typeface="Arial"/>
                <a:cs typeface="Arial"/>
              </a:rPr>
              <a:t>de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-60" dirty="0">
                <a:latin typeface="Arial"/>
                <a:cs typeface="Arial"/>
              </a:rPr>
              <a:t>la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-155" dirty="0">
                <a:latin typeface="Arial"/>
                <a:cs typeface="Arial"/>
              </a:rPr>
              <a:t>même </a:t>
            </a:r>
            <a:r>
              <a:rPr sz="2350" i="1" spc="-635" dirty="0">
                <a:latin typeface="Arial"/>
                <a:cs typeface="Arial"/>
              </a:rPr>
              <a:t> </a:t>
            </a:r>
            <a:r>
              <a:rPr sz="2350" i="1" spc="-170" dirty="0">
                <a:latin typeface="Arial"/>
                <a:cs typeface="Arial"/>
              </a:rPr>
              <a:t>classe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-165" dirty="0">
                <a:latin typeface="Arial"/>
                <a:cs typeface="Arial"/>
              </a:rPr>
              <a:t>de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-190" dirty="0">
                <a:latin typeface="Arial"/>
                <a:cs typeface="Arial"/>
              </a:rPr>
              <a:t>base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-70" dirty="0">
                <a:latin typeface="Arial"/>
                <a:cs typeface="Arial"/>
              </a:rPr>
              <a:t>d’une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-105" dirty="0">
                <a:latin typeface="Arial"/>
                <a:cs typeface="Arial"/>
              </a:rPr>
              <a:t>manière</a:t>
            </a:r>
            <a:r>
              <a:rPr sz="2350" i="1" spc="140" dirty="0">
                <a:latin typeface="Arial"/>
                <a:cs typeface="Arial"/>
              </a:rPr>
              <a:t> </a:t>
            </a:r>
            <a:r>
              <a:rPr sz="2350" i="1" spc="-55" dirty="0">
                <a:latin typeface="Arial"/>
                <a:cs typeface="Arial"/>
              </a:rPr>
              <a:t>indirecte</a:t>
            </a:r>
            <a:r>
              <a:rPr sz="2350" spc="-55" dirty="0">
                <a:latin typeface="Tahoma"/>
                <a:cs typeface="Tahoma"/>
              </a:rPr>
              <a:t>.</a:t>
            </a:r>
            <a:endParaRPr sz="2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350" spc="-20" dirty="0">
                <a:latin typeface="Tahoma"/>
                <a:cs typeface="Tahoma"/>
              </a:rPr>
              <a:t>Lire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170" dirty="0">
                <a:latin typeface="Tahoma"/>
                <a:cs typeface="Tahoma"/>
              </a:rPr>
              <a:t>: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40" dirty="0">
                <a:latin typeface="Tahoma"/>
                <a:cs typeface="Tahoma"/>
              </a:rPr>
              <a:t>l’héritage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130" dirty="0">
                <a:latin typeface="Tahoma"/>
                <a:cs typeface="Tahoma"/>
              </a:rPr>
              <a:t>en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45" dirty="0">
                <a:latin typeface="Tahoma"/>
                <a:cs typeface="Tahoma"/>
              </a:rPr>
              <a:t>diamant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85" dirty="0">
                <a:latin typeface="Tahoma"/>
                <a:cs typeface="Tahoma"/>
              </a:rPr>
              <a:t>sur</a:t>
            </a:r>
            <a:endParaRPr sz="2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2350" spc="80" dirty="0">
                <a:latin typeface="SimSun"/>
                <a:cs typeface="SimSun"/>
                <a:hlinkClick r:id="rId5"/>
              </a:rPr>
              <a:t>loic-</a:t>
            </a:r>
            <a:r>
              <a:rPr sz="2350" spc="80" dirty="0">
                <a:latin typeface="SimSun"/>
                <a:cs typeface="SimSun"/>
              </a:rPr>
              <a:t>joly.developpez.com/articles/heritage-multiple/</a:t>
            </a:r>
            <a:r>
              <a:rPr sz="2350" spc="80" dirty="0">
                <a:latin typeface="Tahoma"/>
                <a:cs typeface="Tahoma"/>
              </a:rPr>
              <a:t>.</a:t>
            </a:r>
            <a:endParaRPr sz="235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03330" y="7322021"/>
            <a:ext cx="10085705" cy="240029"/>
            <a:chOff x="303330" y="7322021"/>
            <a:chExt cx="10085705" cy="240029"/>
          </a:xfrm>
        </p:grpSpPr>
        <p:sp>
          <p:nvSpPr>
            <p:cNvPr id="13" name="object 13"/>
            <p:cNvSpPr/>
            <p:nvPr/>
          </p:nvSpPr>
          <p:spPr>
            <a:xfrm>
              <a:off x="303330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65059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026788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60" dirty="0"/>
              <a:t>tv </a:t>
            </a:r>
            <a:r>
              <a:rPr spc="140" dirty="0"/>
              <a:t> </a:t>
            </a:r>
            <a:r>
              <a:rPr spc="55" dirty="0"/>
              <a:t>(BTS</a:t>
            </a:r>
            <a:r>
              <a:rPr spc="100" dirty="0"/>
              <a:t> </a:t>
            </a:r>
            <a:r>
              <a:rPr spc="-25" dirty="0"/>
              <a:t>IRIS</a:t>
            </a:r>
            <a:r>
              <a:rPr spc="105" dirty="0"/>
              <a:t> </a:t>
            </a:r>
            <a:r>
              <a:rPr spc="5" dirty="0"/>
              <a:t>Avignon)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-40" dirty="0"/>
              <a:t>Cours</a:t>
            </a:r>
            <a:r>
              <a:rPr spc="60" dirty="0"/>
              <a:t> </a:t>
            </a:r>
            <a:r>
              <a:rPr spc="170" dirty="0"/>
              <a:t>C/C++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481423" y="7283716"/>
            <a:ext cx="1800860" cy="27051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300" spc="40" dirty="0">
                <a:solidFill>
                  <a:srgbClr val="FFFFFF"/>
                </a:solidFill>
                <a:latin typeface="SimSun"/>
                <a:cs typeface="SimSun"/>
                <a:hlinkClick r:id="rId6"/>
              </a:rPr>
              <a:t>tvaira@free.fr</a:t>
            </a:r>
            <a:r>
              <a:rPr sz="1300" spc="-190" dirty="0">
                <a:solidFill>
                  <a:srgbClr val="FFFFFF"/>
                </a:solidFill>
                <a:latin typeface="SimSun"/>
                <a:cs typeface="SimSun"/>
                <a:hlinkClick r:id="rId6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©</a:t>
            </a:r>
            <a:r>
              <a:rPr sz="130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v0.1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9"/>
              </a:spcBef>
            </a:pPr>
            <a:fld id="{81D60167-4931-47E6-BA6A-407CBD079E47}" type="slidenum">
              <a:rPr spc="-30" dirty="0"/>
              <a:t>16</a:t>
            </a:fld>
            <a:r>
              <a:rPr spc="80" dirty="0"/>
              <a:t> </a:t>
            </a:r>
            <a:r>
              <a:rPr spc="330" dirty="0"/>
              <a:t>/</a:t>
            </a:r>
            <a:r>
              <a:rPr spc="85" dirty="0"/>
              <a:t> </a:t>
            </a:r>
            <a:r>
              <a:rPr spc="-30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3330" y="0"/>
            <a:ext cx="5043170" cy="203200"/>
          </a:xfrm>
          <a:custGeom>
            <a:avLst/>
            <a:gdLst/>
            <a:ahLst/>
            <a:cxnLst/>
            <a:rect l="l" t="t" r="r" b="b"/>
            <a:pathLst>
              <a:path w="5043170" h="203200">
                <a:moveTo>
                  <a:pt x="0" y="203077"/>
                </a:moveTo>
                <a:lnTo>
                  <a:pt x="5042663" y="203077"/>
                </a:lnTo>
                <a:lnTo>
                  <a:pt x="5042663" y="0"/>
                </a:lnTo>
                <a:lnTo>
                  <a:pt x="0" y="0"/>
                </a:lnTo>
                <a:lnTo>
                  <a:pt x="0" y="203077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71384" y="0"/>
            <a:ext cx="1139825" cy="224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Polymorphisme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3330" y="0"/>
            <a:ext cx="10085705" cy="812800"/>
            <a:chOff x="303330" y="0"/>
            <a:chExt cx="10085705" cy="812800"/>
          </a:xfrm>
        </p:grpSpPr>
        <p:sp>
          <p:nvSpPr>
            <p:cNvPr id="5" name="object 5"/>
            <p:cNvSpPr/>
            <p:nvPr/>
          </p:nvSpPr>
          <p:spPr>
            <a:xfrm>
              <a:off x="5345993" y="0"/>
              <a:ext cx="5043170" cy="203200"/>
            </a:xfrm>
            <a:custGeom>
              <a:avLst/>
              <a:gdLst/>
              <a:ahLst/>
              <a:cxnLst/>
              <a:rect l="l" t="t" r="r" b="b"/>
              <a:pathLst>
                <a:path w="5043170" h="203200">
                  <a:moveTo>
                    <a:pt x="0" y="203077"/>
                  </a:moveTo>
                  <a:lnTo>
                    <a:pt x="5042663" y="203077"/>
                  </a:lnTo>
                  <a:lnTo>
                    <a:pt x="5042663" y="0"/>
                  </a:lnTo>
                  <a:lnTo>
                    <a:pt x="0" y="0"/>
                  </a:lnTo>
                  <a:lnTo>
                    <a:pt x="0" y="20307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330" y="201079"/>
              <a:ext cx="10085354" cy="1476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3330" y="311846"/>
              <a:ext cx="10085705" cy="498475"/>
            </a:xfrm>
            <a:custGeom>
              <a:avLst/>
              <a:gdLst/>
              <a:ahLst/>
              <a:cxnLst/>
              <a:rect l="l" t="t" r="r" b="b"/>
              <a:pathLst>
                <a:path w="10085705" h="498475">
                  <a:moveTo>
                    <a:pt x="0" y="498437"/>
                  </a:moveTo>
                  <a:lnTo>
                    <a:pt x="10085354" y="498437"/>
                  </a:lnTo>
                  <a:lnTo>
                    <a:pt x="10085354" y="0"/>
                  </a:lnTo>
                  <a:lnTo>
                    <a:pt x="0" y="0"/>
                  </a:lnTo>
                  <a:lnTo>
                    <a:pt x="0" y="49843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27007" y="249275"/>
            <a:ext cx="1758950" cy="5041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00" spc="-70" dirty="0">
                <a:solidFill>
                  <a:srgbClr val="FFFFFF"/>
                </a:solidFill>
              </a:rPr>
              <a:t>Définitions</a:t>
            </a:r>
            <a:endParaRPr sz="310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3330" y="810284"/>
            <a:ext cx="10085354" cy="7385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6620" y="1952532"/>
            <a:ext cx="142843" cy="14284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98391" y="1785006"/>
            <a:ext cx="8903970" cy="44437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ts val="2970"/>
              </a:lnSpc>
              <a:spcBef>
                <a:spcPts val="110"/>
              </a:spcBef>
            </a:pPr>
            <a:r>
              <a:rPr sz="2350" spc="-30" dirty="0">
                <a:latin typeface="Tahoma"/>
                <a:cs typeface="Tahoma"/>
              </a:rPr>
              <a:t>Le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b="1" spc="-95" dirty="0">
                <a:solidFill>
                  <a:srgbClr val="7F0000"/>
                </a:solidFill>
                <a:latin typeface="Arial"/>
                <a:cs typeface="Arial"/>
              </a:rPr>
              <a:t>polymorphisme</a:t>
            </a:r>
            <a:r>
              <a:rPr sz="2350" b="1" spc="125" dirty="0">
                <a:solidFill>
                  <a:srgbClr val="7F0000"/>
                </a:solidFill>
                <a:latin typeface="Arial"/>
                <a:cs typeface="Arial"/>
              </a:rPr>
              <a:t> </a:t>
            </a:r>
            <a:r>
              <a:rPr sz="2350" spc="-80" dirty="0">
                <a:latin typeface="Tahoma"/>
                <a:cs typeface="Tahoma"/>
              </a:rPr>
              <a:t>est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un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moyen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45" dirty="0">
                <a:latin typeface="Tahoma"/>
                <a:cs typeface="Tahoma"/>
              </a:rPr>
              <a:t> </a:t>
            </a:r>
            <a:r>
              <a:rPr sz="2350" spc="-60" dirty="0">
                <a:latin typeface="Tahoma"/>
                <a:cs typeface="Tahoma"/>
              </a:rPr>
              <a:t>manipuler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130" dirty="0">
                <a:latin typeface="Tahoma"/>
                <a:cs typeface="Tahoma"/>
              </a:rPr>
              <a:t>des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70" dirty="0">
                <a:latin typeface="Tahoma"/>
                <a:cs typeface="Tahoma"/>
              </a:rPr>
              <a:t>objets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50" dirty="0">
                <a:latin typeface="Tahoma"/>
                <a:cs typeface="Tahoma"/>
              </a:rPr>
              <a:t>hétéroclites </a:t>
            </a:r>
            <a:r>
              <a:rPr sz="2350" spc="-720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480" dirty="0">
                <a:latin typeface="Tahoma"/>
                <a:cs typeface="Tahoma"/>
              </a:rPr>
              <a:t> </a:t>
            </a:r>
            <a:r>
              <a:rPr sz="2350" spc="-30" dirty="0">
                <a:latin typeface="Tahoma"/>
                <a:cs typeface="Tahoma"/>
              </a:rPr>
              <a:t>la </a:t>
            </a:r>
            <a:r>
              <a:rPr sz="2350" spc="-130" dirty="0">
                <a:latin typeface="Tahoma"/>
                <a:cs typeface="Tahoma"/>
              </a:rPr>
              <a:t>même</a:t>
            </a:r>
            <a:r>
              <a:rPr sz="2350" spc="475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manière, </a:t>
            </a:r>
            <a:r>
              <a:rPr sz="2350" spc="-60" dirty="0">
                <a:latin typeface="Tahoma"/>
                <a:cs typeface="Tahoma"/>
              </a:rPr>
              <a:t>pourvu </a:t>
            </a:r>
            <a:r>
              <a:rPr sz="2350" spc="-15" dirty="0">
                <a:latin typeface="Tahoma"/>
                <a:cs typeface="Tahoma"/>
              </a:rPr>
              <a:t>qu’ils </a:t>
            </a:r>
            <a:r>
              <a:rPr sz="2350" spc="-65" dirty="0">
                <a:latin typeface="Tahoma"/>
                <a:cs typeface="Tahoma"/>
              </a:rPr>
              <a:t>disposent </a:t>
            </a:r>
            <a:r>
              <a:rPr sz="2350" spc="-50" dirty="0">
                <a:latin typeface="Tahoma"/>
                <a:cs typeface="Tahoma"/>
              </a:rPr>
              <a:t>d’une </a:t>
            </a:r>
            <a:r>
              <a:rPr sz="2350" spc="-60" dirty="0">
                <a:latin typeface="Tahoma"/>
                <a:cs typeface="Tahoma"/>
              </a:rPr>
              <a:t>interface </a:t>
            </a:r>
            <a:r>
              <a:rPr sz="2350" spc="-55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commune.</a:t>
            </a:r>
            <a:endParaRPr sz="2350">
              <a:latin typeface="Tahoma"/>
              <a:cs typeface="Tahoma"/>
            </a:endParaRPr>
          </a:p>
          <a:p>
            <a:pPr marL="12700" marR="309880">
              <a:lnSpc>
                <a:spcPct val="105200"/>
              </a:lnSpc>
              <a:spcBef>
                <a:spcPts val="1610"/>
              </a:spcBef>
            </a:pPr>
            <a:r>
              <a:rPr sz="2350" spc="10" dirty="0">
                <a:latin typeface="Tahoma"/>
                <a:cs typeface="Tahoma"/>
              </a:rPr>
              <a:t>Un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b="1" spc="-20" dirty="0">
                <a:solidFill>
                  <a:srgbClr val="7F0000"/>
                </a:solidFill>
                <a:latin typeface="Arial"/>
                <a:cs typeface="Arial"/>
              </a:rPr>
              <a:t>objet</a:t>
            </a:r>
            <a:r>
              <a:rPr sz="2350" b="1" spc="220" dirty="0">
                <a:solidFill>
                  <a:srgbClr val="7F0000"/>
                </a:solidFill>
                <a:latin typeface="Arial"/>
                <a:cs typeface="Arial"/>
              </a:rPr>
              <a:t> </a:t>
            </a:r>
            <a:r>
              <a:rPr sz="2350" b="1" spc="-85" dirty="0">
                <a:solidFill>
                  <a:srgbClr val="7F0000"/>
                </a:solidFill>
                <a:latin typeface="Arial"/>
                <a:cs typeface="Arial"/>
              </a:rPr>
              <a:t>polymorphe</a:t>
            </a:r>
            <a:r>
              <a:rPr sz="2350" b="1" spc="140" dirty="0">
                <a:solidFill>
                  <a:srgbClr val="7F0000"/>
                </a:solidFill>
                <a:latin typeface="Arial"/>
                <a:cs typeface="Arial"/>
              </a:rPr>
              <a:t> </a:t>
            </a:r>
            <a:r>
              <a:rPr sz="2350" spc="-80" dirty="0">
                <a:latin typeface="Tahoma"/>
                <a:cs typeface="Tahoma"/>
              </a:rPr>
              <a:t>est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un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60" dirty="0">
                <a:latin typeface="Tahoma"/>
                <a:cs typeface="Tahoma"/>
              </a:rPr>
              <a:t>objet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65" dirty="0">
                <a:latin typeface="Tahoma"/>
                <a:cs typeface="Tahoma"/>
              </a:rPr>
              <a:t>susceptible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05" dirty="0">
                <a:latin typeface="Tahoma"/>
                <a:cs typeface="Tahoma"/>
              </a:rPr>
              <a:t>prendre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plusieurs </a:t>
            </a:r>
            <a:r>
              <a:rPr sz="2350" spc="-720" dirty="0">
                <a:latin typeface="Tahoma"/>
                <a:cs typeface="Tahoma"/>
              </a:rPr>
              <a:t> </a:t>
            </a:r>
            <a:r>
              <a:rPr sz="2350" spc="-105" dirty="0">
                <a:latin typeface="Tahoma"/>
                <a:cs typeface="Tahoma"/>
              </a:rPr>
              <a:t>formes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60" dirty="0">
                <a:latin typeface="Tahoma"/>
                <a:cs typeface="Tahoma"/>
              </a:rPr>
              <a:t>pendant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40" dirty="0">
                <a:latin typeface="Tahoma"/>
                <a:cs typeface="Tahoma"/>
              </a:rPr>
              <a:t>l’exécution.</a:t>
            </a:r>
            <a:endParaRPr sz="2350">
              <a:latin typeface="Tahoma"/>
              <a:cs typeface="Tahoma"/>
            </a:endParaRPr>
          </a:p>
          <a:p>
            <a:pPr marL="12700" marR="692785">
              <a:lnSpc>
                <a:spcPct val="105200"/>
              </a:lnSpc>
              <a:spcBef>
                <a:spcPts val="1745"/>
              </a:spcBef>
            </a:pPr>
            <a:r>
              <a:rPr sz="2350" spc="-30" dirty="0">
                <a:latin typeface="Tahoma"/>
                <a:cs typeface="Tahoma"/>
              </a:rPr>
              <a:t>Le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b="1" spc="-95" dirty="0">
                <a:solidFill>
                  <a:srgbClr val="7F0000"/>
                </a:solidFill>
                <a:latin typeface="Arial"/>
                <a:cs typeface="Arial"/>
              </a:rPr>
              <a:t>polymorphisme</a:t>
            </a:r>
            <a:r>
              <a:rPr sz="2350" b="1" spc="135" dirty="0">
                <a:solidFill>
                  <a:srgbClr val="7F0000"/>
                </a:solidFill>
                <a:latin typeface="Arial"/>
                <a:cs typeface="Arial"/>
              </a:rPr>
              <a:t> </a:t>
            </a:r>
            <a:r>
              <a:rPr sz="2350" spc="-110" dirty="0">
                <a:latin typeface="Tahoma"/>
                <a:cs typeface="Tahoma"/>
              </a:rPr>
              <a:t>représente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30" dirty="0">
                <a:latin typeface="Tahoma"/>
                <a:cs typeface="Tahoma"/>
              </a:rPr>
              <a:t>la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45" dirty="0">
                <a:latin typeface="Tahoma"/>
                <a:cs typeface="Tahoma"/>
              </a:rPr>
              <a:t>capacité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du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00" dirty="0">
                <a:latin typeface="Tahoma"/>
                <a:cs typeface="Tahoma"/>
              </a:rPr>
              <a:t>système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à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40" dirty="0">
                <a:latin typeface="Tahoma"/>
                <a:cs typeface="Tahoma"/>
              </a:rPr>
              <a:t>choisir </a:t>
            </a:r>
            <a:r>
              <a:rPr sz="2350" spc="-35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dynamiquement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30" dirty="0">
                <a:latin typeface="Tahoma"/>
                <a:cs typeface="Tahoma"/>
              </a:rPr>
              <a:t>la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méthode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40" dirty="0">
                <a:latin typeface="Tahoma"/>
                <a:cs typeface="Tahoma"/>
              </a:rPr>
              <a:t>qui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correspond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85" dirty="0">
                <a:latin typeface="Tahoma"/>
                <a:cs typeface="Tahoma"/>
              </a:rPr>
              <a:t>au</a:t>
            </a:r>
            <a:r>
              <a:rPr sz="2350" spc="45" dirty="0">
                <a:latin typeface="Tahoma"/>
                <a:cs typeface="Tahoma"/>
              </a:rPr>
              <a:t> </a:t>
            </a:r>
            <a:r>
              <a:rPr sz="2350" spc="-60" dirty="0">
                <a:latin typeface="Tahoma"/>
                <a:cs typeface="Tahoma"/>
              </a:rPr>
              <a:t>type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15" dirty="0">
                <a:latin typeface="Tahoma"/>
                <a:cs typeface="Tahoma"/>
              </a:rPr>
              <a:t>l’objet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130" dirty="0">
                <a:latin typeface="Tahoma"/>
                <a:cs typeface="Tahoma"/>
              </a:rPr>
              <a:t>en </a:t>
            </a:r>
            <a:r>
              <a:rPr sz="2350" spc="-720" dirty="0">
                <a:latin typeface="Tahoma"/>
                <a:cs typeface="Tahoma"/>
              </a:rPr>
              <a:t> </a:t>
            </a:r>
            <a:r>
              <a:rPr sz="2350" spc="-70" dirty="0">
                <a:latin typeface="Tahoma"/>
                <a:cs typeface="Tahoma"/>
              </a:rPr>
              <a:t>cours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45" dirty="0">
                <a:latin typeface="Tahoma"/>
                <a:cs typeface="Tahoma"/>
              </a:rPr>
              <a:t>manipulation.</a:t>
            </a:r>
            <a:endParaRPr sz="2350">
              <a:latin typeface="Tahoma"/>
              <a:cs typeface="Tahoma"/>
            </a:endParaRPr>
          </a:p>
          <a:p>
            <a:pPr marL="12700" marR="644525">
              <a:lnSpc>
                <a:spcPct val="105200"/>
              </a:lnSpc>
              <a:spcBef>
                <a:spcPts val="1739"/>
              </a:spcBef>
            </a:pPr>
            <a:r>
              <a:rPr sz="2350" spc="-30" dirty="0">
                <a:latin typeface="Tahoma"/>
                <a:cs typeface="Tahoma"/>
              </a:rPr>
              <a:t>Le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b="1" spc="-95" dirty="0">
                <a:solidFill>
                  <a:srgbClr val="7F0000"/>
                </a:solidFill>
                <a:latin typeface="Arial"/>
                <a:cs typeface="Arial"/>
              </a:rPr>
              <a:t>polymorphisme</a:t>
            </a:r>
            <a:r>
              <a:rPr sz="2350" b="1" spc="140" dirty="0">
                <a:solidFill>
                  <a:srgbClr val="7F0000"/>
                </a:solidFill>
                <a:latin typeface="Arial"/>
                <a:cs typeface="Arial"/>
              </a:rPr>
              <a:t> </a:t>
            </a:r>
            <a:r>
              <a:rPr sz="2350" spc="-80" dirty="0">
                <a:latin typeface="Tahoma"/>
                <a:cs typeface="Tahoma"/>
              </a:rPr>
              <a:t>est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implémenté</a:t>
            </a:r>
            <a:r>
              <a:rPr sz="2350" spc="70" dirty="0">
                <a:latin typeface="Tahoma"/>
                <a:cs typeface="Tahoma"/>
              </a:rPr>
              <a:t> </a:t>
            </a:r>
            <a:r>
              <a:rPr sz="2350" b="1" spc="-95" dirty="0">
                <a:latin typeface="Arial"/>
                <a:cs typeface="Arial"/>
              </a:rPr>
              <a:t>en</a:t>
            </a:r>
            <a:r>
              <a:rPr sz="2350" b="1" spc="220" dirty="0">
                <a:latin typeface="Arial"/>
                <a:cs typeface="Arial"/>
              </a:rPr>
              <a:t> </a:t>
            </a:r>
            <a:r>
              <a:rPr sz="2350" b="1" spc="434" dirty="0">
                <a:latin typeface="Arial"/>
                <a:cs typeface="Arial"/>
              </a:rPr>
              <a:t>C++</a:t>
            </a:r>
            <a:r>
              <a:rPr sz="2350" b="1" spc="145" dirty="0">
                <a:latin typeface="Arial"/>
                <a:cs typeface="Arial"/>
              </a:rPr>
              <a:t> </a:t>
            </a:r>
            <a:r>
              <a:rPr sz="2350" spc="-95" dirty="0">
                <a:latin typeface="Tahoma"/>
                <a:cs typeface="Tahoma"/>
              </a:rPr>
              <a:t>avec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b="1" spc="-150" dirty="0">
                <a:solidFill>
                  <a:srgbClr val="000099"/>
                </a:solidFill>
                <a:latin typeface="Arial"/>
                <a:cs typeface="Arial"/>
              </a:rPr>
              <a:t>les</a:t>
            </a:r>
            <a:r>
              <a:rPr sz="2350" b="1" spc="2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80" dirty="0">
                <a:solidFill>
                  <a:srgbClr val="000099"/>
                </a:solidFill>
                <a:latin typeface="Arial"/>
                <a:cs typeface="Arial"/>
              </a:rPr>
              <a:t>fonctions </a:t>
            </a:r>
            <a:r>
              <a:rPr sz="2350" b="1" spc="-64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70" dirty="0">
                <a:solidFill>
                  <a:srgbClr val="000099"/>
                </a:solidFill>
                <a:latin typeface="Arial"/>
                <a:cs typeface="Arial"/>
              </a:rPr>
              <a:t>virtuelles</a:t>
            </a:r>
            <a:r>
              <a:rPr sz="2350" b="1" spc="21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225" dirty="0">
                <a:solidFill>
                  <a:srgbClr val="000099"/>
                </a:solidFill>
                <a:latin typeface="Arial"/>
                <a:cs typeface="Arial"/>
              </a:rPr>
              <a:t>(</a:t>
            </a:r>
            <a:r>
              <a:rPr sz="2350" b="1" spc="225" dirty="0">
                <a:solidFill>
                  <a:srgbClr val="000099"/>
                </a:solidFill>
                <a:latin typeface="Trebuchet MS"/>
                <a:cs typeface="Trebuchet MS"/>
              </a:rPr>
              <a:t>virtual</a:t>
            </a:r>
            <a:r>
              <a:rPr sz="2350" b="1" spc="225" dirty="0">
                <a:solidFill>
                  <a:srgbClr val="000099"/>
                </a:solidFill>
                <a:latin typeface="Arial"/>
                <a:cs typeface="Arial"/>
              </a:rPr>
              <a:t>)</a:t>
            </a:r>
            <a:r>
              <a:rPr sz="2350" b="1" spc="2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45" dirty="0">
                <a:solidFill>
                  <a:srgbClr val="000099"/>
                </a:solidFill>
                <a:latin typeface="Arial"/>
                <a:cs typeface="Arial"/>
              </a:rPr>
              <a:t>et</a:t>
            </a:r>
            <a:r>
              <a:rPr sz="2350" b="1" spc="2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35" dirty="0">
                <a:solidFill>
                  <a:srgbClr val="000099"/>
                </a:solidFill>
                <a:latin typeface="Arial"/>
                <a:cs typeface="Arial"/>
              </a:rPr>
              <a:t>l’héritage</a:t>
            </a:r>
            <a:r>
              <a:rPr sz="2350" spc="-35" dirty="0">
                <a:latin typeface="Tahoma"/>
                <a:cs typeface="Tahoma"/>
              </a:rPr>
              <a:t>.</a:t>
            </a:r>
            <a:endParaRPr sz="235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6620" y="3303917"/>
            <a:ext cx="142843" cy="14284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6620" y="4278667"/>
            <a:ext cx="142843" cy="14284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6620" y="5630052"/>
            <a:ext cx="142843" cy="142843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303330" y="7322021"/>
            <a:ext cx="10085705" cy="240029"/>
            <a:chOff x="303330" y="7322021"/>
            <a:chExt cx="10085705" cy="240029"/>
          </a:xfrm>
        </p:grpSpPr>
        <p:sp>
          <p:nvSpPr>
            <p:cNvPr id="16" name="object 16"/>
            <p:cNvSpPr/>
            <p:nvPr/>
          </p:nvSpPr>
          <p:spPr>
            <a:xfrm>
              <a:off x="303330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65059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26788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60" dirty="0"/>
              <a:t>tv </a:t>
            </a:r>
            <a:r>
              <a:rPr spc="140" dirty="0"/>
              <a:t> </a:t>
            </a:r>
            <a:r>
              <a:rPr spc="55" dirty="0"/>
              <a:t>(BTS</a:t>
            </a:r>
            <a:r>
              <a:rPr spc="100" dirty="0"/>
              <a:t> </a:t>
            </a:r>
            <a:r>
              <a:rPr spc="-25" dirty="0"/>
              <a:t>IRIS</a:t>
            </a:r>
            <a:r>
              <a:rPr spc="105" dirty="0"/>
              <a:t> </a:t>
            </a:r>
            <a:r>
              <a:rPr spc="5" dirty="0"/>
              <a:t>Avignon)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-40" dirty="0"/>
              <a:t>Cours</a:t>
            </a:r>
            <a:r>
              <a:rPr spc="60" dirty="0"/>
              <a:t> </a:t>
            </a:r>
            <a:r>
              <a:rPr spc="170" dirty="0"/>
              <a:t>C/C++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481423" y="7283716"/>
            <a:ext cx="1800860" cy="27051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300" spc="40" dirty="0">
                <a:solidFill>
                  <a:srgbClr val="FFFFFF"/>
                </a:solidFill>
                <a:latin typeface="SimSun"/>
                <a:cs typeface="SimSun"/>
                <a:hlinkClick r:id="rId6"/>
              </a:rPr>
              <a:t>tvaira@free.fr</a:t>
            </a:r>
            <a:r>
              <a:rPr sz="1300" spc="-190" dirty="0">
                <a:solidFill>
                  <a:srgbClr val="FFFFFF"/>
                </a:solidFill>
                <a:latin typeface="SimSun"/>
                <a:cs typeface="SimSun"/>
                <a:hlinkClick r:id="rId6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©</a:t>
            </a:r>
            <a:r>
              <a:rPr sz="130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v0.1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9"/>
              </a:spcBef>
            </a:pPr>
            <a:fld id="{81D60167-4931-47E6-BA6A-407CBD079E47}" type="slidenum">
              <a:rPr spc="-30" dirty="0"/>
              <a:t>17</a:t>
            </a:fld>
            <a:r>
              <a:rPr spc="80" dirty="0"/>
              <a:t> </a:t>
            </a:r>
            <a:r>
              <a:rPr spc="330" dirty="0"/>
              <a:t>/</a:t>
            </a:r>
            <a:r>
              <a:rPr spc="85" dirty="0"/>
              <a:t> </a:t>
            </a:r>
            <a:r>
              <a:rPr spc="-30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3330" y="0"/>
            <a:ext cx="5043170" cy="203200"/>
          </a:xfrm>
          <a:custGeom>
            <a:avLst/>
            <a:gdLst/>
            <a:ahLst/>
            <a:cxnLst/>
            <a:rect l="l" t="t" r="r" b="b"/>
            <a:pathLst>
              <a:path w="5043170" h="203200">
                <a:moveTo>
                  <a:pt x="0" y="203077"/>
                </a:moveTo>
                <a:lnTo>
                  <a:pt x="5042663" y="203077"/>
                </a:lnTo>
                <a:lnTo>
                  <a:pt x="5042663" y="0"/>
                </a:lnTo>
                <a:lnTo>
                  <a:pt x="0" y="0"/>
                </a:lnTo>
                <a:lnTo>
                  <a:pt x="0" y="203077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71384" y="0"/>
            <a:ext cx="1139825" cy="224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Polymorphisme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3330" y="0"/>
            <a:ext cx="10085705" cy="812800"/>
            <a:chOff x="303330" y="0"/>
            <a:chExt cx="10085705" cy="812800"/>
          </a:xfrm>
        </p:grpSpPr>
        <p:sp>
          <p:nvSpPr>
            <p:cNvPr id="5" name="object 5"/>
            <p:cNvSpPr/>
            <p:nvPr/>
          </p:nvSpPr>
          <p:spPr>
            <a:xfrm>
              <a:off x="5345993" y="0"/>
              <a:ext cx="5043170" cy="203200"/>
            </a:xfrm>
            <a:custGeom>
              <a:avLst/>
              <a:gdLst/>
              <a:ahLst/>
              <a:cxnLst/>
              <a:rect l="l" t="t" r="r" b="b"/>
              <a:pathLst>
                <a:path w="5043170" h="203200">
                  <a:moveTo>
                    <a:pt x="0" y="203077"/>
                  </a:moveTo>
                  <a:lnTo>
                    <a:pt x="5042663" y="203077"/>
                  </a:lnTo>
                  <a:lnTo>
                    <a:pt x="5042663" y="0"/>
                  </a:lnTo>
                  <a:lnTo>
                    <a:pt x="0" y="0"/>
                  </a:lnTo>
                  <a:lnTo>
                    <a:pt x="0" y="20307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330" y="201079"/>
              <a:ext cx="10085354" cy="1476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3330" y="311846"/>
              <a:ext cx="10085705" cy="498475"/>
            </a:xfrm>
            <a:custGeom>
              <a:avLst/>
              <a:gdLst/>
              <a:ahLst/>
              <a:cxnLst/>
              <a:rect l="l" t="t" r="r" b="b"/>
              <a:pathLst>
                <a:path w="10085705" h="498475">
                  <a:moveTo>
                    <a:pt x="0" y="498437"/>
                  </a:moveTo>
                  <a:lnTo>
                    <a:pt x="10085354" y="498437"/>
                  </a:lnTo>
                  <a:lnTo>
                    <a:pt x="10085354" y="0"/>
                  </a:lnTo>
                  <a:lnTo>
                    <a:pt x="0" y="0"/>
                  </a:lnTo>
                  <a:lnTo>
                    <a:pt x="0" y="49843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27007" y="249275"/>
            <a:ext cx="5495925" cy="5041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00" spc="-114" dirty="0">
                <a:solidFill>
                  <a:srgbClr val="FFFFFF"/>
                </a:solidFill>
              </a:rPr>
              <a:t>Comportement</a:t>
            </a:r>
            <a:r>
              <a:rPr sz="3100" spc="40" dirty="0">
                <a:solidFill>
                  <a:srgbClr val="FFFFFF"/>
                </a:solidFill>
              </a:rPr>
              <a:t> </a:t>
            </a:r>
            <a:r>
              <a:rPr sz="3100" spc="-120" dirty="0">
                <a:solidFill>
                  <a:srgbClr val="FFFFFF"/>
                </a:solidFill>
              </a:rPr>
              <a:t>Polymorphe</a:t>
            </a:r>
            <a:r>
              <a:rPr sz="3100" spc="45" dirty="0">
                <a:solidFill>
                  <a:srgbClr val="FFFFFF"/>
                </a:solidFill>
              </a:rPr>
              <a:t> </a:t>
            </a:r>
            <a:r>
              <a:rPr sz="3100" spc="5" dirty="0">
                <a:solidFill>
                  <a:srgbClr val="FFFFFF"/>
                </a:solidFill>
              </a:rPr>
              <a:t>(1/4)</a:t>
            </a:r>
            <a:endParaRPr sz="310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3330" y="810284"/>
            <a:ext cx="10085354" cy="7385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6620" y="1354334"/>
            <a:ext cx="142843" cy="142843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619125" marR="5080">
              <a:lnSpc>
                <a:spcPts val="2970"/>
              </a:lnSpc>
              <a:spcBef>
                <a:spcPts val="70"/>
              </a:spcBef>
            </a:pPr>
            <a:r>
              <a:rPr spc="-10" dirty="0"/>
              <a:t>Par</a:t>
            </a:r>
            <a:r>
              <a:rPr spc="55" dirty="0"/>
              <a:t> </a:t>
            </a:r>
            <a:r>
              <a:rPr spc="-95" dirty="0"/>
              <a:t>exemple,</a:t>
            </a:r>
            <a:r>
              <a:rPr spc="60" dirty="0"/>
              <a:t> </a:t>
            </a:r>
            <a:r>
              <a:rPr spc="-95" dirty="0"/>
              <a:t>dans</a:t>
            </a:r>
            <a:r>
              <a:rPr spc="60" dirty="0"/>
              <a:t> </a:t>
            </a:r>
            <a:r>
              <a:rPr spc="-75" dirty="0"/>
              <a:t>le</a:t>
            </a:r>
            <a:r>
              <a:rPr spc="60" dirty="0"/>
              <a:t> </a:t>
            </a:r>
            <a:r>
              <a:rPr spc="-80" dirty="0"/>
              <a:t>diagramme</a:t>
            </a:r>
            <a:r>
              <a:rPr spc="60" dirty="0"/>
              <a:t> </a:t>
            </a:r>
            <a:r>
              <a:rPr spc="-50" dirty="0"/>
              <a:t>suivant,</a:t>
            </a:r>
            <a:r>
              <a:rPr spc="60" dirty="0"/>
              <a:t> </a:t>
            </a:r>
            <a:r>
              <a:rPr spc="-15" dirty="0"/>
              <a:t>l’objet</a:t>
            </a:r>
            <a:r>
              <a:rPr spc="60" dirty="0"/>
              <a:t> </a:t>
            </a:r>
            <a:r>
              <a:rPr spc="-40" dirty="0"/>
              <a:t>Contrôleur</a:t>
            </a:r>
            <a:r>
              <a:rPr spc="60" dirty="0"/>
              <a:t> </a:t>
            </a:r>
            <a:r>
              <a:rPr spc="-60" dirty="0"/>
              <a:t>d’oiseaux </a:t>
            </a:r>
            <a:r>
              <a:rPr spc="-720" dirty="0"/>
              <a:t> </a:t>
            </a:r>
            <a:r>
              <a:rPr spc="-30" dirty="0"/>
              <a:t>travaille</a:t>
            </a:r>
            <a:r>
              <a:rPr spc="60" dirty="0"/>
              <a:t> </a:t>
            </a:r>
            <a:r>
              <a:rPr spc="-90" dirty="0"/>
              <a:t>seulement</a:t>
            </a:r>
            <a:r>
              <a:rPr spc="65" dirty="0"/>
              <a:t> </a:t>
            </a:r>
            <a:r>
              <a:rPr spc="-95" dirty="0"/>
              <a:t>avec</a:t>
            </a:r>
            <a:r>
              <a:rPr spc="55" dirty="0"/>
              <a:t> </a:t>
            </a:r>
            <a:r>
              <a:rPr spc="-130" dirty="0"/>
              <a:t>des</a:t>
            </a:r>
            <a:r>
              <a:rPr spc="65" dirty="0"/>
              <a:t> </a:t>
            </a:r>
            <a:r>
              <a:rPr spc="-70" dirty="0"/>
              <a:t>objets</a:t>
            </a:r>
            <a:r>
              <a:rPr spc="60" dirty="0"/>
              <a:t> </a:t>
            </a:r>
            <a:r>
              <a:rPr spc="-60" dirty="0"/>
              <a:t>Oiseaux</a:t>
            </a:r>
            <a:r>
              <a:rPr spc="65" dirty="0"/>
              <a:t> </a:t>
            </a:r>
            <a:r>
              <a:rPr spc="-100" dirty="0"/>
              <a:t>génériques,</a:t>
            </a:r>
            <a:r>
              <a:rPr spc="60" dirty="0"/>
              <a:t> </a:t>
            </a:r>
            <a:r>
              <a:rPr spc="-55" dirty="0"/>
              <a:t>et</a:t>
            </a:r>
            <a:r>
              <a:rPr spc="65" dirty="0"/>
              <a:t> </a:t>
            </a:r>
            <a:r>
              <a:rPr spc="-130" dirty="0"/>
              <a:t>ne</a:t>
            </a:r>
            <a:r>
              <a:rPr spc="60" dirty="0"/>
              <a:t> </a:t>
            </a:r>
            <a:r>
              <a:rPr spc="-30" dirty="0"/>
              <a:t>sait</a:t>
            </a:r>
            <a:r>
              <a:rPr spc="65" dirty="0"/>
              <a:t> </a:t>
            </a:r>
            <a:r>
              <a:rPr spc="-100" dirty="0"/>
              <a:t>pas </a:t>
            </a:r>
            <a:r>
              <a:rPr spc="-720" dirty="0"/>
              <a:t> </a:t>
            </a:r>
            <a:r>
              <a:rPr spc="-125" dirty="0"/>
              <a:t>de</a:t>
            </a:r>
            <a:r>
              <a:rPr spc="-120" dirty="0"/>
              <a:t> </a:t>
            </a:r>
            <a:r>
              <a:rPr spc="-75" dirty="0"/>
              <a:t>quel </a:t>
            </a:r>
            <a:r>
              <a:rPr spc="-60" dirty="0"/>
              <a:t>type </a:t>
            </a:r>
            <a:r>
              <a:rPr spc="-30" dirty="0"/>
              <a:t>ils </a:t>
            </a:r>
            <a:r>
              <a:rPr spc="-55" dirty="0"/>
              <a:t>sont. </a:t>
            </a:r>
            <a:r>
              <a:rPr spc="5" dirty="0"/>
              <a:t>C’est </a:t>
            </a:r>
            <a:r>
              <a:rPr spc="-65" dirty="0"/>
              <a:t>pratique </a:t>
            </a:r>
            <a:r>
              <a:rPr spc="-75" dirty="0"/>
              <a:t>du </a:t>
            </a:r>
            <a:r>
              <a:rPr spc="-10" dirty="0"/>
              <a:t>point </a:t>
            </a:r>
            <a:r>
              <a:rPr spc="-125" dirty="0"/>
              <a:t>de</a:t>
            </a:r>
            <a:r>
              <a:rPr spc="-120" dirty="0"/>
              <a:t> </a:t>
            </a:r>
            <a:r>
              <a:rPr spc="-110" dirty="0"/>
              <a:t>vue </a:t>
            </a:r>
            <a:r>
              <a:rPr spc="-125" dirty="0"/>
              <a:t>de</a:t>
            </a:r>
            <a:r>
              <a:rPr spc="-120" dirty="0"/>
              <a:t> </a:t>
            </a:r>
            <a:r>
              <a:rPr spc="-40" dirty="0"/>
              <a:t>Contrôleur </a:t>
            </a:r>
            <a:r>
              <a:rPr spc="-35" dirty="0"/>
              <a:t> </a:t>
            </a:r>
            <a:r>
              <a:rPr spc="-60" dirty="0"/>
              <a:t>d’oiseaux,</a:t>
            </a:r>
            <a:r>
              <a:rPr spc="60" dirty="0"/>
              <a:t> </a:t>
            </a:r>
            <a:r>
              <a:rPr spc="-70" dirty="0"/>
              <a:t>car</a:t>
            </a:r>
            <a:r>
              <a:rPr spc="60" dirty="0"/>
              <a:t> </a:t>
            </a:r>
            <a:r>
              <a:rPr spc="30" dirty="0"/>
              <a:t>il</a:t>
            </a:r>
            <a:r>
              <a:rPr spc="65" dirty="0"/>
              <a:t> </a:t>
            </a:r>
            <a:r>
              <a:rPr spc="-5" dirty="0"/>
              <a:t>n’a</a:t>
            </a:r>
            <a:r>
              <a:rPr spc="60" dirty="0"/>
              <a:t> </a:t>
            </a:r>
            <a:r>
              <a:rPr spc="-100" dirty="0"/>
              <a:t>pas</a:t>
            </a:r>
            <a:r>
              <a:rPr spc="65" dirty="0"/>
              <a:t> </a:t>
            </a:r>
            <a:r>
              <a:rPr spc="-75" dirty="0"/>
              <a:t>besoin</a:t>
            </a:r>
            <a:r>
              <a:rPr spc="60" dirty="0"/>
              <a:t> </a:t>
            </a:r>
            <a:r>
              <a:rPr spc="-45" dirty="0"/>
              <a:t>d’écrire</a:t>
            </a:r>
            <a:r>
              <a:rPr spc="60" dirty="0"/>
              <a:t> </a:t>
            </a:r>
            <a:r>
              <a:rPr spc="-75" dirty="0"/>
              <a:t>du</a:t>
            </a:r>
            <a:r>
              <a:rPr spc="65" dirty="0"/>
              <a:t> </a:t>
            </a:r>
            <a:r>
              <a:rPr spc="-75" dirty="0"/>
              <a:t>code</a:t>
            </a:r>
            <a:r>
              <a:rPr spc="60" dirty="0"/>
              <a:t> </a:t>
            </a:r>
            <a:r>
              <a:rPr spc="-65" dirty="0"/>
              <a:t>spécifique</a:t>
            </a:r>
            <a:r>
              <a:rPr spc="65" dirty="0"/>
              <a:t> </a:t>
            </a:r>
            <a:r>
              <a:rPr spc="-50" dirty="0"/>
              <a:t>pour </a:t>
            </a:r>
            <a:r>
              <a:rPr spc="-45" dirty="0"/>
              <a:t> </a:t>
            </a:r>
            <a:r>
              <a:rPr spc="-75" dirty="0"/>
              <a:t>déterminer</a:t>
            </a:r>
            <a:r>
              <a:rPr spc="55" dirty="0"/>
              <a:t> </a:t>
            </a:r>
            <a:r>
              <a:rPr spc="-75" dirty="0"/>
              <a:t>le</a:t>
            </a:r>
            <a:r>
              <a:rPr spc="60" dirty="0"/>
              <a:t> </a:t>
            </a:r>
            <a:r>
              <a:rPr spc="-60" dirty="0"/>
              <a:t>type</a:t>
            </a:r>
            <a:r>
              <a:rPr spc="60" dirty="0"/>
              <a:t> </a:t>
            </a:r>
            <a:r>
              <a:rPr spc="-55" dirty="0"/>
              <a:t>exact</a:t>
            </a:r>
            <a:r>
              <a:rPr spc="60" dirty="0"/>
              <a:t> </a:t>
            </a:r>
            <a:r>
              <a:rPr spc="-35" dirty="0"/>
              <a:t>d’Oiseau</a:t>
            </a:r>
            <a:r>
              <a:rPr spc="60" dirty="0"/>
              <a:t> </a:t>
            </a:r>
            <a:r>
              <a:rPr spc="-95" dirty="0"/>
              <a:t>avec</a:t>
            </a:r>
            <a:r>
              <a:rPr spc="55" dirty="0"/>
              <a:t> </a:t>
            </a:r>
            <a:r>
              <a:rPr spc="-80" dirty="0"/>
              <a:t>lequel</a:t>
            </a:r>
            <a:r>
              <a:rPr spc="60" dirty="0"/>
              <a:t> </a:t>
            </a:r>
            <a:r>
              <a:rPr spc="30" dirty="0"/>
              <a:t>il</a:t>
            </a:r>
            <a:r>
              <a:rPr spc="60" dirty="0"/>
              <a:t> </a:t>
            </a:r>
            <a:r>
              <a:rPr spc="-35" dirty="0"/>
              <a:t>travaille,</a:t>
            </a:r>
            <a:r>
              <a:rPr spc="60" dirty="0"/>
              <a:t> </a:t>
            </a:r>
            <a:r>
              <a:rPr spc="-80" dirty="0"/>
              <a:t>ou</a:t>
            </a:r>
            <a:r>
              <a:rPr spc="60" dirty="0"/>
              <a:t> </a:t>
            </a:r>
            <a:r>
              <a:rPr spc="-80" dirty="0"/>
              <a:t>le </a:t>
            </a:r>
            <a:r>
              <a:rPr spc="-75" dirty="0"/>
              <a:t> </a:t>
            </a:r>
            <a:r>
              <a:rPr spc="-65" dirty="0"/>
              <a:t>comportement</a:t>
            </a:r>
            <a:r>
              <a:rPr spc="55" dirty="0"/>
              <a:t> </a:t>
            </a:r>
            <a:r>
              <a:rPr spc="-125" dirty="0"/>
              <a:t>de</a:t>
            </a:r>
            <a:r>
              <a:rPr spc="60" dirty="0"/>
              <a:t> </a:t>
            </a:r>
            <a:r>
              <a:rPr spc="-45" dirty="0"/>
              <a:t>cet</a:t>
            </a:r>
            <a:r>
              <a:rPr spc="60" dirty="0"/>
              <a:t> </a:t>
            </a:r>
            <a:r>
              <a:rPr spc="-60" dirty="0"/>
              <a:t>Oiseau.</a:t>
            </a: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06413" y="3638552"/>
            <a:ext cx="7879311" cy="3576676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303330" y="7322021"/>
            <a:ext cx="10085705" cy="240029"/>
            <a:chOff x="303330" y="7322021"/>
            <a:chExt cx="10085705" cy="240029"/>
          </a:xfrm>
        </p:grpSpPr>
        <p:sp>
          <p:nvSpPr>
            <p:cNvPr id="14" name="object 14"/>
            <p:cNvSpPr/>
            <p:nvPr/>
          </p:nvSpPr>
          <p:spPr>
            <a:xfrm>
              <a:off x="303330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65059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26788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60" dirty="0"/>
              <a:t>tv </a:t>
            </a:r>
            <a:r>
              <a:rPr spc="140" dirty="0"/>
              <a:t> </a:t>
            </a:r>
            <a:r>
              <a:rPr spc="55" dirty="0"/>
              <a:t>(BTS</a:t>
            </a:r>
            <a:r>
              <a:rPr spc="100" dirty="0"/>
              <a:t> </a:t>
            </a:r>
            <a:r>
              <a:rPr spc="-25" dirty="0"/>
              <a:t>IRIS</a:t>
            </a:r>
            <a:r>
              <a:rPr spc="105" dirty="0"/>
              <a:t> </a:t>
            </a:r>
            <a:r>
              <a:rPr spc="5" dirty="0"/>
              <a:t>Avignon)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-40" dirty="0"/>
              <a:t>Cours</a:t>
            </a:r>
            <a:r>
              <a:rPr spc="60" dirty="0"/>
              <a:t> </a:t>
            </a:r>
            <a:r>
              <a:rPr spc="170" dirty="0"/>
              <a:t>C/C++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481423" y="7283716"/>
            <a:ext cx="1800860" cy="27051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300" spc="40" dirty="0">
                <a:solidFill>
                  <a:srgbClr val="FFFFFF"/>
                </a:solidFill>
                <a:latin typeface="SimSun"/>
                <a:cs typeface="SimSun"/>
                <a:hlinkClick r:id="rId6"/>
              </a:rPr>
              <a:t>tvaira@free.fr</a:t>
            </a:r>
            <a:r>
              <a:rPr sz="1300" spc="-190" dirty="0">
                <a:solidFill>
                  <a:srgbClr val="FFFFFF"/>
                </a:solidFill>
                <a:latin typeface="SimSun"/>
                <a:cs typeface="SimSun"/>
                <a:hlinkClick r:id="rId6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©</a:t>
            </a:r>
            <a:r>
              <a:rPr sz="130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v0.1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9"/>
              </a:spcBef>
            </a:pPr>
            <a:fld id="{81D60167-4931-47E6-BA6A-407CBD079E47}" type="slidenum">
              <a:rPr spc="-30" dirty="0"/>
              <a:t>18</a:t>
            </a:fld>
            <a:r>
              <a:rPr spc="80" dirty="0"/>
              <a:t> </a:t>
            </a:r>
            <a:r>
              <a:rPr spc="330" dirty="0"/>
              <a:t>/</a:t>
            </a:r>
            <a:r>
              <a:rPr spc="85" dirty="0"/>
              <a:t> </a:t>
            </a:r>
            <a:r>
              <a:rPr spc="-30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3330" y="0"/>
            <a:ext cx="5043170" cy="203200"/>
          </a:xfrm>
          <a:custGeom>
            <a:avLst/>
            <a:gdLst/>
            <a:ahLst/>
            <a:cxnLst/>
            <a:rect l="l" t="t" r="r" b="b"/>
            <a:pathLst>
              <a:path w="5043170" h="203200">
                <a:moveTo>
                  <a:pt x="0" y="203077"/>
                </a:moveTo>
                <a:lnTo>
                  <a:pt x="5042663" y="203077"/>
                </a:lnTo>
                <a:lnTo>
                  <a:pt x="5042663" y="0"/>
                </a:lnTo>
                <a:lnTo>
                  <a:pt x="0" y="0"/>
                </a:lnTo>
                <a:lnTo>
                  <a:pt x="0" y="203077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71384" y="0"/>
            <a:ext cx="1139825" cy="224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Polymorphisme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3330" y="0"/>
            <a:ext cx="10085705" cy="812800"/>
            <a:chOff x="303330" y="0"/>
            <a:chExt cx="10085705" cy="812800"/>
          </a:xfrm>
        </p:grpSpPr>
        <p:sp>
          <p:nvSpPr>
            <p:cNvPr id="5" name="object 5"/>
            <p:cNvSpPr/>
            <p:nvPr/>
          </p:nvSpPr>
          <p:spPr>
            <a:xfrm>
              <a:off x="5345993" y="0"/>
              <a:ext cx="5043170" cy="203200"/>
            </a:xfrm>
            <a:custGeom>
              <a:avLst/>
              <a:gdLst/>
              <a:ahLst/>
              <a:cxnLst/>
              <a:rect l="l" t="t" r="r" b="b"/>
              <a:pathLst>
                <a:path w="5043170" h="203200">
                  <a:moveTo>
                    <a:pt x="0" y="203077"/>
                  </a:moveTo>
                  <a:lnTo>
                    <a:pt x="5042663" y="203077"/>
                  </a:lnTo>
                  <a:lnTo>
                    <a:pt x="5042663" y="0"/>
                  </a:lnTo>
                  <a:lnTo>
                    <a:pt x="0" y="0"/>
                  </a:lnTo>
                  <a:lnTo>
                    <a:pt x="0" y="20307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330" y="201079"/>
              <a:ext cx="10085354" cy="1476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3330" y="311846"/>
              <a:ext cx="10085705" cy="498475"/>
            </a:xfrm>
            <a:custGeom>
              <a:avLst/>
              <a:gdLst/>
              <a:ahLst/>
              <a:cxnLst/>
              <a:rect l="l" t="t" r="r" b="b"/>
              <a:pathLst>
                <a:path w="10085705" h="498475">
                  <a:moveTo>
                    <a:pt x="0" y="498437"/>
                  </a:moveTo>
                  <a:lnTo>
                    <a:pt x="10085354" y="498437"/>
                  </a:lnTo>
                  <a:lnTo>
                    <a:pt x="10085354" y="0"/>
                  </a:lnTo>
                  <a:lnTo>
                    <a:pt x="0" y="0"/>
                  </a:lnTo>
                  <a:lnTo>
                    <a:pt x="0" y="49843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27007" y="249275"/>
            <a:ext cx="5495925" cy="5041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00" spc="-114" dirty="0">
                <a:solidFill>
                  <a:srgbClr val="FFFFFF"/>
                </a:solidFill>
              </a:rPr>
              <a:t>Comportement</a:t>
            </a:r>
            <a:r>
              <a:rPr sz="3100" spc="40" dirty="0">
                <a:solidFill>
                  <a:srgbClr val="FFFFFF"/>
                </a:solidFill>
              </a:rPr>
              <a:t> </a:t>
            </a:r>
            <a:r>
              <a:rPr sz="3100" spc="-120" dirty="0">
                <a:solidFill>
                  <a:srgbClr val="FFFFFF"/>
                </a:solidFill>
              </a:rPr>
              <a:t>Polymorphe</a:t>
            </a:r>
            <a:r>
              <a:rPr sz="3100" spc="45" dirty="0">
                <a:solidFill>
                  <a:srgbClr val="FFFFFF"/>
                </a:solidFill>
              </a:rPr>
              <a:t> </a:t>
            </a:r>
            <a:r>
              <a:rPr sz="3100" spc="5" dirty="0">
                <a:solidFill>
                  <a:srgbClr val="FFFFFF"/>
                </a:solidFill>
              </a:rPr>
              <a:t>(2/4)</a:t>
            </a:r>
            <a:endParaRPr sz="310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3330" y="810284"/>
            <a:ext cx="10085354" cy="7385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6620" y="1556078"/>
            <a:ext cx="142843" cy="14284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98391" y="1388524"/>
            <a:ext cx="8899525" cy="54514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89535">
              <a:lnSpc>
                <a:spcPts val="2970"/>
              </a:lnSpc>
              <a:spcBef>
                <a:spcPts val="110"/>
              </a:spcBef>
            </a:pPr>
            <a:r>
              <a:rPr sz="2350" spc="-50" dirty="0">
                <a:latin typeface="Tahoma"/>
                <a:cs typeface="Tahoma"/>
              </a:rPr>
              <a:t>Comment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60" dirty="0">
                <a:latin typeface="Tahoma"/>
                <a:cs typeface="Tahoma"/>
              </a:rPr>
              <a:t>se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5" dirty="0">
                <a:latin typeface="Tahoma"/>
                <a:cs typeface="Tahoma"/>
              </a:rPr>
              <a:t>fait-il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70" dirty="0">
                <a:latin typeface="Tahoma"/>
                <a:cs typeface="Tahoma"/>
              </a:rPr>
              <a:t>donc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95" dirty="0">
                <a:latin typeface="Tahoma"/>
                <a:cs typeface="Tahoma"/>
              </a:rPr>
              <a:t>que,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lorsque</a:t>
            </a:r>
            <a:r>
              <a:rPr sz="2350" spc="80" dirty="0">
                <a:latin typeface="Tahoma"/>
                <a:cs typeface="Tahoma"/>
              </a:rPr>
              <a:t> </a:t>
            </a:r>
            <a:r>
              <a:rPr sz="2350" spc="75" dirty="0">
                <a:latin typeface="SimSun"/>
                <a:cs typeface="SimSun"/>
              </a:rPr>
              <a:t>bouger()</a:t>
            </a:r>
            <a:r>
              <a:rPr sz="2350" spc="-380" dirty="0">
                <a:latin typeface="SimSun"/>
                <a:cs typeface="SimSun"/>
              </a:rPr>
              <a:t> </a:t>
            </a:r>
            <a:r>
              <a:rPr sz="2350" spc="-80" dirty="0">
                <a:latin typeface="Tahoma"/>
                <a:cs typeface="Tahoma"/>
              </a:rPr>
              <a:t>est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appelé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5" dirty="0">
                <a:latin typeface="Tahoma"/>
                <a:cs typeface="Tahoma"/>
              </a:rPr>
              <a:t>tout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30" dirty="0">
                <a:latin typeface="Tahoma"/>
                <a:cs typeface="Tahoma"/>
              </a:rPr>
              <a:t>en </a:t>
            </a:r>
            <a:r>
              <a:rPr sz="2350" spc="-125" dirty="0">
                <a:latin typeface="Tahoma"/>
                <a:cs typeface="Tahoma"/>
              </a:rPr>
              <a:t> </a:t>
            </a:r>
            <a:r>
              <a:rPr sz="2350" spc="-60" dirty="0">
                <a:latin typeface="Tahoma"/>
                <a:cs typeface="Tahoma"/>
              </a:rPr>
              <a:t>ignorant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le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60" dirty="0">
                <a:latin typeface="Tahoma"/>
                <a:cs typeface="Tahoma"/>
              </a:rPr>
              <a:t>type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65" dirty="0">
                <a:latin typeface="Tahoma"/>
                <a:cs typeface="Tahoma"/>
              </a:rPr>
              <a:t>spécifique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30" dirty="0">
                <a:latin typeface="Tahoma"/>
                <a:cs typeface="Tahoma"/>
              </a:rPr>
              <a:t>l’Oiseau,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on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70" dirty="0">
                <a:latin typeface="Tahoma"/>
                <a:cs typeface="Tahoma"/>
              </a:rPr>
              <a:t>obtienne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le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55" dirty="0">
                <a:latin typeface="Tahoma"/>
                <a:cs typeface="Tahoma"/>
              </a:rPr>
              <a:t>bon </a:t>
            </a:r>
            <a:r>
              <a:rPr sz="2350" spc="-50" dirty="0">
                <a:latin typeface="Tahoma"/>
                <a:cs typeface="Tahoma"/>
              </a:rPr>
              <a:t> </a:t>
            </a:r>
            <a:r>
              <a:rPr sz="2350" spc="-65" dirty="0">
                <a:latin typeface="Tahoma"/>
                <a:cs typeface="Tahoma"/>
              </a:rPr>
              <a:t>comportement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(une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20" dirty="0">
                <a:latin typeface="Tahoma"/>
                <a:cs typeface="Tahoma"/>
              </a:rPr>
              <a:t>Oie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35" dirty="0">
                <a:latin typeface="Tahoma"/>
                <a:cs typeface="Tahoma"/>
              </a:rPr>
              <a:t>court,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vole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ou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05" dirty="0">
                <a:latin typeface="Tahoma"/>
                <a:cs typeface="Tahoma"/>
              </a:rPr>
              <a:t>nage,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55" dirty="0">
                <a:latin typeface="Tahoma"/>
                <a:cs typeface="Tahoma"/>
              </a:rPr>
              <a:t>et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un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20" dirty="0">
                <a:latin typeface="Tahoma"/>
                <a:cs typeface="Tahoma"/>
              </a:rPr>
              <a:t>Pingouin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30" dirty="0">
                <a:latin typeface="Tahoma"/>
                <a:cs typeface="Tahoma"/>
              </a:rPr>
              <a:t>court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ou </a:t>
            </a:r>
            <a:r>
              <a:rPr sz="2350" spc="-720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nage)</a:t>
            </a:r>
            <a:r>
              <a:rPr sz="2350" spc="-345" dirty="0">
                <a:latin typeface="Tahoma"/>
                <a:cs typeface="Tahoma"/>
              </a:rPr>
              <a:t> </a:t>
            </a:r>
            <a:r>
              <a:rPr sz="2350" spc="10" dirty="0">
                <a:latin typeface="Tahoma"/>
                <a:cs typeface="Tahoma"/>
              </a:rPr>
              <a:t>?</a:t>
            </a:r>
            <a:endParaRPr sz="2350">
              <a:latin typeface="Tahoma"/>
              <a:cs typeface="Tahoma"/>
            </a:endParaRPr>
          </a:p>
          <a:p>
            <a:pPr marL="12700" marR="52069">
              <a:lnSpc>
                <a:spcPct val="105200"/>
              </a:lnSpc>
              <a:spcBef>
                <a:spcPts val="515"/>
              </a:spcBef>
            </a:pPr>
            <a:r>
              <a:rPr sz="2350" spc="15" dirty="0">
                <a:latin typeface="Tahoma"/>
                <a:cs typeface="Tahoma"/>
              </a:rPr>
              <a:t>La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00" dirty="0">
                <a:latin typeface="Tahoma"/>
                <a:cs typeface="Tahoma"/>
              </a:rPr>
              <a:t>réponse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45" dirty="0">
                <a:latin typeface="Tahoma"/>
                <a:cs typeface="Tahoma"/>
              </a:rPr>
              <a:t>constitue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30" dirty="0">
                <a:latin typeface="Tahoma"/>
                <a:cs typeface="Tahoma"/>
              </a:rPr>
              <a:t>l’astuce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fondamentale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30" dirty="0">
                <a:latin typeface="Tahoma"/>
                <a:cs typeface="Tahoma"/>
              </a:rPr>
              <a:t>la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65" dirty="0">
                <a:latin typeface="Tahoma"/>
                <a:cs typeface="Tahoma"/>
              </a:rPr>
              <a:t>programmation </a:t>
            </a:r>
            <a:r>
              <a:rPr sz="2350" spc="-60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orientée </a:t>
            </a:r>
            <a:r>
              <a:rPr sz="2350" spc="-55" dirty="0">
                <a:latin typeface="Tahoma"/>
                <a:cs typeface="Tahoma"/>
              </a:rPr>
              <a:t>objet </a:t>
            </a:r>
            <a:r>
              <a:rPr sz="2350" spc="-170" dirty="0">
                <a:latin typeface="Tahoma"/>
                <a:cs typeface="Tahoma"/>
              </a:rPr>
              <a:t>:</a:t>
            </a:r>
            <a:r>
              <a:rPr sz="2350" spc="-165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le </a:t>
            </a:r>
            <a:r>
              <a:rPr sz="2350" spc="-45" dirty="0">
                <a:latin typeface="Tahoma"/>
                <a:cs typeface="Tahoma"/>
              </a:rPr>
              <a:t>compilateur </a:t>
            </a:r>
            <a:r>
              <a:rPr sz="2350" spc="-130" dirty="0">
                <a:latin typeface="Tahoma"/>
                <a:cs typeface="Tahoma"/>
              </a:rPr>
              <a:t>ne</a:t>
            </a:r>
            <a:r>
              <a:rPr sz="2350" spc="-125" dirty="0">
                <a:latin typeface="Tahoma"/>
                <a:cs typeface="Tahoma"/>
              </a:rPr>
              <a:t> </a:t>
            </a:r>
            <a:r>
              <a:rPr sz="2350" spc="-50" dirty="0">
                <a:latin typeface="Tahoma"/>
                <a:cs typeface="Tahoma"/>
              </a:rPr>
              <a:t>peut </a:t>
            </a:r>
            <a:r>
              <a:rPr sz="2350" spc="-60" dirty="0">
                <a:latin typeface="Tahoma"/>
                <a:cs typeface="Tahoma"/>
              </a:rPr>
              <a:t>faire </a:t>
            </a:r>
            <a:r>
              <a:rPr sz="2350" spc="-80" dirty="0">
                <a:latin typeface="Tahoma"/>
                <a:cs typeface="Tahoma"/>
              </a:rPr>
              <a:t>un </a:t>
            </a:r>
            <a:r>
              <a:rPr sz="2350" spc="-65" dirty="0">
                <a:latin typeface="Tahoma"/>
                <a:cs typeface="Tahoma"/>
              </a:rPr>
              <a:t>appel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-120" dirty="0">
                <a:latin typeface="Tahoma"/>
                <a:cs typeface="Tahoma"/>
              </a:rPr>
              <a:t> </a:t>
            </a:r>
            <a:r>
              <a:rPr sz="2350" spc="-35" dirty="0">
                <a:latin typeface="Tahoma"/>
                <a:cs typeface="Tahoma"/>
              </a:rPr>
              <a:t>fonction </a:t>
            </a:r>
            <a:r>
              <a:rPr sz="2350" spc="-90" dirty="0">
                <a:latin typeface="Tahoma"/>
                <a:cs typeface="Tahoma"/>
              </a:rPr>
              <a:t>au </a:t>
            </a:r>
            <a:r>
              <a:rPr sz="2350" spc="-85" dirty="0">
                <a:latin typeface="Tahoma"/>
                <a:cs typeface="Tahoma"/>
              </a:rPr>
              <a:t> </a:t>
            </a:r>
            <a:r>
              <a:rPr sz="2350" spc="-135" dirty="0">
                <a:latin typeface="Tahoma"/>
                <a:cs typeface="Tahoma"/>
              </a:rPr>
              <a:t>sens</a:t>
            </a:r>
            <a:r>
              <a:rPr sz="2350" spc="-130" dirty="0">
                <a:latin typeface="Tahoma"/>
                <a:cs typeface="Tahoma"/>
              </a:rPr>
              <a:t> </a:t>
            </a:r>
            <a:r>
              <a:rPr sz="2350" spc="-30" dirty="0">
                <a:latin typeface="Tahoma"/>
                <a:cs typeface="Tahoma"/>
              </a:rPr>
              <a:t>traditionnel </a:t>
            </a:r>
            <a:r>
              <a:rPr sz="2350" spc="-75" dirty="0">
                <a:latin typeface="Tahoma"/>
                <a:cs typeface="Tahoma"/>
              </a:rPr>
              <a:t>du terme. </a:t>
            </a:r>
            <a:r>
              <a:rPr sz="2350" spc="10" dirty="0">
                <a:latin typeface="Tahoma"/>
                <a:cs typeface="Tahoma"/>
              </a:rPr>
              <a:t>Un </a:t>
            </a:r>
            <a:r>
              <a:rPr sz="2350" spc="-65" dirty="0">
                <a:latin typeface="Tahoma"/>
                <a:cs typeface="Tahoma"/>
              </a:rPr>
              <a:t>appel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-120" dirty="0">
                <a:latin typeface="Tahoma"/>
                <a:cs typeface="Tahoma"/>
              </a:rPr>
              <a:t> </a:t>
            </a:r>
            <a:r>
              <a:rPr sz="2350" spc="-40" dirty="0">
                <a:latin typeface="Tahoma"/>
                <a:cs typeface="Tahoma"/>
              </a:rPr>
              <a:t>fonction </a:t>
            </a:r>
            <a:r>
              <a:rPr sz="2350" spc="-125" dirty="0">
                <a:latin typeface="Tahoma"/>
                <a:cs typeface="Tahoma"/>
              </a:rPr>
              <a:t>généré</a:t>
            </a:r>
            <a:r>
              <a:rPr sz="2350" spc="-120" dirty="0">
                <a:latin typeface="Tahoma"/>
                <a:cs typeface="Tahoma"/>
              </a:rPr>
              <a:t> </a:t>
            </a:r>
            <a:r>
              <a:rPr sz="2350" spc="-85" dirty="0">
                <a:latin typeface="Tahoma"/>
                <a:cs typeface="Tahoma"/>
              </a:rPr>
              <a:t>par un </a:t>
            </a:r>
            <a:r>
              <a:rPr sz="2350" spc="-80" dirty="0">
                <a:latin typeface="Tahoma"/>
                <a:cs typeface="Tahoma"/>
              </a:rPr>
              <a:t> </a:t>
            </a:r>
            <a:r>
              <a:rPr sz="2350" spc="-45" dirty="0">
                <a:latin typeface="Tahoma"/>
                <a:cs typeface="Tahoma"/>
              </a:rPr>
              <a:t>compilateur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85" dirty="0">
                <a:latin typeface="Tahoma"/>
                <a:cs typeface="Tahoma"/>
              </a:rPr>
              <a:t>non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orienté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55" dirty="0">
                <a:latin typeface="Tahoma"/>
                <a:cs typeface="Tahoma"/>
              </a:rPr>
              <a:t>objet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105" dirty="0">
                <a:latin typeface="Tahoma"/>
                <a:cs typeface="Tahoma"/>
              </a:rPr>
              <a:t>crée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05" dirty="0">
                <a:latin typeface="Tahoma"/>
                <a:cs typeface="Tahoma"/>
              </a:rPr>
              <a:t>ce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35" dirty="0">
                <a:latin typeface="Tahoma"/>
                <a:cs typeface="Tahoma"/>
              </a:rPr>
              <a:t>qu’on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65" dirty="0">
                <a:latin typeface="Tahoma"/>
                <a:cs typeface="Tahoma"/>
              </a:rPr>
              <a:t>appelle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114" dirty="0">
                <a:latin typeface="Tahoma"/>
                <a:cs typeface="Tahoma"/>
              </a:rPr>
              <a:t>une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50" dirty="0">
                <a:latin typeface="Tahoma"/>
                <a:cs typeface="Tahoma"/>
              </a:rPr>
              <a:t>association </a:t>
            </a:r>
            <a:r>
              <a:rPr sz="2350" spc="-45" dirty="0">
                <a:latin typeface="Tahoma"/>
                <a:cs typeface="Tahoma"/>
              </a:rPr>
              <a:t> </a:t>
            </a:r>
            <a:r>
              <a:rPr sz="2350" spc="-85" dirty="0">
                <a:latin typeface="Tahoma"/>
                <a:cs typeface="Tahoma"/>
              </a:rPr>
              <a:t>prédéfinie </a:t>
            </a:r>
            <a:r>
              <a:rPr sz="2350" spc="-170" dirty="0">
                <a:latin typeface="Tahoma"/>
                <a:cs typeface="Tahoma"/>
              </a:rPr>
              <a:t>:</a:t>
            </a:r>
            <a:r>
              <a:rPr sz="2350" spc="-165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le </a:t>
            </a:r>
            <a:r>
              <a:rPr sz="2350" spc="-45" dirty="0">
                <a:latin typeface="Tahoma"/>
                <a:cs typeface="Tahoma"/>
              </a:rPr>
              <a:t>compilateur </a:t>
            </a:r>
            <a:r>
              <a:rPr sz="2350" spc="-125" dirty="0">
                <a:latin typeface="Tahoma"/>
                <a:cs typeface="Tahoma"/>
              </a:rPr>
              <a:t>génère</a:t>
            </a:r>
            <a:r>
              <a:rPr sz="2350" spc="-120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un </a:t>
            </a:r>
            <a:r>
              <a:rPr sz="2350" spc="-60" dirty="0">
                <a:latin typeface="Tahoma"/>
                <a:cs typeface="Tahoma"/>
              </a:rPr>
              <a:t>appel </a:t>
            </a:r>
            <a:r>
              <a:rPr sz="2350" spc="-90" dirty="0">
                <a:latin typeface="Tahoma"/>
                <a:cs typeface="Tahoma"/>
              </a:rPr>
              <a:t>à </a:t>
            </a:r>
            <a:r>
              <a:rPr sz="2350" spc="-80" dirty="0">
                <a:latin typeface="Tahoma"/>
                <a:cs typeface="Tahoma"/>
              </a:rPr>
              <a:t>un </a:t>
            </a:r>
            <a:r>
              <a:rPr sz="2350" spc="-85" dirty="0">
                <a:latin typeface="Tahoma"/>
                <a:cs typeface="Tahoma"/>
              </a:rPr>
              <a:t>nom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-120" dirty="0">
                <a:latin typeface="Tahoma"/>
                <a:cs typeface="Tahoma"/>
              </a:rPr>
              <a:t> </a:t>
            </a:r>
            <a:r>
              <a:rPr sz="2350" spc="-40" dirty="0">
                <a:latin typeface="Tahoma"/>
                <a:cs typeface="Tahoma"/>
              </a:rPr>
              <a:t>fonction </a:t>
            </a:r>
            <a:r>
              <a:rPr sz="2350" spc="-35" dirty="0">
                <a:latin typeface="Tahoma"/>
                <a:cs typeface="Tahoma"/>
              </a:rPr>
              <a:t> </a:t>
            </a:r>
            <a:r>
              <a:rPr sz="2350" spc="-65" dirty="0">
                <a:latin typeface="Tahoma"/>
                <a:cs typeface="Tahoma"/>
              </a:rPr>
              <a:t>spécifique,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55" dirty="0">
                <a:latin typeface="Tahoma"/>
                <a:cs typeface="Tahoma"/>
              </a:rPr>
              <a:t>et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30" dirty="0">
                <a:latin typeface="Tahoma"/>
                <a:cs typeface="Tahoma"/>
              </a:rPr>
              <a:t>l’éditeur</a:t>
            </a:r>
            <a:r>
              <a:rPr sz="2350" spc="70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70" dirty="0">
                <a:latin typeface="Tahoma"/>
                <a:cs typeface="Tahoma"/>
              </a:rPr>
              <a:t>liens</a:t>
            </a:r>
            <a:r>
              <a:rPr sz="2350" spc="70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résout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45" dirty="0">
                <a:latin typeface="Tahoma"/>
                <a:cs typeface="Tahoma"/>
              </a:rPr>
              <a:t>cet</a:t>
            </a:r>
            <a:r>
              <a:rPr sz="2350" spc="70" dirty="0">
                <a:latin typeface="Tahoma"/>
                <a:cs typeface="Tahoma"/>
              </a:rPr>
              <a:t> </a:t>
            </a:r>
            <a:r>
              <a:rPr sz="2350" spc="-65" dirty="0">
                <a:latin typeface="Tahoma"/>
                <a:cs typeface="Tahoma"/>
              </a:rPr>
              <a:t>appel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à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l’adresse</a:t>
            </a:r>
            <a:r>
              <a:rPr sz="2350" spc="70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absolue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du </a:t>
            </a:r>
            <a:r>
              <a:rPr sz="2350" spc="-720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code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à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exécuter.</a:t>
            </a:r>
            <a:endParaRPr sz="2350">
              <a:latin typeface="Tahoma"/>
              <a:cs typeface="Tahoma"/>
            </a:endParaRPr>
          </a:p>
          <a:p>
            <a:pPr marL="12700" marR="5080">
              <a:lnSpc>
                <a:spcPct val="105200"/>
              </a:lnSpc>
              <a:spcBef>
                <a:spcPts val="655"/>
              </a:spcBef>
            </a:pPr>
            <a:r>
              <a:rPr sz="2350" spc="15" dirty="0">
                <a:latin typeface="Tahoma"/>
                <a:cs typeface="Tahoma"/>
              </a:rPr>
              <a:t>En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85" dirty="0">
                <a:latin typeface="Tahoma"/>
                <a:cs typeface="Tahoma"/>
              </a:rPr>
              <a:t>POO,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le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95" dirty="0">
                <a:latin typeface="Tahoma"/>
                <a:cs typeface="Tahoma"/>
              </a:rPr>
              <a:t>programme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130" dirty="0">
                <a:latin typeface="Tahoma"/>
                <a:cs typeface="Tahoma"/>
              </a:rPr>
              <a:t>ne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45" dirty="0">
                <a:latin typeface="Tahoma"/>
                <a:cs typeface="Tahoma"/>
              </a:rPr>
              <a:t>peut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déterminer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l’adresse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du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code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55" dirty="0">
                <a:latin typeface="Tahoma"/>
                <a:cs typeface="Tahoma"/>
              </a:rPr>
              <a:t>avant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35" dirty="0">
                <a:latin typeface="Tahoma"/>
                <a:cs typeface="Tahoma"/>
              </a:rPr>
              <a:t>la </a:t>
            </a:r>
            <a:r>
              <a:rPr sz="2350" spc="-715" dirty="0">
                <a:latin typeface="Tahoma"/>
                <a:cs typeface="Tahoma"/>
              </a:rPr>
              <a:t> </a:t>
            </a:r>
            <a:r>
              <a:rPr sz="2350" spc="-114" dirty="0">
                <a:latin typeface="Tahoma"/>
                <a:cs typeface="Tahoma"/>
              </a:rPr>
              <a:t>phase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50" dirty="0">
                <a:latin typeface="Tahoma"/>
                <a:cs typeface="Tahoma"/>
              </a:rPr>
              <a:t>d’exécution,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un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65" dirty="0">
                <a:latin typeface="Tahoma"/>
                <a:cs typeface="Tahoma"/>
              </a:rPr>
              <a:t>autre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mécanisme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est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70" dirty="0">
                <a:latin typeface="Tahoma"/>
                <a:cs typeface="Tahoma"/>
              </a:rPr>
              <a:t>donc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105" dirty="0">
                <a:latin typeface="Tahoma"/>
                <a:cs typeface="Tahoma"/>
              </a:rPr>
              <a:t>nécessaire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quand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85" dirty="0">
                <a:latin typeface="Tahoma"/>
                <a:cs typeface="Tahoma"/>
              </a:rPr>
              <a:t>un </a:t>
            </a:r>
            <a:r>
              <a:rPr sz="2350" spc="-80" dirty="0">
                <a:latin typeface="Tahoma"/>
                <a:cs typeface="Tahoma"/>
              </a:rPr>
              <a:t> </a:t>
            </a:r>
            <a:r>
              <a:rPr sz="2350" spc="-130" dirty="0">
                <a:latin typeface="Tahoma"/>
                <a:cs typeface="Tahoma"/>
              </a:rPr>
              <a:t>message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est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35" dirty="0">
                <a:latin typeface="Tahoma"/>
                <a:cs typeface="Tahoma"/>
              </a:rPr>
              <a:t>envoyé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à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un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55" dirty="0">
                <a:latin typeface="Tahoma"/>
                <a:cs typeface="Tahoma"/>
              </a:rPr>
              <a:t>objet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générique.</a:t>
            </a:r>
            <a:endParaRPr sz="235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6620" y="3145619"/>
            <a:ext cx="142843" cy="14284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6620" y="5864983"/>
            <a:ext cx="142843" cy="142843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303330" y="7322021"/>
            <a:ext cx="10085705" cy="240029"/>
            <a:chOff x="303330" y="7322021"/>
            <a:chExt cx="10085705" cy="240029"/>
          </a:xfrm>
        </p:grpSpPr>
        <p:sp>
          <p:nvSpPr>
            <p:cNvPr id="15" name="object 15"/>
            <p:cNvSpPr/>
            <p:nvPr/>
          </p:nvSpPr>
          <p:spPr>
            <a:xfrm>
              <a:off x="303330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65059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26788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60" dirty="0"/>
              <a:t>tv </a:t>
            </a:r>
            <a:r>
              <a:rPr spc="140" dirty="0"/>
              <a:t> </a:t>
            </a:r>
            <a:r>
              <a:rPr spc="55" dirty="0"/>
              <a:t>(BTS</a:t>
            </a:r>
            <a:r>
              <a:rPr spc="100" dirty="0"/>
              <a:t> </a:t>
            </a:r>
            <a:r>
              <a:rPr spc="-25" dirty="0"/>
              <a:t>IRIS</a:t>
            </a:r>
            <a:r>
              <a:rPr spc="105" dirty="0"/>
              <a:t> </a:t>
            </a:r>
            <a:r>
              <a:rPr spc="5" dirty="0"/>
              <a:t>Avignon)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-40" dirty="0"/>
              <a:t>Cours</a:t>
            </a:r>
            <a:r>
              <a:rPr spc="60" dirty="0"/>
              <a:t> </a:t>
            </a:r>
            <a:r>
              <a:rPr spc="170" dirty="0"/>
              <a:t>C/C++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481423" y="7283716"/>
            <a:ext cx="1800860" cy="27051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300" spc="40" dirty="0">
                <a:solidFill>
                  <a:srgbClr val="FFFFFF"/>
                </a:solidFill>
                <a:latin typeface="SimSun"/>
                <a:cs typeface="SimSun"/>
                <a:hlinkClick r:id="rId6"/>
              </a:rPr>
              <a:t>tvaira@free.fr</a:t>
            </a:r>
            <a:r>
              <a:rPr sz="1300" spc="-190" dirty="0">
                <a:solidFill>
                  <a:srgbClr val="FFFFFF"/>
                </a:solidFill>
                <a:latin typeface="SimSun"/>
                <a:cs typeface="SimSun"/>
                <a:hlinkClick r:id="rId6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©</a:t>
            </a:r>
            <a:r>
              <a:rPr sz="130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v0.1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9"/>
              </a:spcBef>
            </a:pPr>
            <a:fld id="{81D60167-4931-47E6-BA6A-407CBD079E47}" type="slidenum">
              <a:rPr spc="-30" dirty="0"/>
              <a:t>19</a:t>
            </a:fld>
            <a:r>
              <a:rPr spc="80" dirty="0"/>
              <a:t> </a:t>
            </a:r>
            <a:r>
              <a:rPr spc="330" dirty="0"/>
              <a:t>/</a:t>
            </a:r>
            <a:r>
              <a:rPr spc="85" dirty="0"/>
              <a:t> </a:t>
            </a:r>
            <a:r>
              <a:rPr spc="-30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3330" y="0"/>
            <a:ext cx="5043170" cy="203200"/>
          </a:xfrm>
          <a:custGeom>
            <a:avLst/>
            <a:gdLst/>
            <a:ahLst/>
            <a:cxnLst/>
            <a:rect l="l" t="t" r="r" b="b"/>
            <a:pathLst>
              <a:path w="5043170" h="203200">
                <a:moveTo>
                  <a:pt x="0" y="203077"/>
                </a:moveTo>
                <a:lnTo>
                  <a:pt x="5042663" y="203077"/>
                </a:lnTo>
                <a:lnTo>
                  <a:pt x="5042663" y="0"/>
                </a:lnTo>
                <a:lnTo>
                  <a:pt x="0" y="0"/>
                </a:lnTo>
                <a:lnTo>
                  <a:pt x="0" y="203077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71384" y="0"/>
            <a:ext cx="1139825" cy="224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Polymorphisme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3330" y="0"/>
            <a:ext cx="10085705" cy="812800"/>
            <a:chOff x="303330" y="0"/>
            <a:chExt cx="10085705" cy="812800"/>
          </a:xfrm>
        </p:grpSpPr>
        <p:sp>
          <p:nvSpPr>
            <p:cNvPr id="5" name="object 5"/>
            <p:cNvSpPr/>
            <p:nvPr/>
          </p:nvSpPr>
          <p:spPr>
            <a:xfrm>
              <a:off x="5345993" y="0"/>
              <a:ext cx="5043170" cy="203200"/>
            </a:xfrm>
            <a:custGeom>
              <a:avLst/>
              <a:gdLst/>
              <a:ahLst/>
              <a:cxnLst/>
              <a:rect l="l" t="t" r="r" b="b"/>
              <a:pathLst>
                <a:path w="5043170" h="203200">
                  <a:moveTo>
                    <a:pt x="0" y="203077"/>
                  </a:moveTo>
                  <a:lnTo>
                    <a:pt x="5042663" y="203077"/>
                  </a:lnTo>
                  <a:lnTo>
                    <a:pt x="5042663" y="0"/>
                  </a:lnTo>
                  <a:lnTo>
                    <a:pt x="0" y="0"/>
                  </a:lnTo>
                  <a:lnTo>
                    <a:pt x="0" y="20307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330" y="201079"/>
              <a:ext cx="10085354" cy="1476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3330" y="311846"/>
              <a:ext cx="10085705" cy="498475"/>
            </a:xfrm>
            <a:custGeom>
              <a:avLst/>
              <a:gdLst/>
              <a:ahLst/>
              <a:cxnLst/>
              <a:rect l="l" t="t" r="r" b="b"/>
              <a:pathLst>
                <a:path w="10085705" h="498475">
                  <a:moveTo>
                    <a:pt x="0" y="498437"/>
                  </a:moveTo>
                  <a:lnTo>
                    <a:pt x="10085354" y="498437"/>
                  </a:lnTo>
                  <a:lnTo>
                    <a:pt x="10085354" y="0"/>
                  </a:lnTo>
                  <a:lnTo>
                    <a:pt x="0" y="0"/>
                  </a:lnTo>
                  <a:lnTo>
                    <a:pt x="0" y="49843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27007" y="249275"/>
            <a:ext cx="5495925" cy="5041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00" spc="-114" dirty="0">
                <a:solidFill>
                  <a:srgbClr val="FFFFFF"/>
                </a:solidFill>
              </a:rPr>
              <a:t>Comportement</a:t>
            </a:r>
            <a:r>
              <a:rPr sz="3100" spc="40" dirty="0">
                <a:solidFill>
                  <a:srgbClr val="FFFFFF"/>
                </a:solidFill>
              </a:rPr>
              <a:t> </a:t>
            </a:r>
            <a:r>
              <a:rPr sz="3100" spc="-120" dirty="0">
                <a:solidFill>
                  <a:srgbClr val="FFFFFF"/>
                </a:solidFill>
              </a:rPr>
              <a:t>Polymorphe</a:t>
            </a:r>
            <a:r>
              <a:rPr sz="3100" spc="45" dirty="0">
                <a:solidFill>
                  <a:srgbClr val="FFFFFF"/>
                </a:solidFill>
              </a:rPr>
              <a:t> </a:t>
            </a:r>
            <a:r>
              <a:rPr sz="3100" spc="5" dirty="0">
                <a:solidFill>
                  <a:srgbClr val="FFFFFF"/>
                </a:solidFill>
              </a:rPr>
              <a:t>(3/4)</a:t>
            </a:r>
            <a:endParaRPr sz="310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3330" y="810284"/>
            <a:ext cx="10085354" cy="7385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6620" y="1739948"/>
            <a:ext cx="142843" cy="14284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98391" y="1572422"/>
            <a:ext cx="8900795" cy="49917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ts val="2970"/>
              </a:lnSpc>
              <a:spcBef>
                <a:spcPts val="110"/>
              </a:spcBef>
            </a:pPr>
            <a:r>
              <a:rPr sz="2350" spc="-10" dirty="0">
                <a:latin typeface="Tahoma"/>
                <a:cs typeface="Tahoma"/>
              </a:rPr>
              <a:t>Pour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05" dirty="0">
                <a:latin typeface="Tahoma"/>
                <a:cs typeface="Tahoma"/>
              </a:rPr>
              <a:t>résoudre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105" dirty="0">
                <a:latin typeface="Tahoma"/>
                <a:cs typeface="Tahoma"/>
              </a:rPr>
              <a:t>ce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problème,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100" dirty="0">
                <a:latin typeface="Tahoma"/>
                <a:cs typeface="Tahoma"/>
              </a:rPr>
              <a:t>les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00" dirty="0">
                <a:latin typeface="Tahoma"/>
                <a:cs typeface="Tahoma"/>
              </a:rPr>
              <a:t>langages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85" dirty="0">
                <a:latin typeface="Tahoma"/>
                <a:cs typeface="Tahoma"/>
              </a:rPr>
              <a:t>orientés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55" dirty="0">
                <a:latin typeface="Tahoma"/>
                <a:cs typeface="Tahoma"/>
              </a:rPr>
              <a:t>objet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30" dirty="0">
                <a:latin typeface="Tahoma"/>
                <a:cs typeface="Tahoma"/>
              </a:rPr>
              <a:t>utilisent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le </a:t>
            </a:r>
            <a:r>
              <a:rPr sz="2350" spc="-75" dirty="0">
                <a:latin typeface="Tahoma"/>
                <a:cs typeface="Tahoma"/>
              </a:rPr>
              <a:t> </a:t>
            </a:r>
            <a:r>
              <a:rPr sz="2350" spc="-55" dirty="0">
                <a:latin typeface="Tahoma"/>
                <a:cs typeface="Tahoma"/>
              </a:rPr>
              <a:t>concept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d’</a:t>
            </a:r>
            <a:r>
              <a:rPr sz="2350" b="1" spc="-75" dirty="0">
                <a:solidFill>
                  <a:srgbClr val="7F0000"/>
                </a:solidFill>
                <a:latin typeface="Arial"/>
                <a:cs typeface="Arial"/>
              </a:rPr>
              <a:t>association</a:t>
            </a:r>
            <a:r>
              <a:rPr sz="2350" b="1" spc="229" dirty="0">
                <a:solidFill>
                  <a:srgbClr val="7F0000"/>
                </a:solidFill>
                <a:latin typeface="Arial"/>
                <a:cs typeface="Arial"/>
              </a:rPr>
              <a:t> </a:t>
            </a:r>
            <a:r>
              <a:rPr sz="2350" b="1" spc="-50" dirty="0">
                <a:solidFill>
                  <a:srgbClr val="7F0000"/>
                </a:solidFill>
                <a:latin typeface="Arial"/>
                <a:cs typeface="Arial"/>
              </a:rPr>
              <a:t>tardive</a:t>
            </a:r>
            <a:r>
              <a:rPr sz="2350" spc="-50" dirty="0">
                <a:latin typeface="Tahoma"/>
                <a:cs typeface="Tahoma"/>
              </a:rPr>
              <a:t>.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45" dirty="0">
                <a:latin typeface="Tahoma"/>
                <a:cs typeface="Tahoma"/>
              </a:rPr>
              <a:t>Quand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un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55" dirty="0">
                <a:latin typeface="Tahoma"/>
                <a:cs typeface="Tahoma"/>
              </a:rPr>
              <a:t>objet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40" dirty="0">
                <a:latin typeface="Tahoma"/>
                <a:cs typeface="Tahoma"/>
              </a:rPr>
              <a:t>reçoit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un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120" dirty="0">
                <a:latin typeface="Tahoma"/>
                <a:cs typeface="Tahoma"/>
              </a:rPr>
              <a:t>message,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le </a:t>
            </a:r>
            <a:r>
              <a:rPr sz="2350" spc="-715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code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appelé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35" dirty="0">
                <a:latin typeface="Tahoma"/>
                <a:cs typeface="Tahoma"/>
              </a:rPr>
              <a:t>n’est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00" dirty="0">
                <a:latin typeface="Tahoma"/>
                <a:cs typeface="Tahoma"/>
              </a:rPr>
              <a:t>pas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déterminé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55" dirty="0">
                <a:latin typeface="Tahoma"/>
                <a:cs typeface="Tahoma"/>
              </a:rPr>
              <a:t>avant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40" dirty="0">
                <a:latin typeface="Tahoma"/>
                <a:cs typeface="Tahoma"/>
              </a:rPr>
              <a:t>l’exécution.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30" dirty="0">
                <a:latin typeface="Tahoma"/>
                <a:cs typeface="Tahoma"/>
              </a:rPr>
              <a:t>Le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45" dirty="0">
                <a:latin typeface="Tahoma"/>
                <a:cs typeface="Tahoma"/>
              </a:rPr>
              <a:t>compilateur </a:t>
            </a:r>
            <a:r>
              <a:rPr sz="2350" spc="-40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s’assure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110" dirty="0">
                <a:latin typeface="Tahoma"/>
                <a:cs typeface="Tahoma"/>
              </a:rPr>
              <a:t>que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30" dirty="0">
                <a:latin typeface="Tahoma"/>
                <a:cs typeface="Tahoma"/>
              </a:rPr>
              <a:t>la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40" dirty="0">
                <a:latin typeface="Tahoma"/>
                <a:cs typeface="Tahoma"/>
              </a:rPr>
              <a:t>fonction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existe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55" dirty="0">
                <a:latin typeface="Tahoma"/>
                <a:cs typeface="Tahoma"/>
              </a:rPr>
              <a:t>et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65" dirty="0">
                <a:latin typeface="Tahoma"/>
                <a:cs typeface="Tahoma"/>
              </a:rPr>
              <a:t>vérifie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le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60" dirty="0">
                <a:latin typeface="Tahoma"/>
                <a:cs typeface="Tahoma"/>
              </a:rPr>
              <a:t>type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30" dirty="0">
                <a:latin typeface="Tahoma"/>
                <a:cs typeface="Tahoma"/>
              </a:rPr>
              <a:t>des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arguments</a:t>
            </a:r>
            <a:r>
              <a:rPr sz="2350" spc="50" dirty="0">
                <a:latin typeface="Tahoma"/>
                <a:cs typeface="Tahoma"/>
              </a:rPr>
              <a:t> </a:t>
            </a:r>
            <a:r>
              <a:rPr sz="2350" spc="-55" dirty="0">
                <a:latin typeface="Tahoma"/>
                <a:cs typeface="Tahoma"/>
              </a:rPr>
              <a:t>et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35" dirty="0">
                <a:latin typeface="Tahoma"/>
                <a:cs typeface="Tahoma"/>
              </a:rPr>
              <a:t>la </a:t>
            </a:r>
            <a:r>
              <a:rPr sz="2350" spc="-720" dirty="0">
                <a:latin typeface="Tahoma"/>
                <a:cs typeface="Tahoma"/>
              </a:rPr>
              <a:t> </a:t>
            </a:r>
            <a:r>
              <a:rPr sz="2350" spc="-70" dirty="0">
                <a:latin typeface="Tahoma"/>
                <a:cs typeface="Tahoma"/>
              </a:rPr>
              <a:t>valeur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60" dirty="0">
                <a:latin typeface="Tahoma"/>
                <a:cs typeface="Tahoma"/>
              </a:rPr>
              <a:t>retour,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70" dirty="0">
                <a:latin typeface="Tahoma"/>
                <a:cs typeface="Tahoma"/>
              </a:rPr>
              <a:t>mais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30" dirty="0">
                <a:latin typeface="Tahoma"/>
                <a:cs typeface="Tahoma"/>
              </a:rPr>
              <a:t>il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30" dirty="0">
                <a:latin typeface="Tahoma"/>
                <a:cs typeface="Tahoma"/>
              </a:rPr>
              <a:t>ne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30" dirty="0">
                <a:latin typeface="Tahoma"/>
                <a:cs typeface="Tahoma"/>
              </a:rPr>
              <a:t>sait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00" dirty="0">
                <a:latin typeface="Tahoma"/>
                <a:cs typeface="Tahoma"/>
              </a:rPr>
              <a:t>pas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exactement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quel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est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le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code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à </a:t>
            </a:r>
            <a:r>
              <a:rPr sz="2350" spc="-85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exécuter.</a:t>
            </a:r>
            <a:endParaRPr sz="2350">
              <a:latin typeface="Tahoma"/>
              <a:cs typeface="Tahoma"/>
            </a:endParaRPr>
          </a:p>
          <a:p>
            <a:pPr marL="12700" marR="95250">
              <a:lnSpc>
                <a:spcPct val="105200"/>
              </a:lnSpc>
              <a:spcBef>
                <a:spcPts val="505"/>
              </a:spcBef>
            </a:pPr>
            <a:r>
              <a:rPr sz="2350" spc="-10" dirty="0">
                <a:latin typeface="Tahoma"/>
                <a:cs typeface="Tahoma"/>
              </a:rPr>
              <a:t>Pour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créer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114" dirty="0">
                <a:latin typeface="Tahoma"/>
                <a:cs typeface="Tahoma"/>
              </a:rPr>
              <a:t>une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50" dirty="0">
                <a:latin typeface="Tahoma"/>
                <a:cs typeface="Tahoma"/>
              </a:rPr>
              <a:t>association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60" dirty="0">
                <a:latin typeface="Tahoma"/>
                <a:cs typeface="Tahoma"/>
              </a:rPr>
              <a:t>tardive,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le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45" dirty="0">
                <a:latin typeface="Tahoma"/>
                <a:cs typeface="Tahoma"/>
              </a:rPr>
              <a:t>compilateur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130" dirty="0">
                <a:latin typeface="Tahoma"/>
                <a:cs typeface="Tahoma"/>
              </a:rPr>
              <a:t>C++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00" dirty="0">
                <a:latin typeface="Tahoma"/>
                <a:cs typeface="Tahoma"/>
              </a:rPr>
              <a:t>insère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114" dirty="0">
                <a:latin typeface="Tahoma"/>
                <a:cs typeface="Tahoma"/>
              </a:rPr>
              <a:t>une </a:t>
            </a:r>
            <a:r>
              <a:rPr sz="2350" spc="-110" dirty="0">
                <a:latin typeface="Tahoma"/>
                <a:cs typeface="Tahoma"/>
              </a:rPr>
              <a:t> </a:t>
            </a:r>
            <a:r>
              <a:rPr sz="2350" spc="-40" dirty="0">
                <a:latin typeface="Tahoma"/>
                <a:cs typeface="Tahoma"/>
              </a:rPr>
              <a:t>portion </a:t>
            </a:r>
            <a:r>
              <a:rPr sz="2350" spc="-70" dirty="0">
                <a:latin typeface="Tahoma"/>
                <a:cs typeface="Tahoma"/>
              </a:rPr>
              <a:t>spéciale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-120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code </a:t>
            </a:r>
            <a:r>
              <a:rPr sz="2350" spc="-130" dirty="0">
                <a:latin typeface="Tahoma"/>
                <a:cs typeface="Tahoma"/>
              </a:rPr>
              <a:t>en</a:t>
            </a:r>
            <a:r>
              <a:rPr sz="2350" spc="-125" dirty="0">
                <a:latin typeface="Tahoma"/>
                <a:cs typeface="Tahoma"/>
              </a:rPr>
              <a:t> </a:t>
            </a:r>
            <a:r>
              <a:rPr sz="2350" spc="-55" dirty="0">
                <a:latin typeface="Tahoma"/>
                <a:cs typeface="Tahoma"/>
              </a:rPr>
              <a:t>lieu et </a:t>
            </a:r>
            <a:r>
              <a:rPr sz="2350" spc="-70" dirty="0">
                <a:latin typeface="Tahoma"/>
                <a:cs typeface="Tahoma"/>
              </a:rPr>
              <a:t>place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-120" dirty="0">
                <a:latin typeface="Tahoma"/>
                <a:cs typeface="Tahoma"/>
              </a:rPr>
              <a:t> </a:t>
            </a:r>
            <a:r>
              <a:rPr sz="2350" spc="-20" dirty="0">
                <a:latin typeface="Tahoma"/>
                <a:cs typeface="Tahoma"/>
              </a:rPr>
              <a:t>l’appel </a:t>
            </a:r>
            <a:r>
              <a:rPr sz="2350" spc="-70" dirty="0">
                <a:latin typeface="Tahoma"/>
                <a:cs typeface="Tahoma"/>
              </a:rPr>
              <a:t>absolu. </a:t>
            </a:r>
            <a:r>
              <a:rPr sz="2350" spc="-35" dirty="0">
                <a:latin typeface="Tahoma"/>
                <a:cs typeface="Tahoma"/>
              </a:rPr>
              <a:t>Ce </a:t>
            </a:r>
            <a:r>
              <a:rPr sz="2350" spc="-75" dirty="0">
                <a:latin typeface="Tahoma"/>
                <a:cs typeface="Tahoma"/>
              </a:rPr>
              <a:t>code </a:t>
            </a:r>
            <a:r>
              <a:rPr sz="2350" spc="-70" dirty="0">
                <a:latin typeface="Tahoma"/>
                <a:cs typeface="Tahoma"/>
              </a:rPr>
              <a:t> </a:t>
            </a:r>
            <a:r>
              <a:rPr sz="2350" spc="-50" dirty="0">
                <a:latin typeface="Tahoma"/>
                <a:cs typeface="Tahoma"/>
              </a:rPr>
              <a:t>calcule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l’adresse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du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85" dirty="0">
                <a:latin typeface="Tahoma"/>
                <a:cs typeface="Tahoma"/>
              </a:rPr>
              <a:t>corps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30" dirty="0">
                <a:latin typeface="Tahoma"/>
                <a:cs typeface="Tahoma"/>
              </a:rPr>
              <a:t>la</a:t>
            </a:r>
            <a:r>
              <a:rPr sz="2350" spc="70" dirty="0">
                <a:latin typeface="Tahoma"/>
                <a:cs typeface="Tahoma"/>
              </a:rPr>
              <a:t> </a:t>
            </a:r>
            <a:r>
              <a:rPr sz="2350" spc="-40" dirty="0">
                <a:latin typeface="Tahoma"/>
                <a:cs typeface="Tahoma"/>
              </a:rPr>
              <a:t>fonction,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30" dirty="0">
                <a:latin typeface="Tahoma"/>
                <a:cs typeface="Tahoma"/>
              </a:rPr>
              <a:t>en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20" dirty="0">
                <a:latin typeface="Tahoma"/>
                <a:cs typeface="Tahoma"/>
              </a:rPr>
              <a:t>utilisant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130" dirty="0">
                <a:latin typeface="Tahoma"/>
                <a:cs typeface="Tahoma"/>
              </a:rPr>
              <a:t>des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55" dirty="0">
                <a:latin typeface="Tahoma"/>
                <a:cs typeface="Tahoma"/>
              </a:rPr>
              <a:t>informations </a:t>
            </a:r>
            <a:r>
              <a:rPr sz="2350" spc="-720" dirty="0">
                <a:latin typeface="Tahoma"/>
                <a:cs typeface="Tahoma"/>
              </a:rPr>
              <a:t> </a:t>
            </a:r>
            <a:r>
              <a:rPr sz="2350" spc="-85" dirty="0">
                <a:latin typeface="Tahoma"/>
                <a:cs typeface="Tahoma"/>
              </a:rPr>
              <a:t>stockées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95" dirty="0">
                <a:latin typeface="Tahoma"/>
                <a:cs typeface="Tahoma"/>
              </a:rPr>
              <a:t>dans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20" dirty="0">
                <a:latin typeface="Tahoma"/>
                <a:cs typeface="Tahoma"/>
              </a:rPr>
              <a:t>l’objet.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0" dirty="0">
                <a:latin typeface="Tahoma"/>
                <a:cs typeface="Tahoma"/>
              </a:rPr>
              <a:t>Ainsi,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85" dirty="0">
                <a:latin typeface="Tahoma"/>
                <a:cs typeface="Tahoma"/>
              </a:rPr>
              <a:t>chaque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55" dirty="0">
                <a:latin typeface="Tahoma"/>
                <a:cs typeface="Tahoma"/>
              </a:rPr>
              <a:t>objet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45" dirty="0">
                <a:latin typeface="Tahoma"/>
                <a:cs typeface="Tahoma"/>
              </a:rPr>
              <a:t>peut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160" dirty="0">
                <a:latin typeface="Tahoma"/>
                <a:cs typeface="Tahoma"/>
              </a:rPr>
              <a:t>se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60" dirty="0">
                <a:latin typeface="Tahoma"/>
                <a:cs typeface="Tahoma"/>
              </a:rPr>
              <a:t>comporter </a:t>
            </a:r>
            <a:r>
              <a:rPr sz="2350" spc="-55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différemment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50" dirty="0">
                <a:latin typeface="Tahoma"/>
                <a:cs typeface="Tahoma"/>
              </a:rPr>
              <a:t>suivant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le</a:t>
            </a:r>
            <a:r>
              <a:rPr sz="2350" spc="70" dirty="0">
                <a:latin typeface="Tahoma"/>
                <a:cs typeface="Tahoma"/>
              </a:rPr>
              <a:t> </a:t>
            </a:r>
            <a:r>
              <a:rPr sz="2350" spc="-65" dirty="0">
                <a:latin typeface="Tahoma"/>
                <a:cs typeface="Tahoma"/>
              </a:rPr>
              <a:t>contenu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70" dirty="0">
                <a:latin typeface="Tahoma"/>
                <a:cs typeface="Tahoma"/>
              </a:rPr>
              <a:t> </a:t>
            </a:r>
            <a:r>
              <a:rPr sz="2350" spc="-50" dirty="0">
                <a:latin typeface="Tahoma"/>
                <a:cs typeface="Tahoma"/>
              </a:rPr>
              <a:t>cette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40" dirty="0">
                <a:latin typeface="Tahoma"/>
                <a:cs typeface="Tahoma"/>
              </a:rPr>
              <a:t>portion</a:t>
            </a:r>
            <a:r>
              <a:rPr sz="2350" spc="70" dirty="0">
                <a:latin typeface="Tahoma"/>
                <a:cs typeface="Tahoma"/>
              </a:rPr>
              <a:t> </a:t>
            </a:r>
            <a:r>
              <a:rPr sz="2350" spc="-70" dirty="0">
                <a:latin typeface="Tahoma"/>
                <a:cs typeface="Tahoma"/>
              </a:rPr>
              <a:t>spéciale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70" dirty="0">
                <a:latin typeface="Tahoma"/>
                <a:cs typeface="Tahoma"/>
              </a:rPr>
              <a:t> </a:t>
            </a:r>
            <a:r>
              <a:rPr sz="2350" spc="-70" dirty="0">
                <a:latin typeface="Tahoma"/>
                <a:cs typeface="Tahoma"/>
              </a:rPr>
              <a:t>code.</a:t>
            </a:r>
            <a:endParaRPr sz="2350">
              <a:latin typeface="Tahoma"/>
              <a:cs typeface="Tahoma"/>
            </a:endParaRPr>
          </a:p>
          <a:p>
            <a:pPr marL="12700" marR="956310">
              <a:lnSpc>
                <a:spcPts val="2970"/>
              </a:lnSpc>
              <a:spcBef>
                <a:spcPts val="100"/>
              </a:spcBef>
            </a:pPr>
            <a:r>
              <a:rPr sz="2350" spc="-45" dirty="0">
                <a:latin typeface="Tahoma"/>
                <a:cs typeface="Tahoma"/>
              </a:rPr>
              <a:t>Quand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un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60" dirty="0">
                <a:latin typeface="Tahoma"/>
                <a:cs typeface="Tahoma"/>
              </a:rPr>
              <a:t>objet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40" dirty="0">
                <a:latin typeface="Tahoma"/>
                <a:cs typeface="Tahoma"/>
              </a:rPr>
              <a:t>reçoit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un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120" dirty="0">
                <a:latin typeface="Tahoma"/>
                <a:cs typeface="Tahoma"/>
              </a:rPr>
              <a:t>message,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5" dirty="0">
                <a:latin typeface="Tahoma"/>
                <a:cs typeface="Tahoma"/>
              </a:rPr>
              <a:t>l’objet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30" dirty="0">
                <a:latin typeface="Tahoma"/>
                <a:cs typeface="Tahoma"/>
              </a:rPr>
              <a:t>sait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55" dirty="0">
                <a:latin typeface="Tahoma"/>
                <a:cs typeface="Tahoma"/>
              </a:rPr>
              <a:t>quoi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60" dirty="0">
                <a:latin typeface="Tahoma"/>
                <a:cs typeface="Tahoma"/>
              </a:rPr>
              <a:t>faire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105" dirty="0">
                <a:latin typeface="Tahoma"/>
                <a:cs typeface="Tahoma"/>
              </a:rPr>
              <a:t>ce </a:t>
            </a:r>
            <a:r>
              <a:rPr sz="2350" spc="-720" dirty="0">
                <a:latin typeface="Tahoma"/>
                <a:cs typeface="Tahoma"/>
              </a:rPr>
              <a:t> </a:t>
            </a:r>
            <a:r>
              <a:rPr sz="2350" spc="-120" dirty="0">
                <a:latin typeface="Tahoma"/>
                <a:cs typeface="Tahoma"/>
              </a:rPr>
              <a:t>message.</a:t>
            </a:r>
            <a:endParaRPr sz="235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6620" y="4082705"/>
            <a:ext cx="142843" cy="142843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303330" y="7322021"/>
            <a:ext cx="10085705" cy="240029"/>
            <a:chOff x="303330" y="7322021"/>
            <a:chExt cx="10085705" cy="240029"/>
          </a:xfrm>
        </p:grpSpPr>
        <p:sp>
          <p:nvSpPr>
            <p:cNvPr id="14" name="object 14"/>
            <p:cNvSpPr/>
            <p:nvPr/>
          </p:nvSpPr>
          <p:spPr>
            <a:xfrm>
              <a:off x="303330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65059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26788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60" dirty="0"/>
              <a:t>tv </a:t>
            </a:r>
            <a:r>
              <a:rPr spc="140" dirty="0"/>
              <a:t> </a:t>
            </a:r>
            <a:r>
              <a:rPr spc="55" dirty="0"/>
              <a:t>(BTS</a:t>
            </a:r>
            <a:r>
              <a:rPr spc="100" dirty="0"/>
              <a:t> </a:t>
            </a:r>
            <a:r>
              <a:rPr spc="-25" dirty="0"/>
              <a:t>IRIS</a:t>
            </a:r>
            <a:r>
              <a:rPr spc="105" dirty="0"/>
              <a:t> </a:t>
            </a:r>
            <a:r>
              <a:rPr spc="5" dirty="0"/>
              <a:t>Avignon)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-40" dirty="0"/>
              <a:t>Cours</a:t>
            </a:r>
            <a:r>
              <a:rPr spc="60" dirty="0"/>
              <a:t> </a:t>
            </a:r>
            <a:r>
              <a:rPr spc="170" dirty="0"/>
              <a:t>C/C++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481423" y="7283716"/>
            <a:ext cx="1800860" cy="27051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300" spc="40" dirty="0">
                <a:solidFill>
                  <a:srgbClr val="FFFFFF"/>
                </a:solidFill>
                <a:latin typeface="SimSun"/>
                <a:cs typeface="SimSun"/>
                <a:hlinkClick r:id="rId5"/>
              </a:rPr>
              <a:t>tvaira@free.fr</a:t>
            </a:r>
            <a:r>
              <a:rPr sz="1300" spc="-190" dirty="0">
                <a:solidFill>
                  <a:srgbClr val="FFFFFF"/>
                </a:solidFill>
                <a:latin typeface="SimSun"/>
                <a:cs typeface="SimSun"/>
                <a:hlinkClick r:id="rId5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©</a:t>
            </a:r>
            <a:r>
              <a:rPr sz="130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v0.1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9"/>
              </a:spcBef>
            </a:pPr>
            <a:fld id="{81D60167-4931-47E6-BA6A-407CBD079E47}" type="slidenum">
              <a:rPr spc="-30" dirty="0"/>
              <a:t>20</a:t>
            </a:fld>
            <a:r>
              <a:rPr spc="80" dirty="0"/>
              <a:t> </a:t>
            </a:r>
            <a:r>
              <a:rPr spc="330" dirty="0"/>
              <a:t>/</a:t>
            </a:r>
            <a:r>
              <a:rPr spc="85" dirty="0"/>
              <a:t> </a:t>
            </a:r>
            <a:r>
              <a:rPr spc="-30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3330" y="0"/>
            <a:ext cx="5043170" cy="203200"/>
          </a:xfrm>
          <a:custGeom>
            <a:avLst/>
            <a:gdLst/>
            <a:ahLst/>
            <a:cxnLst/>
            <a:rect l="l" t="t" r="r" b="b"/>
            <a:pathLst>
              <a:path w="5043170" h="203200">
                <a:moveTo>
                  <a:pt x="0" y="203077"/>
                </a:moveTo>
                <a:lnTo>
                  <a:pt x="5042663" y="203077"/>
                </a:lnTo>
                <a:lnTo>
                  <a:pt x="5042663" y="0"/>
                </a:lnTo>
                <a:lnTo>
                  <a:pt x="0" y="0"/>
                </a:lnTo>
                <a:lnTo>
                  <a:pt x="0" y="203077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71384" y="0"/>
            <a:ext cx="1139825" cy="224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Polymorphisme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3330" y="0"/>
            <a:ext cx="10085705" cy="812800"/>
            <a:chOff x="303330" y="0"/>
            <a:chExt cx="10085705" cy="812800"/>
          </a:xfrm>
        </p:grpSpPr>
        <p:sp>
          <p:nvSpPr>
            <p:cNvPr id="5" name="object 5"/>
            <p:cNvSpPr/>
            <p:nvPr/>
          </p:nvSpPr>
          <p:spPr>
            <a:xfrm>
              <a:off x="5345993" y="0"/>
              <a:ext cx="5043170" cy="203200"/>
            </a:xfrm>
            <a:custGeom>
              <a:avLst/>
              <a:gdLst/>
              <a:ahLst/>
              <a:cxnLst/>
              <a:rect l="l" t="t" r="r" b="b"/>
              <a:pathLst>
                <a:path w="5043170" h="203200">
                  <a:moveTo>
                    <a:pt x="0" y="203077"/>
                  </a:moveTo>
                  <a:lnTo>
                    <a:pt x="5042663" y="203077"/>
                  </a:lnTo>
                  <a:lnTo>
                    <a:pt x="5042663" y="0"/>
                  </a:lnTo>
                  <a:lnTo>
                    <a:pt x="0" y="0"/>
                  </a:lnTo>
                  <a:lnTo>
                    <a:pt x="0" y="20307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330" y="201079"/>
              <a:ext cx="10085354" cy="1476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3330" y="311846"/>
              <a:ext cx="10085705" cy="498475"/>
            </a:xfrm>
            <a:custGeom>
              <a:avLst/>
              <a:gdLst/>
              <a:ahLst/>
              <a:cxnLst/>
              <a:rect l="l" t="t" r="r" b="b"/>
              <a:pathLst>
                <a:path w="10085705" h="498475">
                  <a:moveTo>
                    <a:pt x="0" y="498437"/>
                  </a:moveTo>
                  <a:lnTo>
                    <a:pt x="10085354" y="498437"/>
                  </a:lnTo>
                  <a:lnTo>
                    <a:pt x="10085354" y="0"/>
                  </a:lnTo>
                  <a:lnTo>
                    <a:pt x="0" y="0"/>
                  </a:lnTo>
                  <a:lnTo>
                    <a:pt x="0" y="49843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27007" y="249275"/>
            <a:ext cx="5495925" cy="5041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00" spc="-114" dirty="0">
                <a:solidFill>
                  <a:srgbClr val="FFFFFF"/>
                </a:solidFill>
              </a:rPr>
              <a:t>Comportement</a:t>
            </a:r>
            <a:r>
              <a:rPr sz="3100" spc="40" dirty="0">
                <a:solidFill>
                  <a:srgbClr val="FFFFFF"/>
                </a:solidFill>
              </a:rPr>
              <a:t> </a:t>
            </a:r>
            <a:r>
              <a:rPr sz="3100" spc="-120" dirty="0">
                <a:solidFill>
                  <a:srgbClr val="FFFFFF"/>
                </a:solidFill>
              </a:rPr>
              <a:t>Polymorphe</a:t>
            </a:r>
            <a:r>
              <a:rPr sz="3100" spc="45" dirty="0">
                <a:solidFill>
                  <a:srgbClr val="FFFFFF"/>
                </a:solidFill>
              </a:rPr>
              <a:t> </a:t>
            </a:r>
            <a:r>
              <a:rPr sz="3100" spc="5" dirty="0">
                <a:solidFill>
                  <a:srgbClr val="FFFFFF"/>
                </a:solidFill>
              </a:rPr>
              <a:t>(4/4)</a:t>
            </a:r>
            <a:endParaRPr sz="310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3330" y="810284"/>
            <a:ext cx="10085354" cy="7385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6620" y="1974797"/>
            <a:ext cx="142843" cy="14284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98391" y="1807242"/>
            <a:ext cx="8902065" cy="44049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107950">
              <a:lnSpc>
                <a:spcPts val="2970"/>
              </a:lnSpc>
              <a:spcBef>
                <a:spcPts val="110"/>
              </a:spcBef>
            </a:pPr>
            <a:r>
              <a:rPr sz="2350" spc="5" dirty="0">
                <a:latin typeface="Tahoma"/>
                <a:cs typeface="Tahoma"/>
              </a:rPr>
              <a:t>On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déclare</a:t>
            </a:r>
            <a:r>
              <a:rPr sz="2350" spc="70" dirty="0">
                <a:latin typeface="Tahoma"/>
                <a:cs typeface="Tahoma"/>
              </a:rPr>
              <a:t> </a:t>
            </a:r>
            <a:r>
              <a:rPr sz="2350" spc="-35" dirty="0">
                <a:latin typeface="Tahoma"/>
                <a:cs typeface="Tahoma"/>
              </a:rPr>
              <a:t>qu’on</a:t>
            </a:r>
            <a:r>
              <a:rPr sz="2350" spc="70" dirty="0">
                <a:latin typeface="Tahoma"/>
                <a:cs typeface="Tahoma"/>
              </a:rPr>
              <a:t> </a:t>
            </a:r>
            <a:r>
              <a:rPr sz="2350" spc="-65" dirty="0">
                <a:latin typeface="Tahoma"/>
                <a:cs typeface="Tahoma"/>
              </a:rPr>
              <a:t>veut</a:t>
            </a:r>
            <a:r>
              <a:rPr sz="2350" spc="70" dirty="0">
                <a:latin typeface="Tahoma"/>
                <a:cs typeface="Tahoma"/>
              </a:rPr>
              <a:t> </a:t>
            </a:r>
            <a:r>
              <a:rPr sz="2350" spc="-114" dirty="0">
                <a:latin typeface="Tahoma"/>
                <a:cs typeface="Tahoma"/>
              </a:rPr>
              <a:t>une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40" dirty="0">
                <a:latin typeface="Tahoma"/>
                <a:cs typeface="Tahoma"/>
              </a:rPr>
              <a:t>fonction</a:t>
            </a:r>
            <a:r>
              <a:rPr sz="2350" spc="70" dirty="0">
                <a:latin typeface="Tahoma"/>
                <a:cs typeface="Tahoma"/>
              </a:rPr>
              <a:t> </a:t>
            </a:r>
            <a:r>
              <a:rPr sz="2350" spc="-40" dirty="0">
                <a:latin typeface="Tahoma"/>
                <a:cs typeface="Tahoma"/>
              </a:rPr>
              <a:t>qui</a:t>
            </a:r>
            <a:r>
              <a:rPr sz="2350" spc="70" dirty="0">
                <a:latin typeface="Tahoma"/>
                <a:cs typeface="Tahoma"/>
              </a:rPr>
              <a:t> </a:t>
            </a:r>
            <a:r>
              <a:rPr sz="2350" dirty="0">
                <a:latin typeface="Tahoma"/>
                <a:cs typeface="Tahoma"/>
              </a:rPr>
              <a:t>ait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30" dirty="0">
                <a:latin typeface="Tahoma"/>
                <a:cs typeface="Tahoma"/>
              </a:rPr>
              <a:t>la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30" dirty="0">
                <a:latin typeface="Tahoma"/>
                <a:cs typeface="Tahoma"/>
              </a:rPr>
              <a:t>flexibilité</a:t>
            </a:r>
            <a:r>
              <a:rPr sz="2350" spc="70" dirty="0">
                <a:latin typeface="Tahoma"/>
                <a:cs typeface="Tahoma"/>
              </a:rPr>
              <a:t> </a:t>
            </a:r>
            <a:r>
              <a:rPr sz="2350" spc="-130" dirty="0">
                <a:latin typeface="Tahoma"/>
                <a:cs typeface="Tahoma"/>
              </a:rPr>
              <a:t>des</a:t>
            </a:r>
            <a:r>
              <a:rPr sz="2350" spc="70" dirty="0">
                <a:latin typeface="Tahoma"/>
                <a:cs typeface="Tahoma"/>
              </a:rPr>
              <a:t> </a:t>
            </a:r>
            <a:r>
              <a:rPr sz="2350" spc="-85" dirty="0">
                <a:latin typeface="Tahoma"/>
                <a:cs typeface="Tahoma"/>
              </a:rPr>
              <a:t>propriétés </a:t>
            </a:r>
            <a:r>
              <a:rPr sz="2350" spc="-720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25" dirty="0">
                <a:latin typeface="Tahoma"/>
                <a:cs typeface="Tahoma"/>
              </a:rPr>
              <a:t>l’association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60" dirty="0">
                <a:latin typeface="Tahoma"/>
                <a:cs typeface="Tahoma"/>
              </a:rPr>
              <a:t>tardive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30" dirty="0">
                <a:latin typeface="Tahoma"/>
                <a:cs typeface="Tahoma"/>
              </a:rPr>
              <a:t>en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20" dirty="0">
                <a:latin typeface="Tahoma"/>
                <a:cs typeface="Tahoma"/>
              </a:rPr>
              <a:t>utilisant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le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45" dirty="0">
                <a:latin typeface="Tahoma"/>
                <a:cs typeface="Tahoma"/>
              </a:rPr>
              <a:t>mot-clé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b="1" spc="185" dirty="0">
                <a:latin typeface="Trebuchet MS"/>
                <a:cs typeface="Trebuchet MS"/>
              </a:rPr>
              <a:t>virtual</a:t>
            </a:r>
            <a:r>
              <a:rPr sz="2350" spc="185" dirty="0">
                <a:latin typeface="Tahoma"/>
                <a:cs typeface="Tahoma"/>
              </a:rPr>
              <a:t>.</a:t>
            </a:r>
            <a:endParaRPr sz="2350">
              <a:latin typeface="Tahoma"/>
              <a:cs typeface="Tahoma"/>
            </a:endParaRPr>
          </a:p>
          <a:p>
            <a:pPr marL="12700" marR="331470">
              <a:lnSpc>
                <a:spcPct val="105200"/>
              </a:lnSpc>
              <a:spcBef>
                <a:spcPts val="525"/>
              </a:spcBef>
            </a:pPr>
            <a:r>
              <a:rPr sz="2350" spc="5" dirty="0">
                <a:latin typeface="Tahoma"/>
                <a:cs typeface="Tahoma"/>
              </a:rPr>
              <a:t>On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5" dirty="0">
                <a:latin typeface="Tahoma"/>
                <a:cs typeface="Tahoma"/>
              </a:rPr>
              <a:t>n’a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00" dirty="0">
                <a:latin typeface="Tahoma"/>
                <a:cs typeface="Tahoma"/>
              </a:rPr>
              <a:t>pas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besoin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comprendre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100" dirty="0">
                <a:latin typeface="Tahoma"/>
                <a:cs typeface="Tahoma"/>
              </a:rPr>
              <a:t>les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95" dirty="0">
                <a:latin typeface="Tahoma"/>
                <a:cs typeface="Tahoma"/>
              </a:rPr>
              <a:t>mécanismes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75" dirty="0">
                <a:latin typeface="SimSun"/>
                <a:cs typeface="SimSun"/>
              </a:rPr>
              <a:t>virtual</a:t>
            </a:r>
            <a:r>
              <a:rPr sz="2350" spc="-380" dirty="0">
                <a:latin typeface="SimSun"/>
                <a:cs typeface="SimSun"/>
              </a:rPr>
              <a:t> </a:t>
            </a:r>
            <a:r>
              <a:rPr sz="2350" spc="-50" dirty="0">
                <a:latin typeface="Tahoma"/>
                <a:cs typeface="Tahoma"/>
              </a:rPr>
              <a:t>pour </a:t>
            </a:r>
            <a:r>
              <a:rPr sz="2350" spc="-720" dirty="0">
                <a:latin typeface="Tahoma"/>
                <a:cs typeface="Tahoma"/>
              </a:rPr>
              <a:t> </a:t>
            </a:r>
            <a:r>
              <a:rPr sz="2350" spc="-15" dirty="0">
                <a:latin typeface="Tahoma"/>
                <a:cs typeface="Tahoma"/>
              </a:rPr>
              <a:t>l’utiliser,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70" dirty="0">
                <a:latin typeface="Tahoma"/>
                <a:cs typeface="Tahoma"/>
              </a:rPr>
              <a:t>mais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10" dirty="0">
                <a:latin typeface="Tahoma"/>
                <a:cs typeface="Tahoma"/>
              </a:rPr>
              <a:t>sans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0" dirty="0">
                <a:latin typeface="Tahoma"/>
                <a:cs typeface="Tahoma"/>
              </a:rPr>
              <a:t>lui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on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30" dirty="0">
                <a:latin typeface="Tahoma"/>
                <a:cs typeface="Tahoma"/>
              </a:rPr>
              <a:t>ne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45" dirty="0">
                <a:latin typeface="Tahoma"/>
                <a:cs typeface="Tahoma"/>
              </a:rPr>
              <a:t>peut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100" dirty="0">
                <a:latin typeface="Tahoma"/>
                <a:cs typeface="Tahoma"/>
              </a:rPr>
              <a:t>pas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60" dirty="0">
                <a:latin typeface="Tahoma"/>
                <a:cs typeface="Tahoma"/>
              </a:rPr>
              <a:t>faire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30" dirty="0">
                <a:latin typeface="Tahoma"/>
                <a:cs typeface="Tahoma"/>
              </a:rPr>
              <a:t>la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65" dirty="0">
                <a:latin typeface="Tahoma"/>
                <a:cs typeface="Tahoma"/>
              </a:rPr>
              <a:t>programmation </a:t>
            </a:r>
            <a:r>
              <a:rPr sz="2350" spc="-60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orientée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55" dirty="0">
                <a:latin typeface="Tahoma"/>
                <a:cs typeface="Tahoma"/>
              </a:rPr>
              <a:t>objet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30" dirty="0">
                <a:latin typeface="Tahoma"/>
                <a:cs typeface="Tahoma"/>
              </a:rPr>
              <a:t>en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85" dirty="0">
                <a:latin typeface="Tahoma"/>
                <a:cs typeface="Tahoma"/>
              </a:rPr>
              <a:t>C++.</a:t>
            </a:r>
            <a:endParaRPr sz="2350">
              <a:latin typeface="Tahoma"/>
              <a:cs typeface="Tahoma"/>
            </a:endParaRPr>
          </a:p>
          <a:p>
            <a:pPr marL="12700" marR="326390">
              <a:lnSpc>
                <a:spcPct val="105200"/>
              </a:lnSpc>
              <a:spcBef>
                <a:spcPts val="650"/>
              </a:spcBef>
            </a:pPr>
            <a:r>
              <a:rPr sz="2350" spc="15" dirty="0">
                <a:latin typeface="Tahoma"/>
                <a:cs typeface="Tahoma"/>
              </a:rPr>
              <a:t>En </a:t>
            </a:r>
            <a:r>
              <a:rPr sz="2350" spc="85" dirty="0">
                <a:latin typeface="Tahoma"/>
                <a:cs typeface="Tahoma"/>
              </a:rPr>
              <a:t>C++, </a:t>
            </a:r>
            <a:r>
              <a:rPr sz="2350" spc="-80" dirty="0">
                <a:latin typeface="Tahoma"/>
                <a:cs typeface="Tahoma"/>
              </a:rPr>
              <a:t>on </a:t>
            </a:r>
            <a:r>
              <a:rPr sz="2350" spc="-15" dirty="0">
                <a:latin typeface="Tahoma"/>
                <a:cs typeface="Tahoma"/>
              </a:rPr>
              <a:t>doit </a:t>
            </a:r>
            <a:r>
              <a:rPr sz="2350" spc="-160" dirty="0">
                <a:latin typeface="Tahoma"/>
                <a:cs typeface="Tahoma"/>
              </a:rPr>
              <a:t>se</a:t>
            </a:r>
            <a:r>
              <a:rPr sz="2350" spc="-155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souvenir </a:t>
            </a:r>
            <a:r>
              <a:rPr sz="2350" spc="-40" dirty="0">
                <a:latin typeface="Tahoma"/>
                <a:cs typeface="Tahoma"/>
              </a:rPr>
              <a:t>d’ajouter </a:t>
            </a:r>
            <a:r>
              <a:rPr sz="2350" spc="-75" dirty="0">
                <a:latin typeface="Tahoma"/>
                <a:cs typeface="Tahoma"/>
              </a:rPr>
              <a:t>le </a:t>
            </a:r>
            <a:r>
              <a:rPr sz="2350" spc="-45" dirty="0">
                <a:latin typeface="Tahoma"/>
                <a:cs typeface="Tahoma"/>
              </a:rPr>
              <a:t>mot-clé </a:t>
            </a:r>
            <a:r>
              <a:rPr sz="2350" spc="75" dirty="0">
                <a:latin typeface="SimSun"/>
                <a:cs typeface="SimSun"/>
              </a:rPr>
              <a:t>virtual </a:t>
            </a:r>
            <a:r>
              <a:rPr sz="2350" spc="-60" dirty="0">
                <a:latin typeface="Tahoma"/>
                <a:cs typeface="Tahoma"/>
              </a:rPr>
              <a:t>(devant </a:t>
            </a:r>
            <a:r>
              <a:rPr sz="2350" spc="-720" dirty="0">
                <a:latin typeface="Tahoma"/>
                <a:cs typeface="Tahoma"/>
              </a:rPr>
              <a:t> </a:t>
            </a:r>
            <a:r>
              <a:rPr sz="2350" spc="-114" dirty="0">
                <a:latin typeface="Tahoma"/>
                <a:cs typeface="Tahoma"/>
              </a:rPr>
              <a:t>une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65" dirty="0">
                <a:latin typeface="Tahoma"/>
                <a:cs typeface="Tahoma"/>
              </a:rPr>
              <a:t>méthode)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95" dirty="0">
                <a:latin typeface="Tahoma"/>
                <a:cs typeface="Tahoma"/>
              </a:rPr>
              <a:t>parce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95" dirty="0">
                <a:latin typeface="Tahoma"/>
                <a:cs typeface="Tahoma"/>
              </a:rPr>
              <a:t>que,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85" dirty="0">
                <a:latin typeface="Tahoma"/>
                <a:cs typeface="Tahoma"/>
              </a:rPr>
              <a:t>par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65" dirty="0">
                <a:latin typeface="Tahoma"/>
                <a:cs typeface="Tahoma"/>
              </a:rPr>
              <a:t>défaut,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00" dirty="0">
                <a:latin typeface="Tahoma"/>
                <a:cs typeface="Tahoma"/>
              </a:rPr>
              <a:t>les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50" dirty="0">
                <a:latin typeface="Tahoma"/>
                <a:cs typeface="Tahoma"/>
              </a:rPr>
              <a:t>fonctions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20" dirty="0">
                <a:latin typeface="Tahoma"/>
                <a:cs typeface="Tahoma"/>
              </a:rPr>
              <a:t>membres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130" dirty="0">
                <a:latin typeface="Tahoma"/>
                <a:cs typeface="Tahoma"/>
              </a:rPr>
              <a:t>ne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55" dirty="0">
                <a:latin typeface="Tahoma"/>
                <a:cs typeface="Tahoma"/>
              </a:rPr>
              <a:t>sont </a:t>
            </a:r>
            <a:r>
              <a:rPr sz="2350" spc="-720" dirty="0">
                <a:latin typeface="Tahoma"/>
                <a:cs typeface="Tahoma"/>
              </a:rPr>
              <a:t> </a:t>
            </a:r>
            <a:r>
              <a:rPr sz="2350" spc="-100" dirty="0">
                <a:latin typeface="Tahoma"/>
                <a:cs typeface="Tahoma"/>
              </a:rPr>
              <a:t>pas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liées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dynamiquement.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70" dirty="0">
                <a:latin typeface="Tahoma"/>
                <a:cs typeface="Tahoma"/>
              </a:rPr>
              <a:t>Les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50" dirty="0">
                <a:latin typeface="Tahoma"/>
                <a:cs typeface="Tahoma"/>
              </a:rPr>
              <a:t>fonctions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50" dirty="0">
                <a:latin typeface="Tahoma"/>
                <a:cs typeface="Tahoma"/>
              </a:rPr>
              <a:t>virtuelles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50" dirty="0">
                <a:latin typeface="Tahoma"/>
                <a:cs typeface="Tahoma"/>
              </a:rPr>
              <a:t>permettent </a:t>
            </a:r>
            <a:r>
              <a:rPr sz="2350" spc="-45" dirty="0">
                <a:latin typeface="Tahoma"/>
                <a:cs typeface="Tahoma"/>
              </a:rPr>
              <a:t> </a:t>
            </a:r>
            <a:r>
              <a:rPr sz="2350" spc="-60" dirty="0">
                <a:latin typeface="Tahoma"/>
                <a:cs typeface="Tahoma"/>
              </a:rPr>
              <a:t>d’exprimer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30" dirty="0">
                <a:latin typeface="Tahoma"/>
                <a:cs typeface="Tahoma"/>
              </a:rPr>
              <a:t>des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différences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65" dirty="0">
                <a:latin typeface="Tahoma"/>
                <a:cs typeface="Tahoma"/>
              </a:rPr>
              <a:t>comportement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entre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30" dirty="0">
                <a:latin typeface="Tahoma"/>
                <a:cs typeface="Tahoma"/>
              </a:rPr>
              <a:t>des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95" dirty="0">
                <a:latin typeface="Tahoma"/>
                <a:cs typeface="Tahoma"/>
              </a:rPr>
              <a:t>classes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35" dirty="0">
                <a:latin typeface="Tahoma"/>
                <a:cs typeface="Tahoma"/>
              </a:rPr>
              <a:t>la </a:t>
            </a:r>
            <a:r>
              <a:rPr sz="2350" spc="-30" dirty="0">
                <a:latin typeface="Tahoma"/>
                <a:cs typeface="Tahoma"/>
              </a:rPr>
              <a:t> </a:t>
            </a:r>
            <a:r>
              <a:rPr sz="2350" spc="-130" dirty="0">
                <a:latin typeface="Tahoma"/>
                <a:cs typeface="Tahoma"/>
              </a:rPr>
              <a:t>même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45" dirty="0">
                <a:latin typeface="Tahoma"/>
                <a:cs typeface="Tahoma"/>
              </a:rPr>
              <a:t>famille.</a:t>
            </a:r>
            <a:endParaRPr sz="2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350" spc="-70" dirty="0">
                <a:latin typeface="Tahoma"/>
                <a:cs typeface="Tahoma"/>
              </a:rPr>
              <a:t>Ces</a:t>
            </a:r>
            <a:r>
              <a:rPr sz="2350" spc="5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différences</a:t>
            </a:r>
            <a:r>
              <a:rPr sz="2350" spc="10" dirty="0">
                <a:latin typeface="Tahoma"/>
                <a:cs typeface="Tahoma"/>
              </a:rPr>
              <a:t> </a:t>
            </a:r>
            <a:r>
              <a:rPr sz="2350" spc="-55" dirty="0">
                <a:latin typeface="Tahoma"/>
                <a:cs typeface="Tahoma"/>
              </a:rPr>
              <a:t>sont</a:t>
            </a:r>
            <a:r>
              <a:rPr sz="2350" spc="10" dirty="0">
                <a:latin typeface="Tahoma"/>
                <a:cs typeface="Tahoma"/>
              </a:rPr>
              <a:t> </a:t>
            </a:r>
            <a:r>
              <a:rPr sz="2350" spc="-105" dirty="0">
                <a:latin typeface="Tahoma"/>
                <a:cs typeface="Tahoma"/>
              </a:rPr>
              <a:t>ce</a:t>
            </a:r>
            <a:r>
              <a:rPr sz="2350" spc="5" dirty="0">
                <a:latin typeface="Tahoma"/>
                <a:cs typeface="Tahoma"/>
              </a:rPr>
              <a:t> </a:t>
            </a:r>
            <a:r>
              <a:rPr sz="2350" spc="-40" dirty="0">
                <a:latin typeface="Tahoma"/>
                <a:cs typeface="Tahoma"/>
              </a:rPr>
              <a:t>qui</a:t>
            </a:r>
            <a:r>
              <a:rPr sz="2350" spc="10" dirty="0">
                <a:latin typeface="Tahoma"/>
                <a:cs typeface="Tahoma"/>
              </a:rPr>
              <a:t> </a:t>
            </a:r>
            <a:r>
              <a:rPr sz="2350" spc="-114" dirty="0">
                <a:latin typeface="Tahoma"/>
                <a:cs typeface="Tahoma"/>
              </a:rPr>
              <a:t>engendre</a:t>
            </a:r>
            <a:r>
              <a:rPr sz="2350" spc="10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un</a:t>
            </a:r>
            <a:r>
              <a:rPr sz="2350" spc="20" dirty="0">
                <a:latin typeface="Tahoma"/>
                <a:cs typeface="Tahoma"/>
              </a:rPr>
              <a:t> </a:t>
            </a:r>
            <a:r>
              <a:rPr sz="2350" b="1" spc="-40" dirty="0">
                <a:solidFill>
                  <a:srgbClr val="7F0000"/>
                </a:solidFill>
                <a:latin typeface="Arial"/>
                <a:cs typeface="Arial"/>
              </a:rPr>
              <a:t>comportement</a:t>
            </a:r>
            <a:r>
              <a:rPr sz="2350" b="1" spc="170" dirty="0">
                <a:solidFill>
                  <a:srgbClr val="7F0000"/>
                </a:solidFill>
                <a:latin typeface="Arial"/>
                <a:cs typeface="Arial"/>
              </a:rPr>
              <a:t> </a:t>
            </a:r>
            <a:r>
              <a:rPr sz="2350" b="1" spc="-80" dirty="0">
                <a:solidFill>
                  <a:srgbClr val="7F0000"/>
                </a:solidFill>
                <a:latin typeface="Arial"/>
                <a:cs typeface="Arial"/>
              </a:rPr>
              <a:t>polymorphe</a:t>
            </a:r>
            <a:r>
              <a:rPr sz="2350" spc="-80" dirty="0">
                <a:latin typeface="Tahoma"/>
                <a:cs typeface="Tahoma"/>
              </a:rPr>
              <a:t>.</a:t>
            </a:r>
            <a:endParaRPr sz="235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6620" y="2811094"/>
            <a:ext cx="142843" cy="14284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6620" y="4024000"/>
            <a:ext cx="142843" cy="14284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6620" y="5990149"/>
            <a:ext cx="142843" cy="142843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303330" y="7322021"/>
            <a:ext cx="10085705" cy="240029"/>
            <a:chOff x="303330" y="7322021"/>
            <a:chExt cx="10085705" cy="240029"/>
          </a:xfrm>
        </p:grpSpPr>
        <p:sp>
          <p:nvSpPr>
            <p:cNvPr id="16" name="object 16"/>
            <p:cNvSpPr/>
            <p:nvPr/>
          </p:nvSpPr>
          <p:spPr>
            <a:xfrm>
              <a:off x="303330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65059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26788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60" dirty="0"/>
              <a:t>tv </a:t>
            </a:r>
            <a:r>
              <a:rPr spc="140" dirty="0"/>
              <a:t> </a:t>
            </a:r>
            <a:r>
              <a:rPr spc="55" dirty="0"/>
              <a:t>(BTS</a:t>
            </a:r>
            <a:r>
              <a:rPr spc="100" dirty="0"/>
              <a:t> </a:t>
            </a:r>
            <a:r>
              <a:rPr spc="-25" dirty="0"/>
              <a:t>IRIS</a:t>
            </a:r>
            <a:r>
              <a:rPr spc="105" dirty="0"/>
              <a:t> </a:t>
            </a:r>
            <a:r>
              <a:rPr spc="5" dirty="0"/>
              <a:t>Avignon)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-40" dirty="0"/>
              <a:t>Cours</a:t>
            </a:r>
            <a:r>
              <a:rPr spc="60" dirty="0"/>
              <a:t> </a:t>
            </a:r>
            <a:r>
              <a:rPr spc="170" dirty="0"/>
              <a:t>C/C++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481423" y="7283716"/>
            <a:ext cx="1800860" cy="27051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300" spc="40" dirty="0">
                <a:solidFill>
                  <a:srgbClr val="FFFFFF"/>
                </a:solidFill>
                <a:latin typeface="SimSun"/>
                <a:cs typeface="SimSun"/>
                <a:hlinkClick r:id="rId6"/>
              </a:rPr>
              <a:t>tvaira@free.fr</a:t>
            </a:r>
            <a:r>
              <a:rPr sz="1300" spc="-190" dirty="0">
                <a:solidFill>
                  <a:srgbClr val="FFFFFF"/>
                </a:solidFill>
                <a:latin typeface="SimSun"/>
                <a:cs typeface="SimSun"/>
                <a:hlinkClick r:id="rId6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©</a:t>
            </a:r>
            <a:r>
              <a:rPr sz="130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v0.1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9"/>
              </a:spcBef>
            </a:pPr>
            <a:fld id="{81D60167-4931-47E6-BA6A-407CBD079E47}" type="slidenum">
              <a:rPr spc="-30" dirty="0"/>
              <a:t>21</a:t>
            </a:fld>
            <a:r>
              <a:rPr spc="80" dirty="0"/>
              <a:t> </a:t>
            </a:r>
            <a:r>
              <a:rPr spc="330" dirty="0"/>
              <a:t>/</a:t>
            </a:r>
            <a:r>
              <a:rPr spc="85" dirty="0"/>
              <a:t> </a:t>
            </a:r>
            <a:r>
              <a:rPr spc="-30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3330" y="0"/>
            <a:ext cx="5043170" cy="240029"/>
          </a:xfrm>
          <a:custGeom>
            <a:avLst/>
            <a:gdLst/>
            <a:ahLst/>
            <a:cxnLst/>
            <a:rect l="l" t="t" r="r" b="b"/>
            <a:pathLst>
              <a:path w="5043170" h="240029">
                <a:moveTo>
                  <a:pt x="5042663" y="0"/>
                </a:moveTo>
                <a:lnTo>
                  <a:pt x="0" y="0"/>
                </a:lnTo>
                <a:lnTo>
                  <a:pt x="0" y="239990"/>
                </a:lnTo>
                <a:lnTo>
                  <a:pt x="5042663" y="239990"/>
                </a:lnTo>
                <a:lnTo>
                  <a:pt x="5042663" y="0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71384" y="0"/>
            <a:ext cx="1139825" cy="224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Polymorphisme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45993" y="0"/>
            <a:ext cx="5043170" cy="240029"/>
          </a:xfrm>
          <a:custGeom>
            <a:avLst/>
            <a:gdLst/>
            <a:ahLst/>
            <a:cxnLst/>
            <a:rect l="l" t="t" r="r" b="b"/>
            <a:pathLst>
              <a:path w="5043170" h="240029">
                <a:moveTo>
                  <a:pt x="5042663" y="0"/>
                </a:moveTo>
                <a:lnTo>
                  <a:pt x="0" y="0"/>
                </a:lnTo>
                <a:lnTo>
                  <a:pt x="0" y="239990"/>
                </a:lnTo>
                <a:lnTo>
                  <a:pt x="5042663" y="239990"/>
                </a:lnTo>
                <a:lnTo>
                  <a:pt x="5042663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3425" y="570404"/>
            <a:ext cx="9705340" cy="438150"/>
          </a:xfrm>
          <a:custGeom>
            <a:avLst/>
            <a:gdLst/>
            <a:ahLst/>
            <a:cxnLst/>
            <a:rect l="l" t="t" r="r" b="b"/>
            <a:pathLst>
              <a:path w="9705340" h="438150">
                <a:moveTo>
                  <a:pt x="9594072" y="0"/>
                </a:moveTo>
                <a:lnTo>
                  <a:pt x="111185" y="0"/>
                </a:lnTo>
                <a:lnTo>
                  <a:pt x="68014" y="8773"/>
                </a:lnTo>
                <a:lnTo>
                  <a:pt x="32660" y="32660"/>
                </a:lnTo>
                <a:lnTo>
                  <a:pt x="8773" y="68013"/>
                </a:lnTo>
                <a:lnTo>
                  <a:pt x="0" y="111184"/>
                </a:lnTo>
                <a:lnTo>
                  <a:pt x="0" y="437911"/>
                </a:lnTo>
                <a:lnTo>
                  <a:pt x="9705258" y="437911"/>
                </a:lnTo>
                <a:lnTo>
                  <a:pt x="9705258" y="111184"/>
                </a:lnTo>
                <a:lnTo>
                  <a:pt x="9696484" y="68013"/>
                </a:lnTo>
                <a:lnTo>
                  <a:pt x="9672596" y="32660"/>
                </a:lnTo>
                <a:lnTo>
                  <a:pt x="9637243" y="8773"/>
                </a:lnTo>
                <a:lnTo>
                  <a:pt x="959407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91910" y="561176"/>
            <a:ext cx="6120765" cy="389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>
                <a:solidFill>
                  <a:srgbClr val="FFFFFF"/>
                </a:solidFill>
              </a:rPr>
              <a:t>Exemple</a:t>
            </a:r>
            <a:r>
              <a:rPr spc="55" dirty="0">
                <a:solidFill>
                  <a:srgbClr val="FFFFFF"/>
                </a:solidFill>
              </a:rPr>
              <a:t> </a:t>
            </a:r>
            <a:r>
              <a:rPr spc="-170" dirty="0">
                <a:solidFill>
                  <a:srgbClr val="FFFFFF"/>
                </a:solidFill>
              </a:rPr>
              <a:t>:</a:t>
            </a:r>
            <a:r>
              <a:rPr spc="60" dirty="0">
                <a:solidFill>
                  <a:srgbClr val="FFFFFF"/>
                </a:solidFill>
              </a:rPr>
              <a:t> </a:t>
            </a:r>
            <a:r>
              <a:rPr spc="-65" dirty="0">
                <a:solidFill>
                  <a:srgbClr val="FFFFFF"/>
                </a:solidFill>
              </a:rPr>
              <a:t>comportement</a:t>
            </a:r>
            <a:r>
              <a:rPr spc="60" dirty="0">
                <a:solidFill>
                  <a:srgbClr val="FFFFFF"/>
                </a:solidFill>
              </a:rPr>
              <a:t> </a:t>
            </a:r>
            <a:r>
              <a:rPr spc="-85" dirty="0">
                <a:solidFill>
                  <a:srgbClr val="FFFFFF"/>
                </a:solidFill>
              </a:rPr>
              <a:t>non</a:t>
            </a:r>
            <a:r>
              <a:rPr spc="60" dirty="0">
                <a:solidFill>
                  <a:srgbClr val="FFFFFF"/>
                </a:solidFill>
              </a:rPr>
              <a:t> </a:t>
            </a:r>
            <a:r>
              <a:rPr spc="-75" dirty="0">
                <a:solidFill>
                  <a:srgbClr val="FFFFFF"/>
                </a:solidFill>
              </a:rPr>
              <a:t>polymorphe</a:t>
            </a:r>
            <a:r>
              <a:rPr spc="55" dirty="0">
                <a:solidFill>
                  <a:srgbClr val="FFFFFF"/>
                </a:solidFill>
              </a:rPr>
              <a:t> </a:t>
            </a:r>
            <a:r>
              <a:rPr spc="30" dirty="0">
                <a:solidFill>
                  <a:srgbClr val="FFFFFF"/>
                </a:solidFill>
              </a:rPr>
              <a:t>(1/3)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493425" y="667148"/>
            <a:ext cx="9816465" cy="6268085"/>
            <a:chOff x="493425" y="667148"/>
            <a:chExt cx="9816465" cy="626808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3426" y="980617"/>
              <a:ext cx="9705256" cy="11076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4610" y="6712788"/>
              <a:ext cx="222367" cy="22236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5796" y="6684992"/>
              <a:ext cx="9593949" cy="25016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98683" y="667218"/>
              <a:ext cx="111061" cy="604557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93425" y="1077470"/>
              <a:ext cx="9705340" cy="5746750"/>
            </a:xfrm>
            <a:custGeom>
              <a:avLst/>
              <a:gdLst/>
              <a:ahLst/>
              <a:cxnLst/>
              <a:rect l="l" t="t" r="r" b="b"/>
              <a:pathLst>
                <a:path w="9705340" h="5746750">
                  <a:moveTo>
                    <a:pt x="9705258" y="0"/>
                  </a:moveTo>
                  <a:lnTo>
                    <a:pt x="0" y="0"/>
                  </a:lnTo>
                  <a:lnTo>
                    <a:pt x="0" y="5635318"/>
                  </a:lnTo>
                  <a:lnTo>
                    <a:pt x="8773" y="5678488"/>
                  </a:lnTo>
                  <a:lnTo>
                    <a:pt x="32660" y="5713842"/>
                  </a:lnTo>
                  <a:lnTo>
                    <a:pt x="68014" y="5737729"/>
                  </a:lnTo>
                  <a:lnTo>
                    <a:pt x="111185" y="5746502"/>
                  </a:lnTo>
                  <a:lnTo>
                    <a:pt x="9594072" y="5746502"/>
                  </a:lnTo>
                  <a:lnTo>
                    <a:pt x="9637243" y="5737729"/>
                  </a:lnTo>
                  <a:lnTo>
                    <a:pt x="9672596" y="5713842"/>
                  </a:lnTo>
                  <a:lnTo>
                    <a:pt x="9696484" y="5678488"/>
                  </a:lnTo>
                  <a:lnTo>
                    <a:pt x="9705258" y="5635318"/>
                  </a:lnTo>
                  <a:lnTo>
                    <a:pt x="9705258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198683" y="750536"/>
              <a:ext cx="0" cy="6004560"/>
            </a:xfrm>
            <a:custGeom>
              <a:avLst/>
              <a:gdLst/>
              <a:ahLst/>
              <a:cxnLst/>
              <a:rect l="l" t="t" r="r" b="b"/>
              <a:pathLst>
                <a:path h="6004559">
                  <a:moveTo>
                    <a:pt x="0" y="600394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198683" y="722740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40">
                  <a:moveTo>
                    <a:pt x="0" y="277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198683" y="694944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40">
                  <a:moveTo>
                    <a:pt x="0" y="277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198683" y="667148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40">
                  <a:moveTo>
                    <a:pt x="0" y="277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91910" y="1248988"/>
            <a:ext cx="7598409" cy="529018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243195">
              <a:lnSpc>
                <a:spcPts val="2070"/>
              </a:lnSpc>
              <a:spcBef>
                <a:spcPts val="185"/>
              </a:spcBef>
            </a:pPr>
            <a:r>
              <a:rPr sz="1750" b="1" spc="30" dirty="0">
                <a:solidFill>
                  <a:srgbClr val="006D26"/>
                </a:solidFill>
                <a:latin typeface="Trebuchet MS"/>
                <a:cs typeface="Trebuchet MS"/>
              </a:rPr>
              <a:t>#include</a:t>
            </a:r>
            <a:r>
              <a:rPr sz="1750" b="1" spc="35" dirty="0">
                <a:solidFill>
                  <a:srgbClr val="006D26"/>
                </a:solidFill>
                <a:latin typeface="Trebuchet MS"/>
                <a:cs typeface="Trebuchet MS"/>
              </a:rPr>
              <a:t> </a:t>
            </a:r>
            <a:r>
              <a:rPr sz="1750" b="1" spc="-5" dirty="0">
                <a:solidFill>
                  <a:srgbClr val="006D26"/>
                </a:solidFill>
                <a:latin typeface="Trebuchet MS"/>
                <a:cs typeface="Trebuchet MS"/>
              </a:rPr>
              <a:t>&lt;iostream&gt; </a:t>
            </a:r>
            <a:r>
              <a:rPr sz="1750" b="1" dirty="0">
                <a:solidFill>
                  <a:srgbClr val="006D26"/>
                </a:solidFill>
                <a:latin typeface="Trebuchet MS"/>
                <a:cs typeface="Trebuchet MS"/>
              </a:rPr>
              <a:t> </a:t>
            </a:r>
            <a:r>
              <a:rPr sz="1750" b="1" spc="70" dirty="0">
                <a:latin typeface="Trebuchet MS"/>
                <a:cs typeface="Trebuchet MS"/>
              </a:rPr>
              <a:t>using</a:t>
            </a:r>
            <a:r>
              <a:rPr sz="1750" b="1" spc="360" dirty="0">
                <a:latin typeface="Trebuchet MS"/>
                <a:cs typeface="Trebuchet MS"/>
              </a:rPr>
              <a:t> </a:t>
            </a:r>
            <a:r>
              <a:rPr sz="1750" b="1" spc="-95" dirty="0">
                <a:latin typeface="Trebuchet MS"/>
                <a:cs typeface="Trebuchet MS"/>
              </a:rPr>
              <a:t>namespace</a:t>
            </a:r>
            <a:r>
              <a:rPr sz="1750" b="1" spc="-65" dirty="0"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std;</a:t>
            </a:r>
            <a:endParaRPr sz="17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00">
              <a:latin typeface="SimSun"/>
              <a:cs typeface="SimSun"/>
            </a:endParaRPr>
          </a:p>
          <a:p>
            <a:pPr marL="330200" marR="6047740" indent="-318135">
              <a:lnSpc>
                <a:spcPts val="2070"/>
              </a:lnSpc>
            </a:pP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class</a:t>
            </a:r>
            <a:r>
              <a:rPr sz="1750" spc="5" dirty="0">
                <a:solidFill>
                  <a:srgbClr val="FF0000"/>
                </a:solidFill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Forme</a:t>
            </a:r>
            <a:r>
              <a:rPr sz="1750" spc="1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{ </a:t>
            </a:r>
            <a:r>
              <a:rPr sz="1750" spc="-860" dirty="0">
                <a:latin typeface="SimSun"/>
                <a:cs typeface="SimSun"/>
              </a:rPr>
              <a:t> </a:t>
            </a: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public</a:t>
            </a:r>
            <a:r>
              <a:rPr sz="1750" spc="50" dirty="0">
                <a:latin typeface="SimSun"/>
                <a:cs typeface="SimSun"/>
              </a:rPr>
              <a:t>:</a:t>
            </a:r>
            <a:endParaRPr sz="1750">
              <a:latin typeface="SimSun"/>
              <a:cs typeface="SimSun"/>
            </a:endParaRPr>
          </a:p>
          <a:p>
            <a:pPr marL="647700">
              <a:lnSpc>
                <a:spcPts val="1995"/>
              </a:lnSpc>
            </a:pPr>
            <a:r>
              <a:rPr sz="1750" spc="50" dirty="0">
                <a:latin typeface="SimSun"/>
                <a:cs typeface="SimSun"/>
              </a:rPr>
              <a:t>Forme()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{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cout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&lt;&lt;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"constructeur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Forme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&lt;|-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";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}</a:t>
            </a:r>
            <a:endParaRPr sz="1750">
              <a:latin typeface="SimSun"/>
              <a:cs typeface="SimSun"/>
            </a:endParaRPr>
          </a:p>
          <a:p>
            <a:pPr marL="647700">
              <a:lnSpc>
                <a:spcPts val="2070"/>
              </a:lnSpc>
            </a:pPr>
            <a:r>
              <a:rPr sz="1750" b="1" spc="50" dirty="0">
                <a:solidFill>
                  <a:srgbClr val="0056AD"/>
                </a:solidFill>
                <a:latin typeface="Trebuchet MS"/>
                <a:cs typeface="Trebuchet MS"/>
              </a:rPr>
              <a:t>void</a:t>
            </a:r>
            <a:r>
              <a:rPr sz="1750" b="1" spc="390" dirty="0">
                <a:solidFill>
                  <a:srgbClr val="0056AD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dessiner() {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cout &lt;&lt;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"je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dessine ...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une forme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?\n"; }</a:t>
            </a:r>
            <a:endParaRPr sz="1750">
              <a:latin typeface="SimSun"/>
              <a:cs typeface="SimSun"/>
            </a:endParaRPr>
          </a:p>
          <a:p>
            <a:pPr marL="12700">
              <a:lnSpc>
                <a:spcPts val="2085"/>
              </a:lnSpc>
            </a:pPr>
            <a:r>
              <a:rPr sz="1750" spc="50" dirty="0">
                <a:latin typeface="SimSun"/>
                <a:cs typeface="SimSun"/>
              </a:rPr>
              <a:t>};</a:t>
            </a:r>
            <a:endParaRPr sz="17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>
              <a:latin typeface="SimSun"/>
              <a:cs typeface="SimSun"/>
            </a:endParaRPr>
          </a:p>
          <a:p>
            <a:pPr marL="330200" marR="4164965" indent="-318135">
              <a:lnSpc>
                <a:spcPts val="2070"/>
              </a:lnSpc>
            </a:pP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class</a:t>
            </a:r>
            <a:r>
              <a:rPr sz="1750" spc="35" dirty="0">
                <a:solidFill>
                  <a:srgbClr val="FF0000"/>
                </a:solidFill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Cercle</a:t>
            </a:r>
            <a:r>
              <a:rPr sz="1750" spc="3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:</a:t>
            </a:r>
            <a:r>
              <a:rPr sz="1750" spc="35" dirty="0">
                <a:latin typeface="SimSun"/>
                <a:cs typeface="SimSun"/>
              </a:rPr>
              <a:t> </a:t>
            </a: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public</a:t>
            </a:r>
            <a:r>
              <a:rPr sz="1750" spc="35" dirty="0">
                <a:solidFill>
                  <a:srgbClr val="FF0000"/>
                </a:solidFill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Forme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{ </a:t>
            </a:r>
            <a:r>
              <a:rPr sz="1750" spc="-860" dirty="0">
                <a:latin typeface="SimSun"/>
                <a:cs typeface="SimSun"/>
              </a:rPr>
              <a:t> </a:t>
            </a: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public</a:t>
            </a:r>
            <a:r>
              <a:rPr sz="1750" spc="50" dirty="0">
                <a:latin typeface="SimSun"/>
                <a:cs typeface="SimSun"/>
              </a:rPr>
              <a:t>:</a:t>
            </a:r>
            <a:endParaRPr sz="1750">
              <a:latin typeface="SimSun"/>
              <a:cs typeface="SimSun"/>
            </a:endParaRPr>
          </a:p>
          <a:p>
            <a:pPr marL="647700">
              <a:lnSpc>
                <a:spcPts val="1995"/>
              </a:lnSpc>
            </a:pPr>
            <a:r>
              <a:rPr sz="1750" spc="50" dirty="0">
                <a:latin typeface="SimSun"/>
                <a:cs typeface="SimSun"/>
              </a:rPr>
              <a:t>Cercle()</a:t>
            </a:r>
            <a:r>
              <a:rPr sz="1750" spc="3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{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cout</a:t>
            </a:r>
            <a:r>
              <a:rPr sz="1750" spc="3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&lt;&lt;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"Cercle\n";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}</a:t>
            </a:r>
            <a:endParaRPr sz="1750">
              <a:latin typeface="SimSun"/>
              <a:cs typeface="SimSun"/>
            </a:endParaRPr>
          </a:p>
          <a:p>
            <a:pPr marL="647700">
              <a:lnSpc>
                <a:spcPts val="2070"/>
              </a:lnSpc>
            </a:pPr>
            <a:r>
              <a:rPr sz="1750" b="1" spc="50" dirty="0">
                <a:solidFill>
                  <a:srgbClr val="0056AD"/>
                </a:solidFill>
                <a:latin typeface="Trebuchet MS"/>
                <a:cs typeface="Trebuchet MS"/>
              </a:rPr>
              <a:t>void</a:t>
            </a:r>
            <a:r>
              <a:rPr sz="1750" b="1" spc="390" dirty="0">
                <a:solidFill>
                  <a:srgbClr val="0056AD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dessiner() {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cout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&lt;&lt; "je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dessine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un Cercle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!\n";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}</a:t>
            </a:r>
            <a:endParaRPr sz="1750">
              <a:latin typeface="SimSun"/>
              <a:cs typeface="SimSun"/>
            </a:endParaRPr>
          </a:p>
          <a:p>
            <a:pPr marL="12700">
              <a:lnSpc>
                <a:spcPts val="2085"/>
              </a:lnSpc>
            </a:pPr>
            <a:r>
              <a:rPr sz="1750" spc="50" dirty="0">
                <a:latin typeface="SimSun"/>
                <a:cs typeface="SimSun"/>
              </a:rPr>
              <a:t>};</a:t>
            </a:r>
            <a:endParaRPr sz="17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50">
              <a:latin typeface="SimSun"/>
              <a:cs typeface="SimSun"/>
            </a:endParaRPr>
          </a:p>
          <a:p>
            <a:pPr marL="330200" marR="3929379" indent="-318135">
              <a:lnSpc>
                <a:spcPts val="2070"/>
              </a:lnSpc>
            </a:pP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class</a:t>
            </a:r>
            <a:r>
              <a:rPr sz="1750" spc="35" dirty="0">
                <a:solidFill>
                  <a:srgbClr val="FF0000"/>
                </a:solidFill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Triangle</a:t>
            </a:r>
            <a:r>
              <a:rPr sz="1750" spc="3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: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public</a:t>
            </a:r>
            <a:r>
              <a:rPr sz="1750" spc="35" dirty="0">
                <a:solidFill>
                  <a:srgbClr val="FF0000"/>
                </a:solidFill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Forme</a:t>
            </a:r>
            <a:r>
              <a:rPr sz="1750" spc="3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{ </a:t>
            </a:r>
            <a:r>
              <a:rPr sz="1750" spc="-860" dirty="0">
                <a:latin typeface="SimSun"/>
                <a:cs typeface="SimSun"/>
              </a:rPr>
              <a:t> </a:t>
            </a: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public</a:t>
            </a:r>
            <a:r>
              <a:rPr sz="1750" spc="50" dirty="0">
                <a:latin typeface="SimSun"/>
                <a:cs typeface="SimSun"/>
              </a:rPr>
              <a:t>:</a:t>
            </a:r>
            <a:endParaRPr sz="1750">
              <a:latin typeface="SimSun"/>
              <a:cs typeface="SimSun"/>
            </a:endParaRPr>
          </a:p>
          <a:p>
            <a:pPr marL="647700">
              <a:lnSpc>
                <a:spcPts val="1995"/>
              </a:lnSpc>
            </a:pPr>
            <a:r>
              <a:rPr sz="1750" spc="50" dirty="0">
                <a:latin typeface="SimSun"/>
                <a:cs typeface="SimSun"/>
              </a:rPr>
              <a:t>Triangle()</a:t>
            </a:r>
            <a:r>
              <a:rPr sz="1750" spc="3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{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cout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&lt;&lt;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"Triangle\n";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}</a:t>
            </a:r>
            <a:endParaRPr sz="1750">
              <a:latin typeface="SimSun"/>
              <a:cs typeface="SimSun"/>
            </a:endParaRPr>
          </a:p>
          <a:p>
            <a:pPr marL="647700">
              <a:lnSpc>
                <a:spcPts val="2070"/>
              </a:lnSpc>
            </a:pPr>
            <a:r>
              <a:rPr sz="1750" b="1" spc="50" dirty="0">
                <a:solidFill>
                  <a:srgbClr val="0056AD"/>
                </a:solidFill>
                <a:latin typeface="Trebuchet MS"/>
                <a:cs typeface="Trebuchet MS"/>
              </a:rPr>
              <a:t>void</a:t>
            </a:r>
            <a:r>
              <a:rPr sz="1750" b="1" spc="390" dirty="0">
                <a:solidFill>
                  <a:srgbClr val="0056AD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dessiner() {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cout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&lt;&lt; "je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dessine un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Triangle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!\n"; }</a:t>
            </a:r>
            <a:endParaRPr sz="1750">
              <a:latin typeface="SimSun"/>
              <a:cs typeface="SimSun"/>
            </a:endParaRPr>
          </a:p>
          <a:p>
            <a:pPr marL="12700">
              <a:lnSpc>
                <a:spcPts val="2085"/>
              </a:lnSpc>
            </a:pPr>
            <a:r>
              <a:rPr sz="1750" spc="50" dirty="0">
                <a:latin typeface="SimSun"/>
                <a:cs typeface="SimSun"/>
              </a:rPr>
              <a:t>};</a:t>
            </a:r>
            <a:endParaRPr sz="1750">
              <a:latin typeface="SimSun"/>
              <a:cs typeface="SimSu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03330" y="7322021"/>
            <a:ext cx="10085705" cy="240029"/>
            <a:chOff x="303330" y="7322021"/>
            <a:chExt cx="10085705" cy="240029"/>
          </a:xfrm>
        </p:grpSpPr>
        <p:sp>
          <p:nvSpPr>
            <p:cNvPr id="19" name="object 19"/>
            <p:cNvSpPr/>
            <p:nvPr/>
          </p:nvSpPr>
          <p:spPr>
            <a:xfrm>
              <a:off x="303330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65059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26788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60" dirty="0"/>
              <a:t>tv </a:t>
            </a:r>
            <a:r>
              <a:rPr spc="140" dirty="0"/>
              <a:t> </a:t>
            </a:r>
            <a:r>
              <a:rPr spc="55" dirty="0"/>
              <a:t>(BTS</a:t>
            </a:r>
            <a:r>
              <a:rPr spc="100" dirty="0"/>
              <a:t> </a:t>
            </a:r>
            <a:r>
              <a:rPr spc="-25" dirty="0"/>
              <a:t>IRIS</a:t>
            </a:r>
            <a:r>
              <a:rPr spc="105" dirty="0"/>
              <a:t> </a:t>
            </a:r>
            <a:r>
              <a:rPr spc="5" dirty="0"/>
              <a:t>Avignon)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-40" dirty="0"/>
              <a:t>Cours</a:t>
            </a:r>
            <a:r>
              <a:rPr spc="60" dirty="0"/>
              <a:t> </a:t>
            </a:r>
            <a:r>
              <a:rPr spc="170" dirty="0"/>
              <a:t>C/C++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7481423" y="7283716"/>
            <a:ext cx="1800860" cy="27051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300" spc="40" dirty="0">
                <a:solidFill>
                  <a:srgbClr val="FFFFFF"/>
                </a:solidFill>
                <a:latin typeface="SimSun"/>
                <a:cs typeface="SimSun"/>
                <a:hlinkClick r:id="rId6"/>
              </a:rPr>
              <a:t>tvaira@free.fr</a:t>
            </a:r>
            <a:r>
              <a:rPr sz="1300" spc="-190" dirty="0">
                <a:solidFill>
                  <a:srgbClr val="FFFFFF"/>
                </a:solidFill>
                <a:latin typeface="SimSun"/>
                <a:cs typeface="SimSun"/>
                <a:hlinkClick r:id="rId6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©</a:t>
            </a:r>
            <a:r>
              <a:rPr sz="130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v0.1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9"/>
              </a:spcBef>
            </a:pPr>
            <a:fld id="{81D60167-4931-47E6-BA6A-407CBD079E47}" type="slidenum">
              <a:rPr spc="-30" dirty="0"/>
              <a:t>22</a:t>
            </a:fld>
            <a:r>
              <a:rPr spc="80" dirty="0"/>
              <a:t> </a:t>
            </a:r>
            <a:r>
              <a:rPr spc="330" dirty="0"/>
              <a:t>/</a:t>
            </a:r>
            <a:r>
              <a:rPr spc="85" dirty="0"/>
              <a:t> </a:t>
            </a:r>
            <a:r>
              <a:rPr spc="-30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3330" y="0"/>
            <a:ext cx="5043170" cy="240029"/>
          </a:xfrm>
          <a:custGeom>
            <a:avLst/>
            <a:gdLst/>
            <a:ahLst/>
            <a:cxnLst/>
            <a:rect l="l" t="t" r="r" b="b"/>
            <a:pathLst>
              <a:path w="5043170" h="240029">
                <a:moveTo>
                  <a:pt x="5042663" y="0"/>
                </a:moveTo>
                <a:lnTo>
                  <a:pt x="0" y="0"/>
                </a:lnTo>
                <a:lnTo>
                  <a:pt x="0" y="239990"/>
                </a:lnTo>
                <a:lnTo>
                  <a:pt x="5042663" y="239990"/>
                </a:lnTo>
                <a:lnTo>
                  <a:pt x="5042663" y="0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71384" y="0"/>
            <a:ext cx="1139825" cy="224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Polymorphisme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45993" y="0"/>
            <a:ext cx="5043170" cy="240029"/>
          </a:xfrm>
          <a:custGeom>
            <a:avLst/>
            <a:gdLst/>
            <a:ahLst/>
            <a:cxnLst/>
            <a:rect l="l" t="t" r="r" b="b"/>
            <a:pathLst>
              <a:path w="5043170" h="240029">
                <a:moveTo>
                  <a:pt x="5042663" y="0"/>
                </a:moveTo>
                <a:lnTo>
                  <a:pt x="0" y="0"/>
                </a:lnTo>
                <a:lnTo>
                  <a:pt x="0" y="239990"/>
                </a:lnTo>
                <a:lnTo>
                  <a:pt x="5042663" y="239990"/>
                </a:lnTo>
                <a:lnTo>
                  <a:pt x="5042663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3425" y="1056472"/>
            <a:ext cx="9705340" cy="438150"/>
          </a:xfrm>
          <a:custGeom>
            <a:avLst/>
            <a:gdLst/>
            <a:ahLst/>
            <a:cxnLst/>
            <a:rect l="l" t="t" r="r" b="b"/>
            <a:pathLst>
              <a:path w="9705340" h="438150">
                <a:moveTo>
                  <a:pt x="9594072" y="0"/>
                </a:moveTo>
                <a:lnTo>
                  <a:pt x="111185" y="0"/>
                </a:lnTo>
                <a:lnTo>
                  <a:pt x="68014" y="8773"/>
                </a:lnTo>
                <a:lnTo>
                  <a:pt x="32660" y="32660"/>
                </a:lnTo>
                <a:lnTo>
                  <a:pt x="8773" y="68013"/>
                </a:lnTo>
                <a:lnTo>
                  <a:pt x="0" y="111184"/>
                </a:lnTo>
                <a:lnTo>
                  <a:pt x="0" y="437911"/>
                </a:lnTo>
                <a:lnTo>
                  <a:pt x="9705258" y="437911"/>
                </a:lnTo>
                <a:lnTo>
                  <a:pt x="9705258" y="111184"/>
                </a:lnTo>
                <a:lnTo>
                  <a:pt x="9696484" y="68013"/>
                </a:lnTo>
                <a:lnTo>
                  <a:pt x="9672596" y="32660"/>
                </a:lnTo>
                <a:lnTo>
                  <a:pt x="9637243" y="8773"/>
                </a:lnTo>
                <a:lnTo>
                  <a:pt x="959407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91910" y="1047244"/>
            <a:ext cx="6120765" cy="389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>
                <a:solidFill>
                  <a:srgbClr val="FFFFFF"/>
                </a:solidFill>
              </a:rPr>
              <a:t>Exemple</a:t>
            </a:r>
            <a:r>
              <a:rPr spc="55" dirty="0">
                <a:solidFill>
                  <a:srgbClr val="FFFFFF"/>
                </a:solidFill>
              </a:rPr>
              <a:t> </a:t>
            </a:r>
            <a:r>
              <a:rPr spc="-170" dirty="0">
                <a:solidFill>
                  <a:srgbClr val="FFFFFF"/>
                </a:solidFill>
              </a:rPr>
              <a:t>:</a:t>
            </a:r>
            <a:r>
              <a:rPr spc="60" dirty="0">
                <a:solidFill>
                  <a:srgbClr val="FFFFFF"/>
                </a:solidFill>
              </a:rPr>
              <a:t> </a:t>
            </a:r>
            <a:r>
              <a:rPr spc="-65" dirty="0">
                <a:solidFill>
                  <a:srgbClr val="FFFFFF"/>
                </a:solidFill>
              </a:rPr>
              <a:t>comportement</a:t>
            </a:r>
            <a:r>
              <a:rPr spc="60" dirty="0">
                <a:solidFill>
                  <a:srgbClr val="FFFFFF"/>
                </a:solidFill>
              </a:rPr>
              <a:t> </a:t>
            </a:r>
            <a:r>
              <a:rPr spc="-85" dirty="0">
                <a:solidFill>
                  <a:srgbClr val="FFFFFF"/>
                </a:solidFill>
              </a:rPr>
              <a:t>non</a:t>
            </a:r>
            <a:r>
              <a:rPr spc="60" dirty="0">
                <a:solidFill>
                  <a:srgbClr val="FFFFFF"/>
                </a:solidFill>
              </a:rPr>
              <a:t> </a:t>
            </a:r>
            <a:r>
              <a:rPr spc="-75" dirty="0">
                <a:solidFill>
                  <a:srgbClr val="FFFFFF"/>
                </a:solidFill>
              </a:rPr>
              <a:t>polymorphe</a:t>
            </a:r>
            <a:r>
              <a:rPr spc="55" dirty="0">
                <a:solidFill>
                  <a:srgbClr val="FFFFFF"/>
                </a:solidFill>
              </a:rPr>
              <a:t> </a:t>
            </a:r>
            <a:r>
              <a:rPr spc="30" dirty="0">
                <a:solidFill>
                  <a:srgbClr val="FFFFFF"/>
                </a:solidFill>
              </a:rPr>
              <a:t>(2/3)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493425" y="1153221"/>
            <a:ext cx="9816465" cy="4953000"/>
            <a:chOff x="493425" y="1153221"/>
            <a:chExt cx="9816465" cy="49530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3426" y="1466686"/>
              <a:ext cx="9705256" cy="11076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4610" y="5883468"/>
              <a:ext cx="222367" cy="22236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5796" y="5855671"/>
              <a:ext cx="9593949" cy="25016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98683" y="1153286"/>
              <a:ext cx="111061" cy="473018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93425" y="1563543"/>
              <a:ext cx="9705340" cy="4431665"/>
            </a:xfrm>
            <a:custGeom>
              <a:avLst/>
              <a:gdLst/>
              <a:ahLst/>
              <a:cxnLst/>
              <a:rect l="l" t="t" r="r" b="b"/>
              <a:pathLst>
                <a:path w="9705340" h="4431665">
                  <a:moveTo>
                    <a:pt x="9705258" y="0"/>
                  </a:moveTo>
                  <a:lnTo>
                    <a:pt x="0" y="0"/>
                  </a:lnTo>
                  <a:lnTo>
                    <a:pt x="0" y="4319924"/>
                  </a:lnTo>
                  <a:lnTo>
                    <a:pt x="8773" y="4363095"/>
                  </a:lnTo>
                  <a:lnTo>
                    <a:pt x="32660" y="4398448"/>
                  </a:lnTo>
                  <a:lnTo>
                    <a:pt x="68014" y="4422336"/>
                  </a:lnTo>
                  <a:lnTo>
                    <a:pt x="111185" y="4431109"/>
                  </a:lnTo>
                  <a:lnTo>
                    <a:pt x="9594072" y="4431109"/>
                  </a:lnTo>
                  <a:lnTo>
                    <a:pt x="9637243" y="4422336"/>
                  </a:lnTo>
                  <a:lnTo>
                    <a:pt x="9672596" y="4398448"/>
                  </a:lnTo>
                  <a:lnTo>
                    <a:pt x="9696484" y="4363095"/>
                  </a:lnTo>
                  <a:lnTo>
                    <a:pt x="9705258" y="4319924"/>
                  </a:lnTo>
                  <a:lnTo>
                    <a:pt x="9705258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198683" y="1236609"/>
              <a:ext cx="0" cy="4688840"/>
            </a:xfrm>
            <a:custGeom>
              <a:avLst/>
              <a:gdLst/>
              <a:ahLst/>
              <a:cxnLst/>
              <a:rect l="l" t="t" r="r" b="b"/>
              <a:pathLst>
                <a:path h="4688840">
                  <a:moveTo>
                    <a:pt x="0" y="468855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198683" y="1208813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40">
                  <a:moveTo>
                    <a:pt x="0" y="277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198683" y="1181017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40">
                  <a:moveTo>
                    <a:pt x="0" y="277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198683" y="1153221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40">
                  <a:moveTo>
                    <a:pt x="0" y="277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91910" y="1735056"/>
            <a:ext cx="5142230" cy="3974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085"/>
              </a:lnSpc>
              <a:spcBef>
                <a:spcPts val="95"/>
              </a:spcBef>
            </a:pPr>
            <a:r>
              <a:rPr sz="1750" b="1" spc="50" dirty="0">
                <a:solidFill>
                  <a:srgbClr val="0056AD"/>
                </a:solidFill>
                <a:latin typeface="Trebuchet MS"/>
                <a:cs typeface="Trebuchet MS"/>
              </a:rPr>
              <a:t>void</a:t>
            </a:r>
            <a:r>
              <a:rPr sz="1750" b="1" spc="370" dirty="0">
                <a:solidFill>
                  <a:srgbClr val="0056AD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faireQuelqueChose(Forme</a:t>
            </a:r>
            <a:r>
              <a:rPr sz="1750" spc="3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&amp;f)</a:t>
            </a:r>
            <a:endParaRPr sz="1750">
              <a:latin typeface="SimSun"/>
              <a:cs typeface="SimSun"/>
            </a:endParaRPr>
          </a:p>
          <a:p>
            <a:pPr marL="12700">
              <a:lnSpc>
                <a:spcPts val="2070"/>
              </a:lnSpc>
            </a:pPr>
            <a:r>
              <a:rPr sz="1750" spc="50" dirty="0">
                <a:latin typeface="SimSun"/>
                <a:cs typeface="SimSun"/>
              </a:rPr>
              <a:t>{</a:t>
            </a:r>
            <a:endParaRPr sz="1750">
              <a:latin typeface="SimSun"/>
              <a:cs typeface="SimSun"/>
            </a:endParaRPr>
          </a:p>
          <a:p>
            <a:pPr marL="224154">
              <a:lnSpc>
                <a:spcPts val="2070"/>
              </a:lnSpc>
            </a:pPr>
            <a:r>
              <a:rPr sz="1750" spc="50" dirty="0">
                <a:latin typeface="SimSun"/>
                <a:cs typeface="SimSun"/>
              </a:rPr>
              <a:t>f.dessiner();</a:t>
            </a:r>
            <a:r>
              <a:rPr sz="1750" spc="35" dirty="0">
                <a:latin typeface="SimSun"/>
                <a:cs typeface="SimSun"/>
              </a:rPr>
              <a:t> </a:t>
            </a:r>
            <a:r>
              <a:rPr sz="1750" b="1" spc="229" dirty="0">
                <a:solidFill>
                  <a:srgbClr val="595959"/>
                </a:solidFill>
                <a:latin typeface="Trebuchet MS"/>
                <a:cs typeface="Trebuchet MS"/>
              </a:rPr>
              <a:t>//</a:t>
            </a:r>
            <a:r>
              <a:rPr sz="1750" b="1" spc="37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45" dirty="0">
                <a:solidFill>
                  <a:srgbClr val="595959"/>
                </a:solidFill>
                <a:latin typeface="Trebuchet MS"/>
                <a:cs typeface="Trebuchet MS"/>
              </a:rPr>
              <a:t>dessine</a:t>
            </a:r>
            <a:r>
              <a:rPr sz="1750" b="1" spc="37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10" dirty="0">
                <a:solidFill>
                  <a:srgbClr val="595959"/>
                </a:solidFill>
                <a:latin typeface="Trebuchet MS"/>
                <a:cs typeface="Trebuchet MS"/>
              </a:rPr>
              <a:t>une</a:t>
            </a:r>
            <a:r>
              <a:rPr sz="1750" b="1" spc="-3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40" dirty="0">
                <a:solidFill>
                  <a:srgbClr val="595959"/>
                </a:solidFill>
                <a:latin typeface="Trebuchet MS"/>
                <a:cs typeface="Trebuchet MS"/>
              </a:rPr>
              <a:t>Forme</a:t>
            </a:r>
            <a:endParaRPr sz="1750">
              <a:latin typeface="Trebuchet MS"/>
              <a:cs typeface="Trebuchet MS"/>
            </a:endParaRPr>
          </a:p>
          <a:p>
            <a:pPr marL="12700">
              <a:lnSpc>
                <a:spcPts val="2085"/>
              </a:lnSpc>
            </a:pPr>
            <a:r>
              <a:rPr sz="1750" spc="50" dirty="0">
                <a:latin typeface="SimSun"/>
                <a:cs typeface="SimSun"/>
              </a:rPr>
              <a:t>}</a:t>
            </a:r>
            <a:endParaRPr sz="1750">
              <a:latin typeface="SimSun"/>
              <a:cs typeface="SimSun"/>
            </a:endParaRPr>
          </a:p>
          <a:p>
            <a:pPr marL="12700">
              <a:lnSpc>
                <a:spcPts val="2085"/>
              </a:lnSpc>
              <a:spcBef>
                <a:spcPts val="2039"/>
              </a:spcBef>
            </a:pPr>
            <a:r>
              <a:rPr sz="1750" b="1" spc="165" dirty="0">
                <a:solidFill>
                  <a:srgbClr val="0056AD"/>
                </a:solidFill>
                <a:latin typeface="Trebuchet MS"/>
                <a:cs typeface="Trebuchet MS"/>
              </a:rPr>
              <a:t>int</a:t>
            </a:r>
            <a:r>
              <a:rPr sz="1750" b="1" spc="340" dirty="0">
                <a:solidFill>
                  <a:srgbClr val="0056AD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main()</a:t>
            </a:r>
            <a:endParaRPr sz="1750">
              <a:latin typeface="SimSun"/>
              <a:cs typeface="SimSun"/>
            </a:endParaRPr>
          </a:p>
          <a:p>
            <a:pPr marL="12700">
              <a:lnSpc>
                <a:spcPts val="2070"/>
              </a:lnSpc>
            </a:pPr>
            <a:r>
              <a:rPr sz="1750" spc="50" dirty="0">
                <a:latin typeface="SimSun"/>
                <a:cs typeface="SimSun"/>
              </a:rPr>
              <a:t>{</a:t>
            </a:r>
            <a:endParaRPr sz="1750">
              <a:latin typeface="SimSun"/>
              <a:cs typeface="SimSun"/>
            </a:endParaRPr>
          </a:p>
          <a:p>
            <a:pPr marL="330200" marR="3509645">
              <a:lnSpc>
                <a:spcPts val="2070"/>
              </a:lnSpc>
              <a:spcBef>
                <a:spcPts val="80"/>
              </a:spcBef>
            </a:pPr>
            <a:r>
              <a:rPr sz="1750" spc="50" dirty="0">
                <a:latin typeface="SimSun"/>
                <a:cs typeface="SimSun"/>
              </a:rPr>
              <a:t>Cercle c; </a:t>
            </a:r>
            <a:r>
              <a:rPr sz="1750" spc="5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Triangle</a:t>
            </a:r>
            <a:r>
              <a:rPr sz="1750" spc="-4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t;</a:t>
            </a:r>
            <a:endParaRPr sz="1750">
              <a:latin typeface="SimSun"/>
              <a:cs typeface="SimSun"/>
            </a:endParaRPr>
          </a:p>
          <a:p>
            <a:pPr marL="330200">
              <a:lnSpc>
                <a:spcPts val="2085"/>
              </a:lnSpc>
              <a:spcBef>
                <a:spcPts val="1980"/>
              </a:spcBef>
            </a:pPr>
            <a:r>
              <a:rPr sz="1750" spc="50" dirty="0">
                <a:latin typeface="SimSun"/>
                <a:cs typeface="SimSun"/>
              </a:rPr>
              <a:t>faireQuelqueChose(c);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b="1" spc="229" dirty="0">
                <a:solidFill>
                  <a:srgbClr val="595959"/>
                </a:solidFill>
                <a:latin typeface="Trebuchet MS"/>
                <a:cs typeface="Trebuchet MS"/>
              </a:rPr>
              <a:t>//</a:t>
            </a:r>
            <a:r>
              <a:rPr sz="1750" b="1" spc="37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25" dirty="0">
                <a:solidFill>
                  <a:srgbClr val="595959"/>
                </a:solidFill>
                <a:latin typeface="Trebuchet MS"/>
                <a:cs typeface="Trebuchet MS"/>
              </a:rPr>
              <a:t>avec</a:t>
            </a:r>
            <a:r>
              <a:rPr sz="1750" b="1" spc="38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20" dirty="0">
                <a:solidFill>
                  <a:srgbClr val="595959"/>
                </a:solidFill>
                <a:latin typeface="Trebuchet MS"/>
                <a:cs typeface="Trebuchet MS"/>
              </a:rPr>
              <a:t>un</a:t>
            </a:r>
            <a:r>
              <a:rPr sz="1750" b="1" spc="-3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70" dirty="0">
                <a:solidFill>
                  <a:srgbClr val="595959"/>
                </a:solidFill>
                <a:latin typeface="Trebuchet MS"/>
                <a:cs typeface="Trebuchet MS"/>
              </a:rPr>
              <a:t>cercle</a:t>
            </a:r>
            <a:endParaRPr sz="1750">
              <a:latin typeface="Trebuchet MS"/>
              <a:cs typeface="Trebuchet MS"/>
            </a:endParaRPr>
          </a:p>
          <a:p>
            <a:pPr marL="330200">
              <a:lnSpc>
                <a:spcPts val="2085"/>
              </a:lnSpc>
            </a:pPr>
            <a:r>
              <a:rPr sz="1750" spc="50" dirty="0">
                <a:latin typeface="SimSun"/>
                <a:cs typeface="SimSun"/>
              </a:rPr>
              <a:t>faireQuelqueChose(t);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b="1" spc="229" dirty="0">
                <a:solidFill>
                  <a:srgbClr val="595959"/>
                </a:solidFill>
                <a:latin typeface="Trebuchet MS"/>
                <a:cs typeface="Trebuchet MS"/>
              </a:rPr>
              <a:t>//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25" dirty="0">
                <a:solidFill>
                  <a:srgbClr val="595959"/>
                </a:solidFill>
                <a:latin typeface="Trebuchet MS"/>
                <a:cs typeface="Trebuchet MS"/>
              </a:rPr>
              <a:t>avec</a:t>
            </a:r>
            <a:r>
              <a:rPr sz="1750" b="1" spc="38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20" dirty="0">
                <a:solidFill>
                  <a:srgbClr val="595959"/>
                </a:solidFill>
                <a:latin typeface="Trebuchet MS"/>
                <a:cs typeface="Trebuchet MS"/>
              </a:rPr>
              <a:t>un</a:t>
            </a:r>
            <a:r>
              <a:rPr sz="1750" b="1" spc="38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20" dirty="0">
                <a:solidFill>
                  <a:srgbClr val="595959"/>
                </a:solidFill>
                <a:latin typeface="Trebuchet MS"/>
                <a:cs typeface="Trebuchet MS"/>
              </a:rPr>
              <a:t>triangle</a:t>
            </a:r>
            <a:endParaRPr sz="1750">
              <a:latin typeface="Trebuchet MS"/>
              <a:cs typeface="Trebuchet MS"/>
            </a:endParaRPr>
          </a:p>
          <a:p>
            <a:pPr marL="330200">
              <a:lnSpc>
                <a:spcPts val="2085"/>
              </a:lnSpc>
              <a:spcBef>
                <a:spcPts val="2045"/>
              </a:spcBef>
            </a:pPr>
            <a:r>
              <a:rPr sz="1750" b="1" spc="35" dirty="0">
                <a:latin typeface="Trebuchet MS"/>
                <a:cs typeface="Trebuchet MS"/>
              </a:rPr>
              <a:t>return</a:t>
            </a:r>
            <a:r>
              <a:rPr sz="1750" b="1" spc="350" dirty="0"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0;</a:t>
            </a:r>
            <a:endParaRPr sz="1750">
              <a:latin typeface="SimSun"/>
              <a:cs typeface="SimSun"/>
            </a:endParaRPr>
          </a:p>
          <a:p>
            <a:pPr marL="12700">
              <a:lnSpc>
                <a:spcPts val="2085"/>
              </a:lnSpc>
            </a:pPr>
            <a:r>
              <a:rPr sz="1750" spc="50" dirty="0">
                <a:latin typeface="SimSun"/>
                <a:cs typeface="SimSun"/>
              </a:rPr>
              <a:t>}</a:t>
            </a:r>
            <a:endParaRPr sz="1750">
              <a:latin typeface="SimSun"/>
              <a:cs typeface="SimSu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03330" y="7322021"/>
            <a:ext cx="10085705" cy="240029"/>
            <a:chOff x="303330" y="7322021"/>
            <a:chExt cx="10085705" cy="240029"/>
          </a:xfrm>
        </p:grpSpPr>
        <p:sp>
          <p:nvSpPr>
            <p:cNvPr id="19" name="object 19"/>
            <p:cNvSpPr/>
            <p:nvPr/>
          </p:nvSpPr>
          <p:spPr>
            <a:xfrm>
              <a:off x="303330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65059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26788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60" dirty="0"/>
              <a:t>tv </a:t>
            </a:r>
            <a:r>
              <a:rPr spc="140" dirty="0"/>
              <a:t> </a:t>
            </a:r>
            <a:r>
              <a:rPr spc="55" dirty="0"/>
              <a:t>(BTS</a:t>
            </a:r>
            <a:r>
              <a:rPr spc="100" dirty="0"/>
              <a:t> </a:t>
            </a:r>
            <a:r>
              <a:rPr spc="-25" dirty="0"/>
              <a:t>IRIS</a:t>
            </a:r>
            <a:r>
              <a:rPr spc="105" dirty="0"/>
              <a:t> </a:t>
            </a:r>
            <a:r>
              <a:rPr spc="5" dirty="0"/>
              <a:t>Avignon)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-40" dirty="0"/>
              <a:t>Cours</a:t>
            </a:r>
            <a:r>
              <a:rPr spc="60" dirty="0"/>
              <a:t> </a:t>
            </a:r>
            <a:r>
              <a:rPr spc="170" dirty="0"/>
              <a:t>C/C++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7481423" y="7283716"/>
            <a:ext cx="1800860" cy="27051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300" spc="40" dirty="0">
                <a:solidFill>
                  <a:srgbClr val="FFFFFF"/>
                </a:solidFill>
                <a:latin typeface="SimSun"/>
                <a:cs typeface="SimSun"/>
                <a:hlinkClick r:id="rId6"/>
              </a:rPr>
              <a:t>tvaira@free.fr</a:t>
            </a:r>
            <a:r>
              <a:rPr sz="1300" spc="-190" dirty="0">
                <a:solidFill>
                  <a:srgbClr val="FFFFFF"/>
                </a:solidFill>
                <a:latin typeface="SimSun"/>
                <a:cs typeface="SimSun"/>
                <a:hlinkClick r:id="rId6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©</a:t>
            </a:r>
            <a:r>
              <a:rPr sz="130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v0.1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9"/>
              </a:spcBef>
            </a:pPr>
            <a:fld id="{81D60167-4931-47E6-BA6A-407CBD079E47}" type="slidenum">
              <a:rPr spc="-30" dirty="0"/>
              <a:t>23</a:t>
            </a:fld>
            <a:r>
              <a:rPr spc="80" dirty="0"/>
              <a:t> </a:t>
            </a:r>
            <a:r>
              <a:rPr spc="330" dirty="0"/>
              <a:t>/</a:t>
            </a:r>
            <a:r>
              <a:rPr spc="85" dirty="0"/>
              <a:t> </a:t>
            </a:r>
            <a:r>
              <a:rPr spc="-30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3330" y="0"/>
            <a:ext cx="5043170" cy="240029"/>
          </a:xfrm>
          <a:custGeom>
            <a:avLst/>
            <a:gdLst/>
            <a:ahLst/>
            <a:cxnLst/>
            <a:rect l="l" t="t" r="r" b="b"/>
            <a:pathLst>
              <a:path w="5043170" h="240029">
                <a:moveTo>
                  <a:pt x="5042663" y="0"/>
                </a:moveTo>
                <a:lnTo>
                  <a:pt x="0" y="0"/>
                </a:lnTo>
                <a:lnTo>
                  <a:pt x="0" y="239990"/>
                </a:lnTo>
                <a:lnTo>
                  <a:pt x="5042663" y="239990"/>
                </a:lnTo>
                <a:lnTo>
                  <a:pt x="5042663" y="0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71384" y="0"/>
            <a:ext cx="1139825" cy="224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Polymorphisme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45993" y="0"/>
            <a:ext cx="5043170" cy="240029"/>
          </a:xfrm>
          <a:custGeom>
            <a:avLst/>
            <a:gdLst/>
            <a:ahLst/>
            <a:cxnLst/>
            <a:rect l="l" t="t" r="r" b="b"/>
            <a:pathLst>
              <a:path w="5043170" h="240029">
                <a:moveTo>
                  <a:pt x="5042663" y="0"/>
                </a:moveTo>
                <a:lnTo>
                  <a:pt x="0" y="0"/>
                </a:lnTo>
                <a:lnTo>
                  <a:pt x="0" y="239990"/>
                </a:lnTo>
                <a:lnTo>
                  <a:pt x="5042663" y="239990"/>
                </a:lnTo>
                <a:lnTo>
                  <a:pt x="5042663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05447" y="1761407"/>
            <a:ext cx="9481185" cy="114300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-3810" algn="ctr">
              <a:lnSpc>
                <a:spcPts val="2970"/>
              </a:lnSpc>
              <a:spcBef>
                <a:spcPts val="85"/>
              </a:spcBef>
            </a:pPr>
            <a:r>
              <a:rPr spc="-30" dirty="0"/>
              <a:t>L’exécution</a:t>
            </a:r>
            <a:r>
              <a:rPr spc="65" dirty="0"/>
              <a:t> </a:t>
            </a:r>
            <a:r>
              <a:rPr spc="-75" dirty="0"/>
              <a:t>du</a:t>
            </a:r>
            <a:r>
              <a:rPr spc="65" dirty="0"/>
              <a:t> </a:t>
            </a:r>
            <a:r>
              <a:rPr spc="-95" dirty="0"/>
              <a:t>programme</a:t>
            </a:r>
            <a:r>
              <a:rPr spc="65" dirty="0"/>
              <a:t> </a:t>
            </a:r>
            <a:r>
              <a:rPr spc="-65" dirty="0"/>
              <a:t>d’essai</a:t>
            </a:r>
            <a:r>
              <a:rPr spc="65" dirty="0"/>
              <a:t> </a:t>
            </a:r>
            <a:r>
              <a:rPr spc="-100" dirty="0"/>
              <a:t>nous</a:t>
            </a:r>
            <a:r>
              <a:rPr spc="65" dirty="0"/>
              <a:t> </a:t>
            </a:r>
            <a:r>
              <a:rPr spc="-65" dirty="0"/>
              <a:t>montre</a:t>
            </a:r>
            <a:r>
              <a:rPr spc="65" dirty="0"/>
              <a:t> </a:t>
            </a:r>
            <a:r>
              <a:rPr spc="-110" dirty="0"/>
              <a:t>que</a:t>
            </a:r>
            <a:r>
              <a:rPr spc="65" dirty="0"/>
              <a:t> </a:t>
            </a:r>
            <a:r>
              <a:rPr spc="-100" dirty="0"/>
              <a:t>nous</a:t>
            </a:r>
            <a:r>
              <a:rPr spc="65" dirty="0"/>
              <a:t> </a:t>
            </a:r>
            <a:r>
              <a:rPr spc="-60" dirty="0"/>
              <a:t>n’obtenons</a:t>
            </a:r>
            <a:r>
              <a:rPr spc="65" dirty="0"/>
              <a:t> </a:t>
            </a:r>
            <a:r>
              <a:rPr spc="-100" dirty="0"/>
              <a:t>pas </a:t>
            </a:r>
            <a:r>
              <a:rPr spc="-95" dirty="0"/>
              <a:t> </a:t>
            </a:r>
            <a:r>
              <a:rPr spc="-80" dirty="0"/>
              <a:t>un</a:t>
            </a:r>
            <a:r>
              <a:rPr spc="60" dirty="0"/>
              <a:t> </a:t>
            </a:r>
            <a:r>
              <a:rPr spc="-65" dirty="0"/>
              <a:t>comportement</a:t>
            </a:r>
            <a:r>
              <a:rPr spc="65" dirty="0"/>
              <a:t> </a:t>
            </a:r>
            <a:r>
              <a:rPr spc="-75" dirty="0"/>
              <a:t>polymorphe</a:t>
            </a:r>
            <a:r>
              <a:rPr spc="65" dirty="0"/>
              <a:t> </a:t>
            </a:r>
            <a:r>
              <a:rPr spc="-85" dirty="0"/>
              <a:t>puisque</a:t>
            </a:r>
            <a:r>
              <a:rPr spc="65" dirty="0"/>
              <a:t> </a:t>
            </a:r>
            <a:r>
              <a:rPr spc="-20" dirty="0"/>
              <a:t>c’est</a:t>
            </a:r>
            <a:r>
              <a:rPr spc="65" dirty="0"/>
              <a:t> </a:t>
            </a:r>
            <a:r>
              <a:rPr spc="-30" dirty="0"/>
              <a:t>la</a:t>
            </a:r>
            <a:r>
              <a:rPr spc="65" dirty="0"/>
              <a:t> </a:t>
            </a:r>
            <a:r>
              <a:rPr spc="-75" dirty="0"/>
              <a:t>méthode</a:t>
            </a:r>
            <a:r>
              <a:rPr spc="65" dirty="0"/>
              <a:t> </a:t>
            </a:r>
            <a:r>
              <a:rPr spc="75" dirty="0">
                <a:latin typeface="SimSun"/>
                <a:cs typeface="SimSun"/>
              </a:rPr>
              <a:t>dessiner()</a:t>
            </a:r>
            <a:r>
              <a:rPr spc="-375" dirty="0">
                <a:latin typeface="SimSun"/>
                <a:cs typeface="SimSun"/>
              </a:rPr>
              <a:t> </a:t>
            </a:r>
            <a:r>
              <a:rPr spc="-125" dirty="0"/>
              <a:t>de</a:t>
            </a:r>
            <a:r>
              <a:rPr spc="65" dirty="0"/>
              <a:t> </a:t>
            </a:r>
            <a:r>
              <a:rPr spc="-35" dirty="0"/>
              <a:t>la </a:t>
            </a:r>
            <a:r>
              <a:rPr spc="-720" dirty="0"/>
              <a:t> </a:t>
            </a:r>
            <a:r>
              <a:rPr spc="-90" dirty="0"/>
              <a:t>classe</a:t>
            </a:r>
            <a:r>
              <a:rPr spc="55" dirty="0"/>
              <a:t> </a:t>
            </a:r>
            <a:r>
              <a:rPr spc="75" dirty="0">
                <a:latin typeface="SimSun"/>
                <a:cs typeface="SimSun"/>
              </a:rPr>
              <a:t>Forme</a:t>
            </a:r>
            <a:r>
              <a:rPr spc="-380" dirty="0">
                <a:latin typeface="SimSun"/>
                <a:cs typeface="SimSun"/>
              </a:rPr>
              <a:t> </a:t>
            </a:r>
            <a:r>
              <a:rPr spc="-50" dirty="0"/>
              <a:t>qu</a:t>
            </a:r>
            <a:r>
              <a:rPr spc="-20" dirty="0"/>
              <a:t>i</a:t>
            </a:r>
            <a:r>
              <a:rPr spc="60" dirty="0"/>
              <a:t> </a:t>
            </a:r>
            <a:r>
              <a:rPr spc="-80" dirty="0"/>
              <a:t>est</a:t>
            </a:r>
            <a:r>
              <a:rPr spc="60" dirty="0"/>
              <a:t> </a:t>
            </a:r>
            <a:r>
              <a:rPr spc="-80" dirty="0"/>
              <a:t>ap</a:t>
            </a:r>
            <a:r>
              <a:rPr spc="-15" dirty="0"/>
              <a:t>p</a:t>
            </a:r>
            <a:r>
              <a:rPr spc="-125" dirty="0"/>
              <a:t>elée</a:t>
            </a:r>
            <a:r>
              <a:rPr spc="60" dirty="0"/>
              <a:t> </a:t>
            </a:r>
            <a:r>
              <a:rPr spc="-170" dirty="0"/>
              <a:t>: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93425" y="3111151"/>
            <a:ext cx="9816465" cy="2155825"/>
            <a:chOff x="493425" y="3111151"/>
            <a:chExt cx="9816465" cy="2155825"/>
          </a:xfrm>
        </p:grpSpPr>
        <p:sp>
          <p:nvSpPr>
            <p:cNvPr id="7" name="object 7"/>
            <p:cNvSpPr/>
            <p:nvPr/>
          </p:nvSpPr>
          <p:spPr>
            <a:xfrm>
              <a:off x="493425" y="3111151"/>
              <a:ext cx="9705340" cy="438150"/>
            </a:xfrm>
            <a:custGeom>
              <a:avLst/>
              <a:gdLst/>
              <a:ahLst/>
              <a:cxnLst/>
              <a:rect l="l" t="t" r="r" b="b"/>
              <a:pathLst>
                <a:path w="9705340" h="438150">
                  <a:moveTo>
                    <a:pt x="9594072" y="0"/>
                  </a:moveTo>
                  <a:lnTo>
                    <a:pt x="111185" y="0"/>
                  </a:lnTo>
                  <a:lnTo>
                    <a:pt x="68014" y="8773"/>
                  </a:lnTo>
                  <a:lnTo>
                    <a:pt x="32660" y="32660"/>
                  </a:lnTo>
                  <a:lnTo>
                    <a:pt x="8773" y="68013"/>
                  </a:lnTo>
                  <a:lnTo>
                    <a:pt x="0" y="111184"/>
                  </a:lnTo>
                  <a:lnTo>
                    <a:pt x="0" y="437911"/>
                  </a:lnTo>
                  <a:lnTo>
                    <a:pt x="9705258" y="437911"/>
                  </a:lnTo>
                  <a:lnTo>
                    <a:pt x="9705258" y="111184"/>
                  </a:lnTo>
                  <a:lnTo>
                    <a:pt x="9696484" y="68013"/>
                  </a:lnTo>
                  <a:lnTo>
                    <a:pt x="9672596" y="32660"/>
                  </a:lnTo>
                  <a:lnTo>
                    <a:pt x="9637243" y="8773"/>
                  </a:lnTo>
                  <a:lnTo>
                    <a:pt x="9594072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3426" y="3521365"/>
              <a:ext cx="9705256" cy="11076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4610" y="5044335"/>
              <a:ext cx="222367" cy="22236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5796" y="5016538"/>
              <a:ext cx="9593949" cy="25016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98683" y="3207965"/>
              <a:ext cx="111061" cy="183636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93425" y="3618275"/>
              <a:ext cx="9705340" cy="1537335"/>
            </a:xfrm>
            <a:custGeom>
              <a:avLst/>
              <a:gdLst/>
              <a:ahLst/>
              <a:cxnLst/>
              <a:rect l="l" t="t" r="r" b="b"/>
              <a:pathLst>
                <a:path w="9705340" h="1537335">
                  <a:moveTo>
                    <a:pt x="9705258" y="0"/>
                  </a:moveTo>
                  <a:lnTo>
                    <a:pt x="0" y="0"/>
                  </a:lnTo>
                  <a:lnTo>
                    <a:pt x="0" y="1426059"/>
                  </a:lnTo>
                  <a:lnTo>
                    <a:pt x="8773" y="1469230"/>
                  </a:lnTo>
                  <a:lnTo>
                    <a:pt x="32660" y="1504583"/>
                  </a:lnTo>
                  <a:lnTo>
                    <a:pt x="68014" y="1528470"/>
                  </a:lnTo>
                  <a:lnTo>
                    <a:pt x="111185" y="1537244"/>
                  </a:lnTo>
                  <a:lnTo>
                    <a:pt x="9594072" y="1537244"/>
                  </a:lnTo>
                  <a:lnTo>
                    <a:pt x="9637243" y="1528470"/>
                  </a:lnTo>
                  <a:lnTo>
                    <a:pt x="9672596" y="1504583"/>
                  </a:lnTo>
                  <a:lnTo>
                    <a:pt x="9696484" y="1469230"/>
                  </a:lnTo>
                  <a:lnTo>
                    <a:pt x="9705258" y="1426059"/>
                  </a:lnTo>
                  <a:lnTo>
                    <a:pt x="9705258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198683" y="3291341"/>
              <a:ext cx="0" cy="1795145"/>
            </a:xfrm>
            <a:custGeom>
              <a:avLst/>
              <a:gdLst/>
              <a:ahLst/>
              <a:cxnLst/>
              <a:rect l="l" t="t" r="r" b="b"/>
              <a:pathLst>
                <a:path h="1795145">
                  <a:moveTo>
                    <a:pt x="0" y="179468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198683" y="3263545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39">
                  <a:moveTo>
                    <a:pt x="0" y="277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198683" y="3235749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39">
                  <a:moveTo>
                    <a:pt x="0" y="277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198683" y="3207953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39">
                  <a:moveTo>
                    <a:pt x="0" y="277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91910" y="3101951"/>
            <a:ext cx="6120765" cy="1768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50" spc="-60" dirty="0">
                <a:solidFill>
                  <a:srgbClr val="FFFFFF"/>
                </a:solidFill>
                <a:latin typeface="Tahoma"/>
                <a:cs typeface="Tahoma"/>
              </a:rPr>
              <a:t>Exemple</a:t>
            </a:r>
            <a:r>
              <a:rPr sz="235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50" spc="-170" dirty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sz="2350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50" spc="-65" dirty="0">
                <a:solidFill>
                  <a:srgbClr val="FFFFFF"/>
                </a:solidFill>
                <a:latin typeface="Tahoma"/>
                <a:cs typeface="Tahoma"/>
              </a:rPr>
              <a:t>comportement</a:t>
            </a:r>
            <a:r>
              <a:rPr sz="2350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50" spc="-85" dirty="0">
                <a:solidFill>
                  <a:srgbClr val="FFFFFF"/>
                </a:solidFill>
                <a:latin typeface="Tahoma"/>
                <a:cs typeface="Tahoma"/>
              </a:rPr>
              <a:t>non</a:t>
            </a:r>
            <a:r>
              <a:rPr sz="2350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50" spc="-75" dirty="0">
                <a:solidFill>
                  <a:srgbClr val="FFFFFF"/>
                </a:solidFill>
                <a:latin typeface="Tahoma"/>
                <a:cs typeface="Tahoma"/>
              </a:rPr>
              <a:t>polymorphe</a:t>
            </a:r>
            <a:r>
              <a:rPr sz="235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50" spc="30" dirty="0">
                <a:solidFill>
                  <a:srgbClr val="FFFFFF"/>
                </a:solidFill>
                <a:latin typeface="Tahoma"/>
                <a:cs typeface="Tahoma"/>
              </a:rPr>
              <a:t>(3/3)</a:t>
            </a:r>
            <a:endParaRPr sz="2350">
              <a:latin typeface="Tahoma"/>
              <a:cs typeface="Tahoma"/>
            </a:endParaRPr>
          </a:p>
          <a:p>
            <a:pPr marL="12700" marR="2452370">
              <a:lnSpc>
                <a:spcPts val="2070"/>
              </a:lnSpc>
              <a:spcBef>
                <a:spcPts val="2650"/>
              </a:spcBef>
            </a:pPr>
            <a:r>
              <a:rPr sz="1750" spc="50" dirty="0">
                <a:latin typeface="SimSun"/>
                <a:cs typeface="SimSun"/>
              </a:rPr>
              <a:t>constructeur Forme &lt;|- Cercle </a:t>
            </a:r>
            <a:r>
              <a:rPr sz="1750" spc="5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constructeur</a:t>
            </a:r>
            <a:r>
              <a:rPr sz="1750" spc="2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Forme</a:t>
            </a:r>
            <a:r>
              <a:rPr sz="1750" spc="2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&lt;|-</a:t>
            </a:r>
            <a:r>
              <a:rPr sz="1750" spc="2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Triangle </a:t>
            </a:r>
            <a:r>
              <a:rPr sz="1750" spc="-86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je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dessine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...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une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forme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?</a:t>
            </a:r>
            <a:endParaRPr sz="1750">
              <a:latin typeface="SimSun"/>
              <a:cs typeface="SimSun"/>
            </a:endParaRPr>
          </a:p>
          <a:p>
            <a:pPr marL="12700">
              <a:lnSpc>
                <a:spcPts val="2010"/>
              </a:lnSpc>
            </a:pPr>
            <a:r>
              <a:rPr sz="1750" spc="50" dirty="0">
                <a:latin typeface="SimSun"/>
                <a:cs typeface="SimSun"/>
              </a:rPr>
              <a:t>je</a:t>
            </a:r>
            <a:r>
              <a:rPr sz="1750" spc="3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dessine</a:t>
            </a:r>
            <a:r>
              <a:rPr sz="1750" spc="3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...</a:t>
            </a:r>
            <a:r>
              <a:rPr sz="1750" spc="3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une</a:t>
            </a:r>
            <a:r>
              <a:rPr sz="1750" spc="3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forme</a:t>
            </a:r>
            <a:r>
              <a:rPr sz="1750" spc="3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?</a:t>
            </a:r>
            <a:endParaRPr sz="1750">
              <a:latin typeface="SimSun"/>
              <a:cs typeface="SimSu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03330" y="7322021"/>
            <a:ext cx="10085705" cy="240029"/>
            <a:chOff x="303330" y="7322021"/>
            <a:chExt cx="10085705" cy="240029"/>
          </a:xfrm>
        </p:grpSpPr>
        <p:sp>
          <p:nvSpPr>
            <p:cNvPr id="19" name="object 19"/>
            <p:cNvSpPr/>
            <p:nvPr/>
          </p:nvSpPr>
          <p:spPr>
            <a:xfrm>
              <a:off x="303330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65059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26788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60" dirty="0"/>
              <a:t>tv </a:t>
            </a:r>
            <a:r>
              <a:rPr spc="140" dirty="0"/>
              <a:t> </a:t>
            </a:r>
            <a:r>
              <a:rPr spc="55" dirty="0"/>
              <a:t>(BTS</a:t>
            </a:r>
            <a:r>
              <a:rPr spc="100" dirty="0"/>
              <a:t> </a:t>
            </a:r>
            <a:r>
              <a:rPr spc="-25" dirty="0"/>
              <a:t>IRIS</a:t>
            </a:r>
            <a:r>
              <a:rPr spc="105" dirty="0"/>
              <a:t> </a:t>
            </a:r>
            <a:r>
              <a:rPr spc="5" dirty="0"/>
              <a:t>Avignon)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-40" dirty="0"/>
              <a:t>Cours</a:t>
            </a:r>
            <a:r>
              <a:rPr spc="60" dirty="0"/>
              <a:t> </a:t>
            </a:r>
            <a:r>
              <a:rPr spc="170" dirty="0"/>
              <a:t>C/C++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7481423" y="7283716"/>
            <a:ext cx="1800860" cy="27051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300" spc="40" dirty="0">
                <a:solidFill>
                  <a:srgbClr val="FFFFFF"/>
                </a:solidFill>
                <a:latin typeface="SimSun"/>
                <a:cs typeface="SimSun"/>
                <a:hlinkClick r:id="rId6"/>
              </a:rPr>
              <a:t>tvaira@free.fr</a:t>
            </a:r>
            <a:r>
              <a:rPr sz="1300" spc="-190" dirty="0">
                <a:solidFill>
                  <a:srgbClr val="FFFFFF"/>
                </a:solidFill>
                <a:latin typeface="SimSun"/>
                <a:cs typeface="SimSun"/>
                <a:hlinkClick r:id="rId6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©</a:t>
            </a:r>
            <a:r>
              <a:rPr sz="130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v0.1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9"/>
              </a:spcBef>
            </a:pPr>
            <a:fld id="{81D60167-4931-47E6-BA6A-407CBD079E47}" type="slidenum">
              <a:rPr spc="-30" dirty="0"/>
              <a:t>24</a:t>
            </a:fld>
            <a:r>
              <a:rPr spc="80" dirty="0"/>
              <a:t> </a:t>
            </a:r>
            <a:r>
              <a:rPr spc="330" dirty="0"/>
              <a:t>/</a:t>
            </a:r>
            <a:r>
              <a:rPr spc="85" dirty="0"/>
              <a:t> </a:t>
            </a:r>
            <a:r>
              <a:rPr spc="-30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3330" y="0"/>
            <a:ext cx="5043170" cy="240029"/>
          </a:xfrm>
          <a:custGeom>
            <a:avLst/>
            <a:gdLst/>
            <a:ahLst/>
            <a:cxnLst/>
            <a:rect l="l" t="t" r="r" b="b"/>
            <a:pathLst>
              <a:path w="5043170" h="240029">
                <a:moveTo>
                  <a:pt x="5042663" y="0"/>
                </a:moveTo>
                <a:lnTo>
                  <a:pt x="0" y="0"/>
                </a:lnTo>
                <a:lnTo>
                  <a:pt x="0" y="239990"/>
                </a:lnTo>
                <a:lnTo>
                  <a:pt x="5042663" y="239990"/>
                </a:lnTo>
                <a:lnTo>
                  <a:pt x="5042663" y="0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71384" y="0"/>
            <a:ext cx="1139825" cy="224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Polymorphisme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45993" y="0"/>
            <a:ext cx="5043170" cy="240029"/>
          </a:xfrm>
          <a:custGeom>
            <a:avLst/>
            <a:gdLst/>
            <a:ahLst/>
            <a:cxnLst/>
            <a:rect l="l" t="t" r="r" b="b"/>
            <a:pathLst>
              <a:path w="5043170" h="240029">
                <a:moveTo>
                  <a:pt x="5042663" y="0"/>
                </a:moveTo>
                <a:lnTo>
                  <a:pt x="0" y="0"/>
                </a:lnTo>
                <a:lnTo>
                  <a:pt x="0" y="239990"/>
                </a:lnTo>
                <a:lnTo>
                  <a:pt x="5042663" y="239990"/>
                </a:lnTo>
                <a:lnTo>
                  <a:pt x="5042663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3425" y="570404"/>
            <a:ext cx="9705340" cy="438150"/>
          </a:xfrm>
          <a:custGeom>
            <a:avLst/>
            <a:gdLst/>
            <a:ahLst/>
            <a:cxnLst/>
            <a:rect l="l" t="t" r="r" b="b"/>
            <a:pathLst>
              <a:path w="9705340" h="438150">
                <a:moveTo>
                  <a:pt x="9594072" y="0"/>
                </a:moveTo>
                <a:lnTo>
                  <a:pt x="111185" y="0"/>
                </a:lnTo>
                <a:lnTo>
                  <a:pt x="68014" y="8773"/>
                </a:lnTo>
                <a:lnTo>
                  <a:pt x="32660" y="32660"/>
                </a:lnTo>
                <a:lnTo>
                  <a:pt x="8773" y="68013"/>
                </a:lnTo>
                <a:lnTo>
                  <a:pt x="0" y="111184"/>
                </a:lnTo>
                <a:lnTo>
                  <a:pt x="0" y="437911"/>
                </a:lnTo>
                <a:lnTo>
                  <a:pt x="9705258" y="437911"/>
                </a:lnTo>
                <a:lnTo>
                  <a:pt x="9705258" y="111184"/>
                </a:lnTo>
                <a:lnTo>
                  <a:pt x="9696484" y="68013"/>
                </a:lnTo>
                <a:lnTo>
                  <a:pt x="9672596" y="32660"/>
                </a:lnTo>
                <a:lnTo>
                  <a:pt x="9637243" y="8773"/>
                </a:lnTo>
                <a:lnTo>
                  <a:pt x="959407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91910" y="561176"/>
            <a:ext cx="5554980" cy="389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>
                <a:solidFill>
                  <a:srgbClr val="FFFFFF"/>
                </a:solidFill>
              </a:rPr>
              <a:t>Exemple</a:t>
            </a:r>
            <a:r>
              <a:rPr spc="55" dirty="0">
                <a:solidFill>
                  <a:srgbClr val="FFFFFF"/>
                </a:solidFill>
              </a:rPr>
              <a:t> </a:t>
            </a:r>
            <a:r>
              <a:rPr spc="-170" dirty="0">
                <a:solidFill>
                  <a:srgbClr val="FFFFFF"/>
                </a:solidFill>
              </a:rPr>
              <a:t>:</a:t>
            </a:r>
            <a:r>
              <a:rPr spc="55" dirty="0">
                <a:solidFill>
                  <a:srgbClr val="FFFFFF"/>
                </a:solidFill>
              </a:rPr>
              <a:t> </a:t>
            </a:r>
            <a:r>
              <a:rPr spc="-65" dirty="0">
                <a:solidFill>
                  <a:srgbClr val="FFFFFF"/>
                </a:solidFill>
              </a:rPr>
              <a:t>comportement</a:t>
            </a:r>
            <a:r>
              <a:rPr spc="55" dirty="0">
                <a:solidFill>
                  <a:srgbClr val="FFFFFF"/>
                </a:solidFill>
              </a:rPr>
              <a:t> </a:t>
            </a:r>
            <a:r>
              <a:rPr spc="-75" dirty="0">
                <a:solidFill>
                  <a:srgbClr val="FFFFFF"/>
                </a:solidFill>
              </a:rPr>
              <a:t>polymorphe</a:t>
            </a:r>
            <a:r>
              <a:rPr spc="55" dirty="0">
                <a:solidFill>
                  <a:srgbClr val="FFFFFF"/>
                </a:solidFill>
              </a:rPr>
              <a:t> </a:t>
            </a:r>
            <a:r>
              <a:rPr spc="30" dirty="0">
                <a:solidFill>
                  <a:srgbClr val="FFFFFF"/>
                </a:solidFill>
              </a:rPr>
              <a:t>(1/3)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493425" y="667131"/>
            <a:ext cx="9816465" cy="6531609"/>
            <a:chOff x="493425" y="667131"/>
            <a:chExt cx="9816465" cy="6531609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3426" y="980617"/>
              <a:ext cx="9705256" cy="11076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4610" y="6975849"/>
              <a:ext cx="222367" cy="22236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5796" y="6948053"/>
              <a:ext cx="9593949" cy="25016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98683" y="667218"/>
              <a:ext cx="111061" cy="630863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93425" y="1077453"/>
              <a:ext cx="9705340" cy="6009640"/>
            </a:xfrm>
            <a:custGeom>
              <a:avLst/>
              <a:gdLst/>
              <a:ahLst/>
              <a:cxnLst/>
              <a:rect l="l" t="t" r="r" b="b"/>
              <a:pathLst>
                <a:path w="9705340" h="6009640">
                  <a:moveTo>
                    <a:pt x="9705258" y="0"/>
                  </a:moveTo>
                  <a:lnTo>
                    <a:pt x="0" y="0"/>
                  </a:lnTo>
                  <a:lnTo>
                    <a:pt x="0" y="5898396"/>
                  </a:lnTo>
                  <a:lnTo>
                    <a:pt x="8773" y="5941567"/>
                  </a:lnTo>
                  <a:lnTo>
                    <a:pt x="32660" y="5976920"/>
                  </a:lnTo>
                  <a:lnTo>
                    <a:pt x="68014" y="6000808"/>
                  </a:lnTo>
                  <a:lnTo>
                    <a:pt x="111185" y="6009581"/>
                  </a:lnTo>
                  <a:lnTo>
                    <a:pt x="9594072" y="6009581"/>
                  </a:lnTo>
                  <a:lnTo>
                    <a:pt x="9637243" y="6000808"/>
                  </a:lnTo>
                  <a:lnTo>
                    <a:pt x="9672596" y="5976920"/>
                  </a:lnTo>
                  <a:lnTo>
                    <a:pt x="9696484" y="5941567"/>
                  </a:lnTo>
                  <a:lnTo>
                    <a:pt x="9705258" y="5898396"/>
                  </a:lnTo>
                  <a:lnTo>
                    <a:pt x="9705258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198683" y="750519"/>
              <a:ext cx="0" cy="6267450"/>
            </a:xfrm>
            <a:custGeom>
              <a:avLst/>
              <a:gdLst/>
              <a:ahLst/>
              <a:cxnLst/>
              <a:rect l="l" t="t" r="r" b="b"/>
              <a:pathLst>
                <a:path h="6267450">
                  <a:moveTo>
                    <a:pt x="0" y="626702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198683" y="722723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40">
                  <a:moveTo>
                    <a:pt x="0" y="277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198683" y="694927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40">
                  <a:moveTo>
                    <a:pt x="0" y="277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198683" y="667131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40">
                  <a:moveTo>
                    <a:pt x="0" y="277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91910" y="1248988"/>
            <a:ext cx="9500870" cy="555307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7145020">
              <a:lnSpc>
                <a:spcPts val="2070"/>
              </a:lnSpc>
              <a:spcBef>
                <a:spcPts val="185"/>
              </a:spcBef>
            </a:pPr>
            <a:r>
              <a:rPr sz="1750" b="1" spc="30" dirty="0">
                <a:solidFill>
                  <a:srgbClr val="006D26"/>
                </a:solidFill>
                <a:latin typeface="Trebuchet MS"/>
                <a:cs typeface="Trebuchet MS"/>
              </a:rPr>
              <a:t>#include</a:t>
            </a:r>
            <a:r>
              <a:rPr sz="1750" b="1" spc="35" dirty="0">
                <a:solidFill>
                  <a:srgbClr val="006D26"/>
                </a:solidFill>
                <a:latin typeface="Trebuchet MS"/>
                <a:cs typeface="Trebuchet MS"/>
              </a:rPr>
              <a:t> </a:t>
            </a:r>
            <a:r>
              <a:rPr sz="1750" b="1" spc="-5" dirty="0">
                <a:solidFill>
                  <a:srgbClr val="006D26"/>
                </a:solidFill>
                <a:latin typeface="Trebuchet MS"/>
                <a:cs typeface="Trebuchet MS"/>
              </a:rPr>
              <a:t>&lt;iostream&gt; </a:t>
            </a:r>
            <a:r>
              <a:rPr sz="1750" b="1" dirty="0">
                <a:solidFill>
                  <a:srgbClr val="006D26"/>
                </a:solidFill>
                <a:latin typeface="Trebuchet MS"/>
                <a:cs typeface="Trebuchet MS"/>
              </a:rPr>
              <a:t> </a:t>
            </a:r>
            <a:r>
              <a:rPr sz="1750" b="1" spc="70" dirty="0">
                <a:latin typeface="Trebuchet MS"/>
                <a:cs typeface="Trebuchet MS"/>
              </a:rPr>
              <a:t>using</a:t>
            </a:r>
            <a:r>
              <a:rPr sz="1750" b="1" spc="360" dirty="0">
                <a:latin typeface="Trebuchet MS"/>
                <a:cs typeface="Trebuchet MS"/>
              </a:rPr>
              <a:t> </a:t>
            </a:r>
            <a:r>
              <a:rPr sz="1750" b="1" spc="-95" dirty="0">
                <a:latin typeface="Trebuchet MS"/>
                <a:cs typeface="Trebuchet MS"/>
              </a:rPr>
              <a:t>namespace</a:t>
            </a:r>
            <a:r>
              <a:rPr sz="1750" b="1" spc="-65" dirty="0"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std;</a:t>
            </a:r>
            <a:endParaRPr sz="17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00">
              <a:latin typeface="SimSun"/>
              <a:cs typeface="SimSun"/>
            </a:endParaRPr>
          </a:p>
          <a:p>
            <a:pPr marL="330200" marR="7950200" indent="-318135">
              <a:lnSpc>
                <a:spcPts val="2070"/>
              </a:lnSpc>
            </a:pP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class</a:t>
            </a:r>
            <a:r>
              <a:rPr sz="1750" spc="5" dirty="0">
                <a:solidFill>
                  <a:srgbClr val="FF0000"/>
                </a:solidFill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Forme</a:t>
            </a:r>
            <a:r>
              <a:rPr sz="1750" spc="1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{ </a:t>
            </a:r>
            <a:r>
              <a:rPr sz="1750" spc="-860" dirty="0">
                <a:latin typeface="SimSun"/>
                <a:cs typeface="SimSun"/>
              </a:rPr>
              <a:t> </a:t>
            </a: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public</a:t>
            </a:r>
            <a:r>
              <a:rPr sz="1750" spc="50" dirty="0">
                <a:latin typeface="SimSun"/>
                <a:cs typeface="SimSun"/>
              </a:rPr>
              <a:t>:</a:t>
            </a:r>
            <a:endParaRPr sz="1750">
              <a:latin typeface="SimSun"/>
              <a:cs typeface="SimSun"/>
            </a:endParaRPr>
          </a:p>
          <a:p>
            <a:pPr marL="647700">
              <a:lnSpc>
                <a:spcPts val="1995"/>
              </a:lnSpc>
            </a:pPr>
            <a:r>
              <a:rPr sz="1750" spc="50" dirty="0">
                <a:latin typeface="SimSun"/>
                <a:cs typeface="SimSun"/>
              </a:rPr>
              <a:t>Forme()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{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cout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&lt;&lt;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"constructeur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Forme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&lt;-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";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}</a:t>
            </a:r>
            <a:endParaRPr sz="1750">
              <a:latin typeface="SimSun"/>
              <a:cs typeface="SimSun"/>
            </a:endParaRPr>
          </a:p>
          <a:p>
            <a:pPr marL="647700">
              <a:lnSpc>
                <a:spcPts val="2070"/>
              </a:lnSpc>
            </a:pPr>
            <a:r>
              <a:rPr sz="1750" b="1" spc="229" dirty="0">
                <a:solidFill>
                  <a:srgbClr val="595959"/>
                </a:solidFill>
                <a:latin typeface="Trebuchet MS"/>
                <a:cs typeface="Trebuchet MS"/>
              </a:rPr>
              <a:t>//</a:t>
            </a:r>
            <a:r>
              <a:rPr sz="1750" b="1" spc="39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90" dirty="0">
                <a:solidFill>
                  <a:srgbClr val="595959"/>
                </a:solidFill>
                <a:latin typeface="Trebuchet MS"/>
                <a:cs typeface="Trebuchet MS"/>
              </a:rPr>
              <a:t>la</a:t>
            </a:r>
            <a:r>
              <a:rPr sz="1750" b="1" spc="39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25" dirty="0">
                <a:solidFill>
                  <a:srgbClr val="595959"/>
                </a:solidFill>
                <a:latin typeface="Trebuchet MS"/>
                <a:cs typeface="Trebuchet MS"/>
              </a:rPr>
              <a:t>méthode</a:t>
            </a:r>
            <a:r>
              <a:rPr sz="1750" b="1" spc="40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60" dirty="0">
                <a:solidFill>
                  <a:srgbClr val="595959"/>
                </a:solidFill>
                <a:latin typeface="Trebuchet MS"/>
                <a:cs typeface="Trebuchet MS"/>
              </a:rPr>
              <a:t>dessiner</a:t>
            </a:r>
            <a:r>
              <a:rPr sz="1750" b="1" spc="39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55" dirty="0">
                <a:solidFill>
                  <a:srgbClr val="595959"/>
                </a:solidFill>
                <a:latin typeface="Trebuchet MS"/>
                <a:cs typeface="Trebuchet MS"/>
              </a:rPr>
              <a:t>sera</a:t>
            </a:r>
            <a:r>
              <a:rPr sz="1750" b="1" spc="40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40" dirty="0">
                <a:solidFill>
                  <a:srgbClr val="595959"/>
                </a:solidFill>
                <a:latin typeface="Trebuchet MS"/>
                <a:cs typeface="Trebuchet MS"/>
              </a:rPr>
              <a:t>virtuelle</a:t>
            </a:r>
            <a:r>
              <a:rPr sz="1750" b="1" spc="39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65" dirty="0">
                <a:solidFill>
                  <a:srgbClr val="595959"/>
                </a:solidFill>
                <a:latin typeface="Trebuchet MS"/>
                <a:cs typeface="Trebuchet MS"/>
              </a:rPr>
              <a:t>et</a:t>
            </a:r>
            <a:r>
              <a:rPr sz="1750" b="1" spc="40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80" dirty="0">
                <a:solidFill>
                  <a:srgbClr val="595959"/>
                </a:solidFill>
                <a:latin typeface="Trebuchet MS"/>
                <a:cs typeface="Trebuchet MS"/>
              </a:rPr>
              <a:t>fournira</a:t>
            </a:r>
            <a:r>
              <a:rPr sz="1750" b="1" spc="39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20" dirty="0">
                <a:solidFill>
                  <a:srgbClr val="595959"/>
                </a:solidFill>
                <a:latin typeface="Trebuchet MS"/>
                <a:cs typeface="Trebuchet MS"/>
              </a:rPr>
              <a:t>un</a:t>
            </a:r>
            <a:r>
              <a:rPr sz="1750" b="1" spc="40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95" dirty="0">
                <a:solidFill>
                  <a:srgbClr val="595959"/>
                </a:solidFill>
                <a:latin typeface="Trebuchet MS"/>
                <a:cs typeface="Trebuchet MS"/>
              </a:rPr>
              <a:t>comportement</a:t>
            </a:r>
            <a:r>
              <a:rPr sz="1750" b="1" spc="39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65" dirty="0">
                <a:solidFill>
                  <a:srgbClr val="595959"/>
                </a:solidFill>
                <a:latin typeface="Trebuchet MS"/>
                <a:cs typeface="Trebuchet MS"/>
              </a:rPr>
              <a:t>polymorphe</a:t>
            </a:r>
            <a:endParaRPr sz="1750">
              <a:latin typeface="Trebuchet MS"/>
              <a:cs typeface="Trebuchet MS"/>
            </a:endParaRPr>
          </a:p>
          <a:p>
            <a:pPr marL="647700">
              <a:lnSpc>
                <a:spcPts val="2070"/>
              </a:lnSpc>
            </a:pP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virtual</a:t>
            </a:r>
            <a:r>
              <a:rPr sz="1750" spc="45" dirty="0">
                <a:solidFill>
                  <a:srgbClr val="FF0000"/>
                </a:solidFill>
                <a:latin typeface="SimSun"/>
                <a:cs typeface="SimSun"/>
              </a:rPr>
              <a:t> </a:t>
            </a:r>
            <a:r>
              <a:rPr sz="1750" b="1" spc="50" dirty="0">
                <a:solidFill>
                  <a:srgbClr val="0056AD"/>
                </a:solidFill>
                <a:latin typeface="Trebuchet MS"/>
                <a:cs typeface="Trebuchet MS"/>
              </a:rPr>
              <a:t>void</a:t>
            </a:r>
            <a:r>
              <a:rPr sz="1750" b="1" spc="395" dirty="0">
                <a:solidFill>
                  <a:srgbClr val="0056AD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dessiner() {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cout &lt;&lt; "je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dessine ... une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forme ?\n";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}</a:t>
            </a:r>
            <a:endParaRPr sz="1750">
              <a:latin typeface="SimSun"/>
              <a:cs typeface="SimSun"/>
            </a:endParaRPr>
          </a:p>
          <a:p>
            <a:pPr marL="12700">
              <a:lnSpc>
                <a:spcPts val="2085"/>
              </a:lnSpc>
            </a:pPr>
            <a:r>
              <a:rPr sz="1750" spc="50" dirty="0">
                <a:latin typeface="SimSun"/>
                <a:cs typeface="SimSun"/>
              </a:rPr>
              <a:t>};</a:t>
            </a:r>
            <a:endParaRPr sz="17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>
              <a:latin typeface="SimSun"/>
              <a:cs typeface="SimSun"/>
            </a:endParaRPr>
          </a:p>
          <a:p>
            <a:pPr marL="330200" marR="6067425" indent="-318135">
              <a:lnSpc>
                <a:spcPts val="2070"/>
              </a:lnSpc>
            </a:pP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class</a:t>
            </a:r>
            <a:r>
              <a:rPr sz="1750" spc="35" dirty="0">
                <a:solidFill>
                  <a:srgbClr val="FF0000"/>
                </a:solidFill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Cercle</a:t>
            </a:r>
            <a:r>
              <a:rPr sz="1750" spc="3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:</a:t>
            </a:r>
            <a:r>
              <a:rPr sz="1750" spc="35" dirty="0">
                <a:latin typeface="SimSun"/>
                <a:cs typeface="SimSun"/>
              </a:rPr>
              <a:t> </a:t>
            </a: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public</a:t>
            </a:r>
            <a:r>
              <a:rPr sz="1750" spc="35" dirty="0">
                <a:solidFill>
                  <a:srgbClr val="FF0000"/>
                </a:solidFill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Forme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{ </a:t>
            </a:r>
            <a:r>
              <a:rPr sz="1750" spc="-860" dirty="0">
                <a:latin typeface="SimSun"/>
                <a:cs typeface="SimSun"/>
              </a:rPr>
              <a:t> </a:t>
            </a: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public</a:t>
            </a:r>
            <a:r>
              <a:rPr sz="1750" spc="50" dirty="0">
                <a:latin typeface="SimSun"/>
                <a:cs typeface="SimSun"/>
              </a:rPr>
              <a:t>:</a:t>
            </a:r>
            <a:endParaRPr sz="1750">
              <a:latin typeface="SimSun"/>
              <a:cs typeface="SimSun"/>
            </a:endParaRPr>
          </a:p>
          <a:p>
            <a:pPr marL="647700">
              <a:lnSpc>
                <a:spcPts val="1995"/>
              </a:lnSpc>
            </a:pPr>
            <a:r>
              <a:rPr sz="1750" spc="50" dirty="0">
                <a:latin typeface="SimSun"/>
                <a:cs typeface="SimSun"/>
              </a:rPr>
              <a:t>Cercle()</a:t>
            </a:r>
            <a:r>
              <a:rPr sz="1750" spc="3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{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cout</a:t>
            </a:r>
            <a:r>
              <a:rPr sz="1750" spc="3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&lt;&lt;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"Cercle\n";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}</a:t>
            </a:r>
            <a:endParaRPr sz="1750">
              <a:latin typeface="SimSun"/>
              <a:cs typeface="SimSun"/>
            </a:endParaRPr>
          </a:p>
          <a:p>
            <a:pPr marL="647700">
              <a:lnSpc>
                <a:spcPts val="2070"/>
              </a:lnSpc>
            </a:pPr>
            <a:r>
              <a:rPr sz="1750" b="1" spc="50" dirty="0">
                <a:solidFill>
                  <a:srgbClr val="0056AD"/>
                </a:solidFill>
                <a:latin typeface="Trebuchet MS"/>
                <a:cs typeface="Trebuchet MS"/>
              </a:rPr>
              <a:t>void</a:t>
            </a:r>
            <a:r>
              <a:rPr sz="1750" b="1" spc="390" dirty="0">
                <a:solidFill>
                  <a:srgbClr val="0056AD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dessiner() {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cout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&lt;&lt; "je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dessine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un Cercle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!\n";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}</a:t>
            </a:r>
            <a:endParaRPr sz="1750">
              <a:latin typeface="SimSun"/>
              <a:cs typeface="SimSun"/>
            </a:endParaRPr>
          </a:p>
          <a:p>
            <a:pPr marL="12700">
              <a:lnSpc>
                <a:spcPts val="2085"/>
              </a:lnSpc>
            </a:pPr>
            <a:r>
              <a:rPr sz="1750" spc="50" dirty="0">
                <a:latin typeface="SimSun"/>
                <a:cs typeface="SimSun"/>
              </a:rPr>
              <a:t>};</a:t>
            </a:r>
            <a:endParaRPr sz="17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50">
              <a:latin typeface="SimSun"/>
              <a:cs typeface="SimSun"/>
            </a:endParaRPr>
          </a:p>
          <a:p>
            <a:pPr marL="330200" marR="5831840" indent="-318135">
              <a:lnSpc>
                <a:spcPts val="2070"/>
              </a:lnSpc>
            </a:pP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class</a:t>
            </a:r>
            <a:r>
              <a:rPr sz="1750" spc="35" dirty="0">
                <a:solidFill>
                  <a:srgbClr val="FF0000"/>
                </a:solidFill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Triangle</a:t>
            </a:r>
            <a:r>
              <a:rPr sz="1750" spc="3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: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public</a:t>
            </a:r>
            <a:r>
              <a:rPr sz="1750" spc="35" dirty="0">
                <a:solidFill>
                  <a:srgbClr val="FF0000"/>
                </a:solidFill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Forme</a:t>
            </a:r>
            <a:r>
              <a:rPr sz="1750" spc="3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{ </a:t>
            </a:r>
            <a:r>
              <a:rPr sz="1750" spc="-860" dirty="0">
                <a:latin typeface="SimSun"/>
                <a:cs typeface="SimSun"/>
              </a:rPr>
              <a:t> </a:t>
            </a: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public</a:t>
            </a:r>
            <a:r>
              <a:rPr sz="1750" spc="50" dirty="0">
                <a:latin typeface="SimSun"/>
                <a:cs typeface="SimSun"/>
              </a:rPr>
              <a:t>:</a:t>
            </a:r>
            <a:endParaRPr sz="1750">
              <a:latin typeface="SimSun"/>
              <a:cs typeface="SimSun"/>
            </a:endParaRPr>
          </a:p>
          <a:p>
            <a:pPr marL="647700">
              <a:lnSpc>
                <a:spcPts val="1995"/>
              </a:lnSpc>
            </a:pPr>
            <a:r>
              <a:rPr sz="1750" spc="50" dirty="0">
                <a:latin typeface="SimSun"/>
                <a:cs typeface="SimSun"/>
              </a:rPr>
              <a:t>Triangle()</a:t>
            </a:r>
            <a:r>
              <a:rPr sz="1750" spc="3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{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cout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&lt;&lt;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"Triangle\n";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}</a:t>
            </a:r>
            <a:endParaRPr sz="1750">
              <a:latin typeface="SimSun"/>
              <a:cs typeface="SimSun"/>
            </a:endParaRPr>
          </a:p>
          <a:p>
            <a:pPr marL="647700">
              <a:lnSpc>
                <a:spcPts val="2070"/>
              </a:lnSpc>
            </a:pPr>
            <a:r>
              <a:rPr sz="1750" b="1" spc="50" dirty="0">
                <a:solidFill>
                  <a:srgbClr val="0056AD"/>
                </a:solidFill>
                <a:latin typeface="Trebuchet MS"/>
                <a:cs typeface="Trebuchet MS"/>
              </a:rPr>
              <a:t>void</a:t>
            </a:r>
            <a:r>
              <a:rPr sz="1750" b="1" spc="390" dirty="0">
                <a:solidFill>
                  <a:srgbClr val="0056AD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dessiner() {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cout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&lt;&lt; "je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dessine un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Triangle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!\n"; }</a:t>
            </a:r>
            <a:endParaRPr sz="1750">
              <a:latin typeface="SimSun"/>
              <a:cs typeface="SimSun"/>
            </a:endParaRPr>
          </a:p>
          <a:p>
            <a:pPr marL="12700">
              <a:lnSpc>
                <a:spcPts val="2085"/>
              </a:lnSpc>
            </a:pPr>
            <a:r>
              <a:rPr sz="1750" spc="50" dirty="0">
                <a:latin typeface="SimSun"/>
                <a:cs typeface="SimSun"/>
              </a:rPr>
              <a:t>};</a:t>
            </a:r>
            <a:endParaRPr sz="1750">
              <a:latin typeface="SimSun"/>
              <a:cs typeface="SimSu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03330" y="7322021"/>
            <a:ext cx="10085705" cy="240029"/>
            <a:chOff x="303330" y="7322021"/>
            <a:chExt cx="10085705" cy="240029"/>
          </a:xfrm>
        </p:grpSpPr>
        <p:sp>
          <p:nvSpPr>
            <p:cNvPr id="19" name="object 19"/>
            <p:cNvSpPr/>
            <p:nvPr/>
          </p:nvSpPr>
          <p:spPr>
            <a:xfrm>
              <a:off x="303330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65059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26788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60" dirty="0"/>
              <a:t>tv </a:t>
            </a:r>
            <a:r>
              <a:rPr spc="140" dirty="0"/>
              <a:t> </a:t>
            </a:r>
            <a:r>
              <a:rPr spc="55" dirty="0"/>
              <a:t>(BTS</a:t>
            </a:r>
            <a:r>
              <a:rPr spc="100" dirty="0"/>
              <a:t> </a:t>
            </a:r>
            <a:r>
              <a:rPr spc="-25" dirty="0"/>
              <a:t>IRIS</a:t>
            </a:r>
            <a:r>
              <a:rPr spc="105" dirty="0"/>
              <a:t> </a:t>
            </a:r>
            <a:r>
              <a:rPr spc="5" dirty="0"/>
              <a:t>Avignon)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-40" dirty="0"/>
              <a:t>Cours</a:t>
            </a:r>
            <a:r>
              <a:rPr spc="60" dirty="0"/>
              <a:t> </a:t>
            </a:r>
            <a:r>
              <a:rPr spc="170" dirty="0"/>
              <a:t>C/C++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7481423" y="7283716"/>
            <a:ext cx="1800860" cy="27051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300" spc="40" dirty="0">
                <a:solidFill>
                  <a:srgbClr val="FFFFFF"/>
                </a:solidFill>
                <a:latin typeface="SimSun"/>
                <a:cs typeface="SimSun"/>
                <a:hlinkClick r:id="rId6"/>
              </a:rPr>
              <a:t>tvaira@free.fr</a:t>
            </a:r>
            <a:r>
              <a:rPr sz="1300" spc="-190" dirty="0">
                <a:solidFill>
                  <a:srgbClr val="FFFFFF"/>
                </a:solidFill>
                <a:latin typeface="SimSun"/>
                <a:cs typeface="SimSun"/>
                <a:hlinkClick r:id="rId6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©</a:t>
            </a:r>
            <a:r>
              <a:rPr sz="130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v0.1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9"/>
              </a:spcBef>
            </a:pPr>
            <a:fld id="{81D60167-4931-47E6-BA6A-407CBD079E47}" type="slidenum">
              <a:rPr spc="-30" dirty="0"/>
              <a:t>25</a:t>
            </a:fld>
            <a:r>
              <a:rPr spc="80" dirty="0"/>
              <a:t> </a:t>
            </a:r>
            <a:r>
              <a:rPr spc="330" dirty="0"/>
              <a:t>/</a:t>
            </a:r>
            <a:r>
              <a:rPr spc="85" dirty="0"/>
              <a:t> </a:t>
            </a:r>
            <a:r>
              <a:rPr spc="-30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3330" y="0"/>
            <a:ext cx="5043170" cy="240029"/>
          </a:xfrm>
          <a:custGeom>
            <a:avLst/>
            <a:gdLst/>
            <a:ahLst/>
            <a:cxnLst/>
            <a:rect l="l" t="t" r="r" b="b"/>
            <a:pathLst>
              <a:path w="5043170" h="240029">
                <a:moveTo>
                  <a:pt x="5042663" y="0"/>
                </a:moveTo>
                <a:lnTo>
                  <a:pt x="0" y="0"/>
                </a:lnTo>
                <a:lnTo>
                  <a:pt x="0" y="239990"/>
                </a:lnTo>
                <a:lnTo>
                  <a:pt x="5042663" y="239990"/>
                </a:lnTo>
                <a:lnTo>
                  <a:pt x="5042663" y="0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71384" y="0"/>
            <a:ext cx="1139825" cy="224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Polymorphisme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45993" y="0"/>
            <a:ext cx="5043170" cy="240029"/>
          </a:xfrm>
          <a:custGeom>
            <a:avLst/>
            <a:gdLst/>
            <a:ahLst/>
            <a:cxnLst/>
            <a:rect l="l" t="t" r="r" b="b"/>
            <a:pathLst>
              <a:path w="5043170" h="240029">
                <a:moveTo>
                  <a:pt x="5042663" y="0"/>
                </a:moveTo>
                <a:lnTo>
                  <a:pt x="0" y="0"/>
                </a:lnTo>
                <a:lnTo>
                  <a:pt x="0" y="239990"/>
                </a:lnTo>
                <a:lnTo>
                  <a:pt x="5042663" y="239990"/>
                </a:lnTo>
                <a:lnTo>
                  <a:pt x="5042663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3425" y="1056472"/>
            <a:ext cx="9705340" cy="438150"/>
          </a:xfrm>
          <a:custGeom>
            <a:avLst/>
            <a:gdLst/>
            <a:ahLst/>
            <a:cxnLst/>
            <a:rect l="l" t="t" r="r" b="b"/>
            <a:pathLst>
              <a:path w="9705340" h="438150">
                <a:moveTo>
                  <a:pt x="9594072" y="0"/>
                </a:moveTo>
                <a:lnTo>
                  <a:pt x="111185" y="0"/>
                </a:lnTo>
                <a:lnTo>
                  <a:pt x="68014" y="8773"/>
                </a:lnTo>
                <a:lnTo>
                  <a:pt x="32660" y="32660"/>
                </a:lnTo>
                <a:lnTo>
                  <a:pt x="8773" y="68013"/>
                </a:lnTo>
                <a:lnTo>
                  <a:pt x="0" y="111184"/>
                </a:lnTo>
                <a:lnTo>
                  <a:pt x="0" y="437911"/>
                </a:lnTo>
                <a:lnTo>
                  <a:pt x="9705258" y="437911"/>
                </a:lnTo>
                <a:lnTo>
                  <a:pt x="9705258" y="111184"/>
                </a:lnTo>
                <a:lnTo>
                  <a:pt x="9696484" y="68013"/>
                </a:lnTo>
                <a:lnTo>
                  <a:pt x="9672596" y="32660"/>
                </a:lnTo>
                <a:lnTo>
                  <a:pt x="9637243" y="8773"/>
                </a:lnTo>
                <a:lnTo>
                  <a:pt x="959407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91910" y="1047244"/>
            <a:ext cx="5554980" cy="389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>
                <a:solidFill>
                  <a:srgbClr val="FFFFFF"/>
                </a:solidFill>
              </a:rPr>
              <a:t>Exemple</a:t>
            </a:r>
            <a:r>
              <a:rPr spc="55" dirty="0">
                <a:solidFill>
                  <a:srgbClr val="FFFFFF"/>
                </a:solidFill>
              </a:rPr>
              <a:t> </a:t>
            </a:r>
            <a:r>
              <a:rPr spc="-170" dirty="0">
                <a:solidFill>
                  <a:srgbClr val="FFFFFF"/>
                </a:solidFill>
              </a:rPr>
              <a:t>:</a:t>
            </a:r>
            <a:r>
              <a:rPr spc="55" dirty="0">
                <a:solidFill>
                  <a:srgbClr val="FFFFFF"/>
                </a:solidFill>
              </a:rPr>
              <a:t> </a:t>
            </a:r>
            <a:r>
              <a:rPr spc="-65" dirty="0">
                <a:solidFill>
                  <a:srgbClr val="FFFFFF"/>
                </a:solidFill>
              </a:rPr>
              <a:t>comportement</a:t>
            </a:r>
            <a:r>
              <a:rPr spc="55" dirty="0">
                <a:solidFill>
                  <a:srgbClr val="FFFFFF"/>
                </a:solidFill>
              </a:rPr>
              <a:t> </a:t>
            </a:r>
            <a:r>
              <a:rPr spc="-75" dirty="0">
                <a:solidFill>
                  <a:srgbClr val="FFFFFF"/>
                </a:solidFill>
              </a:rPr>
              <a:t>polymorphe</a:t>
            </a:r>
            <a:r>
              <a:rPr spc="55" dirty="0">
                <a:solidFill>
                  <a:srgbClr val="FFFFFF"/>
                </a:solidFill>
              </a:rPr>
              <a:t> </a:t>
            </a:r>
            <a:r>
              <a:rPr spc="30" dirty="0">
                <a:solidFill>
                  <a:srgbClr val="FFFFFF"/>
                </a:solidFill>
              </a:rPr>
              <a:t>(2/3)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493425" y="1153221"/>
            <a:ext cx="9816465" cy="4953000"/>
            <a:chOff x="493425" y="1153221"/>
            <a:chExt cx="9816465" cy="49530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3426" y="1466686"/>
              <a:ext cx="9705256" cy="11076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4610" y="5883468"/>
              <a:ext cx="222367" cy="22236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5796" y="5855671"/>
              <a:ext cx="9593949" cy="25016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98683" y="1153286"/>
              <a:ext cx="111061" cy="473018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93425" y="1563543"/>
              <a:ext cx="9705340" cy="4431665"/>
            </a:xfrm>
            <a:custGeom>
              <a:avLst/>
              <a:gdLst/>
              <a:ahLst/>
              <a:cxnLst/>
              <a:rect l="l" t="t" r="r" b="b"/>
              <a:pathLst>
                <a:path w="9705340" h="4431665">
                  <a:moveTo>
                    <a:pt x="9705258" y="0"/>
                  </a:moveTo>
                  <a:lnTo>
                    <a:pt x="0" y="0"/>
                  </a:lnTo>
                  <a:lnTo>
                    <a:pt x="0" y="4319924"/>
                  </a:lnTo>
                  <a:lnTo>
                    <a:pt x="8773" y="4363095"/>
                  </a:lnTo>
                  <a:lnTo>
                    <a:pt x="32660" y="4398448"/>
                  </a:lnTo>
                  <a:lnTo>
                    <a:pt x="68014" y="4422336"/>
                  </a:lnTo>
                  <a:lnTo>
                    <a:pt x="111185" y="4431109"/>
                  </a:lnTo>
                  <a:lnTo>
                    <a:pt x="9594072" y="4431109"/>
                  </a:lnTo>
                  <a:lnTo>
                    <a:pt x="9637243" y="4422336"/>
                  </a:lnTo>
                  <a:lnTo>
                    <a:pt x="9672596" y="4398448"/>
                  </a:lnTo>
                  <a:lnTo>
                    <a:pt x="9696484" y="4363095"/>
                  </a:lnTo>
                  <a:lnTo>
                    <a:pt x="9705258" y="4319924"/>
                  </a:lnTo>
                  <a:lnTo>
                    <a:pt x="9705258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198683" y="1236609"/>
              <a:ext cx="0" cy="4688840"/>
            </a:xfrm>
            <a:custGeom>
              <a:avLst/>
              <a:gdLst/>
              <a:ahLst/>
              <a:cxnLst/>
              <a:rect l="l" t="t" r="r" b="b"/>
              <a:pathLst>
                <a:path h="4688840">
                  <a:moveTo>
                    <a:pt x="0" y="468855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198683" y="1208813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40">
                  <a:moveTo>
                    <a:pt x="0" y="277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198683" y="1181017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40">
                  <a:moveTo>
                    <a:pt x="0" y="277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198683" y="1153221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40">
                  <a:moveTo>
                    <a:pt x="0" y="277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91910" y="1735056"/>
            <a:ext cx="5142230" cy="3974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085"/>
              </a:lnSpc>
              <a:spcBef>
                <a:spcPts val="95"/>
              </a:spcBef>
            </a:pPr>
            <a:r>
              <a:rPr sz="1750" b="1" spc="50" dirty="0">
                <a:solidFill>
                  <a:srgbClr val="0056AD"/>
                </a:solidFill>
                <a:latin typeface="Trebuchet MS"/>
                <a:cs typeface="Trebuchet MS"/>
              </a:rPr>
              <a:t>void</a:t>
            </a:r>
            <a:r>
              <a:rPr sz="1750" b="1" spc="370" dirty="0">
                <a:solidFill>
                  <a:srgbClr val="0056AD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faireQuelqueChose(Forme</a:t>
            </a:r>
            <a:r>
              <a:rPr sz="1750" spc="3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&amp;f)</a:t>
            </a:r>
            <a:endParaRPr sz="1750">
              <a:latin typeface="SimSun"/>
              <a:cs typeface="SimSun"/>
            </a:endParaRPr>
          </a:p>
          <a:p>
            <a:pPr marL="12700">
              <a:lnSpc>
                <a:spcPts val="2070"/>
              </a:lnSpc>
            </a:pPr>
            <a:r>
              <a:rPr sz="1750" spc="50" dirty="0">
                <a:latin typeface="SimSun"/>
                <a:cs typeface="SimSun"/>
              </a:rPr>
              <a:t>{</a:t>
            </a:r>
            <a:endParaRPr sz="1750">
              <a:latin typeface="SimSun"/>
              <a:cs typeface="SimSun"/>
            </a:endParaRPr>
          </a:p>
          <a:p>
            <a:pPr marL="224154">
              <a:lnSpc>
                <a:spcPts val="2070"/>
              </a:lnSpc>
            </a:pPr>
            <a:r>
              <a:rPr sz="1750" spc="50" dirty="0">
                <a:latin typeface="SimSun"/>
                <a:cs typeface="SimSun"/>
              </a:rPr>
              <a:t>f.dessiner();</a:t>
            </a:r>
            <a:r>
              <a:rPr sz="1750" spc="35" dirty="0">
                <a:latin typeface="SimSun"/>
                <a:cs typeface="SimSun"/>
              </a:rPr>
              <a:t> </a:t>
            </a:r>
            <a:r>
              <a:rPr sz="1750" b="1" spc="229" dirty="0">
                <a:solidFill>
                  <a:srgbClr val="595959"/>
                </a:solidFill>
                <a:latin typeface="Trebuchet MS"/>
                <a:cs typeface="Trebuchet MS"/>
              </a:rPr>
              <a:t>//</a:t>
            </a:r>
            <a:r>
              <a:rPr sz="1750" b="1" spc="37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45" dirty="0">
                <a:solidFill>
                  <a:srgbClr val="595959"/>
                </a:solidFill>
                <a:latin typeface="Trebuchet MS"/>
                <a:cs typeface="Trebuchet MS"/>
              </a:rPr>
              <a:t>dessine</a:t>
            </a:r>
            <a:r>
              <a:rPr sz="1750" b="1" spc="37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10" dirty="0">
                <a:solidFill>
                  <a:srgbClr val="595959"/>
                </a:solidFill>
                <a:latin typeface="Trebuchet MS"/>
                <a:cs typeface="Trebuchet MS"/>
              </a:rPr>
              <a:t>une</a:t>
            </a:r>
            <a:r>
              <a:rPr sz="1750" b="1" spc="-3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40" dirty="0">
                <a:solidFill>
                  <a:srgbClr val="595959"/>
                </a:solidFill>
                <a:latin typeface="Trebuchet MS"/>
                <a:cs typeface="Trebuchet MS"/>
              </a:rPr>
              <a:t>Forme</a:t>
            </a:r>
            <a:endParaRPr sz="1750">
              <a:latin typeface="Trebuchet MS"/>
              <a:cs typeface="Trebuchet MS"/>
            </a:endParaRPr>
          </a:p>
          <a:p>
            <a:pPr marL="12700">
              <a:lnSpc>
                <a:spcPts val="2085"/>
              </a:lnSpc>
            </a:pPr>
            <a:r>
              <a:rPr sz="1750" spc="50" dirty="0">
                <a:latin typeface="SimSun"/>
                <a:cs typeface="SimSun"/>
              </a:rPr>
              <a:t>}</a:t>
            </a:r>
            <a:endParaRPr sz="1750">
              <a:latin typeface="SimSun"/>
              <a:cs typeface="SimSun"/>
            </a:endParaRPr>
          </a:p>
          <a:p>
            <a:pPr marL="12700">
              <a:lnSpc>
                <a:spcPts val="2085"/>
              </a:lnSpc>
              <a:spcBef>
                <a:spcPts val="2039"/>
              </a:spcBef>
            </a:pPr>
            <a:r>
              <a:rPr sz="1750" b="1" spc="165" dirty="0">
                <a:solidFill>
                  <a:srgbClr val="0056AD"/>
                </a:solidFill>
                <a:latin typeface="Trebuchet MS"/>
                <a:cs typeface="Trebuchet MS"/>
              </a:rPr>
              <a:t>int</a:t>
            </a:r>
            <a:r>
              <a:rPr sz="1750" b="1" spc="340" dirty="0">
                <a:solidFill>
                  <a:srgbClr val="0056AD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main()</a:t>
            </a:r>
            <a:endParaRPr sz="1750">
              <a:latin typeface="SimSun"/>
              <a:cs typeface="SimSun"/>
            </a:endParaRPr>
          </a:p>
          <a:p>
            <a:pPr marL="12700">
              <a:lnSpc>
                <a:spcPts val="2070"/>
              </a:lnSpc>
            </a:pPr>
            <a:r>
              <a:rPr sz="1750" spc="50" dirty="0">
                <a:latin typeface="SimSun"/>
                <a:cs typeface="SimSun"/>
              </a:rPr>
              <a:t>{</a:t>
            </a:r>
            <a:endParaRPr sz="1750">
              <a:latin typeface="SimSun"/>
              <a:cs typeface="SimSun"/>
            </a:endParaRPr>
          </a:p>
          <a:p>
            <a:pPr marL="330200" marR="3509645">
              <a:lnSpc>
                <a:spcPts val="2070"/>
              </a:lnSpc>
              <a:spcBef>
                <a:spcPts val="80"/>
              </a:spcBef>
            </a:pPr>
            <a:r>
              <a:rPr sz="1750" spc="50" dirty="0">
                <a:latin typeface="SimSun"/>
                <a:cs typeface="SimSun"/>
              </a:rPr>
              <a:t>Cercle c; </a:t>
            </a:r>
            <a:r>
              <a:rPr sz="1750" spc="5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Triangle</a:t>
            </a:r>
            <a:r>
              <a:rPr sz="1750" spc="-4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t;</a:t>
            </a:r>
            <a:endParaRPr sz="1750">
              <a:latin typeface="SimSun"/>
              <a:cs typeface="SimSun"/>
            </a:endParaRPr>
          </a:p>
          <a:p>
            <a:pPr marL="330200">
              <a:lnSpc>
                <a:spcPts val="2085"/>
              </a:lnSpc>
              <a:spcBef>
                <a:spcPts val="1980"/>
              </a:spcBef>
            </a:pPr>
            <a:r>
              <a:rPr sz="1750" spc="50" dirty="0">
                <a:latin typeface="SimSun"/>
                <a:cs typeface="SimSun"/>
              </a:rPr>
              <a:t>faireQuelqueChose(c);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b="1" spc="229" dirty="0">
                <a:solidFill>
                  <a:srgbClr val="595959"/>
                </a:solidFill>
                <a:latin typeface="Trebuchet MS"/>
                <a:cs typeface="Trebuchet MS"/>
              </a:rPr>
              <a:t>//</a:t>
            </a:r>
            <a:r>
              <a:rPr sz="1750" b="1" spc="37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25" dirty="0">
                <a:solidFill>
                  <a:srgbClr val="595959"/>
                </a:solidFill>
                <a:latin typeface="Trebuchet MS"/>
                <a:cs typeface="Trebuchet MS"/>
              </a:rPr>
              <a:t>avec</a:t>
            </a:r>
            <a:r>
              <a:rPr sz="1750" b="1" spc="38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20" dirty="0">
                <a:solidFill>
                  <a:srgbClr val="595959"/>
                </a:solidFill>
                <a:latin typeface="Trebuchet MS"/>
                <a:cs typeface="Trebuchet MS"/>
              </a:rPr>
              <a:t>un</a:t>
            </a:r>
            <a:r>
              <a:rPr sz="1750" b="1" spc="-3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70" dirty="0">
                <a:solidFill>
                  <a:srgbClr val="595959"/>
                </a:solidFill>
                <a:latin typeface="Trebuchet MS"/>
                <a:cs typeface="Trebuchet MS"/>
              </a:rPr>
              <a:t>cercle</a:t>
            </a:r>
            <a:endParaRPr sz="1750">
              <a:latin typeface="Trebuchet MS"/>
              <a:cs typeface="Trebuchet MS"/>
            </a:endParaRPr>
          </a:p>
          <a:p>
            <a:pPr marL="330200">
              <a:lnSpc>
                <a:spcPts val="2085"/>
              </a:lnSpc>
            </a:pPr>
            <a:r>
              <a:rPr sz="1750" spc="50" dirty="0">
                <a:latin typeface="SimSun"/>
                <a:cs typeface="SimSun"/>
              </a:rPr>
              <a:t>faireQuelqueChose(t);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b="1" spc="229" dirty="0">
                <a:solidFill>
                  <a:srgbClr val="595959"/>
                </a:solidFill>
                <a:latin typeface="Trebuchet MS"/>
                <a:cs typeface="Trebuchet MS"/>
              </a:rPr>
              <a:t>//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25" dirty="0">
                <a:solidFill>
                  <a:srgbClr val="595959"/>
                </a:solidFill>
                <a:latin typeface="Trebuchet MS"/>
                <a:cs typeface="Trebuchet MS"/>
              </a:rPr>
              <a:t>avec</a:t>
            </a:r>
            <a:r>
              <a:rPr sz="1750" b="1" spc="38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20" dirty="0">
                <a:solidFill>
                  <a:srgbClr val="595959"/>
                </a:solidFill>
                <a:latin typeface="Trebuchet MS"/>
                <a:cs typeface="Trebuchet MS"/>
              </a:rPr>
              <a:t>un</a:t>
            </a:r>
            <a:r>
              <a:rPr sz="1750" b="1" spc="38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20" dirty="0">
                <a:solidFill>
                  <a:srgbClr val="595959"/>
                </a:solidFill>
                <a:latin typeface="Trebuchet MS"/>
                <a:cs typeface="Trebuchet MS"/>
              </a:rPr>
              <a:t>triangle</a:t>
            </a:r>
            <a:endParaRPr sz="1750">
              <a:latin typeface="Trebuchet MS"/>
              <a:cs typeface="Trebuchet MS"/>
            </a:endParaRPr>
          </a:p>
          <a:p>
            <a:pPr marL="330200">
              <a:lnSpc>
                <a:spcPts val="2085"/>
              </a:lnSpc>
              <a:spcBef>
                <a:spcPts val="2045"/>
              </a:spcBef>
            </a:pPr>
            <a:r>
              <a:rPr sz="1750" b="1" spc="35" dirty="0">
                <a:latin typeface="Trebuchet MS"/>
                <a:cs typeface="Trebuchet MS"/>
              </a:rPr>
              <a:t>return</a:t>
            </a:r>
            <a:r>
              <a:rPr sz="1750" b="1" spc="350" dirty="0"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0;</a:t>
            </a:r>
            <a:endParaRPr sz="1750">
              <a:latin typeface="SimSun"/>
              <a:cs typeface="SimSun"/>
            </a:endParaRPr>
          </a:p>
          <a:p>
            <a:pPr marL="12700">
              <a:lnSpc>
                <a:spcPts val="2085"/>
              </a:lnSpc>
            </a:pPr>
            <a:r>
              <a:rPr sz="1750" spc="50" dirty="0">
                <a:latin typeface="SimSun"/>
                <a:cs typeface="SimSun"/>
              </a:rPr>
              <a:t>}</a:t>
            </a:r>
            <a:endParaRPr sz="1750">
              <a:latin typeface="SimSun"/>
              <a:cs typeface="SimSu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03330" y="7322021"/>
            <a:ext cx="10085705" cy="240029"/>
            <a:chOff x="303330" y="7322021"/>
            <a:chExt cx="10085705" cy="240029"/>
          </a:xfrm>
        </p:grpSpPr>
        <p:sp>
          <p:nvSpPr>
            <p:cNvPr id="19" name="object 19"/>
            <p:cNvSpPr/>
            <p:nvPr/>
          </p:nvSpPr>
          <p:spPr>
            <a:xfrm>
              <a:off x="303330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65059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26788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60" dirty="0"/>
              <a:t>tv </a:t>
            </a:r>
            <a:r>
              <a:rPr spc="140" dirty="0"/>
              <a:t> </a:t>
            </a:r>
            <a:r>
              <a:rPr spc="55" dirty="0"/>
              <a:t>(BTS</a:t>
            </a:r>
            <a:r>
              <a:rPr spc="100" dirty="0"/>
              <a:t> </a:t>
            </a:r>
            <a:r>
              <a:rPr spc="-25" dirty="0"/>
              <a:t>IRIS</a:t>
            </a:r>
            <a:r>
              <a:rPr spc="105" dirty="0"/>
              <a:t> </a:t>
            </a:r>
            <a:r>
              <a:rPr spc="5" dirty="0"/>
              <a:t>Avignon)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-40" dirty="0"/>
              <a:t>Cours</a:t>
            </a:r>
            <a:r>
              <a:rPr spc="60" dirty="0"/>
              <a:t> </a:t>
            </a:r>
            <a:r>
              <a:rPr spc="170" dirty="0"/>
              <a:t>C/C++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7481423" y="7283716"/>
            <a:ext cx="1800860" cy="27051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300" spc="40" dirty="0">
                <a:solidFill>
                  <a:srgbClr val="FFFFFF"/>
                </a:solidFill>
                <a:latin typeface="SimSun"/>
                <a:cs typeface="SimSun"/>
                <a:hlinkClick r:id="rId6"/>
              </a:rPr>
              <a:t>tvaira@free.fr</a:t>
            </a:r>
            <a:r>
              <a:rPr sz="1300" spc="-190" dirty="0">
                <a:solidFill>
                  <a:srgbClr val="FFFFFF"/>
                </a:solidFill>
                <a:latin typeface="SimSun"/>
                <a:cs typeface="SimSun"/>
                <a:hlinkClick r:id="rId6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©</a:t>
            </a:r>
            <a:r>
              <a:rPr sz="130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v0.1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9"/>
              </a:spcBef>
            </a:pPr>
            <a:fld id="{81D60167-4931-47E6-BA6A-407CBD079E47}" type="slidenum">
              <a:rPr spc="-30" dirty="0"/>
              <a:t>26</a:t>
            </a:fld>
            <a:r>
              <a:rPr spc="80" dirty="0"/>
              <a:t> </a:t>
            </a:r>
            <a:r>
              <a:rPr spc="330" dirty="0"/>
              <a:t>/</a:t>
            </a:r>
            <a:r>
              <a:rPr spc="85" dirty="0"/>
              <a:t> </a:t>
            </a:r>
            <a:r>
              <a:rPr spc="-30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3330" y="0"/>
            <a:ext cx="5043170" cy="240029"/>
          </a:xfrm>
          <a:custGeom>
            <a:avLst/>
            <a:gdLst/>
            <a:ahLst/>
            <a:cxnLst/>
            <a:rect l="l" t="t" r="r" b="b"/>
            <a:pathLst>
              <a:path w="5043170" h="240029">
                <a:moveTo>
                  <a:pt x="5042663" y="0"/>
                </a:moveTo>
                <a:lnTo>
                  <a:pt x="0" y="0"/>
                </a:lnTo>
                <a:lnTo>
                  <a:pt x="0" y="239990"/>
                </a:lnTo>
                <a:lnTo>
                  <a:pt x="5042663" y="239990"/>
                </a:lnTo>
                <a:lnTo>
                  <a:pt x="5042663" y="0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71384" y="0"/>
            <a:ext cx="1139825" cy="224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Polymorphisme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45993" y="0"/>
            <a:ext cx="5043170" cy="240029"/>
          </a:xfrm>
          <a:custGeom>
            <a:avLst/>
            <a:gdLst/>
            <a:ahLst/>
            <a:cxnLst/>
            <a:rect l="l" t="t" r="r" b="b"/>
            <a:pathLst>
              <a:path w="5043170" h="240029">
                <a:moveTo>
                  <a:pt x="5042663" y="0"/>
                </a:moveTo>
                <a:lnTo>
                  <a:pt x="0" y="0"/>
                </a:lnTo>
                <a:lnTo>
                  <a:pt x="0" y="239990"/>
                </a:lnTo>
                <a:lnTo>
                  <a:pt x="5042663" y="239990"/>
                </a:lnTo>
                <a:lnTo>
                  <a:pt x="5042663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0160" marR="5080" indent="-635" algn="ctr">
              <a:lnSpc>
                <a:spcPts val="2970"/>
              </a:lnSpc>
              <a:spcBef>
                <a:spcPts val="85"/>
              </a:spcBef>
            </a:pPr>
            <a:r>
              <a:rPr spc="-30" dirty="0"/>
              <a:t>L’exécution</a:t>
            </a:r>
            <a:r>
              <a:rPr spc="60" dirty="0"/>
              <a:t> </a:t>
            </a:r>
            <a:r>
              <a:rPr spc="-75" dirty="0"/>
              <a:t>du</a:t>
            </a:r>
            <a:r>
              <a:rPr spc="65" dirty="0"/>
              <a:t> </a:t>
            </a:r>
            <a:r>
              <a:rPr spc="-95" dirty="0"/>
              <a:t>programme</a:t>
            </a:r>
            <a:r>
              <a:rPr spc="65" dirty="0"/>
              <a:t> </a:t>
            </a:r>
            <a:r>
              <a:rPr spc="-65" dirty="0"/>
              <a:t>d’essai</a:t>
            </a:r>
            <a:r>
              <a:rPr spc="65" dirty="0"/>
              <a:t> </a:t>
            </a:r>
            <a:r>
              <a:rPr spc="-100" dirty="0"/>
              <a:t>nous</a:t>
            </a:r>
            <a:r>
              <a:rPr spc="65" dirty="0"/>
              <a:t> </a:t>
            </a:r>
            <a:r>
              <a:rPr spc="-65" dirty="0"/>
              <a:t>montre</a:t>
            </a:r>
            <a:r>
              <a:rPr spc="65" dirty="0"/>
              <a:t> </a:t>
            </a:r>
            <a:r>
              <a:rPr spc="-50" dirty="0"/>
              <a:t>maintenant</a:t>
            </a:r>
            <a:r>
              <a:rPr spc="65" dirty="0"/>
              <a:t> </a:t>
            </a:r>
            <a:r>
              <a:rPr spc="-110" dirty="0"/>
              <a:t>que</a:t>
            </a:r>
            <a:r>
              <a:rPr spc="60" dirty="0"/>
              <a:t> </a:t>
            </a:r>
            <a:r>
              <a:rPr spc="-100" dirty="0"/>
              <a:t>nous </a:t>
            </a:r>
            <a:r>
              <a:rPr spc="-95" dirty="0"/>
              <a:t> </a:t>
            </a:r>
            <a:r>
              <a:rPr spc="-80" dirty="0"/>
              <a:t>obtenons</a:t>
            </a:r>
            <a:r>
              <a:rPr spc="60" dirty="0"/>
              <a:t> </a:t>
            </a:r>
            <a:r>
              <a:rPr spc="-80" dirty="0"/>
              <a:t>un</a:t>
            </a:r>
            <a:r>
              <a:rPr spc="65" dirty="0"/>
              <a:t> </a:t>
            </a:r>
            <a:r>
              <a:rPr spc="-65" dirty="0"/>
              <a:t>comportement</a:t>
            </a:r>
            <a:r>
              <a:rPr spc="65" dirty="0"/>
              <a:t> </a:t>
            </a:r>
            <a:r>
              <a:rPr spc="-75" dirty="0"/>
              <a:t>polymorphe</a:t>
            </a:r>
            <a:r>
              <a:rPr spc="65" dirty="0"/>
              <a:t> </a:t>
            </a:r>
            <a:r>
              <a:rPr spc="-85" dirty="0"/>
              <a:t>puisque</a:t>
            </a:r>
            <a:r>
              <a:rPr spc="65" dirty="0"/>
              <a:t> </a:t>
            </a:r>
            <a:r>
              <a:rPr spc="-20" dirty="0"/>
              <a:t>c’est</a:t>
            </a:r>
            <a:r>
              <a:rPr spc="65" dirty="0"/>
              <a:t> </a:t>
            </a:r>
            <a:r>
              <a:rPr spc="-30" dirty="0"/>
              <a:t>la</a:t>
            </a:r>
            <a:r>
              <a:rPr spc="65" dirty="0"/>
              <a:t> </a:t>
            </a:r>
            <a:r>
              <a:rPr spc="-10" dirty="0"/>
              <a:t>“bonne“</a:t>
            </a:r>
            <a:r>
              <a:rPr spc="65" dirty="0"/>
              <a:t> </a:t>
            </a:r>
            <a:r>
              <a:rPr spc="-75" dirty="0"/>
              <a:t>méthode </a:t>
            </a:r>
            <a:r>
              <a:rPr spc="-720" dirty="0"/>
              <a:t> </a:t>
            </a:r>
            <a:r>
              <a:rPr spc="75" dirty="0">
                <a:latin typeface="SimSun"/>
                <a:cs typeface="SimSun"/>
              </a:rPr>
              <a:t>dessiner()</a:t>
            </a:r>
            <a:r>
              <a:rPr spc="-380" dirty="0">
                <a:latin typeface="SimSun"/>
                <a:cs typeface="SimSun"/>
              </a:rPr>
              <a:t> </a:t>
            </a:r>
            <a:r>
              <a:rPr spc="-50" dirty="0"/>
              <a:t>qu</a:t>
            </a:r>
            <a:r>
              <a:rPr spc="-20" dirty="0"/>
              <a:t>i</a:t>
            </a:r>
            <a:r>
              <a:rPr spc="60" dirty="0"/>
              <a:t> </a:t>
            </a:r>
            <a:r>
              <a:rPr spc="-80" dirty="0"/>
              <a:t>est</a:t>
            </a:r>
            <a:r>
              <a:rPr spc="60" dirty="0"/>
              <a:t> </a:t>
            </a:r>
            <a:r>
              <a:rPr spc="-80" dirty="0"/>
              <a:t>ap</a:t>
            </a:r>
            <a:r>
              <a:rPr spc="-15" dirty="0"/>
              <a:t>p</a:t>
            </a:r>
            <a:r>
              <a:rPr spc="-125" dirty="0"/>
              <a:t>elée</a:t>
            </a:r>
            <a:r>
              <a:rPr spc="60" dirty="0"/>
              <a:t> </a:t>
            </a:r>
            <a:r>
              <a:rPr spc="-170" dirty="0"/>
              <a:t>: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93425" y="2628891"/>
            <a:ext cx="9816465" cy="2155825"/>
            <a:chOff x="493425" y="2628891"/>
            <a:chExt cx="9816465" cy="2155825"/>
          </a:xfrm>
        </p:grpSpPr>
        <p:sp>
          <p:nvSpPr>
            <p:cNvPr id="7" name="object 7"/>
            <p:cNvSpPr/>
            <p:nvPr/>
          </p:nvSpPr>
          <p:spPr>
            <a:xfrm>
              <a:off x="493425" y="2628891"/>
              <a:ext cx="9705340" cy="438150"/>
            </a:xfrm>
            <a:custGeom>
              <a:avLst/>
              <a:gdLst/>
              <a:ahLst/>
              <a:cxnLst/>
              <a:rect l="l" t="t" r="r" b="b"/>
              <a:pathLst>
                <a:path w="9705340" h="438150">
                  <a:moveTo>
                    <a:pt x="9594072" y="0"/>
                  </a:moveTo>
                  <a:lnTo>
                    <a:pt x="111185" y="0"/>
                  </a:lnTo>
                  <a:lnTo>
                    <a:pt x="68014" y="8773"/>
                  </a:lnTo>
                  <a:lnTo>
                    <a:pt x="32660" y="32660"/>
                  </a:lnTo>
                  <a:lnTo>
                    <a:pt x="8773" y="68013"/>
                  </a:lnTo>
                  <a:lnTo>
                    <a:pt x="0" y="111184"/>
                  </a:lnTo>
                  <a:lnTo>
                    <a:pt x="0" y="437911"/>
                  </a:lnTo>
                  <a:lnTo>
                    <a:pt x="9705258" y="437911"/>
                  </a:lnTo>
                  <a:lnTo>
                    <a:pt x="9705258" y="111184"/>
                  </a:lnTo>
                  <a:lnTo>
                    <a:pt x="9696484" y="68013"/>
                  </a:lnTo>
                  <a:lnTo>
                    <a:pt x="9672596" y="32660"/>
                  </a:lnTo>
                  <a:lnTo>
                    <a:pt x="9637243" y="8773"/>
                  </a:lnTo>
                  <a:lnTo>
                    <a:pt x="9594072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3426" y="3039105"/>
              <a:ext cx="9705256" cy="11076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4610" y="4562074"/>
              <a:ext cx="222367" cy="22236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5796" y="4534278"/>
              <a:ext cx="9593949" cy="25016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98683" y="2725705"/>
              <a:ext cx="111061" cy="183636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93425" y="3136015"/>
              <a:ext cx="9705340" cy="1537335"/>
            </a:xfrm>
            <a:custGeom>
              <a:avLst/>
              <a:gdLst/>
              <a:ahLst/>
              <a:cxnLst/>
              <a:rect l="l" t="t" r="r" b="b"/>
              <a:pathLst>
                <a:path w="9705340" h="1537335">
                  <a:moveTo>
                    <a:pt x="9705258" y="0"/>
                  </a:moveTo>
                  <a:lnTo>
                    <a:pt x="0" y="0"/>
                  </a:lnTo>
                  <a:lnTo>
                    <a:pt x="0" y="1426059"/>
                  </a:lnTo>
                  <a:lnTo>
                    <a:pt x="8773" y="1469230"/>
                  </a:lnTo>
                  <a:lnTo>
                    <a:pt x="32660" y="1504583"/>
                  </a:lnTo>
                  <a:lnTo>
                    <a:pt x="68014" y="1528470"/>
                  </a:lnTo>
                  <a:lnTo>
                    <a:pt x="111185" y="1537244"/>
                  </a:lnTo>
                  <a:lnTo>
                    <a:pt x="9594072" y="1537244"/>
                  </a:lnTo>
                  <a:lnTo>
                    <a:pt x="9637243" y="1528470"/>
                  </a:lnTo>
                  <a:lnTo>
                    <a:pt x="9672596" y="1504583"/>
                  </a:lnTo>
                  <a:lnTo>
                    <a:pt x="9696484" y="1469230"/>
                  </a:lnTo>
                  <a:lnTo>
                    <a:pt x="9705258" y="1426059"/>
                  </a:lnTo>
                  <a:lnTo>
                    <a:pt x="9705258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198683" y="2809081"/>
              <a:ext cx="0" cy="1795145"/>
            </a:xfrm>
            <a:custGeom>
              <a:avLst/>
              <a:gdLst/>
              <a:ahLst/>
              <a:cxnLst/>
              <a:rect l="l" t="t" r="r" b="b"/>
              <a:pathLst>
                <a:path h="1795145">
                  <a:moveTo>
                    <a:pt x="0" y="179468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198683" y="2781285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39">
                  <a:moveTo>
                    <a:pt x="0" y="277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198683" y="2753489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39">
                  <a:moveTo>
                    <a:pt x="0" y="277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198683" y="2725693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39">
                  <a:moveTo>
                    <a:pt x="0" y="277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91910" y="2619691"/>
            <a:ext cx="9000490" cy="36169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35"/>
              </a:spcBef>
            </a:pPr>
            <a:r>
              <a:rPr sz="2350" spc="-60" dirty="0">
                <a:solidFill>
                  <a:srgbClr val="FFFFFF"/>
                </a:solidFill>
                <a:latin typeface="Tahoma"/>
                <a:cs typeface="Tahoma"/>
              </a:rPr>
              <a:t>Exemple</a:t>
            </a:r>
            <a:r>
              <a:rPr sz="235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50" spc="-170" dirty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sz="235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50" spc="-65" dirty="0">
                <a:solidFill>
                  <a:srgbClr val="FFFFFF"/>
                </a:solidFill>
                <a:latin typeface="Tahoma"/>
                <a:cs typeface="Tahoma"/>
              </a:rPr>
              <a:t>comportement</a:t>
            </a:r>
            <a:r>
              <a:rPr sz="235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50" spc="-75" dirty="0">
                <a:solidFill>
                  <a:srgbClr val="FFFFFF"/>
                </a:solidFill>
                <a:latin typeface="Tahoma"/>
                <a:cs typeface="Tahoma"/>
              </a:rPr>
              <a:t>polymorphe</a:t>
            </a:r>
            <a:r>
              <a:rPr sz="2350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50" spc="30" dirty="0">
                <a:solidFill>
                  <a:srgbClr val="FFFFFF"/>
                </a:solidFill>
                <a:latin typeface="Tahoma"/>
                <a:cs typeface="Tahoma"/>
              </a:rPr>
              <a:t>(3/3)</a:t>
            </a:r>
            <a:endParaRPr sz="2350">
              <a:latin typeface="Tahoma"/>
              <a:cs typeface="Tahoma"/>
            </a:endParaRPr>
          </a:p>
          <a:p>
            <a:pPr marL="12700" marR="5332095">
              <a:lnSpc>
                <a:spcPts val="2070"/>
              </a:lnSpc>
              <a:spcBef>
                <a:spcPts val="2650"/>
              </a:spcBef>
            </a:pPr>
            <a:r>
              <a:rPr sz="1750" spc="50" dirty="0">
                <a:latin typeface="SimSun"/>
                <a:cs typeface="SimSun"/>
              </a:rPr>
              <a:t>constructeur Forme &lt;|- Cercle </a:t>
            </a:r>
            <a:r>
              <a:rPr sz="1750" spc="5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constructeur</a:t>
            </a:r>
            <a:r>
              <a:rPr sz="1750" spc="2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Forme</a:t>
            </a:r>
            <a:r>
              <a:rPr sz="1750" spc="2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&lt;|-</a:t>
            </a:r>
            <a:r>
              <a:rPr sz="1750" spc="2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Triangle </a:t>
            </a:r>
            <a:r>
              <a:rPr sz="1750" spc="-86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je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dessine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un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Cercle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!</a:t>
            </a:r>
            <a:endParaRPr sz="1750">
              <a:latin typeface="SimSun"/>
              <a:cs typeface="SimSun"/>
            </a:endParaRPr>
          </a:p>
          <a:p>
            <a:pPr marL="12700">
              <a:lnSpc>
                <a:spcPts val="2010"/>
              </a:lnSpc>
            </a:pPr>
            <a:r>
              <a:rPr sz="1750" spc="50" dirty="0">
                <a:latin typeface="SimSun"/>
                <a:cs typeface="SimSun"/>
              </a:rPr>
              <a:t>je</a:t>
            </a:r>
            <a:r>
              <a:rPr sz="1750" spc="3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dessine</a:t>
            </a:r>
            <a:r>
              <a:rPr sz="1750" spc="3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un</a:t>
            </a:r>
            <a:r>
              <a:rPr sz="1750" spc="3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Triangle</a:t>
            </a:r>
            <a:r>
              <a:rPr sz="1750" spc="3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!</a:t>
            </a:r>
            <a:endParaRPr sz="1750">
              <a:latin typeface="SimSun"/>
              <a:cs typeface="SimSun"/>
            </a:endParaRPr>
          </a:p>
          <a:p>
            <a:pPr>
              <a:lnSpc>
                <a:spcPct val="100000"/>
              </a:lnSpc>
            </a:pPr>
            <a:endParaRPr sz="230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100">
              <a:latin typeface="SimSun"/>
              <a:cs typeface="SimSun"/>
            </a:endParaRPr>
          </a:p>
          <a:p>
            <a:pPr marL="12700" marR="5080" algn="just">
              <a:lnSpc>
                <a:spcPct val="105200"/>
              </a:lnSpc>
            </a:pPr>
            <a:r>
              <a:rPr sz="2350" u="sng" spc="-4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Conclusion </a:t>
            </a:r>
            <a:r>
              <a:rPr sz="2350" u="sng" spc="-17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:</a:t>
            </a:r>
            <a:r>
              <a:rPr sz="2350" spc="-170" dirty="0">
                <a:latin typeface="Tahoma"/>
                <a:cs typeface="Tahoma"/>
              </a:rPr>
              <a:t> </a:t>
            </a:r>
            <a:r>
              <a:rPr sz="2350" spc="-30" dirty="0">
                <a:latin typeface="Tahoma"/>
                <a:cs typeface="Tahoma"/>
              </a:rPr>
              <a:t>Le </a:t>
            </a:r>
            <a:r>
              <a:rPr sz="2350" spc="130" dirty="0">
                <a:latin typeface="Tahoma"/>
                <a:cs typeface="Tahoma"/>
              </a:rPr>
              <a:t>C++ </a:t>
            </a:r>
            <a:r>
              <a:rPr sz="2350" spc="-65" dirty="0">
                <a:latin typeface="Tahoma"/>
                <a:cs typeface="Tahoma"/>
              </a:rPr>
              <a:t>permet, </a:t>
            </a:r>
            <a:r>
              <a:rPr sz="2350" spc="-85" dirty="0">
                <a:latin typeface="Tahoma"/>
                <a:cs typeface="Tahoma"/>
              </a:rPr>
              <a:t>par </a:t>
            </a:r>
            <a:r>
              <a:rPr sz="2350" spc="-75" dirty="0">
                <a:latin typeface="Tahoma"/>
                <a:cs typeface="Tahoma"/>
              </a:rPr>
              <a:t>le </a:t>
            </a:r>
            <a:r>
              <a:rPr sz="2350" spc="-70" dirty="0">
                <a:latin typeface="Tahoma"/>
                <a:cs typeface="Tahoma"/>
              </a:rPr>
              <a:t>polymorphisme, </a:t>
            </a:r>
            <a:r>
              <a:rPr sz="2350" spc="-110" dirty="0">
                <a:latin typeface="Tahoma"/>
                <a:cs typeface="Tahoma"/>
              </a:rPr>
              <a:t>que </a:t>
            </a:r>
            <a:r>
              <a:rPr sz="2350" spc="-130" dirty="0">
                <a:latin typeface="Tahoma"/>
                <a:cs typeface="Tahoma"/>
              </a:rPr>
              <a:t>des </a:t>
            </a:r>
            <a:r>
              <a:rPr sz="2350" spc="-70" dirty="0">
                <a:latin typeface="Tahoma"/>
                <a:cs typeface="Tahoma"/>
              </a:rPr>
              <a:t>objets </a:t>
            </a:r>
            <a:r>
              <a:rPr sz="2350" spc="-130" dirty="0">
                <a:latin typeface="Tahoma"/>
                <a:cs typeface="Tahoma"/>
              </a:rPr>
              <a:t>de </a:t>
            </a:r>
            <a:r>
              <a:rPr sz="2350" spc="-125" dirty="0">
                <a:latin typeface="Tahoma"/>
                <a:cs typeface="Tahoma"/>
              </a:rPr>
              <a:t> </a:t>
            </a:r>
            <a:r>
              <a:rPr sz="2350" spc="-75" dirty="0">
                <a:latin typeface="Tahoma"/>
                <a:cs typeface="Tahoma"/>
              </a:rPr>
              <a:t>types </a:t>
            </a:r>
            <a:r>
              <a:rPr sz="2350" spc="-70" dirty="0">
                <a:latin typeface="Tahoma"/>
                <a:cs typeface="Tahoma"/>
              </a:rPr>
              <a:t>différents </a:t>
            </a:r>
            <a:r>
              <a:rPr sz="2350" spc="55" dirty="0">
                <a:latin typeface="Tahoma"/>
                <a:cs typeface="Tahoma"/>
              </a:rPr>
              <a:t>(</a:t>
            </a:r>
            <a:r>
              <a:rPr sz="2350" spc="55" dirty="0">
                <a:latin typeface="SimSun"/>
                <a:cs typeface="SimSun"/>
              </a:rPr>
              <a:t>Cercle</a:t>
            </a:r>
            <a:r>
              <a:rPr sz="2350" spc="55" dirty="0">
                <a:latin typeface="Tahoma"/>
                <a:cs typeface="Tahoma"/>
              </a:rPr>
              <a:t>, </a:t>
            </a:r>
            <a:r>
              <a:rPr sz="2350" spc="60" dirty="0">
                <a:latin typeface="SimSun"/>
                <a:cs typeface="SimSun"/>
              </a:rPr>
              <a:t>Triangle</a:t>
            </a:r>
            <a:r>
              <a:rPr sz="2350" spc="60" dirty="0">
                <a:latin typeface="Tahoma"/>
                <a:cs typeface="Tahoma"/>
              </a:rPr>
              <a:t>, </a:t>
            </a:r>
            <a:r>
              <a:rPr sz="2350" spc="-35" dirty="0">
                <a:latin typeface="Tahoma"/>
                <a:cs typeface="Tahoma"/>
              </a:rPr>
              <a:t>...) </a:t>
            </a:r>
            <a:r>
              <a:rPr sz="2350" spc="-70" dirty="0">
                <a:latin typeface="Tahoma"/>
                <a:cs typeface="Tahoma"/>
              </a:rPr>
              <a:t>répondent </a:t>
            </a:r>
            <a:r>
              <a:rPr sz="2350" spc="-80" dirty="0">
                <a:latin typeface="Tahoma"/>
                <a:cs typeface="Tahoma"/>
              </a:rPr>
              <a:t>différemment </a:t>
            </a:r>
            <a:r>
              <a:rPr sz="2350" spc="-90" dirty="0">
                <a:latin typeface="Tahoma"/>
                <a:cs typeface="Tahoma"/>
              </a:rPr>
              <a:t>à </a:t>
            </a:r>
            <a:r>
              <a:rPr sz="2350" spc="-85" dirty="0">
                <a:latin typeface="Tahoma"/>
                <a:cs typeface="Tahoma"/>
              </a:rPr>
              <a:t>un </a:t>
            </a:r>
            <a:r>
              <a:rPr sz="2350" spc="-80" dirty="0">
                <a:latin typeface="Tahoma"/>
                <a:cs typeface="Tahoma"/>
              </a:rPr>
              <a:t> </a:t>
            </a:r>
            <a:r>
              <a:rPr sz="2350" spc="-130" dirty="0">
                <a:latin typeface="Tahoma"/>
                <a:cs typeface="Tahoma"/>
              </a:rPr>
              <a:t>même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65" dirty="0">
                <a:latin typeface="Tahoma"/>
                <a:cs typeface="Tahoma"/>
              </a:rPr>
              <a:t>appel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40" dirty="0">
                <a:latin typeface="Tahoma"/>
                <a:cs typeface="Tahoma"/>
              </a:rPr>
              <a:t>fonction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60" dirty="0">
                <a:latin typeface="Tahoma"/>
                <a:cs typeface="Tahoma"/>
              </a:rPr>
              <a:t>(</a:t>
            </a:r>
            <a:r>
              <a:rPr sz="2350" spc="60" dirty="0">
                <a:latin typeface="SimSun"/>
                <a:cs typeface="SimSun"/>
              </a:rPr>
              <a:t>dessiner()</a:t>
            </a:r>
            <a:r>
              <a:rPr sz="2350" spc="60" dirty="0">
                <a:latin typeface="Tahoma"/>
                <a:cs typeface="Tahoma"/>
              </a:rPr>
              <a:t>).</a:t>
            </a:r>
            <a:endParaRPr sz="235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03330" y="7322021"/>
            <a:ext cx="10085705" cy="240029"/>
            <a:chOff x="303330" y="7322021"/>
            <a:chExt cx="10085705" cy="240029"/>
          </a:xfrm>
        </p:grpSpPr>
        <p:sp>
          <p:nvSpPr>
            <p:cNvPr id="19" name="object 19"/>
            <p:cNvSpPr/>
            <p:nvPr/>
          </p:nvSpPr>
          <p:spPr>
            <a:xfrm>
              <a:off x="303330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65059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26788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60" dirty="0"/>
              <a:t>tv </a:t>
            </a:r>
            <a:r>
              <a:rPr spc="140" dirty="0"/>
              <a:t> </a:t>
            </a:r>
            <a:r>
              <a:rPr spc="55" dirty="0"/>
              <a:t>(BTS</a:t>
            </a:r>
            <a:r>
              <a:rPr spc="100" dirty="0"/>
              <a:t> </a:t>
            </a:r>
            <a:r>
              <a:rPr spc="-25" dirty="0"/>
              <a:t>IRIS</a:t>
            </a:r>
            <a:r>
              <a:rPr spc="105" dirty="0"/>
              <a:t> </a:t>
            </a:r>
            <a:r>
              <a:rPr spc="5" dirty="0"/>
              <a:t>Avignon)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-40" dirty="0"/>
              <a:t>Cours</a:t>
            </a:r>
            <a:r>
              <a:rPr spc="60" dirty="0"/>
              <a:t> </a:t>
            </a:r>
            <a:r>
              <a:rPr spc="170" dirty="0"/>
              <a:t>C/C++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7481423" y="7283716"/>
            <a:ext cx="1800860" cy="27051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300" spc="40" dirty="0">
                <a:solidFill>
                  <a:srgbClr val="FFFFFF"/>
                </a:solidFill>
                <a:latin typeface="SimSun"/>
                <a:cs typeface="SimSun"/>
                <a:hlinkClick r:id="rId6"/>
              </a:rPr>
              <a:t>tvaira@free.fr</a:t>
            </a:r>
            <a:r>
              <a:rPr sz="1300" spc="-190" dirty="0">
                <a:solidFill>
                  <a:srgbClr val="FFFFFF"/>
                </a:solidFill>
                <a:latin typeface="SimSun"/>
                <a:cs typeface="SimSun"/>
                <a:hlinkClick r:id="rId6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©</a:t>
            </a:r>
            <a:r>
              <a:rPr sz="130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v0.1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9"/>
              </a:spcBef>
            </a:pPr>
            <a:fld id="{81D60167-4931-47E6-BA6A-407CBD079E47}" type="slidenum">
              <a:rPr spc="-30" dirty="0"/>
              <a:t>27</a:t>
            </a:fld>
            <a:r>
              <a:rPr spc="80" dirty="0"/>
              <a:t> </a:t>
            </a:r>
            <a:r>
              <a:rPr spc="330" dirty="0"/>
              <a:t>/</a:t>
            </a:r>
            <a:r>
              <a:rPr spc="85" dirty="0"/>
              <a:t> </a:t>
            </a:r>
            <a:r>
              <a:rPr spc="-30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3330" y="0"/>
            <a:ext cx="5043170" cy="203200"/>
          </a:xfrm>
          <a:custGeom>
            <a:avLst/>
            <a:gdLst/>
            <a:ahLst/>
            <a:cxnLst/>
            <a:rect l="l" t="t" r="r" b="b"/>
            <a:pathLst>
              <a:path w="5043170" h="203200">
                <a:moveTo>
                  <a:pt x="0" y="203077"/>
                </a:moveTo>
                <a:lnTo>
                  <a:pt x="5042663" y="203077"/>
                </a:lnTo>
                <a:lnTo>
                  <a:pt x="5042663" y="0"/>
                </a:lnTo>
                <a:lnTo>
                  <a:pt x="0" y="0"/>
                </a:lnTo>
                <a:lnTo>
                  <a:pt x="0" y="203077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36416" y="0"/>
            <a:ext cx="1174750" cy="224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Classe</a:t>
            </a:r>
            <a:r>
              <a:rPr sz="1300" spc="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abstraite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3330" y="0"/>
            <a:ext cx="10085705" cy="812800"/>
            <a:chOff x="303330" y="0"/>
            <a:chExt cx="10085705" cy="812800"/>
          </a:xfrm>
        </p:grpSpPr>
        <p:sp>
          <p:nvSpPr>
            <p:cNvPr id="5" name="object 5"/>
            <p:cNvSpPr/>
            <p:nvPr/>
          </p:nvSpPr>
          <p:spPr>
            <a:xfrm>
              <a:off x="5345993" y="0"/>
              <a:ext cx="5043170" cy="203200"/>
            </a:xfrm>
            <a:custGeom>
              <a:avLst/>
              <a:gdLst/>
              <a:ahLst/>
              <a:cxnLst/>
              <a:rect l="l" t="t" r="r" b="b"/>
              <a:pathLst>
                <a:path w="5043170" h="203200">
                  <a:moveTo>
                    <a:pt x="0" y="203077"/>
                  </a:moveTo>
                  <a:lnTo>
                    <a:pt x="5042663" y="203077"/>
                  </a:lnTo>
                  <a:lnTo>
                    <a:pt x="5042663" y="0"/>
                  </a:lnTo>
                  <a:lnTo>
                    <a:pt x="0" y="0"/>
                  </a:lnTo>
                  <a:lnTo>
                    <a:pt x="0" y="20307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330" y="201079"/>
              <a:ext cx="10085354" cy="1476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3330" y="311846"/>
              <a:ext cx="10085705" cy="498475"/>
            </a:xfrm>
            <a:custGeom>
              <a:avLst/>
              <a:gdLst/>
              <a:ahLst/>
              <a:cxnLst/>
              <a:rect l="l" t="t" r="r" b="b"/>
              <a:pathLst>
                <a:path w="10085705" h="498475">
                  <a:moveTo>
                    <a:pt x="0" y="498437"/>
                  </a:moveTo>
                  <a:lnTo>
                    <a:pt x="10085354" y="498437"/>
                  </a:lnTo>
                  <a:lnTo>
                    <a:pt x="10085354" y="0"/>
                  </a:lnTo>
                  <a:lnTo>
                    <a:pt x="0" y="0"/>
                  </a:lnTo>
                  <a:lnTo>
                    <a:pt x="0" y="49843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27007" y="249275"/>
            <a:ext cx="4051935" cy="5041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00" spc="-125" dirty="0">
                <a:solidFill>
                  <a:srgbClr val="FFFFFF"/>
                </a:solidFill>
              </a:rPr>
              <a:t>Classe</a:t>
            </a:r>
            <a:r>
              <a:rPr sz="3100" spc="30" dirty="0">
                <a:solidFill>
                  <a:srgbClr val="FFFFFF"/>
                </a:solidFill>
              </a:rPr>
              <a:t> </a:t>
            </a:r>
            <a:r>
              <a:rPr sz="3100" spc="-95" dirty="0">
                <a:solidFill>
                  <a:srgbClr val="FFFFFF"/>
                </a:solidFill>
              </a:rPr>
              <a:t>abstraite</a:t>
            </a:r>
            <a:r>
              <a:rPr sz="3100" spc="35" dirty="0">
                <a:solidFill>
                  <a:srgbClr val="FFFFFF"/>
                </a:solidFill>
              </a:rPr>
              <a:t> </a:t>
            </a:r>
            <a:r>
              <a:rPr sz="3100" spc="-210" dirty="0">
                <a:solidFill>
                  <a:srgbClr val="FFFFFF"/>
                </a:solidFill>
              </a:rPr>
              <a:t>en</a:t>
            </a:r>
            <a:r>
              <a:rPr sz="3100" spc="40" dirty="0">
                <a:solidFill>
                  <a:srgbClr val="FFFFFF"/>
                </a:solidFill>
              </a:rPr>
              <a:t> </a:t>
            </a:r>
            <a:r>
              <a:rPr sz="3100" spc="120" dirty="0">
                <a:solidFill>
                  <a:srgbClr val="FFFFFF"/>
                </a:solidFill>
              </a:rPr>
              <a:t>C++</a:t>
            </a:r>
            <a:endParaRPr sz="310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3330" y="810284"/>
            <a:ext cx="10085354" cy="7385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6620" y="2109913"/>
            <a:ext cx="142843" cy="14284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98391" y="1942386"/>
            <a:ext cx="8631555" cy="40671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882650">
              <a:lnSpc>
                <a:spcPts val="2970"/>
              </a:lnSpc>
              <a:spcBef>
                <a:spcPts val="110"/>
              </a:spcBef>
            </a:pPr>
            <a:r>
              <a:rPr sz="2350" spc="-55" dirty="0">
                <a:latin typeface="Tahoma"/>
                <a:cs typeface="Tahoma"/>
              </a:rPr>
              <a:t>Une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classe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est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40" dirty="0">
                <a:latin typeface="Tahoma"/>
                <a:cs typeface="Tahoma"/>
              </a:rPr>
              <a:t>dite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b="1" spc="-35" dirty="0">
                <a:solidFill>
                  <a:srgbClr val="000099"/>
                </a:solidFill>
                <a:latin typeface="Arial"/>
                <a:cs typeface="Arial"/>
              </a:rPr>
              <a:t>abstraite</a:t>
            </a:r>
            <a:r>
              <a:rPr sz="2350" b="1" spc="14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spc="-55" dirty="0">
                <a:latin typeface="Tahoma"/>
                <a:cs typeface="Tahoma"/>
              </a:rPr>
              <a:t>si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b="1" spc="-65" dirty="0">
                <a:solidFill>
                  <a:srgbClr val="7F0000"/>
                </a:solidFill>
                <a:latin typeface="Arial"/>
                <a:cs typeface="Arial"/>
              </a:rPr>
              <a:t>elle</a:t>
            </a:r>
            <a:r>
              <a:rPr sz="2350" b="1" spc="220" dirty="0">
                <a:solidFill>
                  <a:srgbClr val="7F0000"/>
                </a:solidFill>
                <a:latin typeface="Arial"/>
                <a:cs typeface="Arial"/>
              </a:rPr>
              <a:t> </a:t>
            </a:r>
            <a:r>
              <a:rPr sz="2350" b="1" spc="-35" dirty="0">
                <a:solidFill>
                  <a:srgbClr val="7F0000"/>
                </a:solidFill>
                <a:latin typeface="Arial"/>
                <a:cs typeface="Arial"/>
              </a:rPr>
              <a:t>contient</a:t>
            </a:r>
            <a:r>
              <a:rPr sz="2350" b="1" spc="220" dirty="0">
                <a:solidFill>
                  <a:srgbClr val="7F0000"/>
                </a:solidFill>
                <a:latin typeface="Arial"/>
                <a:cs typeface="Arial"/>
              </a:rPr>
              <a:t> </a:t>
            </a:r>
            <a:r>
              <a:rPr sz="2350" b="1" spc="-75" dirty="0">
                <a:solidFill>
                  <a:srgbClr val="7F0000"/>
                </a:solidFill>
                <a:latin typeface="Arial"/>
                <a:cs typeface="Arial"/>
              </a:rPr>
              <a:t>au</a:t>
            </a:r>
            <a:r>
              <a:rPr sz="2350" b="1" spc="220" dirty="0">
                <a:solidFill>
                  <a:srgbClr val="7F0000"/>
                </a:solidFill>
                <a:latin typeface="Arial"/>
                <a:cs typeface="Arial"/>
              </a:rPr>
              <a:t> </a:t>
            </a:r>
            <a:r>
              <a:rPr sz="2350" b="1" spc="-120" dirty="0">
                <a:solidFill>
                  <a:srgbClr val="7F0000"/>
                </a:solidFill>
                <a:latin typeface="Arial"/>
                <a:cs typeface="Arial"/>
              </a:rPr>
              <a:t>moins</a:t>
            </a:r>
            <a:r>
              <a:rPr sz="2350" b="1" spc="220" dirty="0">
                <a:solidFill>
                  <a:srgbClr val="7F0000"/>
                </a:solidFill>
                <a:latin typeface="Arial"/>
                <a:cs typeface="Arial"/>
              </a:rPr>
              <a:t> </a:t>
            </a:r>
            <a:r>
              <a:rPr sz="2350" b="1" spc="-95" dirty="0">
                <a:solidFill>
                  <a:srgbClr val="7F0000"/>
                </a:solidFill>
                <a:latin typeface="Arial"/>
                <a:cs typeface="Arial"/>
              </a:rPr>
              <a:t>une </a:t>
            </a:r>
            <a:r>
              <a:rPr sz="2350" b="1" spc="-635" dirty="0">
                <a:solidFill>
                  <a:srgbClr val="7F0000"/>
                </a:solidFill>
                <a:latin typeface="Arial"/>
                <a:cs typeface="Arial"/>
              </a:rPr>
              <a:t> </a:t>
            </a:r>
            <a:r>
              <a:rPr sz="2350" b="1" spc="-55" dirty="0">
                <a:solidFill>
                  <a:srgbClr val="7F0000"/>
                </a:solidFill>
                <a:latin typeface="Arial"/>
                <a:cs typeface="Arial"/>
              </a:rPr>
              <a:t>fonction</a:t>
            </a:r>
            <a:r>
              <a:rPr sz="2350" b="1" spc="215" dirty="0">
                <a:solidFill>
                  <a:srgbClr val="7F0000"/>
                </a:solidFill>
                <a:latin typeface="Arial"/>
                <a:cs typeface="Arial"/>
              </a:rPr>
              <a:t> </a:t>
            </a:r>
            <a:r>
              <a:rPr sz="2350" b="1" spc="-40" dirty="0">
                <a:solidFill>
                  <a:srgbClr val="7F0000"/>
                </a:solidFill>
                <a:latin typeface="Arial"/>
                <a:cs typeface="Arial"/>
              </a:rPr>
              <a:t>virtuelle</a:t>
            </a:r>
            <a:r>
              <a:rPr sz="2350" b="1" spc="220" dirty="0">
                <a:solidFill>
                  <a:srgbClr val="7F0000"/>
                </a:solidFill>
                <a:latin typeface="Arial"/>
                <a:cs typeface="Arial"/>
              </a:rPr>
              <a:t> </a:t>
            </a:r>
            <a:r>
              <a:rPr sz="2350" b="1" spc="-75" dirty="0">
                <a:solidFill>
                  <a:srgbClr val="7F0000"/>
                </a:solidFill>
                <a:latin typeface="Arial"/>
                <a:cs typeface="Arial"/>
              </a:rPr>
              <a:t>pure</a:t>
            </a:r>
            <a:r>
              <a:rPr sz="2350" spc="-75" dirty="0">
                <a:latin typeface="Tahoma"/>
                <a:cs typeface="Tahoma"/>
              </a:rPr>
              <a:t>.</a:t>
            </a:r>
            <a:endParaRPr sz="2350">
              <a:latin typeface="Tahoma"/>
              <a:cs typeface="Tahoma"/>
            </a:endParaRPr>
          </a:p>
          <a:p>
            <a:pPr marL="12700" marR="5080">
              <a:lnSpc>
                <a:spcPct val="105200"/>
              </a:lnSpc>
              <a:spcBef>
                <a:spcPts val="1614"/>
              </a:spcBef>
            </a:pPr>
            <a:r>
              <a:rPr sz="2350" spc="-55" dirty="0">
                <a:latin typeface="Tahoma"/>
                <a:cs typeface="Tahoma"/>
              </a:rPr>
              <a:t>Une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40" dirty="0">
                <a:latin typeface="Tahoma"/>
                <a:cs typeface="Tahoma"/>
              </a:rPr>
              <a:t>fonction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14" dirty="0">
                <a:latin typeface="Tahoma"/>
                <a:cs typeface="Tahoma"/>
              </a:rPr>
              <a:t>membre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est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40" dirty="0">
                <a:latin typeface="Tahoma"/>
                <a:cs typeface="Tahoma"/>
              </a:rPr>
              <a:t>dite</a:t>
            </a:r>
            <a:r>
              <a:rPr sz="2350" spc="80" dirty="0">
                <a:latin typeface="Tahoma"/>
                <a:cs typeface="Tahoma"/>
              </a:rPr>
              <a:t> </a:t>
            </a:r>
            <a:r>
              <a:rPr sz="2350" b="1" spc="-40" dirty="0">
                <a:solidFill>
                  <a:srgbClr val="000099"/>
                </a:solidFill>
                <a:latin typeface="Arial"/>
                <a:cs typeface="Arial"/>
              </a:rPr>
              <a:t>virtuelle</a:t>
            </a:r>
            <a:r>
              <a:rPr sz="2350" b="1" spc="22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b="1" spc="-80" dirty="0">
                <a:solidFill>
                  <a:srgbClr val="000099"/>
                </a:solidFill>
                <a:latin typeface="Arial"/>
                <a:cs typeface="Arial"/>
              </a:rPr>
              <a:t>pure</a:t>
            </a:r>
            <a:r>
              <a:rPr sz="2350" b="1" spc="14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350" spc="-55" dirty="0">
                <a:latin typeface="Tahoma"/>
                <a:cs typeface="Tahoma"/>
              </a:rPr>
              <a:t>lorsqu’elle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est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105" dirty="0">
                <a:latin typeface="Tahoma"/>
                <a:cs typeface="Tahoma"/>
              </a:rPr>
              <a:t>déclarée </a:t>
            </a:r>
            <a:r>
              <a:rPr sz="2350" spc="-720" dirty="0">
                <a:latin typeface="Tahoma"/>
                <a:cs typeface="Tahoma"/>
              </a:rPr>
              <a:t> </a:t>
            </a:r>
            <a:r>
              <a:rPr sz="2350" spc="-125" dirty="0">
                <a:latin typeface="Tahoma"/>
                <a:cs typeface="Tahoma"/>
              </a:rPr>
              <a:t>de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30" dirty="0">
                <a:latin typeface="Tahoma"/>
                <a:cs typeface="Tahoma"/>
              </a:rPr>
              <a:t>la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65" dirty="0">
                <a:latin typeface="Tahoma"/>
                <a:cs typeface="Tahoma"/>
              </a:rPr>
              <a:t>façon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65" dirty="0">
                <a:latin typeface="Tahoma"/>
                <a:cs typeface="Tahoma"/>
              </a:rPr>
              <a:t>suivante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70" dirty="0">
                <a:latin typeface="Tahoma"/>
                <a:cs typeface="Tahoma"/>
              </a:rPr>
              <a:t>:</a:t>
            </a:r>
            <a:endParaRPr sz="2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2350" u="sng" spc="75" dirty="0">
                <a:uFill>
                  <a:solidFill>
                    <a:srgbClr val="000000"/>
                  </a:solidFill>
                </a:uFill>
                <a:latin typeface="SimSun"/>
                <a:cs typeface="SimSun"/>
              </a:rPr>
              <a:t>virtual</a:t>
            </a:r>
            <a:r>
              <a:rPr sz="2350" spc="75" dirty="0">
                <a:latin typeface="SimSun"/>
                <a:cs typeface="SimSun"/>
              </a:rPr>
              <a:t> type</a:t>
            </a:r>
            <a:r>
              <a:rPr sz="2350" spc="80" dirty="0">
                <a:latin typeface="SimSun"/>
                <a:cs typeface="SimSun"/>
              </a:rPr>
              <a:t> </a:t>
            </a:r>
            <a:r>
              <a:rPr sz="2350" spc="75" dirty="0">
                <a:latin typeface="SimSun"/>
                <a:cs typeface="SimSun"/>
              </a:rPr>
              <a:t>nomMethode(paramètres)</a:t>
            </a:r>
            <a:r>
              <a:rPr sz="2350" spc="80" dirty="0">
                <a:latin typeface="SimSun"/>
                <a:cs typeface="SimSun"/>
              </a:rPr>
              <a:t> </a:t>
            </a:r>
            <a:r>
              <a:rPr sz="2350" u="sng" spc="75" dirty="0">
                <a:uFill>
                  <a:solidFill>
                    <a:srgbClr val="000000"/>
                  </a:solidFill>
                </a:uFill>
                <a:latin typeface="SimSun"/>
                <a:cs typeface="SimSun"/>
              </a:rPr>
              <a:t>=</a:t>
            </a:r>
            <a:r>
              <a:rPr sz="2350" u="sng" spc="80" dirty="0">
                <a:uFill>
                  <a:solidFill>
                    <a:srgbClr val="000000"/>
                  </a:solidFill>
                </a:uFill>
                <a:latin typeface="SimSun"/>
                <a:cs typeface="SimSun"/>
              </a:rPr>
              <a:t> </a:t>
            </a:r>
            <a:r>
              <a:rPr sz="2350" u="sng" spc="75" dirty="0">
                <a:uFill>
                  <a:solidFill>
                    <a:srgbClr val="000000"/>
                  </a:solidFill>
                </a:uFill>
                <a:latin typeface="SimSun"/>
                <a:cs typeface="SimSun"/>
              </a:rPr>
              <a:t>0</a:t>
            </a:r>
            <a:r>
              <a:rPr sz="2350" spc="75" dirty="0">
                <a:latin typeface="SimSun"/>
                <a:cs typeface="SimSun"/>
              </a:rPr>
              <a:t>;</a:t>
            </a:r>
            <a:endParaRPr sz="2350">
              <a:latin typeface="SimSun"/>
              <a:cs typeface="SimSun"/>
            </a:endParaRPr>
          </a:p>
          <a:p>
            <a:pPr marL="12700" marR="229870">
              <a:lnSpc>
                <a:spcPct val="105200"/>
              </a:lnSpc>
              <a:spcBef>
                <a:spcPts val="1745"/>
              </a:spcBef>
            </a:pPr>
            <a:r>
              <a:rPr sz="2350" spc="-55" dirty="0">
                <a:latin typeface="Tahoma"/>
                <a:cs typeface="Tahoma"/>
              </a:rPr>
              <a:t>Une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classe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50" dirty="0">
                <a:latin typeface="Tahoma"/>
                <a:cs typeface="Tahoma"/>
              </a:rPr>
              <a:t>abstraite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30" dirty="0">
                <a:latin typeface="Tahoma"/>
                <a:cs typeface="Tahoma"/>
              </a:rPr>
              <a:t>ne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45" dirty="0">
                <a:latin typeface="Tahoma"/>
                <a:cs typeface="Tahoma"/>
              </a:rPr>
              <a:t>peut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00" dirty="0">
                <a:latin typeface="Tahoma"/>
                <a:cs typeface="Tahoma"/>
              </a:rPr>
              <a:t>pas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être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70" dirty="0">
                <a:latin typeface="Tahoma"/>
                <a:cs typeface="Tahoma"/>
              </a:rPr>
              <a:t>instanciée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170" dirty="0">
                <a:latin typeface="Tahoma"/>
                <a:cs typeface="Tahoma"/>
              </a:rPr>
              <a:t>: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on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130" dirty="0">
                <a:latin typeface="Tahoma"/>
                <a:cs typeface="Tahoma"/>
              </a:rPr>
              <a:t>ne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50" dirty="0">
                <a:latin typeface="Tahoma"/>
                <a:cs typeface="Tahoma"/>
              </a:rPr>
              <a:t>peut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créer </a:t>
            </a:r>
            <a:r>
              <a:rPr sz="2350" spc="-720" dirty="0">
                <a:latin typeface="Tahoma"/>
                <a:cs typeface="Tahoma"/>
              </a:rPr>
              <a:t> </a:t>
            </a:r>
            <a:r>
              <a:rPr sz="2350" spc="-30" dirty="0">
                <a:latin typeface="Tahoma"/>
                <a:cs typeface="Tahoma"/>
              </a:rPr>
              <a:t>d’objet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à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35" dirty="0">
                <a:latin typeface="Tahoma"/>
                <a:cs typeface="Tahoma"/>
              </a:rPr>
              <a:t>partir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50" dirty="0">
                <a:latin typeface="Tahoma"/>
                <a:cs typeface="Tahoma"/>
              </a:rPr>
              <a:t>d’une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90" dirty="0">
                <a:latin typeface="Tahoma"/>
                <a:cs typeface="Tahoma"/>
              </a:rPr>
              <a:t>classe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50" dirty="0">
                <a:latin typeface="Tahoma"/>
                <a:cs typeface="Tahoma"/>
              </a:rPr>
              <a:t>abstraite.</a:t>
            </a:r>
            <a:endParaRPr sz="2350">
              <a:latin typeface="Tahoma"/>
              <a:cs typeface="Tahoma"/>
            </a:endParaRPr>
          </a:p>
          <a:p>
            <a:pPr marL="12700" marR="232410">
              <a:lnSpc>
                <a:spcPct val="105200"/>
              </a:lnSpc>
              <a:spcBef>
                <a:spcPts val="1739"/>
              </a:spcBef>
            </a:pPr>
            <a:r>
              <a:rPr sz="2350" spc="-95" dirty="0">
                <a:latin typeface="Tahoma"/>
                <a:cs typeface="Tahoma"/>
              </a:rPr>
              <a:t>Il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est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45" dirty="0">
                <a:latin typeface="Tahoma"/>
                <a:cs typeface="Tahoma"/>
              </a:rPr>
              <a:t>obligatoire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25" dirty="0">
                <a:latin typeface="Tahoma"/>
                <a:cs typeface="Tahoma"/>
              </a:rPr>
              <a:t>d’avoir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114" dirty="0">
                <a:latin typeface="Tahoma"/>
                <a:cs typeface="Tahoma"/>
              </a:rPr>
              <a:t>une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40" dirty="0">
                <a:latin typeface="Tahoma"/>
                <a:cs typeface="Tahoma"/>
              </a:rPr>
              <a:t>définition</a:t>
            </a:r>
            <a:r>
              <a:rPr sz="2350" spc="70" dirty="0">
                <a:latin typeface="Tahoma"/>
                <a:cs typeface="Tahoma"/>
              </a:rPr>
              <a:t> </a:t>
            </a:r>
            <a:r>
              <a:rPr sz="2350" spc="-50" dirty="0">
                <a:latin typeface="Tahoma"/>
                <a:cs typeface="Tahoma"/>
              </a:rPr>
              <a:t>pour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100" dirty="0">
                <a:latin typeface="Tahoma"/>
                <a:cs typeface="Tahoma"/>
              </a:rPr>
              <a:t>les</a:t>
            </a:r>
            <a:r>
              <a:rPr sz="2350" spc="65" dirty="0">
                <a:latin typeface="Tahoma"/>
                <a:cs typeface="Tahoma"/>
              </a:rPr>
              <a:t> </a:t>
            </a:r>
            <a:r>
              <a:rPr sz="2350" spc="-50" dirty="0">
                <a:latin typeface="Tahoma"/>
                <a:cs typeface="Tahoma"/>
              </a:rPr>
              <a:t>fonctions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50" dirty="0">
                <a:latin typeface="Tahoma"/>
                <a:cs typeface="Tahoma"/>
              </a:rPr>
              <a:t>virtuelles </a:t>
            </a:r>
            <a:r>
              <a:rPr sz="2350" spc="-720" dirty="0">
                <a:latin typeface="Tahoma"/>
                <a:cs typeface="Tahoma"/>
              </a:rPr>
              <a:t> </a:t>
            </a:r>
            <a:r>
              <a:rPr sz="2350" spc="-105" dirty="0">
                <a:latin typeface="Tahoma"/>
                <a:cs typeface="Tahoma"/>
              </a:rPr>
              <a:t>pures</a:t>
            </a:r>
            <a:r>
              <a:rPr sz="2350" spc="55" dirty="0">
                <a:latin typeface="Tahoma"/>
                <a:cs typeface="Tahoma"/>
              </a:rPr>
              <a:t> </a:t>
            </a:r>
            <a:r>
              <a:rPr sz="2350" spc="-85" dirty="0">
                <a:latin typeface="Tahoma"/>
                <a:cs typeface="Tahoma"/>
              </a:rPr>
              <a:t>au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80" dirty="0">
                <a:latin typeface="Tahoma"/>
                <a:cs typeface="Tahoma"/>
              </a:rPr>
              <a:t>niveau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30" dirty="0">
                <a:latin typeface="Tahoma"/>
                <a:cs typeface="Tahoma"/>
              </a:rPr>
              <a:t>des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95" dirty="0">
                <a:latin typeface="Tahoma"/>
                <a:cs typeface="Tahoma"/>
              </a:rPr>
              <a:t>classes</a:t>
            </a:r>
            <a:r>
              <a:rPr sz="2350" spc="60" dirty="0">
                <a:latin typeface="Tahoma"/>
                <a:cs typeface="Tahoma"/>
              </a:rPr>
              <a:t> </a:t>
            </a:r>
            <a:r>
              <a:rPr sz="2350" spc="-105" dirty="0">
                <a:latin typeface="Tahoma"/>
                <a:cs typeface="Tahoma"/>
              </a:rPr>
              <a:t>dérivées</a:t>
            </a:r>
            <a:endParaRPr sz="235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6620" y="3084690"/>
            <a:ext cx="142843" cy="14284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6620" y="4436075"/>
            <a:ext cx="142843" cy="14284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6620" y="5410825"/>
            <a:ext cx="142843" cy="142843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303330" y="7322021"/>
            <a:ext cx="10085705" cy="240029"/>
            <a:chOff x="303330" y="7322021"/>
            <a:chExt cx="10085705" cy="240029"/>
          </a:xfrm>
        </p:grpSpPr>
        <p:sp>
          <p:nvSpPr>
            <p:cNvPr id="16" name="object 16"/>
            <p:cNvSpPr/>
            <p:nvPr/>
          </p:nvSpPr>
          <p:spPr>
            <a:xfrm>
              <a:off x="303330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65059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26788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60" dirty="0"/>
              <a:t>tv </a:t>
            </a:r>
            <a:r>
              <a:rPr spc="140" dirty="0"/>
              <a:t> </a:t>
            </a:r>
            <a:r>
              <a:rPr spc="55" dirty="0"/>
              <a:t>(BTS</a:t>
            </a:r>
            <a:r>
              <a:rPr spc="100" dirty="0"/>
              <a:t> </a:t>
            </a:r>
            <a:r>
              <a:rPr spc="-25" dirty="0"/>
              <a:t>IRIS</a:t>
            </a:r>
            <a:r>
              <a:rPr spc="105" dirty="0"/>
              <a:t> </a:t>
            </a:r>
            <a:r>
              <a:rPr spc="5" dirty="0"/>
              <a:t>Avignon)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-40" dirty="0"/>
              <a:t>Cours</a:t>
            </a:r>
            <a:r>
              <a:rPr spc="60" dirty="0"/>
              <a:t> </a:t>
            </a:r>
            <a:r>
              <a:rPr spc="170" dirty="0"/>
              <a:t>C/C++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481423" y="7283716"/>
            <a:ext cx="1800860" cy="27051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300" spc="40" dirty="0">
                <a:solidFill>
                  <a:srgbClr val="FFFFFF"/>
                </a:solidFill>
                <a:latin typeface="SimSun"/>
                <a:cs typeface="SimSun"/>
                <a:hlinkClick r:id="rId6"/>
              </a:rPr>
              <a:t>tvaira@free.fr</a:t>
            </a:r>
            <a:r>
              <a:rPr sz="1300" spc="-190" dirty="0">
                <a:solidFill>
                  <a:srgbClr val="FFFFFF"/>
                </a:solidFill>
                <a:latin typeface="SimSun"/>
                <a:cs typeface="SimSun"/>
                <a:hlinkClick r:id="rId6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©</a:t>
            </a:r>
            <a:r>
              <a:rPr sz="130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v0.1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9"/>
              </a:spcBef>
            </a:pPr>
            <a:fld id="{81D60167-4931-47E6-BA6A-407CBD079E47}" type="slidenum">
              <a:rPr spc="-30" dirty="0"/>
              <a:t>28</a:t>
            </a:fld>
            <a:r>
              <a:rPr spc="80" dirty="0"/>
              <a:t> </a:t>
            </a:r>
            <a:r>
              <a:rPr spc="330" dirty="0"/>
              <a:t>/</a:t>
            </a:r>
            <a:r>
              <a:rPr spc="85" dirty="0"/>
              <a:t> </a:t>
            </a:r>
            <a:r>
              <a:rPr spc="-30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3330" y="0"/>
            <a:ext cx="5043170" cy="203200"/>
          </a:xfrm>
          <a:custGeom>
            <a:avLst/>
            <a:gdLst/>
            <a:ahLst/>
            <a:cxnLst/>
            <a:rect l="l" t="t" r="r" b="b"/>
            <a:pathLst>
              <a:path w="5043170" h="203200">
                <a:moveTo>
                  <a:pt x="0" y="203077"/>
                </a:moveTo>
                <a:lnTo>
                  <a:pt x="5042663" y="203077"/>
                </a:lnTo>
                <a:lnTo>
                  <a:pt x="5042663" y="0"/>
                </a:lnTo>
                <a:lnTo>
                  <a:pt x="0" y="0"/>
                </a:lnTo>
                <a:lnTo>
                  <a:pt x="0" y="203077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36416" y="0"/>
            <a:ext cx="1174750" cy="224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Classe</a:t>
            </a:r>
            <a:r>
              <a:rPr sz="1300" spc="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abstraite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3330" y="0"/>
            <a:ext cx="10085705" cy="812800"/>
            <a:chOff x="303330" y="0"/>
            <a:chExt cx="10085705" cy="812800"/>
          </a:xfrm>
        </p:grpSpPr>
        <p:sp>
          <p:nvSpPr>
            <p:cNvPr id="5" name="object 5"/>
            <p:cNvSpPr/>
            <p:nvPr/>
          </p:nvSpPr>
          <p:spPr>
            <a:xfrm>
              <a:off x="5345993" y="0"/>
              <a:ext cx="5043170" cy="203200"/>
            </a:xfrm>
            <a:custGeom>
              <a:avLst/>
              <a:gdLst/>
              <a:ahLst/>
              <a:cxnLst/>
              <a:rect l="l" t="t" r="r" b="b"/>
              <a:pathLst>
                <a:path w="5043170" h="203200">
                  <a:moveTo>
                    <a:pt x="0" y="203077"/>
                  </a:moveTo>
                  <a:lnTo>
                    <a:pt x="5042663" y="203077"/>
                  </a:lnTo>
                  <a:lnTo>
                    <a:pt x="5042663" y="0"/>
                  </a:lnTo>
                  <a:lnTo>
                    <a:pt x="0" y="0"/>
                  </a:lnTo>
                  <a:lnTo>
                    <a:pt x="0" y="20307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330" y="201079"/>
              <a:ext cx="10085354" cy="1476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3330" y="311846"/>
              <a:ext cx="10085705" cy="498475"/>
            </a:xfrm>
            <a:custGeom>
              <a:avLst/>
              <a:gdLst/>
              <a:ahLst/>
              <a:cxnLst/>
              <a:rect l="l" t="t" r="r" b="b"/>
              <a:pathLst>
                <a:path w="10085705" h="498475">
                  <a:moveTo>
                    <a:pt x="0" y="498437"/>
                  </a:moveTo>
                  <a:lnTo>
                    <a:pt x="10085354" y="498437"/>
                  </a:lnTo>
                  <a:lnTo>
                    <a:pt x="10085354" y="0"/>
                  </a:lnTo>
                  <a:lnTo>
                    <a:pt x="0" y="0"/>
                  </a:lnTo>
                  <a:lnTo>
                    <a:pt x="0" y="498437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27007" y="249275"/>
            <a:ext cx="4010025" cy="5041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00" spc="-125" dirty="0">
                <a:solidFill>
                  <a:srgbClr val="FFFFFF"/>
                </a:solidFill>
              </a:rPr>
              <a:t>Classe</a:t>
            </a:r>
            <a:r>
              <a:rPr sz="3100" spc="30" dirty="0">
                <a:solidFill>
                  <a:srgbClr val="FFFFFF"/>
                </a:solidFill>
              </a:rPr>
              <a:t> </a:t>
            </a:r>
            <a:r>
              <a:rPr sz="3100" spc="-95" dirty="0">
                <a:solidFill>
                  <a:srgbClr val="FFFFFF"/>
                </a:solidFill>
              </a:rPr>
              <a:t>abstraite</a:t>
            </a:r>
            <a:r>
              <a:rPr sz="3100" spc="40" dirty="0">
                <a:solidFill>
                  <a:srgbClr val="FFFFFF"/>
                </a:solidFill>
              </a:rPr>
              <a:t> </a:t>
            </a:r>
            <a:r>
              <a:rPr sz="3100" spc="-210" dirty="0">
                <a:solidFill>
                  <a:srgbClr val="FFFFFF"/>
                </a:solidFill>
              </a:rPr>
              <a:t>en</a:t>
            </a:r>
            <a:r>
              <a:rPr sz="3100" spc="40" dirty="0">
                <a:solidFill>
                  <a:srgbClr val="FFFFFF"/>
                </a:solidFill>
              </a:rPr>
              <a:t> </a:t>
            </a:r>
            <a:r>
              <a:rPr sz="3100" spc="145" dirty="0">
                <a:solidFill>
                  <a:srgbClr val="FFFFFF"/>
                </a:solidFill>
              </a:rPr>
              <a:t>UML</a:t>
            </a:r>
            <a:endParaRPr sz="310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3330" y="810284"/>
            <a:ext cx="10085354" cy="7385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6620" y="1354334"/>
            <a:ext cx="142843" cy="142843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19125" marR="5080">
              <a:lnSpc>
                <a:spcPts val="2970"/>
              </a:lnSpc>
              <a:spcBef>
                <a:spcPts val="110"/>
              </a:spcBef>
            </a:pPr>
            <a:r>
              <a:rPr spc="-55" dirty="0"/>
              <a:t>Une</a:t>
            </a:r>
            <a:r>
              <a:rPr spc="60" dirty="0"/>
              <a:t> </a:t>
            </a:r>
            <a:r>
              <a:rPr spc="-90" dirty="0"/>
              <a:t>classe</a:t>
            </a:r>
            <a:r>
              <a:rPr spc="65" dirty="0"/>
              <a:t> </a:t>
            </a:r>
            <a:r>
              <a:rPr spc="-50" dirty="0"/>
              <a:t>abstraite</a:t>
            </a:r>
            <a:r>
              <a:rPr spc="65" dirty="0"/>
              <a:t> </a:t>
            </a:r>
            <a:r>
              <a:rPr spc="-65" dirty="0"/>
              <a:t>permet</a:t>
            </a:r>
            <a:r>
              <a:rPr spc="65" dirty="0"/>
              <a:t> </a:t>
            </a:r>
            <a:r>
              <a:rPr spc="-25" dirty="0"/>
              <a:t>d’introduire</a:t>
            </a:r>
            <a:r>
              <a:rPr spc="65" dirty="0"/>
              <a:t> </a:t>
            </a:r>
            <a:r>
              <a:rPr spc="-70" dirty="0"/>
              <a:t>certaines</a:t>
            </a:r>
            <a:r>
              <a:rPr spc="70" dirty="0"/>
              <a:t> </a:t>
            </a:r>
            <a:r>
              <a:rPr spc="-50" dirty="0"/>
              <a:t>fonctions</a:t>
            </a:r>
            <a:r>
              <a:rPr spc="60" dirty="0"/>
              <a:t> </a:t>
            </a:r>
            <a:r>
              <a:rPr spc="-50" dirty="0"/>
              <a:t>virtuelles </a:t>
            </a:r>
            <a:r>
              <a:rPr spc="-720" dirty="0"/>
              <a:t> </a:t>
            </a:r>
            <a:r>
              <a:rPr spc="-45" dirty="0"/>
              <a:t>dont</a:t>
            </a:r>
            <a:r>
              <a:rPr spc="55" dirty="0"/>
              <a:t> </a:t>
            </a:r>
            <a:r>
              <a:rPr spc="-80" dirty="0"/>
              <a:t>on</a:t>
            </a:r>
            <a:r>
              <a:rPr spc="60" dirty="0"/>
              <a:t> </a:t>
            </a:r>
            <a:r>
              <a:rPr spc="-130" dirty="0"/>
              <a:t>ne</a:t>
            </a:r>
            <a:r>
              <a:rPr spc="60" dirty="0"/>
              <a:t> </a:t>
            </a:r>
            <a:r>
              <a:rPr spc="-50" dirty="0"/>
              <a:t>peut</a:t>
            </a:r>
            <a:r>
              <a:rPr spc="60" dirty="0"/>
              <a:t> </a:t>
            </a:r>
            <a:r>
              <a:rPr spc="-110" dirty="0"/>
              <a:t>encore</a:t>
            </a:r>
            <a:r>
              <a:rPr spc="55" dirty="0"/>
              <a:t> </a:t>
            </a:r>
            <a:r>
              <a:rPr spc="-90" dirty="0"/>
              <a:t>donner</a:t>
            </a:r>
            <a:r>
              <a:rPr spc="60" dirty="0"/>
              <a:t> </a:t>
            </a:r>
            <a:r>
              <a:rPr spc="-90" dirty="0"/>
              <a:t>aucune</a:t>
            </a:r>
            <a:r>
              <a:rPr spc="55" dirty="0"/>
              <a:t> </a:t>
            </a:r>
            <a:r>
              <a:rPr spc="-40" dirty="0"/>
              <a:t>définition.</a:t>
            </a:r>
          </a:p>
          <a:p>
            <a:pPr marL="619125" marR="270510">
              <a:lnSpc>
                <a:spcPct val="105200"/>
              </a:lnSpc>
              <a:spcBef>
                <a:spcPts val="960"/>
              </a:spcBef>
            </a:pPr>
            <a:r>
              <a:rPr spc="-45" dirty="0"/>
              <a:t>Dans</a:t>
            </a:r>
            <a:r>
              <a:rPr spc="60" dirty="0"/>
              <a:t> </a:t>
            </a:r>
            <a:r>
              <a:rPr spc="-45" dirty="0"/>
              <a:t>cet</a:t>
            </a:r>
            <a:r>
              <a:rPr spc="65" dirty="0"/>
              <a:t> </a:t>
            </a:r>
            <a:r>
              <a:rPr spc="-100" dirty="0"/>
              <a:t>exemple,</a:t>
            </a:r>
            <a:r>
              <a:rPr spc="60" dirty="0"/>
              <a:t> </a:t>
            </a:r>
            <a:r>
              <a:rPr spc="-80" dirty="0"/>
              <a:t>on</a:t>
            </a:r>
            <a:r>
              <a:rPr spc="65" dirty="0"/>
              <a:t> </a:t>
            </a:r>
            <a:r>
              <a:rPr spc="-130" dirty="0"/>
              <a:t>ne</a:t>
            </a:r>
            <a:r>
              <a:rPr spc="60" dirty="0"/>
              <a:t> </a:t>
            </a:r>
            <a:r>
              <a:rPr spc="-30" dirty="0"/>
              <a:t>sait</a:t>
            </a:r>
            <a:r>
              <a:rPr spc="65" dirty="0"/>
              <a:t> </a:t>
            </a:r>
            <a:r>
              <a:rPr spc="-100" dirty="0"/>
              <a:t>pas</a:t>
            </a:r>
            <a:r>
              <a:rPr spc="60" dirty="0"/>
              <a:t> </a:t>
            </a:r>
            <a:r>
              <a:rPr spc="-90" dirty="0"/>
              <a:t>programmer</a:t>
            </a:r>
            <a:r>
              <a:rPr spc="65" dirty="0"/>
              <a:t> </a:t>
            </a:r>
            <a:r>
              <a:rPr spc="-105" dirty="0"/>
              <a:t>ce</a:t>
            </a:r>
            <a:r>
              <a:rPr spc="60" dirty="0"/>
              <a:t> </a:t>
            </a:r>
            <a:r>
              <a:rPr spc="-110" dirty="0"/>
              <a:t>que</a:t>
            </a:r>
            <a:r>
              <a:rPr spc="65" dirty="0"/>
              <a:t> </a:t>
            </a:r>
            <a:r>
              <a:rPr spc="-15" dirty="0"/>
              <a:t>doit</a:t>
            </a:r>
            <a:r>
              <a:rPr spc="60" dirty="0"/>
              <a:t> </a:t>
            </a:r>
            <a:r>
              <a:rPr spc="-60" dirty="0"/>
              <a:t>faire</a:t>
            </a:r>
            <a:r>
              <a:rPr spc="65" dirty="0"/>
              <a:t> </a:t>
            </a:r>
            <a:r>
              <a:rPr spc="-35" dirty="0"/>
              <a:t>la </a:t>
            </a:r>
            <a:r>
              <a:rPr spc="-30" dirty="0"/>
              <a:t> </a:t>
            </a:r>
            <a:r>
              <a:rPr spc="-40" dirty="0"/>
              <a:t>fonction </a:t>
            </a:r>
            <a:r>
              <a:rPr spc="75" dirty="0">
                <a:latin typeface="SimSun"/>
                <a:cs typeface="SimSun"/>
              </a:rPr>
              <a:t>dessiner() </a:t>
            </a:r>
            <a:r>
              <a:rPr spc="-95" dirty="0"/>
              <a:t>dans </a:t>
            </a:r>
            <a:r>
              <a:rPr spc="-75" dirty="0"/>
              <a:t>le </a:t>
            </a:r>
            <a:r>
              <a:rPr spc="-60" dirty="0"/>
              <a:t>contexte </a:t>
            </a:r>
            <a:r>
              <a:rPr spc="-125" dirty="0"/>
              <a:t>de</a:t>
            </a:r>
            <a:r>
              <a:rPr spc="-120" dirty="0"/>
              <a:t> </a:t>
            </a:r>
            <a:r>
              <a:rPr spc="55" dirty="0">
                <a:latin typeface="SimSun"/>
                <a:cs typeface="SimSun"/>
              </a:rPr>
              <a:t>Forme</a:t>
            </a:r>
            <a:r>
              <a:rPr spc="55" dirty="0"/>
              <a:t>. </a:t>
            </a:r>
            <a:r>
              <a:rPr spc="5" dirty="0"/>
              <a:t>On </a:t>
            </a:r>
            <a:r>
              <a:rPr spc="-65" dirty="0"/>
              <a:t>veut </a:t>
            </a:r>
            <a:r>
              <a:rPr spc="-75" dirty="0"/>
              <a:t>juste </a:t>
            </a:r>
            <a:r>
              <a:rPr spc="-70" dirty="0"/>
              <a:t> </a:t>
            </a:r>
            <a:r>
              <a:rPr spc="-75" dirty="0"/>
              <a:t>s’assurer</a:t>
            </a:r>
            <a:r>
              <a:rPr spc="60" dirty="0"/>
              <a:t> </a:t>
            </a:r>
            <a:r>
              <a:rPr spc="-125" dirty="0"/>
              <a:t>de</a:t>
            </a:r>
            <a:r>
              <a:rPr spc="60" dirty="0"/>
              <a:t> </a:t>
            </a:r>
            <a:r>
              <a:rPr spc="-110" dirty="0"/>
              <a:t>sa</a:t>
            </a:r>
            <a:r>
              <a:rPr spc="65" dirty="0"/>
              <a:t> </a:t>
            </a:r>
            <a:r>
              <a:rPr spc="-120" dirty="0"/>
              <a:t>présence</a:t>
            </a:r>
            <a:r>
              <a:rPr spc="60" dirty="0"/>
              <a:t> </a:t>
            </a:r>
            <a:r>
              <a:rPr spc="-95" dirty="0"/>
              <a:t>dans</a:t>
            </a:r>
            <a:r>
              <a:rPr spc="65" dirty="0"/>
              <a:t> </a:t>
            </a:r>
            <a:r>
              <a:rPr spc="-55" dirty="0"/>
              <a:t>toutes</a:t>
            </a:r>
            <a:r>
              <a:rPr spc="60" dirty="0"/>
              <a:t> </a:t>
            </a:r>
            <a:r>
              <a:rPr spc="-100" dirty="0"/>
              <a:t>les</a:t>
            </a:r>
            <a:r>
              <a:rPr spc="60" dirty="0"/>
              <a:t> </a:t>
            </a:r>
            <a:r>
              <a:rPr spc="-95" dirty="0"/>
              <a:t>classes</a:t>
            </a:r>
            <a:r>
              <a:rPr spc="65" dirty="0"/>
              <a:t> </a:t>
            </a:r>
            <a:r>
              <a:rPr spc="-45" dirty="0"/>
              <a:t>filles,</a:t>
            </a:r>
            <a:r>
              <a:rPr spc="60" dirty="0"/>
              <a:t> </a:t>
            </a:r>
            <a:r>
              <a:rPr spc="-110" dirty="0"/>
              <a:t>sans</a:t>
            </a:r>
            <a:r>
              <a:rPr spc="65" dirty="0"/>
              <a:t> </a:t>
            </a:r>
            <a:r>
              <a:rPr spc="-70" dirty="0"/>
              <a:t>devoir</a:t>
            </a:r>
            <a:r>
              <a:rPr spc="60" dirty="0"/>
              <a:t> </a:t>
            </a:r>
            <a:r>
              <a:rPr spc="-35" dirty="0"/>
              <a:t>la </a:t>
            </a:r>
            <a:r>
              <a:rPr spc="-720" dirty="0"/>
              <a:t> </a:t>
            </a:r>
            <a:r>
              <a:rPr spc="-50" dirty="0"/>
              <a:t>définir</a:t>
            </a:r>
            <a:r>
              <a:rPr spc="55" dirty="0"/>
              <a:t> </a:t>
            </a:r>
            <a:r>
              <a:rPr spc="-95" dirty="0"/>
              <a:t>dans</a:t>
            </a:r>
            <a:r>
              <a:rPr spc="60" dirty="0"/>
              <a:t> </a:t>
            </a:r>
            <a:r>
              <a:rPr spc="-30" dirty="0"/>
              <a:t>la</a:t>
            </a:r>
            <a:r>
              <a:rPr spc="60" dirty="0"/>
              <a:t> </a:t>
            </a:r>
            <a:r>
              <a:rPr spc="-90" dirty="0"/>
              <a:t>classe</a:t>
            </a:r>
            <a:r>
              <a:rPr spc="60" dirty="0"/>
              <a:t> </a:t>
            </a:r>
            <a:r>
              <a:rPr spc="-90" dirty="0"/>
              <a:t>parente.</a:t>
            </a: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6620" y="2246030"/>
            <a:ext cx="142843" cy="14284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61117" y="3843801"/>
            <a:ext cx="6089561" cy="3098197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303330" y="7322021"/>
            <a:ext cx="10085705" cy="240029"/>
            <a:chOff x="303330" y="7322021"/>
            <a:chExt cx="10085705" cy="240029"/>
          </a:xfrm>
        </p:grpSpPr>
        <p:sp>
          <p:nvSpPr>
            <p:cNvPr id="15" name="object 15"/>
            <p:cNvSpPr/>
            <p:nvPr/>
          </p:nvSpPr>
          <p:spPr>
            <a:xfrm>
              <a:off x="303330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65059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26788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60" dirty="0"/>
              <a:t>tv </a:t>
            </a:r>
            <a:r>
              <a:rPr spc="140" dirty="0"/>
              <a:t> </a:t>
            </a:r>
            <a:r>
              <a:rPr spc="55" dirty="0"/>
              <a:t>(BTS</a:t>
            </a:r>
            <a:r>
              <a:rPr spc="100" dirty="0"/>
              <a:t> </a:t>
            </a:r>
            <a:r>
              <a:rPr spc="-25" dirty="0"/>
              <a:t>IRIS</a:t>
            </a:r>
            <a:r>
              <a:rPr spc="105" dirty="0"/>
              <a:t> </a:t>
            </a:r>
            <a:r>
              <a:rPr spc="5" dirty="0"/>
              <a:t>Avignon)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-40" dirty="0"/>
              <a:t>Cours</a:t>
            </a:r>
            <a:r>
              <a:rPr spc="60" dirty="0"/>
              <a:t> </a:t>
            </a:r>
            <a:r>
              <a:rPr spc="170" dirty="0"/>
              <a:t>C/C++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481423" y="7283716"/>
            <a:ext cx="1800860" cy="27051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300" spc="40" dirty="0">
                <a:solidFill>
                  <a:srgbClr val="FFFFFF"/>
                </a:solidFill>
                <a:latin typeface="SimSun"/>
                <a:cs typeface="SimSun"/>
                <a:hlinkClick r:id="rId7"/>
              </a:rPr>
              <a:t>tvaira@free.fr</a:t>
            </a:r>
            <a:r>
              <a:rPr sz="1300" spc="-190" dirty="0">
                <a:solidFill>
                  <a:srgbClr val="FFFFFF"/>
                </a:solidFill>
                <a:latin typeface="SimSun"/>
                <a:cs typeface="SimSun"/>
                <a:hlinkClick r:id="rId7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©</a:t>
            </a:r>
            <a:r>
              <a:rPr sz="130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v0.1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9"/>
              </a:spcBef>
            </a:pPr>
            <a:fld id="{81D60167-4931-47E6-BA6A-407CBD079E47}" type="slidenum">
              <a:rPr spc="-30" dirty="0"/>
              <a:t>29</a:t>
            </a:fld>
            <a:r>
              <a:rPr spc="80" dirty="0"/>
              <a:t> </a:t>
            </a:r>
            <a:r>
              <a:rPr spc="330" dirty="0"/>
              <a:t>/</a:t>
            </a:r>
            <a:r>
              <a:rPr spc="85" dirty="0"/>
              <a:t> </a:t>
            </a:r>
            <a:r>
              <a:rPr spc="-30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3330" y="0"/>
            <a:ext cx="5043170" cy="240029"/>
          </a:xfrm>
          <a:custGeom>
            <a:avLst/>
            <a:gdLst/>
            <a:ahLst/>
            <a:cxnLst/>
            <a:rect l="l" t="t" r="r" b="b"/>
            <a:pathLst>
              <a:path w="5043170" h="240029">
                <a:moveTo>
                  <a:pt x="5042663" y="0"/>
                </a:moveTo>
                <a:lnTo>
                  <a:pt x="0" y="0"/>
                </a:lnTo>
                <a:lnTo>
                  <a:pt x="0" y="239990"/>
                </a:lnTo>
                <a:lnTo>
                  <a:pt x="5042663" y="239990"/>
                </a:lnTo>
                <a:lnTo>
                  <a:pt x="5042663" y="0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36416" y="0"/>
            <a:ext cx="1174750" cy="224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Classe</a:t>
            </a:r>
            <a:r>
              <a:rPr sz="1300" spc="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FFFFFF"/>
                </a:solidFill>
                <a:latin typeface="Microsoft Sans Serif"/>
                <a:cs typeface="Microsoft Sans Serif"/>
              </a:rPr>
              <a:t>abstraite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45993" y="0"/>
            <a:ext cx="5043170" cy="240029"/>
          </a:xfrm>
          <a:custGeom>
            <a:avLst/>
            <a:gdLst/>
            <a:ahLst/>
            <a:cxnLst/>
            <a:rect l="l" t="t" r="r" b="b"/>
            <a:pathLst>
              <a:path w="5043170" h="240029">
                <a:moveTo>
                  <a:pt x="5042663" y="0"/>
                </a:moveTo>
                <a:lnTo>
                  <a:pt x="0" y="0"/>
                </a:lnTo>
                <a:lnTo>
                  <a:pt x="0" y="239990"/>
                </a:lnTo>
                <a:lnTo>
                  <a:pt x="5042663" y="239990"/>
                </a:lnTo>
                <a:lnTo>
                  <a:pt x="5042663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3425" y="570404"/>
            <a:ext cx="9705340" cy="408940"/>
          </a:xfrm>
          <a:custGeom>
            <a:avLst/>
            <a:gdLst/>
            <a:ahLst/>
            <a:cxnLst/>
            <a:rect l="l" t="t" r="r" b="b"/>
            <a:pathLst>
              <a:path w="9705340" h="408940">
                <a:moveTo>
                  <a:pt x="9594072" y="0"/>
                </a:moveTo>
                <a:lnTo>
                  <a:pt x="111185" y="0"/>
                </a:lnTo>
                <a:lnTo>
                  <a:pt x="68014" y="8773"/>
                </a:lnTo>
                <a:lnTo>
                  <a:pt x="32660" y="32660"/>
                </a:lnTo>
                <a:lnTo>
                  <a:pt x="8773" y="68013"/>
                </a:lnTo>
                <a:lnTo>
                  <a:pt x="0" y="111184"/>
                </a:lnTo>
                <a:lnTo>
                  <a:pt x="0" y="408314"/>
                </a:lnTo>
                <a:lnTo>
                  <a:pt x="9705258" y="408314"/>
                </a:lnTo>
                <a:lnTo>
                  <a:pt x="9705258" y="111184"/>
                </a:lnTo>
                <a:lnTo>
                  <a:pt x="9696484" y="68013"/>
                </a:lnTo>
                <a:lnTo>
                  <a:pt x="9672596" y="32660"/>
                </a:lnTo>
                <a:lnTo>
                  <a:pt x="9637243" y="8773"/>
                </a:lnTo>
                <a:lnTo>
                  <a:pt x="959407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91910" y="548445"/>
            <a:ext cx="3287395" cy="389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>
                <a:solidFill>
                  <a:srgbClr val="FFFFFF"/>
                </a:solidFill>
              </a:rPr>
              <a:t>Exemple</a:t>
            </a:r>
            <a:r>
              <a:rPr spc="40" dirty="0">
                <a:solidFill>
                  <a:srgbClr val="FFFFFF"/>
                </a:solidFill>
              </a:rPr>
              <a:t> </a:t>
            </a:r>
            <a:r>
              <a:rPr spc="-170" dirty="0">
                <a:solidFill>
                  <a:srgbClr val="FFFFFF"/>
                </a:solidFill>
              </a:rPr>
              <a:t>:</a:t>
            </a:r>
            <a:r>
              <a:rPr spc="40" dirty="0">
                <a:solidFill>
                  <a:srgbClr val="FFFFFF"/>
                </a:solidFill>
              </a:rPr>
              <a:t> </a:t>
            </a:r>
            <a:r>
              <a:rPr spc="-90" dirty="0">
                <a:solidFill>
                  <a:srgbClr val="FFFFFF"/>
                </a:solidFill>
              </a:rPr>
              <a:t>classe</a:t>
            </a:r>
            <a:r>
              <a:rPr spc="40" dirty="0">
                <a:solidFill>
                  <a:srgbClr val="FFFFFF"/>
                </a:solidFill>
              </a:rPr>
              <a:t> </a:t>
            </a:r>
            <a:r>
              <a:rPr spc="-50" dirty="0">
                <a:solidFill>
                  <a:srgbClr val="FFFFFF"/>
                </a:solidFill>
              </a:rPr>
              <a:t>abstraite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493425" y="667136"/>
            <a:ext cx="9816465" cy="6764655"/>
            <a:chOff x="493425" y="667136"/>
            <a:chExt cx="9816465" cy="676465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3426" y="951015"/>
              <a:ext cx="9705256" cy="11076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4610" y="7209336"/>
              <a:ext cx="222367" cy="22236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5796" y="7181540"/>
              <a:ext cx="9593949" cy="25016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98683" y="667218"/>
              <a:ext cx="111061" cy="654211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93425" y="1047860"/>
              <a:ext cx="9705340" cy="6273165"/>
            </a:xfrm>
            <a:custGeom>
              <a:avLst/>
              <a:gdLst/>
              <a:ahLst/>
              <a:cxnLst/>
              <a:rect l="l" t="t" r="r" b="b"/>
              <a:pathLst>
                <a:path w="9705340" h="6273165">
                  <a:moveTo>
                    <a:pt x="9705258" y="0"/>
                  </a:moveTo>
                  <a:lnTo>
                    <a:pt x="0" y="0"/>
                  </a:lnTo>
                  <a:lnTo>
                    <a:pt x="0" y="6161475"/>
                  </a:lnTo>
                  <a:lnTo>
                    <a:pt x="8773" y="6204646"/>
                  </a:lnTo>
                  <a:lnTo>
                    <a:pt x="32660" y="6239999"/>
                  </a:lnTo>
                  <a:lnTo>
                    <a:pt x="68014" y="6263887"/>
                  </a:lnTo>
                  <a:lnTo>
                    <a:pt x="111185" y="6272660"/>
                  </a:lnTo>
                  <a:lnTo>
                    <a:pt x="9594072" y="6272660"/>
                  </a:lnTo>
                  <a:lnTo>
                    <a:pt x="9637243" y="6263887"/>
                  </a:lnTo>
                  <a:lnTo>
                    <a:pt x="9672596" y="6239999"/>
                  </a:lnTo>
                  <a:lnTo>
                    <a:pt x="9696484" y="6204646"/>
                  </a:lnTo>
                  <a:lnTo>
                    <a:pt x="9705258" y="6161475"/>
                  </a:lnTo>
                  <a:lnTo>
                    <a:pt x="9705258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198683" y="750524"/>
              <a:ext cx="0" cy="6501130"/>
            </a:xfrm>
            <a:custGeom>
              <a:avLst/>
              <a:gdLst/>
              <a:ahLst/>
              <a:cxnLst/>
              <a:rect l="l" t="t" r="r" b="b"/>
              <a:pathLst>
                <a:path h="6501130">
                  <a:moveTo>
                    <a:pt x="0" y="650050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198683" y="722728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40">
                  <a:moveTo>
                    <a:pt x="0" y="277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198683" y="694932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40">
                  <a:moveTo>
                    <a:pt x="0" y="277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198683" y="667136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40">
                  <a:moveTo>
                    <a:pt x="0" y="277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91910" y="1219385"/>
            <a:ext cx="9418955" cy="5815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085"/>
              </a:lnSpc>
              <a:spcBef>
                <a:spcPts val="95"/>
              </a:spcBef>
            </a:pPr>
            <a:r>
              <a:rPr sz="1750" b="1" spc="229" dirty="0">
                <a:solidFill>
                  <a:srgbClr val="595959"/>
                </a:solidFill>
                <a:latin typeface="Trebuchet MS"/>
                <a:cs typeface="Trebuchet MS"/>
              </a:rPr>
              <a:t>//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35" dirty="0">
                <a:solidFill>
                  <a:srgbClr val="595959"/>
                </a:solidFill>
                <a:latin typeface="Trebuchet MS"/>
                <a:cs typeface="Trebuchet MS"/>
              </a:rPr>
              <a:t>La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05" dirty="0">
                <a:solidFill>
                  <a:srgbClr val="595959"/>
                </a:solidFill>
                <a:latin typeface="Trebuchet MS"/>
                <a:cs typeface="Trebuchet MS"/>
              </a:rPr>
              <a:t>classe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40" dirty="0">
                <a:solidFill>
                  <a:srgbClr val="595959"/>
                </a:solidFill>
                <a:latin typeface="Trebuchet MS"/>
                <a:cs typeface="Trebuchet MS"/>
              </a:rPr>
              <a:t>Forme</a:t>
            </a:r>
            <a:r>
              <a:rPr sz="1750" b="1" spc="1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05" dirty="0">
                <a:solidFill>
                  <a:srgbClr val="595959"/>
                </a:solidFill>
                <a:latin typeface="Trebuchet MS"/>
                <a:cs typeface="Trebuchet MS"/>
              </a:rPr>
              <a:t>ne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25" dirty="0">
                <a:solidFill>
                  <a:srgbClr val="595959"/>
                </a:solidFill>
                <a:latin typeface="Trebuchet MS"/>
                <a:cs typeface="Trebuchet MS"/>
              </a:rPr>
              <a:t>peut</a:t>
            </a:r>
            <a:r>
              <a:rPr sz="1750" b="1" spc="39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0" dirty="0">
                <a:solidFill>
                  <a:srgbClr val="595959"/>
                </a:solidFill>
                <a:latin typeface="Trebuchet MS"/>
                <a:cs typeface="Trebuchet MS"/>
              </a:rPr>
              <a:t>pas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50" dirty="0">
                <a:solidFill>
                  <a:srgbClr val="595959"/>
                </a:solidFill>
                <a:latin typeface="Trebuchet MS"/>
                <a:cs typeface="Trebuchet MS"/>
              </a:rPr>
              <a:t>être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75" dirty="0">
                <a:solidFill>
                  <a:srgbClr val="595959"/>
                </a:solidFill>
                <a:latin typeface="Trebuchet MS"/>
                <a:cs typeface="Trebuchet MS"/>
              </a:rPr>
              <a:t>instanciée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270" dirty="0">
                <a:solidFill>
                  <a:srgbClr val="595959"/>
                </a:solidFill>
                <a:latin typeface="Trebuchet MS"/>
                <a:cs typeface="Trebuchet MS"/>
              </a:rPr>
              <a:t>:</a:t>
            </a:r>
            <a:r>
              <a:rPr sz="1750" b="1" spc="39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50" dirty="0">
                <a:solidFill>
                  <a:srgbClr val="595959"/>
                </a:solidFill>
                <a:latin typeface="Trebuchet MS"/>
                <a:cs typeface="Trebuchet MS"/>
              </a:rPr>
              <a:t>elle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95" dirty="0">
                <a:solidFill>
                  <a:srgbClr val="595959"/>
                </a:solidFill>
                <a:latin typeface="Trebuchet MS"/>
                <a:cs typeface="Trebuchet MS"/>
              </a:rPr>
              <a:t>est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05" dirty="0">
                <a:solidFill>
                  <a:srgbClr val="595959"/>
                </a:solidFill>
                <a:latin typeface="Trebuchet MS"/>
                <a:cs typeface="Trebuchet MS"/>
              </a:rPr>
              <a:t>dite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00" dirty="0">
                <a:solidFill>
                  <a:srgbClr val="595959"/>
                </a:solidFill>
                <a:latin typeface="Trebuchet MS"/>
                <a:cs typeface="Trebuchet MS"/>
              </a:rPr>
              <a:t>abstraite</a:t>
            </a:r>
            <a:endParaRPr sz="1750">
              <a:latin typeface="Trebuchet MS"/>
              <a:cs typeface="Trebuchet MS"/>
            </a:endParaRPr>
          </a:p>
          <a:p>
            <a:pPr marL="330200" marR="7868284" indent="-318135">
              <a:lnSpc>
                <a:spcPts val="2070"/>
              </a:lnSpc>
              <a:spcBef>
                <a:spcPts val="80"/>
              </a:spcBef>
            </a:pP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class</a:t>
            </a:r>
            <a:r>
              <a:rPr sz="1750" spc="5" dirty="0">
                <a:solidFill>
                  <a:srgbClr val="FF0000"/>
                </a:solidFill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Forme</a:t>
            </a:r>
            <a:r>
              <a:rPr sz="1750" spc="1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{ </a:t>
            </a:r>
            <a:r>
              <a:rPr sz="1750" spc="-860" dirty="0">
                <a:latin typeface="SimSun"/>
                <a:cs typeface="SimSun"/>
              </a:rPr>
              <a:t> </a:t>
            </a: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public</a:t>
            </a:r>
            <a:r>
              <a:rPr sz="1750" spc="50" dirty="0">
                <a:latin typeface="SimSun"/>
                <a:cs typeface="SimSun"/>
              </a:rPr>
              <a:t>:</a:t>
            </a:r>
            <a:endParaRPr sz="1750">
              <a:latin typeface="SimSun"/>
              <a:cs typeface="SimSun"/>
            </a:endParaRPr>
          </a:p>
          <a:p>
            <a:pPr marL="647700">
              <a:lnSpc>
                <a:spcPts val="1995"/>
              </a:lnSpc>
            </a:pPr>
            <a:r>
              <a:rPr sz="1750" spc="50" dirty="0">
                <a:latin typeface="SimSun"/>
                <a:cs typeface="SimSun"/>
              </a:rPr>
              <a:t>Forme()</a:t>
            </a:r>
            <a:r>
              <a:rPr sz="1750" spc="-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{}</a:t>
            </a:r>
            <a:endParaRPr sz="1750">
              <a:latin typeface="SimSun"/>
              <a:cs typeface="SimSun"/>
            </a:endParaRPr>
          </a:p>
          <a:p>
            <a:pPr marL="647700">
              <a:lnSpc>
                <a:spcPts val="2070"/>
              </a:lnSpc>
            </a:pPr>
            <a:r>
              <a:rPr sz="1750" b="1" spc="229" dirty="0">
                <a:solidFill>
                  <a:srgbClr val="595959"/>
                </a:solidFill>
                <a:latin typeface="Trebuchet MS"/>
                <a:cs typeface="Trebuchet MS"/>
              </a:rPr>
              <a:t>//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90" dirty="0">
                <a:solidFill>
                  <a:srgbClr val="595959"/>
                </a:solidFill>
                <a:latin typeface="Trebuchet MS"/>
                <a:cs typeface="Trebuchet MS"/>
              </a:rPr>
              <a:t>la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25" dirty="0">
                <a:solidFill>
                  <a:srgbClr val="595959"/>
                </a:solidFill>
                <a:latin typeface="Trebuchet MS"/>
                <a:cs typeface="Trebuchet MS"/>
              </a:rPr>
              <a:t>méthode</a:t>
            </a:r>
            <a:r>
              <a:rPr sz="1750" b="1" spc="-1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60" dirty="0">
                <a:solidFill>
                  <a:srgbClr val="595959"/>
                </a:solidFill>
                <a:latin typeface="Trebuchet MS"/>
                <a:cs typeface="Trebuchet MS"/>
              </a:rPr>
              <a:t>dessiner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95" dirty="0">
                <a:solidFill>
                  <a:srgbClr val="595959"/>
                </a:solidFill>
                <a:latin typeface="Trebuchet MS"/>
                <a:cs typeface="Trebuchet MS"/>
              </a:rPr>
              <a:t>est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40" dirty="0">
                <a:solidFill>
                  <a:srgbClr val="595959"/>
                </a:solidFill>
                <a:latin typeface="Trebuchet MS"/>
                <a:cs typeface="Trebuchet MS"/>
              </a:rPr>
              <a:t>virtuelle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40" dirty="0">
                <a:solidFill>
                  <a:srgbClr val="595959"/>
                </a:solidFill>
                <a:latin typeface="Trebuchet MS"/>
                <a:cs typeface="Trebuchet MS"/>
              </a:rPr>
              <a:t>pure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65" dirty="0">
                <a:solidFill>
                  <a:srgbClr val="595959"/>
                </a:solidFill>
                <a:latin typeface="Trebuchet MS"/>
                <a:cs typeface="Trebuchet MS"/>
              </a:rPr>
              <a:t>et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05" dirty="0">
                <a:solidFill>
                  <a:srgbClr val="595959"/>
                </a:solidFill>
                <a:latin typeface="Trebuchet MS"/>
                <a:cs typeface="Trebuchet MS"/>
              </a:rPr>
              <a:t>ne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20" dirty="0">
                <a:solidFill>
                  <a:srgbClr val="595959"/>
                </a:solidFill>
                <a:latin typeface="Trebuchet MS"/>
                <a:cs typeface="Trebuchet MS"/>
              </a:rPr>
              <a:t>possède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75" dirty="0">
                <a:solidFill>
                  <a:srgbClr val="595959"/>
                </a:solidFill>
                <a:latin typeface="Trebuchet MS"/>
                <a:cs typeface="Trebuchet MS"/>
              </a:rPr>
              <a:t>aucune</a:t>
            </a:r>
            <a:r>
              <a:rPr sz="1750" b="1" spc="39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14" dirty="0">
                <a:solidFill>
                  <a:srgbClr val="595959"/>
                </a:solidFill>
                <a:latin typeface="Trebuchet MS"/>
                <a:cs typeface="Trebuchet MS"/>
              </a:rPr>
              <a:t>définition</a:t>
            </a:r>
            <a:endParaRPr sz="1750">
              <a:latin typeface="Trebuchet MS"/>
              <a:cs typeface="Trebuchet MS"/>
            </a:endParaRPr>
          </a:p>
          <a:p>
            <a:pPr marL="1318260" marR="5080" indent="-670560">
              <a:lnSpc>
                <a:spcPts val="2070"/>
              </a:lnSpc>
              <a:spcBef>
                <a:spcPts val="75"/>
              </a:spcBef>
            </a:pP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virtual </a:t>
            </a:r>
            <a:r>
              <a:rPr sz="1750" b="1" spc="50" dirty="0">
                <a:solidFill>
                  <a:srgbClr val="0056AD"/>
                </a:solidFill>
                <a:latin typeface="Trebuchet MS"/>
                <a:cs typeface="Trebuchet MS"/>
              </a:rPr>
              <a:t>void</a:t>
            </a:r>
            <a:r>
              <a:rPr sz="1750" b="1" spc="405" dirty="0">
                <a:solidFill>
                  <a:srgbClr val="0056AD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dessiner()</a:t>
            </a:r>
            <a:r>
              <a:rPr sz="1750" spc="5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=</a:t>
            </a:r>
            <a:r>
              <a:rPr sz="1750" spc="5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0; </a:t>
            </a:r>
            <a:r>
              <a:rPr sz="1750" b="1" spc="229" dirty="0">
                <a:solidFill>
                  <a:srgbClr val="595959"/>
                </a:solidFill>
                <a:latin typeface="Trebuchet MS"/>
                <a:cs typeface="Trebuchet MS"/>
              </a:rPr>
              <a:t>//</a:t>
            </a:r>
            <a:r>
              <a:rPr sz="1750" b="1" spc="39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75" dirty="0">
                <a:solidFill>
                  <a:srgbClr val="595959"/>
                </a:solidFill>
                <a:latin typeface="Trebuchet MS"/>
                <a:cs typeface="Trebuchet MS"/>
              </a:rPr>
              <a:t>cela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90" dirty="0">
                <a:solidFill>
                  <a:srgbClr val="595959"/>
                </a:solidFill>
                <a:latin typeface="Trebuchet MS"/>
                <a:cs typeface="Trebuchet MS"/>
              </a:rPr>
              <a:t>oblige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45" dirty="0">
                <a:solidFill>
                  <a:srgbClr val="595959"/>
                </a:solidFill>
                <a:latin typeface="Trebuchet MS"/>
                <a:cs typeface="Trebuchet MS"/>
              </a:rPr>
              <a:t>tous</a:t>
            </a:r>
            <a:r>
              <a:rPr sz="1750" b="1" spc="39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55" dirty="0">
                <a:solidFill>
                  <a:srgbClr val="595959"/>
                </a:solidFill>
                <a:latin typeface="Trebuchet MS"/>
                <a:cs typeface="Trebuchet MS"/>
              </a:rPr>
              <a:t>les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0" dirty="0">
                <a:solidFill>
                  <a:srgbClr val="595959"/>
                </a:solidFill>
                <a:latin typeface="Trebuchet MS"/>
                <a:cs typeface="Trebuchet MS"/>
              </a:rPr>
              <a:t>descendants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20" dirty="0">
                <a:solidFill>
                  <a:srgbClr val="595959"/>
                </a:solidFill>
                <a:latin typeface="Trebuchet MS"/>
                <a:cs typeface="Trebuchet MS"/>
              </a:rPr>
              <a:t>à</a:t>
            </a:r>
            <a:r>
              <a:rPr sz="1750" b="1" spc="39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50" dirty="0">
                <a:solidFill>
                  <a:srgbClr val="595959"/>
                </a:solidFill>
                <a:latin typeface="Trebuchet MS"/>
                <a:cs typeface="Trebuchet MS"/>
              </a:rPr>
              <a:t>contenir </a:t>
            </a:r>
            <a:r>
              <a:rPr sz="1750" b="1" spc="-51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10" dirty="0">
                <a:solidFill>
                  <a:srgbClr val="595959"/>
                </a:solidFill>
                <a:latin typeface="Trebuchet MS"/>
                <a:cs typeface="Trebuchet MS"/>
              </a:rPr>
              <a:t>une</a:t>
            </a:r>
            <a:r>
              <a:rPr sz="1750" b="1" spc="-3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25" dirty="0">
                <a:solidFill>
                  <a:srgbClr val="595959"/>
                </a:solidFill>
                <a:latin typeface="Trebuchet MS"/>
                <a:cs typeface="Trebuchet MS"/>
              </a:rPr>
              <a:t>méthode</a:t>
            </a:r>
            <a:r>
              <a:rPr sz="1750" b="1" spc="-1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00" dirty="0">
                <a:solidFill>
                  <a:srgbClr val="595959"/>
                </a:solidFill>
                <a:latin typeface="Trebuchet MS"/>
                <a:cs typeface="Trebuchet MS"/>
              </a:rPr>
              <a:t>dessiner()</a:t>
            </a:r>
            <a:endParaRPr sz="1750">
              <a:latin typeface="Trebuchet MS"/>
              <a:cs typeface="Trebuchet MS"/>
            </a:endParaRPr>
          </a:p>
          <a:p>
            <a:pPr marL="12700">
              <a:lnSpc>
                <a:spcPts val="2010"/>
              </a:lnSpc>
            </a:pPr>
            <a:r>
              <a:rPr sz="1750" spc="50" dirty="0">
                <a:latin typeface="SimSun"/>
                <a:cs typeface="SimSun"/>
              </a:rPr>
              <a:t>};</a:t>
            </a:r>
            <a:endParaRPr sz="17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>
              <a:latin typeface="SimSun"/>
              <a:cs typeface="SimSun"/>
            </a:endParaRPr>
          </a:p>
          <a:p>
            <a:pPr marL="566420" marR="209550" indent="-554355">
              <a:lnSpc>
                <a:spcPts val="2070"/>
              </a:lnSpc>
            </a:pPr>
            <a:r>
              <a:rPr sz="1750" b="1" spc="229" dirty="0">
                <a:solidFill>
                  <a:srgbClr val="595959"/>
                </a:solidFill>
                <a:latin typeface="Trebuchet MS"/>
                <a:cs typeface="Trebuchet MS"/>
              </a:rPr>
              <a:t>//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60" dirty="0">
                <a:solidFill>
                  <a:srgbClr val="595959"/>
                </a:solidFill>
                <a:latin typeface="Trebuchet MS"/>
                <a:cs typeface="Trebuchet MS"/>
              </a:rPr>
              <a:t>Une</a:t>
            </a:r>
            <a:r>
              <a:rPr sz="1750" b="1" spc="2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05" dirty="0">
                <a:solidFill>
                  <a:srgbClr val="595959"/>
                </a:solidFill>
                <a:latin typeface="Trebuchet MS"/>
                <a:cs typeface="Trebuchet MS"/>
              </a:rPr>
              <a:t>classe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20" dirty="0">
                <a:solidFill>
                  <a:srgbClr val="595959"/>
                </a:solidFill>
                <a:latin typeface="Trebuchet MS"/>
                <a:cs typeface="Trebuchet MS"/>
              </a:rPr>
              <a:t>dans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95" dirty="0">
                <a:solidFill>
                  <a:srgbClr val="595959"/>
                </a:solidFill>
                <a:latin typeface="Trebuchet MS"/>
                <a:cs typeface="Trebuchet MS"/>
              </a:rPr>
              <a:t>laquelle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395" dirty="0">
                <a:solidFill>
                  <a:srgbClr val="595959"/>
                </a:solidFill>
                <a:latin typeface="Trebuchet MS"/>
                <a:cs typeface="Trebuchet MS"/>
              </a:rPr>
              <a:t>il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45" dirty="0">
                <a:solidFill>
                  <a:srgbClr val="595959"/>
                </a:solidFill>
                <a:latin typeface="Trebuchet MS"/>
                <a:cs typeface="Trebuchet MS"/>
              </a:rPr>
              <a:t>n’y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20" dirty="0">
                <a:solidFill>
                  <a:srgbClr val="595959"/>
                </a:solidFill>
                <a:latin typeface="Trebuchet MS"/>
                <a:cs typeface="Trebuchet MS"/>
              </a:rPr>
              <a:t>a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85" dirty="0">
                <a:solidFill>
                  <a:srgbClr val="595959"/>
                </a:solidFill>
                <a:latin typeface="Trebuchet MS"/>
                <a:cs typeface="Trebuchet MS"/>
              </a:rPr>
              <a:t>plus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110" dirty="0">
                <a:solidFill>
                  <a:srgbClr val="595959"/>
                </a:solidFill>
                <a:latin typeface="Trebuchet MS"/>
                <a:cs typeface="Trebuchet MS"/>
              </a:rPr>
              <a:t>une</a:t>
            </a:r>
            <a:r>
              <a:rPr sz="1750" b="1" spc="-2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50" dirty="0">
                <a:solidFill>
                  <a:srgbClr val="595959"/>
                </a:solidFill>
                <a:latin typeface="Trebuchet MS"/>
                <a:cs typeface="Trebuchet MS"/>
              </a:rPr>
              <a:t>seule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65" dirty="0">
                <a:solidFill>
                  <a:srgbClr val="595959"/>
                </a:solidFill>
                <a:latin typeface="Trebuchet MS"/>
                <a:cs typeface="Trebuchet MS"/>
              </a:rPr>
              <a:t>fonction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40" dirty="0">
                <a:solidFill>
                  <a:srgbClr val="595959"/>
                </a:solidFill>
                <a:latin typeface="Trebuchet MS"/>
                <a:cs typeface="Trebuchet MS"/>
              </a:rPr>
              <a:t>virtuelle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-40" dirty="0">
                <a:solidFill>
                  <a:srgbClr val="595959"/>
                </a:solidFill>
                <a:latin typeface="Trebuchet MS"/>
                <a:cs typeface="Trebuchet MS"/>
              </a:rPr>
              <a:t>pure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95" dirty="0">
                <a:solidFill>
                  <a:srgbClr val="595959"/>
                </a:solidFill>
                <a:latin typeface="Trebuchet MS"/>
                <a:cs typeface="Trebuchet MS"/>
              </a:rPr>
              <a:t>est </a:t>
            </a:r>
            <a:r>
              <a:rPr sz="1750" b="1" spc="-51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105" dirty="0">
                <a:solidFill>
                  <a:srgbClr val="595959"/>
                </a:solidFill>
                <a:latin typeface="Trebuchet MS"/>
                <a:cs typeface="Trebuchet MS"/>
              </a:rPr>
              <a:t>dite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5" dirty="0">
                <a:solidFill>
                  <a:srgbClr val="595959"/>
                </a:solidFill>
                <a:latin typeface="Trebuchet MS"/>
                <a:cs typeface="Trebuchet MS"/>
              </a:rPr>
              <a:t>concrète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65" dirty="0">
                <a:solidFill>
                  <a:srgbClr val="595959"/>
                </a:solidFill>
                <a:latin typeface="Trebuchet MS"/>
                <a:cs typeface="Trebuchet MS"/>
              </a:rPr>
              <a:t>et</a:t>
            </a:r>
            <a:r>
              <a:rPr sz="1750" b="1" spc="39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30" dirty="0">
                <a:solidFill>
                  <a:srgbClr val="595959"/>
                </a:solidFill>
                <a:latin typeface="Trebuchet MS"/>
                <a:cs typeface="Trebuchet MS"/>
              </a:rPr>
              <a:t>devient</a:t>
            </a:r>
            <a:r>
              <a:rPr sz="1750" b="1" spc="385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750" b="1" spc="90" dirty="0">
                <a:solidFill>
                  <a:srgbClr val="595959"/>
                </a:solidFill>
                <a:latin typeface="Trebuchet MS"/>
                <a:cs typeface="Trebuchet MS"/>
              </a:rPr>
              <a:t>instanciable</a:t>
            </a:r>
            <a:endParaRPr sz="1750">
              <a:latin typeface="Trebuchet MS"/>
              <a:cs typeface="Trebuchet MS"/>
            </a:endParaRPr>
          </a:p>
          <a:p>
            <a:pPr marL="330200" marR="5985510" indent="-318135">
              <a:lnSpc>
                <a:spcPts val="2070"/>
              </a:lnSpc>
              <a:spcBef>
                <a:spcPts val="5"/>
              </a:spcBef>
            </a:pP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class</a:t>
            </a:r>
            <a:r>
              <a:rPr sz="1750" spc="35" dirty="0">
                <a:solidFill>
                  <a:srgbClr val="FF0000"/>
                </a:solidFill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Cercle</a:t>
            </a:r>
            <a:r>
              <a:rPr sz="1750" spc="3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:</a:t>
            </a:r>
            <a:r>
              <a:rPr sz="1750" spc="35" dirty="0">
                <a:latin typeface="SimSun"/>
                <a:cs typeface="SimSun"/>
              </a:rPr>
              <a:t> </a:t>
            </a: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public</a:t>
            </a:r>
            <a:r>
              <a:rPr sz="1750" spc="35" dirty="0">
                <a:solidFill>
                  <a:srgbClr val="FF0000"/>
                </a:solidFill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Forme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{ </a:t>
            </a:r>
            <a:r>
              <a:rPr sz="1750" spc="-860" dirty="0">
                <a:latin typeface="SimSun"/>
                <a:cs typeface="SimSun"/>
              </a:rPr>
              <a:t> </a:t>
            </a: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public</a:t>
            </a:r>
            <a:r>
              <a:rPr sz="1750" spc="50" dirty="0">
                <a:latin typeface="SimSun"/>
                <a:cs typeface="SimSun"/>
              </a:rPr>
              <a:t>:</a:t>
            </a:r>
            <a:endParaRPr sz="1750">
              <a:latin typeface="SimSun"/>
              <a:cs typeface="SimSun"/>
            </a:endParaRPr>
          </a:p>
          <a:p>
            <a:pPr marL="647700">
              <a:lnSpc>
                <a:spcPts val="1995"/>
              </a:lnSpc>
            </a:pPr>
            <a:r>
              <a:rPr sz="1750" spc="50" dirty="0">
                <a:latin typeface="SimSun"/>
                <a:cs typeface="SimSun"/>
              </a:rPr>
              <a:t>Cercle()</a:t>
            </a:r>
            <a:r>
              <a:rPr sz="1750" spc="-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{}</a:t>
            </a:r>
            <a:endParaRPr sz="1750">
              <a:latin typeface="SimSun"/>
              <a:cs typeface="SimSun"/>
            </a:endParaRPr>
          </a:p>
          <a:p>
            <a:pPr marL="647700">
              <a:lnSpc>
                <a:spcPts val="2070"/>
              </a:lnSpc>
            </a:pPr>
            <a:r>
              <a:rPr sz="1750" b="1" spc="50" dirty="0">
                <a:solidFill>
                  <a:srgbClr val="0056AD"/>
                </a:solidFill>
                <a:latin typeface="Trebuchet MS"/>
                <a:cs typeface="Trebuchet MS"/>
              </a:rPr>
              <a:t>void</a:t>
            </a:r>
            <a:r>
              <a:rPr sz="1750" b="1" spc="390" dirty="0">
                <a:solidFill>
                  <a:srgbClr val="0056AD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dessiner() {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cout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&lt;&lt; "je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dessine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un Cercle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!\n";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}</a:t>
            </a:r>
            <a:endParaRPr sz="1750">
              <a:latin typeface="SimSun"/>
              <a:cs typeface="SimSun"/>
            </a:endParaRPr>
          </a:p>
          <a:p>
            <a:pPr marL="12700">
              <a:lnSpc>
                <a:spcPts val="2085"/>
              </a:lnSpc>
            </a:pPr>
            <a:r>
              <a:rPr sz="1750" spc="50" dirty="0">
                <a:latin typeface="SimSun"/>
                <a:cs typeface="SimSun"/>
              </a:rPr>
              <a:t>};</a:t>
            </a:r>
            <a:endParaRPr sz="17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50">
              <a:latin typeface="SimSun"/>
              <a:cs typeface="SimSun"/>
            </a:endParaRPr>
          </a:p>
          <a:p>
            <a:pPr marL="330200" marR="5749925" indent="-318135">
              <a:lnSpc>
                <a:spcPts val="2070"/>
              </a:lnSpc>
            </a:pP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class</a:t>
            </a:r>
            <a:r>
              <a:rPr sz="1750" spc="35" dirty="0">
                <a:solidFill>
                  <a:srgbClr val="FF0000"/>
                </a:solidFill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Triangle</a:t>
            </a:r>
            <a:r>
              <a:rPr sz="1750" spc="3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:</a:t>
            </a:r>
            <a:r>
              <a:rPr sz="1750" spc="40" dirty="0">
                <a:latin typeface="SimSun"/>
                <a:cs typeface="SimSun"/>
              </a:rPr>
              <a:t> </a:t>
            </a: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public</a:t>
            </a:r>
            <a:r>
              <a:rPr sz="1750" spc="35" dirty="0">
                <a:solidFill>
                  <a:srgbClr val="FF0000"/>
                </a:solidFill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Forme</a:t>
            </a:r>
            <a:r>
              <a:rPr sz="1750" spc="3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{ </a:t>
            </a:r>
            <a:r>
              <a:rPr sz="1750" spc="-860" dirty="0">
                <a:latin typeface="SimSun"/>
                <a:cs typeface="SimSun"/>
              </a:rPr>
              <a:t> </a:t>
            </a:r>
            <a:r>
              <a:rPr sz="1750" spc="50" dirty="0">
                <a:solidFill>
                  <a:srgbClr val="FF0000"/>
                </a:solidFill>
                <a:latin typeface="SimSun"/>
                <a:cs typeface="SimSun"/>
              </a:rPr>
              <a:t>public</a:t>
            </a:r>
            <a:r>
              <a:rPr sz="1750" spc="50" dirty="0">
                <a:latin typeface="SimSun"/>
                <a:cs typeface="SimSun"/>
              </a:rPr>
              <a:t>:</a:t>
            </a:r>
            <a:endParaRPr sz="1750">
              <a:latin typeface="SimSun"/>
              <a:cs typeface="SimSun"/>
            </a:endParaRPr>
          </a:p>
          <a:p>
            <a:pPr marL="647700">
              <a:lnSpc>
                <a:spcPts val="1995"/>
              </a:lnSpc>
            </a:pPr>
            <a:r>
              <a:rPr sz="1750" spc="50" dirty="0">
                <a:latin typeface="SimSun"/>
                <a:cs typeface="SimSun"/>
              </a:rPr>
              <a:t>Triangle()</a:t>
            </a:r>
            <a:r>
              <a:rPr sz="1750" spc="-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{}</a:t>
            </a:r>
            <a:endParaRPr sz="1750">
              <a:latin typeface="SimSun"/>
              <a:cs typeface="SimSun"/>
            </a:endParaRPr>
          </a:p>
          <a:p>
            <a:pPr marL="647700">
              <a:lnSpc>
                <a:spcPts val="2070"/>
              </a:lnSpc>
            </a:pPr>
            <a:r>
              <a:rPr sz="1750" b="1" spc="50" dirty="0">
                <a:solidFill>
                  <a:srgbClr val="0056AD"/>
                </a:solidFill>
                <a:latin typeface="Trebuchet MS"/>
                <a:cs typeface="Trebuchet MS"/>
              </a:rPr>
              <a:t>void</a:t>
            </a:r>
            <a:r>
              <a:rPr sz="1750" b="1" spc="390" dirty="0">
                <a:solidFill>
                  <a:srgbClr val="0056AD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latin typeface="SimSun"/>
                <a:cs typeface="SimSun"/>
              </a:rPr>
              <a:t>dessiner() {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cout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&lt;&lt; "je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dessine un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Triangle</a:t>
            </a:r>
            <a:r>
              <a:rPr sz="1750" spc="45" dirty="0">
                <a:latin typeface="SimSun"/>
                <a:cs typeface="SimSun"/>
              </a:rPr>
              <a:t> </a:t>
            </a:r>
            <a:r>
              <a:rPr sz="1750" spc="50" dirty="0">
                <a:latin typeface="SimSun"/>
                <a:cs typeface="SimSun"/>
              </a:rPr>
              <a:t>!\n"; }</a:t>
            </a:r>
            <a:endParaRPr sz="1750">
              <a:latin typeface="SimSun"/>
              <a:cs typeface="SimSun"/>
            </a:endParaRPr>
          </a:p>
          <a:p>
            <a:pPr marL="12700">
              <a:lnSpc>
                <a:spcPts val="2085"/>
              </a:lnSpc>
            </a:pPr>
            <a:r>
              <a:rPr sz="1750" spc="50" dirty="0">
                <a:latin typeface="SimSun"/>
                <a:cs typeface="SimSun"/>
              </a:rPr>
              <a:t>};</a:t>
            </a:r>
            <a:endParaRPr sz="1750">
              <a:latin typeface="SimSun"/>
              <a:cs typeface="SimSu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03330" y="7322021"/>
            <a:ext cx="10085705" cy="240029"/>
            <a:chOff x="303330" y="7322021"/>
            <a:chExt cx="10085705" cy="240029"/>
          </a:xfrm>
        </p:grpSpPr>
        <p:sp>
          <p:nvSpPr>
            <p:cNvPr id="19" name="object 19"/>
            <p:cNvSpPr/>
            <p:nvPr/>
          </p:nvSpPr>
          <p:spPr>
            <a:xfrm>
              <a:off x="303330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65059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26788" y="7322021"/>
              <a:ext cx="3362325" cy="240029"/>
            </a:xfrm>
            <a:custGeom>
              <a:avLst/>
              <a:gdLst/>
              <a:ahLst/>
              <a:cxnLst/>
              <a:rect l="l" t="t" r="r" b="b"/>
              <a:pathLst>
                <a:path w="3362325" h="240029">
                  <a:moveTo>
                    <a:pt x="3361729" y="0"/>
                  </a:moveTo>
                  <a:lnTo>
                    <a:pt x="0" y="0"/>
                  </a:lnTo>
                  <a:lnTo>
                    <a:pt x="0" y="239990"/>
                  </a:lnTo>
                  <a:lnTo>
                    <a:pt x="3361729" y="239990"/>
                  </a:lnTo>
                  <a:lnTo>
                    <a:pt x="3361729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60" dirty="0"/>
              <a:t>tv </a:t>
            </a:r>
            <a:r>
              <a:rPr spc="140" dirty="0"/>
              <a:t> </a:t>
            </a:r>
            <a:r>
              <a:rPr spc="55" dirty="0"/>
              <a:t>(BTS</a:t>
            </a:r>
            <a:r>
              <a:rPr spc="100" dirty="0"/>
              <a:t> </a:t>
            </a:r>
            <a:r>
              <a:rPr spc="-25" dirty="0"/>
              <a:t>IRIS</a:t>
            </a:r>
            <a:r>
              <a:rPr spc="105" dirty="0"/>
              <a:t> </a:t>
            </a:r>
            <a:r>
              <a:rPr spc="5" dirty="0"/>
              <a:t>Avignon)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pc="-40" dirty="0"/>
              <a:t>Cours</a:t>
            </a:r>
            <a:r>
              <a:rPr spc="60" dirty="0"/>
              <a:t> </a:t>
            </a:r>
            <a:r>
              <a:rPr spc="170" dirty="0"/>
              <a:t>C/C++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7481423" y="7283716"/>
            <a:ext cx="1800860" cy="27051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300" spc="40" dirty="0">
                <a:solidFill>
                  <a:srgbClr val="FFFFFF"/>
                </a:solidFill>
                <a:latin typeface="SimSun"/>
                <a:cs typeface="SimSun"/>
                <a:hlinkClick r:id="rId6"/>
              </a:rPr>
              <a:t>tvaira@free.fr</a:t>
            </a:r>
            <a:r>
              <a:rPr sz="1300" spc="-190" dirty="0">
                <a:solidFill>
                  <a:srgbClr val="FFFFFF"/>
                </a:solidFill>
                <a:latin typeface="SimSun"/>
                <a:cs typeface="SimSun"/>
                <a:hlinkClick r:id="rId6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©</a:t>
            </a:r>
            <a:r>
              <a:rPr sz="130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v0.1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9"/>
              </a:spcBef>
            </a:pPr>
            <a:fld id="{81D60167-4931-47E6-BA6A-407CBD079E47}" type="slidenum">
              <a:rPr spc="-30" dirty="0"/>
              <a:t>30</a:t>
            </a:fld>
            <a:r>
              <a:rPr spc="80" dirty="0"/>
              <a:t> </a:t>
            </a:r>
            <a:r>
              <a:rPr spc="330" dirty="0"/>
              <a:t>/</a:t>
            </a:r>
            <a:r>
              <a:rPr spc="85" dirty="0"/>
              <a:t> </a:t>
            </a:r>
            <a:r>
              <a:rPr spc="-30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2547</Words>
  <Application>Microsoft Office PowerPoint</Application>
  <PresentationFormat>Personnalisé</PresentationFormat>
  <Paragraphs>363</Paragraphs>
  <Slides>30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8" baseType="lpstr">
      <vt:lpstr>SimSun</vt:lpstr>
      <vt:lpstr>Arial</vt:lpstr>
      <vt:lpstr>Calibri</vt:lpstr>
      <vt:lpstr>Georgia</vt:lpstr>
      <vt:lpstr>Microsoft Sans Serif</vt:lpstr>
      <vt:lpstr>Tahoma</vt:lpstr>
      <vt:lpstr>Trebuchet MS</vt:lpstr>
      <vt:lpstr>Office Theme</vt:lpstr>
      <vt:lpstr>Cours Langage C++ : Héritage et polymorphisme  Programmation Orienté Objet</vt:lpstr>
      <vt:lpstr>Sommaire</vt:lpstr>
      <vt:lpstr>Classes et objets</vt:lpstr>
      <vt:lpstr>Classifier</vt:lpstr>
      <vt:lpstr>État et comportement</vt:lpstr>
      <vt:lpstr>Droits d’accès aux membres</vt:lpstr>
      <vt:lpstr>Définition</vt:lpstr>
      <vt:lpstr>Présentation PowerPoint</vt:lpstr>
      <vt:lpstr>Types d’héritage</vt:lpstr>
      <vt:lpstr>Principes (1/2)</vt:lpstr>
      <vt:lpstr>Principes (2/2)</vt:lpstr>
      <vt:lpstr>Notion de redéfinition</vt:lpstr>
      <vt:lpstr>Appel de constructeurs (1/2)</vt:lpstr>
      <vt:lpstr>Appel de constructeurs (2/2)</vt:lpstr>
      <vt:lpstr>Propriétés de la généralisation</vt:lpstr>
      <vt:lpstr>Héritage multiple</vt:lpstr>
      <vt:lpstr>Définitions</vt:lpstr>
      <vt:lpstr>Comportement Polymorphe (1/4)</vt:lpstr>
      <vt:lpstr>Comportement Polymorphe (2/4)</vt:lpstr>
      <vt:lpstr>Comportement Polymorphe (3/4)</vt:lpstr>
      <vt:lpstr>Comportement Polymorphe (4/4)</vt:lpstr>
      <vt:lpstr>Exemple : comportement non polymorphe (1/3)</vt:lpstr>
      <vt:lpstr>Exemple : comportement non polymorphe (2/3)</vt:lpstr>
      <vt:lpstr>L’exécution du programme d’essai nous montre que nous n’obtenons pas  un comportement polymorphe puisque c’est la méthode dessiner() de la  classe Forme qui est appelée :</vt:lpstr>
      <vt:lpstr>Exemple : comportement polymorphe (1/3)</vt:lpstr>
      <vt:lpstr>Exemple : comportement polymorphe (2/3)</vt:lpstr>
      <vt:lpstr>L’exécution du programme d’essai nous montre maintenant que nous  obtenons un comportement polymorphe puisque c’est la “bonne“ méthode  dessiner() qui est appelée :</vt:lpstr>
      <vt:lpstr>Classe abstraite en C++</vt:lpstr>
      <vt:lpstr>Classe abstraite en UML</vt:lpstr>
      <vt:lpstr>Exemple : classe abstraite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Langage C++ : Héritage et polymorphisme Programmation Orienté Objet</dc:title>
  <dc:subject>Programmation en langage C/C++</dc:subject>
  <dc:creator>Thierry Vaira</dc:creator>
  <cp:keywords>c c++</cp:keywords>
  <cp:lastModifiedBy>Utilisateur Windows</cp:lastModifiedBy>
  <cp:revision>1</cp:revision>
  <dcterms:created xsi:type="dcterms:W3CDTF">2024-03-13T09:09:19Z</dcterms:created>
  <dcterms:modified xsi:type="dcterms:W3CDTF">2024-03-13T09:18:57Z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2014-10-23T00:00:00Z</vt:filetime>
  </property>
  <property fmtid="{D5CDD505-2E9C-101B-9397-08002B2CF9AE}" pid="3" name="Creator">
    <vt:lpwstr>PDFLaTeX</vt:lpwstr>
  </property>
  <property fmtid="{D5CDD505-2E9C-101B-9397-08002B2CF9AE}" pid="4" name="LastSaved">
    <vt:filetime>2024-03-13T00:00:00Z</vt:filetime>
  </property>
</Properties>
</file>